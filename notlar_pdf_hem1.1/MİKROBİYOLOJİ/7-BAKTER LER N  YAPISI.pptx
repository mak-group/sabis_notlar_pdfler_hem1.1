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99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97.xml" ContentType="application/vnd.openxmlformats-officedocument.presentationml.slide+xml"/>
  <Override PartName="/ppt/slides/slide10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s/slide10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s/slide91.xml" ContentType="application/vnd.openxmlformats-officedocument.presentationml.slide+xml"/>
  <Override PartName="/ppt/slides/slide110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9.xml" ContentType="application/vnd.openxmlformats-officedocument.presentationml.slide+xml"/>
  <Override PartName="/ppt/slides/slide98.xml" ContentType="application/vnd.openxmlformats-officedocument.presentationml.slide+xml"/>
  <Override PartName="/ppt/slides/slide108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slides/slide96.xml" ContentType="application/vnd.openxmlformats-officedocument.presentationml.slide+xml"/>
  <Override PartName="/ppt/slides/slide106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s/slide111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79.xml" ContentType="application/vnd.openxmlformats-officedocument.presentationml.slide+xml"/>
  <Override PartName="/ppt/slides/slide10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77" r:id="rId2"/>
    <p:sldId id="373" r:id="rId3"/>
    <p:sldId id="368" r:id="rId4"/>
    <p:sldId id="369" r:id="rId5"/>
    <p:sldId id="258" r:id="rId6"/>
    <p:sldId id="260" r:id="rId7"/>
    <p:sldId id="259" r:id="rId8"/>
    <p:sldId id="261" r:id="rId9"/>
    <p:sldId id="268" r:id="rId10"/>
    <p:sldId id="406" r:id="rId11"/>
    <p:sldId id="399" r:id="rId12"/>
    <p:sldId id="400" r:id="rId13"/>
    <p:sldId id="401" r:id="rId14"/>
    <p:sldId id="402" r:id="rId15"/>
    <p:sldId id="403" r:id="rId16"/>
    <p:sldId id="404" r:id="rId17"/>
    <p:sldId id="337" r:id="rId18"/>
    <p:sldId id="266" r:id="rId19"/>
    <p:sldId id="265" r:id="rId20"/>
    <p:sldId id="264" r:id="rId21"/>
    <p:sldId id="405" r:id="rId22"/>
    <p:sldId id="375" r:id="rId23"/>
    <p:sldId id="270" r:id="rId24"/>
    <p:sldId id="263" r:id="rId25"/>
    <p:sldId id="262" r:id="rId26"/>
    <p:sldId id="273" r:id="rId27"/>
    <p:sldId id="441" r:id="rId28"/>
    <p:sldId id="274" r:id="rId29"/>
    <p:sldId id="480" r:id="rId30"/>
    <p:sldId id="483" r:id="rId31"/>
    <p:sldId id="408" r:id="rId32"/>
    <p:sldId id="485" r:id="rId33"/>
    <p:sldId id="414" r:id="rId34"/>
    <p:sldId id="479" r:id="rId35"/>
    <p:sldId id="410" r:id="rId36"/>
    <p:sldId id="407" r:id="rId37"/>
    <p:sldId id="417" r:id="rId38"/>
    <p:sldId id="416" r:id="rId39"/>
    <p:sldId id="415" r:id="rId40"/>
    <p:sldId id="423" r:id="rId41"/>
    <p:sldId id="495" r:id="rId42"/>
    <p:sldId id="496" r:id="rId43"/>
    <p:sldId id="498" r:id="rId44"/>
    <p:sldId id="500" r:id="rId45"/>
    <p:sldId id="501" r:id="rId46"/>
    <p:sldId id="492" r:id="rId47"/>
    <p:sldId id="422" r:id="rId48"/>
    <p:sldId id="493" r:id="rId49"/>
    <p:sldId id="424" r:id="rId50"/>
    <p:sldId id="503" r:id="rId51"/>
    <p:sldId id="420" r:id="rId52"/>
    <p:sldId id="428" r:id="rId53"/>
    <p:sldId id="506" r:id="rId54"/>
    <p:sldId id="433" r:id="rId55"/>
    <p:sldId id="504" r:id="rId56"/>
    <p:sldId id="390" r:id="rId57"/>
    <p:sldId id="397" r:id="rId58"/>
    <p:sldId id="385" r:id="rId59"/>
    <p:sldId id="472" r:id="rId60"/>
    <p:sldId id="372" r:id="rId61"/>
    <p:sldId id="281" r:id="rId62"/>
    <p:sldId id="325" r:id="rId63"/>
    <p:sldId id="289" r:id="rId64"/>
    <p:sldId id="291" r:id="rId65"/>
    <p:sldId id="300" r:id="rId66"/>
    <p:sldId id="474" r:id="rId67"/>
    <p:sldId id="434" r:id="rId68"/>
    <p:sldId id="299" r:id="rId69"/>
    <p:sldId id="298" r:id="rId70"/>
    <p:sldId id="297" r:id="rId71"/>
    <p:sldId id="302" r:id="rId72"/>
    <p:sldId id="295" r:id="rId73"/>
    <p:sldId id="458" r:id="rId74"/>
    <p:sldId id="364" r:id="rId75"/>
    <p:sldId id="305" r:id="rId76"/>
    <p:sldId id="304" r:id="rId77"/>
    <p:sldId id="303" r:id="rId78"/>
    <p:sldId id="317" r:id="rId79"/>
    <p:sldId id="308" r:id="rId80"/>
    <p:sldId id="316" r:id="rId81"/>
    <p:sldId id="315" r:id="rId82"/>
    <p:sldId id="313" r:id="rId83"/>
    <p:sldId id="455" r:id="rId84"/>
    <p:sldId id="435" r:id="rId85"/>
    <p:sldId id="436" r:id="rId86"/>
    <p:sldId id="438" r:id="rId87"/>
    <p:sldId id="309" r:id="rId88"/>
    <p:sldId id="336" r:id="rId89"/>
    <p:sldId id="456" r:id="rId90"/>
    <p:sldId id="323" r:id="rId91"/>
    <p:sldId id="318" r:id="rId92"/>
    <p:sldId id="322" r:id="rId93"/>
    <p:sldId id="319" r:id="rId94"/>
    <p:sldId id="321" r:id="rId95"/>
    <p:sldId id="344" r:id="rId96"/>
    <p:sldId id="386" r:id="rId97"/>
    <p:sldId id="453" r:id="rId98"/>
    <p:sldId id="443" r:id="rId99"/>
    <p:sldId id="330" r:id="rId100"/>
    <p:sldId id="467" r:id="rId101"/>
    <p:sldId id="361" r:id="rId102"/>
    <p:sldId id="444" r:id="rId103"/>
    <p:sldId id="449" r:id="rId104"/>
    <p:sldId id="445" r:id="rId105"/>
    <p:sldId id="447" r:id="rId106"/>
    <p:sldId id="363" r:id="rId107"/>
    <p:sldId id="365" r:id="rId108"/>
    <p:sldId id="367" r:id="rId109"/>
    <p:sldId id="446" r:id="rId110"/>
    <p:sldId id="476" r:id="rId111"/>
    <p:sldId id="463" r:id="rId112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slide" Target="slides/slide109.xml"/><Relationship Id="rId115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90A4E-2482-41BB-9C09-A7C81D79A02B}" type="datetimeFigureOut">
              <a:rPr lang="tr-TR" smtClean="0"/>
              <a:pPr/>
              <a:t>12.12.2025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660FE-6D5B-41D8-BABF-E775DE3A637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90A4E-2482-41BB-9C09-A7C81D79A02B}" type="datetimeFigureOut">
              <a:rPr lang="tr-TR" smtClean="0"/>
              <a:pPr/>
              <a:t>12.12.2025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660FE-6D5B-41D8-BABF-E775DE3A637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90A4E-2482-41BB-9C09-A7C81D79A02B}" type="datetimeFigureOut">
              <a:rPr lang="tr-TR" smtClean="0"/>
              <a:pPr/>
              <a:t>12.12.2025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660FE-6D5B-41D8-BABF-E775DE3A637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90A4E-2482-41BB-9C09-A7C81D79A02B}" type="datetimeFigureOut">
              <a:rPr lang="tr-TR" smtClean="0"/>
              <a:pPr/>
              <a:t>12.12.2025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660FE-6D5B-41D8-BABF-E775DE3A637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90A4E-2482-41BB-9C09-A7C81D79A02B}" type="datetimeFigureOut">
              <a:rPr lang="tr-TR" smtClean="0"/>
              <a:pPr/>
              <a:t>12.12.2025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660FE-6D5B-41D8-BABF-E775DE3A637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90A4E-2482-41BB-9C09-A7C81D79A02B}" type="datetimeFigureOut">
              <a:rPr lang="tr-TR" smtClean="0"/>
              <a:pPr/>
              <a:t>12.12.2025</a:t>
            </a:fld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660FE-6D5B-41D8-BABF-E775DE3A637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90A4E-2482-41BB-9C09-A7C81D79A02B}" type="datetimeFigureOut">
              <a:rPr lang="tr-TR" smtClean="0"/>
              <a:pPr/>
              <a:t>12.12.2025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660FE-6D5B-41D8-BABF-E775DE3A637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90A4E-2482-41BB-9C09-A7C81D79A02B}" type="datetimeFigureOut">
              <a:rPr lang="tr-TR" smtClean="0"/>
              <a:pPr/>
              <a:t>12.12.2025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660FE-6D5B-41D8-BABF-E775DE3A637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90A4E-2482-41BB-9C09-A7C81D79A02B}" type="datetimeFigureOut">
              <a:rPr lang="tr-TR" smtClean="0"/>
              <a:pPr/>
              <a:t>12.12.2025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660FE-6D5B-41D8-BABF-E775DE3A637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90A4E-2482-41BB-9C09-A7C81D79A02B}" type="datetimeFigureOut">
              <a:rPr lang="tr-TR" smtClean="0"/>
              <a:pPr/>
              <a:t>12.12.2025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660FE-6D5B-41D8-BABF-E775DE3A637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90A4E-2482-41BB-9C09-A7C81D79A02B}" type="datetimeFigureOut">
              <a:rPr lang="tr-TR" smtClean="0"/>
              <a:pPr/>
              <a:t>12.12.2025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660FE-6D5B-41D8-BABF-E775DE3A637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 Yer Tutucusu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190A4E-2482-41BB-9C09-A7C81D79A02B}" type="datetimeFigureOut">
              <a:rPr lang="tr-TR" smtClean="0"/>
              <a:pPr/>
              <a:t>12.12.2025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F660FE-6D5B-41D8-BABF-E775DE3A6372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jpe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476672"/>
            <a:ext cx="8064896" cy="5976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user\Desktop\bacteria_cell_drawing-5786db0a5f9b5831b54f017c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404664"/>
            <a:ext cx="8293100" cy="552926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/>
            </a:r>
            <a:br>
              <a:rPr lang="tr-TR" dirty="0" smtClean="0"/>
            </a:br>
            <a:r>
              <a:rPr lang="tr-TR" b="1" dirty="0" smtClean="0">
                <a:solidFill>
                  <a:srgbClr val="FF0000"/>
                </a:solidFill>
              </a:rPr>
              <a:t>BAKTERİLER </a:t>
            </a:r>
            <a:r>
              <a:rPr lang="tr-TR" dirty="0" smtClean="0"/>
              <a:t/>
            </a:r>
            <a:br>
              <a:rPr lang="tr-TR" dirty="0" smtClean="0"/>
            </a:b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Düşük </a:t>
            </a:r>
            <a:r>
              <a:rPr lang="tr-TR" b="1" dirty="0" err="1" smtClean="0"/>
              <a:t>osmotik</a:t>
            </a:r>
            <a:r>
              <a:rPr lang="tr-TR" b="1" dirty="0" smtClean="0"/>
              <a:t> basınç </a:t>
            </a:r>
          </a:p>
          <a:p>
            <a:r>
              <a:rPr lang="tr-TR" b="1" dirty="0" smtClean="0"/>
              <a:t>Farklı ısılar </a:t>
            </a:r>
          </a:p>
          <a:p>
            <a:r>
              <a:rPr lang="tr-TR" b="1" dirty="0" smtClean="0"/>
              <a:t>Kuruluk </a:t>
            </a:r>
          </a:p>
          <a:p>
            <a:r>
              <a:rPr lang="tr-TR" b="1" dirty="0" smtClean="0"/>
              <a:t>Çok kısıtlı enerji kaynaklarında </a:t>
            </a:r>
          </a:p>
          <a:p>
            <a:endParaRPr lang="tr-TR" b="1" dirty="0" smtClean="0">
              <a:solidFill>
                <a:srgbClr val="7030A0"/>
              </a:solidFill>
            </a:endParaRPr>
          </a:p>
          <a:p>
            <a:pPr>
              <a:buNone/>
            </a:pPr>
            <a:r>
              <a:rPr lang="tr-TR" b="1" dirty="0" smtClean="0">
                <a:solidFill>
                  <a:srgbClr val="7030A0"/>
                </a:solidFill>
              </a:rPr>
              <a:t>		Yaşayabilir ve üreyebilirler </a:t>
            </a:r>
            <a:endParaRPr lang="tr-TR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/>
          <a:lstStyle/>
          <a:p>
            <a:endParaRPr lang="tr-TR" dirty="0" smtClean="0"/>
          </a:p>
          <a:p>
            <a:endParaRPr lang="tr-TR" dirty="0" smtClean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332656"/>
            <a:ext cx="8496944" cy="6048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260648"/>
            <a:ext cx="8568952" cy="62646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/>
            </a:r>
            <a:br>
              <a:rPr lang="tr-TR" dirty="0" smtClean="0"/>
            </a:br>
            <a:r>
              <a:rPr lang="tr-TR" sz="4900" b="1" dirty="0" smtClean="0">
                <a:solidFill>
                  <a:srgbClr val="FF0000"/>
                </a:solidFill>
              </a:rPr>
              <a:t>BAKTERİLERİN ANATOMİK YAPILARI</a:t>
            </a:r>
            <a:br>
              <a:rPr lang="tr-TR" sz="4900" b="1" dirty="0" smtClean="0">
                <a:solidFill>
                  <a:srgbClr val="FF0000"/>
                </a:solidFill>
              </a:rPr>
            </a:br>
            <a:endParaRPr lang="tr-TR" sz="49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lang="tr-TR" dirty="0" smtClean="0"/>
              <a:t>	</a:t>
            </a:r>
            <a:r>
              <a:rPr lang="tr-TR" b="1" dirty="0" smtClean="0">
                <a:solidFill>
                  <a:srgbClr val="7030A0"/>
                </a:solidFill>
              </a:rPr>
              <a:t>	DIŞ  YAPILAR</a:t>
            </a:r>
          </a:p>
          <a:p>
            <a:pPr lvl="0"/>
            <a:endParaRPr lang="tr-TR" dirty="0" smtClean="0"/>
          </a:p>
          <a:p>
            <a:pPr lvl="0"/>
            <a:r>
              <a:rPr lang="tr-TR" b="1" dirty="0" smtClean="0"/>
              <a:t>Hücre duvarı</a:t>
            </a:r>
          </a:p>
          <a:p>
            <a:pPr lvl="0"/>
            <a:r>
              <a:rPr lang="tr-TR" b="1" dirty="0" smtClean="0"/>
              <a:t>Kapsül</a:t>
            </a:r>
          </a:p>
          <a:p>
            <a:pPr lvl="0"/>
            <a:r>
              <a:rPr lang="tr-TR" b="1" dirty="0" err="1" smtClean="0"/>
              <a:t>Flagella</a:t>
            </a:r>
            <a:endParaRPr lang="tr-TR" b="1" dirty="0" smtClean="0"/>
          </a:p>
          <a:p>
            <a:pPr lvl="0"/>
            <a:r>
              <a:rPr lang="tr-TR" b="1" dirty="0" err="1" smtClean="0"/>
              <a:t>Fimbria</a:t>
            </a:r>
            <a:r>
              <a:rPr lang="tr-TR" b="1" dirty="0" smtClean="0"/>
              <a:t> (</a:t>
            </a:r>
            <a:r>
              <a:rPr lang="tr-TR" b="1" dirty="0" err="1" smtClean="0"/>
              <a:t>pilus</a:t>
            </a:r>
            <a:r>
              <a:rPr lang="tr-TR" b="1" dirty="0" smtClean="0"/>
              <a:t>)</a:t>
            </a:r>
          </a:p>
          <a:p>
            <a:pPr>
              <a:buNone/>
            </a:pPr>
            <a:endParaRPr lang="tr-TR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/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b="1" dirty="0" smtClean="0">
                <a:solidFill>
                  <a:srgbClr val="FF0000"/>
                </a:solidFill>
              </a:rPr>
              <a:t/>
            </a:r>
            <a:br>
              <a:rPr lang="tr-TR" b="1" dirty="0" smtClean="0">
                <a:solidFill>
                  <a:srgbClr val="FF0000"/>
                </a:solidFill>
              </a:rPr>
            </a:b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179512" y="260648"/>
            <a:ext cx="8712968" cy="6264696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</a:t>
            </a:r>
            <a:r>
              <a:rPr lang="tr-TR" sz="4700" b="1" dirty="0" smtClean="0">
                <a:solidFill>
                  <a:srgbClr val="FF0000"/>
                </a:solidFill>
              </a:rPr>
              <a:t>BAKTERİLERİN ANATOMİK YAPILARI </a:t>
            </a:r>
            <a:r>
              <a:rPr lang="tr-TR" b="1" dirty="0" smtClean="0"/>
              <a:t>		</a:t>
            </a:r>
          </a:p>
          <a:p>
            <a:pPr>
              <a:buNone/>
            </a:pPr>
            <a:r>
              <a:rPr lang="tr-TR" b="1" dirty="0" smtClean="0">
                <a:solidFill>
                  <a:srgbClr val="7030A0"/>
                </a:solidFill>
              </a:rPr>
              <a:t>		İÇ YAPILAR</a:t>
            </a:r>
            <a:endParaRPr lang="tr-TR" dirty="0" smtClean="0"/>
          </a:p>
          <a:p>
            <a:pPr lvl="0"/>
            <a:r>
              <a:rPr lang="tr-TR" b="1" dirty="0" err="1" smtClean="0"/>
              <a:t>Sitoplasmik</a:t>
            </a:r>
            <a:r>
              <a:rPr lang="tr-TR" b="1" dirty="0" smtClean="0"/>
              <a:t> </a:t>
            </a:r>
            <a:r>
              <a:rPr lang="tr-TR" b="1" dirty="0" err="1" smtClean="0"/>
              <a:t>membran</a:t>
            </a:r>
            <a:endParaRPr lang="tr-TR" b="1" dirty="0" smtClean="0"/>
          </a:p>
          <a:p>
            <a:pPr lvl="0"/>
            <a:r>
              <a:rPr lang="tr-TR" b="1" dirty="0" smtClean="0"/>
              <a:t>Mezozom</a:t>
            </a:r>
          </a:p>
          <a:p>
            <a:pPr lvl="0"/>
            <a:r>
              <a:rPr lang="tr-TR" b="1" dirty="0" err="1" smtClean="0"/>
              <a:t>Nukleus</a:t>
            </a:r>
            <a:r>
              <a:rPr lang="tr-TR" b="1" dirty="0" smtClean="0"/>
              <a:t>(</a:t>
            </a:r>
            <a:r>
              <a:rPr lang="tr-TR" b="1" dirty="0" err="1" smtClean="0"/>
              <a:t>nukleoid</a:t>
            </a:r>
            <a:r>
              <a:rPr lang="tr-TR" b="1" dirty="0" smtClean="0"/>
              <a:t>)</a:t>
            </a:r>
          </a:p>
          <a:p>
            <a:pPr lvl="0"/>
            <a:r>
              <a:rPr lang="tr-TR" b="1" dirty="0" err="1" smtClean="0"/>
              <a:t>Ribosom</a:t>
            </a:r>
            <a:endParaRPr lang="tr-TR" b="1" dirty="0" smtClean="0"/>
          </a:p>
          <a:p>
            <a:pPr lvl="0"/>
            <a:r>
              <a:rPr lang="tr-TR" b="1" dirty="0" err="1" smtClean="0"/>
              <a:t>Sitoplazmik</a:t>
            </a:r>
            <a:r>
              <a:rPr lang="tr-TR" b="1" dirty="0" smtClean="0"/>
              <a:t> granüller</a:t>
            </a:r>
          </a:p>
          <a:p>
            <a:pPr lvl="0"/>
            <a:r>
              <a:rPr lang="tr-TR" b="1" dirty="0" smtClean="0"/>
              <a:t>Sporlar</a:t>
            </a:r>
          </a:p>
          <a:p>
            <a:pPr lvl="0"/>
            <a:r>
              <a:rPr lang="tr-TR" b="1" dirty="0" smtClean="0"/>
              <a:t>Pigment</a:t>
            </a:r>
          </a:p>
          <a:p>
            <a:pPr lvl="0"/>
            <a:r>
              <a:rPr lang="tr-TR" b="1" dirty="0" err="1" smtClean="0"/>
              <a:t>Plazmid</a:t>
            </a:r>
            <a:endParaRPr lang="tr-TR" b="1" dirty="0" smtClean="0"/>
          </a:p>
          <a:p>
            <a:pPr lvl="0"/>
            <a:r>
              <a:rPr lang="tr-TR" b="1" dirty="0" err="1" smtClean="0"/>
              <a:t>Faj</a:t>
            </a:r>
            <a:endParaRPr lang="tr-TR" b="1" dirty="0" smtClean="0"/>
          </a:p>
          <a:p>
            <a:pPr lvl="0"/>
            <a:r>
              <a:rPr lang="tr-TR" b="1" dirty="0" err="1" smtClean="0"/>
              <a:t>Transpozon</a:t>
            </a:r>
            <a:r>
              <a:rPr lang="tr-TR" b="1" dirty="0" smtClean="0"/>
              <a:t>   </a:t>
            </a:r>
            <a:r>
              <a:rPr lang="tr-TR" sz="2900" b="1" dirty="0" smtClean="0"/>
              <a:t>(Yer değiştirebilen genetik elementler)</a:t>
            </a:r>
          </a:p>
          <a:p>
            <a:pPr lvl="0"/>
            <a:r>
              <a:rPr lang="tr-TR" b="1" dirty="0" smtClean="0"/>
              <a:t>IS elementi    </a:t>
            </a:r>
            <a:r>
              <a:rPr lang="tr-TR" sz="2900" b="1" dirty="0" smtClean="0"/>
              <a:t>(Yer değiştirebilen genetik elementler)</a:t>
            </a:r>
            <a:r>
              <a:rPr lang="tr-TR" sz="2000" b="1" dirty="0" smtClean="0"/>
              <a:t>  </a:t>
            </a:r>
          </a:p>
          <a:p>
            <a:pPr lvl="0">
              <a:buNone/>
            </a:pPr>
            <a:r>
              <a:rPr lang="tr-TR" sz="2000" b="1" dirty="0" smtClean="0">
                <a:solidFill>
                  <a:srgbClr val="FF0000"/>
                </a:solidFill>
              </a:rPr>
              <a:t>		</a:t>
            </a:r>
            <a:r>
              <a:rPr lang="tr-TR" sz="2300" b="1" dirty="0" err="1" smtClean="0">
                <a:solidFill>
                  <a:srgbClr val="FF0000"/>
                </a:solidFill>
              </a:rPr>
              <a:t>İnsersiyon</a:t>
            </a:r>
            <a:r>
              <a:rPr lang="tr-TR" sz="2300" b="1" dirty="0" smtClean="0">
                <a:solidFill>
                  <a:srgbClr val="FF0000"/>
                </a:solidFill>
              </a:rPr>
              <a:t> Sekansları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7030A0"/>
                </a:solidFill>
              </a:rPr>
              <a:t>DIŞ  YAPILAR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b="1" dirty="0" smtClean="0"/>
              <a:t>Bakterinin </a:t>
            </a:r>
            <a:r>
              <a:rPr lang="tr-TR" b="1" dirty="0" err="1" smtClean="0"/>
              <a:t>antijenitesi</a:t>
            </a:r>
            <a:r>
              <a:rPr lang="tr-TR" b="1" dirty="0" smtClean="0"/>
              <a:t>,</a:t>
            </a:r>
            <a:r>
              <a:rPr lang="tr-TR" b="1" dirty="0" err="1" smtClean="0"/>
              <a:t>virulansı</a:t>
            </a:r>
            <a:r>
              <a:rPr lang="tr-TR" b="1" dirty="0" smtClean="0"/>
              <a:t>, </a:t>
            </a:r>
            <a:r>
              <a:rPr lang="tr-TR" b="1" dirty="0" err="1" smtClean="0"/>
              <a:t>toksijenitesi</a:t>
            </a:r>
            <a:r>
              <a:rPr lang="tr-TR" b="1" dirty="0" smtClean="0"/>
              <a:t>,   dış etkilerden korunması, </a:t>
            </a:r>
            <a:r>
              <a:rPr lang="tr-TR" b="1" dirty="0" err="1" smtClean="0"/>
              <a:t>fajlara</a:t>
            </a:r>
            <a:r>
              <a:rPr lang="tr-TR" b="1" dirty="0" smtClean="0"/>
              <a:t> duyarlılığı vs… için önemli yapılardır</a:t>
            </a:r>
          </a:p>
          <a:p>
            <a:pPr>
              <a:buNone/>
            </a:pPr>
            <a:endParaRPr lang="tr-TR" b="1" dirty="0" smtClean="0"/>
          </a:p>
          <a:p>
            <a:pPr>
              <a:buNone/>
            </a:pPr>
            <a:endParaRPr lang="tr-TR" b="1" dirty="0" smtClean="0"/>
          </a:p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</a:t>
            </a:r>
            <a:r>
              <a:rPr lang="tr-TR" b="1" dirty="0" err="1" smtClean="0">
                <a:solidFill>
                  <a:srgbClr val="FF0000"/>
                </a:solidFill>
              </a:rPr>
              <a:t>Antijenite</a:t>
            </a:r>
            <a:r>
              <a:rPr lang="tr-TR" b="1" dirty="0" smtClean="0">
                <a:solidFill>
                  <a:srgbClr val="FF0000"/>
                </a:solidFill>
              </a:rPr>
              <a:t> nedir?</a:t>
            </a:r>
          </a:p>
          <a:p>
            <a:r>
              <a:rPr lang="tr-TR" sz="2800" b="1" dirty="0" smtClean="0"/>
              <a:t>Vücuda giren antijenin, kendisine karşı antikor oluşturma yeteneği, bu yeteneğin derecesi</a:t>
            </a:r>
          </a:p>
          <a:p>
            <a:r>
              <a:rPr lang="tr-TR" sz="2800" b="1" dirty="0" smtClean="0"/>
              <a:t>Bir antijenin antikoruyla bağlanabilme yeteneği</a:t>
            </a:r>
            <a:br>
              <a:rPr lang="tr-TR" sz="2800" b="1" dirty="0" smtClean="0"/>
            </a:br>
            <a:endParaRPr lang="tr-TR" sz="2800" b="1" dirty="0" smtClean="0"/>
          </a:p>
          <a:p>
            <a:endParaRPr lang="tr-TR" sz="28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5555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260648"/>
            <a:ext cx="8136904" cy="60486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HÜCRE DUVARININ FONKSİYONLARI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tr-TR" dirty="0" smtClean="0"/>
              <a:t>			</a:t>
            </a:r>
            <a:r>
              <a:rPr lang="tr-TR" b="1" dirty="0" smtClean="0">
                <a:solidFill>
                  <a:srgbClr val="7030A0"/>
                </a:solidFill>
              </a:rPr>
              <a:t>1.KORUMA FONKSİYONU</a:t>
            </a:r>
          </a:p>
          <a:p>
            <a:r>
              <a:rPr lang="tr-TR" b="1" dirty="0" smtClean="0"/>
              <a:t>Hücre duvarı bakteriyi çeşitli fiziksel ve kimyasal dış etkenlere ve diğer yabancı organizmalara karşı korur. </a:t>
            </a:r>
            <a:endParaRPr lang="tr-TR" b="1" dirty="0" smtClean="0">
              <a:solidFill>
                <a:srgbClr val="7030A0"/>
              </a:solidFill>
            </a:endParaRPr>
          </a:p>
          <a:p>
            <a:pPr>
              <a:buNone/>
            </a:pPr>
            <a:r>
              <a:rPr lang="tr-TR" b="1" dirty="0" smtClean="0">
                <a:solidFill>
                  <a:srgbClr val="7030A0"/>
                </a:solidFill>
              </a:rPr>
              <a:t>			2. ŞEKİL VERME FONKSİYONU</a:t>
            </a:r>
          </a:p>
          <a:p>
            <a:r>
              <a:rPr lang="tr-TR" b="1" dirty="0" smtClean="0"/>
              <a:t>Sert fakat aynı zamanda elastik bir yapı özelliğine sahip olduğu için bakterilere şekil ve esneklik verir, iç </a:t>
            </a:r>
            <a:r>
              <a:rPr lang="tr-TR" b="1" dirty="0" err="1" smtClean="0"/>
              <a:t>ozmotik</a:t>
            </a:r>
            <a:r>
              <a:rPr lang="tr-TR" b="1" dirty="0" smtClean="0"/>
              <a:t> basınca karşı koymalarını sağlar</a:t>
            </a:r>
            <a:endParaRPr lang="tr-TR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sz="4900" b="1" dirty="0" smtClean="0">
                <a:solidFill>
                  <a:srgbClr val="FF0000"/>
                </a:solidFill>
              </a:rPr>
              <a:t>HÜCRE DUVARI</a:t>
            </a:r>
            <a:r>
              <a:rPr lang="tr-TR" b="1" dirty="0" smtClean="0"/>
              <a:t/>
            </a:r>
            <a:br>
              <a:rPr lang="tr-TR" b="1" dirty="0" smtClean="0"/>
            </a:b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tr-TR" b="1" dirty="0" smtClean="0"/>
              <a:t>Hücre duvarı, </a:t>
            </a:r>
            <a:r>
              <a:rPr lang="tr-TR" b="1" dirty="0" smtClean="0">
                <a:solidFill>
                  <a:srgbClr val="FF0000"/>
                </a:solidFill>
              </a:rPr>
              <a:t>PPLO- ve L- formları hariç</a:t>
            </a:r>
            <a:r>
              <a:rPr lang="tr-TR" b="1" dirty="0" smtClean="0"/>
              <a:t>, bakterilerin etrafını tam ve kesintisiz olarak saran, </a:t>
            </a:r>
            <a:r>
              <a:rPr lang="tr-TR" b="1" dirty="0" err="1" smtClean="0"/>
              <a:t>sitoplazmik</a:t>
            </a:r>
            <a:r>
              <a:rPr lang="tr-TR" b="1" dirty="0" smtClean="0"/>
              <a:t> zarın dışında bulunan ince ve esnek bir kılıftır</a:t>
            </a:r>
          </a:p>
          <a:p>
            <a:pPr>
              <a:buNone/>
            </a:pPr>
            <a:endParaRPr lang="tr-TR" b="1" dirty="0" smtClean="0"/>
          </a:p>
          <a:p>
            <a:pPr lvl="1"/>
            <a:r>
              <a:rPr lang="tr-TR" b="1" dirty="0" smtClean="0">
                <a:solidFill>
                  <a:srgbClr val="7030A0"/>
                </a:solidFill>
              </a:rPr>
              <a:t>PPLO (</a:t>
            </a:r>
            <a:r>
              <a:rPr lang="tr-TR" b="1" dirty="0" err="1" smtClean="0">
                <a:solidFill>
                  <a:srgbClr val="7030A0"/>
                </a:solidFill>
              </a:rPr>
              <a:t>Pleuro</a:t>
            </a:r>
            <a:r>
              <a:rPr lang="tr-TR" b="1" dirty="0" smtClean="0">
                <a:solidFill>
                  <a:srgbClr val="7030A0"/>
                </a:solidFill>
              </a:rPr>
              <a:t> </a:t>
            </a:r>
            <a:r>
              <a:rPr lang="tr-TR" b="1" dirty="0" err="1" smtClean="0">
                <a:solidFill>
                  <a:srgbClr val="7030A0"/>
                </a:solidFill>
              </a:rPr>
              <a:t>pneumonia</a:t>
            </a:r>
            <a:r>
              <a:rPr lang="tr-TR" b="1" dirty="0" smtClean="0">
                <a:solidFill>
                  <a:srgbClr val="7030A0"/>
                </a:solidFill>
              </a:rPr>
              <a:t> </a:t>
            </a:r>
            <a:r>
              <a:rPr lang="tr-TR" b="1" dirty="0" err="1" smtClean="0">
                <a:solidFill>
                  <a:srgbClr val="7030A0"/>
                </a:solidFill>
              </a:rPr>
              <a:t>like</a:t>
            </a:r>
            <a:r>
              <a:rPr lang="tr-TR" b="1" dirty="0" smtClean="0">
                <a:solidFill>
                  <a:srgbClr val="7030A0"/>
                </a:solidFill>
              </a:rPr>
              <a:t> </a:t>
            </a:r>
            <a:r>
              <a:rPr lang="tr-TR" b="1" dirty="0" err="1" smtClean="0">
                <a:solidFill>
                  <a:srgbClr val="7030A0"/>
                </a:solidFill>
              </a:rPr>
              <a:t>organism</a:t>
            </a:r>
            <a:r>
              <a:rPr lang="tr-TR" b="1" dirty="0" smtClean="0">
                <a:solidFill>
                  <a:srgbClr val="7030A0"/>
                </a:solidFill>
              </a:rPr>
              <a:t>)</a:t>
            </a:r>
          </a:p>
          <a:p>
            <a:pPr lvl="1"/>
            <a:r>
              <a:rPr lang="tr-TR" b="1" dirty="0" smtClean="0"/>
              <a:t>İnsan ve hayvanlarda birçok hastalığa neden olan </a:t>
            </a:r>
            <a:r>
              <a:rPr lang="tr-TR" b="1" dirty="0" err="1" smtClean="0"/>
              <a:t>mikoplazmaların</a:t>
            </a:r>
            <a:r>
              <a:rPr lang="tr-TR" b="1" dirty="0" smtClean="0"/>
              <a:t> hücre duvarları yoktur</a:t>
            </a:r>
          </a:p>
          <a:p>
            <a:pPr lvl="1">
              <a:buNone/>
            </a:pPr>
            <a:endParaRPr lang="tr-TR" b="1" dirty="0" smtClean="0"/>
          </a:p>
          <a:p>
            <a:pPr lvl="1"/>
            <a:r>
              <a:rPr lang="tr-TR" b="1" dirty="0" smtClean="0">
                <a:solidFill>
                  <a:srgbClr val="7030A0"/>
                </a:solidFill>
              </a:rPr>
              <a:t>L – formu bakteriler</a:t>
            </a:r>
            <a:r>
              <a:rPr lang="tr-TR" b="1" dirty="0" smtClean="0"/>
              <a:t>: Bakteriler hücre duvarı sentezini engelleyen kimyasal maddeleri içeren bir ortamda üretilirse hücre duvarına sahip olmayan formları oluşur.</a:t>
            </a:r>
            <a:endParaRPr lang="tr-TR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/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sz="4900" b="1" dirty="0" smtClean="0">
                <a:solidFill>
                  <a:srgbClr val="FF0000"/>
                </a:solidFill>
              </a:rPr>
              <a:t>HÜCRE DUVARI</a:t>
            </a:r>
            <a:r>
              <a:rPr lang="tr-TR" sz="4900" b="1" dirty="0" smtClean="0"/>
              <a:t/>
            </a:r>
            <a:br>
              <a:rPr lang="tr-TR" sz="4900" b="1" dirty="0" smtClean="0"/>
            </a:br>
            <a:endParaRPr lang="tr-TR" sz="49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tr-TR" b="1" dirty="0" smtClean="0">
                <a:solidFill>
                  <a:srgbClr val="7030A0"/>
                </a:solidFill>
              </a:rPr>
              <a:t>Hücre duvarı elektron mikroskop yardımıyla görülebilir</a:t>
            </a:r>
          </a:p>
          <a:p>
            <a:r>
              <a:rPr lang="tr-TR" b="1" dirty="0" smtClean="0"/>
              <a:t>Özel boyama teknikleri ile boyanabilir ve mikroskop altında farklı renklerde görünebilir</a:t>
            </a:r>
          </a:p>
          <a:p>
            <a:r>
              <a:rPr lang="tr-TR" b="1" dirty="0" smtClean="0"/>
              <a:t>Hücre duvarının “Gram boyama” tekniği ile boyandıktan sonra gösterdiği renge göre bakteriler 2 gruba ayrılabilir</a:t>
            </a:r>
          </a:p>
          <a:p>
            <a:pPr>
              <a:buNone/>
            </a:pPr>
            <a:endParaRPr lang="tr-TR" b="1" dirty="0" smtClean="0"/>
          </a:p>
          <a:p>
            <a:pPr lvl="1"/>
            <a:r>
              <a:rPr lang="tr-TR" b="1" dirty="0" smtClean="0">
                <a:solidFill>
                  <a:srgbClr val="FF33CC"/>
                </a:solidFill>
              </a:rPr>
              <a:t>Gram-pozitif (Gr + ) bakteriler</a:t>
            </a:r>
          </a:p>
          <a:p>
            <a:pPr lvl="1"/>
            <a:r>
              <a:rPr lang="tr-TR" b="1" dirty="0" smtClean="0">
                <a:solidFill>
                  <a:srgbClr val="FF33CC"/>
                </a:solidFill>
              </a:rPr>
              <a:t>Gram-negatif (Gr - ) bakteriler </a:t>
            </a:r>
            <a:endParaRPr lang="tr-TR" b="1" dirty="0">
              <a:solidFill>
                <a:srgbClr val="FF33CC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260648"/>
            <a:ext cx="8640960" cy="6264696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tr-TR" dirty="0" smtClean="0"/>
              <a:t>			</a:t>
            </a:r>
          </a:p>
          <a:p>
            <a:pPr>
              <a:buNone/>
            </a:pPr>
            <a:r>
              <a:rPr lang="tr-TR" b="1" dirty="0" smtClean="0">
                <a:solidFill>
                  <a:srgbClr val="7030A0"/>
                </a:solidFill>
              </a:rPr>
              <a:t>			GRAM-POZİTİF (GR+) BAKTERİLER</a:t>
            </a:r>
          </a:p>
          <a:p>
            <a:r>
              <a:rPr lang="tr-TR" b="1" dirty="0" smtClean="0"/>
              <a:t>Gram boyama işlemi sırasında kristal </a:t>
            </a:r>
            <a:r>
              <a:rPr lang="tr-TR" b="1" dirty="0" err="1" smtClean="0"/>
              <a:t>viyole</a:t>
            </a:r>
            <a:r>
              <a:rPr lang="tr-TR" b="1" dirty="0" smtClean="0"/>
              <a:t> boyasını hücre içinde tutarlar ve bu nedenle mikroskop altında mavi-mor renkte görünürler </a:t>
            </a:r>
          </a:p>
          <a:p>
            <a:pPr>
              <a:buNone/>
            </a:pPr>
            <a:endParaRPr lang="tr-TR" b="1" dirty="0" smtClean="0"/>
          </a:p>
          <a:p>
            <a:pPr>
              <a:buNone/>
            </a:pPr>
            <a:r>
              <a:rPr lang="tr-TR" dirty="0" smtClean="0"/>
              <a:t>			</a:t>
            </a:r>
            <a:r>
              <a:rPr lang="tr-TR" b="1" dirty="0" smtClean="0">
                <a:solidFill>
                  <a:srgbClr val="7030A0"/>
                </a:solidFill>
              </a:rPr>
              <a:t>GRAM-NEGATİF (GR-) BAKTERİLER</a:t>
            </a:r>
          </a:p>
          <a:p>
            <a:r>
              <a:rPr lang="tr-TR" b="1" dirty="0" smtClean="0"/>
              <a:t>Gram boyama işlemi sırasında renk açılmasına maruz kalırlar ve karşıt boya olan </a:t>
            </a:r>
            <a:r>
              <a:rPr lang="tr-TR" b="1" dirty="0" err="1" smtClean="0"/>
              <a:t>safranini</a:t>
            </a:r>
            <a:r>
              <a:rPr lang="tr-TR" b="1" dirty="0" smtClean="0"/>
              <a:t> tutarlar, bu nedenle mikroskop altında pembe renkte görünürler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smtClean="0">
                <a:solidFill>
                  <a:srgbClr val="0070C0"/>
                </a:solidFill>
              </a:rPr>
              <a:t>Boyama sırasındaki farklılık, bakterilerin hücre duvarları arasındaki bazı temel farklılıklardan kaynaklanmaktadır</a:t>
            </a:r>
            <a:endParaRPr lang="tr-TR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tr-TR" sz="3200" b="1" dirty="0" smtClean="0">
                <a:solidFill>
                  <a:srgbClr val="7030A0"/>
                </a:solidFill>
              </a:rPr>
              <a:t/>
            </a:r>
            <a:br>
              <a:rPr lang="tr-TR" sz="3200" b="1" dirty="0" smtClean="0">
                <a:solidFill>
                  <a:srgbClr val="7030A0"/>
                </a:solidFill>
              </a:rPr>
            </a:br>
            <a:r>
              <a:rPr lang="tr-TR" sz="3200" b="1" dirty="0" smtClean="0">
                <a:solidFill>
                  <a:srgbClr val="7030A0"/>
                </a:solidFill>
              </a:rPr>
              <a:t>NEDEN BU HÜCRELER FARKLI RENKLERDE BOYANMIŞLAR? </a:t>
            </a:r>
            <a:br>
              <a:rPr lang="tr-TR" sz="3200" b="1" dirty="0" smtClean="0">
                <a:solidFill>
                  <a:srgbClr val="7030A0"/>
                </a:solidFill>
              </a:rPr>
            </a:br>
            <a:endParaRPr lang="tr-TR" sz="3200" dirty="0">
              <a:solidFill>
                <a:srgbClr val="7030A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3000" b="1" dirty="0" smtClean="0"/>
              <a:t>Boyama sırasındaki farklılık, bakterilerin hücre duvarları arasındaki bazı temel farklılıklardan kaynaklanmaktadır</a:t>
            </a:r>
          </a:p>
          <a:p>
            <a:endParaRPr lang="tr-TR" b="1" dirty="0" smtClean="0"/>
          </a:p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 HÜCRE DUVAR YAPILARI FARKLI </a:t>
            </a:r>
          </a:p>
          <a:p>
            <a:pPr>
              <a:buNone/>
            </a:pPr>
            <a:endParaRPr lang="tr-TR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7704" y="404664"/>
            <a:ext cx="5688632" cy="5905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476672"/>
            <a:ext cx="5976937" cy="6126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HÜCRE DUVARI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b="1" dirty="0" smtClean="0"/>
              <a:t>Bütün bakterilerde ortak olarak en dıştaki yapıdır</a:t>
            </a:r>
          </a:p>
          <a:p>
            <a:r>
              <a:rPr lang="tr-TR" b="1" dirty="0" err="1" smtClean="0">
                <a:solidFill>
                  <a:srgbClr val="7030A0"/>
                </a:solidFill>
              </a:rPr>
              <a:t>Mikoplasma</a:t>
            </a:r>
            <a:r>
              <a:rPr lang="tr-TR" b="1" dirty="0" smtClean="0">
                <a:solidFill>
                  <a:srgbClr val="7030A0"/>
                </a:solidFill>
              </a:rPr>
              <a:t>, </a:t>
            </a:r>
            <a:r>
              <a:rPr lang="tr-TR" b="1" dirty="0" err="1" smtClean="0">
                <a:solidFill>
                  <a:srgbClr val="7030A0"/>
                </a:solidFill>
              </a:rPr>
              <a:t>Ureaplasmada</a:t>
            </a:r>
            <a:r>
              <a:rPr lang="tr-TR" b="1" dirty="0" smtClean="0">
                <a:solidFill>
                  <a:srgbClr val="7030A0"/>
                </a:solidFill>
              </a:rPr>
              <a:t> Ø</a:t>
            </a:r>
          </a:p>
          <a:p>
            <a:pPr lvl="1"/>
            <a:r>
              <a:rPr lang="tr-TR" sz="2000" b="1" dirty="0" smtClean="0">
                <a:solidFill>
                  <a:srgbClr val="FF33CC"/>
                </a:solidFill>
              </a:rPr>
              <a:t>Bazı bakterilerde; hücre duvarı dışında yer alan bazı yüzey yapıları bulunabilir Bunlar,  (kamçı) ve </a:t>
            </a:r>
            <a:r>
              <a:rPr lang="tr-TR" sz="2000" b="1" dirty="0" err="1" smtClean="0">
                <a:solidFill>
                  <a:srgbClr val="FF33CC"/>
                </a:solidFill>
              </a:rPr>
              <a:t>Fimbria</a:t>
            </a:r>
            <a:r>
              <a:rPr lang="tr-TR" sz="2000" b="1" dirty="0" smtClean="0">
                <a:solidFill>
                  <a:srgbClr val="FF33CC"/>
                </a:solidFill>
              </a:rPr>
              <a:t> (</a:t>
            </a:r>
            <a:r>
              <a:rPr lang="tr-TR" sz="2000" b="1" dirty="0" err="1" smtClean="0">
                <a:solidFill>
                  <a:srgbClr val="FF33CC"/>
                </a:solidFill>
              </a:rPr>
              <a:t>pilus</a:t>
            </a:r>
            <a:r>
              <a:rPr lang="tr-TR" sz="2000" b="1" dirty="0" smtClean="0">
                <a:solidFill>
                  <a:srgbClr val="FF33CC"/>
                </a:solidFill>
              </a:rPr>
              <a:t>-tüy) gibi</a:t>
            </a:r>
          </a:p>
          <a:p>
            <a:r>
              <a:rPr lang="tr-TR" b="1" dirty="0" smtClean="0"/>
              <a:t>Hücre duvarı tam geçirgendir</a:t>
            </a:r>
          </a:p>
          <a:p>
            <a:pPr lvl="1"/>
            <a:r>
              <a:rPr lang="tr-TR" b="1" dirty="0" smtClean="0"/>
              <a:t>(gr-</a:t>
            </a:r>
            <a:r>
              <a:rPr lang="tr-TR" b="1" dirty="0" err="1" smtClean="0"/>
              <a:t>lerde</a:t>
            </a:r>
            <a:r>
              <a:rPr lang="tr-TR" b="1" dirty="0" smtClean="0"/>
              <a:t> dış zar nedeniyle kısmen yarı geçirgen)</a:t>
            </a:r>
            <a:endParaRPr lang="tr-TR"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HÜCRE DUVARI GÖREVLERİ NELERDİR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tr-TR" b="1" dirty="0" err="1" smtClean="0"/>
              <a:t>Sitoplazmik</a:t>
            </a:r>
            <a:r>
              <a:rPr lang="tr-TR" b="1" dirty="0" smtClean="0"/>
              <a:t> </a:t>
            </a:r>
            <a:r>
              <a:rPr lang="tr-TR" b="1" dirty="0" err="1" smtClean="0"/>
              <a:t>membranın</a:t>
            </a:r>
            <a:r>
              <a:rPr lang="tr-TR" b="1" dirty="0" smtClean="0"/>
              <a:t> dışında yer alır</a:t>
            </a:r>
          </a:p>
          <a:p>
            <a:r>
              <a:rPr lang="tr-TR" b="1" dirty="0" err="1" smtClean="0"/>
              <a:t>Sitoplasma</a:t>
            </a:r>
            <a:r>
              <a:rPr lang="tr-TR" b="1" dirty="0" smtClean="0"/>
              <a:t> zarını çevreler</a:t>
            </a:r>
          </a:p>
          <a:p>
            <a:r>
              <a:rPr lang="tr-TR" b="1" dirty="0" smtClean="0"/>
              <a:t>Bakterilere şekil verir</a:t>
            </a:r>
          </a:p>
          <a:p>
            <a:pPr lvl="0"/>
            <a:r>
              <a:rPr lang="tr-TR" b="1" dirty="0" smtClean="0"/>
              <a:t>Çevresel faktörlerin etkisinden korur, Fiziksel bariyer işlevi vardır</a:t>
            </a:r>
          </a:p>
          <a:p>
            <a:r>
              <a:rPr lang="tr-TR" b="1" dirty="0" smtClean="0"/>
              <a:t>Kendi İç </a:t>
            </a:r>
            <a:r>
              <a:rPr lang="tr-TR" b="1" dirty="0" err="1" smtClean="0"/>
              <a:t>ozmotik</a:t>
            </a:r>
            <a:r>
              <a:rPr lang="tr-TR" b="1" dirty="0" smtClean="0"/>
              <a:t> basınca karşı korur ve ona özgül şeklini verir</a:t>
            </a:r>
          </a:p>
          <a:p>
            <a:r>
              <a:rPr lang="tr-TR" b="1" dirty="0" smtClean="0"/>
              <a:t>Bakteri hücresi, duvar sayesinde bütünlüğünü korur</a:t>
            </a:r>
          </a:p>
          <a:p>
            <a:r>
              <a:rPr lang="tr-TR" b="1" dirty="0" err="1" smtClean="0"/>
              <a:t>Permiabilite</a:t>
            </a:r>
            <a:r>
              <a:rPr lang="tr-TR" b="1" dirty="0" smtClean="0"/>
              <a:t> (geçirgenlik) veya </a:t>
            </a:r>
            <a:r>
              <a:rPr lang="tr-TR" b="1" dirty="0" err="1" smtClean="0"/>
              <a:t>ozmozis’in</a:t>
            </a:r>
            <a:r>
              <a:rPr lang="tr-TR" b="1" dirty="0" smtClean="0"/>
              <a:t>  sağlanması ve devam ettirilmesi duvar sayesinde gerçekleşir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HÜCRE DUVARI GÖREVLERİ NELERDİR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b="1" dirty="0" smtClean="0"/>
              <a:t>Fagositoza karşı korunmayı sağlar</a:t>
            </a:r>
          </a:p>
          <a:p>
            <a:r>
              <a:rPr lang="tr-TR" b="1" dirty="0" smtClean="0"/>
              <a:t>Bakterinin üreme için bölünmesi sırasında </a:t>
            </a:r>
            <a:r>
              <a:rPr lang="tr-TR" b="1" dirty="0" err="1" smtClean="0"/>
              <a:t>septum</a:t>
            </a:r>
            <a:r>
              <a:rPr lang="tr-TR" b="1" dirty="0" smtClean="0"/>
              <a:t> formasyonu oluşturmada (başlangıç oluşturarak) rol oynayarak çoğalmaya yardımcı olur</a:t>
            </a:r>
          </a:p>
          <a:p>
            <a:r>
              <a:rPr lang="tr-TR" b="1" dirty="0" err="1" smtClean="0"/>
              <a:t>Sporulasyon</a:t>
            </a:r>
            <a:r>
              <a:rPr lang="tr-TR" b="1" dirty="0" smtClean="0"/>
              <a:t> yerinin belirlenmesinde görev alır</a:t>
            </a:r>
          </a:p>
          <a:p>
            <a:r>
              <a:rPr lang="tr-TR" b="1" dirty="0" smtClean="0"/>
              <a:t>Gram pozitiflik ve negatifliğin oluşmasında rolü fazla  (</a:t>
            </a:r>
            <a:r>
              <a:rPr lang="tr-TR" b="1" dirty="0" err="1" smtClean="0"/>
              <a:t>Peptidoglikan</a:t>
            </a:r>
            <a:r>
              <a:rPr lang="tr-TR" b="1" dirty="0" smtClean="0"/>
              <a:t>  yapı….)</a:t>
            </a:r>
          </a:p>
          <a:p>
            <a:r>
              <a:rPr lang="tr-TR" b="1" dirty="0" smtClean="0"/>
              <a:t>Gram boyanma özelliğini belirler</a:t>
            </a:r>
          </a:p>
          <a:p>
            <a:pPr>
              <a:buNone/>
            </a:pPr>
            <a:endParaRPr lang="tr-TR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HÜCRE DUVARI GÖREVLERİ NELERDİR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tr-TR" b="1" dirty="0" smtClean="0"/>
              <a:t>Bakteriye </a:t>
            </a:r>
            <a:r>
              <a:rPr lang="tr-TR" b="1" dirty="0" err="1" smtClean="0"/>
              <a:t>Antijenite</a:t>
            </a:r>
            <a:r>
              <a:rPr lang="tr-TR" b="1" dirty="0" smtClean="0"/>
              <a:t> ve </a:t>
            </a:r>
            <a:r>
              <a:rPr lang="tr-TR" b="1" dirty="0" err="1" smtClean="0"/>
              <a:t>virulans</a:t>
            </a:r>
            <a:r>
              <a:rPr lang="tr-TR" b="1" dirty="0" smtClean="0"/>
              <a:t> özelliği kazandırır</a:t>
            </a:r>
          </a:p>
          <a:p>
            <a:pPr lvl="0"/>
            <a:r>
              <a:rPr lang="tr-TR" b="1" dirty="0" err="1" smtClean="0"/>
              <a:t>Endotoksin</a:t>
            </a:r>
            <a:r>
              <a:rPr lang="tr-TR" b="1" dirty="0" smtClean="0"/>
              <a:t> içerir (gr –</a:t>
            </a:r>
            <a:r>
              <a:rPr lang="tr-TR" b="1" dirty="0" err="1" smtClean="0"/>
              <a:t>lerde</a:t>
            </a:r>
            <a:r>
              <a:rPr lang="tr-TR" b="1" dirty="0" smtClean="0"/>
              <a:t>)</a:t>
            </a:r>
          </a:p>
          <a:p>
            <a:pPr lvl="0"/>
            <a:r>
              <a:rPr lang="tr-TR" b="1" dirty="0" err="1" smtClean="0"/>
              <a:t>Por</a:t>
            </a:r>
            <a:r>
              <a:rPr lang="tr-TR" b="1" dirty="0" smtClean="0"/>
              <a:t> içerir (gr –</a:t>
            </a:r>
            <a:r>
              <a:rPr lang="tr-TR" b="1" dirty="0" err="1" smtClean="0"/>
              <a:t>lerde</a:t>
            </a:r>
            <a:r>
              <a:rPr lang="tr-TR" b="1" dirty="0" smtClean="0"/>
              <a:t>)</a:t>
            </a:r>
            <a:endParaRPr lang="tr-TR" sz="2400" b="1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tr-TR" sz="2400" b="1" dirty="0" smtClean="0">
                <a:solidFill>
                  <a:srgbClr val="FF0000"/>
                </a:solidFill>
              </a:rPr>
              <a:t>		</a:t>
            </a:r>
            <a:r>
              <a:rPr lang="tr-TR" sz="2000" b="1" dirty="0" err="1" smtClean="0">
                <a:solidFill>
                  <a:srgbClr val="FF0000"/>
                </a:solidFill>
              </a:rPr>
              <a:t>Antijenite</a:t>
            </a:r>
            <a:r>
              <a:rPr lang="tr-TR" sz="2000" b="1" dirty="0" smtClean="0">
                <a:solidFill>
                  <a:srgbClr val="FF0000"/>
                </a:solidFill>
              </a:rPr>
              <a:t> nedir?</a:t>
            </a:r>
          </a:p>
          <a:p>
            <a:r>
              <a:rPr lang="tr-TR" sz="2000" b="1" dirty="0" smtClean="0"/>
              <a:t>Vücuda giren antijenin kendisine karşı antikor oluşturma yeteneği, bu yeteneğin derecesi</a:t>
            </a:r>
          </a:p>
          <a:p>
            <a:r>
              <a:rPr lang="tr-TR" sz="2000" b="1" dirty="0" smtClean="0"/>
              <a:t>Bir antijenin antikoruyla bağlanabilme yeteneği</a:t>
            </a:r>
          </a:p>
          <a:p>
            <a:r>
              <a:rPr lang="tr-TR" sz="2000" b="1" dirty="0" smtClean="0">
                <a:solidFill>
                  <a:srgbClr val="7030A0"/>
                </a:solidFill>
              </a:rPr>
              <a:t>VİRÜLANS FAKTÖR: </a:t>
            </a:r>
            <a:r>
              <a:rPr lang="tr-TR" sz="2000" b="1" dirty="0" smtClean="0">
                <a:solidFill>
                  <a:srgbClr val="FF0000"/>
                </a:solidFill>
              </a:rPr>
              <a:t>Bakterilerin hastalığa yol açma yeteneğini belirleyen faktörler</a:t>
            </a:r>
            <a:endParaRPr lang="tr-TR" sz="2000" b="1" dirty="0" smtClean="0"/>
          </a:p>
          <a:p>
            <a:pPr>
              <a:buNone/>
            </a:pPr>
            <a:r>
              <a:rPr lang="tr-TR" sz="2400" b="1" dirty="0" smtClean="0"/>
              <a:t/>
            </a:r>
            <a:br>
              <a:rPr lang="tr-TR" sz="2400" b="1" dirty="0" smtClean="0"/>
            </a:br>
            <a:endParaRPr lang="tr-TR" sz="2400" b="1" dirty="0" smtClean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HÜCRE DUVARI </a:t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b="1" dirty="0" smtClean="0">
                <a:solidFill>
                  <a:srgbClr val="FF0000"/>
                </a:solidFill>
              </a:rPr>
              <a:t>Reseptör bölgelerini bulundurur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tr-TR" b="1" dirty="0" smtClean="0"/>
          </a:p>
          <a:p>
            <a:r>
              <a:rPr lang="tr-TR" b="1" dirty="0" err="1" smtClean="0"/>
              <a:t>Bakteriyofajlar</a:t>
            </a:r>
            <a:r>
              <a:rPr lang="tr-TR" b="1" dirty="0" smtClean="0"/>
              <a:t>, </a:t>
            </a:r>
            <a:r>
              <a:rPr lang="tr-TR" b="1" dirty="0" err="1" smtClean="0"/>
              <a:t>plazmidler</a:t>
            </a:r>
            <a:r>
              <a:rPr lang="tr-TR" b="1" dirty="0" smtClean="0"/>
              <a:t>, antikorlar, genetik materyaller ve benzeri unsurların bağlandığı reseptör bölgelerini bünyesinde barındırır</a:t>
            </a:r>
            <a:endParaRPr lang="tr-TR" b="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Bacteria-Cell-Structure-570x342.png.crdownload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260648"/>
            <a:ext cx="8353425" cy="6121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7030A0"/>
                </a:solidFill>
              </a:rPr>
              <a:t>OSMOTİK BASINÇ NEDİR?</a:t>
            </a:r>
            <a:endParaRPr lang="tr-TR" b="1" dirty="0">
              <a:solidFill>
                <a:srgbClr val="7030A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b="1" dirty="0" smtClean="0">
              <a:solidFill>
                <a:srgbClr val="7030A0"/>
              </a:solidFill>
            </a:endParaRPr>
          </a:p>
          <a:p>
            <a:r>
              <a:rPr lang="tr-TR" b="1" dirty="0" smtClean="0"/>
              <a:t>Hücre içindeki hareketli taneciklerin hücre zarına yaptığı basınca denir</a:t>
            </a:r>
          </a:p>
          <a:p>
            <a:pPr>
              <a:buNone/>
            </a:pPr>
            <a:r>
              <a:rPr lang="tr-TR" b="1" dirty="0" smtClean="0">
                <a:solidFill>
                  <a:srgbClr val="7030A0"/>
                </a:solidFill>
              </a:rPr>
              <a:t>		</a:t>
            </a:r>
            <a:r>
              <a:rPr lang="tr-TR" b="1" dirty="0" smtClean="0">
                <a:solidFill>
                  <a:srgbClr val="FF0000"/>
                </a:solidFill>
              </a:rPr>
              <a:t>VEYA</a:t>
            </a:r>
          </a:p>
          <a:p>
            <a:r>
              <a:rPr lang="tr-TR" b="1" dirty="0" smtClean="0"/>
              <a:t>Hücre içinde bulunan  çözünmüş maddelerin su çekme isteğine denir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tr-TR" dirty="0" smtClean="0"/>
              <a:t/>
            </a:r>
            <a:br>
              <a:rPr lang="tr-TR" dirty="0" smtClean="0"/>
            </a:br>
            <a:r>
              <a:rPr lang="tr-TR" b="1" dirty="0" smtClean="0">
                <a:solidFill>
                  <a:srgbClr val="7030A0"/>
                </a:solidFill>
              </a:rPr>
              <a:t> </a:t>
            </a:r>
            <a:r>
              <a:rPr lang="tr-TR" sz="4900" b="1" dirty="0" smtClean="0">
                <a:solidFill>
                  <a:srgbClr val="7030A0"/>
                </a:solidFill>
              </a:rPr>
              <a:t/>
            </a:r>
            <a:br>
              <a:rPr lang="tr-TR" sz="4900" b="1" dirty="0" smtClean="0">
                <a:solidFill>
                  <a:srgbClr val="7030A0"/>
                </a:solidFill>
              </a:rPr>
            </a:br>
            <a:endParaRPr lang="tr-TR" sz="4900" b="1" dirty="0">
              <a:solidFill>
                <a:srgbClr val="7030A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179512" y="260648"/>
            <a:ext cx="8640960" cy="6192688"/>
          </a:xfrm>
        </p:spPr>
        <p:txBody>
          <a:bodyPr>
            <a:normAutofit fontScale="92500" lnSpcReduction="20000"/>
          </a:bodyPr>
          <a:lstStyle/>
          <a:p>
            <a:pPr lvl="0" algn="ctr">
              <a:buNone/>
            </a:pPr>
            <a:r>
              <a:rPr lang="tr-TR" sz="3900" b="1" dirty="0" smtClean="0">
                <a:solidFill>
                  <a:srgbClr val="7030A0"/>
                </a:solidFill>
              </a:rPr>
              <a:t>HÜCRE DUVARI, BAKTERİYİ KENDİ İÇ BASINCINA KARŞI KORUR</a:t>
            </a:r>
            <a:endParaRPr lang="tr-TR" sz="3900" b="1" dirty="0" smtClean="0"/>
          </a:p>
          <a:p>
            <a:pPr lvl="0"/>
            <a:r>
              <a:rPr lang="tr-TR" b="1" dirty="0" smtClean="0"/>
              <a:t>Bakteri içindeki </a:t>
            </a:r>
            <a:r>
              <a:rPr lang="tr-TR" b="1" dirty="0" err="1" smtClean="0"/>
              <a:t>osmotik</a:t>
            </a:r>
            <a:r>
              <a:rPr lang="tr-TR" b="1" dirty="0" smtClean="0"/>
              <a:t> basınç (bakteri türlerine göre değişmek üzere) 5-20 atmosfer arasında bulunur</a:t>
            </a:r>
          </a:p>
          <a:p>
            <a:r>
              <a:rPr lang="tr-TR" b="1" dirty="0" smtClean="0"/>
              <a:t>Bakteri içindeki bu fazla </a:t>
            </a:r>
            <a:r>
              <a:rPr lang="tr-TR" b="1" dirty="0" err="1" smtClean="0"/>
              <a:t>osmotik</a:t>
            </a:r>
            <a:r>
              <a:rPr lang="tr-TR" b="1" dirty="0" smtClean="0"/>
              <a:t> basınç;               içte bulunan </a:t>
            </a:r>
            <a:r>
              <a:rPr lang="tr-TR" b="1" dirty="0" smtClean="0">
                <a:solidFill>
                  <a:srgbClr val="7030A0"/>
                </a:solidFill>
              </a:rPr>
              <a:t>organik maddeler </a:t>
            </a:r>
            <a:r>
              <a:rPr lang="tr-TR" b="1" dirty="0" smtClean="0">
                <a:solidFill>
                  <a:srgbClr val="FF0000"/>
                </a:solidFill>
              </a:rPr>
              <a:t>(protein, amino asit, karbonhidrat, vs.)</a:t>
            </a:r>
            <a:r>
              <a:rPr lang="tr-TR" b="1" dirty="0" smtClean="0"/>
              <a:t> ve </a:t>
            </a:r>
            <a:r>
              <a:rPr lang="tr-TR" b="1" dirty="0" smtClean="0">
                <a:solidFill>
                  <a:srgbClr val="7030A0"/>
                </a:solidFill>
              </a:rPr>
              <a:t>inorganik tuzlar </a:t>
            </a:r>
            <a:r>
              <a:rPr lang="tr-TR" b="1" dirty="0" smtClean="0"/>
              <a:t>tarafından oluşturulur</a:t>
            </a:r>
          </a:p>
          <a:p>
            <a:pPr lvl="0"/>
            <a:r>
              <a:rPr lang="tr-TR" b="1" dirty="0" smtClean="0"/>
              <a:t>Bu basınca bakteri hücre duvarı ile karşı koymaktadır</a:t>
            </a:r>
          </a:p>
          <a:p>
            <a:pPr lvl="0"/>
            <a:r>
              <a:rPr lang="tr-TR" b="1" dirty="0" smtClean="0"/>
              <a:t>Gram pozitif mikroorganizmaların iç </a:t>
            </a:r>
            <a:r>
              <a:rPr lang="tr-TR" b="1" dirty="0" err="1" smtClean="0"/>
              <a:t>osmotik</a:t>
            </a:r>
            <a:r>
              <a:rPr lang="tr-TR" b="1" dirty="0" smtClean="0"/>
              <a:t> basıncı genellikle 15-20 atmosfer ,                      Gram negatiflerin ki ise daha azdır (5-10atmosfer)</a:t>
            </a:r>
          </a:p>
          <a:p>
            <a:endParaRPr lang="tr-TR" b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23528" y="332656"/>
            <a:ext cx="8424936" cy="6192688"/>
          </a:xfrm>
        </p:spPr>
        <p:txBody>
          <a:bodyPr>
            <a:normAutofit fontScale="55000" lnSpcReduction="20000"/>
          </a:bodyPr>
          <a:lstStyle/>
          <a:p>
            <a:pPr lvl="1" algn="ctr">
              <a:buNone/>
            </a:pPr>
            <a:r>
              <a:rPr lang="tr-TR" sz="6500" b="1" dirty="0" smtClean="0">
                <a:solidFill>
                  <a:srgbClr val="7030A0"/>
                </a:solidFill>
              </a:rPr>
              <a:t>HÜCRE DUVARI, BAKTERİYİ KENDİ İÇ BASINCINA KARŞI KORUR</a:t>
            </a:r>
          </a:p>
          <a:p>
            <a:pPr lvl="1">
              <a:buNone/>
            </a:pPr>
            <a:endParaRPr lang="tr-TR" sz="5100" b="1" dirty="0" smtClean="0">
              <a:solidFill>
                <a:srgbClr val="00B050"/>
              </a:solidFill>
            </a:endParaRPr>
          </a:p>
          <a:p>
            <a:pPr lvl="1">
              <a:buNone/>
            </a:pPr>
            <a:r>
              <a:rPr lang="tr-TR" sz="5100" b="1" dirty="0" smtClean="0">
                <a:solidFill>
                  <a:srgbClr val="00B050"/>
                </a:solidFill>
              </a:rPr>
              <a:t>Bakteri Adaptasyon yaparak değişebilir</a:t>
            </a:r>
          </a:p>
          <a:p>
            <a:r>
              <a:rPr lang="tr-TR" sz="5100" b="1" dirty="0" smtClean="0"/>
              <a:t>Mikroorganizmalar normal sınırlar içindeki </a:t>
            </a:r>
            <a:r>
              <a:rPr lang="tr-TR" sz="5100" b="1" dirty="0" err="1" smtClean="0"/>
              <a:t>osmotik</a:t>
            </a:r>
            <a:r>
              <a:rPr lang="tr-TR" sz="5100" b="1" dirty="0" smtClean="0"/>
              <a:t> basınç değişmelerine </a:t>
            </a:r>
            <a:r>
              <a:rPr lang="tr-TR" sz="5100" b="1" dirty="0" smtClean="0">
                <a:solidFill>
                  <a:srgbClr val="FF0000"/>
                </a:solidFill>
              </a:rPr>
              <a:t>kolayca adapte olabilirler ve bu değişmeleri yarı geçirgen </a:t>
            </a:r>
            <a:r>
              <a:rPr lang="tr-TR" sz="5100" b="1" dirty="0" err="1" smtClean="0">
                <a:solidFill>
                  <a:srgbClr val="FF0000"/>
                </a:solidFill>
              </a:rPr>
              <a:t>membranları</a:t>
            </a:r>
            <a:r>
              <a:rPr lang="tr-TR" sz="5100" b="1" dirty="0" smtClean="0">
                <a:solidFill>
                  <a:srgbClr val="FF0000"/>
                </a:solidFill>
              </a:rPr>
              <a:t> ile kolayca </a:t>
            </a:r>
            <a:r>
              <a:rPr lang="tr-TR" sz="5100" b="1" dirty="0" err="1" smtClean="0">
                <a:solidFill>
                  <a:srgbClr val="FF0000"/>
                </a:solidFill>
              </a:rPr>
              <a:t>regule</a:t>
            </a:r>
            <a:r>
              <a:rPr lang="tr-TR" sz="5100" b="1" dirty="0" smtClean="0">
                <a:solidFill>
                  <a:srgbClr val="FF0000"/>
                </a:solidFill>
              </a:rPr>
              <a:t> edebilirler </a:t>
            </a:r>
            <a:r>
              <a:rPr lang="tr-TR" sz="5100" b="1" dirty="0" smtClean="0"/>
              <a:t>(</a:t>
            </a:r>
            <a:r>
              <a:rPr lang="tr-TR" sz="5100" b="1" dirty="0" err="1" smtClean="0"/>
              <a:t>osmofilik</a:t>
            </a:r>
            <a:r>
              <a:rPr lang="tr-TR" sz="5100" b="1" dirty="0" smtClean="0"/>
              <a:t> mikroplar)</a:t>
            </a:r>
          </a:p>
          <a:p>
            <a:r>
              <a:rPr lang="tr-TR" sz="5100" b="1" dirty="0" smtClean="0">
                <a:solidFill>
                  <a:srgbClr val="0070C0"/>
                </a:solidFill>
              </a:rPr>
              <a:t>Bu sınırların dışına çıkıldığında</a:t>
            </a:r>
            <a:r>
              <a:rPr lang="tr-TR" sz="5100" b="1" dirty="0" smtClean="0"/>
              <a:t> bakterilerde gelişme de ve üremede noksanlıklar, </a:t>
            </a:r>
            <a:r>
              <a:rPr lang="tr-TR" sz="5100" b="1" dirty="0" err="1" smtClean="0"/>
              <a:t>plasmoliz</a:t>
            </a:r>
            <a:r>
              <a:rPr lang="tr-TR" sz="5100" b="1" dirty="0" smtClean="0"/>
              <a:t> ve </a:t>
            </a:r>
            <a:r>
              <a:rPr lang="tr-TR" sz="5100" b="1" dirty="0" err="1" smtClean="0"/>
              <a:t>plasmoptiz</a:t>
            </a:r>
            <a:r>
              <a:rPr lang="tr-TR" sz="5100" b="1" dirty="0" smtClean="0"/>
              <a:t> olayları görülebilir</a:t>
            </a:r>
          </a:p>
          <a:p>
            <a:pPr>
              <a:buNone/>
            </a:pPr>
            <a:endParaRPr lang="tr-TR" sz="2900" b="1" dirty="0" smtClean="0"/>
          </a:p>
          <a:p>
            <a:r>
              <a:rPr lang="tr-TR" sz="3600" b="1" dirty="0" smtClean="0">
                <a:solidFill>
                  <a:srgbClr val="FF0000"/>
                </a:solidFill>
              </a:rPr>
              <a:t>PLAZMOLİZ;</a:t>
            </a:r>
            <a:r>
              <a:rPr lang="tr-TR" sz="3600" b="1" dirty="0" smtClean="0"/>
              <a:t> </a:t>
            </a:r>
            <a:r>
              <a:rPr lang="tr-TR" sz="3600" b="1" dirty="0" err="1" smtClean="0"/>
              <a:t>hipertonik</a:t>
            </a:r>
            <a:r>
              <a:rPr lang="tr-TR" sz="3600" b="1" dirty="0" smtClean="0"/>
              <a:t> ortamda hücrenin  su kaybederek büzüşmesi</a:t>
            </a:r>
          </a:p>
          <a:p>
            <a:r>
              <a:rPr lang="tr-TR" sz="3600" b="1" dirty="0" smtClean="0">
                <a:solidFill>
                  <a:srgbClr val="FF0000"/>
                </a:solidFill>
              </a:rPr>
              <a:t>PLAZMOPTİZ;</a:t>
            </a:r>
            <a:r>
              <a:rPr lang="tr-TR" sz="3600" b="1" dirty="0" smtClean="0"/>
              <a:t> </a:t>
            </a:r>
            <a:r>
              <a:rPr lang="es-ES" sz="3600" b="1" dirty="0" smtClean="0"/>
              <a:t>hipotonik ya da hipertonik ortamlar</a:t>
            </a:r>
            <a:r>
              <a:rPr lang="tr-TR" sz="3600" b="1" dirty="0" smtClean="0"/>
              <a:t>da </a:t>
            </a:r>
            <a:r>
              <a:rPr lang="tr-TR" sz="3600" b="1" dirty="0" err="1" smtClean="0"/>
              <a:t>sitoplanın</a:t>
            </a:r>
            <a:r>
              <a:rPr lang="tr-TR" sz="3600" b="1" dirty="0" smtClean="0"/>
              <a:t> parçalanarak hücrenin ölmesi</a:t>
            </a:r>
          </a:p>
          <a:p>
            <a:pPr>
              <a:buNone/>
            </a:pPr>
            <a:endParaRPr lang="tr-TR" sz="2900" b="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179512" y="404664"/>
            <a:ext cx="8640960" cy="6048672"/>
          </a:xfrm>
        </p:spPr>
        <p:txBody>
          <a:bodyPr>
            <a:normAutofit fontScale="92500" lnSpcReduction="20000"/>
          </a:bodyPr>
          <a:lstStyle/>
          <a:p>
            <a:pPr algn="ctr">
              <a:buNone/>
            </a:pPr>
            <a:r>
              <a:rPr lang="tr-TR" b="1" dirty="0" smtClean="0">
                <a:solidFill>
                  <a:srgbClr val="7030A0"/>
                </a:solidFill>
              </a:rPr>
              <a:t>	</a:t>
            </a:r>
            <a:r>
              <a:rPr lang="tr-TR" sz="3900" b="1" dirty="0" smtClean="0">
                <a:solidFill>
                  <a:srgbClr val="7030A0"/>
                </a:solidFill>
              </a:rPr>
              <a:t>HÜCRE DUVARI, BAKTERİYİ KENDİ İÇ BASINCINA KARŞI KORUR</a:t>
            </a:r>
            <a:endParaRPr lang="tr-TR" sz="3900" b="1" dirty="0" smtClean="0"/>
          </a:p>
          <a:p>
            <a:pPr lvl="0"/>
            <a:r>
              <a:rPr lang="tr-TR" b="1" dirty="0" smtClean="0"/>
              <a:t>Ancak, denizlerde, tuzlu göl ve sularda, salamuralarda, reçellerde, vs. yerlerde bulunan yüksek orandaki tuz veya şeker </a:t>
            </a:r>
            <a:r>
              <a:rPr lang="tr-TR" b="1" dirty="0" smtClean="0">
                <a:solidFill>
                  <a:srgbClr val="FF0000"/>
                </a:solidFill>
              </a:rPr>
              <a:t>konsantrasyonlarına alışarak üreyebilen ve bunların bozulmalarına neden olan</a:t>
            </a:r>
            <a:r>
              <a:rPr lang="tr-TR" b="1" dirty="0" smtClean="0"/>
              <a:t> mikroorganizmalar da </a:t>
            </a:r>
            <a:r>
              <a:rPr lang="tr-TR" b="1" dirty="0" smtClean="0">
                <a:solidFill>
                  <a:srgbClr val="7030A0"/>
                </a:solidFill>
              </a:rPr>
              <a:t>vardır                             (</a:t>
            </a:r>
            <a:r>
              <a:rPr lang="tr-TR" b="1" dirty="0" err="1" smtClean="0">
                <a:solidFill>
                  <a:srgbClr val="7030A0"/>
                </a:solidFill>
              </a:rPr>
              <a:t>halofilik</a:t>
            </a:r>
            <a:r>
              <a:rPr lang="tr-TR" b="1" dirty="0" smtClean="0">
                <a:solidFill>
                  <a:srgbClr val="7030A0"/>
                </a:solidFill>
              </a:rPr>
              <a:t> ve </a:t>
            </a:r>
            <a:r>
              <a:rPr lang="tr-TR" b="1" dirty="0" err="1" smtClean="0">
                <a:solidFill>
                  <a:srgbClr val="7030A0"/>
                </a:solidFill>
              </a:rPr>
              <a:t>sakkarofilik</a:t>
            </a:r>
            <a:r>
              <a:rPr lang="tr-TR" b="1" dirty="0" smtClean="0">
                <a:solidFill>
                  <a:srgbClr val="7030A0"/>
                </a:solidFill>
              </a:rPr>
              <a:t> bakteriler)</a:t>
            </a:r>
          </a:p>
          <a:p>
            <a:pPr lvl="0"/>
            <a:r>
              <a:rPr lang="tr-TR" b="1" dirty="0" smtClean="0"/>
              <a:t>Pratikte, et ve balık muhafazaları için %10-20 tuz ve reçellerde de %50-70 oranında şeker kullanılarak </a:t>
            </a:r>
            <a:r>
              <a:rPr lang="tr-TR" b="1" dirty="0" err="1" smtClean="0"/>
              <a:t>osmotik</a:t>
            </a:r>
            <a:r>
              <a:rPr lang="tr-TR" b="1" dirty="0" smtClean="0"/>
              <a:t> basınç yükseltilir ve bakterilerin üremesine mani olunur</a:t>
            </a:r>
          </a:p>
          <a:p>
            <a:pPr lvl="0"/>
            <a:r>
              <a:rPr lang="tr-TR" b="1" dirty="0" smtClean="0">
                <a:solidFill>
                  <a:schemeClr val="accent6">
                    <a:lumMod val="50000"/>
                  </a:schemeClr>
                </a:solidFill>
              </a:rPr>
              <a:t>Ancak böyle </a:t>
            </a:r>
            <a:r>
              <a:rPr lang="tr-TR" b="1" dirty="0" err="1" smtClean="0">
                <a:solidFill>
                  <a:schemeClr val="accent6">
                    <a:lumMod val="50000"/>
                  </a:schemeClr>
                </a:solidFill>
              </a:rPr>
              <a:t>hipertonik</a:t>
            </a:r>
            <a:r>
              <a:rPr lang="tr-TR" b="1" dirty="0" smtClean="0">
                <a:solidFill>
                  <a:schemeClr val="accent6">
                    <a:lumMod val="50000"/>
                  </a:schemeClr>
                </a:solidFill>
              </a:rPr>
              <a:t> ortamlarda da, küf, maya, alg ve bazı bakteriler az da olsa üreyebilirler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683568" y="332656"/>
            <a:ext cx="7416824" cy="5534075"/>
          </a:xfrm>
        </p:spPr>
        <p:txBody>
          <a:bodyPr/>
          <a:lstStyle/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	</a:t>
            </a:r>
            <a:r>
              <a:rPr lang="tr-TR" sz="4000" b="1" dirty="0" smtClean="0">
                <a:solidFill>
                  <a:srgbClr val="FF0000"/>
                </a:solidFill>
              </a:rPr>
              <a:t>    </a:t>
            </a:r>
          </a:p>
          <a:p>
            <a:pPr>
              <a:buNone/>
            </a:pPr>
            <a:r>
              <a:rPr lang="tr-TR" sz="4000" b="1" dirty="0" smtClean="0">
                <a:solidFill>
                  <a:srgbClr val="FF0000"/>
                </a:solidFill>
              </a:rPr>
              <a:t>		   </a:t>
            </a:r>
          </a:p>
          <a:p>
            <a:pPr>
              <a:buNone/>
            </a:pPr>
            <a:r>
              <a:rPr lang="tr-TR" sz="4000" b="1" dirty="0" smtClean="0">
                <a:solidFill>
                  <a:srgbClr val="FF0000"/>
                </a:solidFill>
              </a:rPr>
              <a:t>	         </a:t>
            </a:r>
            <a:r>
              <a:rPr lang="tr-TR" sz="6000" b="1" dirty="0" smtClean="0">
                <a:solidFill>
                  <a:srgbClr val="FF0000"/>
                </a:solidFill>
              </a:rPr>
              <a:t>GRAM POZİTİF</a:t>
            </a:r>
            <a:endParaRPr lang="tr-TR" sz="6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570186"/>
          </a:xfrm>
        </p:spPr>
        <p:txBody>
          <a:bodyPr>
            <a:noAutofit/>
          </a:bodyPr>
          <a:lstStyle/>
          <a:p>
            <a:r>
              <a:rPr lang="tr-TR" sz="3200" b="1" dirty="0" smtClean="0"/>
              <a:t/>
            </a:r>
            <a:br>
              <a:rPr lang="tr-TR" sz="3200" b="1" dirty="0" smtClean="0"/>
            </a:br>
            <a:r>
              <a:rPr lang="tr-TR" sz="3200" b="1" dirty="0" smtClean="0">
                <a:solidFill>
                  <a:srgbClr val="7030A0"/>
                </a:solidFill>
              </a:rPr>
              <a:t>GRAM POZİTİFLİK VE NEGATİFLİĞİN OLUŞMASINDA ROLÜ FAZLA  </a:t>
            </a:r>
            <a:br>
              <a:rPr lang="tr-TR" sz="3200" b="1" dirty="0" smtClean="0">
                <a:solidFill>
                  <a:srgbClr val="7030A0"/>
                </a:solidFill>
              </a:rPr>
            </a:br>
            <a:r>
              <a:rPr lang="tr-TR" sz="3200" b="1" dirty="0" smtClean="0">
                <a:solidFill>
                  <a:srgbClr val="7030A0"/>
                </a:solidFill>
              </a:rPr>
              <a:t>(PEPTİDOGLİKAN  YAPI….)</a:t>
            </a:r>
            <a:br>
              <a:rPr lang="tr-TR" sz="3200" b="1" dirty="0" smtClean="0">
                <a:solidFill>
                  <a:srgbClr val="7030A0"/>
                </a:solidFill>
              </a:rPr>
            </a:br>
            <a:endParaRPr lang="tr-TR" sz="3200" dirty="0">
              <a:solidFill>
                <a:srgbClr val="7030A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2132856"/>
            <a:ext cx="8229600" cy="3993307"/>
          </a:xfrm>
        </p:spPr>
        <p:txBody>
          <a:bodyPr/>
          <a:lstStyle/>
          <a:p>
            <a:pPr>
              <a:buNone/>
            </a:pPr>
            <a:r>
              <a:rPr lang="tr-TR" b="1" dirty="0" smtClean="0"/>
              <a:t>		</a:t>
            </a:r>
            <a:r>
              <a:rPr lang="tr-TR" b="1" dirty="0" smtClean="0">
                <a:solidFill>
                  <a:srgbClr val="FF0000"/>
                </a:solidFill>
              </a:rPr>
              <a:t>GRAM POZİTİF HÜCRE DUVAR YAPISI</a:t>
            </a:r>
            <a:endParaRPr lang="tr-TR" dirty="0" smtClean="0">
              <a:solidFill>
                <a:srgbClr val="FF0000"/>
              </a:solidFill>
            </a:endParaRPr>
          </a:p>
          <a:p>
            <a:pPr lvl="0"/>
            <a:r>
              <a:rPr lang="tr-TR" b="1" dirty="0" err="1" smtClean="0"/>
              <a:t>Peptidoglikan</a:t>
            </a:r>
            <a:r>
              <a:rPr lang="tr-TR" b="1" dirty="0" smtClean="0"/>
              <a:t> yapı</a:t>
            </a:r>
          </a:p>
          <a:p>
            <a:pPr lvl="0"/>
            <a:r>
              <a:rPr lang="tr-TR" b="1" dirty="0" err="1" smtClean="0"/>
              <a:t>Teikoik</a:t>
            </a:r>
            <a:r>
              <a:rPr lang="tr-TR" b="1" dirty="0" smtClean="0"/>
              <a:t> asit </a:t>
            </a:r>
          </a:p>
          <a:p>
            <a:pPr lvl="0"/>
            <a:r>
              <a:rPr lang="tr-TR" b="1" dirty="0" smtClean="0"/>
              <a:t>Yüzey proteinleri </a:t>
            </a:r>
          </a:p>
          <a:p>
            <a:pPr lvl="1"/>
            <a:r>
              <a:rPr lang="tr-TR" b="1" dirty="0" smtClean="0"/>
              <a:t>içerir</a:t>
            </a:r>
          </a:p>
          <a:p>
            <a:pPr lvl="0">
              <a:buNone/>
            </a:pPr>
            <a:endParaRPr lang="tr-TR" b="1" dirty="0" smtClean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23528" y="260648"/>
            <a:ext cx="8568952" cy="6336704"/>
          </a:xfrm>
        </p:spPr>
        <p:txBody>
          <a:bodyPr>
            <a:normAutofit fontScale="92500" lnSpcReduction="10000"/>
          </a:bodyPr>
          <a:lstStyle/>
          <a:p>
            <a:pPr algn="ctr">
              <a:buNone/>
            </a:pPr>
            <a:r>
              <a:rPr lang="tr-TR" sz="3500" b="1" dirty="0" smtClean="0">
                <a:solidFill>
                  <a:srgbClr val="FF0000"/>
                </a:solidFill>
              </a:rPr>
              <a:t>PEPTİDOGLİKAN TABAKA</a:t>
            </a:r>
            <a:br>
              <a:rPr lang="tr-TR" sz="3500" b="1" dirty="0" smtClean="0">
                <a:solidFill>
                  <a:srgbClr val="FF0000"/>
                </a:solidFill>
              </a:rPr>
            </a:br>
            <a:r>
              <a:rPr lang="tr-TR" sz="3500" b="1" dirty="0" smtClean="0">
                <a:solidFill>
                  <a:srgbClr val="FF0000"/>
                </a:solidFill>
              </a:rPr>
              <a:t>(MUREİN MUKOPEPTİD)</a:t>
            </a:r>
            <a:endParaRPr lang="tr-TR" sz="3500" b="1" dirty="0" smtClean="0">
              <a:solidFill>
                <a:srgbClr val="7030A0"/>
              </a:solidFill>
            </a:endParaRPr>
          </a:p>
          <a:p>
            <a:pPr>
              <a:buNone/>
            </a:pPr>
            <a:r>
              <a:rPr lang="tr-TR" b="1" dirty="0" smtClean="0">
                <a:solidFill>
                  <a:srgbClr val="7030A0"/>
                </a:solidFill>
              </a:rPr>
              <a:t>		G +  bakteri </a:t>
            </a:r>
          </a:p>
          <a:p>
            <a:r>
              <a:rPr lang="tr-TR" b="1" dirty="0" smtClean="0"/>
              <a:t>Hücre zarının hemen üzerinde bulunur</a:t>
            </a:r>
          </a:p>
          <a:p>
            <a:r>
              <a:rPr lang="tr-TR" b="1" dirty="0" smtClean="0"/>
              <a:t>Hücre duvarının sağlamlık ve direncinden sorumludur</a:t>
            </a:r>
          </a:p>
          <a:p>
            <a:r>
              <a:rPr lang="tr-TR" b="1" dirty="0" err="1" smtClean="0"/>
              <a:t>Mitojenik</a:t>
            </a:r>
            <a:r>
              <a:rPr lang="tr-TR" b="1" dirty="0" smtClean="0"/>
              <a:t> </a:t>
            </a:r>
            <a:r>
              <a:rPr lang="tr-TR" sz="2400" b="1" dirty="0" smtClean="0"/>
              <a:t>(mitoz bölünmenin uyarılması)  </a:t>
            </a:r>
            <a:r>
              <a:rPr lang="tr-TR" b="1" dirty="0" smtClean="0"/>
              <a:t>ve </a:t>
            </a:r>
            <a:r>
              <a:rPr lang="tr-TR" b="1" dirty="0" err="1" smtClean="0"/>
              <a:t>pirojeniktir</a:t>
            </a:r>
            <a:r>
              <a:rPr lang="tr-TR" b="1" dirty="0" smtClean="0"/>
              <a:t> </a:t>
            </a:r>
            <a:r>
              <a:rPr lang="tr-TR" sz="2400" b="1" dirty="0" smtClean="0"/>
              <a:t>(Ateş oluşumuna neden olan faktörler) </a:t>
            </a:r>
          </a:p>
          <a:p>
            <a:r>
              <a:rPr lang="tr-TR" b="1" dirty="0" err="1" smtClean="0"/>
              <a:t>Peptidoglikan</a:t>
            </a:r>
            <a:r>
              <a:rPr lang="tr-TR" b="1" dirty="0" smtClean="0"/>
              <a:t> tabaka, </a:t>
            </a:r>
            <a:r>
              <a:rPr lang="tr-TR" b="1" dirty="0" err="1" smtClean="0"/>
              <a:t>betalaktam</a:t>
            </a:r>
            <a:r>
              <a:rPr lang="tr-TR" b="1" dirty="0" smtClean="0"/>
              <a:t> antibiyotiklerin hedefidir</a:t>
            </a:r>
            <a:endParaRPr lang="tr-TR" dirty="0" smtClean="0"/>
          </a:p>
          <a:p>
            <a:r>
              <a:rPr lang="tr-TR" b="1" dirty="0" smtClean="0"/>
              <a:t>Ancak </a:t>
            </a:r>
            <a:r>
              <a:rPr lang="tr-TR" b="1" dirty="0" err="1" smtClean="0"/>
              <a:t>Lizozim</a:t>
            </a:r>
            <a:r>
              <a:rPr lang="tr-TR" b="1" dirty="0" smtClean="0"/>
              <a:t> enzimi (gözyaşı, salya ve diğer vücut sıvılarında mevcut) </a:t>
            </a:r>
            <a:r>
              <a:rPr lang="tr-TR" b="1" dirty="0" err="1" smtClean="0"/>
              <a:t>peptidoglikan</a:t>
            </a:r>
            <a:r>
              <a:rPr lang="tr-TR" b="1" dirty="0" smtClean="0"/>
              <a:t> tabakayı parçalayabilir</a:t>
            </a:r>
          </a:p>
          <a:p>
            <a:pPr>
              <a:buNone/>
            </a:pPr>
            <a:endParaRPr lang="tr-TR" b="1" dirty="0" smtClean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404664"/>
            <a:ext cx="8568952" cy="6192688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tr-TR" b="1" dirty="0" smtClean="0">
                <a:solidFill>
                  <a:srgbClr val="FF0000"/>
                </a:solidFill>
              </a:rPr>
              <a:t>	PEPTİDOGLİKAN TABAKA</a:t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b="1" dirty="0" smtClean="0">
                <a:solidFill>
                  <a:srgbClr val="FF0000"/>
                </a:solidFill>
              </a:rPr>
              <a:t>(MUREİN MUKOPEPTİD)</a:t>
            </a:r>
            <a:endParaRPr lang="tr-TR" b="1" dirty="0" smtClean="0"/>
          </a:p>
          <a:p>
            <a:r>
              <a:rPr lang="tr-TR" b="1" dirty="0" smtClean="0"/>
              <a:t>Gram pozitif bakterilerde </a:t>
            </a:r>
            <a:r>
              <a:rPr lang="tr-TR" b="1" dirty="0" err="1" smtClean="0"/>
              <a:t>peptidoglikan</a:t>
            </a:r>
            <a:r>
              <a:rPr lang="tr-TR" b="1" dirty="0" smtClean="0"/>
              <a:t> tabaka, kalın ve çok tabakalı bir yapıdır (%80-85)</a:t>
            </a:r>
          </a:p>
          <a:p>
            <a:r>
              <a:rPr lang="tr-TR" b="1" dirty="0" smtClean="0"/>
              <a:t>Bu tabaka, </a:t>
            </a:r>
            <a:r>
              <a:rPr lang="tr-TR" b="1" dirty="0" err="1" smtClean="0"/>
              <a:t>teikoikasit</a:t>
            </a:r>
            <a:r>
              <a:rPr lang="tr-TR" b="1" dirty="0" smtClean="0"/>
              <a:t>, </a:t>
            </a:r>
            <a:r>
              <a:rPr lang="tr-TR" b="1" dirty="0" err="1" smtClean="0"/>
              <a:t>lipoteikoikasit</a:t>
            </a:r>
            <a:r>
              <a:rPr lang="tr-TR" b="1" dirty="0" smtClean="0"/>
              <a:t> ve </a:t>
            </a:r>
            <a:r>
              <a:rPr lang="tr-TR" b="1" dirty="0" err="1" smtClean="0"/>
              <a:t>komleks</a:t>
            </a:r>
            <a:r>
              <a:rPr lang="tr-TR" b="1" dirty="0" smtClean="0"/>
              <a:t> yapıdaki </a:t>
            </a:r>
            <a:r>
              <a:rPr lang="tr-TR" b="1" dirty="0" err="1" smtClean="0"/>
              <a:t>polisakkaritleride</a:t>
            </a:r>
            <a:r>
              <a:rPr lang="tr-TR" b="1" dirty="0" smtClean="0"/>
              <a:t> içerir </a:t>
            </a:r>
          </a:p>
          <a:p>
            <a:pPr>
              <a:buNone/>
            </a:pPr>
            <a:endParaRPr lang="tr-TR" b="1" dirty="0" smtClean="0"/>
          </a:p>
          <a:p>
            <a:pPr>
              <a:buNone/>
            </a:pPr>
            <a:endParaRPr lang="tr-TR" dirty="0" smtClean="0"/>
          </a:p>
          <a:p>
            <a:r>
              <a:rPr lang="tr-TR" b="1" dirty="0" smtClean="0"/>
              <a:t>Penisilin de </a:t>
            </a:r>
            <a:r>
              <a:rPr lang="tr-TR" b="1" dirty="0" err="1" smtClean="0"/>
              <a:t>peptidoglikan</a:t>
            </a:r>
            <a:r>
              <a:rPr lang="tr-TR" b="1" dirty="0" smtClean="0"/>
              <a:t> tabakayı hedef alır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404664"/>
            <a:ext cx="8458200" cy="554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332656"/>
            <a:ext cx="8568952" cy="6264696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		</a:t>
            </a:r>
            <a:r>
              <a:rPr lang="tr-TR" sz="4200" b="1" dirty="0" smtClean="0">
                <a:solidFill>
                  <a:srgbClr val="FF0000"/>
                </a:solidFill>
              </a:rPr>
              <a:t>TEİKOİK ASİT</a:t>
            </a:r>
          </a:p>
          <a:p>
            <a:pPr>
              <a:buNone/>
            </a:pPr>
            <a:r>
              <a:rPr lang="tr-TR" sz="4000" b="1" dirty="0" smtClean="0">
                <a:solidFill>
                  <a:srgbClr val="7030A0"/>
                </a:solidFill>
              </a:rPr>
              <a:t>		Sadece gr+ bakterilerde </a:t>
            </a:r>
            <a:r>
              <a:rPr lang="tr-TR" sz="4000" b="1" dirty="0" smtClean="0"/>
              <a:t>bulunur</a:t>
            </a:r>
            <a:endParaRPr lang="tr-TR" sz="4200" b="1" dirty="0" smtClean="0"/>
          </a:p>
          <a:p>
            <a:r>
              <a:rPr lang="tr-TR" b="1" dirty="0" smtClean="0"/>
              <a:t>Protein yapıda olan </a:t>
            </a:r>
            <a:r>
              <a:rPr lang="tr-TR" b="1" dirty="0" err="1" smtClean="0"/>
              <a:t>teikoikasit</a:t>
            </a:r>
            <a:r>
              <a:rPr lang="tr-TR" b="1" dirty="0" smtClean="0"/>
              <a:t> ve </a:t>
            </a:r>
            <a:r>
              <a:rPr lang="tr-TR" b="1" dirty="0" err="1" smtClean="0"/>
              <a:t>lipoteikoikasit</a:t>
            </a:r>
            <a:r>
              <a:rPr lang="tr-TR" b="1" dirty="0" smtClean="0"/>
              <a:t> </a:t>
            </a:r>
            <a:r>
              <a:rPr lang="tr-TR" b="1" dirty="0" err="1" smtClean="0"/>
              <a:t>antijenik</a:t>
            </a:r>
            <a:r>
              <a:rPr lang="tr-TR" b="1" dirty="0" smtClean="0"/>
              <a:t> özelliktedir ve önemli </a:t>
            </a:r>
            <a:r>
              <a:rPr lang="tr-TR" b="1" dirty="0" err="1" smtClean="0"/>
              <a:t>virulans</a:t>
            </a:r>
            <a:r>
              <a:rPr lang="tr-TR" b="1" dirty="0" smtClean="0"/>
              <a:t> faktörlerinden biridir</a:t>
            </a:r>
          </a:p>
          <a:p>
            <a:r>
              <a:rPr lang="tr-TR" b="1" dirty="0" smtClean="0">
                <a:solidFill>
                  <a:srgbClr val="7030A0"/>
                </a:solidFill>
              </a:rPr>
              <a:t>VİRÜLANS FAKTÖR: </a:t>
            </a:r>
            <a:r>
              <a:rPr lang="tr-TR" b="1" dirty="0" smtClean="0">
                <a:solidFill>
                  <a:srgbClr val="FF0000"/>
                </a:solidFill>
              </a:rPr>
              <a:t>Bakterilerin hastalığa yol açma yeteneğini belirleyen faktörler</a:t>
            </a:r>
            <a:endParaRPr lang="tr-TR" b="1" dirty="0" smtClean="0"/>
          </a:p>
          <a:p>
            <a:r>
              <a:rPr lang="tr-TR" b="1" dirty="0" err="1" smtClean="0"/>
              <a:t>Peptidoglikan</a:t>
            </a:r>
            <a:r>
              <a:rPr lang="tr-TR" b="1" dirty="0" smtClean="0"/>
              <a:t> tabakanın </a:t>
            </a:r>
            <a:r>
              <a:rPr lang="tr-TR" b="1" dirty="0" smtClean="0">
                <a:solidFill>
                  <a:schemeClr val="accent6">
                    <a:lumMod val="50000"/>
                  </a:schemeClr>
                </a:solidFill>
              </a:rPr>
              <a:t>içinde ve dışında adacıklar halinde bulunur</a:t>
            </a:r>
          </a:p>
          <a:p>
            <a:r>
              <a:rPr lang="tr-TR" b="1" dirty="0" err="1" smtClean="0"/>
              <a:t>Antijenik</a:t>
            </a:r>
            <a:r>
              <a:rPr lang="tr-TR" b="1" dirty="0" smtClean="0"/>
              <a:t> olup türe özgü antikor yanıtına neden olur</a:t>
            </a:r>
          </a:p>
          <a:p>
            <a:r>
              <a:rPr lang="tr-TR" b="1" dirty="0" smtClean="0"/>
              <a:t>Mukozalarda bulunan </a:t>
            </a:r>
            <a:r>
              <a:rPr lang="tr-TR" b="1" dirty="0" err="1" smtClean="0"/>
              <a:t>fibronektin</a:t>
            </a:r>
            <a:r>
              <a:rPr lang="tr-TR" b="1" dirty="0" smtClean="0"/>
              <a:t> ve diğer reseptörlere tutunmaya aracılık eder</a:t>
            </a:r>
          </a:p>
          <a:p>
            <a:r>
              <a:rPr lang="tr-TR" b="1" dirty="0" err="1" smtClean="0"/>
              <a:t>Bakteriyofajlar</a:t>
            </a:r>
            <a:r>
              <a:rPr lang="tr-TR" b="1" dirty="0" smtClean="0"/>
              <a:t> için reseptörler içerir</a:t>
            </a:r>
          </a:p>
          <a:p>
            <a:pPr>
              <a:buNone/>
            </a:pPr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b="1" dirty="0" err="1" smtClean="0">
                <a:solidFill>
                  <a:srgbClr val="0070C0"/>
                </a:solidFill>
              </a:rPr>
              <a:t>Teikoik</a:t>
            </a:r>
            <a:r>
              <a:rPr lang="tr-TR" b="1" dirty="0" smtClean="0">
                <a:solidFill>
                  <a:srgbClr val="0070C0"/>
                </a:solidFill>
              </a:rPr>
              <a:t> asit; </a:t>
            </a:r>
            <a:r>
              <a:rPr lang="tr-TR" b="1" dirty="0" smtClean="0"/>
              <a:t>şeker- alkol-fosfat polimeridir                    </a:t>
            </a:r>
            <a:endParaRPr lang="tr-TR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88640"/>
            <a:ext cx="8785225" cy="6440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tijen\Desktop\indir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4616" y="476672"/>
            <a:ext cx="8508207" cy="583264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GRAM POZİTİF HÜCRE DUVAR YAPISI</a:t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b="1" dirty="0" smtClean="0">
                <a:solidFill>
                  <a:srgbClr val="FF0000"/>
                </a:solidFill>
              </a:rPr>
              <a:t>Yüzey Proteinleri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Gram pozitif hücre duvarının en dışında </a:t>
            </a:r>
            <a:r>
              <a:rPr lang="tr-TR" b="1" dirty="0" smtClean="0">
                <a:solidFill>
                  <a:srgbClr val="7030A0"/>
                </a:solidFill>
              </a:rPr>
              <a:t>(</a:t>
            </a:r>
            <a:r>
              <a:rPr lang="tr-TR" b="1" dirty="0" err="1" smtClean="0">
                <a:solidFill>
                  <a:srgbClr val="7030A0"/>
                </a:solidFill>
              </a:rPr>
              <a:t>Peptidoglikan</a:t>
            </a:r>
            <a:r>
              <a:rPr lang="tr-TR" b="1" dirty="0" smtClean="0">
                <a:solidFill>
                  <a:srgbClr val="7030A0"/>
                </a:solidFill>
              </a:rPr>
              <a:t> tabakasının dış yüzeyinde)  </a:t>
            </a:r>
            <a:r>
              <a:rPr lang="tr-TR" b="1" dirty="0" smtClean="0"/>
              <a:t>ise yüzey proteinleri yer alır</a:t>
            </a:r>
            <a:r>
              <a:rPr lang="tr-TR" dirty="0" smtClean="0"/>
              <a:t> </a:t>
            </a:r>
          </a:p>
          <a:p>
            <a:endParaRPr lang="tr-TR" b="1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9992" y="3429000"/>
            <a:ext cx="4104382" cy="303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260648"/>
            <a:ext cx="8424862" cy="6226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440160"/>
          </a:xfrm>
        </p:spPr>
        <p:txBody>
          <a:bodyPr>
            <a:normAutofit fontScale="90000"/>
          </a:bodyPr>
          <a:lstStyle/>
          <a:p>
            <a:r>
              <a:rPr lang="tr-TR" sz="3100" b="1" dirty="0" smtClean="0"/>
              <a:t/>
            </a:r>
            <a:br>
              <a:rPr lang="tr-TR" sz="3100" b="1" dirty="0" smtClean="0"/>
            </a:br>
            <a:r>
              <a:rPr lang="tr-TR" sz="3100" b="1" dirty="0" smtClean="0"/>
              <a:t/>
            </a:r>
            <a:br>
              <a:rPr lang="tr-TR" sz="3100" b="1" dirty="0" smtClean="0"/>
            </a:br>
            <a:r>
              <a:rPr lang="tr-TR" sz="3100" b="1" dirty="0" smtClean="0">
                <a:solidFill>
                  <a:srgbClr val="7030A0"/>
                </a:solidFill>
              </a:rPr>
              <a:t>YÜZEY PROTEİNLERİNİN SAYISI VE TİPİ BAKTERİ TÜRÜNE VE SUŞUNA BAĞLI OLARAK DEĞİŞİM GÖSTERİR</a:t>
            </a:r>
            <a:r>
              <a:rPr lang="tr-TR" b="1" dirty="0" smtClean="0">
                <a:solidFill>
                  <a:srgbClr val="7030A0"/>
                </a:solidFill>
              </a:rPr>
              <a:t/>
            </a:r>
            <a:br>
              <a:rPr lang="tr-TR" b="1" dirty="0" smtClean="0">
                <a:solidFill>
                  <a:srgbClr val="7030A0"/>
                </a:solidFill>
              </a:rPr>
            </a:br>
            <a:endParaRPr lang="tr-TR" dirty="0">
              <a:solidFill>
                <a:srgbClr val="7030A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42535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tr-TR" b="1" dirty="0" smtClean="0"/>
              <a:t>		</a:t>
            </a:r>
            <a:r>
              <a:rPr lang="tr-TR" b="1" dirty="0" smtClean="0">
                <a:solidFill>
                  <a:srgbClr val="FF0000"/>
                </a:solidFill>
              </a:rPr>
              <a:t>YÜZEY PROTEİNLERİN GÖREVLERİ</a:t>
            </a:r>
          </a:p>
          <a:p>
            <a:r>
              <a:rPr lang="tr-TR" b="1" dirty="0" smtClean="0"/>
              <a:t>Enzim olarak görev yapmak</a:t>
            </a:r>
          </a:p>
          <a:p>
            <a:r>
              <a:rPr lang="tr-TR" b="1" dirty="0" smtClean="0"/>
              <a:t>Bakterinin değişik yüzeylere tutunmasında yapıştırıcı görevi görmek</a:t>
            </a:r>
          </a:p>
          <a:p>
            <a:r>
              <a:rPr lang="tr-TR" b="1" dirty="0" smtClean="0"/>
              <a:t>Belirli bakterilerin fagositoza karşı korunmasına yardımcı olmak</a:t>
            </a:r>
            <a:endParaRPr lang="tr-TR" b="1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GRAM POZİTİF BAKTERİ HÜCRE DUVARI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b="1" dirty="0" smtClean="0"/>
              <a:t>Hücre duvarı, proteinler gibi büyük molekülleri  </a:t>
            </a:r>
            <a:r>
              <a:rPr lang="nn-NO" b="1" dirty="0" smtClean="0"/>
              <a:t>geçirmemesine karşın, pürinler, pirimidinler, disakkaritler, </a:t>
            </a:r>
            <a:r>
              <a:rPr lang="tr-TR" b="1" dirty="0" smtClean="0"/>
              <a:t> </a:t>
            </a:r>
            <a:r>
              <a:rPr lang="tr-TR" b="1" dirty="0" err="1" smtClean="0"/>
              <a:t>peptidler</a:t>
            </a:r>
            <a:r>
              <a:rPr lang="tr-TR" b="1" dirty="0" smtClean="0"/>
              <a:t> ve amino asitler gibi küçük moleküllere geçirgendir 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smtClean="0"/>
              <a:t>Gram pozitif bakteri hücre duvarında bulunan </a:t>
            </a:r>
            <a:r>
              <a:rPr lang="tr-TR" b="1" dirty="0" smtClean="0">
                <a:solidFill>
                  <a:srgbClr val="FF0000"/>
                </a:solidFill>
              </a:rPr>
              <a:t>PORLAR,</a:t>
            </a:r>
            <a:r>
              <a:rPr lang="tr-TR" b="1" dirty="0" smtClean="0"/>
              <a:t>  </a:t>
            </a:r>
            <a:r>
              <a:rPr lang="tr-TR" b="1" dirty="0" err="1" smtClean="0"/>
              <a:t>diffüzyon</a:t>
            </a:r>
            <a:r>
              <a:rPr lang="tr-TR" b="1" dirty="0" smtClean="0"/>
              <a:t> ile madde geçişine izin verir</a:t>
            </a:r>
            <a:endParaRPr lang="tr-TR" b="1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332656"/>
            <a:ext cx="8351838" cy="619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611560" y="620688"/>
            <a:ext cx="7848872" cy="5505475"/>
          </a:xfrm>
        </p:spPr>
        <p:txBody>
          <a:bodyPr/>
          <a:lstStyle/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	  </a:t>
            </a:r>
          </a:p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    </a:t>
            </a:r>
          </a:p>
          <a:p>
            <a:pPr>
              <a:buNone/>
            </a:pPr>
            <a:r>
              <a:rPr lang="tr-TR" sz="6000" b="1" dirty="0" smtClean="0">
                <a:solidFill>
                  <a:srgbClr val="FF0000"/>
                </a:solidFill>
              </a:rPr>
              <a:t>		    GRAM NEGATİF</a:t>
            </a:r>
            <a:endParaRPr lang="tr-TR" sz="6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179512" y="260648"/>
            <a:ext cx="8712968" cy="6336704"/>
          </a:xfrm>
        </p:spPr>
        <p:txBody>
          <a:bodyPr/>
          <a:lstStyle/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 GRAM NEGATİF HÜCRE DUVAR YAPISI</a:t>
            </a:r>
            <a:endParaRPr lang="tr-TR" dirty="0" smtClean="0"/>
          </a:p>
          <a:p>
            <a:r>
              <a:rPr lang="tr-TR" b="1" dirty="0" smtClean="0"/>
              <a:t>Gram pozitif bakteri duvarına göre daha kompleks bir yapıdadır</a:t>
            </a:r>
          </a:p>
          <a:p>
            <a:pPr lvl="1"/>
            <a:r>
              <a:rPr lang="tr-TR" b="1" dirty="0" smtClean="0"/>
              <a:t>Başlıca iki tabaka ve bir aralıktan oluşmaktadır</a:t>
            </a:r>
          </a:p>
          <a:p>
            <a:r>
              <a:rPr lang="tr-TR" b="1" dirty="0" smtClean="0"/>
              <a:t>1- Dış zar</a:t>
            </a:r>
          </a:p>
          <a:p>
            <a:r>
              <a:rPr lang="tr-TR" b="1" dirty="0" smtClean="0"/>
              <a:t>2- </a:t>
            </a:r>
            <a:r>
              <a:rPr lang="tr-TR" b="1" dirty="0" err="1" smtClean="0"/>
              <a:t>Peptidoglikan</a:t>
            </a:r>
            <a:r>
              <a:rPr lang="tr-TR" b="1" dirty="0" smtClean="0"/>
              <a:t> tabaka</a:t>
            </a:r>
          </a:p>
          <a:p>
            <a:r>
              <a:rPr lang="tr-TR" b="1" dirty="0" smtClean="0"/>
              <a:t>3- Gram pozitif bakterilerden farklı olarak </a:t>
            </a:r>
            <a:r>
              <a:rPr lang="tr-TR" b="1" dirty="0" err="1" smtClean="0"/>
              <a:t>periplazmik</a:t>
            </a:r>
            <a:r>
              <a:rPr lang="tr-TR" b="1" dirty="0" smtClean="0"/>
              <a:t> aralık</a:t>
            </a:r>
          </a:p>
          <a:p>
            <a:r>
              <a:rPr lang="tr-TR" b="1" dirty="0" err="1" smtClean="0">
                <a:solidFill>
                  <a:srgbClr val="FF0000"/>
                </a:solidFill>
              </a:rPr>
              <a:t>Teikoikasit</a:t>
            </a:r>
            <a:r>
              <a:rPr lang="tr-TR" b="1" dirty="0" smtClean="0">
                <a:solidFill>
                  <a:srgbClr val="FF0000"/>
                </a:solidFill>
              </a:rPr>
              <a:t> ve </a:t>
            </a:r>
            <a:r>
              <a:rPr lang="tr-TR" b="1" dirty="0" err="1" smtClean="0">
                <a:solidFill>
                  <a:srgbClr val="FF0000"/>
                </a:solidFill>
              </a:rPr>
              <a:t>lipoteikoikasit</a:t>
            </a:r>
            <a:r>
              <a:rPr lang="tr-TR" b="1" dirty="0" smtClean="0">
                <a:solidFill>
                  <a:srgbClr val="FF0000"/>
                </a:solidFill>
              </a:rPr>
              <a:t> içermez</a:t>
            </a:r>
            <a:endParaRPr lang="tr-TR" b="1" dirty="0" smtClean="0"/>
          </a:p>
          <a:p>
            <a:endParaRPr lang="tr-TR" b="1" dirty="0" smtClean="0"/>
          </a:p>
          <a:p>
            <a:pPr>
              <a:buNone/>
            </a:pPr>
            <a:endParaRPr lang="tr-TR" b="1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/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b="1" dirty="0" smtClean="0">
                <a:solidFill>
                  <a:srgbClr val="FF0000"/>
                </a:solidFill>
              </a:rPr>
              <a:t>PEPTİDOGLİKAN TABAKA</a:t>
            </a:r>
            <a:br>
              <a:rPr lang="tr-TR" b="1" dirty="0" smtClean="0">
                <a:solidFill>
                  <a:srgbClr val="FF0000"/>
                </a:solidFill>
              </a:rPr>
            </a:b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Çok ince bir </a:t>
            </a:r>
            <a:r>
              <a:rPr lang="tr-TR" b="1" dirty="0" err="1" smtClean="0"/>
              <a:t>peptidoglikan</a:t>
            </a:r>
            <a:r>
              <a:rPr lang="tr-TR" b="1" dirty="0" smtClean="0"/>
              <a:t> tabakası (% 5-10)</a:t>
            </a:r>
          </a:p>
          <a:p>
            <a:endParaRPr lang="tr-TR" b="1" dirty="0" smtClean="0">
              <a:solidFill>
                <a:srgbClr val="7030A0"/>
              </a:solidFill>
            </a:endParaRPr>
          </a:p>
          <a:p>
            <a:endParaRPr lang="tr-TR" b="1" dirty="0" smtClean="0">
              <a:solidFill>
                <a:srgbClr val="7030A0"/>
              </a:solidFill>
            </a:endParaRPr>
          </a:p>
          <a:p>
            <a:endParaRPr lang="tr-TR" b="1" dirty="0" smtClean="0">
              <a:solidFill>
                <a:srgbClr val="7030A0"/>
              </a:solidFill>
            </a:endParaRPr>
          </a:p>
          <a:p>
            <a:r>
              <a:rPr lang="tr-TR" b="1" dirty="0" smtClean="0">
                <a:solidFill>
                  <a:srgbClr val="7030A0"/>
                </a:solidFill>
              </a:rPr>
              <a:t>Gram pozitiflik ve negatifliğin oluşmasında rolü fazla olan yapı  </a:t>
            </a:r>
            <a:r>
              <a:rPr lang="tr-TR" b="1" dirty="0" err="1" smtClean="0">
                <a:solidFill>
                  <a:srgbClr val="7030A0"/>
                </a:solidFill>
              </a:rPr>
              <a:t>Peptidoglikan</a:t>
            </a:r>
            <a:r>
              <a:rPr lang="tr-TR" b="1" dirty="0" smtClean="0">
                <a:solidFill>
                  <a:srgbClr val="7030A0"/>
                </a:solidFill>
              </a:rPr>
              <a:t>  yapıdır</a:t>
            </a:r>
            <a:endParaRPr lang="tr-TR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95536" y="332656"/>
            <a:ext cx="8424936" cy="6264696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	</a:t>
            </a:r>
            <a:r>
              <a:rPr lang="tr-TR" sz="3600" b="1" dirty="0" smtClean="0">
                <a:solidFill>
                  <a:srgbClr val="FF0000"/>
                </a:solidFill>
              </a:rPr>
              <a:t>      </a:t>
            </a:r>
            <a:r>
              <a:rPr lang="tr-TR" sz="3900" b="1" dirty="0" smtClean="0">
                <a:solidFill>
                  <a:srgbClr val="FF0000"/>
                </a:solidFill>
              </a:rPr>
              <a:t>G (-)  DIŞ ZAR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İçte </a:t>
            </a:r>
            <a:r>
              <a:rPr lang="tr-TR" b="1" dirty="0" err="1" smtClean="0">
                <a:solidFill>
                  <a:srgbClr val="FF0000"/>
                </a:solidFill>
              </a:rPr>
              <a:t>fosfolipid</a:t>
            </a:r>
            <a:r>
              <a:rPr lang="tr-TR" b="1" dirty="0" smtClean="0">
                <a:solidFill>
                  <a:srgbClr val="FF0000"/>
                </a:solidFill>
              </a:rPr>
              <a:t> </a:t>
            </a:r>
            <a:r>
              <a:rPr lang="tr-TR" b="1" dirty="0" smtClean="0"/>
              <a:t>,</a:t>
            </a:r>
            <a:r>
              <a:rPr lang="tr-TR" b="1" dirty="0" smtClean="0">
                <a:solidFill>
                  <a:srgbClr val="7030A0"/>
                </a:solidFill>
              </a:rPr>
              <a:t>dışta </a:t>
            </a:r>
            <a:r>
              <a:rPr lang="tr-TR" b="1" dirty="0" err="1" smtClean="0">
                <a:solidFill>
                  <a:srgbClr val="7030A0"/>
                </a:solidFill>
              </a:rPr>
              <a:t>lipopolisakkarid</a:t>
            </a:r>
            <a:r>
              <a:rPr lang="tr-TR" b="1" dirty="0" smtClean="0">
                <a:solidFill>
                  <a:srgbClr val="7030A0"/>
                </a:solidFill>
              </a:rPr>
              <a:t> </a:t>
            </a:r>
            <a:r>
              <a:rPr lang="tr-TR" b="1" dirty="0" smtClean="0"/>
              <a:t>katmanından oluşur ve gr- bakteri hücre duvarına seçicilik özelliği kazandırır</a:t>
            </a:r>
          </a:p>
          <a:p>
            <a:r>
              <a:rPr lang="tr-TR" b="1" dirty="0" smtClean="0">
                <a:solidFill>
                  <a:srgbClr val="00B050"/>
                </a:solidFill>
              </a:rPr>
              <a:t>Dış </a:t>
            </a:r>
            <a:r>
              <a:rPr lang="tr-TR" b="1" dirty="0" err="1" smtClean="0">
                <a:solidFill>
                  <a:srgbClr val="00B050"/>
                </a:solidFill>
              </a:rPr>
              <a:t>membranda</a:t>
            </a:r>
            <a:r>
              <a:rPr lang="tr-TR" b="1" dirty="0" smtClean="0">
                <a:solidFill>
                  <a:srgbClr val="00B050"/>
                </a:solidFill>
              </a:rPr>
              <a:t> bulunan </a:t>
            </a:r>
            <a:r>
              <a:rPr lang="tr-TR" b="1" dirty="0" err="1" smtClean="0">
                <a:solidFill>
                  <a:srgbClr val="00B050"/>
                </a:solidFill>
              </a:rPr>
              <a:t>porlar</a:t>
            </a:r>
            <a:r>
              <a:rPr lang="tr-TR" b="1" dirty="0" smtClean="0">
                <a:solidFill>
                  <a:srgbClr val="00B050"/>
                </a:solidFill>
              </a:rPr>
              <a:t> (</a:t>
            </a:r>
            <a:r>
              <a:rPr lang="tr-TR" b="1" dirty="0" err="1" smtClean="0">
                <a:solidFill>
                  <a:srgbClr val="00B050"/>
                </a:solidFill>
              </a:rPr>
              <a:t>porin</a:t>
            </a:r>
            <a:r>
              <a:rPr lang="tr-TR" b="1" dirty="0" smtClean="0">
                <a:solidFill>
                  <a:srgbClr val="00B050"/>
                </a:solidFill>
              </a:rPr>
              <a:t> proteinleri) dış ortamla iç ortam arasında madde alışverişini sağlar</a:t>
            </a:r>
          </a:p>
          <a:p>
            <a:r>
              <a:rPr lang="tr-TR" b="1" dirty="0" smtClean="0">
                <a:solidFill>
                  <a:srgbClr val="7030A0"/>
                </a:solidFill>
              </a:rPr>
              <a:t>Bu </a:t>
            </a:r>
            <a:r>
              <a:rPr lang="tr-TR" b="1" dirty="0" err="1" smtClean="0">
                <a:solidFill>
                  <a:srgbClr val="7030A0"/>
                </a:solidFill>
              </a:rPr>
              <a:t>porlar</a:t>
            </a:r>
            <a:r>
              <a:rPr lang="tr-TR" b="1" dirty="0" smtClean="0">
                <a:solidFill>
                  <a:srgbClr val="7030A0"/>
                </a:solidFill>
              </a:rPr>
              <a:t> antibiyotik direncinde rol alırlar</a:t>
            </a:r>
          </a:p>
          <a:p>
            <a:pPr lvl="1"/>
            <a:r>
              <a:rPr lang="tr-TR" b="1" dirty="0" smtClean="0"/>
              <a:t>Örneğin; </a:t>
            </a:r>
            <a:r>
              <a:rPr lang="tr-TR" b="1" dirty="0" err="1" smtClean="0"/>
              <a:t>Pseudomonas</a:t>
            </a:r>
            <a:r>
              <a:rPr lang="tr-TR" b="1" dirty="0" smtClean="0"/>
              <a:t> cinsi bakterilerin </a:t>
            </a:r>
            <a:r>
              <a:rPr lang="tr-TR" b="1" dirty="0" err="1" smtClean="0"/>
              <a:t>porları</a:t>
            </a:r>
            <a:r>
              <a:rPr lang="tr-TR" b="1" dirty="0" smtClean="0"/>
              <a:t>, E.</a:t>
            </a:r>
            <a:r>
              <a:rPr lang="tr-TR" b="1" dirty="0" err="1" smtClean="0"/>
              <a:t>Coli’den</a:t>
            </a:r>
            <a:r>
              <a:rPr lang="tr-TR" b="1" dirty="0" smtClean="0"/>
              <a:t> 100 kat daha az geçirgen olduğu için antibiyotiklere oldukça dirençlidir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Gram negatif bakteriler, gram pozitif bakterilere oranla antibiyotiklere karşı daha dirençlidirler, dış zar ilaçların içeri girişine engel olur</a:t>
            </a:r>
          </a:p>
          <a:p>
            <a:pPr>
              <a:buNone/>
            </a:pPr>
            <a:endParaRPr lang="tr-TR" b="1" dirty="0" smtClean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260648"/>
            <a:ext cx="8280400" cy="6335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0070C0"/>
                </a:solidFill>
              </a:rPr>
              <a:t>DIŞ MEMRAN=DIŞ ZAR</a:t>
            </a:r>
            <a:endParaRPr lang="tr-TR" b="1" dirty="0">
              <a:solidFill>
                <a:srgbClr val="0070C0"/>
              </a:solidFill>
            </a:endParaRPr>
          </a:p>
        </p:txBody>
      </p:sp>
      <p:sp>
        <p:nvSpPr>
          <p:cNvPr id="5" name="4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Dış </a:t>
            </a:r>
            <a:r>
              <a:rPr lang="tr-TR" b="1" dirty="0" err="1" smtClean="0"/>
              <a:t>membrana</a:t>
            </a:r>
            <a:r>
              <a:rPr lang="tr-TR" b="1" dirty="0" smtClean="0"/>
              <a:t> gömülü halde </a:t>
            </a:r>
          </a:p>
          <a:p>
            <a:r>
              <a:rPr lang="tr-TR" b="1" dirty="0" err="1" smtClean="0"/>
              <a:t>Lipopolisakkarid</a:t>
            </a:r>
            <a:r>
              <a:rPr lang="tr-TR" b="1" dirty="0" smtClean="0"/>
              <a:t>  (</a:t>
            </a:r>
            <a:r>
              <a:rPr lang="tr-TR" b="1" dirty="0" err="1" smtClean="0"/>
              <a:t>Lipid</a:t>
            </a:r>
            <a:r>
              <a:rPr lang="tr-TR" b="1" dirty="0" smtClean="0"/>
              <a:t> A+ </a:t>
            </a:r>
            <a:r>
              <a:rPr lang="tr-TR" b="1" dirty="0" err="1" smtClean="0"/>
              <a:t>Polisakkarid</a:t>
            </a:r>
            <a:r>
              <a:rPr lang="tr-TR" b="1" dirty="0" smtClean="0"/>
              <a:t>)</a:t>
            </a:r>
          </a:p>
          <a:p>
            <a:r>
              <a:rPr lang="tr-TR" b="1" dirty="0" err="1" smtClean="0"/>
              <a:t>Lipoprotein</a:t>
            </a:r>
            <a:r>
              <a:rPr lang="tr-TR" b="1" dirty="0" smtClean="0"/>
              <a:t> tabaka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179512" y="260648"/>
            <a:ext cx="8784976" cy="633670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	</a:t>
            </a:r>
            <a:r>
              <a:rPr lang="tr-TR" sz="3600" b="1" dirty="0" smtClean="0">
                <a:solidFill>
                  <a:srgbClr val="FF0000"/>
                </a:solidFill>
              </a:rPr>
              <a:t>LİPOPOLİSAKKARİTLER(LPS)</a:t>
            </a:r>
            <a:endParaRPr lang="tr-TR" sz="3600" b="1" dirty="0" smtClean="0"/>
          </a:p>
          <a:p>
            <a:r>
              <a:rPr lang="tr-TR" b="1" dirty="0" smtClean="0">
                <a:solidFill>
                  <a:srgbClr val="0070C0"/>
                </a:solidFill>
              </a:rPr>
              <a:t>SADECE…….  G-  bakterilerde bulunur</a:t>
            </a:r>
          </a:p>
          <a:p>
            <a:r>
              <a:rPr lang="tr-TR" b="1" dirty="0" err="1" smtClean="0"/>
              <a:t>Polisakkaritler</a:t>
            </a:r>
            <a:r>
              <a:rPr lang="tr-TR" b="1" dirty="0" smtClean="0"/>
              <a:t> organizma dışına uzanan yan zincirlerdir (</a:t>
            </a:r>
            <a:r>
              <a:rPr lang="tr-TR" b="1" dirty="0" err="1" smtClean="0"/>
              <a:t>lipopolisakkkarit</a:t>
            </a:r>
            <a:r>
              <a:rPr lang="tr-TR" b="1" dirty="0" smtClean="0"/>
              <a:t>)</a:t>
            </a:r>
            <a:endParaRPr lang="tr-TR" b="1" dirty="0" smtClean="0">
              <a:solidFill>
                <a:srgbClr val="0070C0"/>
              </a:solidFill>
            </a:endParaRPr>
          </a:p>
          <a:p>
            <a:r>
              <a:rPr lang="tr-TR" b="1" dirty="0" smtClean="0"/>
              <a:t>Dış </a:t>
            </a:r>
            <a:r>
              <a:rPr lang="tr-TR" b="1" dirty="0" err="1" smtClean="0"/>
              <a:t>membranın</a:t>
            </a:r>
            <a:r>
              <a:rPr lang="tr-TR" b="1" dirty="0" smtClean="0"/>
              <a:t> dışa dönük yüzeyinde bulunurlar</a:t>
            </a:r>
          </a:p>
          <a:p>
            <a:r>
              <a:rPr lang="tr-TR" b="1" dirty="0" smtClean="0">
                <a:solidFill>
                  <a:schemeClr val="accent6">
                    <a:lumMod val="50000"/>
                  </a:schemeClr>
                </a:solidFill>
              </a:rPr>
              <a:t>İki kısımdan oluşur: </a:t>
            </a:r>
            <a:r>
              <a:rPr lang="tr-TR" b="1" dirty="0" err="1" smtClean="0">
                <a:solidFill>
                  <a:schemeClr val="accent6">
                    <a:lumMod val="50000"/>
                  </a:schemeClr>
                </a:solidFill>
              </a:rPr>
              <a:t>Polisakkarid</a:t>
            </a:r>
            <a:r>
              <a:rPr lang="tr-TR" b="1" dirty="0" smtClean="0">
                <a:solidFill>
                  <a:schemeClr val="accent6">
                    <a:lumMod val="50000"/>
                  </a:schemeClr>
                </a:solidFill>
              </a:rPr>
              <a:t> ve   </a:t>
            </a:r>
            <a:r>
              <a:rPr lang="tr-TR" b="1" dirty="0" err="1" smtClean="0">
                <a:solidFill>
                  <a:schemeClr val="accent6">
                    <a:lumMod val="50000"/>
                  </a:schemeClr>
                </a:solidFill>
              </a:rPr>
              <a:t>Lipoprotein</a:t>
            </a:r>
            <a:r>
              <a:rPr lang="tr-TR" b="1" dirty="0" smtClean="0">
                <a:solidFill>
                  <a:schemeClr val="accent6">
                    <a:lumMod val="50000"/>
                  </a:schemeClr>
                </a:solidFill>
              </a:rPr>
              <a:t> kompleks ( </a:t>
            </a:r>
            <a:r>
              <a:rPr lang="tr-TR" b="1" dirty="0" err="1" smtClean="0">
                <a:solidFill>
                  <a:schemeClr val="accent6">
                    <a:lumMod val="50000"/>
                  </a:schemeClr>
                </a:solidFill>
              </a:rPr>
              <a:t>lipid</a:t>
            </a:r>
            <a:r>
              <a:rPr lang="tr-TR" b="1" dirty="0" smtClean="0">
                <a:solidFill>
                  <a:schemeClr val="accent6">
                    <a:lumMod val="50000"/>
                  </a:schemeClr>
                </a:solidFill>
              </a:rPr>
              <a:t>-A)</a:t>
            </a:r>
          </a:p>
          <a:p>
            <a:r>
              <a:rPr lang="tr-TR" b="1" dirty="0" err="1" smtClean="0">
                <a:solidFill>
                  <a:srgbClr val="7030A0"/>
                </a:solidFill>
              </a:rPr>
              <a:t>Endotoksin</a:t>
            </a:r>
            <a:r>
              <a:rPr lang="tr-TR" b="1" dirty="0" smtClean="0">
                <a:solidFill>
                  <a:srgbClr val="7030A0"/>
                </a:solidFill>
              </a:rPr>
              <a:t> olarak da adlandırılır  </a:t>
            </a:r>
            <a:r>
              <a:rPr lang="tr-TR" sz="2600" b="1" dirty="0" smtClean="0">
                <a:solidFill>
                  <a:srgbClr val="7030A0"/>
                </a:solidFill>
              </a:rPr>
              <a:t>((Çok ÖNEMLİ:::::))</a:t>
            </a:r>
          </a:p>
          <a:p>
            <a:r>
              <a:rPr lang="tr-TR" sz="2800" b="1" dirty="0" smtClean="0"/>
              <a:t>Dış </a:t>
            </a:r>
            <a:r>
              <a:rPr lang="tr-TR" sz="2800" b="1" dirty="0" err="1" smtClean="0"/>
              <a:t>membranın</a:t>
            </a:r>
            <a:r>
              <a:rPr lang="tr-TR" sz="2800" b="1" dirty="0" smtClean="0"/>
              <a:t> dayanıklılığına katkıda bulunmaktadır</a:t>
            </a:r>
          </a:p>
          <a:p>
            <a:r>
              <a:rPr lang="tr-TR" sz="2800" b="1" dirty="0" err="1" smtClean="0"/>
              <a:t>Lipoprotein</a:t>
            </a:r>
            <a:r>
              <a:rPr lang="tr-TR" sz="2800" b="1" dirty="0" smtClean="0"/>
              <a:t> kompleks ( </a:t>
            </a:r>
            <a:r>
              <a:rPr lang="tr-TR" sz="2800" b="1" dirty="0" err="1" smtClean="0"/>
              <a:t>Lipid</a:t>
            </a:r>
            <a:r>
              <a:rPr lang="tr-TR" sz="2800" b="1" dirty="0" smtClean="0"/>
              <a:t>-A) dış zarın iç kısmında bulunur ve  </a:t>
            </a:r>
            <a:r>
              <a:rPr lang="tr-TR" sz="2800" b="1" dirty="0" err="1" smtClean="0"/>
              <a:t>toksik</a:t>
            </a:r>
            <a:r>
              <a:rPr lang="tr-TR" sz="2800" b="1" dirty="0" smtClean="0"/>
              <a:t> özellikten  sorumludur </a:t>
            </a:r>
          </a:p>
          <a:p>
            <a:pPr>
              <a:buNone/>
            </a:pPr>
            <a:endParaRPr lang="tr-TR" sz="2600" b="1" dirty="0" smtClean="0"/>
          </a:p>
          <a:p>
            <a:pPr>
              <a:buNone/>
            </a:pPr>
            <a:endParaRPr lang="tr-TR" dirty="0" smtClean="0"/>
          </a:p>
          <a:p>
            <a:endParaRPr lang="tr-TR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260648"/>
            <a:ext cx="8280400" cy="6335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ÖNEMLİ</a:t>
            </a:r>
            <a:r>
              <a:rPr lang="tr-TR" b="1" i="1" dirty="0" smtClean="0"/>
              <a:t> </a:t>
            </a:r>
            <a:br>
              <a:rPr lang="tr-TR" b="1" i="1" dirty="0" smtClean="0"/>
            </a:br>
            <a:r>
              <a:rPr lang="tr-TR" sz="3600" b="1" i="1" dirty="0" err="1" smtClean="0">
                <a:solidFill>
                  <a:srgbClr val="0070C0"/>
                </a:solidFill>
              </a:rPr>
              <a:t>LPS’nin</a:t>
            </a:r>
            <a:r>
              <a:rPr lang="tr-TR" sz="3600" b="1" i="1" dirty="0" smtClean="0">
                <a:solidFill>
                  <a:srgbClr val="0070C0"/>
                </a:solidFill>
              </a:rPr>
              <a:t> </a:t>
            </a:r>
            <a:r>
              <a:rPr lang="tr-TR" sz="3600" b="1" i="1" dirty="0" err="1" smtClean="0">
                <a:solidFill>
                  <a:srgbClr val="0070C0"/>
                </a:solidFill>
              </a:rPr>
              <a:t>lipid</a:t>
            </a:r>
            <a:r>
              <a:rPr lang="tr-TR" sz="3600" b="1" i="1" dirty="0" smtClean="0">
                <a:solidFill>
                  <a:srgbClr val="0070C0"/>
                </a:solidFill>
              </a:rPr>
              <a:t>-A  kısmı </a:t>
            </a:r>
            <a:endParaRPr lang="tr-TR" sz="3600" b="1" dirty="0">
              <a:solidFill>
                <a:srgbClr val="0070C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Bazı bakterilerde</a:t>
            </a:r>
          </a:p>
          <a:p>
            <a:r>
              <a:rPr lang="tr-TR" b="1" i="1" dirty="0" err="1" smtClean="0"/>
              <a:t>Salmonella</a:t>
            </a:r>
            <a:r>
              <a:rPr lang="tr-TR" b="1" i="1" dirty="0" smtClean="0"/>
              <a:t>,  </a:t>
            </a:r>
            <a:r>
              <a:rPr lang="tr-TR" b="1" i="1" dirty="0" err="1" smtClean="0"/>
              <a:t>Shigella</a:t>
            </a:r>
            <a:r>
              <a:rPr lang="tr-TR" b="1" i="1" dirty="0" smtClean="0"/>
              <a:t>, </a:t>
            </a:r>
            <a:r>
              <a:rPr lang="tr-TR" b="1" i="1" dirty="0" err="1" smtClean="0"/>
              <a:t>Escherichia</a:t>
            </a:r>
            <a:r>
              <a:rPr lang="tr-TR" b="1" i="1" dirty="0" smtClean="0"/>
              <a:t>  gibi </a:t>
            </a:r>
          </a:p>
          <a:p>
            <a:r>
              <a:rPr lang="tr-TR" b="1" i="1" dirty="0" smtClean="0"/>
              <a:t> </a:t>
            </a:r>
            <a:r>
              <a:rPr lang="tr-TR" b="1" i="1" dirty="0" err="1" smtClean="0"/>
              <a:t>LPS’nin</a:t>
            </a:r>
            <a:r>
              <a:rPr lang="tr-TR" b="1" i="1" dirty="0" smtClean="0"/>
              <a:t> </a:t>
            </a:r>
            <a:r>
              <a:rPr lang="tr-TR" b="1" i="1" dirty="0" err="1" smtClean="0"/>
              <a:t>lipid</a:t>
            </a:r>
            <a:r>
              <a:rPr lang="tr-TR" b="1" i="1" dirty="0" smtClean="0"/>
              <a:t>-A  kısmı (</a:t>
            </a:r>
            <a:r>
              <a:rPr lang="tr-TR" b="1" i="1" dirty="0" err="1" smtClean="0"/>
              <a:t>endotoksin</a:t>
            </a:r>
            <a:r>
              <a:rPr lang="tr-TR" b="1" i="1" dirty="0" smtClean="0"/>
              <a:t>) insan ve hayvanlar için  </a:t>
            </a:r>
            <a:r>
              <a:rPr lang="tr-TR" b="1" i="1" dirty="0" err="1" smtClean="0"/>
              <a:t>toksiktir</a:t>
            </a:r>
            <a:endParaRPr lang="tr-TR" b="1" i="1" dirty="0" smtClean="0"/>
          </a:p>
          <a:p>
            <a:endParaRPr lang="tr-TR" b="1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23528" y="260648"/>
            <a:ext cx="8424936" cy="6264696"/>
          </a:xfrm>
        </p:spPr>
        <p:txBody>
          <a:bodyPr/>
          <a:lstStyle/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 LİPOPROTEİNLER</a:t>
            </a:r>
            <a:r>
              <a:rPr lang="tr-TR" sz="4400" b="1" dirty="0" smtClean="0">
                <a:solidFill>
                  <a:srgbClr val="FF0000"/>
                </a:solidFill>
              </a:rPr>
              <a:t>  </a:t>
            </a:r>
            <a:r>
              <a:rPr lang="tr-TR" b="1" dirty="0" smtClean="0">
                <a:solidFill>
                  <a:srgbClr val="FF0000"/>
                </a:solidFill>
              </a:rPr>
              <a:t>(LİPOPROTEİN TABAKA)</a:t>
            </a:r>
            <a:endParaRPr lang="tr-TR" b="1" dirty="0" smtClean="0">
              <a:solidFill>
                <a:srgbClr val="00B0F0"/>
              </a:solidFill>
            </a:endParaRPr>
          </a:p>
          <a:p>
            <a:r>
              <a:rPr lang="tr-TR" b="1" dirty="0" smtClean="0">
                <a:solidFill>
                  <a:srgbClr val="00B0F0"/>
                </a:solidFill>
              </a:rPr>
              <a:t>Dış </a:t>
            </a:r>
            <a:r>
              <a:rPr lang="tr-TR" b="1" dirty="0" err="1" smtClean="0">
                <a:solidFill>
                  <a:srgbClr val="00B0F0"/>
                </a:solidFill>
              </a:rPr>
              <a:t>mebranın</a:t>
            </a:r>
            <a:r>
              <a:rPr lang="tr-TR" b="1" dirty="0" smtClean="0">
                <a:solidFill>
                  <a:srgbClr val="00B0F0"/>
                </a:solidFill>
              </a:rPr>
              <a:t> içe bakan kısmında temel olarak </a:t>
            </a:r>
            <a:r>
              <a:rPr lang="tr-TR" b="1" dirty="0" err="1" smtClean="0">
                <a:solidFill>
                  <a:srgbClr val="00B0F0"/>
                </a:solidFill>
              </a:rPr>
              <a:t>fosfolipidler</a:t>
            </a:r>
            <a:r>
              <a:rPr lang="tr-TR" b="1" dirty="0" smtClean="0">
                <a:solidFill>
                  <a:srgbClr val="00B0F0"/>
                </a:solidFill>
              </a:rPr>
              <a:t> yerleşmiştir</a:t>
            </a:r>
          </a:p>
          <a:p>
            <a:r>
              <a:rPr lang="tr-TR" b="1" dirty="0" err="1" smtClean="0"/>
              <a:t>Fosfolipidlerin</a:t>
            </a:r>
            <a:r>
              <a:rPr lang="tr-TR" b="1" dirty="0" smtClean="0"/>
              <a:t> arasında </a:t>
            </a:r>
            <a:r>
              <a:rPr lang="tr-TR" b="1" dirty="0" err="1" smtClean="0">
                <a:solidFill>
                  <a:srgbClr val="FF0000"/>
                </a:solidFill>
              </a:rPr>
              <a:t>lipoproteinler</a:t>
            </a:r>
            <a:r>
              <a:rPr lang="tr-TR" b="1" dirty="0" smtClean="0">
                <a:solidFill>
                  <a:srgbClr val="FF0000"/>
                </a:solidFill>
              </a:rPr>
              <a:t> </a:t>
            </a:r>
            <a:r>
              <a:rPr lang="tr-TR" b="1" dirty="0" smtClean="0"/>
              <a:t>bulunur, bunlar </a:t>
            </a:r>
            <a:r>
              <a:rPr lang="tr-TR" b="1" dirty="0" err="1" smtClean="0"/>
              <a:t>peptidoglikan</a:t>
            </a:r>
            <a:r>
              <a:rPr lang="tr-TR" b="1" dirty="0" smtClean="0"/>
              <a:t> tabakasına kadar uzantı yaparak iki katman arasında bağlantı sağlar</a:t>
            </a:r>
          </a:p>
          <a:p>
            <a:r>
              <a:rPr lang="tr-TR" b="1" dirty="0" err="1" smtClean="0"/>
              <a:t>Peptidoglikan</a:t>
            </a:r>
            <a:r>
              <a:rPr lang="tr-TR" b="1" dirty="0" smtClean="0"/>
              <a:t> ile dış zar arasında bağlantı sağlayarak dış zarı stabilize eder</a:t>
            </a:r>
          </a:p>
          <a:p>
            <a:r>
              <a:rPr lang="tr-TR" b="1" dirty="0" smtClean="0"/>
              <a:t>Sadece gr- </a:t>
            </a:r>
            <a:r>
              <a:rPr lang="tr-TR" b="1" dirty="0" err="1" smtClean="0"/>
              <a:t>lerde</a:t>
            </a:r>
            <a:r>
              <a:rPr lang="tr-TR" b="1" dirty="0" smtClean="0"/>
              <a:t> bulunur</a:t>
            </a:r>
            <a:endParaRPr lang="tr-TR" b="1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8064" y="4869160"/>
            <a:ext cx="3744416" cy="1726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260648"/>
            <a:ext cx="8280400" cy="6335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260648"/>
            <a:ext cx="8424862" cy="612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PORİN PROTEİNLER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Dış </a:t>
            </a:r>
            <a:r>
              <a:rPr lang="tr-TR" b="1" dirty="0" err="1" smtClean="0"/>
              <a:t>membranda</a:t>
            </a:r>
            <a:r>
              <a:rPr lang="tr-TR" b="1" dirty="0" smtClean="0"/>
              <a:t> </a:t>
            </a:r>
            <a:r>
              <a:rPr lang="tr-TR" b="1" dirty="0" err="1" smtClean="0"/>
              <a:t>porin</a:t>
            </a:r>
            <a:r>
              <a:rPr lang="tr-TR" b="1" dirty="0" smtClean="0"/>
              <a:t> adı verilen ve gözenekleri oluşturan proteinler vardır</a:t>
            </a:r>
          </a:p>
          <a:p>
            <a:r>
              <a:rPr lang="tr-TR" b="1" dirty="0" smtClean="0"/>
              <a:t>Bu gözenekli yapı sayesinde yarı geçirgen özellik gösterir</a:t>
            </a:r>
          </a:p>
          <a:p>
            <a:endParaRPr lang="tr-TR" b="1" dirty="0" smtClean="0"/>
          </a:p>
          <a:p>
            <a:r>
              <a:rPr lang="tr-TR" b="1" dirty="0" err="1" smtClean="0">
                <a:solidFill>
                  <a:srgbClr val="7030A0"/>
                </a:solidFill>
              </a:rPr>
              <a:t>Por</a:t>
            </a:r>
            <a:r>
              <a:rPr lang="tr-TR" b="1" dirty="0" smtClean="0">
                <a:solidFill>
                  <a:srgbClr val="7030A0"/>
                </a:solidFill>
              </a:rPr>
              <a:t> proteinleri </a:t>
            </a:r>
            <a:r>
              <a:rPr lang="tr-TR" b="1" dirty="0" err="1" smtClean="0">
                <a:solidFill>
                  <a:srgbClr val="7030A0"/>
                </a:solidFill>
              </a:rPr>
              <a:t>bakteriyofajlar</a:t>
            </a:r>
            <a:r>
              <a:rPr lang="tr-TR" b="1" dirty="0" smtClean="0">
                <a:solidFill>
                  <a:srgbClr val="7030A0"/>
                </a:solidFill>
              </a:rPr>
              <a:t> için reseptör görevi yaparlar.(tıpkı gr+</a:t>
            </a:r>
            <a:r>
              <a:rPr lang="tr-TR" b="1" dirty="0" err="1" smtClean="0">
                <a:solidFill>
                  <a:srgbClr val="7030A0"/>
                </a:solidFill>
              </a:rPr>
              <a:t>lerdeki</a:t>
            </a:r>
            <a:r>
              <a:rPr lang="tr-TR" b="1" dirty="0" smtClean="0">
                <a:solidFill>
                  <a:srgbClr val="7030A0"/>
                </a:solidFill>
              </a:rPr>
              <a:t> </a:t>
            </a:r>
            <a:r>
              <a:rPr lang="tr-TR" b="1" dirty="0" err="1" smtClean="0">
                <a:solidFill>
                  <a:srgbClr val="7030A0"/>
                </a:solidFill>
              </a:rPr>
              <a:t>teikoik</a:t>
            </a:r>
            <a:r>
              <a:rPr lang="tr-TR" b="1" dirty="0" smtClean="0">
                <a:solidFill>
                  <a:srgbClr val="7030A0"/>
                </a:solidFill>
              </a:rPr>
              <a:t> asit gibi.)</a:t>
            </a:r>
            <a:endParaRPr lang="tr-TR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tr-TR" b="1" dirty="0" smtClean="0"/>
              <a:t/>
            </a:r>
            <a:br>
              <a:rPr lang="tr-TR" b="1" dirty="0" smtClean="0"/>
            </a:b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23528" y="332656"/>
            <a:ext cx="8496944" cy="6192688"/>
          </a:xfrm>
        </p:spPr>
        <p:txBody>
          <a:bodyPr>
            <a:normAutofit/>
          </a:bodyPr>
          <a:lstStyle/>
          <a:p>
            <a:pPr marL="342900" lvl="1" indent="-342900">
              <a:buNone/>
            </a:pPr>
            <a:r>
              <a:rPr lang="tr-TR" b="1" dirty="0" smtClean="0">
                <a:solidFill>
                  <a:srgbClr val="7030A0"/>
                </a:solidFill>
              </a:rPr>
              <a:t>			</a:t>
            </a:r>
            <a:r>
              <a:rPr lang="tr-TR" sz="3600" b="1" dirty="0" smtClean="0">
                <a:solidFill>
                  <a:srgbClr val="7030A0"/>
                </a:solidFill>
              </a:rPr>
              <a:t>PERİPLAZMİK ARALIK NEDİR?</a:t>
            </a:r>
            <a:endParaRPr lang="tr-TR" b="1" dirty="0" smtClean="0"/>
          </a:p>
          <a:p>
            <a:pPr marL="342900" lvl="1" indent="-342900">
              <a:buNone/>
            </a:pPr>
            <a:endParaRPr lang="tr-TR" b="1" dirty="0" smtClean="0"/>
          </a:p>
          <a:p>
            <a:pPr marL="342900" lvl="1" indent="-342900">
              <a:buFont typeface="Arial" pitchFamily="34" charset="0"/>
              <a:buChar char="•"/>
            </a:pPr>
            <a:r>
              <a:rPr lang="tr-TR" b="1" dirty="0" err="1" smtClean="0"/>
              <a:t>Periplazma</a:t>
            </a:r>
            <a:r>
              <a:rPr lang="tr-TR" b="1" dirty="0" smtClean="0"/>
              <a:t> </a:t>
            </a:r>
            <a:r>
              <a:rPr lang="tr-TR" b="1" dirty="0" err="1" smtClean="0"/>
              <a:t>jelatimsi</a:t>
            </a:r>
            <a:r>
              <a:rPr lang="tr-TR" b="1" dirty="0" smtClean="0"/>
              <a:t> bir yapıdadır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tr-TR" b="1" dirty="0" smtClean="0">
                <a:solidFill>
                  <a:srgbClr val="00B0F0"/>
                </a:solidFill>
              </a:rPr>
              <a:t>Gr- bakterilerde  dış </a:t>
            </a:r>
            <a:r>
              <a:rPr lang="tr-TR" b="1" dirty="0" err="1" smtClean="0">
                <a:solidFill>
                  <a:srgbClr val="00B0F0"/>
                </a:solidFill>
              </a:rPr>
              <a:t>membran</a:t>
            </a:r>
            <a:r>
              <a:rPr lang="tr-TR" b="1" dirty="0" smtClean="0">
                <a:solidFill>
                  <a:srgbClr val="00B0F0"/>
                </a:solidFill>
              </a:rPr>
              <a:t> ve </a:t>
            </a:r>
            <a:r>
              <a:rPr lang="tr-TR" b="1" dirty="0" err="1" smtClean="0">
                <a:solidFill>
                  <a:srgbClr val="00B0F0"/>
                </a:solidFill>
              </a:rPr>
              <a:t>sitoplazmik</a:t>
            </a:r>
            <a:r>
              <a:rPr lang="tr-TR" b="1" dirty="0" smtClean="0">
                <a:solidFill>
                  <a:srgbClr val="00B0F0"/>
                </a:solidFill>
              </a:rPr>
              <a:t> zar arasında yer alır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tr-TR" b="1" dirty="0" smtClean="0">
                <a:solidFill>
                  <a:srgbClr val="7030A0"/>
                </a:solidFill>
              </a:rPr>
              <a:t>Hücre hacminin %20-40’ını oluşturur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tr-TR" b="1" dirty="0" err="1" smtClean="0"/>
              <a:t>Periplazmada</a:t>
            </a:r>
            <a:r>
              <a:rPr lang="tr-TR" b="1" dirty="0" smtClean="0"/>
              <a:t>  besin maddelerinin parçalanmasında görev alan </a:t>
            </a:r>
            <a:r>
              <a:rPr lang="tr-TR" b="1" dirty="0" smtClean="0">
                <a:solidFill>
                  <a:srgbClr val="FF0000"/>
                </a:solidFill>
              </a:rPr>
              <a:t>enzimler</a:t>
            </a:r>
            <a:r>
              <a:rPr lang="tr-TR" b="1" dirty="0" smtClean="0"/>
              <a:t> ve bu maddelerin </a:t>
            </a:r>
            <a:r>
              <a:rPr lang="tr-TR" b="1" dirty="0" err="1" smtClean="0"/>
              <a:t>sitoplazmik</a:t>
            </a:r>
            <a:r>
              <a:rPr lang="tr-TR" b="1" dirty="0" smtClean="0"/>
              <a:t> zardan taşınmasını kolaylaştıran </a:t>
            </a:r>
            <a:r>
              <a:rPr lang="tr-TR" b="1" dirty="0" smtClean="0">
                <a:solidFill>
                  <a:srgbClr val="FF0000"/>
                </a:solidFill>
              </a:rPr>
              <a:t>proteinler </a:t>
            </a:r>
            <a:r>
              <a:rPr lang="tr-TR" b="1" dirty="0" smtClean="0"/>
              <a:t>bulunur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tr-TR" b="1" dirty="0" smtClean="0"/>
              <a:t>Burada bakteriye ait </a:t>
            </a:r>
            <a:r>
              <a:rPr lang="tr-TR" b="1" dirty="0" err="1" smtClean="0"/>
              <a:t>proteaz</a:t>
            </a:r>
            <a:r>
              <a:rPr lang="tr-TR" b="1" dirty="0" smtClean="0"/>
              <a:t>,</a:t>
            </a:r>
            <a:r>
              <a:rPr lang="tr-TR" b="1" dirty="0" err="1" smtClean="0"/>
              <a:t>lipaz</a:t>
            </a:r>
            <a:r>
              <a:rPr lang="tr-TR" b="1" dirty="0" smtClean="0"/>
              <a:t> gibi enzimler bulunur</a:t>
            </a:r>
          </a:p>
          <a:p>
            <a:pPr marL="342900" lvl="1" indent="-342900">
              <a:buFont typeface="Arial" pitchFamily="34" charset="0"/>
              <a:buChar char="•"/>
            </a:pPr>
            <a:endParaRPr lang="tr-TR" b="1" dirty="0" smtClean="0">
              <a:solidFill>
                <a:srgbClr val="7030A0"/>
              </a:solidFill>
            </a:endParaRPr>
          </a:p>
          <a:p>
            <a:pPr>
              <a:buNone/>
            </a:pPr>
            <a:endParaRPr lang="tr-TR" b="1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GRAM NEGATİF HÜCRE DUVARI</a:t>
            </a:r>
            <a:endParaRPr lang="tr-TR" b="1" dirty="0">
              <a:solidFill>
                <a:srgbClr val="FF0000"/>
              </a:solidFill>
            </a:endParaRP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556792"/>
            <a:ext cx="8165020" cy="4925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0070C0"/>
                </a:solidFill>
              </a:rPr>
              <a:t>LİPOPOLİSAKKARİD’İN</a:t>
            </a:r>
            <a:br>
              <a:rPr lang="tr-TR" b="1" dirty="0" smtClean="0">
                <a:solidFill>
                  <a:srgbClr val="0070C0"/>
                </a:solidFill>
              </a:rPr>
            </a:br>
            <a:r>
              <a:rPr lang="tr-TR" b="1" dirty="0" smtClean="0">
                <a:solidFill>
                  <a:srgbClr val="0070C0"/>
                </a:solidFill>
              </a:rPr>
              <a:t>FİZYOLOJİK ETKİLERİ</a:t>
            </a:r>
            <a:endParaRPr lang="tr-TR" b="1" dirty="0">
              <a:solidFill>
                <a:srgbClr val="0070C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endParaRPr lang="tr-TR" dirty="0" smtClean="0"/>
          </a:p>
          <a:p>
            <a:r>
              <a:rPr lang="tr-TR" b="1" dirty="0" smtClean="0"/>
              <a:t>Ateş indüksiyonu, </a:t>
            </a:r>
          </a:p>
          <a:p>
            <a:r>
              <a:rPr lang="tr-TR" b="1" dirty="0" smtClean="0"/>
              <a:t>Lökosit sayısında değişiklik </a:t>
            </a:r>
          </a:p>
          <a:p>
            <a:r>
              <a:rPr lang="tr-TR" b="1" dirty="0" smtClean="0"/>
              <a:t>Kan damarlarında sızıntı</a:t>
            </a:r>
          </a:p>
          <a:p>
            <a:r>
              <a:rPr lang="tr-TR" b="1" dirty="0" smtClean="0"/>
              <a:t>Tümör nekrozu </a:t>
            </a:r>
          </a:p>
          <a:p>
            <a:r>
              <a:rPr lang="tr-TR" b="1" dirty="0" smtClean="0"/>
              <a:t>Kan basıncında düşme, sonunda şoka yol açar</a:t>
            </a:r>
          </a:p>
          <a:p>
            <a:r>
              <a:rPr lang="tr-TR" b="1" dirty="0" err="1" smtClean="0"/>
              <a:t>Endotoksin</a:t>
            </a:r>
            <a:r>
              <a:rPr lang="tr-TR" b="1" dirty="0" smtClean="0"/>
              <a:t> yüksek konsantrasyonlarda </a:t>
            </a:r>
            <a:r>
              <a:rPr lang="tr-TR" b="1" dirty="0" err="1" smtClean="0"/>
              <a:t>letal’dir</a:t>
            </a:r>
            <a:endParaRPr lang="tr-TR" b="1" dirty="0" smtClean="0"/>
          </a:p>
          <a:p>
            <a:pPr>
              <a:buNone/>
            </a:pPr>
            <a:endParaRPr lang="tr-TR" b="1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260648"/>
            <a:ext cx="8640960" cy="626469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tr-TR" b="1" dirty="0" smtClean="0">
                <a:solidFill>
                  <a:srgbClr val="00B0F0"/>
                </a:solidFill>
              </a:rPr>
              <a:t>				</a:t>
            </a:r>
            <a:r>
              <a:rPr lang="tr-TR" sz="3600" b="1" dirty="0" smtClean="0">
                <a:solidFill>
                  <a:srgbClr val="00B0F0"/>
                </a:solidFill>
              </a:rPr>
              <a:t>ÖZET OLARAK </a:t>
            </a:r>
            <a:endParaRPr lang="tr-TR" sz="3600" b="1" dirty="0" smtClean="0">
              <a:solidFill>
                <a:srgbClr val="FF0000"/>
              </a:solidFill>
            </a:endParaRPr>
          </a:p>
          <a:p>
            <a:r>
              <a:rPr lang="tr-TR" b="1" dirty="0" smtClean="0">
                <a:solidFill>
                  <a:srgbClr val="FF0000"/>
                </a:solidFill>
              </a:rPr>
              <a:t>G +  bakterilerde </a:t>
            </a:r>
            <a:r>
              <a:rPr lang="tr-TR" b="1" dirty="0" smtClean="0"/>
              <a:t>hücre duvarı            </a:t>
            </a:r>
            <a:r>
              <a:rPr lang="tr-TR" b="1" dirty="0" err="1" smtClean="0">
                <a:solidFill>
                  <a:srgbClr val="7030A0"/>
                </a:solidFill>
              </a:rPr>
              <a:t>peptidogylcan</a:t>
            </a:r>
            <a:r>
              <a:rPr lang="tr-TR" b="1" dirty="0" smtClean="0"/>
              <a:t>, </a:t>
            </a:r>
            <a:r>
              <a:rPr lang="tr-TR" b="1" dirty="0" err="1" smtClean="0">
                <a:solidFill>
                  <a:srgbClr val="00B050"/>
                </a:solidFill>
              </a:rPr>
              <a:t>teichoic</a:t>
            </a:r>
            <a:r>
              <a:rPr lang="tr-TR" b="1" dirty="0" smtClean="0">
                <a:solidFill>
                  <a:srgbClr val="00B050"/>
                </a:solidFill>
              </a:rPr>
              <a:t> </a:t>
            </a:r>
            <a:r>
              <a:rPr lang="tr-TR" b="1" dirty="0" err="1" smtClean="0">
                <a:solidFill>
                  <a:srgbClr val="00B050"/>
                </a:solidFill>
              </a:rPr>
              <a:t>acit</a:t>
            </a:r>
            <a:r>
              <a:rPr lang="tr-TR" b="1" dirty="0" smtClean="0">
                <a:solidFill>
                  <a:srgbClr val="00B050"/>
                </a:solidFill>
              </a:rPr>
              <a:t> ,</a:t>
            </a:r>
            <a:r>
              <a:rPr lang="tr-TR" b="1" dirty="0" smtClean="0">
                <a:solidFill>
                  <a:schemeClr val="accent6">
                    <a:lumMod val="50000"/>
                  </a:schemeClr>
                </a:solidFill>
              </a:rPr>
              <a:t>yüzey proteinleri </a:t>
            </a:r>
            <a:r>
              <a:rPr lang="tr-TR" b="1" dirty="0" smtClean="0"/>
              <a:t>oluşur ve </a:t>
            </a:r>
            <a:r>
              <a:rPr lang="tr-TR" b="1" dirty="0" err="1" smtClean="0"/>
              <a:t>peptidogylcan</a:t>
            </a:r>
            <a:r>
              <a:rPr lang="tr-TR" b="1" dirty="0" smtClean="0"/>
              <a:t> tabaka duvar yapısının % 40-80 ini oluşturur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G-  bakterilerde </a:t>
            </a:r>
            <a:r>
              <a:rPr lang="tr-TR" b="1" dirty="0" smtClean="0"/>
              <a:t>hücre duvarı </a:t>
            </a:r>
            <a:r>
              <a:rPr lang="tr-TR" b="1" dirty="0" err="1" smtClean="0">
                <a:solidFill>
                  <a:srgbClr val="7030A0"/>
                </a:solidFill>
              </a:rPr>
              <a:t>peptidogylcan</a:t>
            </a:r>
            <a:r>
              <a:rPr lang="tr-TR" b="1" dirty="0" smtClean="0">
                <a:solidFill>
                  <a:srgbClr val="7030A0"/>
                </a:solidFill>
              </a:rPr>
              <a:t>,</a:t>
            </a:r>
            <a:r>
              <a:rPr lang="tr-TR" b="1" dirty="0" err="1" smtClean="0">
                <a:solidFill>
                  <a:schemeClr val="accent6">
                    <a:lumMod val="50000"/>
                  </a:schemeClr>
                </a:solidFill>
              </a:rPr>
              <a:t>fosfolipit</a:t>
            </a:r>
            <a:r>
              <a:rPr lang="tr-TR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tr-TR" b="1" dirty="0" smtClean="0">
                <a:solidFill>
                  <a:srgbClr val="7030A0"/>
                </a:solidFill>
              </a:rPr>
              <a:t>ve</a:t>
            </a:r>
            <a:r>
              <a:rPr lang="tr-TR" b="1" dirty="0" smtClean="0">
                <a:solidFill>
                  <a:srgbClr val="0070C0"/>
                </a:solidFill>
              </a:rPr>
              <a:t>,</a:t>
            </a:r>
            <a:r>
              <a:rPr lang="tr-TR" b="1" dirty="0" smtClean="0">
                <a:solidFill>
                  <a:srgbClr val="00B050"/>
                </a:solidFill>
              </a:rPr>
              <a:t> Dışta; </a:t>
            </a:r>
            <a:r>
              <a:rPr lang="tr-TR" b="1" dirty="0" err="1" smtClean="0">
                <a:solidFill>
                  <a:srgbClr val="00B050"/>
                </a:solidFill>
              </a:rPr>
              <a:t>lipopolisakkarit</a:t>
            </a:r>
            <a:r>
              <a:rPr lang="tr-TR" b="1" dirty="0" smtClean="0">
                <a:solidFill>
                  <a:srgbClr val="00B050"/>
                </a:solidFill>
              </a:rPr>
              <a:t> ve </a:t>
            </a:r>
            <a:r>
              <a:rPr lang="tr-TR" b="1" dirty="0" err="1" smtClean="0">
                <a:solidFill>
                  <a:srgbClr val="FF33CC"/>
                </a:solidFill>
              </a:rPr>
              <a:t>lipoprotein</a:t>
            </a:r>
            <a:r>
              <a:rPr lang="tr-TR" b="1" dirty="0" smtClean="0">
                <a:solidFill>
                  <a:srgbClr val="FF33CC"/>
                </a:solidFill>
              </a:rPr>
              <a:t> tabaka  </a:t>
            </a:r>
            <a:r>
              <a:rPr lang="tr-TR" b="1" dirty="0" smtClean="0"/>
              <a:t>ve </a:t>
            </a:r>
            <a:r>
              <a:rPr lang="tr-TR" b="1" dirty="0" err="1" smtClean="0">
                <a:solidFill>
                  <a:srgbClr val="0070C0"/>
                </a:solidFill>
              </a:rPr>
              <a:t>porin</a:t>
            </a:r>
            <a:r>
              <a:rPr lang="tr-TR" b="1" dirty="0" smtClean="0">
                <a:solidFill>
                  <a:srgbClr val="0070C0"/>
                </a:solidFill>
              </a:rPr>
              <a:t> proteinleri</a:t>
            </a:r>
            <a:r>
              <a:rPr lang="tr-TR" b="1" dirty="0" smtClean="0"/>
              <a:t>nden oluşur                                                                  </a:t>
            </a:r>
            <a:r>
              <a:rPr lang="tr-TR" b="1" dirty="0" err="1" smtClean="0"/>
              <a:t>Teikoik</a:t>
            </a:r>
            <a:r>
              <a:rPr lang="tr-TR" b="1" dirty="0" smtClean="0"/>
              <a:t> asit yok                                         </a:t>
            </a:r>
            <a:r>
              <a:rPr lang="tr-TR" b="1" dirty="0" err="1" smtClean="0"/>
              <a:t>Peptidogylcan</a:t>
            </a:r>
            <a:r>
              <a:rPr lang="tr-TR" b="1" dirty="0" smtClean="0"/>
              <a:t> tabaka duvar yapısının % 5-10 unu oluşturur</a:t>
            </a:r>
          </a:p>
          <a:p>
            <a:endParaRPr lang="tr-TR" b="1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>
                <a:solidFill>
                  <a:srgbClr val="FF0000"/>
                </a:solidFill>
              </a:rPr>
              <a:t>Gram pozitif ve negatif bakterilerin hücre duvarı farkları..</a:t>
            </a:r>
            <a:endParaRPr lang="tr-TR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628800"/>
            <a:ext cx="8424935" cy="4968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4008" y="332656"/>
            <a:ext cx="4321175" cy="6264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260648"/>
            <a:ext cx="4248472" cy="6336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260648"/>
            <a:ext cx="7559675" cy="612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user\Desktop\Bacteria-Cell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332656"/>
            <a:ext cx="8220075" cy="62325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404664"/>
            <a:ext cx="8640960" cy="6192688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		</a:t>
            </a:r>
            <a:r>
              <a:rPr lang="tr-TR" sz="3900" b="1" dirty="0" smtClean="0">
                <a:solidFill>
                  <a:srgbClr val="FF0000"/>
                </a:solidFill>
              </a:rPr>
              <a:t> KAPSÜL</a:t>
            </a:r>
            <a:endParaRPr lang="tr-TR" sz="3900" b="1" dirty="0" smtClean="0"/>
          </a:p>
          <a:p>
            <a:r>
              <a:rPr lang="tr-TR" b="1" dirty="0" smtClean="0"/>
              <a:t>Bazı bakterilerde, hücre duvarının dışında bulunur</a:t>
            </a:r>
          </a:p>
          <a:p>
            <a:r>
              <a:rPr lang="tr-TR" b="1" dirty="0" smtClean="0"/>
              <a:t>Bakteriyi fagositozdan korur</a:t>
            </a:r>
            <a:endParaRPr lang="tr-TR" dirty="0" smtClean="0"/>
          </a:p>
          <a:p>
            <a:r>
              <a:rPr lang="tr-TR" b="1" dirty="0" err="1" smtClean="0"/>
              <a:t>Polisakkarid</a:t>
            </a:r>
            <a:r>
              <a:rPr lang="tr-TR" b="1" dirty="0" smtClean="0"/>
              <a:t> yapıdadır</a:t>
            </a:r>
          </a:p>
          <a:p>
            <a:r>
              <a:rPr lang="tr-TR" b="1" dirty="0" err="1" smtClean="0"/>
              <a:t>Antijenik</a:t>
            </a:r>
            <a:r>
              <a:rPr lang="tr-TR" b="1" dirty="0" smtClean="0"/>
              <a:t> özelliği vardır</a:t>
            </a:r>
            <a:endParaRPr lang="tr-TR" dirty="0" smtClean="0"/>
          </a:p>
          <a:p>
            <a:r>
              <a:rPr lang="tr-TR" b="1" dirty="0" err="1" smtClean="0"/>
              <a:t>Virulans</a:t>
            </a:r>
            <a:r>
              <a:rPr lang="tr-TR" b="1" dirty="0" smtClean="0"/>
              <a:t> faktörüdür</a:t>
            </a:r>
            <a:endParaRPr lang="tr-TR" dirty="0" smtClean="0"/>
          </a:p>
          <a:p>
            <a:r>
              <a:rPr lang="tr-TR" b="1" dirty="0" err="1" smtClean="0"/>
              <a:t>Kolonizasyonda</a:t>
            </a:r>
            <a:r>
              <a:rPr lang="tr-TR" b="1" dirty="0" smtClean="0"/>
              <a:t> rol oynar</a:t>
            </a:r>
            <a:endParaRPr lang="tr-TR" dirty="0" smtClean="0"/>
          </a:p>
          <a:p>
            <a:r>
              <a:rPr lang="tr-TR" b="1" dirty="0" smtClean="0"/>
              <a:t>Bakteri duvarına bağlanan </a:t>
            </a:r>
            <a:r>
              <a:rPr lang="tr-TR" b="1" dirty="0" err="1" smtClean="0"/>
              <a:t>virus</a:t>
            </a:r>
            <a:r>
              <a:rPr lang="tr-TR" b="1" dirty="0" smtClean="0"/>
              <a:t> ve </a:t>
            </a:r>
            <a:r>
              <a:rPr lang="tr-TR" b="1" dirty="0" err="1" smtClean="0"/>
              <a:t>bakteriyofajdan</a:t>
            </a:r>
            <a:r>
              <a:rPr lang="tr-TR" b="1" dirty="0" smtClean="0"/>
              <a:t> da korur</a:t>
            </a:r>
          </a:p>
          <a:p>
            <a:r>
              <a:rPr lang="tr-TR" b="1" dirty="0" smtClean="0"/>
              <a:t>Kapsül iyi </a:t>
            </a:r>
            <a:r>
              <a:rPr lang="tr-TR" b="1" dirty="0" err="1" smtClean="0"/>
              <a:t>antijenik</a:t>
            </a:r>
            <a:r>
              <a:rPr lang="tr-TR" b="1" dirty="0" smtClean="0"/>
              <a:t> özellik gösterdiğinden </a:t>
            </a:r>
            <a:r>
              <a:rPr lang="tr-TR" b="1" dirty="0" err="1" smtClean="0"/>
              <a:t>serotiplendirmede</a:t>
            </a:r>
            <a:r>
              <a:rPr lang="tr-TR" b="1" dirty="0" smtClean="0"/>
              <a:t> önem taşır</a:t>
            </a:r>
          </a:p>
          <a:p>
            <a:pPr>
              <a:buNone/>
            </a:pPr>
            <a:endParaRPr lang="tr-TR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ser\Desktop\slide_4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260648"/>
            <a:ext cx="8424862" cy="63182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KAPSÜL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i="1" dirty="0" smtClean="0"/>
              <a:t>B.</a:t>
            </a:r>
            <a:r>
              <a:rPr lang="tr-TR" b="1" i="1" dirty="0" err="1" smtClean="0"/>
              <a:t>anthracis</a:t>
            </a:r>
            <a:r>
              <a:rPr lang="tr-TR" b="1" dirty="0" smtClean="0"/>
              <a:t>-Şarbon basili- protein yapısında</a:t>
            </a:r>
          </a:p>
          <a:p>
            <a:r>
              <a:rPr lang="tr-TR" b="1" i="1" dirty="0" smtClean="0"/>
              <a:t>B.</a:t>
            </a:r>
            <a:r>
              <a:rPr lang="tr-TR" b="1" i="1" dirty="0" err="1" smtClean="0"/>
              <a:t>megaterium</a:t>
            </a:r>
            <a:r>
              <a:rPr lang="tr-TR" b="1" i="1" dirty="0" smtClean="0"/>
              <a:t>-</a:t>
            </a:r>
            <a:r>
              <a:rPr lang="tr-TR" b="1" dirty="0" smtClean="0"/>
              <a:t>protein+</a:t>
            </a:r>
            <a:r>
              <a:rPr lang="tr-TR" b="1" dirty="0" err="1" smtClean="0"/>
              <a:t>polisakkarid</a:t>
            </a:r>
            <a:r>
              <a:rPr lang="tr-TR" b="1" dirty="0" smtClean="0"/>
              <a:t> yapısında</a:t>
            </a:r>
            <a:endParaRPr lang="tr-T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3356992"/>
            <a:ext cx="7353300" cy="30898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idx="4294967295"/>
          </p:nvPr>
        </p:nvSpPr>
        <p:spPr>
          <a:xfrm>
            <a:off x="395536" y="260648"/>
            <a:ext cx="2664296" cy="1143000"/>
          </a:xfrm>
        </p:spPr>
        <p:txBody>
          <a:bodyPr/>
          <a:lstStyle/>
          <a:p>
            <a:pPr algn="l"/>
            <a:r>
              <a:rPr lang="tr-TR" b="1" dirty="0" smtClean="0">
                <a:solidFill>
                  <a:srgbClr val="FF0000"/>
                </a:solidFill>
              </a:rPr>
              <a:t>KAPSÜL</a:t>
            </a:r>
            <a:endParaRPr lang="tr-TR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59832" y="764704"/>
            <a:ext cx="5473700" cy="564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/>
            </a:r>
            <a:br>
              <a:rPr lang="tr-TR" dirty="0" smtClean="0"/>
            </a:br>
            <a:r>
              <a:rPr lang="tr-TR" sz="4900" b="1" dirty="0" smtClean="0">
                <a:solidFill>
                  <a:srgbClr val="FF0000"/>
                </a:solidFill>
              </a:rPr>
              <a:t>BAKTERİLERİN ANATOMİK YAPILARI</a:t>
            </a:r>
            <a:br>
              <a:rPr lang="tr-TR" sz="4900" b="1" dirty="0" smtClean="0">
                <a:solidFill>
                  <a:srgbClr val="FF0000"/>
                </a:solidFill>
              </a:rPr>
            </a:br>
            <a:endParaRPr lang="tr-TR" sz="49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lang="tr-TR" dirty="0" smtClean="0"/>
              <a:t>	</a:t>
            </a:r>
            <a:r>
              <a:rPr lang="tr-TR" b="1" dirty="0" smtClean="0">
                <a:solidFill>
                  <a:srgbClr val="7030A0"/>
                </a:solidFill>
              </a:rPr>
              <a:t>	DIŞ  YAPILAR</a:t>
            </a:r>
            <a:endParaRPr lang="tr-TR" dirty="0" smtClean="0"/>
          </a:p>
          <a:p>
            <a:pPr lvl="0"/>
            <a:r>
              <a:rPr lang="tr-TR" b="1" dirty="0" smtClean="0"/>
              <a:t>Hücre duvarı</a:t>
            </a:r>
          </a:p>
          <a:p>
            <a:pPr lvl="0"/>
            <a:r>
              <a:rPr lang="tr-TR" b="1" dirty="0" smtClean="0"/>
              <a:t>Kapsül</a:t>
            </a:r>
          </a:p>
          <a:p>
            <a:pPr lvl="0"/>
            <a:r>
              <a:rPr lang="tr-TR" b="1" dirty="0" err="1" smtClean="0"/>
              <a:t>Flagella</a:t>
            </a:r>
            <a:endParaRPr lang="tr-TR" b="1" dirty="0" smtClean="0"/>
          </a:p>
          <a:p>
            <a:pPr lvl="0"/>
            <a:r>
              <a:rPr lang="tr-TR" b="1" dirty="0" err="1" smtClean="0"/>
              <a:t>Fimbria</a:t>
            </a:r>
            <a:r>
              <a:rPr lang="tr-TR" b="1" dirty="0" smtClean="0"/>
              <a:t> (</a:t>
            </a:r>
            <a:r>
              <a:rPr lang="tr-TR" b="1" dirty="0" err="1" smtClean="0"/>
              <a:t>pilus</a:t>
            </a:r>
            <a:r>
              <a:rPr lang="tr-TR" b="1" dirty="0" smtClean="0"/>
              <a:t>)</a:t>
            </a:r>
          </a:p>
          <a:p>
            <a:pPr>
              <a:buNone/>
            </a:pPr>
            <a:endParaRPr lang="tr-TR" b="1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İçerik Yer Tutucusu" descr="C:\Users\user\Desktop\Ders Notları\DERSLERİM\BAKTERİ VE SLİME FAKTÖR.jpg"/>
          <p:cNvPicPr>
            <a:picLocks noGrp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476672"/>
            <a:ext cx="8280400" cy="6119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332656"/>
            <a:ext cx="8568952" cy="6192688"/>
          </a:xfrm>
        </p:spPr>
        <p:txBody>
          <a:bodyPr>
            <a:normAutofit fontScale="92500" lnSpcReduction="20000"/>
          </a:bodyPr>
          <a:lstStyle/>
          <a:p>
            <a:pPr algn="ctr">
              <a:buNone/>
            </a:pPr>
            <a:r>
              <a:rPr lang="tr-TR" sz="2800" b="1" dirty="0" smtClean="0">
                <a:solidFill>
                  <a:srgbClr val="FF0000"/>
                </a:solidFill>
              </a:rPr>
              <a:t>	</a:t>
            </a:r>
            <a:r>
              <a:rPr lang="tr-TR" sz="3900" b="1" dirty="0" smtClean="0">
                <a:solidFill>
                  <a:srgbClr val="FF0000"/>
                </a:solidFill>
              </a:rPr>
              <a:t>GLİKOKALİKS </a:t>
            </a:r>
          </a:p>
          <a:p>
            <a:pPr algn="ctr">
              <a:buNone/>
            </a:pPr>
            <a:r>
              <a:rPr lang="tr-TR" sz="3900" b="1" dirty="0" smtClean="0">
                <a:solidFill>
                  <a:srgbClr val="FF0000"/>
                </a:solidFill>
              </a:rPr>
              <a:t>(BAZI BAKTERİLERDE BULUNUR)</a:t>
            </a:r>
            <a:endParaRPr lang="tr-TR" sz="2800" b="1" dirty="0" smtClean="0">
              <a:solidFill>
                <a:srgbClr val="7030A0"/>
              </a:solidFill>
            </a:endParaRPr>
          </a:p>
          <a:p>
            <a:r>
              <a:rPr lang="tr-TR" sz="3000" b="1" dirty="0" err="1" smtClean="0">
                <a:solidFill>
                  <a:srgbClr val="7030A0"/>
                </a:solidFill>
              </a:rPr>
              <a:t>Glikokaliks</a:t>
            </a:r>
            <a:r>
              <a:rPr lang="tr-TR" sz="3000" b="1" dirty="0" smtClean="0">
                <a:solidFill>
                  <a:srgbClr val="7030A0"/>
                </a:solidFill>
              </a:rPr>
              <a:t>, bazı </a:t>
            </a:r>
            <a:r>
              <a:rPr lang="tr-TR" sz="3000" b="1" dirty="0" smtClean="0">
                <a:solidFill>
                  <a:srgbClr val="7030A0"/>
                </a:solidFill>
              </a:rPr>
              <a:t>bakteri hücrelerinde hücre duvarını çevreleyen </a:t>
            </a:r>
            <a:r>
              <a:rPr lang="tr-TR" sz="3000" b="1" dirty="0" err="1" smtClean="0">
                <a:solidFill>
                  <a:srgbClr val="7030A0"/>
                </a:solidFill>
              </a:rPr>
              <a:t>vizköz</a:t>
            </a:r>
            <a:r>
              <a:rPr lang="tr-TR" sz="3000" b="1" dirty="0" smtClean="0">
                <a:solidFill>
                  <a:srgbClr val="7030A0"/>
                </a:solidFill>
              </a:rPr>
              <a:t> bir maddedir</a:t>
            </a:r>
          </a:p>
          <a:p>
            <a:r>
              <a:rPr lang="tr-TR" sz="3000" b="1" dirty="0" err="1" smtClean="0"/>
              <a:t>Prokaryotik</a:t>
            </a:r>
            <a:r>
              <a:rPr lang="tr-TR" sz="3000" b="1" dirty="0" smtClean="0"/>
              <a:t> hücrelerin konak doku yüzeylerine veya diğer bakterilere tutunmasını sağlar</a:t>
            </a:r>
          </a:p>
          <a:p>
            <a:r>
              <a:rPr lang="tr-TR" sz="3000" b="1" dirty="0" err="1" smtClean="0"/>
              <a:t>Fibrillerden</a:t>
            </a:r>
            <a:r>
              <a:rPr lang="tr-TR" sz="3000" b="1" dirty="0" smtClean="0"/>
              <a:t> oluşmuş, gevşek ağ yapısında </a:t>
            </a:r>
            <a:r>
              <a:rPr lang="tr-TR" sz="3000" b="1" dirty="0" err="1" smtClean="0"/>
              <a:t>polisakkarit</a:t>
            </a:r>
            <a:r>
              <a:rPr lang="tr-TR" sz="3000" b="1" dirty="0" smtClean="0"/>
              <a:t> bazen </a:t>
            </a:r>
            <a:r>
              <a:rPr lang="tr-TR" sz="3000" b="1" dirty="0" err="1" smtClean="0"/>
              <a:t>glikoprotein</a:t>
            </a:r>
            <a:r>
              <a:rPr lang="tr-TR" sz="3000" b="1" dirty="0" smtClean="0"/>
              <a:t> yapıda bir oluşumdur</a:t>
            </a:r>
          </a:p>
          <a:p>
            <a:r>
              <a:rPr lang="tr-TR" sz="3000" b="1" dirty="0" err="1" smtClean="0">
                <a:solidFill>
                  <a:srgbClr val="FF0000"/>
                </a:solidFill>
              </a:rPr>
              <a:t>Glikokaliks</a:t>
            </a:r>
            <a:r>
              <a:rPr lang="tr-TR" sz="3000" b="1" dirty="0" smtClean="0">
                <a:solidFill>
                  <a:srgbClr val="FF0000"/>
                </a:solidFill>
              </a:rPr>
              <a:t> bakteriyi çevreleyen zar gibi ince bir örtü görünümünde olup </a:t>
            </a:r>
            <a:r>
              <a:rPr lang="tr-TR" sz="3000" b="1" dirty="0" err="1" smtClean="0">
                <a:solidFill>
                  <a:srgbClr val="FF0000"/>
                </a:solidFill>
              </a:rPr>
              <a:t>biyofilm</a:t>
            </a:r>
            <a:r>
              <a:rPr lang="tr-TR" sz="3000" b="1" dirty="0" smtClean="0">
                <a:solidFill>
                  <a:srgbClr val="FF0000"/>
                </a:solidFill>
              </a:rPr>
              <a:t> tabaka adını da alır</a:t>
            </a:r>
          </a:p>
          <a:p>
            <a:r>
              <a:rPr lang="tr-TR" sz="3000" b="1" dirty="0" smtClean="0"/>
              <a:t>Hücrelerin birbirine yapışmalarına yardımcı olur</a:t>
            </a:r>
            <a:endParaRPr lang="tr-TR" sz="3000" b="1" dirty="0" smtClean="0">
              <a:solidFill>
                <a:srgbClr val="FF0000"/>
              </a:solidFill>
            </a:endParaRPr>
          </a:p>
          <a:p>
            <a:r>
              <a:rPr lang="tr-TR" sz="3000" b="1" dirty="0" smtClean="0">
                <a:solidFill>
                  <a:srgbClr val="7030A0"/>
                </a:solidFill>
              </a:rPr>
              <a:t>(Hücre zarının en dışında bulunan, karbonhidrat zincirlerinin meydana getirdiği yüzey örtüsüdür)</a:t>
            </a:r>
            <a:endParaRPr lang="tr-TR" sz="3000" dirty="0" smtClean="0"/>
          </a:p>
          <a:p>
            <a:r>
              <a:rPr lang="tr-TR" sz="3000" b="1" dirty="0" smtClean="0"/>
              <a:t>Bu yapının en incesi </a:t>
            </a:r>
            <a:r>
              <a:rPr lang="tr-TR" sz="3000" b="1" dirty="0" err="1" smtClean="0"/>
              <a:t>slime</a:t>
            </a:r>
            <a:r>
              <a:rPr lang="tr-TR" sz="3000" b="1" dirty="0" smtClean="0"/>
              <a:t>(ince) tabaka en kalını da kapsül olarak adlandırılır </a:t>
            </a:r>
          </a:p>
          <a:p>
            <a:endParaRPr lang="tr-TR" b="1" dirty="0" smtClean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/>
            </a:r>
            <a:br>
              <a:rPr lang="tr-TR" dirty="0" smtClean="0"/>
            </a:br>
            <a:r>
              <a:rPr lang="tr-TR" sz="4900" b="1" dirty="0" smtClean="0">
                <a:solidFill>
                  <a:srgbClr val="FF0000"/>
                </a:solidFill>
              </a:rPr>
              <a:t>FLAGELLA (KİRPİKLER)</a:t>
            </a:r>
            <a:r>
              <a:rPr lang="tr-TR" dirty="0" smtClean="0"/>
              <a:t/>
            </a:r>
            <a:br>
              <a:rPr lang="tr-TR" dirty="0" smtClean="0"/>
            </a:b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Hareket </a:t>
            </a:r>
            <a:r>
              <a:rPr lang="tr-TR" b="1" dirty="0" err="1" smtClean="0"/>
              <a:t>organelidir</a:t>
            </a:r>
            <a:endParaRPr lang="tr-TR" b="1" dirty="0" smtClean="0"/>
          </a:p>
          <a:p>
            <a:r>
              <a:rPr lang="tr-TR" b="1" dirty="0" smtClean="0"/>
              <a:t>Protein yapısında dır</a:t>
            </a:r>
          </a:p>
          <a:p>
            <a:r>
              <a:rPr lang="tr-TR" b="1" dirty="0" smtClean="0"/>
              <a:t>Hücre duvarı ve </a:t>
            </a:r>
            <a:r>
              <a:rPr lang="tr-TR" b="1" dirty="0" err="1" smtClean="0"/>
              <a:t>sitoplazmik</a:t>
            </a:r>
            <a:r>
              <a:rPr lang="tr-TR" b="1" dirty="0" smtClean="0"/>
              <a:t> </a:t>
            </a:r>
            <a:r>
              <a:rPr lang="tr-TR" b="1" dirty="0" err="1" smtClean="0"/>
              <a:t>membrandan</a:t>
            </a:r>
            <a:r>
              <a:rPr lang="tr-TR" b="1" dirty="0" smtClean="0"/>
              <a:t> orijin alır</a:t>
            </a:r>
          </a:p>
          <a:p>
            <a:r>
              <a:rPr lang="tr-TR" b="1" dirty="0" err="1" smtClean="0"/>
              <a:t>Flagella</a:t>
            </a:r>
            <a:r>
              <a:rPr lang="tr-TR" b="1" dirty="0" smtClean="0"/>
              <a:t> sayesinde besin kaynaklarına daha kolay ulaşabilirler</a:t>
            </a:r>
          </a:p>
          <a:p>
            <a:r>
              <a:rPr lang="tr-TR" b="1" dirty="0" smtClean="0"/>
              <a:t>Morfolojik </a:t>
            </a:r>
            <a:r>
              <a:rPr lang="tr-TR" b="1" dirty="0" err="1" smtClean="0"/>
              <a:t>klasifikasyonda</a:t>
            </a:r>
            <a:r>
              <a:rPr lang="tr-TR" b="1" dirty="0" smtClean="0"/>
              <a:t> önemlidir</a:t>
            </a:r>
          </a:p>
          <a:p>
            <a:r>
              <a:rPr lang="tr-TR" b="1" dirty="0" err="1" smtClean="0"/>
              <a:t>Antijenik</a:t>
            </a:r>
            <a:r>
              <a:rPr lang="tr-TR" b="1" dirty="0" smtClean="0"/>
              <a:t> özelliğe sahiptir</a:t>
            </a:r>
            <a:endParaRPr lang="tr-TR" b="1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95536" y="476672"/>
            <a:ext cx="8424936" cy="6120680"/>
          </a:xfrm>
        </p:spPr>
        <p:txBody>
          <a:bodyPr/>
          <a:lstStyle/>
          <a:p>
            <a:pPr algn="ctr">
              <a:buNone/>
            </a:pPr>
            <a:r>
              <a:rPr lang="tr-TR" b="1" dirty="0" smtClean="0">
                <a:solidFill>
                  <a:srgbClr val="FF0000"/>
                </a:solidFill>
              </a:rPr>
              <a:t>FLAGELLANIN KALINLIĞI,UZUNLUĞU VE DALGALARI CİNSLERE ÖZELDİR</a:t>
            </a:r>
            <a:endParaRPr lang="tr-TR" dirty="0" smtClean="0">
              <a:solidFill>
                <a:srgbClr val="FF0000"/>
              </a:solidFill>
            </a:endParaRPr>
          </a:p>
          <a:p>
            <a:pPr algn="ctr"/>
            <a:endParaRPr lang="tr-TR" dirty="0"/>
          </a:p>
        </p:txBody>
      </p:sp>
      <p:pic>
        <p:nvPicPr>
          <p:cNvPr id="4" name="Picture 2" descr="C:\Users\user\Desktop\jenis-flagel-pada-kingdom-moner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3728" y="2564904"/>
            <a:ext cx="4439564" cy="303693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692696"/>
            <a:ext cx="8518525" cy="51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332656"/>
            <a:ext cx="8497887" cy="619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/>
            </a:r>
            <a:br>
              <a:rPr lang="tr-TR" dirty="0" smtClean="0"/>
            </a:br>
            <a:r>
              <a:rPr lang="tr-TR" sz="4900" b="1" dirty="0" smtClean="0">
                <a:solidFill>
                  <a:srgbClr val="FF0000"/>
                </a:solidFill>
              </a:rPr>
              <a:t>FİMBRİA  </a:t>
            </a:r>
            <a:br>
              <a:rPr lang="tr-TR" sz="4900" b="1" dirty="0" smtClean="0">
                <a:solidFill>
                  <a:srgbClr val="FF0000"/>
                </a:solidFill>
              </a:rPr>
            </a:br>
            <a:r>
              <a:rPr lang="tr-TR" sz="4900" b="1" dirty="0" smtClean="0">
                <a:solidFill>
                  <a:srgbClr val="FF0000"/>
                </a:solidFill>
              </a:rPr>
              <a:t>(PİLUSLAR, MİKROFİBRİLLER)</a:t>
            </a:r>
            <a:br>
              <a:rPr lang="tr-TR" sz="4900" b="1" dirty="0" smtClean="0">
                <a:solidFill>
                  <a:srgbClr val="FF0000"/>
                </a:solidFill>
              </a:rPr>
            </a:br>
            <a:endParaRPr lang="tr-TR" sz="49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endParaRPr lang="tr-TR" b="1" dirty="0" smtClean="0"/>
          </a:p>
          <a:p>
            <a:r>
              <a:rPr lang="tr-TR" b="1" dirty="0" smtClean="0"/>
              <a:t>PİLUS </a:t>
            </a:r>
            <a:r>
              <a:rPr lang="tr-TR" b="1" dirty="0" err="1" smtClean="0"/>
              <a:t>latince</a:t>
            </a:r>
            <a:r>
              <a:rPr lang="tr-TR" b="1" dirty="0" smtClean="0"/>
              <a:t> saç anlamına gelir</a:t>
            </a:r>
          </a:p>
          <a:p>
            <a:r>
              <a:rPr lang="tr-TR" b="1" dirty="0" err="1" smtClean="0"/>
              <a:t>Fimbrium</a:t>
            </a:r>
            <a:r>
              <a:rPr lang="tr-TR" b="1" dirty="0" smtClean="0"/>
              <a:t> </a:t>
            </a:r>
            <a:r>
              <a:rPr lang="tr-TR" b="1" dirty="0" err="1" smtClean="0"/>
              <a:t>latince</a:t>
            </a:r>
            <a:r>
              <a:rPr lang="tr-TR" b="1" dirty="0" smtClean="0"/>
              <a:t> saçak anlamına gelir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tr-TR" sz="3200" b="1" dirty="0" smtClean="0"/>
              <a:t>Kısa saç gibi,ince protein yapılardır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tr-TR" sz="3200" b="1" dirty="0" err="1" smtClean="0"/>
              <a:t>Antijenik</a:t>
            </a:r>
            <a:r>
              <a:rPr lang="tr-TR" sz="3200" b="1" dirty="0" smtClean="0"/>
              <a:t> özelliktedir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tr-TR" sz="3200" b="1" dirty="0" err="1" smtClean="0"/>
              <a:t>Orjin</a:t>
            </a:r>
            <a:r>
              <a:rPr lang="tr-TR" sz="3200" b="1" dirty="0" smtClean="0"/>
              <a:t> </a:t>
            </a:r>
            <a:r>
              <a:rPr lang="tr-TR" sz="3200" b="1" dirty="0" err="1" smtClean="0"/>
              <a:t>sitoplazmik</a:t>
            </a:r>
            <a:r>
              <a:rPr lang="tr-TR" sz="3200" b="1" dirty="0" smtClean="0"/>
              <a:t> </a:t>
            </a:r>
            <a:r>
              <a:rPr lang="tr-TR" sz="3200" b="1" dirty="0" err="1" smtClean="0"/>
              <a:t>membrandan</a:t>
            </a:r>
            <a:endParaRPr lang="tr-TR" sz="3200" b="1" dirty="0" smtClean="0"/>
          </a:p>
          <a:p>
            <a:pPr marL="342900" lvl="1" indent="-342900">
              <a:buFont typeface="Arial" pitchFamily="34" charset="0"/>
              <a:buChar char="•"/>
            </a:pPr>
            <a:r>
              <a:rPr lang="tr-TR" sz="3200" b="1" dirty="0" err="1" smtClean="0"/>
              <a:t>Flagelladan</a:t>
            </a:r>
            <a:r>
              <a:rPr lang="tr-TR" sz="3200" b="1" dirty="0" smtClean="0"/>
              <a:t> daha kısa ve incedir</a:t>
            </a:r>
            <a:endParaRPr lang="tr-TR" dirty="0" smtClean="0"/>
          </a:p>
          <a:p>
            <a:r>
              <a:rPr lang="tr-TR" b="1" dirty="0" smtClean="0"/>
              <a:t>Yalnızca elektron mikroskobunda görülebilirler</a:t>
            </a:r>
            <a:endParaRPr lang="tr-TR" sz="3200" b="1" dirty="0" smtClean="0"/>
          </a:p>
          <a:p>
            <a:pPr marL="342900" lvl="1" indent="-342900">
              <a:buFont typeface="Arial" pitchFamily="34" charset="0"/>
              <a:buChar char="•"/>
            </a:pPr>
            <a:endParaRPr lang="tr-TR" sz="1200" b="1" dirty="0" smtClean="0"/>
          </a:p>
          <a:p>
            <a:endParaRPr lang="tr-TR" b="1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/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sz="4900" b="1" dirty="0" smtClean="0">
                <a:solidFill>
                  <a:srgbClr val="FF0000"/>
                </a:solidFill>
              </a:rPr>
              <a:t>FİMBRİA  </a:t>
            </a:r>
            <a:br>
              <a:rPr lang="tr-TR" sz="4900" b="1" dirty="0" smtClean="0">
                <a:solidFill>
                  <a:srgbClr val="FF0000"/>
                </a:solidFill>
              </a:rPr>
            </a:br>
            <a:r>
              <a:rPr lang="tr-TR" sz="4900" b="1" dirty="0" smtClean="0">
                <a:solidFill>
                  <a:srgbClr val="FF0000"/>
                </a:solidFill>
              </a:rPr>
              <a:t>(PİLUSLAR, MİKROFİBRİLLER)</a:t>
            </a:r>
            <a:br>
              <a:rPr lang="tr-TR" sz="4900" b="1" dirty="0" smtClean="0">
                <a:solidFill>
                  <a:srgbClr val="FF0000"/>
                </a:solidFill>
              </a:rPr>
            </a:br>
            <a:endParaRPr lang="tr-TR" sz="49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23528" y="1600200"/>
            <a:ext cx="8568952" cy="4853136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tr-TR" b="1" dirty="0" smtClean="0"/>
              <a:t>		</a:t>
            </a:r>
            <a:r>
              <a:rPr lang="tr-TR" b="1" dirty="0" smtClean="0">
                <a:solidFill>
                  <a:srgbClr val="FF0000"/>
                </a:solidFill>
              </a:rPr>
              <a:t>Basit </a:t>
            </a:r>
            <a:r>
              <a:rPr lang="tr-TR" b="1" dirty="0" err="1" smtClean="0">
                <a:solidFill>
                  <a:srgbClr val="FF0000"/>
                </a:solidFill>
              </a:rPr>
              <a:t>pilus</a:t>
            </a:r>
            <a:r>
              <a:rPr lang="tr-TR" b="1" dirty="0" smtClean="0">
                <a:solidFill>
                  <a:srgbClr val="FF0000"/>
                </a:solidFill>
              </a:rPr>
              <a:t> (bir hücrede 100-200</a:t>
            </a:r>
            <a:r>
              <a:rPr lang="tr-TR" b="1" dirty="0" smtClean="0"/>
              <a:t>)</a:t>
            </a:r>
          </a:p>
          <a:p>
            <a:r>
              <a:rPr lang="tr-TR" b="1" dirty="0" err="1" smtClean="0"/>
              <a:t>Prokaryotların</a:t>
            </a:r>
            <a:r>
              <a:rPr lang="tr-TR" b="1" dirty="0" smtClean="0"/>
              <a:t> yüzeylere tutunmasını yapışmasını sağlar (</a:t>
            </a:r>
            <a:r>
              <a:rPr lang="tr-TR" b="1" dirty="0" err="1" smtClean="0"/>
              <a:t>adherens</a:t>
            </a:r>
            <a:r>
              <a:rPr lang="tr-TR" b="1" dirty="0" smtClean="0"/>
              <a:t>, </a:t>
            </a:r>
            <a:r>
              <a:rPr lang="tr-TR" b="1" dirty="0" err="1" smtClean="0"/>
              <a:t>adhesion</a:t>
            </a:r>
            <a:r>
              <a:rPr lang="tr-TR" b="1" dirty="0" smtClean="0"/>
              <a:t>) Böylece bakteriyel </a:t>
            </a:r>
            <a:r>
              <a:rPr lang="tr-TR" b="1" dirty="0" err="1" smtClean="0"/>
              <a:t>virulansta</a:t>
            </a:r>
            <a:r>
              <a:rPr lang="tr-TR" b="1" dirty="0" smtClean="0"/>
              <a:t>, </a:t>
            </a:r>
            <a:r>
              <a:rPr lang="tr-TR" b="1" dirty="0" err="1" smtClean="0"/>
              <a:t>patogenezde</a:t>
            </a:r>
            <a:r>
              <a:rPr lang="tr-TR" b="1" dirty="0" smtClean="0"/>
              <a:t> rol oynar</a:t>
            </a:r>
          </a:p>
          <a:p>
            <a:pPr>
              <a:buNone/>
            </a:pPr>
            <a:endParaRPr lang="tr-TR" b="1" dirty="0" smtClean="0"/>
          </a:p>
          <a:p>
            <a:pPr>
              <a:buNone/>
            </a:pPr>
            <a:r>
              <a:rPr lang="tr-TR" b="1" dirty="0" smtClean="0"/>
              <a:t>	</a:t>
            </a:r>
            <a:r>
              <a:rPr lang="tr-TR" b="1" dirty="0" smtClean="0">
                <a:solidFill>
                  <a:srgbClr val="FF0000"/>
                </a:solidFill>
              </a:rPr>
              <a:t>SEKS PİLUS (BİR HÜCREDE 1-4)</a:t>
            </a:r>
          </a:p>
          <a:p>
            <a:r>
              <a:rPr lang="tr-TR" b="1" dirty="0" smtClean="0">
                <a:solidFill>
                  <a:srgbClr val="7030A0"/>
                </a:solidFill>
              </a:rPr>
              <a:t>F </a:t>
            </a:r>
            <a:r>
              <a:rPr lang="tr-TR" b="1" dirty="0" err="1" smtClean="0">
                <a:solidFill>
                  <a:srgbClr val="7030A0"/>
                </a:solidFill>
              </a:rPr>
              <a:t>pilus</a:t>
            </a:r>
            <a:r>
              <a:rPr lang="tr-TR" b="1" dirty="0" smtClean="0"/>
              <a:t> </a:t>
            </a:r>
            <a:r>
              <a:rPr lang="tr-TR" b="1" dirty="0" smtClean="0">
                <a:solidFill>
                  <a:srgbClr val="7030A0"/>
                </a:solidFill>
              </a:rPr>
              <a:t>seks </a:t>
            </a:r>
            <a:r>
              <a:rPr lang="tr-TR" b="1" dirty="0" err="1" smtClean="0">
                <a:solidFill>
                  <a:srgbClr val="7030A0"/>
                </a:solidFill>
              </a:rPr>
              <a:t>pilusu</a:t>
            </a:r>
            <a:r>
              <a:rPr lang="tr-TR" b="1" dirty="0" smtClean="0">
                <a:solidFill>
                  <a:srgbClr val="7030A0"/>
                </a:solidFill>
              </a:rPr>
              <a:t> da denir</a:t>
            </a:r>
          </a:p>
          <a:p>
            <a:r>
              <a:rPr lang="tr-TR" b="1" dirty="0" smtClean="0"/>
              <a:t>Eşleşen bakteriler arasında gen transferini sağlar</a:t>
            </a:r>
            <a:endParaRPr lang="tr-TR" b="1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2160" y="3645024"/>
            <a:ext cx="2608312" cy="16922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/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sz="4900" b="1" dirty="0" smtClean="0">
                <a:solidFill>
                  <a:srgbClr val="FF0000"/>
                </a:solidFill>
              </a:rPr>
              <a:t>FİMBRİA  </a:t>
            </a:r>
            <a:br>
              <a:rPr lang="tr-TR" sz="4900" b="1" dirty="0" smtClean="0">
                <a:solidFill>
                  <a:srgbClr val="FF0000"/>
                </a:solidFill>
              </a:rPr>
            </a:br>
            <a:r>
              <a:rPr lang="tr-TR" sz="4900" b="1" dirty="0" smtClean="0">
                <a:solidFill>
                  <a:srgbClr val="FF0000"/>
                </a:solidFill>
              </a:rPr>
              <a:t>(PİLUSLAR, MİKROFİBRİLLER)</a:t>
            </a:r>
            <a:br>
              <a:rPr lang="tr-TR" sz="4900" b="1" dirty="0" smtClean="0">
                <a:solidFill>
                  <a:srgbClr val="FF0000"/>
                </a:solidFill>
              </a:rPr>
            </a:br>
            <a:endParaRPr lang="tr-TR" sz="49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b="1" dirty="0" err="1" smtClean="0"/>
              <a:t>Piluslar</a:t>
            </a:r>
            <a:r>
              <a:rPr lang="tr-TR" b="1" dirty="0" smtClean="0"/>
              <a:t> bakteriyi kendi türünden bir diğerine bağlayıp iki hücrenin sitoplazmaları arasında bir köprü oluştururlar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smtClean="0">
                <a:solidFill>
                  <a:schemeClr val="accent6">
                    <a:lumMod val="50000"/>
                  </a:schemeClr>
                </a:solidFill>
              </a:rPr>
              <a:t>Bu sayede </a:t>
            </a:r>
            <a:r>
              <a:rPr lang="tr-TR" b="1" dirty="0" err="1" smtClean="0">
                <a:solidFill>
                  <a:schemeClr val="accent6">
                    <a:lumMod val="50000"/>
                  </a:schemeClr>
                </a:solidFill>
              </a:rPr>
              <a:t>plazmidler</a:t>
            </a:r>
            <a:r>
              <a:rPr lang="tr-TR" b="1" dirty="0" smtClean="0">
                <a:solidFill>
                  <a:schemeClr val="accent6">
                    <a:lumMod val="50000"/>
                  </a:schemeClr>
                </a:solidFill>
              </a:rPr>
              <a:t> bir hücreden öbürüne aktarılabilir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smtClean="0">
                <a:solidFill>
                  <a:srgbClr val="7030A0"/>
                </a:solidFill>
              </a:rPr>
              <a:t>Edinilen bir </a:t>
            </a:r>
            <a:r>
              <a:rPr lang="tr-TR" b="1" dirty="0" err="1" smtClean="0">
                <a:solidFill>
                  <a:srgbClr val="7030A0"/>
                </a:solidFill>
              </a:rPr>
              <a:t>plazmid</a:t>
            </a:r>
            <a:r>
              <a:rPr lang="tr-TR" b="1" dirty="0" smtClean="0">
                <a:solidFill>
                  <a:srgbClr val="7030A0"/>
                </a:solidFill>
              </a:rPr>
              <a:t> bakteriye antibiyotik dayanıklılığı gibi yeni özellikler kazandırabilir</a:t>
            </a:r>
          </a:p>
          <a:p>
            <a:endParaRPr lang="tr-TR" b="1" dirty="0" smtClean="0"/>
          </a:p>
          <a:p>
            <a:endParaRPr lang="tr-TR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332656"/>
            <a:ext cx="5472608" cy="604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7704" y="260648"/>
            <a:ext cx="5329238" cy="5999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620688"/>
            <a:ext cx="7631931" cy="554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 descr="C:\Users\Sau\Desktop\imagesCASO93Q0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4211960" y="548680"/>
            <a:ext cx="4760912" cy="3167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C:\Users\Pc\Desktop\images9CTPDWK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404664"/>
            <a:ext cx="4231651" cy="4071966"/>
          </a:xfrm>
          <a:prstGeom prst="rect">
            <a:avLst/>
          </a:prstGeom>
          <a:noFill/>
        </p:spPr>
      </p:pic>
      <p:pic>
        <p:nvPicPr>
          <p:cNvPr id="8195" name="Picture 3" descr="C:\Users\Pc\Desktop\images1UKC2ICZ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0" y="3645024"/>
            <a:ext cx="4366132" cy="29054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522784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Sau\Desktop\imagesCAZ2RXCB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9552" y="476672"/>
            <a:ext cx="8289925" cy="6130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/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sz="4900" b="1" dirty="0" smtClean="0">
                <a:solidFill>
                  <a:srgbClr val="FF0000"/>
                </a:solidFill>
              </a:rPr>
              <a:t>BAKTERİLERİN ANATOMİK YAPILARI</a:t>
            </a:r>
            <a:r>
              <a:rPr lang="tr-TR" b="1" dirty="0" smtClean="0">
                <a:solidFill>
                  <a:srgbClr val="FF0000"/>
                </a:solidFill>
              </a:rPr>
              <a:t/>
            </a:r>
            <a:br>
              <a:rPr lang="tr-TR" b="1" dirty="0" smtClean="0">
                <a:solidFill>
                  <a:srgbClr val="FF0000"/>
                </a:solidFill>
              </a:rPr>
            </a:b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tr-TR" b="1" dirty="0" smtClean="0"/>
              <a:t>	</a:t>
            </a:r>
            <a:r>
              <a:rPr lang="tr-TR" sz="4600" b="1" dirty="0" smtClean="0"/>
              <a:t>	</a:t>
            </a:r>
            <a:r>
              <a:rPr lang="tr-TR" sz="4600" b="1" dirty="0" smtClean="0">
                <a:solidFill>
                  <a:srgbClr val="7030A0"/>
                </a:solidFill>
              </a:rPr>
              <a:t>İÇ YAPILAR</a:t>
            </a:r>
            <a:endParaRPr lang="tr-TR" sz="4600" dirty="0" smtClean="0">
              <a:solidFill>
                <a:srgbClr val="7030A0"/>
              </a:solidFill>
            </a:endParaRPr>
          </a:p>
          <a:p>
            <a:pPr lvl="0">
              <a:buNone/>
            </a:pPr>
            <a:endParaRPr lang="tr-TR" dirty="0" smtClean="0"/>
          </a:p>
          <a:p>
            <a:pPr lvl="0"/>
            <a:r>
              <a:rPr lang="tr-TR" b="1" dirty="0" err="1" smtClean="0"/>
              <a:t>Sitoplasmik</a:t>
            </a:r>
            <a:r>
              <a:rPr lang="tr-TR" b="1" dirty="0" smtClean="0"/>
              <a:t> </a:t>
            </a:r>
            <a:r>
              <a:rPr lang="tr-TR" b="1" dirty="0" err="1" smtClean="0"/>
              <a:t>membran</a:t>
            </a:r>
            <a:r>
              <a:rPr lang="tr-TR" b="1" dirty="0" smtClean="0"/>
              <a:t> = Hücre Zarı (</a:t>
            </a:r>
            <a:r>
              <a:rPr lang="tr-TR" b="1" dirty="0" err="1" smtClean="0"/>
              <a:t>Sitoplazmik</a:t>
            </a:r>
            <a:r>
              <a:rPr lang="tr-TR" b="1" dirty="0" smtClean="0"/>
              <a:t> zar)</a:t>
            </a:r>
          </a:p>
          <a:p>
            <a:pPr lvl="0"/>
            <a:r>
              <a:rPr lang="tr-TR" b="1" dirty="0" smtClean="0"/>
              <a:t>Mezozom</a:t>
            </a:r>
          </a:p>
          <a:p>
            <a:pPr lvl="0"/>
            <a:r>
              <a:rPr lang="tr-TR" b="1" dirty="0" err="1" smtClean="0"/>
              <a:t>Nukleus</a:t>
            </a:r>
            <a:r>
              <a:rPr lang="tr-TR" b="1" dirty="0" smtClean="0"/>
              <a:t>(</a:t>
            </a:r>
            <a:r>
              <a:rPr lang="tr-TR" b="1" dirty="0" err="1" smtClean="0"/>
              <a:t>nukleoid</a:t>
            </a:r>
            <a:r>
              <a:rPr lang="tr-TR" b="1" dirty="0" smtClean="0"/>
              <a:t>)</a:t>
            </a:r>
          </a:p>
          <a:p>
            <a:pPr lvl="0"/>
            <a:r>
              <a:rPr lang="tr-TR" b="1" dirty="0" err="1" smtClean="0"/>
              <a:t>Ribosom</a:t>
            </a:r>
            <a:endParaRPr lang="tr-TR" b="1" dirty="0" smtClean="0"/>
          </a:p>
          <a:p>
            <a:pPr lvl="0"/>
            <a:r>
              <a:rPr lang="tr-TR" b="1" dirty="0" err="1" smtClean="0"/>
              <a:t>Sitoplazmik</a:t>
            </a:r>
            <a:r>
              <a:rPr lang="tr-TR" b="1" dirty="0" smtClean="0"/>
              <a:t> granüller</a:t>
            </a:r>
          </a:p>
          <a:p>
            <a:pPr lvl="0"/>
            <a:r>
              <a:rPr lang="tr-TR" b="1" dirty="0" smtClean="0"/>
              <a:t>Sporlar</a:t>
            </a:r>
          </a:p>
          <a:p>
            <a:pPr lvl="0"/>
            <a:r>
              <a:rPr lang="tr-TR" b="1" dirty="0" smtClean="0"/>
              <a:t>Pigment</a:t>
            </a:r>
          </a:p>
          <a:p>
            <a:pPr lvl="0"/>
            <a:r>
              <a:rPr lang="tr-TR" b="1" dirty="0" err="1" smtClean="0"/>
              <a:t>Plazmid</a:t>
            </a:r>
            <a:endParaRPr lang="tr-TR" b="1" dirty="0" smtClean="0"/>
          </a:p>
          <a:p>
            <a:pPr lvl="0"/>
            <a:r>
              <a:rPr lang="tr-TR" b="1" dirty="0" err="1" smtClean="0"/>
              <a:t>Faj</a:t>
            </a:r>
            <a:endParaRPr lang="tr-TR" b="1" dirty="0" smtClean="0"/>
          </a:p>
          <a:p>
            <a:pPr lvl="0"/>
            <a:r>
              <a:rPr lang="tr-TR" b="1" dirty="0" err="1" smtClean="0"/>
              <a:t>Transpozon</a:t>
            </a:r>
            <a:r>
              <a:rPr lang="tr-TR" b="1" dirty="0" smtClean="0"/>
              <a:t>   </a:t>
            </a:r>
            <a:r>
              <a:rPr lang="tr-TR" sz="2900" b="1" dirty="0" smtClean="0"/>
              <a:t>(Yer değiştirebilen genetik elementler)</a:t>
            </a:r>
          </a:p>
          <a:p>
            <a:pPr lvl="0"/>
            <a:r>
              <a:rPr lang="tr-TR" b="1" dirty="0" smtClean="0"/>
              <a:t>IS elementi    </a:t>
            </a:r>
            <a:r>
              <a:rPr lang="tr-TR" sz="2900" b="1" dirty="0" smtClean="0"/>
              <a:t>(Yer değiştirebilen genetik elementler)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sz="3600" b="1" dirty="0" smtClean="0">
                <a:solidFill>
                  <a:srgbClr val="FF0000"/>
                </a:solidFill>
              </a:rPr>
              <a:t>SİTOPLASMİK MEMBRAN = HÜCRE ZARI</a:t>
            </a:r>
            <a:br>
              <a:rPr lang="tr-TR" sz="3600" b="1" dirty="0" smtClean="0">
                <a:solidFill>
                  <a:srgbClr val="FF0000"/>
                </a:solidFill>
              </a:rPr>
            </a:br>
            <a:r>
              <a:rPr lang="tr-TR" sz="3600" b="1" dirty="0" smtClean="0">
                <a:solidFill>
                  <a:srgbClr val="FF0000"/>
                </a:solidFill>
              </a:rPr>
              <a:t>(SİTOPLAZMİK ZAR)</a:t>
            </a:r>
            <a:r>
              <a:rPr lang="tr-TR" sz="3600" b="1" dirty="0" smtClean="0"/>
              <a:t/>
            </a:r>
            <a:br>
              <a:rPr lang="tr-TR" sz="3600" b="1" dirty="0" smtClean="0"/>
            </a:br>
            <a:endParaRPr lang="tr-TR" sz="3600" dirty="0"/>
          </a:p>
        </p:txBody>
      </p:sp>
      <p:pic>
        <p:nvPicPr>
          <p:cNvPr id="4" name="image61.jpeg"/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11560" y="1556792"/>
            <a:ext cx="7920880" cy="468052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SİTOPLASMİK MEMBRAN = HÜCRE ZARI</a:t>
            </a:r>
            <a:br>
              <a:rPr lang="tr-TR" sz="3200" b="1" dirty="0" smtClean="0">
                <a:solidFill>
                  <a:srgbClr val="FF0000"/>
                </a:solidFill>
              </a:rPr>
            </a:br>
            <a:r>
              <a:rPr lang="tr-TR" sz="3200" b="1" dirty="0" smtClean="0">
                <a:solidFill>
                  <a:srgbClr val="FF0000"/>
                </a:solidFill>
              </a:rPr>
              <a:t>(SİTOPLAZMİK ZAR)</a:t>
            </a:r>
            <a:endParaRPr lang="tr-TR" sz="32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lvl="1" indent="-342900">
              <a:buNone/>
            </a:pPr>
            <a:r>
              <a:rPr lang="tr-TR" b="1" dirty="0" smtClean="0">
                <a:solidFill>
                  <a:srgbClr val="7030A0"/>
                </a:solidFill>
              </a:rPr>
              <a:t>		</a:t>
            </a:r>
          </a:p>
          <a:p>
            <a:pPr marL="342900" lvl="1" indent="-342900">
              <a:buNone/>
            </a:pPr>
            <a:r>
              <a:rPr lang="tr-TR" b="1" dirty="0" smtClean="0">
                <a:solidFill>
                  <a:srgbClr val="7030A0"/>
                </a:solidFill>
              </a:rPr>
              <a:t>		NEREDE BULUNUR?</a:t>
            </a:r>
            <a:r>
              <a:rPr lang="tr-TR" dirty="0" smtClean="0">
                <a:solidFill>
                  <a:srgbClr val="7030A0"/>
                </a:solidFill>
              </a:rPr>
              <a:t> 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tr-TR" sz="3200" b="1" dirty="0" smtClean="0"/>
              <a:t>Hücre duvarının altında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tr-TR" sz="3200" b="1" dirty="0" smtClean="0"/>
              <a:t>Sitoplazmayı boydan boya çevreleyen zar sistemidir</a:t>
            </a:r>
          </a:p>
          <a:p>
            <a:r>
              <a:rPr lang="tr-TR" b="1" dirty="0" smtClean="0"/>
              <a:t>İnce ve bakterilerde genellikle aynı yapıda </a:t>
            </a:r>
          </a:p>
          <a:p>
            <a:pPr marL="342900" lvl="1" indent="-342900">
              <a:buNone/>
            </a:pPr>
            <a:r>
              <a:rPr lang="tr-TR" b="1" dirty="0" smtClean="0">
                <a:solidFill>
                  <a:srgbClr val="7030A0"/>
                </a:solidFill>
              </a:rPr>
              <a:t>		</a:t>
            </a:r>
          </a:p>
          <a:p>
            <a:pPr marL="342900" lvl="1" indent="-342900">
              <a:buNone/>
            </a:pPr>
            <a:r>
              <a:rPr lang="tr-TR" b="1" dirty="0" smtClean="0">
                <a:solidFill>
                  <a:srgbClr val="7030A0"/>
                </a:solidFill>
              </a:rPr>
              <a:t>		YAPISI</a:t>
            </a:r>
          </a:p>
          <a:p>
            <a:r>
              <a:rPr lang="tr-TR" b="1" dirty="0" err="1" smtClean="0">
                <a:solidFill>
                  <a:srgbClr val="FF0000"/>
                </a:solidFill>
              </a:rPr>
              <a:t>Fosfolipid</a:t>
            </a:r>
            <a:r>
              <a:rPr lang="tr-TR" b="1" dirty="0" smtClean="0">
                <a:solidFill>
                  <a:srgbClr val="FF0000"/>
                </a:solidFill>
              </a:rPr>
              <a:t> ve protein’</a:t>
            </a:r>
            <a:r>
              <a:rPr lang="tr-TR" b="1" dirty="0" smtClean="0"/>
              <a:t>den oluşmuştur</a:t>
            </a:r>
          </a:p>
          <a:p>
            <a:endParaRPr lang="tr-TR" b="1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SİTOPLASMİK MEMBRAN = HÜCRE ZARI</a:t>
            </a:r>
            <a:br>
              <a:rPr lang="tr-TR" sz="3200" b="1" dirty="0" smtClean="0">
                <a:solidFill>
                  <a:srgbClr val="FF0000"/>
                </a:solidFill>
              </a:rPr>
            </a:br>
            <a:r>
              <a:rPr lang="tr-TR" sz="3200" b="1" dirty="0" smtClean="0">
                <a:solidFill>
                  <a:srgbClr val="FF0000"/>
                </a:solidFill>
              </a:rPr>
              <a:t>(SİTOPLAZMİK ZAR)</a:t>
            </a:r>
            <a:endParaRPr lang="tr-TR" sz="32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b="1" dirty="0" err="1" smtClean="0"/>
              <a:t>Sitoplazmik</a:t>
            </a:r>
            <a:r>
              <a:rPr lang="tr-TR" b="1" dirty="0" smtClean="0"/>
              <a:t> zar, </a:t>
            </a:r>
            <a:r>
              <a:rPr lang="tr-TR" b="1" dirty="0" err="1" smtClean="0"/>
              <a:t>ökaryot</a:t>
            </a:r>
            <a:r>
              <a:rPr lang="tr-TR" b="1" dirty="0" smtClean="0"/>
              <a:t> hücre zarı ile benzer olarak </a:t>
            </a:r>
            <a:r>
              <a:rPr lang="tr-TR" b="1" dirty="0" smtClean="0">
                <a:solidFill>
                  <a:srgbClr val="0070C0"/>
                </a:solidFill>
              </a:rPr>
              <a:t>çift tabakalı </a:t>
            </a:r>
            <a:r>
              <a:rPr lang="tr-TR" b="1" dirty="0" err="1" smtClean="0">
                <a:solidFill>
                  <a:srgbClr val="0070C0"/>
                </a:solidFill>
              </a:rPr>
              <a:t>fosfolipid</a:t>
            </a:r>
            <a:r>
              <a:rPr lang="tr-TR" b="1" dirty="0" smtClean="0">
                <a:solidFill>
                  <a:srgbClr val="0070C0"/>
                </a:solidFill>
              </a:rPr>
              <a:t> yapıdadır</a:t>
            </a:r>
          </a:p>
          <a:p>
            <a:pPr>
              <a:buNone/>
            </a:pPr>
            <a:r>
              <a:rPr lang="tr-TR" b="1" dirty="0" smtClean="0"/>
              <a:t> </a:t>
            </a:r>
          </a:p>
          <a:p>
            <a:r>
              <a:rPr lang="tr-TR" b="1" dirty="0" smtClean="0"/>
              <a:t>Bununla birlikte </a:t>
            </a:r>
            <a:r>
              <a:rPr lang="tr-TR" b="1" dirty="0" err="1" smtClean="0"/>
              <a:t>ökaryotlardan</a:t>
            </a:r>
            <a:r>
              <a:rPr lang="tr-TR" b="1" dirty="0" smtClean="0"/>
              <a:t> farklı olarak </a:t>
            </a:r>
            <a:r>
              <a:rPr lang="tr-TR" b="1" dirty="0" smtClean="0">
                <a:solidFill>
                  <a:srgbClr val="FF0000"/>
                </a:solidFill>
              </a:rPr>
              <a:t>sterol  içermez </a:t>
            </a:r>
            <a:r>
              <a:rPr lang="tr-TR" b="1" dirty="0" smtClean="0"/>
              <a:t>(</a:t>
            </a:r>
            <a:r>
              <a:rPr lang="tr-TR" b="1" dirty="0" err="1" smtClean="0"/>
              <a:t>Mycoplasma</a:t>
            </a:r>
            <a:r>
              <a:rPr lang="tr-TR" b="1" dirty="0" smtClean="0"/>
              <a:t> </a:t>
            </a:r>
            <a:r>
              <a:rPr lang="tr-TR" b="1" dirty="0" err="1" smtClean="0"/>
              <a:t>spp</a:t>
            </a:r>
            <a:r>
              <a:rPr lang="tr-TR" b="1" dirty="0" smtClean="0"/>
              <a:t>. hariç)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smtClean="0">
                <a:solidFill>
                  <a:srgbClr val="0070C0"/>
                </a:solidFill>
              </a:rPr>
              <a:t>Zarın dış tabakası polar fosfat gruplarından, iç tabakası ise polar olmayan </a:t>
            </a:r>
            <a:r>
              <a:rPr lang="tr-TR" b="1" dirty="0" err="1" smtClean="0">
                <a:solidFill>
                  <a:srgbClr val="0070C0"/>
                </a:solidFill>
              </a:rPr>
              <a:t>lipid</a:t>
            </a:r>
            <a:r>
              <a:rPr lang="tr-TR" b="1" dirty="0" smtClean="0">
                <a:solidFill>
                  <a:srgbClr val="0070C0"/>
                </a:solidFill>
              </a:rPr>
              <a:t> zincirlerinden oluşmuştur </a:t>
            </a:r>
          </a:p>
          <a:p>
            <a:endParaRPr lang="tr-TR" b="1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SİTOPLASMİK MEMBRAN = HÜCRE ZARI</a:t>
            </a:r>
            <a:br>
              <a:rPr lang="tr-TR" sz="3200" b="1" dirty="0" smtClean="0">
                <a:solidFill>
                  <a:srgbClr val="FF0000"/>
                </a:solidFill>
              </a:rPr>
            </a:br>
            <a:r>
              <a:rPr lang="tr-TR" sz="3200" b="1" dirty="0" smtClean="0">
                <a:solidFill>
                  <a:srgbClr val="FF0000"/>
                </a:solidFill>
              </a:rPr>
              <a:t>(SİTOPLAZMİK ZAR) </a:t>
            </a:r>
            <a:br>
              <a:rPr lang="tr-TR" sz="3200" b="1" dirty="0" smtClean="0">
                <a:solidFill>
                  <a:srgbClr val="FF0000"/>
                </a:solidFill>
              </a:rPr>
            </a:br>
            <a:r>
              <a:rPr lang="tr-TR" sz="3200" b="1" dirty="0" smtClean="0">
                <a:solidFill>
                  <a:srgbClr val="FF0000"/>
                </a:solidFill>
              </a:rPr>
              <a:t>ilk defa gösterilmiş</a:t>
            </a:r>
            <a:endParaRPr lang="tr-TR" sz="32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b="1" dirty="0" smtClean="0"/>
              <a:t>Hem G-  hem G+  bakterilerde sitoplazmayı saran ve </a:t>
            </a:r>
            <a:r>
              <a:rPr lang="tr-TR" b="1" dirty="0" smtClean="0">
                <a:solidFill>
                  <a:srgbClr val="0070C0"/>
                </a:solidFill>
              </a:rPr>
              <a:t>sitoplazma ile hücre çeperi arasında </a:t>
            </a:r>
            <a:r>
              <a:rPr lang="tr-TR" b="1" dirty="0" smtClean="0"/>
              <a:t>yer alan bu zarın ayrı bir yapı olduğu </a:t>
            </a:r>
            <a:r>
              <a:rPr lang="tr-TR" b="1" dirty="0" err="1" smtClean="0">
                <a:solidFill>
                  <a:schemeClr val="accent6">
                    <a:lumMod val="50000"/>
                  </a:schemeClr>
                </a:solidFill>
              </a:rPr>
              <a:t>Knaysi</a:t>
            </a:r>
            <a:r>
              <a:rPr lang="tr-TR" b="1" dirty="0" smtClean="0">
                <a:solidFill>
                  <a:schemeClr val="accent6">
                    <a:lumMod val="50000"/>
                  </a:schemeClr>
                </a:solidFill>
              </a:rPr>
              <a:t> (1938) </a:t>
            </a:r>
            <a:r>
              <a:rPr lang="tr-TR" b="1" dirty="0" smtClean="0"/>
              <a:t>tarafından gösterilmiştir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smtClean="0">
                <a:solidFill>
                  <a:srgbClr val="FF0000"/>
                </a:solidFill>
              </a:rPr>
              <a:t>İki tabakalı </a:t>
            </a:r>
            <a:r>
              <a:rPr lang="tr-TR" b="1" dirty="0" err="1" smtClean="0">
                <a:solidFill>
                  <a:srgbClr val="FF0000"/>
                </a:solidFill>
              </a:rPr>
              <a:t>fosfolipit</a:t>
            </a:r>
            <a:r>
              <a:rPr lang="tr-TR" b="1" dirty="0" smtClean="0">
                <a:solidFill>
                  <a:srgbClr val="FF0000"/>
                </a:solidFill>
              </a:rPr>
              <a:t> yapıda olan zar </a:t>
            </a:r>
            <a:r>
              <a:rPr lang="tr-TR" b="1" dirty="0" smtClean="0"/>
              <a:t>boyanarak yada hücreler </a:t>
            </a:r>
            <a:r>
              <a:rPr lang="tr-TR" b="1" dirty="0" err="1" smtClean="0"/>
              <a:t>lizozimle</a:t>
            </a:r>
            <a:r>
              <a:rPr lang="tr-TR" b="1" dirty="0" smtClean="0"/>
              <a:t> eritildikten sonra santrifüj edilip </a:t>
            </a:r>
            <a:r>
              <a:rPr lang="tr-TR" b="1" dirty="0" err="1" smtClean="0"/>
              <a:t>ayırılarak</a:t>
            </a:r>
            <a:r>
              <a:rPr lang="tr-TR" b="1" dirty="0" smtClean="0"/>
              <a:t> gösterilebilir</a:t>
            </a:r>
            <a:endParaRPr lang="tr-TR" b="1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idx="4294967295"/>
          </p:nvPr>
        </p:nvSpPr>
        <p:spPr>
          <a:xfrm>
            <a:off x="5004048" y="274638"/>
            <a:ext cx="3225552" cy="1143000"/>
          </a:xfrm>
        </p:spPr>
        <p:txBody>
          <a:bodyPr>
            <a:noAutofit/>
          </a:bodyPr>
          <a:lstStyle/>
          <a:p>
            <a:pPr algn="l"/>
            <a:r>
              <a:rPr lang="tr-TR" sz="1800" b="1" dirty="0" err="1" smtClean="0"/>
              <a:t>Hidrofilik</a:t>
            </a:r>
            <a:r>
              <a:rPr lang="tr-TR" sz="1800" b="1" dirty="0" smtClean="0"/>
              <a:t> Bölge=Suya bağlanma</a:t>
            </a:r>
            <a:br>
              <a:rPr lang="tr-TR" sz="1800" b="1" dirty="0" smtClean="0"/>
            </a:br>
            <a:r>
              <a:rPr lang="tr-TR" sz="1800" b="1" dirty="0" err="1" smtClean="0"/>
              <a:t>Hidrofobik</a:t>
            </a:r>
            <a:r>
              <a:rPr lang="tr-TR" sz="1800" b="1" dirty="0" smtClean="0"/>
              <a:t> Bölge= Sudan kaçma</a:t>
            </a:r>
            <a:br>
              <a:rPr lang="tr-TR" sz="1800" b="1" dirty="0" smtClean="0"/>
            </a:br>
            <a:endParaRPr lang="tr-TR" sz="1800" b="1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844824"/>
            <a:ext cx="8136904" cy="432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4 Dikdörtgen"/>
          <p:cNvSpPr/>
          <p:nvPr/>
        </p:nvSpPr>
        <p:spPr>
          <a:xfrm>
            <a:off x="179512" y="260648"/>
            <a:ext cx="367240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000" b="1" dirty="0" smtClean="0">
                <a:solidFill>
                  <a:srgbClr val="FF0000"/>
                </a:solidFill>
              </a:rPr>
              <a:t>Zarın dış tabakası polar fosfat gruplarından</a:t>
            </a:r>
          </a:p>
          <a:p>
            <a:r>
              <a:rPr lang="tr-TR" sz="2000" b="1" dirty="0" smtClean="0">
                <a:solidFill>
                  <a:srgbClr val="FF0000"/>
                </a:solidFill>
              </a:rPr>
              <a:t> </a:t>
            </a:r>
            <a:r>
              <a:rPr lang="tr-TR" sz="2000" b="1" dirty="0" smtClean="0">
                <a:solidFill>
                  <a:srgbClr val="7030A0"/>
                </a:solidFill>
              </a:rPr>
              <a:t>İç tabakası ise polar olmayan </a:t>
            </a:r>
            <a:r>
              <a:rPr lang="tr-TR" sz="2000" b="1" dirty="0" err="1" smtClean="0">
                <a:solidFill>
                  <a:srgbClr val="7030A0"/>
                </a:solidFill>
              </a:rPr>
              <a:t>lipid</a:t>
            </a:r>
            <a:r>
              <a:rPr lang="tr-TR" sz="2000" b="1" dirty="0" smtClean="0">
                <a:solidFill>
                  <a:srgbClr val="7030A0"/>
                </a:solidFill>
              </a:rPr>
              <a:t> zincirlerinden oluşmuştur 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1" y="332656"/>
            <a:ext cx="8496944" cy="575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tr-TR" sz="3600" b="1" dirty="0" smtClean="0">
                <a:solidFill>
                  <a:srgbClr val="FF0000"/>
                </a:solidFill>
              </a:rPr>
              <a:t>SİTOPLASMİK MEMBRAN = HÜCRE ZARI</a:t>
            </a:r>
            <a:br>
              <a:rPr lang="tr-TR" sz="3600" b="1" dirty="0" smtClean="0">
                <a:solidFill>
                  <a:srgbClr val="FF0000"/>
                </a:solidFill>
              </a:rPr>
            </a:br>
            <a:r>
              <a:rPr lang="tr-TR" sz="3600" b="1" dirty="0" smtClean="0">
                <a:solidFill>
                  <a:srgbClr val="FF0000"/>
                </a:solidFill>
              </a:rPr>
              <a:t>(SİTOPLAZMİK ZAR)</a:t>
            </a:r>
            <a:endParaRPr lang="tr-TR" sz="36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b="1" dirty="0" smtClean="0">
                <a:solidFill>
                  <a:srgbClr val="7030A0"/>
                </a:solidFill>
              </a:rPr>
              <a:t>GÖREVLERİ NELERDİR?</a:t>
            </a:r>
          </a:p>
          <a:p>
            <a:pPr lvl="1"/>
            <a:r>
              <a:rPr lang="tr-TR" b="1" dirty="0" smtClean="0"/>
              <a:t>Sitoplazmayı sarar ve korur</a:t>
            </a:r>
            <a:endParaRPr lang="tr-TR" sz="1050" b="1" dirty="0" smtClean="0"/>
          </a:p>
          <a:p>
            <a:pPr lvl="1"/>
            <a:r>
              <a:rPr lang="tr-TR" b="1" dirty="0" smtClean="0"/>
              <a:t>Bir çok enzim bulunur</a:t>
            </a:r>
            <a:endParaRPr lang="tr-TR" sz="1050" b="1" dirty="0" smtClean="0"/>
          </a:p>
          <a:p>
            <a:pPr lvl="1"/>
            <a:r>
              <a:rPr lang="tr-TR" b="1" dirty="0" smtClean="0"/>
              <a:t>DNA’nın </a:t>
            </a:r>
            <a:r>
              <a:rPr lang="tr-TR" b="1" dirty="0" err="1" smtClean="0"/>
              <a:t>replikasyonunda</a:t>
            </a:r>
            <a:r>
              <a:rPr lang="tr-TR" b="1" dirty="0" smtClean="0"/>
              <a:t> görev alır</a:t>
            </a:r>
            <a:endParaRPr lang="tr-TR" sz="1050" b="1" dirty="0" smtClean="0"/>
          </a:p>
          <a:p>
            <a:pPr lvl="1"/>
            <a:r>
              <a:rPr lang="tr-TR" b="1" dirty="0" smtClean="0"/>
              <a:t>Hücre bölünmesinde ve </a:t>
            </a:r>
            <a:r>
              <a:rPr lang="tr-TR" b="1" dirty="0" err="1" smtClean="0"/>
              <a:t>sporulasyonda</a:t>
            </a:r>
            <a:r>
              <a:rPr lang="tr-TR" b="1" dirty="0" smtClean="0"/>
              <a:t> görev alır</a:t>
            </a:r>
            <a:endParaRPr lang="tr-TR" sz="1050" b="1" dirty="0" smtClean="0"/>
          </a:p>
          <a:p>
            <a:pPr lvl="1"/>
            <a:r>
              <a:rPr lang="tr-TR" b="1" dirty="0" smtClean="0"/>
              <a:t>Mezozomların </a:t>
            </a:r>
            <a:r>
              <a:rPr lang="tr-TR" b="1" dirty="0" err="1" smtClean="0"/>
              <a:t>orjinini</a:t>
            </a:r>
            <a:r>
              <a:rPr lang="tr-TR" b="1" dirty="0" smtClean="0"/>
              <a:t> oluşturur</a:t>
            </a:r>
            <a:endParaRPr lang="tr-TR" sz="1050" b="1" dirty="0" smtClean="0"/>
          </a:p>
          <a:p>
            <a:pPr lvl="1"/>
            <a:r>
              <a:rPr lang="tr-TR" b="1" dirty="0" err="1" smtClean="0"/>
              <a:t>Selektif</a:t>
            </a:r>
            <a:r>
              <a:rPr lang="tr-TR" b="1" dirty="0" smtClean="0"/>
              <a:t> </a:t>
            </a:r>
            <a:r>
              <a:rPr lang="tr-TR" b="1" dirty="0" err="1" smtClean="0"/>
              <a:t>permiabilite</a:t>
            </a:r>
            <a:r>
              <a:rPr lang="tr-TR" b="1" dirty="0" smtClean="0"/>
              <a:t> olarak görev yapar ve </a:t>
            </a:r>
            <a:r>
              <a:rPr lang="tr-TR" b="1" dirty="0" err="1" smtClean="0"/>
              <a:t>ozmozisi</a:t>
            </a:r>
            <a:r>
              <a:rPr lang="tr-TR" b="1" dirty="0" smtClean="0"/>
              <a:t> sağlar</a:t>
            </a:r>
          </a:p>
          <a:p>
            <a:pPr lvl="1">
              <a:buNone/>
            </a:pPr>
            <a:r>
              <a:rPr lang="tr-TR" b="1" dirty="0" smtClean="0"/>
              <a:t>			aktif transport</a:t>
            </a:r>
          </a:p>
          <a:p>
            <a:pPr lvl="1">
              <a:buNone/>
            </a:pPr>
            <a:r>
              <a:rPr lang="tr-TR" b="1" dirty="0" smtClean="0"/>
              <a:t>			pasif transport</a:t>
            </a:r>
          </a:p>
          <a:p>
            <a:pPr lvl="1"/>
            <a:endParaRPr lang="tr-TR" sz="1050" b="1" dirty="0" smtClean="0"/>
          </a:p>
          <a:p>
            <a:endParaRPr lang="tr-TR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1"/>
            <a:r>
              <a:rPr lang="tr-TR" b="1" dirty="0" smtClean="0"/>
              <a:t>			</a:t>
            </a:r>
            <a:br>
              <a:rPr lang="tr-TR" b="1" dirty="0" smtClean="0"/>
            </a:br>
            <a:r>
              <a:rPr lang="tr-TR" b="1" dirty="0"/>
              <a:t>	</a:t>
            </a:r>
            <a:r>
              <a:rPr lang="tr-TR" b="1" dirty="0" smtClean="0"/>
              <a:t>		</a:t>
            </a:r>
            <a:r>
              <a:rPr lang="tr-TR" sz="3200" b="1" dirty="0" smtClean="0">
                <a:solidFill>
                  <a:srgbClr val="FF0000"/>
                </a:solidFill>
                <a:latin typeface="+mn-lt"/>
              </a:rPr>
              <a:t>AKTİF TRANSPORT</a:t>
            </a:r>
            <a:br>
              <a:rPr lang="tr-TR" sz="3200" b="1" dirty="0" smtClean="0">
                <a:solidFill>
                  <a:srgbClr val="FF0000"/>
                </a:solidFill>
                <a:latin typeface="+mn-lt"/>
              </a:rPr>
            </a:br>
            <a:r>
              <a:rPr lang="tr-TR" sz="3200" b="1" dirty="0" smtClean="0">
                <a:solidFill>
                  <a:srgbClr val="FF0000"/>
                </a:solidFill>
                <a:latin typeface="+mn-lt"/>
              </a:rPr>
              <a:t>			PASİF TRANSPORT </a:t>
            </a:r>
            <a:br>
              <a:rPr lang="tr-TR" sz="3200" b="1" dirty="0" smtClean="0">
                <a:solidFill>
                  <a:srgbClr val="FF0000"/>
                </a:solidFill>
                <a:latin typeface="+mn-lt"/>
              </a:rPr>
            </a:br>
            <a:endParaRPr lang="tr-TR" sz="32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tr-TR" sz="3300" b="1" dirty="0" smtClean="0"/>
              <a:t>1-Seçici geçirgendir. Aktif Transportta yer alır.Hücre içi basınç 15-20 atmosfer sabit kalır ve hücre içine gerekli  maddeler alınır</a:t>
            </a:r>
          </a:p>
          <a:p>
            <a:r>
              <a:rPr lang="tr-TR" sz="3300" b="1" dirty="0" smtClean="0"/>
              <a:t>2-Solunum enzimlerini taşır.Solunum işlevi bu zarda yürütülür</a:t>
            </a:r>
          </a:p>
          <a:p>
            <a:r>
              <a:rPr lang="tr-TR" sz="3300" b="1" dirty="0" smtClean="0"/>
              <a:t>3-Besin parçalayıcı enzimleri hücre dışına salgılar Parçalanan besinleri hücre içine alır.Sindirim işlevi bu zarda yapılır</a:t>
            </a:r>
          </a:p>
          <a:p>
            <a:r>
              <a:rPr lang="tr-TR" sz="3300" b="1" dirty="0" smtClean="0"/>
              <a:t>4-</a:t>
            </a:r>
            <a:r>
              <a:rPr lang="tr-TR" sz="3300" b="1" dirty="0" err="1" smtClean="0"/>
              <a:t>Biyosentez</a:t>
            </a:r>
            <a:r>
              <a:rPr lang="tr-TR" sz="3300" b="1" dirty="0" smtClean="0"/>
              <a:t> yapılır</a:t>
            </a:r>
          </a:p>
          <a:p>
            <a:pPr lvl="1"/>
            <a:r>
              <a:rPr lang="tr-TR" sz="2400" b="1" dirty="0" err="1" smtClean="0">
                <a:solidFill>
                  <a:srgbClr val="0070C0"/>
                </a:solidFill>
              </a:rPr>
              <a:t>Biyosentez</a:t>
            </a:r>
            <a:r>
              <a:rPr lang="tr-TR" sz="2400" b="1" dirty="0" smtClean="0"/>
              <a:t>:Küçük moleküllerin enzimler aracılığı ile birleştirilerek büyük moleküllerin sentezlenmesi olayının canlı organizma içinde meydana gelmesi demektir</a:t>
            </a:r>
          </a:p>
          <a:p>
            <a:pPr>
              <a:buNone/>
            </a:pPr>
            <a:endParaRPr lang="tr-TR" b="1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BAKTERİLERDE SİTOPLAZMA ZARI BU GÖREVLERİ NEDEN ÜSTLENMİŞTİR….????</a:t>
            </a:r>
            <a:endParaRPr lang="tr-TR" sz="32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Bakteri hücresinde mitokondri, </a:t>
            </a:r>
            <a:r>
              <a:rPr lang="tr-TR" b="1" dirty="0" err="1" smtClean="0"/>
              <a:t>golgi</a:t>
            </a:r>
            <a:r>
              <a:rPr lang="tr-TR" b="1" dirty="0" smtClean="0"/>
              <a:t> aygıtı, </a:t>
            </a:r>
            <a:r>
              <a:rPr lang="tr-TR" b="1" dirty="0" err="1" smtClean="0"/>
              <a:t>endoplazmik</a:t>
            </a:r>
            <a:r>
              <a:rPr lang="tr-TR" b="1" dirty="0" smtClean="0"/>
              <a:t> </a:t>
            </a:r>
            <a:r>
              <a:rPr lang="tr-TR" b="1" dirty="0" err="1" smtClean="0"/>
              <a:t>retikulum</a:t>
            </a:r>
            <a:r>
              <a:rPr lang="tr-TR" b="1" dirty="0" smtClean="0"/>
              <a:t> gibi </a:t>
            </a:r>
            <a:r>
              <a:rPr lang="tr-TR" b="1" dirty="0" err="1" smtClean="0"/>
              <a:t>organeller</a:t>
            </a:r>
            <a:r>
              <a:rPr lang="tr-TR" b="1" dirty="0" smtClean="0"/>
              <a:t> bulunmaz </a:t>
            </a:r>
          </a:p>
          <a:p>
            <a:r>
              <a:rPr lang="tr-TR" b="1" dirty="0" smtClean="0"/>
              <a:t>Bu </a:t>
            </a:r>
            <a:r>
              <a:rPr lang="tr-TR" b="1" dirty="0" err="1" smtClean="0"/>
              <a:t>organellerin</a:t>
            </a:r>
            <a:r>
              <a:rPr lang="tr-TR" b="1" dirty="0" smtClean="0"/>
              <a:t> görevini bakteride </a:t>
            </a:r>
            <a:r>
              <a:rPr lang="tr-TR" b="1" dirty="0" err="1" smtClean="0"/>
              <a:t>sitoplazmik</a:t>
            </a:r>
            <a:r>
              <a:rPr lang="tr-TR" b="1" dirty="0" smtClean="0"/>
              <a:t> zar üstlenmiştir </a:t>
            </a:r>
          </a:p>
          <a:p>
            <a:pPr>
              <a:buNone/>
            </a:pPr>
            <a:endParaRPr lang="tr-TR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slide_7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404664"/>
            <a:ext cx="8135937" cy="5905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1" algn="ctr" rtl="0">
              <a:spcBef>
                <a:spcPct val="0"/>
              </a:spcBef>
            </a:pPr>
            <a:r>
              <a:rPr lang="tr-TR" sz="3200" b="1" dirty="0" smtClean="0">
                <a:solidFill>
                  <a:srgbClr val="FF0000"/>
                </a:solidFill>
              </a:rPr>
              <a:t/>
            </a:r>
            <a:br>
              <a:rPr lang="tr-TR" sz="3200" b="1" dirty="0" smtClean="0">
                <a:solidFill>
                  <a:srgbClr val="FF0000"/>
                </a:solidFill>
              </a:rPr>
            </a:br>
            <a:r>
              <a:rPr lang="tr-TR" sz="3200" b="1" dirty="0" smtClean="0">
                <a:solidFill>
                  <a:srgbClr val="FF0000"/>
                </a:solidFill>
              </a:rPr>
              <a:t>(SİTOPLAZMİK ZAR)</a:t>
            </a:r>
            <a:br>
              <a:rPr lang="tr-TR" sz="3200" b="1" dirty="0" smtClean="0">
                <a:solidFill>
                  <a:srgbClr val="FF0000"/>
                </a:solidFill>
              </a:rPr>
            </a:br>
            <a:r>
              <a:rPr lang="tr-TR" sz="3200" b="1" dirty="0" smtClean="0">
                <a:solidFill>
                  <a:srgbClr val="FF0000"/>
                </a:solidFill>
              </a:rPr>
              <a:t>BİR ÇOK ENZİM BULUNUR </a:t>
            </a:r>
            <a:r>
              <a:rPr lang="tr-TR" sz="3200" b="1" dirty="0" smtClean="0"/>
              <a:t/>
            </a:r>
            <a:br>
              <a:rPr lang="tr-TR" sz="3200" b="1" dirty="0" smtClean="0"/>
            </a:br>
            <a:endParaRPr lang="tr-TR" sz="32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tr-TR" dirty="0" smtClean="0"/>
          </a:p>
          <a:p>
            <a:r>
              <a:rPr lang="tr-TR" b="1" dirty="0" err="1" smtClean="0"/>
              <a:t>Sitokrom</a:t>
            </a:r>
            <a:r>
              <a:rPr lang="tr-TR" b="1" dirty="0" smtClean="0"/>
              <a:t> enzimleri </a:t>
            </a:r>
          </a:p>
          <a:p>
            <a:r>
              <a:rPr lang="tr-TR" b="1" dirty="0" err="1" smtClean="0"/>
              <a:t>Lipid</a:t>
            </a:r>
            <a:r>
              <a:rPr lang="tr-TR" b="1" dirty="0" smtClean="0"/>
              <a:t> sentezinde görevli enzimler </a:t>
            </a:r>
          </a:p>
          <a:p>
            <a:r>
              <a:rPr lang="tr-TR" b="1" dirty="0" smtClean="0"/>
              <a:t>Hücre duvarı sentezinde görevli enzimler </a:t>
            </a:r>
          </a:p>
          <a:p>
            <a:r>
              <a:rPr lang="tr-TR" b="1" dirty="0" smtClean="0"/>
              <a:t>TCA enzimleri </a:t>
            </a:r>
            <a:r>
              <a:rPr lang="tr-TR" sz="2800" b="1" dirty="0" smtClean="0">
                <a:solidFill>
                  <a:srgbClr val="FF0000"/>
                </a:solidFill>
              </a:rPr>
              <a:t> (</a:t>
            </a:r>
            <a:r>
              <a:rPr lang="tr-TR" sz="2800" b="1" dirty="0" err="1" smtClean="0">
                <a:solidFill>
                  <a:srgbClr val="FF0000"/>
                </a:solidFill>
              </a:rPr>
              <a:t>trikarboksilik</a:t>
            </a:r>
            <a:r>
              <a:rPr lang="tr-TR" sz="2800" b="1" dirty="0" smtClean="0">
                <a:solidFill>
                  <a:srgbClr val="FF0000"/>
                </a:solidFill>
              </a:rPr>
              <a:t> asit döngüsü )</a:t>
            </a:r>
          </a:p>
          <a:p>
            <a:r>
              <a:rPr lang="tr-TR" b="1" dirty="0" smtClean="0"/>
              <a:t>DNA </a:t>
            </a:r>
            <a:r>
              <a:rPr lang="tr-TR" b="1" dirty="0" err="1" smtClean="0"/>
              <a:t>replikaz</a:t>
            </a:r>
            <a:r>
              <a:rPr lang="tr-TR" b="1" dirty="0" smtClean="0"/>
              <a:t> enzimleri 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MEZOZOM NEDİR?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err="1" smtClean="0"/>
              <a:t>Sitoplazmik</a:t>
            </a:r>
            <a:r>
              <a:rPr lang="tr-TR" b="1" dirty="0" smtClean="0"/>
              <a:t> zar belirli noktalardan sitoplazma içerisine uzantılar oluşturduğu yapılardır</a:t>
            </a:r>
          </a:p>
          <a:p>
            <a:r>
              <a:rPr lang="tr-TR" b="1" dirty="0" smtClean="0"/>
              <a:t>Oksijenli solunum yapan bakterilerde ve </a:t>
            </a:r>
            <a:r>
              <a:rPr lang="tr-TR" b="1" dirty="0" err="1" smtClean="0"/>
              <a:t>Fakültatif</a:t>
            </a:r>
            <a:r>
              <a:rPr lang="tr-TR" b="1" dirty="0" smtClean="0"/>
              <a:t> bakterilerde görülür </a:t>
            </a:r>
          </a:p>
          <a:p>
            <a:r>
              <a:rPr lang="tr-TR" b="1" dirty="0" smtClean="0"/>
              <a:t>Mezozom üzerinde solunum enzimleri bulunur. Mitokondrinin görevini yapar (yani </a:t>
            </a:r>
            <a:r>
              <a:rPr lang="tr-TR" b="1" dirty="0" err="1" smtClean="0"/>
              <a:t>analogdur</a:t>
            </a:r>
            <a:r>
              <a:rPr lang="tr-TR" b="1" dirty="0" smtClean="0"/>
              <a:t>)</a:t>
            </a:r>
            <a:endParaRPr lang="tr-TR" b="1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b="1" dirty="0" smtClean="0">
                <a:solidFill>
                  <a:srgbClr val="FF0000"/>
                </a:solidFill>
              </a:rPr>
              <a:t>İKİ ÇEŞİT MEZOZOM TANIMLANMIŞTIR</a:t>
            </a:r>
            <a:br>
              <a:rPr lang="tr-TR" b="1" dirty="0" smtClean="0">
                <a:solidFill>
                  <a:srgbClr val="FF0000"/>
                </a:solidFill>
              </a:rPr>
            </a:b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b="1" dirty="0" err="1" smtClean="0">
                <a:solidFill>
                  <a:srgbClr val="7030A0"/>
                </a:solidFill>
              </a:rPr>
              <a:t>Septal</a:t>
            </a:r>
            <a:r>
              <a:rPr lang="tr-TR" b="1" dirty="0" smtClean="0">
                <a:solidFill>
                  <a:srgbClr val="7030A0"/>
                </a:solidFill>
              </a:rPr>
              <a:t> mezozom </a:t>
            </a:r>
            <a:r>
              <a:rPr lang="tr-TR" b="1" dirty="0" smtClean="0"/>
              <a:t>bakteri DNA’sı ilişkili olup DNA’ya tutunduğu ve </a:t>
            </a:r>
            <a:r>
              <a:rPr lang="tr-TR" b="1" dirty="0" err="1" smtClean="0"/>
              <a:t>Dna</a:t>
            </a:r>
            <a:r>
              <a:rPr lang="tr-TR" b="1" dirty="0" smtClean="0"/>
              <a:t> sentezinin başladığı yer </a:t>
            </a:r>
          </a:p>
          <a:p>
            <a:r>
              <a:rPr lang="tr-TR" b="1" dirty="0" err="1" smtClean="0">
                <a:solidFill>
                  <a:srgbClr val="7030A0"/>
                </a:solidFill>
              </a:rPr>
              <a:t>Lateral</a:t>
            </a:r>
            <a:r>
              <a:rPr lang="tr-TR" b="1" dirty="0" smtClean="0">
                <a:solidFill>
                  <a:srgbClr val="7030A0"/>
                </a:solidFill>
              </a:rPr>
              <a:t> mezozom </a:t>
            </a:r>
            <a:r>
              <a:rPr lang="tr-TR" b="1" dirty="0" smtClean="0"/>
              <a:t>ise, enzimlerin sentezinde görev alır ve Enerji metabolizması ve solunum enzimleri taşıyarak solunum işlevini gerçekleştirir</a:t>
            </a:r>
            <a:endParaRPr lang="tr-TR" b="1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62.png"/>
          <p:cNvPicPr>
            <a:picLocks noGrp="1"/>
          </p:cNvPicPr>
          <p:nvPr>
            <p:ph idx="4294967295"/>
          </p:nvPr>
        </p:nvPicPr>
        <p:blipFill>
          <a:blip r:embed="rId2" cstate="print"/>
          <a:stretch>
            <a:fillRect/>
          </a:stretch>
        </p:blipFill>
        <p:spPr>
          <a:xfrm>
            <a:off x="899592" y="332656"/>
            <a:ext cx="7416800" cy="5794375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/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sz="4900" b="1" dirty="0" smtClean="0">
                <a:solidFill>
                  <a:srgbClr val="FF0000"/>
                </a:solidFill>
              </a:rPr>
              <a:t>BAKTERİLERİN ANATOMİK YAPILARI</a:t>
            </a:r>
            <a:r>
              <a:rPr lang="tr-TR" b="1" dirty="0" smtClean="0">
                <a:solidFill>
                  <a:srgbClr val="FF0000"/>
                </a:solidFill>
              </a:rPr>
              <a:t/>
            </a:r>
            <a:br>
              <a:rPr lang="tr-TR" b="1" dirty="0" smtClean="0">
                <a:solidFill>
                  <a:srgbClr val="FF0000"/>
                </a:solidFill>
              </a:rPr>
            </a:b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tr-TR" b="1" dirty="0" smtClean="0"/>
              <a:t>	</a:t>
            </a:r>
            <a:r>
              <a:rPr lang="tr-TR" sz="5100" b="1" dirty="0" smtClean="0"/>
              <a:t>	</a:t>
            </a:r>
            <a:r>
              <a:rPr lang="tr-TR" sz="5100" b="1" dirty="0" smtClean="0">
                <a:solidFill>
                  <a:srgbClr val="7030A0"/>
                </a:solidFill>
              </a:rPr>
              <a:t>İÇ YAPILAR</a:t>
            </a:r>
            <a:endParaRPr lang="tr-TR" dirty="0" smtClean="0"/>
          </a:p>
          <a:p>
            <a:pPr lvl="0"/>
            <a:r>
              <a:rPr lang="tr-TR" sz="3100" b="1" dirty="0" err="1" smtClean="0"/>
              <a:t>Sitoplasmik</a:t>
            </a:r>
            <a:r>
              <a:rPr lang="tr-TR" sz="3100" b="1" dirty="0" smtClean="0"/>
              <a:t> </a:t>
            </a:r>
            <a:r>
              <a:rPr lang="tr-TR" sz="3100" b="1" dirty="0" err="1" smtClean="0"/>
              <a:t>membran</a:t>
            </a:r>
            <a:r>
              <a:rPr lang="tr-TR" sz="3100" b="1" dirty="0" smtClean="0"/>
              <a:t> = Hücre Zarı (</a:t>
            </a:r>
            <a:r>
              <a:rPr lang="tr-TR" sz="3100" b="1" dirty="0" err="1" smtClean="0"/>
              <a:t>Sitoplazmik</a:t>
            </a:r>
            <a:r>
              <a:rPr lang="tr-TR" sz="3100" b="1" dirty="0" smtClean="0"/>
              <a:t> zar)</a:t>
            </a:r>
          </a:p>
          <a:p>
            <a:pPr lvl="0"/>
            <a:r>
              <a:rPr lang="tr-TR" sz="3100" b="1" dirty="0" smtClean="0"/>
              <a:t>Mezozom</a:t>
            </a:r>
          </a:p>
          <a:p>
            <a:pPr lvl="0"/>
            <a:r>
              <a:rPr lang="tr-TR" sz="3100" b="1" dirty="0" err="1" smtClean="0"/>
              <a:t>Nukleus</a:t>
            </a:r>
            <a:r>
              <a:rPr lang="tr-TR" sz="3100" b="1" dirty="0" smtClean="0"/>
              <a:t>(</a:t>
            </a:r>
            <a:r>
              <a:rPr lang="tr-TR" sz="3100" b="1" dirty="0" err="1" smtClean="0"/>
              <a:t>nukleoid</a:t>
            </a:r>
            <a:r>
              <a:rPr lang="tr-TR" sz="3100" b="1" dirty="0" smtClean="0"/>
              <a:t>)</a:t>
            </a:r>
          </a:p>
          <a:p>
            <a:pPr lvl="0"/>
            <a:r>
              <a:rPr lang="tr-TR" sz="3100" b="1" dirty="0" err="1" smtClean="0"/>
              <a:t>Ribosom</a:t>
            </a:r>
            <a:endParaRPr lang="tr-TR" sz="3100" b="1" dirty="0" smtClean="0"/>
          </a:p>
          <a:p>
            <a:pPr lvl="0"/>
            <a:r>
              <a:rPr lang="tr-TR" sz="3100" b="1" dirty="0" err="1" smtClean="0"/>
              <a:t>Sitoplazmik</a:t>
            </a:r>
            <a:r>
              <a:rPr lang="tr-TR" sz="3100" b="1" dirty="0" smtClean="0"/>
              <a:t> granüller</a:t>
            </a:r>
          </a:p>
          <a:p>
            <a:pPr lvl="0"/>
            <a:r>
              <a:rPr lang="tr-TR" sz="3100" b="1" dirty="0" smtClean="0"/>
              <a:t>Sporlar</a:t>
            </a:r>
          </a:p>
          <a:p>
            <a:pPr lvl="0"/>
            <a:r>
              <a:rPr lang="tr-TR" sz="3100" b="1" dirty="0" smtClean="0"/>
              <a:t>Pigment</a:t>
            </a:r>
          </a:p>
          <a:p>
            <a:pPr lvl="0"/>
            <a:r>
              <a:rPr lang="tr-TR" sz="3100" b="1" dirty="0" err="1" smtClean="0"/>
              <a:t>Plazmid</a:t>
            </a:r>
            <a:endParaRPr lang="tr-TR" sz="3100" b="1" dirty="0" smtClean="0"/>
          </a:p>
          <a:p>
            <a:pPr lvl="0"/>
            <a:r>
              <a:rPr lang="tr-TR" sz="3100" b="1" dirty="0" err="1" smtClean="0"/>
              <a:t>Faj</a:t>
            </a:r>
            <a:endParaRPr lang="tr-TR" sz="3100" b="1" dirty="0" smtClean="0"/>
          </a:p>
          <a:p>
            <a:pPr lvl="0"/>
            <a:r>
              <a:rPr lang="tr-TR" sz="3100" b="1" dirty="0" err="1" smtClean="0"/>
              <a:t>Transpozon</a:t>
            </a:r>
            <a:r>
              <a:rPr lang="tr-TR" sz="3100" b="1" dirty="0" smtClean="0"/>
              <a:t>   (Yer değiştirebilen genetik elementler)</a:t>
            </a:r>
          </a:p>
          <a:p>
            <a:pPr lvl="0"/>
            <a:r>
              <a:rPr lang="tr-TR" sz="3100" b="1" dirty="0" smtClean="0"/>
              <a:t>IS elementi    (Yer değiştirebilen genetik elementler)</a:t>
            </a:r>
            <a:r>
              <a:rPr lang="tr-TR" sz="3100" dirty="0" smtClean="0">
                <a:solidFill>
                  <a:srgbClr val="3333FF"/>
                </a:solidFill>
              </a:rPr>
              <a:t>    </a:t>
            </a:r>
            <a:r>
              <a:rPr lang="tr-TR" sz="3100" b="1" dirty="0" err="1" smtClean="0">
                <a:solidFill>
                  <a:srgbClr val="3333FF"/>
                </a:solidFill>
              </a:rPr>
              <a:t>İnsersiyon</a:t>
            </a:r>
            <a:r>
              <a:rPr lang="tr-TR" sz="3100" b="1" dirty="0" smtClean="0">
                <a:solidFill>
                  <a:srgbClr val="3333FF"/>
                </a:solidFill>
              </a:rPr>
              <a:t> sekansları</a:t>
            </a:r>
            <a:r>
              <a:rPr lang="tr-TR" sz="3100" b="1" dirty="0" smtClean="0"/>
              <a:t> 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/>
            </a:r>
            <a:br>
              <a:rPr lang="tr-TR" b="1" dirty="0" smtClean="0">
                <a:solidFill>
                  <a:srgbClr val="FF0000"/>
                </a:solidFill>
              </a:rPr>
            </a:br>
            <a:endParaRPr lang="tr-TR" sz="49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260648"/>
            <a:ext cx="8496944" cy="6336704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	</a:t>
            </a:r>
            <a:r>
              <a:rPr lang="tr-TR" sz="3900" b="1" dirty="0" smtClean="0">
                <a:solidFill>
                  <a:srgbClr val="FF0000"/>
                </a:solidFill>
              </a:rPr>
              <a:t>NUKLEUS (NUKLEOİD)</a:t>
            </a:r>
            <a:endParaRPr lang="tr-TR" sz="3900" b="1" dirty="0" smtClean="0"/>
          </a:p>
          <a:p>
            <a:r>
              <a:rPr lang="tr-TR" b="1" dirty="0" smtClean="0"/>
              <a:t>Bakteri hücresinin çekirdeği yüksek canlılarda olduğu şekilde bir zar ile çevrili değildir</a:t>
            </a:r>
          </a:p>
          <a:p>
            <a:r>
              <a:rPr lang="tr-TR" b="1" dirty="0" smtClean="0"/>
              <a:t>Bu nedenle bakterilerdeki çekirdeğe</a:t>
            </a:r>
            <a:r>
              <a:rPr lang="tr-TR" b="1" dirty="0" smtClean="0">
                <a:solidFill>
                  <a:srgbClr val="FF0000"/>
                </a:solidFill>
              </a:rPr>
              <a:t> NÜKLEOİD </a:t>
            </a:r>
            <a:r>
              <a:rPr lang="tr-TR" b="1" dirty="0" smtClean="0"/>
              <a:t>adı verilmektedir</a:t>
            </a:r>
          </a:p>
          <a:p>
            <a:r>
              <a:rPr lang="tr-TR" b="1" dirty="0" smtClean="0">
                <a:solidFill>
                  <a:srgbClr val="0070C0"/>
                </a:solidFill>
              </a:rPr>
              <a:t>Ayrıca çekirdekçik (</a:t>
            </a:r>
            <a:r>
              <a:rPr lang="tr-TR" b="1" dirty="0" err="1" smtClean="0">
                <a:solidFill>
                  <a:srgbClr val="0070C0"/>
                </a:solidFill>
              </a:rPr>
              <a:t>nükleolus</a:t>
            </a:r>
            <a:r>
              <a:rPr lang="tr-TR" b="1" dirty="0" smtClean="0">
                <a:solidFill>
                  <a:srgbClr val="0070C0"/>
                </a:solidFill>
              </a:rPr>
              <a:t>)de yoktur</a:t>
            </a:r>
          </a:p>
          <a:p>
            <a:r>
              <a:rPr lang="tr-TR" b="1" dirty="0" smtClean="0"/>
              <a:t>Kromozom tipik olarak </a:t>
            </a:r>
            <a:r>
              <a:rPr lang="tr-TR" b="1" dirty="0" smtClean="0">
                <a:solidFill>
                  <a:srgbClr val="FF0000"/>
                </a:solidFill>
              </a:rPr>
              <a:t>sitoplazmada yer alan</a:t>
            </a:r>
            <a:r>
              <a:rPr lang="tr-TR" b="1" dirty="0" smtClean="0"/>
              <a:t>, </a:t>
            </a:r>
            <a:r>
              <a:rPr lang="tr-TR" b="1" dirty="0" err="1" smtClean="0"/>
              <a:t>nükleoit</a:t>
            </a:r>
            <a:r>
              <a:rPr lang="tr-TR" b="1" dirty="0" smtClean="0"/>
              <a:t> olarak adlandırılan düzensiz şekilli bir cismin içinde yer alır</a:t>
            </a:r>
          </a:p>
          <a:p>
            <a:r>
              <a:rPr lang="tr-TR" b="1" dirty="0" err="1" smtClean="0">
                <a:solidFill>
                  <a:srgbClr val="FF0000"/>
                </a:solidFill>
              </a:rPr>
              <a:t>NÜKLEOİD’de</a:t>
            </a:r>
            <a:r>
              <a:rPr lang="tr-TR" b="1" dirty="0" smtClean="0">
                <a:solidFill>
                  <a:srgbClr val="FF0000"/>
                </a:solidFill>
              </a:rPr>
              <a:t> </a:t>
            </a:r>
            <a:r>
              <a:rPr lang="tr-TR" b="1" dirty="0" smtClean="0">
                <a:solidFill>
                  <a:srgbClr val="00B050"/>
                </a:solidFill>
              </a:rPr>
              <a:t>DNA, </a:t>
            </a:r>
            <a:r>
              <a:rPr lang="tr-TR" b="1" dirty="0" smtClean="0"/>
              <a:t>onunla </a:t>
            </a:r>
            <a:r>
              <a:rPr lang="tr-TR" b="1" dirty="0" smtClean="0">
                <a:solidFill>
                  <a:srgbClr val="7030A0"/>
                </a:solidFill>
              </a:rPr>
              <a:t>ilişkili proteinler </a:t>
            </a:r>
            <a:r>
              <a:rPr lang="tr-TR" b="1" dirty="0" smtClean="0"/>
              <a:t>ve </a:t>
            </a:r>
            <a:r>
              <a:rPr lang="tr-TR" b="1" dirty="0" smtClean="0">
                <a:solidFill>
                  <a:srgbClr val="0070C0"/>
                </a:solidFill>
              </a:rPr>
              <a:t>RNA</a:t>
            </a:r>
            <a:r>
              <a:rPr lang="tr-TR" b="1" dirty="0" smtClean="0"/>
              <a:t> bulunur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DNA sentezinde yer alan enzimler ve RNA’da </a:t>
            </a:r>
            <a:r>
              <a:rPr lang="tr-TR" b="1" dirty="0" err="1" smtClean="0">
                <a:solidFill>
                  <a:srgbClr val="FF0000"/>
                </a:solidFill>
              </a:rPr>
              <a:t>sitoplasmada</a:t>
            </a:r>
            <a:r>
              <a:rPr lang="tr-TR" b="1" dirty="0" smtClean="0">
                <a:solidFill>
                  <a:srgbClr val="FF0000"/>
                </a:solidFill>
              </a:rPr>
              <a:t> bulunur</a:t>
            </a:r>
          </a:p>
          <a:p>
            <a:r>
              <a:rPr lang="tr-TR" b="1" dirty="0" smtClean="0">
                <a:solidFill>
                  <a:srgbClr val="7030A0"/>
                </a:solidFill>
              </a:rPr>
              <a:t>GÖRÜNÜM OLARAK; Bakterilerin genetik şekli tipik olarak tek bir dairesel kromozomdan oluşur </a:t>
            </a:r>
          </a:p>
          <a:p>
            <a:pPr>
              <a:buNone/>
            </a:pPr>
            <a:endParaRPr lang="tr-TR" b="1" dirty="0" smtClean="0">
              <a:solidFill>
                <a:srgbClr val="7030A0"/>
              </a:solidFill>
            </a:endParaRPr>
          </a:p>
          <a:p>
            <a:endParaRPr lang="tr-TR" b="1" dirty="0" smtClean="0">
              <a:solidFill>
                <a:srgbClr val="7030A0"/>
              </a:solidFill>
            </a:endParaRPr>
          </a:p>
          <a:p>
            <a:endParaRPr lang="tr-TR" b="1" dirty="0" smtClean="0">
              <a:solidFill>
                <a:srgbClr val="7030A0"/>
              </a:solidFill>
            </a:endParaRPr>
          </a:p>
          <a:p>
            <a:endParaRPr lang="tr-TR" b="1" dirty="0" smtClean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RİBOZOM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b="1" dirty="0" smtClean="0"/>
              <a:t>Ribozomlar, protein sentezleyen </a:t>
            </a:r>
            <a:r>
              <a:rPr lang="tr-TR" b="1" dirty="0" err="1" smtClean="0"/>
              <a:t>organellerdir</a:t>
            </a:r>
            <a:endParaRPr lang="tr-TR" b="1" dirty="0" smtClean="0"/>
          </a:p>
          <a:p>
            <a:r>
              <a:rPr lang="tr-TR" b="1" dirty="0" smtClean="0"/>
              <a:t>Hem </a:t>
            </a:r>
            <a:r>
              <a:rPr lang="tr-TR" b="1" dirty="0" err="1" smtClean="0"/>
              <a:t>ökaryot</a:t>
            </a:r>
            <a:r>
              <a:rPr lang="tr-TR" b="1" dirty="0" smtClean="0"/>
              <a:t> </a:t>
            </a:r>
            <a:r>
              <a:rPr lang="tr-TR" b="1" dirty="0" err="1" smtClean="0"/>
              <a:t>hemde</a:t>
            </a:r>
            <a:r>
              <a:rPr lang="tr-TR" b="1" dirty="0" smtClean="0"/>
              <a:t> </a:t>
            </a:r>
            <a:r>
              <a:rPr lang="tr-TR" b="1" dirty="0" err="1" smtClean="0"/>
              <a:t>prokaryot</a:t>
            </a:r>
            <a:r>
              <a:rPr lang="tr-TR" b="1" dirty="0" smtClean="0"/>
              <a:t> hücrelerde bulunur </a:t>
            </a:r>
          </a:p>
          <a:p>
            <a:r>
              <a:rPr lang="tr-TR" b="1" dirty="0" smtClean="0"/>
              <a:t>Bakteri ribozomu 30S ve 50S alt ünitelerden oluşur ve 70S ribozom meydana getirir </a:t>
            </a:r>
          </a:p>
          <a:p>
            <a:r>
              <a:rPr lang="tr-TR" b="1" dirty="0" err="1" smtClean="0"/>
              <a:t>Ökaryot</a:t>
            </a:r>
            <a:r>
              <a:rPr lang="tr-TR" b="1" dirty="0" smtClean="0"/>
              <a:t> ribozomu ise 80 S (40S+60S) </a:t>
            </a:r>
            <a:r>
              <a:rPr lang="tr-TR" b="1" dirty="0" err="1" smtClean="0"/>
              <a:t>dir</a:t>
            </a:r>
            <a:r>
              <a:rPr lang="tr-TR" b="1" dirty="0" smtClean="0"/>
              <a:t> </a:t>
            </a:r>
          </a:p>
          <a:p>
            <a:r>
              <a:rPr lang="tr-TR" b="1" dirty="0" smtClean="0"/>
              <a:t>Protein ve RNA’dan oluşur </a:t>
            </a:r>
          </a:p>
          <a:p>
            <a:r>
              <a:rPr lang="tr-TR" b="1" dirty="0" smtClean="0"/>
              <a:t>Üremekte olan bakterilerde sayıları fazladır</a:t>
            </a:r>
          </a:p>
          <a:p>
            <a:r>
              <a:rPr lang="tr-TR" b="1" dirty="0" smtClean="0"/>
              <a:t>Protein ve enzim sentezinde görevlidir</a:t>
            </a:r>
          </a:p>
          <a:p>
            <a:pPr>
              <a:buNone/>
            </a:pPr>
            <a:endParaRPr lang="tr-TR" b="1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/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b="1" dirty="0" smtClean="0">
                <a:solidFill>
                  <a:srgbClr val="FF0000"/>
                </a:solidFill>
              </a:rPr>
              <a:t>SİTOPLAZMİK GRANÜLLER</a:t>
            </a:r>
            <a:r>
              <a:rPr lang="tr-TR" b="1" dirty="0" smtClean="0"/>
              <a:t/>
            </a:r>
            <a:br>
              <a:rPr lang="tr-TR" b="1" dirty="0" smtClean="0"/>
            </a:b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Bakterilerde </a:t>
            </a:r>
            <a:r>
              <a:rPr lang="tr-TR" b="1" dirty="0" smtClean="0">
                <a:solidFill>
                  <a:srgbClr val="7030A0"/>
                </a:solidFill>
              </a:rPr>
              <a:t>protein</a:t>
            </a:r>
            <a:r>
              <a:rPr lang="tr-TR" b="1" dirty="0" smtClean="0"/>
              <a:t> ve </a:t>
            </a:r>
            <a:r>
              <a:rPr lang="tr-TR" b="1" dirty="0" err="1" smtClean="0">
                <a:solidFill>
                  <a:srgbClr val="0070C0"/>
                </a:solidFill>
              </a:rPr>
              <a:t>nükleik</a:t>
            </a:r>
            <a:r>
              <a:rPr lang="tr-TR" b="1" dirty="0" smtClean="0">
                <a:solidFill>
                  <a:srgbClr val="0070C0"/>
                </a:solidFill>
              </a:rPr>
              <a:t> asit sentez</a:t>
            </a:r>
            <a:r>
              <a:rPr lang="tr-TR" b="1" dirty="0" smtClean="0"/>
              <a:t>i sırasında </a:t>
            </a:r>
            <a:r>
              <a:rPr lang="tr-TR" b="1" dirty="0" smtClean="0">
                <a:solidFill>
                  <a:srgbClr val="00B050"/>
                </a:solidFill>
              </a:rPr>
              <a:t>karbon kaynağı olarak </a:t>
            </a:r>
            <a:r>
              <a:rPr lang="tr-TR" b="1" dirty="0" smtClean="0"/>
              <a:t>görev alan ve yüksek enerjili fosfat bağları ile enerji depolayan </a:t>
            </a:r>
            <a:r>
              <a:rPr lang="tr-TR" b="1" dirty="0" err="1" smtClean="0"/>
              <a:t>polisakkarit</a:t>
            </a:r>
            <a:r>
              <a:rPr lang="tr-TR" b="1" dirty="0" smtClean="0"/>
              <a:t> ya da lipit yapılardaki granüllerdir</a:t>
            </a:r>
            <a:endParaRPr lang="tr-TR" b="1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sz="4900" b="1" dirty="0" smtClean="0">
                <a:solidFill>
                  <a:srgbClr val="FF0000"/>
                </a:solidFill>
              </a:rPr>
              <a:t>SPOR   ENDOSPOR </a:t>
            </a:r>
            <a:r>
              <a:rPr lang="tr-TR" b="1" dirty="0" smtClean="0">
                <a:solidFill>
                  <a:srgbClr val="FF0000"/>
                </a:solidFill>
              </a:rPr>
              <a:t/>
            </a:r>
            <a:br>
              <a:rPr lang="tr-TR" b="1" dirty="0" smtClean="0">
                <a:solidFill>
                  <a:srgbClr val="FF0000"/>
                </a:solidFill>
              </a:rPr>
            </a:b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tr-TR" b="1" dirty="0" smtClean="0"/>
              <a:t>Bazı bakteriler bulundukları ortamda besin kaynakları azaldığında, çevredeki fiziksel (ısı, kuruluk, don) ve kimyasal (</a:t>
            </a:r>
            <a:r>
              <a:rPr lang="tr-TR" b="1" dirty="0" err="1" smtClean="0"/>
              <a:t>toksik</a:t>
            </a:r>
            <a:r>
              <a:rPr lang="tr-TR" b="1" dirty="0" smtClean="0"/>
              <a:t> maddeler) etkilere karşı kendilerini korumak için dirençli yapılar olan </a:t>
            </a:r>
            <a:r>
              <a:rPr lang="tr-TR" b="1" dirty="0" smtClean="0">
                <a:solidFill>
                  <a:srgbClr val="FF0000"/>
                </a:solidFill>
              </a:rPr>
              <a:t>Spor Formları </a:t>
            </a:r>
            <a:r>
              <a:rPr lang="tr-TR" b="1" dirty="0" smtClean="0"/>
              <a:t>denilen yapıları </a:t>
            </a:r>
            <a:r>
              <a:rPr lang="tr-TR" b="1" dirty="0" smtClean="0">
                <a:solidFill>
                  <a:srgbClr val="FF0000"/>
                </a:solidFill>
              </a:rPr>
              <a:t>(</a:t>
            </a:r>
            <a:r>
              <a:rPr lang="tr-TR" b="1" dirty="0" err="1" smtClean="0">
                <a:solidFill>
                  <a:srgbClr val="FF0000"/>
                </a:solidFill>
              </a:rPr>
              <a:t>endosporları</a:t>
            </a:r>
            <a:r>
              <a:rPr lang="tr-TR" b="1" dirty="0" smtClean="0">
                <a:solidFill>
                  <a:srgbClr val="FF0000"/>
                </a:solidFill>
              </a:rPr>
              <a:t>) </a:t>
            </a:r>
            <a:r>
              <a:rPr lang="tr-TR" b="1" dirty="0" smtClean="0"/>
              <a:t>oluştururlar 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smtClean="0"/>
              <a:t>(Örn; </a:t>
            </a:r>
            <a:r>
              <a:rPr lang="tr-TR" b="1" i="1" dirty="0" smtClean="0"/>
              <a:t>B. </a:t>
            </a:r>
            <a:r>
              <a:rPr lang="tr-TR" b="1" i="1" dirty="0" err="1" smtClean="0"/>
              <a:t>anthracis</a:t>
            </a:r>
            <a:r>
              <a:rPr lang="tr-TR" b="1" i="1" dirty="0" smtClean="0"/>
              <a:t>, B. </a:t>
            </a:r>
            <a:r>
              <a:rPr lang="tr-TR" b="1" i="1" dirty="0" err="1" smtClean="0"/>
              <a:t>Subtilis</a:t>
            </a:r>
            <a:r>
              <a:rPr lang="tr-TR" b="1" i="1" dirty="0" smtClean="0"/>
              <a:t>, C. </a:t>
            </a:r>
            <a:r>
              <a:rPr lang="tr-TR" b="1" i="1" dirty="0" err="1" smtClean="0"/>
              <a:t>tetani</a:t>
            </a:r>
            <a:r>
              <a:rPr lang="tr-TR" b="1" i="1" dirty="0" smtClean="0"/>
              <a:t>, C. </a:t>
            </a:r>
            <a:r>
              <a:rPr lang="tr-TR" b="1" i="1" dirty="0" err="1" smtClean="0"/>
              <a:t>Botulinum</a:t>
            </a:r>
            <a:r>
              <a:rPr lang="tr-TR" b="1" i="1" dirty="0" smtClean="0"/>
              <a:t>)</a:t>
            </a:r>
            <a:endParaRPr lang="tr-TR" b="1" dirty="0" smtClean="0"/>
          </a:p>
          <a:p>
            <a:r>
              <a:rPr lang="tr-TR" dirty="0" smtClean="0">
                <a:solidFill>
                  <a:srgbClr val="0070C0"/>
                </a:solidFill>
              </a:rPr>
              <a:t>Yunanca spora ‘tohum’ anlamına gelen kelimeden köken alır</a:t>
            </a:r>
          </a:p>
          <a:p>
            <a:pPr>
              <a:buNone/>
            </a:pPr>
            <a:endParaRPr lang="tr-TR" b="1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tr-TR" b="1" dirty="0" smtClean="0"/>
              <a:t/>
            </a:r>
            <a:br>
              <a:rPr lang="tr-TR" b="1" dirty="0" smtClean="0"/>
            </a:br>
            <a:endParaRPr lang="tr-TR" sz="49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260648"/>
            <a:ext cx="8496944" cy="6336704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	</a:t>
            </a:r>
            <a:r>
              <a:rPr lang="tr-TR" sz="3600" b="1" dirty="0" smtClean="0">
                <a:solidFill>
                  <a:srgbClr val="FF0000"/>
                </a:solidFill>
              </a:rPr>
              <a:t>SPOR   ENDOSPOR </a:t>
            </a:r>
            <a:endParaRPr lang="tr-TR" sz="3600" b="1" dirty="0" smtClean="0"/>
          </a:p>
          <a:p>
            <a:r>
              <a:rPr lang="tr-TR" b="1" dirty="0" smtClean="0"/>
              <a:t>Spor bakterilerin canlı fakat uykuda olan halidir</a:t>
            </a:r>
            <a:endParaRPr lang="tr-TR" dirty="0" smtClean="0"/>
          </a:p>
          <a:p>
            <a:r>
              <a:rPr lang="tr-TR" b="1" dirty="0" smtClean="0"/>
              <a:t>Sporlar, ısı kuruluk, ultraviyole ışınları,  dezenfektan gibi kimyasal maddelere </a:t>
            </a:r>
            <a:r>
              <a:rPr lang="tr-TR" b="1" dirty="0" err="1" smtClean="0">
                <a:solidFill>
                  <a:srgbClr val="7030A0"/>
                </a:solidFill>
              </a:rPr>
              <a:t>vegetatif</a:t>
            </a:r>
            <a:r>
              <a:rPr lang="tr-TR" b="1" dirty="0" smtClean="0">
                <a:solidFill>
                  <a:srgbClr val="7030A0"/>
                </a:solidFill>
              </a:rPr>
              <a:t> şekilden daha dayanıklıdırlar</a:t>
            </a:r>
          </a:p>
          <a:p>
            <a:r>
              <a:rPr lang="tr-TR" b="1" dirty="0" smtClean="0"/>
              <a:t>Bakteri spor şekline  dönüşerek kendisi için olumsuz koşullardan korunur</a:t>
            </a:r>
          </a:p>
          <a:p>
            <a:r>
              <a:rPr lang="tr-TR" b="1" dirty="0" err="1" smtClean="0"/>
              <a:t>Sporulasyon</a:t>
            </a:r>
            <a:r>
              <a:rPr lang="tr-TR" b="1" dirty="0" smtClean="0"/>
              <a:t> esnasında hücre suyunun büyük  </a:t>
            </a:r>
            <a:r>
              <a:rPr lang="es-ES" b="1" dirty="0" smtClean="0"/>
              <a:t>bölümünü kaybeder (%5-10 su içerir)</a:t>
            </a:r>
            <a:endParaRPr lang="tr-TR" b="1" dirty="0" smtClean="0"/>
          </a:p>
          <a:p>
            <a:r>
              <a:rPr lang="es-ES" b="1" dirty="0" smtClean="0"/>
              <a:t>Su </a:t>
            </a:r>
            <a:r>
              <a:rPr lang="tr-TR" b="1" dirty="0" smtClean="0"/>
              <a:t>oranının az olması sporun yüksek sıcaklığa  dirençli olmasını sağlar</a:t>
            </a:r>
          </a:p>
          <a:p>
            <a:pPr>
              <a:buNone/>
            </a:pPr>
            <a:endParaRPr lang="tr-TR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EKSTRAKROMOZOMAL GENETİK ELEMENTLER 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endParaRPr lang="tr-TR" b="1" dirty="0" smtClean="0"/>
          </a:p>
          <a:p>
            <a:pPr lvl="0"/>
            <a:r>
              <a:rPr lang="tr-TR" b="1" dirty="0" err="1" smtClean="0"/>
              <a:t>Plazmid</a:t>
            </a:r>
            <a:endParaRPr lang="tr-TR" b="1" dirty="0" smtClean="0"/>
          </a:p>
          <a:p>
            <a:pPr lvl="0"/>
            <a:r>
              <a:rPr lang="tr-TR" b="1" dirty="0" err="1" smtClean="0"/>
              <a:t>Faj</a:t>
            </a:r>
            <a:endParaRPr lang="tr-TR" b="1" dirty="0" smtClean="0"/>
          </a:p>
          <a:p>
            <a:pPr lvl="0"/>
            <a:r>
              <a:rPr lang="tr-TR" b="1" dirty="0" err="1" smtClean="0"/>
              <a:t>Transpozon</a:t>
            </a:r>
            <a:r>
              <a:rPr lang="tr-TR" b="1" dirty="0" smtClean="0"/>
              <a:t>   </a:t>
            </a:r>
            <a:r>
              <a:rPr lang="tr-TR" sz="2000" b="1" dirty="0" smtClean="0"/>
              <a:t>(Yer değiştirebilen genetik elementler)</a:t>
            </a:r>
          </a:p>
          <a:p>
            <a:pPr lvl="0"/>
            <a:r>
              <a:rPr lang="tr-TR" b="1" dirty="0" smtClean="0"/>
              <a:t>IS elementi    </a:t>
            </a:r>
            <a:r>
              <a:rPr lang="tr-TR" sz="2000" b="1" dirty="0" smtClean="0"/>
              <a:t>(Yer değiştirebilen genetik elementler)</a:t>
            </a:r>
            <a:r>
              <a:rPr lang="tr-TR" sz="2000" dirty="0" smtClean="0">
                <a:solidFill>
                  <a:srgbClr val="3333FF"/>
                </a:solidFill>
              </a:rPr>
              <a:t>             </a:t>
            </a:r>
            <a:r>
              <a:rPr lang="tr-TR" sz="2800" b="1" dirty="0" err="1" smtClean="0">
                <a:solidFill>
                  <a:srgbClr val="3333FF"/>
                </a:solidFill>
              </a:rPr>
              <a:t>İnsersiyon</a:t>
            </a:r>
            <a:r>
              <a:rPr lang="tr-TR" sz="2800" b="1" dirty="0" smtClean="0">
                <a:solidFill>
                  <a:srgbClr val="3333FF"/>
                </a:solidFill>
              </a:rPr>
              <a:t> sekansları</a:t>
            </a:r>
            <a:r>
              <a:rPr lang="tr-TR" sz="2800" b="1" dirty="0" smtClean="0"/>
              <a:t> </a:t>
            </a:r>
          </a:p>
          <a:p>
            <a:pPr>
              <a:buNone/>
            </a:pPr>
            <a:endParaRPr lang="tr-TR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PLAZMİDLER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tr-TR" b="1" dirty="0" smtClean="0"/>
              <a:t>Bakteri kromozomundan bağımsız olarak bulunan, çoğalabilen, çembersel, yapısı bakteri kromozomunun %1-2 si kadar olan, </a:t>
            </a:r>
            <a:r>
              <a:rPr lang="tr-TR" b="1" dirty="0" err="1" smtClean="0"/>
              <a:t>ekstrakromozomal</a:t>
            </a:r>
            <a:r>
              <a:rPr lang="tr-TR" b="1" dirty="0" smtClean="0"/>
              <a:t> genetik elementlerdir</a:t>
            </a:r>
          </a:p>
          <a:p>
            <a:r>
              <a:rPr lang="tr-TR" b="1" dirty="0" smtClean="0"/>
              <a:t> </a:t>
            </a:r>
            <a:r>
              <a:rPr lang="tr-TR" b="1" dirty="0" smtClean="0">
                <a:solidFill>
                  <a:srgbClr val="7030A0"/>
                </a:solidFill>
              </a:rPr>
              <a:t>Halkasal küçük DNA parçaları  da denilebilir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smtClean="0"/>
              <a:t>Bakteriler arasında aktarılabilirler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smtClean="0"/>
              <a:t>Bakterilere antibiyotik dirençliliği, </a:t>
            </a:r>
            <a:r>
              <a:rPr lang="tr-TR" b="1" dirty="0" err="1" smtClean="0"/>
              <a:t>virulens</a:t>
            </a:r>
            <a:r>
              <a:rPr lang="tr-TR" b="1" dirty="0" smtClean="0"/>
              <a:t> özellikleri, bazı </a:t>
            </a:r>
            <a:r>
              <a:rPr lang="tr-TR" b="1" dirty="0" err="1" smtClean="0"/>
              <a:t>metabolik</a:t>
            </a:r>
            <a:r>
              <a:rPr lang="tr-TR" b="1" dirty="0" smtClean="0"/>
              <a:t> özellikler, toksin üretimi gibi çeşitli fonksiyonları kodlayan genleri taşıyarak diğer bakterilere bu özellikleri aktarabilir</a:t>
            </a:r>
          </a:p>
        </p:txBody>
      </p:sp>
      <p:pic>
        <p:nvPicPr>
          <p:cNvPr id="4" name="Picture 3" descr="C:\Users\user\Desktop\unnam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4208" y="188640"/>
            <a:ext cx="2412759" cy="138008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user\Desktop\bacterial_dna_oversize20161104-16695-1aveeiq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476672"/>
            <a:ext cx="8064500" cy="59769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TRANSPOZONLAR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Bakteri kromozomunda ve/veya </a:t>
            </a:r>
            <a:r>
              <a:rPr lang="tr-TR" b="1" dirty="0" err="1" smtClean="0"/>
              <a:t>plasmit’inde</a:t>
            </a:r>
            <a:r>
              <a:rPr lang="tr-TR" b="1" dirty="0" smtClean="0"/>
              <a:t> bulunan, yer değiştirebilen kısa DNA sekanslarıdır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smtClean="0"/>
              <a:t>Bakterilerin antibiyotik direnç özelliği kazanmasında rol oynarlar</a:t>
            </a:r>
            <a:endParaRPr lang="tr-TR" b="1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95536" y="332656"/>
            <a:ext cx="8424936" cy="6264696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	</a:t>
            </a:r>
            <a:r>
              <a:rPr lang="tr-TR" sz="3600" b="1" dirty="0" smtClean="0">
                <a:solidFill>
                  <a:srgbClr val="FF0000"/>
                </a:solidFill>
              </a:rPr>
              <a:t>	SİTOPLASMA</a:t>
            </a:r>
            <a:endParaRPr lang="tr-TR" sz="3600" b="1" dirty="0" smtClean="0">
              <a:solidFill>
                <a:srgbClr val="7030A0"/>
              </a:solidFill>
            </a:endParaRPr>
          </a:p>
          <a:p>
            <a:r>
              <a:rPr lang="tr-TR" sz="2800" b="1" dirty="0" smtClean="0">
                <a:solidFill>
                  <a:srgbClr val="7030A0"/>
                </a:solidFill>
              </a:rPr>
              <a:t>Sitoplazma,</a:t>
            </a:r>
            <a:r>
              <a:rPr lang="tr-TR" sz="2800" b="1" dirty="0" smtClean="0"/>
              <a:t> </a:t>
            </a:r>
            <a:r>
              <a:rPr lang="tr-TR" sz="2800" b="1" dirty="0" smtClean="0">
                <a:solidFill>
                  <a:schemeClr val="accent6">
                    <a:lumMod val="50000"/>
                  </a:schemeClr>
                </a:solidFill>
              </a:rPr>
              <a:t>hücre zarfı ile çevrelenmiş, DNA, </a:t>
            </a:r>
            <a:r>
              <a:rPr lang="tr-TR" sz="2800" b="1" dirty="0" err="1" smtClean="0">
                <a:solidFill>
                  <a:schemeClr val="accent6">
                    <a:lumMod val="50000"/>
                  </a:schemeClr>
                </a:solidFill>
              </a:rPr>
              <a:t>mRNA</a:t>
            </a:r>
            <a:r>
              <a:rPr lang="tr-TR" sz="2800" b="1" dirty="0" smtClean="0">
                <a:solidFill>
                  <a:schemeClr val="accent6">
                    <a:lumMod val="50000"/>
                  </a:schemeClr>
                </a:solidFill>
              </a:rPr>
              <a:t>, ribozomlar, </a:t>
            </a:r>
            <a:r>
              <a:rPr lang="tr-TR" sz="2800" b="1" dirty="0" err="1" smtClean="0">
                <a:solidFill>
                  <a:schemeClr val="accent6">
                    <a:lumMod val="50000"/>
                  </a:schemeClr>
                </a:solidFill>
              </a:rPr>
              <a:t>metabolitler</a:t>
            </a:r>
            <a:r>
              <a:rPr lang="tr-TR" sz="2800" b="1" dirty="0" smtClean="0">
                <a:solidFill>
                  <a:schemeClr val="accent6">
                    <a:lumMod val="50000"/>
                  </a:schemeClr>
                </a:solidFill>
              </a:rPr>
              <a:t>, enzimler, iyonlar, </a:t>
            </a:r>
            <a:r>
              <a:rPr lang="tr-TR" sz="2800" b="1" dirty="0" err="1" smtClean="0">
                <a:solidFill>
                  <a:schemeClr val="accent6">
                    <a:lumMod val="50000"/>
                  </a:schemeClr>
                </a:solidFill>
              </a:rPr>
              <a:t>plazmidler</a:t>
            </a:r>
            <a:r>
              <a:rPr lang="tr-TR" sz="2800" b="1" dirty="0" smtClean="0">
                <a:solidFill>
                  <a:schemeClr val="accent6">
                    <a:lumMod val="50000"/>
                  </a:schemeClr>
                </a:solidFill>
              </a:rPr>
              <a:t> ve depolanmış granülleri içeren amorf ve sulu bir sıvıdır</a:t>
            </a:r>
            <a:endParaRPr lang="tr-TR" sz="2800" b="1" dirty="0" smtClean="0"/>
          </a:p>
          <a:p>
            <a:r>
              <a:rPr lang="tr-TR" sz="2800" b="1" dirty="0" err="1" smtClean="0"/>
              <a:t>Sitoplasma</a:t>
            </a:r>
            <a:r>
              <a:rPr lang="tr-TR" sz="2800" b="1" dirty="0" smtClean="0"/>
              <a:t>  Yüksek </a:t>
            </a:r>
            <a:r>
              <a:rPr lang="tr-TR" sz="2800" b="1" dirty="0" err="1" smtClean="0"/>
              <a:t>osmatik</a:t>
            </a:r>
            <a:r>
              <a:rPr lang="tr-TR" sz="2800" b="1" dirty="0" smtClean="0"/>
              <a:t> basınca sahiptir</a:t>
            </a:r>
            <a:endParaRPr lang="tr-TR" sz="2800" b="1" dirty="0" smtClean="0">
              <a:solidFill>
                <a:srgbClr val="7030A0"/>
              </a:solidFill>
            </a:endParaRPr>
          </a:p>
          <a:p>
            <a:r>
              <a:rPr lang="tr-TR" sz="2800" b="1" dirty="0" smtClean="0"/>
              <a:t>Ribozom var</a:t>
            </a:r>
          </a:p>
          <a:p>
            <a:r>
              <a:rPr lang="tr-TR" sz="2800" b="1" dirty="0" err="1" smtClean="0"/>
              <a:t>Endoplasmik</a:t>
            </a:r>
            <a:r>
              <a:rPr lang="tr-TR" sz="2800" b="1" dirty="0" smtClean="0"/>
              <a:t> </a:t>
            </a:r>
            <a:r>
              <a:rPr lang="tr-TR" sz="2800" b="1" dirty="0" err="1" smtClean="0"/>
              <a:t>Retikulum</a:t>
            </a:r>
            <a:r>
              <a:rPr lang="tr-TR" sz="2800" b="1" dirty="0" smtClean="0"/>
              <a:t> yok</a:t>
            </a:r>
          </a:p>
          <a:p>
            <a:r>
              <a:rPr lang="tr-TR" sz="2800" b="1" dirty="0" err="1" smtClean="0"/>
              <a:t>Golgi</a:t>
            </a:r>
            <a:r>
              <a:rPr lang="tr-TR" sz="2800" b="1" dirty="0" smtClean="0"/>
              <a:t> aygıtı yok</a:t>
            </a:r>
          </a:p>
          <a:p>
            <a:r>
              <a:rPr lang="tr-TR" sz="2800" b="1" dirty="0" smtClean="0"/>
              <a:t>Mitokondri yok</a:t>
            </a:r>
          </a:p>
          <a:p>
            <a:r>
              <a:rPr lang="tr-TR" sz="2800" b="1" dirty="0" err="1" smtClean="0"/>
              <a:t>Vakuol</a:t>
            </a:r>
            <a:r>
              <a:rPr lang="tr-TR" sz="2800" b="1" dirty="0" smtClean="0"/>
              <a:t> yok</a:t>
            </a:r>
          </a:p>
          <a:p>
            <a:r>
              <a:rPr lang="tr-TR" sz="2800" b="1" dirty="0" smtClean="0">
                <a:solidFill>
                  <a:srgbClr val="7030A0"/>
                </a:solidFill>
              </a:rPr>
              <a:t>Bakteri sit. da </a:t>
            </a:r>
            <a:r>
              <a:rPr lang="tr-TR" sz="2800" b="1" dirty="0" err="1" smtClean="0">
                <a:solidFill>
                  <a:srgbClr val="7030A0"/>
                </a:solidFill>
              </a:rPr>
              <a:t>İnklüzyon</a:t>
            </a:r>
            <a:r>
              <a:rPr lang="tr-TR" sz="2800" b="1" dirty="0" smtClean="0">
                <a:solidFill>
                  <a:srgbClr val="7030A0"/>
                </a:solidFill>
              </a:rPr>
              <a:t> cisimcikleri vardır</a:t>
            </a:r>
          </a:p>
          <a:p>
            <a:r>
              <a:rPr lang="tr-TR" sz="2800" b="1" dirty="0" err="1" smtClean="0">
                <a:solidFill>
                  <a:srgbClr val="FF0000"/>
                </a:solidFill>
              </a:rPr>
              <a:t>İnklüzyon</a:t>
            </a:r>
            <a:r>
              <a:rPr lang="tr-TR" sz="2800" b="1" dirty="0" smtClean="0">
                <a:solidFill>
                  <a:srgbClr val="FF0000"/>
                </a:solidFill>
              </a:rPr>
              <a:t>: </a:t>
            </a:r>
            <a:r>
              <a:rPr lang="tr-TR" sz="2800" b="1" dirty="0" smtClean="0">
                <a:solidFill>
                  <a:schemeClr val="accent6">
                    <a:lumMod val="50000"/>
                  </a:schemeClr>
                </a:solidFill>
              </a:rPr>
              <a:t>Sitoplazmada depolanmış besin maddeleri, salgı maddeleri ve pigment granülleri, yağ damlacıkları  gibi cisimler. Etrafı kapsül, zar benzeri bir yapıyla çevrilmiş cansız yapılar</a:t>
            </a:r>
          </a:p>
          <a:p>
            <a:pPr>
              <a:buNone/>
            </a:pPr>
            <a:endParaRPr lang="tr-TR" sz="2800" b="1" dirty="0" smtClean="0">
              <a:solidFill>
                <a:srgbClr val="7030A0"/>
              </a:solidFill>
            </a:endParaRPr>
          </a:p>
          <a:p>
            <a:endParaRPr lang="tr-TR" sz="2800" b="1" dirty="0" smtClean="0"/>
          </a:p>
          <a:p>
            <a:endParaRPr lang="tr-TR" sz="2800" b="1" dirty="0" smtClean="0"/>
          </a:p>
          <a:p>
            <a:endParaRPr lang="tr-TR" sz="28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SİTOPLASMA</a:t>
            </a:r>
            <a:endParaRPr lang="tr-TR" dirty="0"/>
          </a:p>
        </p:txBody>
      </p:sp>
      <p:pic>
        <p:nvPicPr>
          <p:cNvPr id="2050" name="Picture 2" descr="C:\Users\Pc\Desktop\images4E48Z4BV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412776"/>
            <a:ext cx="8215312" cy="50133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tr-TR" sz="3600" b="1" dirty="0" smtClean="0">
                <a:solidFill>
                  <a:srgbClr val="FF0000"/>
                </a:solidFill>
              </a:rPr>
              <a:t>MİKROORGANİZMALARIN ÜREMESİ İÇİN GEREKLİ MADDELER</a:t>
            </a:r>
            <a:endParaRPr lang="tr-TR" sz="36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b="1" dirty="0" smtClean="0"/>
              <a:t>Su</a:t>
            </a:r>
          </a:p>
          <a:p>
            <a:r>
              <a:rPr lang="tr-TR" b="1" dirty="0" smtClean="0"/>
              <a:t>Karbon kaynağı</a:t>
            </a:r>
          </a:p>
          <a:p>
            <a:r>
              <a:rPr lang="tr-TR" b="1" dirty="0" smtClean="0"/>
              <a:t>Azot</a:t>
            </a:r>
          </a:p>
          <a:p>
            <a:r>
              <a:rPr lang="tr-TR" b="1" dirty="0" smtClean="0"/>
              <a:t>Mineraller</a:t>
            </a:r>
          </a:p>
          <a:p>
            <a:r>
              <a:rPr lang="tr-TR" b="1" dirty="0" smtClean="0"/>
              <a:t>Üreme faktörler ve vitaminler</a:t>
            </a:r>
          </a:p>
          <a:p>
            <a:r>
              <a:rPr lang="tr-TR" b="1" dirty="0" smtClean="0"/>
              <a:t>Hidrojen alıcı ve verici maddeler</a:t>
            </a:r>
          </a:p>
          <a:p>
            <a:r>
              <a:rPr lang="tr-TR" b="1" dirty="0" smtClean="0"/>
              <a:t>CO₂</a:t>
            </a:r>
          </a:p>
          <a:p>
            <a:r>
              <a:rPr lang="tr-TR" b="1" dirty="0" smtClean="0"/>
              <a:t>O₂</a:t>
            </a:r>
          </a:p>
          <a:p>
            <a:endParaRPr lang="tr-TR" dirty="0" smtClean="0"/>
          </a:p>
          <a:p>
            <a:endParaRPr lang="tr-TR" dirty="0" smtClean="0"/>
          </a:p>
          <a:p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tr-TR" sz="3600" b="1" dirty="0" smtClean="0">
                <a:solidFill>
                  <a:srgbClr val="FF0000"/>
                </a:solidFill>
              </a:rPr>
              <a:t>MİKROORGANİZMALARIN ÜREMESİNE ETKİ EDEN ÇEVRESEL FAKTÖRLER</a:t>
            </a:r>
            <a:endParaRPr lang="tr-TR" sz="36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tr-TR" b="1" dirty="0" smtClean="0"/>
          </a:p>
          <a:p>
            <a:r>
              <a:rPr lang="tr-TR" b="1" dirty="0" smtClean="0"/>
              <a:t>Isı</a:t>
            </a:r>
          </a:p>
          <a:p>
            <a:r>
              <a:rPr lang="tr-TR" b="1" dirty="0" err="1" smtClean="0"/>
              <a:t>Oksidasyon</a:t>
            </a:r>
            <a:r>
              <a:rPr lang="tr-TR" b="1" dirty="0" smtClean="0"/>
              <a:t>,redüksiyon potansiyeli</a:t>
            </a:r>
          </a:p>
          <a:p>
            <a:r>
              <a:rPr lang="tr-TR" b="1" dirty="0" err="1" smtClean="0"/>
              <a:t>Osmotik</a:t>
            </a:r>
            <a:r>
              <a:rPr lang="tr-TR" b="1" dirty="0" smtClean="0"/>
              <a:t> basınç</a:t>
            </a:r>
          </a:p>
          <a:p>
            <a:r>
              <a:rPr lang="tr-TR" b="1" dirty="0" smtClean="0"/>
              <a:t>Hidrojen iyonları</a:t>
            </a:r>
          </a:p>
          <a:p>
            <a:r>
              <a:rPr lang="tr-TR" b="1" dirty="0" err="1" smtClean="0"/>
              <a:t>pH</a:t>
            </a:r>
            <a:endParaRPr lang="tr-TR" b="1" dirty="0" smtClean="0"/>
          </a:p>
          <a:p>
            <a:endParaRPr lang="tr-TR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tr-TR" sz="3600" b="1" dirty="0" smtClean="0">
                <a:solidFill>
                  <a:srgbClr val="FF0000"/>
                </a:solidFill>
              </a:rPr>
              <a:t>MİKROORGANİZMALARIN ÜREMESİNE ETKİ EDEN KİMYASAL FAKTÖRLER</a:t>
            </a:r>
            <a:endParaRPr lang="tr-TR" sz="36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tr-TR" dirty="0" smtClean="0"/>
          </a:p>
          <a:p>
            <a:r>
              <a:rPr lang="tr-TR" b="1" dirty="0" smtClean="0"/>
              <a:t>Su</a:t>
            </a:r>
          </a:p>
          <a:p>
            <a:r>
              <a:rPr lang="tr-TR" b="1" dirty="0" smtClean="0"/>
              <a:t>Karbon kaynakları</a:t>
            </a:r>
          </a:p>
          <a:p>
            <a:r>
              <a:rPr lang="tr-TR" b="1" dirty="0" smtClean="0"/>
              <a:t>Nitrojen kaynakları</a:t>
            </a:r>
          </a:p>
          <a:p>
            <a:r>
              <a:rPr lang="tr-TR" b="1" dirty="0" smtClean="0"/>
              <a:t>Mineraller</a:t>
            </a:r>
          </a:p>
          <a:p>
            <a:r>
              <a:rPr lang="tr-TR" b="1" dirty="0" smtClean="0"/>
              <a:t>Oksijen</a:t>
            </a:r>
          </a:p>
          <a:p>
            <a:r>
              <a:rPr lang="tr-TR" b="1" dirty="0" smtClean="0"/>
              <a:t>Organik üretme faktörleri</a:t>
            </a:r>
            <a:endParaRPr lang="tr-TR" b="1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BAKTERİLERİN KİMYASAL YAPILARI 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tr-TR" dirty="0" smtClean="0"/>
              <a:t>		</a:t>
            </a:r>
            <a:r>
              <a:rPr lang="tr-TR" sz="3600" b="1" dirty="0" smtClean="0">
                <a:solidFill>
                  <a:srgbClr val="0070C0"/>
                </a:solidFill>
              </a:rPr>
              <a:t>İNORGANİK MADDELER </a:t>
            </a:r>
          </a:p>
          <a:p>
            <a:r>
              <a:rPr lang="es-ES" b="1" dirty="0" smtClean="0"/>
              <a:t>Su- vegetatif </a:t>
            </a:r>
            <a:r>
              <a:rPr lang="tr-TR" b="1" dirty="0" smtClean="0"/>
              <a:t> </a:t>
            </a:r>
            <a:r>
              <a:rPr lang="es-ES" b="1" dirty="0" smtClean="0"/>
              <a:t>%70- 90, </a:t>
            </a:r>
            <a:r>
              <a:rPr lang="tr-TR" b="1" dirty="0" smtClean="0"/>
              <a:t> </a:t>
            </a:r>
            <a:r>
              <a:rPr lang="es-ES" b="1" dirty="0" smtClean="0"/>
              <a:t>spor %5- 20 </a:t>
            </a:r>
          </a:p>
          <a:p>
            <a:r>
              <a:rPr lang="pt-BR" b="1" dirty="0" smtClean="0"/>
              <a:t>C, H, O, N</a:t>
            </a:r>
          </a:p>
          <a:p>
            <a:r>
              <a:rPr lang="pl-PL" b="1" dirty="0" smtClean="0"/>
              <a:t>Ca, P, K, Na, Mg, Mn, Fe, Co </a:t>
            </a:r>
          </a:p>
          <a:p>
            <a:r>
              <a:rPr lang="tr-TR" b="1" dirty="0" err="1" smtClean="0"/>
              <a:t>Cu</a:t>
            </a:r>
            <a:r>
              <a:rPr lang="tr-TR" b="1" dirty="0" smtClean="0"/>
              <a:t>, Al, </a:t>
            </a:r>
            <a:r>
              <a:rPr lang="tr-TR" b="1" dirty="0" err="1" smtClean="0"/>
              <a:t>Zn</a:t>
            </a:r>
            <a:r>
              <a:rPr lang="tr-TR" b="1" dirty="0" smtClean="0"/>
              <a:t>, </a:t>
            </a:r>
            <a:r>
              <a:rPr lang="tr-TR" b="1" dirty="0" err="1" smtClean="0"/>
              <a:t>Mo</a:t>
            </a:r>
            <a:r>
              <a:rPr lang="tr-TR" b="1" dirty="0" smtClean="0"/>
              <a:t> </a:t>
            </a:r>
          </a:p>
          <a:p>
            <a:pPr>
              <a:buNone/>
            </a:pPr>
            <a:r>
              <a:rPr lang="tr-TR" b="1" dirty="0" smtClean="0"/>
              <a:t>		</a:t>
            </a:r>
          </a:p>
          <a:p>
            <a:pPr>
              <a:buNone/>
            </a:pPr>
            <a:r>
              <a:rPr lang="tr-TR" b="1" dirty="0" smtClean="0">
                <a:solidFill>
                  <a:srgbClr val="0070C0"/>
                </a:solidFill>
              </a:rPr>
              <a:t>		</a:t>
            </a:r>
            <a:r>
              <a:rPr lang="tr-TR" sz="3600" b="1" dirty="0" smtClean="0">
                <a:solidFill>
                  <a:srgbClr val="0070C0"/>
                </a:solidFill>
              </a:rPr>
              <a:t>ORGANİK MADDELER </a:t>
            </a:r>
          </a:p>
          <a:p>
            <a:r>
              <a:rPr lang="tr-TR" b="1" dirty="0" smtClean="0"/>
              <a:t>Protein </a:t>
            </a:r>
          </a:p>
          <a:p>
            <a:r>
              <a:rPr lang="tr-TR" b="1" dirty="0" err="1" smtClean="0"/>
              <a:t>Karbohidrat</a:t>
            </a:r>
            <a:r>
              <a:rPr lang="tr-TR" b="1" dirty="0" smtClean="0"/>
              <a:t> </a:t>
            </a:r>
          </a:p>
          <a:p>
            <a:r>
              <a:rPr lang="tr-TR" b="1" dirty="0" err="1" smtClean="0"/>
              <a:t>Lipid</a:t>
            </a:r>
            <a:r>
              <a:rPr lang="tr-TR" b="1" dirty="0" smtClean="0"/>
              <a:t> </a:t>
            </a:r>
          </a:p>
          <a:p>
            <a:r>
              <a:rPr lang="tr-TR" b="1" dirty="0" smtClean="0"/>
              <a:t>NA </a:t>
            </a:r>
            <a:endParaRPr lang="tr-TR" dirty="0" smtClean="0"/>
          </a:p>
          <a:p>
            <a:pPr lvl="0">
              <a:buNone/>
            </a:pPr>
            <a:endParaRPr lang="tr-TR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8645_gul_suyu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692696"/>
            <a:ext cx="7239000" cy="54340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2885</TotalTime>
  <Words>1320</Words>
  <Application>Microsoft Office PowerPoint</Application>
  <PresentationFormat>Ekran Gösterisi (4:3)</PresentationFormat>
  <Paragraphs>475</Paragraphs>
  <Slides>111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111</vt:i4>
      </vt:variant>
    </vt:vector>
  </HeadingPairs>
  <TitlesOfParts>
    <vt:vector size="112" baseType="lpstr">
      <vt:lpstr>Ofis Teması</vt:lpstr>
      <vt:lpstr>Slayt 1</vt:lpstr>
      <vt:lpstr>Slayt 2</vt:lpstr>
      <vt:lpstr> BAKTERİLER  </vt:lpstr>
      <vt:lpstr>Slayt 4</vt:lpstr>
      <vt:lpstr>Slayt 5</vt:lpstr>
      <vt:lpstr> BAKTERİLERİN ANATOMİK YAPILARI </vt:lpstr>
      <vt:lpstr>  </vt:lpstr>
      <vt:lpstr>DIŞ  YAPILAR</vt:lpstr>
      <vt:lpstr>Slayt 9</vt:lpstr>
      <vt:lpstr>HÜCRE DUVARININ FONKSİYONLARI</vt:lpstr>
      <vt:lpstr> HÜCRE DUVARI </vt:lpstr>
      <vt:lpstr> HÜCRE DUVARI </vt:lpstr>
      <vt:lpstr>Slayt 13</vt:lpstr>
      <vt:lpstr> NEDEN BU HÜCRELER FARKLI RENKLERDE BOYANMIŞLAR?  </vt:lpstr>
      <vt:lpstr>Slayt 15</vt:lpstr>
      <vt:lpstr>Slayt 16</vt:lpstr>
      <vt:lpstr>HÜCRE DUVARI</vt:lpstr>
      <vt:lpstr>HÜCRE DUVARI GÖREVLERİ NELERDİR</vt:lpstr>
      <vt:lpstr>HÜCRE DUVARI GÖREVLERİ NELERDİR</vt:lpstr>
      <vt:lpstr>HÜCRE DUVARI GÖREVLERİ NELERDİR</vt:lpstr>
      <vt:lpstr>HÜCRE DUVARI  Reseptör bölgelerini bulundurur</vt:lpstr>
      <vt:lpstr>Slayt 22</vt:lpstr>
      <vt:lpstr>OSMOTİK BASINÇ NEDİR?</vt:lpstr>
      <vt:lpstr>   </vt:lpstr>
      <vt:lpstr>Slayt 25</vt:lpstr>
      <vt:lpstr>Slayt 26</vt:lpstr>
      <vt:lpstr>Slayt 27</vt:lpstr>
      <vt:lpstr> GRAM POZİTİFLİK VE NEGATİFLİĞİN OLUŞMASINDA ROLÜ FAZLA   (PEPTİDOGLİKAN  YAPI….) </vt:lpstr>
      <vt:lpstr>Slayt 29</vt:lpstr>
      <vt:lpstr>Slayt 30</vt:lpstr>
      <vt:lpstr>Slayt 31</vt:lpstr>
      <vt:lpstr>Slayt 32</vt:lpstr>
      <vt:lpstr>Slayt 33</vt:lpstr>
      <vt:lpstr>Slayt 34</vt:lpstr>
      <vt:lpstr>GRAM POZİTİF HÜCRE DUVAR YAPISI Yüzey Proteinleri</vt:lpstr>
      <vt:lpstr>Slayt 36</vt:lpstr>
      <vt:lpstr>  YÜZEY PROTEİNLERİNİN SAYISI VE TİPİ BAKTERİ TÜRÜNE VE SUŞUNA BAĞLI OLARAK DEĞİŞİM GÖSTERİR </vt:lpstr>
      <vt:lpstr>GRAM POZİTİF BAKTERİ HÜCRE DUVARI</vt:lpstr>
      <vt:lpstr>Slayt 39</vt:lpstr>
      <vt:lpstr>Slayt 40</vt:lpstr>
      <vt:lpstr>Slayt 41</vt:lpstr>
      <vt:lpstr> PEPTİDOGLİKAN TABAKA </vt:lpstr>
      <vt:lpstr>Slayt 43</vt:lpstr>
      <vt:lpstr>Slayt 44</vt:lpstr>
      <vt:lpstr>DIŞ MEMRAN=DIŞ ZAR</vt:lpstr>
      <vt:lpstr>Slayt 46</vt:lpstr>
      <vt:lpstr>Slayt 47</vt:lpstr>
      <vt:lpstr>ÖNEMLİ  LPS’nin lipid-A  kısmı </vt:lpstr>
      <vt:lpstr>Slayt 49</vt:lpstr>
      <vt:lpstr>Slayt 50</vt:lpstr>
      <vt:lpstr>Slayt 51</vt:lpstr>
      <vt:lpstr>PORİN PROTEİNLER</vt:lpstr>
      <vt:lpstr> </vt:lpstr>
      <vt:lpstr>GRAM NEGATİF HÜCRE DUVARI</vt:lpstr>
      <vt:lpstr>LİPOPOLİSAKKARİD’İN FİZYOLOJİK ETKİLERİ</vt:lpstr>
      <vt:lpstr>Slayt 56</vt:lpstr>
      <vt:lpstr>Gram pozitif ve negatif bakterilerin hücre duvarı farkları..</vt:lpstr>
      <vt:lpstr>Slayt 58</vt:lpstr>
      <vt:lpstr>Slayt 59</vt:lpstr>
      <vt:lpstr>Slayt 60</vt:lpstr>
      <vt:lpstr>Slayt 61</vt:lpstr>
      <vt:lpstr>Slayt 62</vt:lpstr>
      <vt:lpstr>KAPSÜL</vt:lpstr>
      <vt:lpstr>KAPSÜL</vt:lpstr>
      <vt:lpstr> BAKTERİLERİN ANATOMİK YAPILARI </vt:lpstr>
      <vt:lpstr>Slayt 66</vt:lpstr>
      <vt:lpstr>Slayt 67</vt:lpstr>
      <vt:lpstr> FLAGELLA (KİRPİKLER) </vt:lpstr>
      <vt:lpstr>Slayt 69</vt:lpstr>
      <vt:lpstr>Slayt 70</vt:lpstr>
      <vt:lpstr>Slayt 71</vt:lpstr>
      <vt:lpstr> FİMBRİA   (PİLUSLAR, MİKROFİBRİLLER) </vt:lpstr>
      <vt:lpstr> FİMBRİA   (PİLUSLAR, MİKROFİBRİLLER) </vt:lpstr>
      <vt:lpstr> FİMBRİA   (PİLUSLAR, MİKROFİBRİLLER) </vt:lpstr>
      <vt:lpstr>Slayt 75</vt:lpstr>
      <vt:lpstr>Slayt 76</vt:lpstr>
      <vt:lpstr>Slayt 77</vt:lpstr>
      <vt:lpstr>Slayt 78</vt:lpstr>
      <vt:lpstr>Slayt 79</vt:lpstr>
      <vt:lpstr> BAKTERİLERİN ANATOMİK YAPILARI </vt:lpstr>
      <vt:lpstr> SİTOPLASMİK MEMBRAN = HÜCRE ZARI (SİTOPLAZMİK ZAR) </vt:lpstr>
      <vt:lpstr>SİTOPLASMİK MEMBRAN = HÜCRE ZARI (SİTOPLAZMİK ZAR)</vt:lpstr>
      <vt:lpstr>SİTOPLASMİK MEMBRAN = HÜCRE ZARI (SİTOPLAZMİK ZAR)</vt:lpstr>
      <vt:lpstr>SİTOPLASMİK MEMBRAN = HÜCRE ZARI (SİTOPLAZMİK ZAR)  ilk defa gösterilmiş</vt:lpstr>
      <vt:lpstr>Hidrofilik Bölge=Suya bağlanma Hidrofobik Bölge= Sudan kaçma </vt:lpstr>
      <vt:lpstr>Slayt 86</vt:lpstr>
      <vt:lpstr>SİTOPLASMİK MEMBRAN = HÜCRE ZARI (SİTOPLAZMİK ZAR)</vt:lpstr>
      <vt:lpstr>       AKTİF TRANSPORT    PASİF TRANSPORT  </vt:lpstr>
      <vt:lpstr>BAKTERİLERDE SİTOPLAZMA ZARI BU GÖREVLERİ NEDEN ÜSTLENMİŞTİR….????</vt:lpstr>
      <vt:lpstr>Slayt 90</vt:lpstr>
      <vt:lpstr> (SİTOPLAZMİK ZAR) BİR ÇOK ENZİM BULUNUR  </vt:lpstr>
      <vt:lpstr>MEZOZOM NEDİR?</vt:lpstr>
      <vt:lpstr> İKİ ÇEŞİT MEZOZOM TANIMLANMIŞTIR </vt:lpstr>
      <vt:lpstr>Slayt 94</vt:lpstr>
      <vt:lpstr> BAKTERİLERİN ANATOMİK YAPILARI </vt:lpstr>
      <vt:lpstr> </vt:lpstr>
      <vt:lpstr>RİBOZOM</vt:lpstr>
      <vt:lpstr> SİTOPLAZMİK GRANÜLLER </vt:lpstr>
      <vt:lpstr> SPOR   ENDOSPOR  </vt:lpstr>
      <vt:lpstr> </vt:lpstr>
      <vt:lpstr>EKSTRAKROMOZOMAL GENETİK ELEMENTLER </vt:lpstr>
      <vt:lpstr>PLAZMİDLER</vt:lpstr>
      <vt:lpstr>Slayt 103</vt:lpstr>
      <vt:lpstr>TRANSPOZONLAR</vt:lpstr>
      <vt:lpstr>Slayt 105</vt:lpstr>
      <vt:lpstr>SİTOPLASMA</vt:lpstr>
      <vt:lpstr>MİKROORGANİZMALARIN ÜREMESİ İÇİN GEREKLİ MADDELER</vt:lpstr>
      <vt:lpstr>MİKROORGANİZMALARIN ÜREMESİNE ETKİ EDEN ÇEVRESEL FAKTÖRLER</vt:lpstr>
      <vt:lpstr>MİKROORGANİZMALARIN ÜREMESİNE ETKİ EDEN KİMYASAL FAKTÖRLER</vt:lpstr>
      <vt:lpstr>BAKTERİLERİN KİMYASAL YAPILARI </vt:lpstr>
      <vt:lpstr>Slayt 111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Slayt 1</dc:title>
  <dc:creator>user</dc:creator>
  <cp:lastModifiedBy>tijen</cp:lastModifiedBy>
  <cp:revision>486</cp:revision>
  <dcterms:created xsi:type="dcterms:W3CDTF">2021-10-18T14:55:54Z</dcterms:created>
  <dcterms:modified xsi:type="dcterms:W3CDTF">2025-12-12T09:08:29Z</dcterms:modified>
</cp:coreProperties>
</file>