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Lst>
  <p:sldIdLst>
    <p:sldId id="408" r:id="rId2"/>
    <p:sldId id="410" r:id="rId3"/>
    <p:sldId id="375" r:id="rId4"/>
    <p:sldId id="258" r:id="rId5"/>
    <p:sldId id="371" r:id="rId6"/>
    <p:sldId id="377" r:id="rId7"/>
    <p:sldId id="260" r:id="rId8"/>
    <p:sldId id="374" r:id="rId9"/>
    <p:sldId id="381" r:id="rId10"/>
    <p:sldId id="378" r:id="rId11"/>
    <p:sldId id="383" r:id="rId12"/>
    <p:sldId id="385" r:id="rId13"/>
    <p:sldId id="387" r:id="rId14"/>
    <p:sldId id="389" r:id="rId15"/>
    <p:sldId id="267" r:id="rId16"/>
    <p:sldId id="390" r:id="rId17"/>
    <p:sldId id="268" r:id="rId18"/>
    <p:sldId id="392" r:id="rId19"/>
    <p:sldId id="418" r:id="rId20"/>
    <p:sldId id="402" r:id="rId21"/>
    <p:sldId id="397" r:id="rId22"/>
    <p:sldId id="396" r:id="rId23"/>
    <p:sldId id="399" r:id="rId24"/>
    <p:sldId id="395" r:id="rId25"/>
    <p:sldId id="398" r:id="rId26"/>
    <p:sldId id="314" r:id="rId27"/>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p:scale>
          <a:sx n="66" d="100"/>
          <a:sy n="66" d="100"/>
        </p:scale>
        <p:origin x="-1506" y="-168"/>
      </p:cViewPr>
      <p:guideLst>
        <p:guide orient="horz" pos="2160"/>
        <p:guide pos="2880"/>
      </p:guideLst>
    </p:cSldViewPr>
  </p:slideViewPr>
  <p:outlineViewPr>
    <p:cViewPr>
      <p:scale>
        <a:sx n="33" d="100"/>
        <a:sy n="33" d="100"/>
      </p:scale>
      <p:origin x="258" y="219588"/>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p>
            <a:fld id="{87785DB2-0247-44BE-A0B3-02244B91F592}" type="datetimeFigureOut">
              <a:rPr lang="tr-TR" smtClean="0"/>
              <a:pPr/>
              <a:t>19.08.2026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88ADF33-B874-4910-BB1C-3DB3972E46F9}"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87785DB2-0247-44BE-A0B3-02244B91F592}" type="datetimeFigureOut">
              <a:rPr lang="tr-TR" smtClean="0"/>
              <a:pPr/>
              <a:t>19.08.2026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88ADF33-B874-4910-BB1C-3DB3972E46F9}"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p>
            <a:fld id="{87785DB2-0247-44BE-A0B3-02244B91F592}" type="datetimeFigureOut">
              <a:rPr lang="tr-TR" smtClean="0"/>
              <a:pPr/>
              <a:t>19.08.2026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88ADF33-B874-4910-BB1C-3DB3972E46F9}"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p>
            <a:fld id="{87785DB2-0247-44BE-A0B3-02244B91F592}" type="datetimeFigureOut">
              <a:rPr lang="tr-TR" smtClean="0"/>
              <a:pPr/>
              <a:t>19.08.2026</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88ADF33-B874-4910-BB1C-3DB3972E46F9}"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p>
            <a:fld id="{87785DB2-0247-44BE-A0B3-02244B91F592}" type="datetimeFigureOut">
              <a:rPr lang="tr-TR" smtClean="0"/>
              <a:pPr/>
              <a:t>19.08.2026</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988ADF33-B874-4910-BB1C-3DB3972E46F9}"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fld id="{87785DB2-0247-44BE-A0B3-02244B91F592}" type="datetimeFigureOut">
              <a:rPr lang="tr-TR" smtClean="0"/>
              <a:pPr/>
              <a:t>19.08.2026</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988ADF33-B874-4910-BB1C-3DB3972E46F9}"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87785DB2-0247-44BE-A0B3-02244B91F592}" type="datetimeFigureOut">
              <a:rPr lang="tr-TR" smtClean="0"/>
              <a:pPr/>
              <a:t>19.08.2026</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988ADF33-B874-4910-BB1C-3DB3972E46F9}"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87785DB2-0247-44BE-A0B3-02244B91F592}" type="datetimeFigureOut">
              <a:rPr lang="tr-TR" smtClean="0"/>
              <a:pPr/>
              <a:t>19.08.2026</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88ADF33-B874-4910-BB1C-3DB3972E46F9}"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87785DB2-0247-44BE-A0B3-02244B91F592}" type="datetimeFigureOut">
              <a:rPr lang="tr-TR" smtClean="0"/>
              <a:pPr/>
              <a:t>19.08.2026</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88ADF33-B874-4910-BB1C-3DB3972E46F9}"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87785DB2-0247-44BE-A0B3-02244B91F592}" type="datetimeFigureOut">
              <a:rPr lang="tr-TR" smtClean="0"/>
              <a:pPr/>
              <a:t>19.08.2026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88ADF33-B874-4910-BB1C-3DB3972E46F9}"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87785DB2-0247-44BE-A0B3-02244B91F592}" type="datetimeFigureOut">
              <a:rPr lang="tr-TR" smtClean="0"/>
              <a:pPr/>
              <a:t>19.08.2026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88ADF33-B874-4910-BB1C-3DB3972E46F9}"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785DB2-0247-44BE-A0B3-02244B91F592}" type="datetimeFigureOut">
              <a:rPr lang="tr-TR" smtClean="0"/>
              <a:pPr/>
              <a:t>19.08.2026</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8ADF33-B874-4910-BB1C-3DB3972E46F9}"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MİKROBİYOLOJİ  NEDİR?</a:t>
            </a:r>
            <a:endParaRPr lang="tr-TR" b="1" dirty="0">
              <a:solidFill>
                <a:srgbClr val="FF0000"/>
              </a:solidFill>
            </a:endParaRPr>
          </a:p>
        </p:txBody>
      </p:sp>
      <p:sp>
        <p:nvSpPr>
          <p:cNvPr id="3" name="2 İçerik Yer Tutucusu"/>
          <p:cNvSpPr>
            <a:spLocks noGrp="1"/>
          </p:cNvSpPr>
          <p:nvPr>
            <p:ph idx="1"/>
          </p:nvPr>
        </p:nvSpPr>
        <p:spPr/>
        <p:txBody>
          <a:bodyPr/>
          <a:lstStyle/>
          <a:p>
            <a:r>
              <a:rPr lang="tr-TR" b="1" dirty="0" smtClean="0"/>
              <a:t>Mikroorganizma adı verilen, gözle göremediğimiz bakteri, virüs, mantar ve parazit gibi küçük canlıları inceleyen bilim dalıdır</a:t>
            </a:r>
          </a:p>
          <a:p>
            <a:r>
              <a:rPr lang="tr-TR" b="1" dirty="0" smtClean="0"/>
              <a:t>Mikrobiyoloji, mikroorganizmaların özelliklerini, yüksek canlılarla ve birbirleriyle olan ilişkilerini inceler </a:t>
            </a:r>
          </a:p>
          <a:p>
            <a:endParaRPr lang="tr-TR" dirty="0" smtClean="0"/>
          </a:p>
          <a:p>
            <a:endParaRPr lang="tr-TR" dirty="0" smtClean="0"/>
          </a:p>
          <a:p>
            <a:endParaRPr lang="tr-TR" dirty="0" smtClean="0"/>
          </a:p>
        </p:txBody>
      </p:sp>
      <p:pic>
        <p:nvPicPr>
          <p:cNvPr id="5" name="Picture 3"/>
          <p:cNvPicPr>
            <a:picLocks noChangeAspect="1" noChangeArrowheads="1"/>
          </p:cNvPicPr>
          <p:nvPr/>
        </p:nvPicPr>
        <p:blipFill>
          <a:blip r:embed="rId2" cstate="print"/>
          <a:srcRect/>
          <a:stretch>
            <a:fillRect/>
          </a:stretch>
        </p:blipFill>
        <p:spPr bwMode="auto">
          <a:xfrm>
            <a:off x="5724128" y="4941168"/>
            <a:ext cx="2924175" cy="1562100"/>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
            </a:r>
            <a:br>
              <a:rPr lang="tr-TR" b="1" dirty="0" smtClean="0">
                <a:solidFill>
                  <a:srgbClr val="FF0000"/>
                </a:solidFill>
              </a:rPr>
            </a:br>
            <a:r>
              <a:rPr lang="tr-TR" b="1" dirty="0" smtClean="0">
                <a:solidFill>
                  <a:srgbClr val="FF0000"/>
                </a:solidFill>
              </a:rPr>
              <a:t>PATOJEN MİKROORGANİZMALAR</a:t>
            </a:r>
            <a:br>
              <a:rPr lang="tr-TR" b="1" dirty="0" smtClean="0">
                <a:solidFill>
                  <a:srgbClr val="FF0000"/>
                </a:solidFill>
              </a:rPr>
            </a:br>
            <a:endParaRPr lang="tr-TR" dirty="0">
              <a:solidFill>
                <a:srgbClr val="FF0000"/>
              </a:solidFill>
            </a:endParaRPr>
          </a:p>
        </p:txBody>
      </p:sp>
      <p:sp>
        <p:nvSpPr>
          <p:cNvPr id="3" name="2 İçerik Yer Tutucusu"/>
          <p:cNvSpPr>
            <a:spLocks noGrp="1"/>
          </p:cNvSpPr>
          <p:nvPr>
            <p:ph idx="1"/>
          </p:nvPr>
        </p:nvSpPr>
        <p:spPr/>
        <p:txBody>
          <a:bodyPr/>
          <a:lstStyle/>
          <a:p>
            <a:pPr>
              <a:buNone/>
            </a:pPr>
            <a:endParaRPr lang="tr-TR" dirty="0" smtClean="0"/>
          </a:p>
          <a:p>
            <a:r>
              <a:rPr lang="tr-TR" b="1" dirty="0" smtClean="0"/>
              <a:t>1. Bakteriler </a:t>
            </a:r>
          </a:p>
          <a:p>
            <a:r>
              <a:rPr lang="tr-TR" b="1" dirty="0" smtClean="0"/>
              <a:t>2. Virüsler </a:t>
            </a:r>
          </a:p>
          <a:p>
            <a:r>
              <a:rPr lang="tr-TR" b="1" dirty="0" smtClean="0"/>
              <a:t>3. </a:t>
            </a:r>
            <a:r>
              <a:rPr lang="tr-TR" b="1" dirty="0" err="1" smtClean="0"/>
              <a:t>Protozoanlar</a:t>
            </a:r>
            <a:r>
              <a:rPr lang="tr-TR" b="1" dirty="0" smtClean="0"/>
              <a:t> </a:t>
            </a:r>
          </a:p>
          <a:p>
            <a:r>
              <a:rPr lang="tr-TR" b="1" dirty="0" smtClean="0"/>
              <a:t>4. Mantarlar </a:t>
            </a:r>
          </a:p>
          <a:p>
            <a:r>
              <a:rPr lang="tr-TR" b="1" dirty="0" smtClean="0"/>
              <a:t>5. </a:t>
            </a:r>
            <a:r>
              <a:rPr lang="tr-TR" b="1" dirty="0" err="1" smtClean="0"/>
              <a:t>Helmintler</a:t>
            </a:r>
            <a:r>
              <a:rPr lang="tr-TR" b="1" dirty="0" smtClean="0"/>
              <a:t> </a:t>
            </a:r>
          </a:p>
          <a:p>
            <a:pPr>
              <a:buNone/>
            </a:pPr>
            <a:endParaRPr lang="tr-TR"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95536" y="404664"/>
            <a:ext cx="8424936" cy="5904656"/>
          </a:xfrm>
        </p:spPr>
        <p:txBody>
          <a:bodyPr/>
          <a:lstStyle/>
          <a:p>
            <a:r>
              <a:rPr lang="tr-TR" b="1" dirty="0" smtClean="0">
                <a:solidFill>
                  <a:srgbClr val="7030A0"/>
                </a:solidFill>
              </a:rPr>
              <a:t>Mikroorganizmanın temel konusunu teşkil eden mikroorganizmalar gerek yapıları ve boyutları gerekse doğadaki fonksiyonları bakımından çok fazla çeşitlilik gösterir</a:t>
            </a:r>
          </a:p>
          <a:p>
            <a:pPr>
              <a:buNone/>
            </a:pPr>
            <a:endParaRPr lang="tr-TR" b="1" dirty="0" smtClean="0">
              <a:solidFill>
                <a:srgbClr val="7030A0"/>
              </a:solidFill>
            </a:endParaRPr>
          </a:p>
          <a:p>
            <a:r>
              <a:rPr lang="tr-TR" b="1" dirty="0" smtClean="0">
                <a:solidFill>
                  <a:srgbClr val="7030A0"/>
                </a:solidFill>
              </a:rPr>
              <a:t>Birçok özellikleri bakımından aralarında önemli farklılıklar bulunur</a:t>
            </a:r>
            <a:endParaRPr lang="tr-TR" b="1" dirty="0">
              <a:solidFill>
                <a:srgbClr val="7030A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MİKROBİYOLOJİ  NEDİR?</a:t>
            </a:r>
            <a:endParaRPr lang="tr-TR" b="1" dirty="0">
              <a:solidFill>
                <a:srgbClr val="FF0000"/>
              </a:solidFill>
            </a:endParaRPr>
          </a:p>
        </p:txBody>
      </p:sp>
      <p:sp>
        <p:nvSpPr>
          <p:cNvPr id="3" name="2 İçerik Yer Tutucusu"/>
          <p:cNvSpPr>
            <a:spLocks noGrp="1"/>
          </p:cNvSpPr>
          <p:nvPr>
            <p:ph idx="1"/>
          </p:nvPr>
        </p:nvSpPr>
        <p:spPr/>
        <p:txBody>
          <a:bodyPr/>
          <a:lstStyle/>
          <a:p>
            <a:r>
              <a:rPr lang="tr-TR" b="1" dirty="0" err="1" smtClean="0"/>
              <a:t>Mikrorganizmaları</a:t>
            </a:r>
            <a:r>
              <a:rPr lang="tr-TR" b="1" dirty="0" smtClean="0"/>
              <a:t> inceleyen bilim dalıdır</a:t>
            </a:r>
            <a:endParaRPr lang="tr-TR" dirty="0" smtClean="0"/>
          </a:p>
          <a:p>
            <a:pPr>
              <a:buNone/>
            </a:pPr>
            <a:endParaRPr lang="tr-TR" dirty="0" smtClean="0"/>
          </a:p>
          <a:p>
            <a:r>
              <a:rPr lang="tr-TR" b="1" dirty="0" smtClean="0"/>
              <a:t>Mikroorganizmaların özelliklerini,yüksek canlılarla ve birbirleriyle olan ilişkilerini inceleyen bilim dalıdır</a:t>
            </a:r>
          </a:p>
          <a:p>
            <a:pPr>
              <a:buNone/>
            </a:pPr>
            <a:endParaRPr lang="tr-TR" sz="2400" b="1"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MİKROBİYOLOJİ  NEDİR?</a:t>
            </a:r>
            <a:endParaRPr lang="tr-TR" dirty="0"/>
          </a:p>
        </p:txBody>
      </p:sp>
      <p:sp>
        <p:nvSpPr>
          <p:cNvPr id="3" name="2 İçerik Yer Tutucusu"/>
          <p:cNvSpPr>
            <a:spLocks noGrp="1"/>
          </p:cNvSpPr>
          <p:nvPr>
            <p:ph idx="1"/>
          </p:nvPr>
        </p:nvSpPr>
        <p:spPr/>
        <p:txBody>
          <a:bodyPr>
            <a:normAutofit fontScale="92500" lnSpcReduction="20000"/>
          </a:bodyPr>
          <a:lstStyle/>
          <a:p>
            <a:r>
              <a:rPr lang="tr-TR" b="1" dirty="0" smtClean="0"/>
              <a:t>Antibiyotik direnci ve Hastane </a:t>
            </a:r>
            <a:r>
              <a:rPr lang="tr-TR" b="1" dirty="0" err="1" smtClean="0"/>
              <a:t>infeksiyonları</a:t>
            </a:r>
            <a:r>
              <a:rPr lang="tr-TR" b="1" dirty="0" smtClean="0"/>
              <a:t> gibi alanları da kapsar</a:t>
            </a:r>
          </a:p>
          <a:p>
            <a:r>
              <a:rPr lang="tr-TR" b="1" dirty="0" smtClean="0"/>
              <a:t>Salgınlara neden olan etkenler araştırılır,Tanı ve Tedavi yöntemleri geliştirilir</a:t>
            </a:r>
          </a:p>
          <a:p>
            <a:pPr>
              <a:buNone/>
            </a:pPr>
            <a:endParaRPr lang="tr-TR" b="1" dirty="0" smtClean="0"/>
          </a:p>
          <a:p>
            <a:r>
              <a:rPr lang="tr-TR" b="1" dirty="0" smtClean="0"/>
              <a:t>İmmünoloji</a:t>
            </a:r>
          </a:p>
          <a:p>
            <a:r>
              <a:rPr lang="tr-TR" b="1" dirty="0" smtClean="0"/>
              <a:t>Biyokimya</a:t>
            </a:r>
          </a:p>
          <a:p>
            <a:r>
              <a:rPr lang="tr-TR" b="1" dirty="0" smtClean="0"/>
              <a:t>Moleküler Biyoloji</a:t>
            </a:r>
          </a:p>
          <a:p>
            <a:r>
              <a:rPr lang="tr-TR" b="1" dirty="0" smtClean="0"/>
              <a:t>Genetik </a:t>
            </a:r>
          </a:p>
          <a:p>
            <a:pPr lvl="1"/>
            <a:r>
              <a:rPr lang="tr-TR" b="1" dirty="0" smtClean="0"/>
              <a:t>Gibi birçok alanla yakından bağlantılıdır</a:t>
            </a:r>
            <a:endParaRPr lang="tr-TR"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548680"/>
            <a:ext cx="8424936" cy="5832648"/>
          </a:xfrm>
        </p:spPr>
        <p:txBody>
          <a:bodyPr>
            <a:normAutofit fontScale="92500" lnSpcReduction="10000"/>
          </a:bodyPr>
          <a:lstStyle/>
          <a:p>
            <a:r>
              <a:rPr lang="tr-TR" b="1" dirty="0" smtClean="0">
                <a:solidFill>
                  <a:srgbClr val="FF0000"/>
                </a:solidFill>
              </a:rPr>
              <a:t>Bakteriler </a:t>
            </a:r>
            <a:r>
              <a:rPr lang="tr-TR" b="1" dirty="0" smtClean="0"/>
              <a:t>Tek hücreli basit canlılardır. Yararlı, zararlı, patojen ve bozucu pek çok etkileri vardır</a:t>
            </a:r>
          </a:p>
          <a:p>
            <a:r>
              <a:rPr lang="tr-TR" b="1" dirty="0" smtClean="0">
                <a:solidFill>
                  <a:srgbClr val="FF0000"/>
                </a:solidFill>
              </a:rPr>
              <a:t>Mantarlar </a:t>
            </a:r>
            <a:r>
              <a:rPr lang="tr-TR" b="1" dirty="0" smtClean="0">
                <a:solidFill>
                  <a:srgbClr val="7030A0"/>
                </a:solidFill>
              </a:rPr>
              <a:t>Küfler </a:t>
            </a:r>
            <a:r>
              <a:rPr lang="tr-TR" b="1" dirty="0" smtClean="0"/>
              <a:t>(küf mantarları)(sporlanma yoluyla üreyen, çok hücreli canlılar) </a:t>
            </a:r>
            <a:r>
              <a:rPr lang="tr-TR" b="1" dirty="0" smtClean="0">
                <a:solidFill>
                  <a:srgbClr val="7030A0"/>
                </a:solidFill>
              </a:rPr>
              <a:t>Mayalar</a:t>
            </a:r>
            <a:r>
              <a:rPr lang="tr-TR" b="1" dirty="0" smtClean="0"/>
              <a:t> (tomurcuklanma yoluyla üreyen tek hücreli canlılar) </a:t>
            </a:r>
          </a:p>
          <a:p>
            <a:r>
              <a:rPr lang="tr-TR" b="1" dirty="0" smtClean="0">
                <a:solidFill>
                  <a:srgbClr val="FF0000"/>
                </a:solidFill>
              </a:rPr>
              <a:t>Virüsler</a:t>
            </a:r>
            <a:r>
              <a:rPr lang="tr-TR" b="1" dirty="0" smtClean="0"/>
              <a:t> Bilinen en küçük canlıdır. Basit ışık mikroskobunda görünmezler, hücre içi parazittirler; ancak yaşayan bir hücre içinde faaliyetlerini sürdürürler</a:t>
            </a:r>
          </a:p>
          <a:p>
            <a:r>
              <a:rPr lang="tr-TR" b="1" dirty="0" smtClean="0">
                <a:solidFill>
                  <a:srgbClr val="FF0000"/>
                </a:solidFill>
              </a:rPr>
              <a:t>Algler</a:t>
            </a:r>
            <a:r>
              <a:rPr lang="tr-TR" b="1" dirty="0" smtClean="0"/>
              <a:t> Klorofil ihtiva eden, fotosentez yapan tek hücreli canlılardır</a:t>
            </a:r>
          </a:p>
          <a:p>
            <a:r>
              <a:rPr lang="tr-TR" b="1" dirty="0" err="1" smtClean="0">
                <a:solidFill>
                  <a:srgbClr val="FF0000"/>
                </a:solidFill>
              </a:rPr>
              <a:t>Protozoonlar</a:t>
            </a:r>
            <a:r>
              <a:rPr lang="tr-TR" b="1" dirty="0" smtClean="0">
                <a:solidFill>
                  <a:srgbClr val="FF0000"/>
                </a:solidFill>
              </a:rPr>
              <a:t> </a:t>
            </a:r>
            <a:r>
              <a:rPr lang="tr-TR" b="1" dirty="0" smtClean="0"/>
              <a:t>Tek hücreli mikroskobik canlılar</a:t>
            </a:r>
          </a:p>
          <a:p>
            <a:pPr>
              <a:buNone/>
            </a:pPr>
            <a:endParaRPr lang="tr-TR" b="1" dirty="0" smtClean="0"/>
          </a:p>
          <a:p>
            <a:endParaRPr lang="tr-TR"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TIBBİ MİKROBİYOLOJİ</a:t>
            </a:r>
            <a:endParaRPr lang="tr-TR" b="1" dirty="0">
              <a:solidFill>
                <a:srgbClr val="FF0000"/>
              </a:solidFill>
            </a:endParaRPr>
          </a:p>
        </p:txBody>
      </p:sp>
      <p:sp>
        <p:nvSpPr>
          <p:cNvPr id="3" name="2 İçerik Yer Tutucusu"/>
          <p:cNvSpPr>
            <a:spLocks noGrp="1"/>
          </p:cNvSpPr>
          <p:nvPr>
            <p:ph idx="1"/>
          </p:nvPr>
        </p:nvSpPr>
        <p:spPr/>
        <p:txBody>
          <a:bodyPr/>
          <a:lstStyle/>
          <a:p>
            <a:pPr lvl="2">
              <a:buNone/>
            </a:pPr>
            <a:r>
              <a:rPr lang="tr-TR" b="1" dirty="0" smtClean="0">
                <a:solidFill>
                  <a:srgbClr val="7030A0"/>
                </a:solidFill>
              </a:rPr>
              <a:t>Mikroorganizmaları inceleyen temel tıp bilim dalıdır   </a:t>
            </a:r>
          </a:p>
          <a:p>
            <a:pPr>
              <a:buNone/>
            </a:pPr>
            <a:endParaRPr lang="tr-TR" b="1" dirty="0" smtClean="0"/>
          </a:p>
          <a:p>
            <a:r>
              <a:rPr lang="tr-TR" b="1" dirty="0" smtClean="0"/>
              <a:t>Bakteriyoloji</a:t>
            </a:r>
          </a:p>
          <a:p>
            <a:r>
              <a:rPr lang="tr-TR" b="1" dirty="0" smtClean="0"/>
              <a:t>Viroloji</a:t>
            </a:r>
          </a:p>
          <a:p>
            <a:r>
              <a:rPr lang="tr-TR" b="1" dirty="0" smtClean="0"/>
              <a:t>Parazitoloji</a:t>
            </a:r>
          </a:p>
          <a:p>
            <a:r>
              <a:rPr lang="tr-TR" b="1" dirty="0" smtClean="0"/>
              <a:t>Mikoloji</a:t>
            </a:r>
            <a:endParaRPr lang="tr-TR" b="1"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700" b="1" dirty="0" smtClean="0">
                <a:solidFill>
                  <a:srgbClr val="FF0000"/>
                </a:solidFill>
              </a:rPr>
              <a:t>MİKROORGANİZMALARIN ÇEVRE İLE OLAN İLGİSİ DİKKATE ALINARAK ELE ALINAN BÖLÜMLERİ</a:t>
            </a:r>
            <a:endParaRPr lang="tr-TR" sz="2700" b="1" dirty="0">
              <a:solidFill>
                <a:srgbClr val="FF0000"/>
              </a:solidFill>
            </a:endParaRPr>
          </a:p>
        </p:txBody>
      </p:sp>
      <p:sp>
        <p:nvSpPr>
          <p:cNvPr id="3" name="2 İçerik Yer Tutucusu"/>
          <p:cNvSpPr>
            <a:spLocks noGrp="1"/>
          </p:cNvSpPr>
          <p:nvPr>
            <p:ph idx="1"/>
          </p:nvPr>
        </p:nvSpPr>
        <p:spPr/>
        <p:txBody>
          <a:bodyPr/>
          <a:lstStyle/>
          <a:p>
            <a:pPr>
              <a:buNone/>
            </a:pPr>
            <a:endParaRPr lang="tr-TR" b="1" dirty="0" smtClean="0"/>
          </a:p>
          <a:p>
            <a:r>
              <a:rPr lang="tr-TR" b="1" dirty="0" smtClean="0"/>
              <a:t>Toprak Mikrobiyolojisi</a:t>
            </a:r>
          </a:p>
          <a:p>
            <a:r>
              <a:rPr lang="tr-TR" b="1" dirty="0" smtClean="0"/>
              <a:t>Su (Deniz) Mikrobiyolojisi</a:t>
            </a:r>
          </a:p>
          <a:p>
            <a:r>
              <a:rPr lang="tr-TR" b="1" dirty="0" smtClean="0"/>
              <a:t>Hava Mikrobiyolojisi</a:t>
            </a:r>
          </a:p>
          <a:p>
            <a:r>
              <a:rPr lang="tr-TR" b="1" dirty="0" smtClean="0"/>
              <a:t>Uzay Mikrobiyolojisi</a:t>
            </a:r>
          </a:p>
          <a:p>
            <a:r>
              <a:rPr lang="tr-TR" b="1" dirty="0" smtClean="0"/>
              <a:t>Endüstriyel Mikrobiyoloji</a:t>
            </a:r>
          </a:p>
          <a:p>
            <a:endParaRPr lang="tr-T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MİKROORGANİZMALARIN KAYNAĞI NEDİR?</a:t>
            </a:r>
            <a:endParaRPr lang="tr-TR" dirty="0"/>
          </a:p>
        </p:txBody>
      </p:sp>
      <p:sp>
        <p:nvSpPr>
          <p:cNvPr id="3" name="2 İçerik Yer Tutucusu"/>
          <p:cNvSpPr>
            <a:spLocks noGrp="1"/>
          </p:cNvSpPr>
          <p:nvPr>
            <p:ph idx="1"/>
          </p:nvPr>
        </p:nvSpPr>
        <p:spPr/>
        <p:txBody>
          <a:bodyPr>
            <a:normAutofit fontScale="85000" lnSpcReduction="20000"/>
          </a:bodyPr>
          <a:lstStyle/>
          <a:p>
            <a:r>
              <a:rPr lang="tr-TR" b="1" dirty="0" smtClean="0">
                <a:solidFill>
                  <a:srgbClr val="FF0000"/>
                </a:solidFill>
              </a:rPr>
              <a:t>TOPRAK  </a:t>
            </a:r>
            <a:r>
              <a:rPr lang="tr-TR" b="1" dirty="0" smtClean="0"/>
              <a:t>Çoğalmaları için en uygun ortam topraktır. Topraktaki mikro floranın türü, cinsi ve sayısı toprağın besin madde çeşitliliği, fiziksel ve kimyasal yapısı, nem miktarı, toprağı kaplayan bitki örtüsü, iklim ve meteorolojik faktörlere bağlı olarak değişim gösterir</a:t>
            </a:r>
            <a:r>
              <a:rPr lang="tr-TR" b="1" dirty="0" smtClean="0">
                <a:solidFill>
                  <a:srgbClr val="FF0000"/>
                </a:solidFill>
              </a:rPr>
              <a:t> </a:t>
            </a:r>
          </a:p>
          <a:p>
            <a:r>
              <a:rPr lang="tr-TR" b="1" dirty="0" smtClean="0">
                <a:solidFill>
                  <a:srgbClr val="FF0000"/>
                </a:solidFill>
              </a:rPr>
              <a:t>SU </a:t>
            </a:r>
            <a:r>
              <a:rPr lang="tr-TR" b="1" dirty="0" smtClean="0"/>
              <a:t> Suyun kirliliği oranında mikroorganizma sayısı artar</a:t>
            </a:r>
          </a:p>
          <a:p>
            <a:r>
              <a:rPr lang="tr-TR" b="1" dirty="0" smtClean="0">
                <a:solidFill>
                  <a:srgbClr val="FF0000"/>
                </a:solidFill>
              </a:rPr>
              <a:t>HAVA</a:t>
            </a:r>
            <a:r>
              <a:rPr lang="tr-TR" b="1" dirty="0" smtClean="0"/>
              <a:t> Mikroorganizma sayısı havanın kirlilik oranına göre değişir. Genel olarak havadaki mikroorganizmalar atmosferik hava hareketlerinin etkisi ile havada yüzer durumda bulunurlar. </a:t>
            </a:r>
            <a:r>
              <a:rPr lang="tr-TR" b="1" dirty="0" err="1" smtClean="0"/>
              <a:t>Kontaminasyonun</a:t>
            </a:r>
            <a:r>
              <a:rPr lang="tr-TR" b="1" dirty="0" smtClean="0"/>
              <a:t> önemli kaynağını oluşturur</a:t>
            </a:r>
          </a:p>
          <a:p>
            <a:pPr>
              <a:buNone/>
            </a:pPr>
            <a:endParaRPr lang="tr-TR" b="1" dirty="0" smtClean="0"/>
          </a:p>
          <a:p>
            <a:endParaRPr lang="tr-T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000" b="1" dirty="0" smtClean="0">
                <a:solidFill>
                  <a:srgbClr val="FF0000"/>
                </a:solidFill>
              </a:rPr>
              <a:t>TARİHSEL  GELİŞİM</a:t>
            </a:r>
            <a:endParaRPr lang="tr-TR" sz="4000" b="1" dirty="0">
              <a:solidFill>
                <a:srgbClr val="FF0000"/>
              </a:solidFill>
            </a:endParaRPr>
          </a:p>
        </p:txBody>
      </p:sp>
      <p:sp>
        <p:nvSpPr>
          <p:cNvPr id="3" name="2 İçerik Yer Tutucusu"/>
          <p:cNvSpPr>
            <a:spLocks noGrp="1"/>
          </p:cNvSpPr>
          <p:nvPr>
            <p:ph idx="1"/>
          </p:nvPr>
        </p:nvSpPr>
        <p:spPr/>
        <p:txBody>
          <a:bodyPr>
            <a:normAutofit/>
          </a:bodyPr>
          <a:lstStyle/>
          <a:p>
            <a:pPr>
              <a:buNone/>
            </a:pPr>
            <a:r>
              <a:rPr lang="tr-TR" dirty="0" smtClean="0"/>
              <a:t>			</a:t>
            </a:r>
            <a:endParaRPr lang="tr-TR" dirty="0"/>
          </a:p>
        </p:txBody>
      </p:sp>
      <p:pic>
        <p:nvPicPr>
          <p:cNvPr id="4" name="Picture 5" descr="leeuwenhoek"/>
          <p:cNvPicPr>
            <a:picLocks noChangeAspect="1" noChangeArrowheads="1"/>
          </p:cNvPicPr>
          <p:nvPr/>
        </p:nvPicPr>
        <p:blipFill>
          <a:blip r:embed="rId2" cstate="print"/>
          <a:srcRect/>
          <a:stretch>
            <a:fillRect/>
          </a:stretch>
        </p:blipFill>
        <p:spPr bwMode="auto">
          <a:xfrm>
            <a:off x="4283968" y="4221088"/>
            <a:ext cx="4355976" cy="2271744"/>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323528" y="1268760"/>
            <a:ext cx="3770230" cy="2664296"/>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5004048" y="1268760"/>
            <a:ext cx="3371850" cy="26384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800" b="1" dirty="0" smtClean="0">
                <a:solidFill>
                  <a:srgbClr val="FF0000"/>
                </a:solidFill>
              </a:rPr>
              <a:t>MİKROORGANİZMALARIN VARLIĞI ANCAK MİKROSKOBUN KEŞFİ İLE ORTAYA KONULMUŞTUR</a:t>
            </a:r>
            <a:endParaRPr lang="tr-TR" sz="2800" dirty="0"/>
          </a:p>
        </p:txBody>
      </p:sp>
      <p:sp>
        <p:nvSpPr>
          <p:cNvPr id="3" name="2 İçerik Yer Tutucusu"/>
          <p:cNvSpPr>
            <a:spLocks noGrp="1"/>
          </p:cNvSpPr>
          <p:nvPr>
            <p:ph idx="1"/>
          </p:nvPr>
        </p:nvSpPr>
        <p:spPr/>
        <p:txBody>
          <a:bodyPr>
            <a:noAutofit/>
          </a:bodyPr>
          <a:lstStyle/>
          <a:p>
            <a:r>
              <a:rPr lang="tr-TR" sz="2400" b="1" dirty="0" err="1" smtClean="0">
                <a:solidFill>
                  <a:srgbClr val="7030A0"/>
                </a:solidFill>
              </a:rPr>
              <a:t>Lister</a:t>
            </a:r>
            <a:r>
              <a:rPr lang="tr-TR" sz="2400" b="1" dirty="0" smtClean="0"/>
              <a:t>     1830 yılında </a:t>
            </a:r>
            <a:r>
              <a:rPr lang="tr-TR" sz="2400" b="1" dirty="0" smtClean="0">
                <a:solidFill>
                  <a:srgbClr val="FF0000"/>
                </a:solidFill>
              </a:rPr>
              <a:t>modern mikroskobun </a:t>
            </a:r>
            <a:r>
              <a:rPr lang="tr-TR" sz="2400" b="1" dirty="0" smtClean="0"/>
              <a:t>prensiplerini ortaya koymuştur</a:t>
            </a:r>
          </a:p>
          <a:p>
            <a:pPr>
              <a:buNone/>
            </a:pPr>
            <a:endParaRPr lang="tr-TR" sz="2400" dirty="0" smtClean="0"/>
          </a:p>
          <a:p>
            <a:r>
              <a:rPr lang="tr-TR" sz="2400" b="1" dirty="0" err="1" smtClean="0">
                <a:solidFill>
                  <a:srgbClr val="7030A0"/>
                </a:solidFill>
              </a:rPr>
              <a:t>Antony</a:t>
            </a:r>
            <a:r>
              <a:rPr lang="tr-TR" sz="2400" b="1" dirty="0" smtClean="0">
                <a:solidFill>
                  <a:srgbClr val="7030A0"/>
                </a:solidFill>
              </a:rPr>
              <a:t>  </a:t>
            </a:r>
            <a:r>
              <a:rPr lang="tr-TR" sz="2400" b="1" dirty="0" err="1" smtClean="0">
                <a:solidFill>
                  <a:srgbClr val="7030A0"/>
                </a:solidFill>
              </a:rPr>
              <a:t>van</a:t>
            </a:r>
            <a:r>
              <a:rPr lang="tr-TR" sz="2400" b="1" dirty="0" smtClean="0">
                <a:solidFill>
                  <a:srgbClr val="7030A0"/>
                </a:solidFill>
              </a:rPr>
              <a:t> </a:t>
            </a:r>
            <a:r>
              <a:rPr lang="tr-TR" sz="2400" b="1" dirty="0" err="1" smtClean="0">
                <a:solidFill>
                  <a:srgbClr val="7030A0"/>
                </a:solidFill>
              </a:rPr>
              <a:t>Leeuwenhoek</a:t>
            </a:r>
            <a:r>
              <a:rPr lang="tr-TR" sz="2400" b="1" dirty="0" smtClean="0">
                <a:solidFill>
                  <a:srgbClr val="7030A0"/>
                </a:solidFill>
              </a:rPr>
              <a:t>     </a:t>
            </a:r>
            <a:r>
              <a:rPr lang="tr-TR" sz="2400" b="1" dirty="0" smtClean="0"/>
              <a:t>(1632-1723) mikroskobik canlıları mikroskop altında gören ve çizen ilk kişi</a:t>
            </a:r>
          </a:p>
          <a:p>
            <a:pPr>
              <a:buNone/>
            </a:pPr>
            <a:endParaRPr lang="tr-TR" sz="2400" b="1" dirty="0" smtClean="0"/>
          </a:p>
          <a:p>
            <a:r>
              <a:rPr lang="tr-TR" sz="2400" b="1" dirty="0" smtClean="0">
                <a:solidFill>
                  <a:srgbClr val="7030A0"/>
                </a:solidFill>
              </a:rPr>
              <a:t>Robert </a:t>
            </a:r>
            <a:r>
              <a:rPr lang="tr-TR" sz="2400" b="1" dirty="0" err="1" smtClean="0">
                <a:solidFill>
                  <a:srgbClr val="7030A0"/>
                </a:solidFill>
              </a:rPr>
              <a:t>Hooke</a:t>
            </a:r>
            <a:r>
              <a:rPr lang="tr-TR" sz="2400" b="1" dirty="0" smtClean="0">
                <a:solidFill>
                  <a:srgbClr val="7030A0"/>
                </a:solidFill>
              </a:rPr>
              <a:t>    </a:t>
            </a:r>
            <a:r>
              <a:rPr lang="tr-TR" sz="2400" b="1" dirty="0" smtClean="0"/>
              <a:t>Hücre ilk defa 1665 yılında bir </a:t>
            </a:r>
            <a:r>
              <a:rPr lang="tr-TR" sz="2400" b="1" dirty="0" err="1" smtClean="0"/>
              <a:t>ingiliz</a:t>
            </a:r>
            <a:r>
              <a:rPr lang="tr-TR" sz="2400" b="1" dirty="0" smtClean="0"/>
              <a:t> bilim adamı olan Robert </a:t>
            </a:r>
            <a:r>
              <a:rPr lang="tr-TR" sz="2400" b="1" dirty="0" err="1" smtClean="0"/>
              <a:t>Hooke</a:t>
            </a:r>
            <a:r>
              <a:rPr lang="tr-TR" sz="2400" b="1" dirty="0" smtClean="0"/>
              <a:t> tarafından ölü mantar dokusunda boş odacıklar şeklinde keşfedildi. </a:t>
            </a:r>
            <a:endParaRPr lang="tr-TR" sz="2400" b="1" dirty="0" smtClean="0"/>
          </a:p>
          <a:p>
            <a:r>
              <a:rPr lang="tr-TR" sz="2400" b="1" dirty="0" smtClean="0"/>
              <a:t>Robert </a:t>
            </a:r>
            <a:r>
              <a:rPr lang="tr-TR" sz="2400" b="1" dirty="0" err="1" smtClean="0"/>
              <a:t>Hooke</a:t>
            </a:r>
            <a:r>
              <a:rPr lang="tr-TR" sz="2400" b="1" dirty="0" smtClean="0"/>
              <a:t> incelemeleri sırasında gördüğü bu odacıklara hücre (</a:t>
            </a:r>
            <a:r>
              <a:rPr lang="tr-TR" sz="2400" b="1" dirty="0" err="1" smtClean="0"/>
              <a:t>cellula</a:t>
            </a:r>
            <a:r>
              <a:rPr lang="tr-TR" sz="2400" b="1" dirty="0" smtClean="0"/>
              <a:t>) adını verdi. İleriki yıllarda bu odacıkların boş olmadığı içinde canlıların yaşamsal olaylarını gerçekleştiren en küçük organizmalar olduğu anlaşıldı</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KEŞİFLER YÜZYILLAR BOYU DEVAM ETMİŞTİR</a:t>
            </a:r>
            <a:endParaRPr lang="tr-TR" sz="3600" b="1" dirty="0">
              <a:solidFill>
                <a:srgbClr val="FF0000"/>
              </a:solidFill>
            </a:endParaRPr>
          </a:p>
        </p:txBody>
      </p:sp>
      <p:sp>
        <p:nvSpPr>
          <p:cNvPr id="3" name="2 İçerik Yer Tutucusu"/>
          <p:cNvSpPr>
            <a:spLocks noGrp="1"/>
          </p:cNvSpPr>
          <p:nvPr>
            <p:ph idx="1"/>
          </p:nvPr>
        </p:nvSpPr>
        <p:spPr/>
        <p:txBody>
          <a:bodyPr>
            <a:noAutofit/>
          </a:bodyPr>
          <a:lstStyle/>
          <a:p>
            <a:r>
              <a:rPr lang="tr-TR" sz="2500" b="1" dirty="0" smtClean="0">
                <a:solidFill>
                  <a:srgbClr val="7030A0"/>
                </a:solidFill>
              </a:rPr>
              <a:t>Robert </a:t>
            </a:r>
            <a:r>
              <a:rPr lang="tr-TR" sz="2500" b="1" dirty="0" err="1" smtClean="0">
                <a:solidFill>
                  <a:srgbClr val="7030A0"/>
                </a:solidFill>
              </a:rPr>
              <a:t>Koch</a:t>
            </a:r>
            <a:r>
              <a:rPr lang="tr-TR" sz="2500" b="1" dirty="0" smtClean="0">
                <a:solidFill>
                  <a:srgbClr val="7030A0"/>
                </a:solidFill>
              </a:rPr>
              <a:t>     </a:t>
            </a:r>
            <a:r>
              <a:rPr lang="tr-TR" sz="2500" b="1" dirty="0" smtClean="0"/>
              <a:t>(1843-1910) mikroorganizmaları saf halde üretebilmek için katı </a:t>
            </a:r>
            <a:r>
              <a:rPr lang="tr-TR" sz="2500" b="1" dirty="0" err="1" smtClean="0"/>
              <a:t>besiyeri</a:t>
            </a:r>
            <a:r>
              <a:rPr lang="tr-TR" sz="2500" b="1" dirty="0" smtClean="0"/>
              <a:t> geliştirmiş ve bunları katı </a:t>
            </a:r>
            <a:r>
              <a:rPr lang="tr-TR" sz="2500" b="1" dirty="0" err="1" smtClean="0"/>
              <a:t>besiyerinden</a:t>
            </a:r>
            <a:r>
              <a:rPr lang="tr-TR" sz="2500" b="1" dirty="0" smtClean="0"/>
              <a:t> izole etmiştir. Bakterileri boyama tekniklerini ve verem hastalığının nedeni olan mikrobun (</a:t>
            </a:r>
            <a:r>
              <a:rPr lang="tr-TR" sz="2500" b="1" i="1" dirty="0" err="1" smtClean="0"/>
              <a:t>Mycobacterium</a:t>
            </a:r>
            <a:r>
              <a:rPr lang="tr-TR" sz="2500" b="1" i="1" dirty="0" smtClean="0"/>
              <a:t> </a:t>
            </a:r>
            <a:r>
              <a:rPr lang="tr-TR" sz="2500" b="1" i="1" dirty="0" err="1" smtClean="0"/>
              <a:t>tuberculosis</a:t>
            </a:r>
            <a:r>
              <a:rPr lang="tr-TR" sz="2500" b="1" i="1" dirty="0" smtClean="0"/>
              <a:t>) özelliklerini bulmuştur</a:t>
            </a:r>
            <a:endParaRPr lang="tr-TR" sz="2500" dirty="0" smtClean="0"/>
          </a:p>
          <a:p>
            <a:endParaRPr lang="tr-TR" sz="2500" b="1" dirty="0" smtClean="0"/>
          </a:p>
          <a:p>
            <a:r>
              <a:rPr lang="tr-TR" sz="2500" b="1" dirty="0" smtClean="0">
                <a:solidFill>
                  <a:srgbClr val="7030A0"/>
                </a:solidFill>
              </a:rPr>
              <a:t>Louis </a:t>
            </a:r>
            <a:r>
              <a:rPr lang="tr-TR" sz="2500" b="1" dirty="0" err="1" smtClean="0">
                <a:solidFill>
                  <a:srgbClr val="7030A0"/>
                </a:solidFill>
              </a:rPr>
              <a:t>Pasteur</a:t>
            </a:r>
            <a:r>
              <a:rPr lang="tr-TR" sz="2500" b="1" dirty="0" smtClean="0">
                <a:solidFill>
                  <a:srgbClr val="7030A0"/>
                </a:solidFill>
              </a:rPr>
              <a:t>    </a:t>
            </a:r>
            <a:r>
              <a:rPr lang="tr-TR" sz="2500" b="1" dirty="0" smtClean="0"/>
              <a:t>(1822-1895) şarap ve biranın bozulma nedenlerinin mikroorganizmalar olduğunu bunun da engellenmesi için ortamların mutlaka Pastörize edilmesi gerekliliğini ortaya koymuştur. Kuduz </a:t>
            </a:r>
            <a:r>
              <a:rPr lang="tr-TR" sz="2500" b="1" smtClean="0"/>
              <a:t>hastalığının virüsünü izole </a:t>
            </a:r>
            <a:r>
              <a:rPr lang="tr-TR" sz="2500" b="1" dirty="0" smtClean="0"/>
              <a:t>etmiş ve kuduz aşısını bulmuştur </a:t>
            </a:r>
          </a:p>
          <a:p>
            <a:endParaRPr lang="tr-TR" sz="2500" b="1" i="1" dirty="0" smtClean="0"/>
          </a:p>
          <a:p>
            <a:endParaRPr lang="tr-TR" sz="2600" dirty="0" smtClean="0"/>
          </a:p>
          <a:p>
            <a:endParaRPr lang="tr-TR"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KEŞİFLER YÜZYILLAR BOYU DEVAM ETMİŞTİR</a:t>
            </a:r>
            <a:endParaRPr lang="tr-TR" sz="3600" dirty="0"/>
          </a:p>
        </p:txBody>
      </p:sp>
      <p:sp>
        <p:nvSpPr>
          <p:cNvPr id="3" name="2 İçerik Yer Tutucusu"/>
          <p:cNvSpPr>
            <a:spLocks noGrp="1"/>
          </p:cNvSpPr>
          <p:nvPr>
            <p:ph idx="1"/>
          </p:nvPr>
        </p:nvSpPr>
        <p:spPr/>
        <p:txBody>
          <a:bodyPr>
            <a:normAutofit/>
          </a:bodyPr>
          <a:lstStyle/>
          <a:p>
            <a:r>
              <a:rPr lang="tr-TR" sz="2800" b="1" dirty="0" smtClean="0">
                <a:solidFill>
                  <a:srgbClr val="7030A0"/>
                </a:solidFill>
              </a:rPr>
              <a:t> </a:t>
            </a:r>
            <a:r>
              <a:rPr lang="tr-TR" sz="2800" b="1" dirty="0" err="1" smtClean="0">
                <a:solidFill>
                  <a:srgbClr val="7030A0"/>
                </a:solidFill>
              </a:rPr>
              <a:t>Cohn</a:t>
            </a:r>
            <a:r>
              <a:rPr lang="tr-TR" sz="2800" b="1" dirty="0" smtClean="0">
                <a:solidFill>
                  <a:srgbClr val="7030A0"/>
                </a:solidFill>
              </a:rPr>
              <a:t>    </a:t>
            </a:r>
            <a:r>
              <a:rPr lang="tr-TR" sz="2800" b="1" dirty="0" smtClean="0"/>
              <a:t>1889 yılında </a:t>
            </a:r>
            <a:r>
              <a:rPr lang="tr-TR" sz="2800" b="1" dirty="0" err="1" smtClean="0"/>
              <a:t>Cohn</a:t>
            </a:r>
            <a:r>
              <a:rPr lang="tr-TR" sz="2800" b="1" dirty="0" smtClean="0"/>
              <a:t> tarafından süt teknolojisinde bugünkü anlamda </a:t>
            </a:r>
            <a:r>
              <a:rPr lang="tr-TR" sz="2800" b="1" dirty="0" err="1" smtClean="0"/>
              <a:t>starter</a:t>
            </a:r>
            <a:r>
              <a:rPr lang="tr-TR" sz="2800" b="1" dirty="0" smtClean="0"/>
              <a:t> olarak bakterilerin kullanımı gerçekleşmiş ve yararlı etkileri ortaya konmuştur</a:t>
            </a:r>
          </a:p>
          <a:p>
            <a:pPr>
              <a:buNone/>
            </a:pPr>
            <a:r>
              <a:rPr lang="tr-TR" sz="2800" b="1" dirty="0" smtClean="0"/>
              <a:t> </a:t>
            </a:r>
          </a:p>
          <a:p>
            <a:r>
              <a:rPr lang="tr-TR" sz="2800" b="1" dirty="0" smtClean="0">
                <a:solidFill>
                  <a:srgbClr val="7030A0"/>
                </a:solidFill>
              </a:rPr>
              <a:t>1933 yılında </a:t>
            </a:r>
            <a:r>
              <a:rPr lang="tr-TR" sz="2800" b="1" dirty="0" smtClean="0"/>
              <a:t>ilk elektron mikroskobu yapılmıştır. Bu sayede </a:t>
            </a:r>
            <a:r>
              <a:rPr lang="tr-TR" sz="2800" b="1" dirty="0" err="1" smtClean="0"/>
              <a:t>bakteriyofajlar</a:t>
            </a:r>
            <a:r>
              <a:rPr lang="tr-TR" sz="2800" b="1" dirty="0" smtClean="0"/>
              <a:t> görüntülenmiş ve çalışmalar yapılmıştır</a:t>
            </a:r>
          </a:p>
          <a:p>
            <a:endParaRPr lang="tr-TR"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476672"/>
            <a:ext cx="8280920" cy="5904656"/>
          </a:xfrm>
        </p:spPr>
        <p:txBody>
          <a:bodyPr>
            <a:normAutofit lnSpcReduction="10000"/>
          </a:bodyPr>
          <a:lstStyle/>
          <a:p>
            <a:pPr>
              <a:buNone/>
            </a:pPr>
            <a:r>
              <a:rPr lang="tr-TR" dirty="0" smtClean="0"/>
              <a:t>			</a:t>
            </a:r>
            <a:r>
              <a:rPr lang="tr-TR" b="1" dirty="0" smtClean="0">
                <a:solidFill>
                  <a:srgbClr val="7030A0"/>
                </a:solidFill>
              </a:rPr>
              <a:t>ABİYOGENEZİS TEORİSİ </a:t>
            </a:r>
          </a:p>
          <a:p>
            <a:pPr>
              <a:buNone/>
            </a:pPr>
            <a:r>
              <a:rPr lang="tr-TR" b="1" dirty="0" smtClean="0"/>
              <a:t>	   (Canlı ile başlamayan canlılık teorisi) </a:t>
            </a:r>
          </a:p>
          <a:p>
            <a:r>
              <a:rPr lang="tr-TR" b="1" dirty="0" smtClean="0"/>
              <a:t>Cansız yapıların kimyasal yollarla bir araya gelerek canlı bir organizmaya dönüşmesini açıklamaktadır </a:t>
            </a:r>
          </a:p>
          <a:p>
            <a:r>
              <a:rPr lang="tr-TR" b="1" dirty="0" smtClean="0">
                <a:solidFill>
                  <a:srgbClr val="FF0000"/>
                </a:solidFill>
              </a:rPr>
              <a:t>Fransız biyolog Louis </a:t>
            </a:r>
            <a:r>
              <a:rPr lang="tr-TR" b="1" dirty="0" err="1" smtClean="0">
                <a:solidFill>
                  <a:srgbClr val="FF0000"/>
                </a:solidFill>
              </a:rPr>
              <a:t>Pasteur</a:t>
            </a:r>
            <a:r>
              <a:rPr lang="tr-TR" b="1" dirty="0" smtClean="0">
                <a:solidFill>
                  <a:srgbClr val="FF0000"/>
                </a:solidFill>
              </a:rPr>
              <a:t>, evrime temel oluşturan bu inancı kesin olarak çürütmüştür</a:t>
            </a:r>
          </a:p>
          <a:p>
            <a:pPr>
              <a:buNone/>
            </a:pPr>
            <a:endParaRPr lang="tr-TR" b="1" dirty="0" smtClean="0"/>
          </a:p>
          <a:p>
            <a:pPr>
              <a:buNone/>
            </a:pPr>
            <a:r>
              <a:rPr lang="tr-TR" b="1" dirty="0" smtClean="0"/>
              <a:t>			</a:t>
            </a:r>
            <a:r>
              <a:rPr lang="tr-TR" b="1" dirty="0" smtClean="0">
                <a:solidFill>
                  <a:srgbClr val="7030A0"/>
                </a:solidFill>
              </a:rPr>
              <a:t>BİYOGENEZİS TEORİSİ </a:t>
            </a:r>
          </a:p>
          <a:p>
            <a:r>
              <a:rPr lang="tr-TR" b="1" dirty="0" smtClean="0"/>
              <a:t>Her canlı daha önce var olan bir başka canlıdan meydana gelmiştir görüşüdür</a:t>
            </a:r>
          </a:p>
          <a:p>
            <a:endParaRPr lang="tr-TR"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2400" b="1" dirty="0" smtClean="0">
                <a:solidFill>
                  <a:srgbClr val="FF0000"/>
                </a:solidFill>
              </a:rPr>
              <a:t>GENEL OLARAK İNSANDA HASTALIK YAPAN MO’LARI MİKROSKOBİK GÖRÜNÜMLERİ,HÜCRE YAPILARI VE ÖZELLİKLERİNE GÖRE SINIFLAMA</a:t>
            </a:r>
            <a:endParaRPr lang="tr-TR" sz="2400" b="1" dirty="0">
              <a:solidFill>
                <a:srgbClr val="FF0000"/>
              </a:solidFill>
            </a:endParaRPr>
          </a:p>
        </p:txBody>
      </p:sp>
      <p:sp>
        <p:nvSpPr>
          <p:cNvPr id="3" name="2 İçerik Yer Tutucusu"/>
          <p:cNvSpPr>
            <a:spLocks noGrp="1"/>
          </p:cNvSpPr>
          <p:nvPr>
            <p:ph idx="1"/>
          </p:nvPr>
        </p:nvSpPr>
        <p:spPr/>
        <p:txBody>
          <a:bodyPr>
            <a:normAutofit fontScale="92500" lnSpcReduction="10000"/>
          </a:bodyPr>
          <a:lstStyle/>
          <a:p>
            <a:r>
              <a:rPr lang="tr-TR" sz="4000" b="1" dirty="0" smtClean="0"/>
              <a:t>1    VİRUSLAR</a:t>
            </a:r>
            <a:r>
              <a:rPr lang="tr-TR" sz="1800" b="1" dirty="0" smtClean="0"/>
              <a:t>     </a:t>
            </a:r>
            <a:r>
              <a:rPr lang="tr-TR" sz="2200" b="1" dirty="0" smtClean="0">
                <a:solidFill>
                  <a:srgbClr val="7030A0"/>
                </a:solidFill>
              </a:rPr>
              <a:t>  (DNA,RNA virüsleri)</a:t>
            </a:r>
          </a:p>
          <a:p>
            <a:r>
              <a:rPr lang="tr-TR" sz="4000" b="1" dirty="0" smtClean="0"/>
              <a:t>2    BAKTERİLER</a:t>
            </a:r>
            <a:r>
              <a:rPr lang="tr-TR" sz="1800" b="1" dirty="0" smtClean="0"/>
              <a:t>    </a:t>
            </a:r>
            <a:r>
              <a:rPr lang="tr-TR" sz="2200" b="1" dirty="0" smtClean="0">
                <a:solidFill>
                  <a:srgbClr val="7030A0"/>
                </a:solidFill>
              </a:rPr>
              <a:t>(G +,G - )</a:t>
            </a:r>
          </a:p>
          <a:p>
            <a:r>
              <a:rPr lang="tr-TR" sz="4000" b="1" dirty="0" smtClean="0"/>
              <a:t>3    FUNGUSLAR</a:t>
            </a:r>
            <a:r>
              <a:rPr lang="tr-TR" sz="1800" b="1" dirty="0" smtClean="0"/>
              <a:t>     </a:t>
            </a:r>
            <a:r>
              <a:rPr lang="tr-TR" sz="2200" b="1" dirty="0" smtClean="0">
                <a:solidFill>
                  <a:srgbClr val="7030A0"/>
                </a:solidFill>
              </a:rPr>
              <a:t>(Küf ve maya )</a:t>
            </a:r>
          </a:p>
          <a:p>
            <a:r>
              <a:rPr lang="tr-TR" sz="4000" b="1" dirty="0" smtClean="0"/>
              <a:t>4    PROTOZOALAR</a:t>
            </a:r>
            <a:r>
              <a:rPr lang="tr-TR" sz="1800" b="1" dirty="0" smtClean="0"/>
              <a:t>    </a:t>
            </a:r>
            <a:r>
              <a:rPr lang="tr-TR" sz="2200" b="1" dirty="0" smtClean="0">
                <a:solidFill>
                  <a:srgbClr val="7030A0"/>
                </a:solidFill>
              </a:rPr>
              <a:t>(sıtma,amipli   </a:t>
            </a:r>
            <a:r>
              <a:rPr lang="tr-TR" sz="2200" b="1" dirty="0" err="1" smtClean="0">
                <a:solidFill>
                  <a:srgbClr val="7030A0"/>
                </a:solidFill>
              </a:rPr>
              <a:t>dizanter</a:t>
            </a:r>
            <a:r>
              <a:rPr lang="tr-TR" sz="2200" b="1" dirty="0" smtClean="0">
                <a:solidFill>
                  <a:srgbClr val="7030A0"/>
                </a:solidFill>
              </a:rPr>
              <a:t>, Şark Çıbanı) </a:t>
            </a:r>
            <a:r>
              <a:rPr lang="tr-TR" sz="1800" b="1" dirty="0" smtClean="0"/>
              <a:t>					</a:t>
            </a:r>
            <a:endParaRPr lang="tr-TR" sz="4000" b="1" dirty="0" smtClean="0"/>
          </a:p>
          <a:p>
            <a:r>
              <a:rPr lang="tr-TR" sz="4000" b="1" dirty="0" smtClean="0"/>
              <a:t>5    HELMİNTLER</a:t>
            </a:r>
            <a:r>
              <a:rPr lang="tr-TR" sz="1800" b="1" dirty="0" smtClean="0"/>
              <a:t>    </a:t>
            </a:r>
            <a:r>
              <a:rPr lang="tr-TR" sz="2200" b="1" dirty="0" smtClean="0">
                <a:solidFill>
                  <a:srgbClr val="7030A0"/>
                </a:solidFill>
              </a:rPr>
              <a:t>(solucanlar)</a:t>
            </a:r>
          </a:p>
          <a:p>
            <a:r>
              <a:rPr lang="tr-TR" sz="4000" b="1" dirty="0" smtClean="0"/>
              <a:t>6    ARTHROPODALAR</a:t>
            </a:r>
            <a:r>
              <a:rPr lang="tr-TR" sz="1800" b="1" dirty="0" smtClean="0"/>
              <a:t>   								</a:t>
            </a:r>
            <a:r>
              <a:rPr lang="tr-TR" sz="2200" b="1" dirty="0" smtClean="0">
                <a:solidFill>
                  <a:srgbClr val="7030A0"/>
                </a:solidFill>
              </a:rPr>
              <a:t>(akrep,örümcek,kene,bit,akar)</a:t>
            </a:r>
            <a:endParaRPr lang="tr-TR" sz="2200" b="1" dirty="0">
              <a:solidFill>
                <a:srgbClr val="7030A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467544" y="188640"/>
            <a:ext cx="8208912" cy="792088"/>
          </a:xfrm>
        </p:spPr>
        <p:txBody>
          <a:bodyPr>
            <a:noAutofit/>
          </a:bodyPr>
          <a:lstStyle/>
          <a:p>
            <a:r>
              <a:rPr lang="tr-TR" sz="2400" b="1" dirty="0" smtClean="0">
                <a:solidFill>
                  <a:srgbClr val="FF0000"/>
                </a:solidFill>
              </a:rPr>
              <a:t>İNCELEDİĞİ KONULARA GÖRE MİKROBİYOLOJİNİN ÇALIŞMA ALANLARI </a:t>
            </a:r>
            <a:endParaRPr lang="tr-TR" sz="2400" b="1" dirty="0">
              <a:solidFill>
                <a:srgbClr val="FF0000"/>
              </a:solidFill>
            </a:endParaRPr>
          </a:p>
        </p:txBody>
      </p:sp>
      <p:pic>
        <p:nvPicPr>
          <p:cNvPr id="26626" name="Picture 2"/>
          <p:cNvPicPr>
            <a:picLocks noGrp="1" noChangeAspect="1" noChangeArrowheads="1"/>
          </p:cNvPicPr>
          <p:nvPr>
            <p:ph idx="4294967295"/>
          </p:nvPr>
        </p:nvPicPr>
        <p:blipFill>
          <a:blip r:embed="rId2" cstate="print"/>
          <a:srcRect/>
          <a:stretch>
            <a:fillRect/>
          </a:stretch>
        </p:blipFill>
        <p:spPr bwMode="auto">
          <a:xfrm>
            <a:off x="467544" y="1124744"/>
            <a:ext cx="8208963" cy="54991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2400" b="1" dirty="0" smtClean="0">
                <a:solidFill>
                  <a:srgbClr val="7030A0"/>
                </a:solidFill>
              </a:rPr>
              <a:t>MİKROSKOPİ TEKNİĞİNDEKİ GELİŞMELER SONUCU 19.YY’DA BİTKİ VE HAYVANLAR DIŞINDA YENİ BİR GRUBUN VARLIĞINI  ORTAYA ÇIKARMIŞ</a:t>
            </a:r>
            <a:endParaRPr lang="tr-TR" sz="2400" b="1" dirty="0">
              <a:solidFill>
                <a:srgbClr val="7030A0"/>
              </a:solidFill>
            </a:endParaRPr>
          </a:p>
        </p:txBody>
      </p:sp>
      <p:sp>
        <p:nvSpPr>
          <p:cNvPr id="3" name="2 İçerik Yer Tutucusu"/>
          <p:cNvSpPr>
            <a:spLocks noGrp="1"/>
          </p:cNvSpPr>
          <p:nvPr>
            <p:ph idx="1"/>
          </p:nvPr>
        </p:nvSpPr>
        <p:spPr>
          <a:xfrm>
            <a:off x="457200" y="1600200"/>
            <a:ext cx="8229600" cy="4853136"/>
          </a:xfrm>
        </p:spPr>
        <p:txBody>
          <a:bodyPr>
            <a:normAutofit/>
          </a:bodyPr>
          <a:lstStyle/>
          <a:p>
            <a:r>
              <a:rPr lang="tr-TR" sz="2000" b="1" dirty="0" smtClean="0">
                <a:solidFill>
                  <a:srgbClr val="FF0000"/>
                </a:solidFill>
              </a:rPr>
              <a:t>BU BİLGİLER IŞIĞINDA YENİ BİR SINIFLAMA YAPILMA İHTİYACI DOĞMUŞTUR</a:t>
            </a:r>
            <a:endParaRPr lang="tr-TR" sz="2000" b="1" dirty="0">
              <a:solidFill>
                <a:srgbClr val="FF0000"/>
              </a:solidFill>
            </a:endParaRPr>
          </a:p>
        </p:txBody>
      </p:sp>
      <p:pic>
        <p:nvPicPr>
          <p:cNvPr id="4" name="Picture 5" descr="leeuwenhoek"/>
          <p:cNvPicPr>
            <a:picLocks noChangeAspect="1" noChangeArrowheads="1"/>
          </p:cNvPicPr>
          <p:nvPr/>
        </p:nvPicPr>
        <p:blipFill>
          <a:blip r:embed="rId2" cstate="print"/>
          <a:srcRect/>
          <a:stretch>
            <a:fillRect/>
          </a:stretch>
        </p:blipFill>
        <p:spPr bwMode="auto">
          <a:xfrm>
            <a:off x="1835696" y="3356992"/>
            <a:ext cx="5905375" cy="307979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755576" y="980728"/>
            <a:ext cx="7632848" cy="5145435"/>
          </a:xfrm>
        </p:spPr>
        <p:txBody>
          <a:bodyPr/>
          <a:lstStyle/>
          <a:p>
            <a:pPr>
              <a:buNone/>
            </a:pPr>
            <a:r>
              <a:rPr lang="tr-TR" dirty="0" smtClean="0"/>
              <a:t>				</a:t>
            </a:r>
          </a:p>
          <a:p>
            <a:pPr>
              <a:buNone/>
            </a:pPr>
            <a:endParaRPr lang="tr-TR" dirty="0" smtClean="0"/>
          </a:p>
          <a:p>
            <a:pPr>
              <a:buNone/>
            </a:pPr>
            <a:r>
              <a:rPr lang="tr-TR" dirty="0" smtClean="0"/>
              <a:t>		</a:t>
            </a:r>
            <a:r>
              <a:rPr lang="tr-TR" sz="5400" b="1" dirty="0" smtClean="0">
                <a:solidFill>
                  <a:srgbClr val="FF0000"/>
                </a:solidFill>
              </a:rPr>
              <a:t>   SINIFLANDIRMA</a:t>
            </a:r>
            <a:endParaRPr lang="tr-TR" sz="5400" b="1"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95536" y="188640"/>
            <a:ext cx="8280920" cy="6408712"/>
          </a:xfrm>
        </p:spPr>
        <p:txBody>
          <a:bodyPr>
            <a:normAutofit fontScale="25000" lnSpcReduction="20000"/>
          </a:bodyPr>
          <a:lstStyle/>
          <a:p>
            <a:pPr>
              <a:buNone/>
            </a:pPr>
            <a:r>
              <a:rPr lang="tr-TR" b="1" dirty="0" smtClean="0">
                <a:solidFill>
                  <a:srgbClr val="7030A0"/>
                </a:solidFill>
              </a:rPr>
              <a:t>			</a:t>
            </a:r>
            <a:r>
              <a:rPr lang="tr-TR" sz="8000" b="1" dirty="0" smtClean="0">
                <a:solidFill>
                  <a:srgbClr val="FF0000"/>
                </a:solidFill>
              </a:rPr>
              <a:t>1-SELLÜLER MİKROORGANİZMALAR</a:t>
            </a:r>
          </a:p>
          <a:p>
            <a:pPr>
              <a:buNone/>
            </a:pPr>
            <a:r>
              <a:rPr lang="tr-TR" sz="8000" b="1" dirty="0" smtClean="0">
                <a:solidFill>
                  <a:srgbClr val="7030A0"/>
                </a:solidFill>
              </a:rPr>
              <a:t>	   </a:t>
            </a:r>
            <a:r>
              <a:rPr lang="tr-TR" sz="8000" b="1" dirty="0" smtClean="0">
                <a:solidFill>
                  <a:srgbClr val="0070C0"/>
                </a:solidFill>
              </a:rPr>
              <a:t>A  ÖKARYOT MİKROORGANİZMALAR</a:t>
            </a:r>
            <a:endParaRPr lang="tr-TR" sz="8000" b="1" dirty="0" smtClean="0">
              <a:solidFill>
                <a:schemeClr val="accent6">
                  <a:lumMod val="50000"/>
                </a:schemeClr>
              </a:solidFill>
            </a:endParaRPr>
          </a:p>
          <a:p>
            <a:pPr marL="342900" lvl="5" indent="-342900">
              <a:buNone/>
            </a:pPr>
            <a:r>
              <a:rPr lang="tr-TR" sz="8000" b="1" dirty="0" smtClean="0">
                <a:solidFill>
                  <a:schemeClr val="accent6">
                    <a:lumMod val="50000"/>
                  </a:schemeClr>
                </a:solidFill>
              </a:rPr>
              <a:t>			</a:t>
            </a:r>
            <a:r>
              <a:rPr lang="tr-TR" sz="8000" b="1" dirty="0" smtClean="0">
                <a:solidFill>
                  <a:srgbClr val="00B050"/>
                </a:solidFill>
              </a:rPr>
              <a:t>TEK HÜCRELİLER</a:t>
            </a:r>
          </a:p>
          <a:p>
            <a:pPr marL="342900" lvl="5" indent="-342900">
              <a:buNone/>
            </a:pPr>
            <a:r>
              <a:rPr lang="tr-TR" sz="8000" b="1" dirty="0" err="1" smtClean="0"/>
              <a:t>Protozoonlar</a:t>
            </a:r>
            <a:r>
              <a:rPr lang="tr-TR" sz="8000" b="1" dirty="0" smtClean="0"/>
              <a:t>   (ör:</a:t>
            </a:r>
            <a:r>
              <a:rPr lang="tr-TR" sz="8000" b="1" dirty="0" err="1" smtClean="0"/>
              <a:t>Plasmodium</a:t>
            </a:r>
            <a:r>
              <a:rPr lang="tr-TR" sz="8000" b="1" dirty="0" smtClean="0"/>
              <a:t> türleri)</a:t>
            </a:r>
          </a:p>
          <a:p>
            <a:pPr marL="342900" lvl="5" indent="-342900">
              <a:buNone/>
            </a:pPr>
            <a:r>
              <a:rPr lang="tr-TR" sz="8000" b="1" dirty="0" smtClean="0"/>
              <a:t>Maya  mantarları  (ör:</a:t>
            </a:r>
            <a:r>
              <a:rPr lang="tr-TR" sz="8000" b="1" dirty="0" err="1" smtClean="0"/>
              <a:t>Cryptococcus</a:t>
            </a:r>
            <a:r>
              <a:rPr lang="tr-TR" sz="8000" b="1" dirty="0" smtClean="0"/>
              <a:t> </a:t>
            </a:r>
            <a:r>
              <a:rPr lang="tr-TR" sz="8000" b="1" dirty="0" err="1" smtClean="0"/>
              <a:t>neoformans</a:t>
            </a:r>
            <a:r>
              <a:rPr lang="tr-TR" sz="8000" b="1" dirty="0" smtClean="0"/>
              <a:t>)</a:t>
            </a:r>
          </a:p>
          <a:p>
            <a:pPr marL="342900" lvl="5" indent="-342900">
              <a:buNone/>
            </a:pPr>
            <a:r>
              <a:rPr lang="tr-TR" sz="8000" b="1" dirty="0" smtClean="0">
                <a:solidFill>
                  <a:schemeClr val="accent6">
                    <a:lumMod val="50000"/>
                  </a:schemeClr>
                </a:solidFill>
              </a:rPr>
              <a:t>			</a:t>
            </a:r>
            <a:r>
              <a:rPr lang="tr-TR" sz="8000" b="1" dirty="0" smtClean="0">
                <a:solidFill>
                  <a:srgbClr val="00B050"/>
                </a:solidFill>
              </a:rPr>
              <a:t>ÇOK  HÜCRELİLER</a:t>
            </a:r>
          </a:p>
          <a:p>
            <a:pPr marL="342900" lvl="5" indent="-342900">
              <a:buNone/>
            </a:pPr>
            <a:r>
              <a:rPr lang="tr-TR" sz="8000" b="1" dirty="0" err="1" smtClean="0"/>
              <a:t>Helmintler</a:t>
            </a:r>
            <a:r>
              <a:rPr lang="tr-TR" sz="8000" b="1" dirty="0" smtClean="0"/>
              <a:t>    (ör:</a:t>
            </a:r>
            <a:r>
              <a:rPr lang="tr-TR" sz="8000" b="1" dirty="0" err="1" smtClean="0"/>
              <a:t>Taenia</a:t>
            </a:r>
            <a:r>
              <a:rPr lang="tr-TR" sz="8000" b="1" dirty="0" smtClean="0"/>
              <a:t> </a:t>
            </a:r>
            <a:r>
              <a:rPr lang="tr-TR" sz="8000" b="1" dirty="0" err="1" smtClean="0"/>
              <a:t>saginata</a:t>
            </a:r>
            <a:r>
              <a:rPr lang="tr-TR" sz="8000" b="1" dirty="0" smtClean="0"/>
              <a:t> )</a:t>
            </a:r>
          </a:p>
          <a:p>
            <a:pPr marL="342900" lvl="5" indent="-342900">
              <a:buNone/>
            </a:pPr>
            <a:r>
              <a:rPr lang="tr-TR" sz="8000" b="1" dirty="0" smtClean="0"/>
              <a:t>Küf mantarları (ör:</a:t>
            </a:r>
            <a:r>
              <a:rPr lang="tr-TR" sz="8000" b="1" dirty="0" err="1" smtClean="0"/>
              <a:t>Aspergilus</a:t>
            </a:r>
            <a:r>
              <a:rPr lang="tr-TR" sz="8000" b="1" dirty="0" smtClean="0"/>
              <a:t> </a:t>
            </a:r>
            <a:r>
              <a:rPr lang="tr-TR" sz="8000" b="1" dirty="0" err="1" smtClean="0"/>
              <a:t>fumigatus</a:t>
            </a:r>
            <a:r>
              <a:rPr lang="tr-TR" sz="8000" b="1" dirty="0" smtClean="0"/>
              <a:t>)</a:t>
            </a:r>
            <a:endParaRPr lang="tr-TR" sz="8000" b="1" dirty="0" smtClean="0">
              <a:solidFill>
                <a:schemeClr val="accent6">
                  <a:lumMod val="50000"/>
                </a:schemeClr>
              </a:solidFill>
            </a:endParaRPr>
          </a:p>
          <a:p>
            <a:pPr lvl="1">
              <a:buNone/>
            </a:pPr>
            <a:r>
              <a:rPr lang="tr-TR" sz="8000" b="1" dirty="0" smtClean="0">
                <a:solidFill>
                  <a:srgbClr val="0070C0"/>
                </a:solidFill>
              </a:rPr>
              <a:t>    B  PROKARYOT  MİKROORGANİZMALAR</a:t>
            </a:r>
          </a:p>
          <a:p>
            <a:r>
              <a:rPr lang="tr-TR" sz="8000" b="1" dirty="0" err="1" smtClean="0"/>
              <a:t>Arkebakteriler</a:t>
            </a:r>
            <a:endParaRPr lang="tr-TR" sz="8000" b="1" dirty="0" smtClean="0"/>
          </a:p>
          <a:p>
            <a:r>
              <a:rPr lang="tr-TR" sz="8000" b="1" dirty="0" err="1" smtClean="0"/>
              <a:t>Siyanobakteriler</a:t>
            </a:r>
            <a:r>
              <a:rPr lang="tr-TR" sz="8000" b="1" dirty="0" smtClean="0"/>
              <a:t>  (mavi yeşil algler)</a:t>
            </a:r>
          </a:p>
          <a:p>
            <a:r>
              <a:rPr lang="tr-TR" sz="8000" b="1" dirty="0" smtClean="0"/>
              <a:t>Bakteriler</a:t>
            </a:r>
          </a:p>
          <a:p>
            <a:pPr lvl="2"/>
            <a:r>
              <a:rPr lang="tr-TR" sz="8000" b="1" dirty="0" err="1" smtClean="0">
                <a:solidFill>
                  <a:schemeClr val="accent6">
                    <a:lumMod val="50000"/>
                  </a:schemeClr>
                </a:solidFill>
              </a:rPr>
              <a:t>Eubakteriler</a:t>
            </a:r>
            <a:endParaRPr lang="tr-TR" sz="8000" b="1" dirty="0" smtClean="0">
              <a:solidFill>
                <a:schemeClr val="accent6">
                  <a:lumMod val="50000"/>
                </a:schemeClr>
              </a:solidFill>
            </a:endParaRPr>
          </a:p>
          <a:p>
            <a:pPr lvl="2"/>
            <a:r>
              <a:rPr lang="tr-TR" sz="8000" b="1" dirty="0" err="1" smtClean="0">
                <a:solidFill>
                  <a:schemeClr val="accent6">
                    <a:lumMod val="50000"/>
                  </a:schemeClr>
                </a:solidFill>
              </a:rPr>
              <a:t>Spiroketler</a:t>
            </a:r>
            <a:endParaRPr lang="tr-TR" sz="8000" b="1" dirty="0" smtClean="0">
              <a:solidFill>
                <a:schemeClr val="accent6">
                  <a:lumMod val="50000"/>
                </a:schemeClr>
              </a:solidFill>
            </a:endParaRPr>
          </a:p>
          <a:p>
            <a:pPr lvl="2"/>
            <a:r>
              <a:rPr lang="tr-TR" sz="8000" b="1" dirty="0" err="1" smtClean="0">
                <a:solidFill>
                  <a:schemeClr val="accent6">
                    <a:lumMod val="50000"/>
                  </a:schemeClr>
                </a:solidFill>
              </a:rPr>
              <a:t>Riketsiyalar</a:t>
            </a:r>
            <a:endParaRPr lang="tr-TR" sz="8000" b="1" dirty="0" smtClean="0">
              <a:solidFill>
                <a:schemeClr val="accent6">
                  <a:lumMod val="50000"/>
                </a:schemeClr>
              </a:solidFill>
            </a:endParaRPr>
          </a:p>
          <a:p>
            <a:pPr lvl="2"/>
            <a:r>
              <a:rPr lang="tr-TR" sz="8000" b="1" dirty="0" err="1" smtClean="0">
                <a:solidFill>
                  <a:schemeClr val="accent6">
                    <a:lumMod val="50000"/>
                  </a:schemeClr>
                </a:solidFill>
              </a:rPr>
              <a:t>Klamidyalar</a:t>
            </a:r>
            <a:endParaRPr lang="tr-TR" sz="8000" b="1" dirty="0" smtClean="0">
              <a:solidFill>
                <a:schemeClr val="accent6">
                  <a:lumMod val="50000"/>
                </a:schemeClr>
              </a:solidFill>
            </a:endParaRPr>
          </a:p>
          <a:p>
            <a:pPr lvl="2"/>
            <a:r>
              <a:rPr lang="tr-TR" sz="8000" b="1" dirty="0" err="1" smtClean="0">
                <a:solidFill>
                  <a:schemeClr val="accent6">
                    <a:lumMod val="50000"/>
                  </a:schemeClr>
                </a:solidFill>
              </a:rPr>
              <a:t>Mikoplazmalar</a:t>
            </a:r>
            <a:endParaRPr lang="tr-TR" sz="8000" b="1" dirty="0" smtClean="0">
              <a:solidFill>
                <a:schemeClr val="accent6">
                  <a:lumMod val="50000"/>
                </a:schemeClr>
              </a:solidFill>
            </a:endParaRPr>
          </a:p>
          <a:p>
            <a:pPr>
              <a:buNone/>
            </a:pPr>
            <a:r>
              <a:rPr lang="tr-TR" sz="8000" b="1" dirty="0" smtClean="0">
                <a:solidFill>
                  <a:srgbClr val="FF0000"/>
                </a:solidFill>
              </a:rPr>
              <a:t>			2-ASELLÜLER MİKROORGANİZMALAR</a:t>
            </a:r>
          </a:p>
          <a:p>
            <a:pPr>
              <a:buNone/>
            </a:pPr>
            <a:r>
              <a:rPr lang="tr-TR" sz="6400" b="1" dirty="0" smtClean="0"/>
              <a:t>				</a:t>
            </a:r>
            <a:r>
              <a:rPr lang="tr-TR" sz="8000" b="1" dirty="0" smtClean="0"/>
              <a:t>Virüsler</a:t>
            </a:r>
          </a:p>
          <a:p>
            <a:pPr>
              <a:buNone/>
            </a:pPr>
            <a:r>
              <a:rPr lang="tr-TR" sz="8000" b="1" dirty="0" smtClean="0"/>
              <a:t>				</a:t>
            </a:r>
            <a:r>
              <a:rPr lang="tr-TR" sz="8000" b="1" dirty="0" err="1" smtClean="0"/>
              <a:t>Viroidler</a:t>
            </a:r>
            <a:endParaRPr lang="tr-TR" sz="8000" b="1" dirty="0" smtClean="0"/>
          </a:p>
          <a:p>
            <a:pPr>
              <a:buNone/>
            </a:pPr>
            <a:r>
              <a:rPr lang="tr-TR" sz="8000" b="1" dirty="0" smtClean="0"/>
              <a:t>				</a:t>
            </a:r>
            <a:r>
              <a:rPr lang="tr-TR" sz="8000" b="1" dirty="0" err="1" smtClean="0"/>
              <a:t>Prionlar</a:t>
            </a:r>
            <a:endParaRPr lang="tr-TR" sz="8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Dikdörtgen"/>
          <p:cNvSpPr/>
          <p:nvPr/>
        </p:nvSpPr>
        <p:spPr>
          <a:xfrm>
            <a:off x="395536" y="260649"/>
            <a:ext cx="8352928" cy="3139321"/>
          </a:xfrm>
          <a:prstGeom prst="rect">
            <a:avLst/>
          </a:prstGeom>
        </p:spPr>
        <p:txBody>
          <a:bodyPr wrap="square">
            <a:spAutoFit/>
          </a:bodyPr>
          <a:lstStyle/>
          <a:p>
            <a:pPr>
              <a:buNone/>
            </a:pPr>
            <a:r>
              <a:rPr lang="tr-TR" b="1" dirty="0" smtClean="0">
                <a:solidFill>
                  <a:srgbClr val="FF0000"/>
                </a:solidFill>
              </a:rPr>
              <a:t>1-MORFOLOJİK ÖZELLİKLERİNE GÖRE</a:t>
            </a:r>
          </a:p>
          <a:p>
            <a:pPr>
              <a:buNone/>
            </a:pPr>
            <a:endParaRPr lang="tr-TR" b="1" dirty="0" smtClean="0">
              <a:solidFill>
                <a:srgbClr val="FF0000"/>
              </a:solidFill>
            </a:endParaRPr>
          </a:p>
          <a:p>
            <a:pPr>
              <a:buNone/>
            </a:pPr>
            <a:r>
              <a:rPr lang="tr-TR" b="1" dirty="0" smtClean="0"/>
              <a:t>		</a:t>
            </a:r>
            <a:r>
              <a:rPr lang="tr-TR" b="1" dirty="0" smtClean="0">
                <a:solidFill>
                  <a:srgbClr val="00B050"/>
                </a:solidFill>
              </a:rPr>
              <a:t>a)Boyanma Özelliklerine göre</a:t>
            </a:r>
          </a:p>
          <a:p>
            <a:pPr>
              <a:buNone/>
            </a:pPr>
            <a:r>
              <a:rPr lang="tr-TR" b="1" dirty="0" smtClean="0"/>
              <a:t>A) Gram pozitif (+) Bakteriler</a:t>
            </a:r>
          </a:p>
          <a:p>
            <a:pPr>
              <a:buNone/>
            </a:pPr>
            <a:r>
              <a:rPr lang="tr-TR" b="1" dirty="0" smtClean="0"/>
              <a:t>B) Gram negatif (-) Bakteriler</a:t>
            </a:r>
          </a:p>
          <a:p>
            <a:pPr>
              <a:buNone/>
            </a:pPr>
            <a:endParaRPr lang="tr-TR" b="1" dirty="0" smtClean="0"/>
          </a:p>
          <a:p>
            <a:pPr>
              <a:buNone/>
            </a:pPr>
            <a:r>
              <a:rPr lang="tr-TR" b="1" dirty="0" smtClean="0"/>
              <a:t>		</a:t>
            </a:r>
            <a:r>
              <a:rPr lang="tr-TR" b="1" dirty="0" smtClean="0">
                <a:solidFill>
                  <a:srgbClr val="00B050"/>
                </a:solidFill>
              </a:rPr>
              <a:t>b) Mikroskobik Morfolojilerine Göre</a:t>
            </a:r>
          </a:p>
          <a:p>
            <a:pPr>
              <a:buNone/>
            </a:pPr>
            <a:r>
              <a:rPr lang="tr-TR" b="1" dirty="0" smtClean="0">
                <a:solidFill>
                  <a:srgbClr val="7030A0"/>
                </a:solidFill>
              </a:rPr>
              <a:t>	A—GERÇEK  BAKTERİLER</a:t>
            </a:r>
          </a:p>
          <a:p>
            <a:pPr>
              <a:buNone/>
            </a:pPr>
            <a:r>
              <a:rPr lang="tr-TR" b="1" dirty="0" smtClean="0"/>
              <a:t>1-Kok (</a:t>
            </a:r>
            <a:r>
              <a:rPr lang="tr-TR" b="1" dirty="0" err="1" smtClean="0"/>
              <a:t>Coc</a:t>
            </a:r>
            <a:r>
              <a:rPr lang="tr-TR" b="1" dirty="0" smtClean="0"/>
              <a:t>)</a:t>
            </a:r>
          </a:p>
          <a:p>
            <a:pPr>
              <a:buNone/>
            </a:pPr>
            <a:r>
              <a:rPr lang="tr-TR" b="1" dirty="0" smtClean="0"/>
              <a:t>2-Basil (</a:t>
            </a:r>
            <a:r>
              <a:rPr lang="tr-TR" b="1" dirty="0" err="1" smtClean="0"/>
              <a:t>Bacil</a:t>
            </a:r>
            <a:r>
              <a:rPr lang="tr-TR" b="1" dirty="0" smtClean="0"/>
              <a:t>)</a:t>
            </a:r>
          </a:p>
          <a:p>
            <a:pPr>
              <a:buNone/>
            </a:pPr>
            <a:r>
              <a:rPr lang="tr-TR" b="1" dirty="0" smtClean="0"/>
              <a:t>3-</a:t>
            </a:r>
            <a:r>
              <a:rPr lang="tr-TR" b="1" dirty="0" err="1" smtClean="0"/>
              <a:t>Spiroketler</a:t>
            </a:r>
            <a:endParaRPr lang="tr-TR" b="1" dirty="0"/>
          </a:p>
        </p:txBody>
      </p:sp>
      <p:sp>
        <p:nvSpPr>
          <p:cNvPr id="5" name="4 Dikdörtgen"/>
          <p:cNvSpPr/>
          <p:nvPr/>
        </p:nvSpPr>
        <p:spPr>
          <a:xfrm>
            <a:off x="395536" y="3429000"/>
            <a:ext cx="8496944" cy="2862322"/>
          </a:xfrm>
          <a:prstGeom prst="rect">
            <a:avLst/>
          </a:prstGeom>
        </p:spPr>
        <p:txBody>
          <a:bodyPr wrap="square">
            <a:spAutoFit/>
          </a:bodyPr>
          <a:lstStyle/>
          <a:p>
            <a:pPr>
              <a:buNone/>
            </a:pPr>
            <a:r>
              <a:rPr lang="tr-TR" b="1" dirty="0" smtClean="0">
                <a:solidFill>
                  <a:srgbClr val="7030A0"/>
                </a:solidFill>
              </a:rPr>
              <a:t>	</a:t>
            </a:r>
            <a:r>
              <a:rPr lang="tr-TR" sz="2000" b="1" dirty="0" smtClean="0">
                <a:solidFill>
                  <a:srgbClr val="7030A0"/>
                </a:solidFill>
              </a:rPr>
              <a:t>B—FLAMENTÖZ  BAKTERİLER</a:t>
            </a:r>
          </a:p>
          <a:p>
            <a:pPr>
              <a:buNone/>
            </a:pPr>
            <a:r>
              <a:rPr lang="tr-TR" sz="2000" b="1" dirty="0" smtClean="0"/>
              <a:t>1-</a:t>
            </a:r>
            <a:r>
              <a:rPr lang="tr-TR" sz="2000" b="1" dirty="0" err="1" smtClean="0"/>
              <a:t>Actinomyces</a:t>
            </a:r>
            <a:endParaRPr lang="tr-TR" sz="2000" b="1" dirty="0" smtClean="0"/>
          </a:p>
          <a:p>
            <a:pPr>
              <a:buNone/>
            </a:pPr>
            <a:r>
              <a:rPr lang="tr-TR" sz="2000" b="1" dirty="0" smtClean="0"/>
              <a:t>2-</a:t>
            </a:r>
            <a:r>
              <a:rPr lang="tr-TR" sz="2000" b="1" dirty="0" err="1" smtClean="0"/>
              <a:t>Nocardia</a:t>
            </a:r>
            <a:endParaRPr lang="tr-TR" sz="2000" b="1" dirty="0" smtClean="0"/>
          </a:p>
          <a:p>
            <a:pPr>
              <a:buNone/>
            </a:pPr>
            <a:r>
              <a:rPr lang="tr-TR" sz="2000" b="1" dirty="0" smtClean="0"/>
              <a:t>3-</a:t>
            </a:r>
            <a:r>
              <a:rPr lang="tr-TR" sz="2000" b="1" dirty="0" err="1" smtClean="0"/>
              <a:t>Streptomyces</a:t>
            </a:r>
            <a:endParaRPr lang="tr-TR" sz="2000" b="1" dirty="0" smtClean="0"/>
          </a:p>
          <a:p>
            <a:pPr>
              <a:buNone/>
            </a:pPr>
            <a:endParaRPr lang="tr-TR" sz="2000" b="1" dirty="0" smtClean="0"/>
          </a:p>
          <a:p>
            <a:pPr>
              <a:buNone/>
            </a:pPr>
            <a:r>
              <a:rPr lang="tr-TR" sz="2000" b="1" dirty="0" smtClean="0">
                <a:solidFill>
                  <a:srgbClr val="FF0000"/>
                </a:solidFill>
              </a:rPr>
              <a:t>2-FİZYOLOJİK ÖZELLİKLERİNE GÖRE (AEROP, ANAEROP)</a:t>
            </a:r>
          </a:p>
          <a:p>
            <a:pPr>
              <a:buNone/>
            </a:pPr>
            <a:r>
              <a:rPr lang="tr-TR" sz="2000" b="1" dirty="0" smtClean="0">
                <a:solidFill>
                  <a:srgbClr val="FF0000"/>
                </a:solidFill>
              </a:rPr>
              <a:t>3-ANTİJENİK YAPIYA GÖRE</a:t>
            </a:r>
          </a:p>
          <a:p>
            <a:pPr>
              <a:buNone/>
            </a:pPr>
            <a:r>
              <a:rPr lang="tr-TR" sz="2000" b="1" dirty="0" smtClean="0">
                <a:solidFill>
                  <a:srgbClr val="FF0000"/>
                </a:solidFill>
              </a:rPr>
              <a:t>4-SAYISAL SINIFLANDIRMAYA GÖRE</a:t>
            </a:r>
          </a:p>
          <a:p>
            <a:pPr>
              <a:buNone/>
            </a:pPr>
            <a:r>
              <a:rPr lang="tr-TR" sz="2000" b="1" dirty="0" smtClean="0">
                <a:solidFill>
                  <a:srgbClr val="FF0000"/>
                </a:solidFill>
              </a:rPr>
              <a:t>5-GENETİK SINIFLANDIRMAYA GÖRE</a:t>
            </a:r>
            <a:endParaRPr lang="tr-TR" sz="2000" b="1"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Grp="1" noChangeAspect="1" noChangeArrowheads="1"/>
          </p:cNvPicPr>
          <p:nvPr>
            <p:ph idx="4294967295"/>
          </p:nvPr>
        </p:nvPicPr>
        <p:blipFill>
          <a:blip r:embed="rId2" cstate="print"/>
          <a:srcRect/>
          <a:stretch>
            <a:fillRect/>
          </a:stretch>
        </p:blipFill>
        <p:spPr bwMode="auto">
          <a:xfrm>
            <a:off x="323528" y="188640"/>
            <a:ext cx="8496944" cy="6264399"/>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41986" name="Picture 2"/>
          <p:cNvPicPr>
            <a:picLocks noGrp="1" noChangeAspect="1" noChangeArrowheads="1"/>
          </p:cNvPicPr>
          <p:nvPr>
            <p:ph idx="1"/>
          </p:nvPr>
        </p:nvPicPr>
        <p:blipFill>
          <a:blip r:embed="rId2" cstate="print"/>
          <a:srcRect/>
          <a:stretch>
            <a:fillRect/>
          </a:stretch>
        </p:blipFill>
        <p:spPr bwMode="auto">
          <a:xfrm>
            <a:off x="251520" y="188640"/>
            <a:ext cx="8568952" cy="6408712"/>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Grp="1" noChangeAspect="1" noChangeArrowheads="1"/>
          </p:cNvPicPr>
          <p:nvPr>
            <p:ph idx="4294967295"/>
          </p:nvPr>
        </p:nvPicPr>
        <p:blipFill>
          <a:blip r:embed="rId2" cstate="print"/>
          <a:srcRect/>
          <a:stretch>
            <a:fillRect/>
          </a:stretch>
        </p:blipFill>
        <p:spPr bwMode="auto">
          <a:xfrm>
            <a:off x="323528" y="332656"/>
            <a:ext cx="8353425" cy="61214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Grp="1" noChangeAspect="1" noChangeArrowheads="1"/>
          </p:cNvPicPr>
          <p:nvPr>
            <p:ph idx="4294967295"/>
          </p:nvPr>
        </p:nvPicPr>
        <p:blipFill>
          <a:blip r:embed="rId2" cstate="print"/>
          <a:srcRect/>
          <a:stretch>
            <a:fillRect/>
          </a:stretch>
        </p:blipFill>
        <p:spPr bwMode="auto">
          <a:xfrm>
            <a:off x="323528" y="332656"/>
            <a:ext cx="8569325" cy="6119813"/>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45058" name="Picture 2"/>
          <p:cNvPicPr>
            <a:picLocks noGrp="1" noChangeAspect="1" noChangeArrowheads="1"/>
          </p:cNvPicPr>
          <p:nvPr>
            <p:ph idx="1"/>
          </p:nvPr>
        </p:nvPicPr>
        <p:blipFill>
          <a:blip r:embed="rId2" cstate="print"/>
          <a:srcRect/>
          <a:stretch>
            <a:fillRect/>
          </a:stretch>
        </p:blipFill>
        <p:spPr bwMode="auto">
          <a:xfrm>
            <a:off x="395536" y="260648"/>
            <a:ext cx="8352927" cy="6336704"/>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Sau\Desktop\imagesCAB1QUE1.jpg"/>
          <p:cNvPicPr>
            <a:picLocks noGrp="1" noChangeAspect="1" noChangeArrowheads="1"/>
          </p:cNvPicPr>
          <p:nvPr>
            <p:ph idx="4294967295"/>
          </p:nvPr>
        </p:nvPicPr>
        <p:blipFill>
          <a:blip r:embed="rId2" cstate="print">
            <a:extLst>
              <a:ext uri="{28A0092B-C50C-407E-A947-70E740481C1C}">
                <a14:useLocalDpi xmlns="" xmlns:a14="http://schemas.microsoft.com/office/drawing/2010/main" val="0"/>
              </a:ext>
            </a:extLst>
          </a:blip>
          <a:srcRect/>
          <a:stretch>
            <a:fillRect/>
          </a:stretch>
        </p:blipFill>
        <p:spPr bwMode="auto">
          <a:xfrm>
            <a:off x="611560" y="404664"/>
            <a:ext cx="7319963" cy="5740400"/>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1883</TotalTime>
  <Words>589</Words>
  <Application>Microsoft Office PowerPoint</Application>
  <PresentationFormat>Ekran Gösterisi (4:3)</PresentationFormat>
  <Paragraphs>129</Paragraphs>
  <Slides>26</Slides>
  <Notes>0</Notes>
  <HiddenSlides>0</HiddenSlides>
  <MMClips>0</MMClips>
  <ScaleCrop>false</ScaleCrop>
  <HeadingPairs>
    <vt:vector size="4" baseType="variant">
      <vt:variant>
        <vt:lpstr>Tema</vt:lpstr>
      </vt:variant>
      <vt:variant>
        <vt:i4>1</vt:i4>
      </vt:variant>
      <vt:variant>
        <vt:lpstr>Slayt Başlıkları</vt:lpstr>
      </vt:variant>
      <vt:variant>
        <vt:i4>26</vt:i4>
      </vt:variant>
    </vt:vector>
  </HeadingPairs>
  <TitlesOfParts>
    <vt:vector size="27" baseType="lpstr">
      <vt:lpstr>Ofis Teması</vt:lpstr>
      <vt:lpstr>MİKROBİYOLOJİ  NEDİR?</vt:lpstr>
      <vt:lpstr> PATOJEN MİKROORGANİZMALAR </vt:lpstr>
      <vt:lpstr>Slayt 3</vt:lpstr>
      <vt:lpstr>MİKROBİYOLOJİ  NEDİR?</vt:lpstr>
      <vt:lpstr>MİKROBİYOLOJİ  NEDİR?</vt:lpstr>
      <vt:lpstr>Slayt 6</vt:lpstr>
      <vt:lpstr>TIBBİ MİKROBİYOLOJİ</vt:lpstr>
      <vt:lpstr>MİKROORGANİZMALARIN ÇEVRE İLE OLAN İLGİSİ DİKKATE ALINARAK ELE ALINAN BÖLÜMLERİ</vt:lpstr>
      <vt:lpstr>MİKROORGANİZMALARIN KAYNAĞI NEDİR?</vt:lpstr>
      <vt:lpstr>TARİHSEL  GELİŞİM</vt:lpstr>
      <vt:lpstr>MİKROORGANİZMALARIN VARLIĞI ANCAK MİKROSKOBUN KEŞFİ İLE ORTAYA KONULMUŞTUR</vt:lpstr>
      <vt:lpstr>KEŞİFLER YÜZYILLAR BOYU DEVAM ETMİŞTİR</vt:lpstr>
      <vt:lpstr>KEŞİFLER YÜZYILLAR BOYU DEVAM ETMİŞTİR</vt:lpstr>
      <vt:lpstr>Slayt 14</vt:lpstr>
      <vt:lpstr>GENEL OLARAK İNSANDA HASTALIK YAPAN MO’LARI MİKROSKOBİK GÖRÜNÜMLERİ,HÜCRE YAPILARI VE ÖZELLİKLERİNE GÖRE SINIFLAMA</vt:lpstr>
      <vt:lpstr>İNCELEDİĞİ KONULARA GÖRE MİKROBİYOLOJİNİN ÇALIŞMA ALANLARI </vt:lpstr>
      <vt:lpstr>MİKROSKOPİ TEKNİĞİNDEKİ GELİŞMELER SONUCU 19.YY’DA BİTKİ VE HAYVANLAR DIŞINDA YENİ BİR GRUBUN VARLIĞINI  ORTAYA ÇIKARMIŞ</vt:lpstr>
      <vt:lpstr>Slayt 18</vt:lpstr>
      <vt:lpstr>Slayt 19</vt:lpstr>
      <vt:lpstr>Slayt 20</vt:lpstr>
      <vt:lpstr>Slayt 21</vt:lpstr>
      <vt:lpstr>Slayt 22</vt:lpstr>
      <vt:lpstr>Slayt 23</vt:lpstr>
      <vt:lpstr>Slayt 24</vt:lpstr>
      <vt:lpstr>Slayt 25</vt:lpstr>
      <vt:lpstr>Slayt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MİKROBİYOLOJİ</dc:title>
  <dc:creator>Pc</dc:creator>
  <cp:lastModifiedBy>tijen</cp:lastModifiedBy>
  <cp:revision>477</cp:revision>
  <dcterms:created xsi:type="dcterms:W3CDTF">2014-08-05T10:07:42Z</dcterms:created>
  <dcterms:modified xsi:type="dcterms:W3CDTF">2026-08-19T08:10:48Z</dcterms:modified>
</cp:coreProperties>
</file>