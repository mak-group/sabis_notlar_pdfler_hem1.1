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5" r:id="rId8"/>
    <p:sldId id="264" r:id="rId9"/>
    <p:sldId id="266" r:id="rId10"/>
    <p:sldId id="263" r:id="rId11"/>
    <p:sldId id="261" r:id="rId12"/>
    <p:sldId id="269" r:id="rId13"/>
    <p:sldId id="270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E19AB-EC2C-4CE4-9656-B4EE61B89DDC}" type="datetimeFigureOut">
              <a:rPr lang="tr-TR" smtClean="0"/>
              <a:pPr/>
              <a:t>7.08.2026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C66AF-4309-4BEE-9B80-82C3B17DA2EF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HASTALIK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OLUŞTURAN VİRÜSLER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7030A0"/>
                </a:solidFill>
              </a:rPr>
              <a:t>VE SEÇTİKLERİ SİSTEMLER</a:t>
            </a:r>
            <a:endParaRPr lang="tr-TR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Genel Enfeksiyon Niteliğinde Hastalık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Oluşturan Virüsler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Bu tür hastalık oluşturan virüsler kan dolaşımı ile bütün vücuda yayılırlar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Bu sayede bir çok doku ve organı etkilerler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da-DK" sz="2800" b="1" dirty="0" smtClean="0"/>
              <a:t>Klinik bulgu olarak genelde ateş,</a:t>
            </a:r>
            <a:r>
              <a:rPr lang="tr-TR" sz="2800" b="1" dirty="0" smtClean="0"/>
              <a:t> kırgınlık, deride döküntüler gibi semptomlar oluşur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Örnek : Çiçek, kızamık, suçiçeği enfeksiyonları</a:t>
            </a:r>
            <a:endParaRPr lang="tr-TR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Primer</a:t>
            </a:r>
            <a:r>
              <a:rPr lang="tr-TR" b="1" dirty="0" smtClean="0">
                <a:solidFill>
                  <a:srgbClr val="FF0000"/>
                </a:solidFill>
              </a:rPr>
              <a:t> Olarak Spesifik Organlara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Yerleşerek Hastalık Oluşturan Virüsler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Virüsler kan dolaşımı, </a:t>
            </a:r>
            <a:r>
              <a:rPr lang="tr-TR" sz="2800" b="1" dirty="0" err="1" smtClean="0"/>
              <a:t>periferal</a:t>
            </a:r>
            <a:r>
              <a:rPr lang="tr-TR" sz="2800" b="1" dirty="0" smtClean="0"/>
              <a:t> sinirler veya diğer yollarla yayılarak yalnızca </a:t>
            </a:r>
            <a:r>
              <a:rPr lang="es-ES" sz="2800" b="1" dirty="0" smtClean="0"/>
              <a:t>belirli organlara ya da dokulara yerleşip</a:t>
            </a:r>
            <a:r>
              <a:rPr lang="tr-TR" sz="2800" b="1" dirty="0" smtClean="0"/>
              <a:t> burada hastalık oluştururlar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Virüsler genellikle sistemlere yerleşerek hastalık oluştururlar</a:t>
            </a:r>
            <a:endParaRPr lang="tr-TR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76672"/>
            <a:ext cx="8424936" cy="5832648"/>
          </a:xfrm>
        </p:spPr>
        <p:txBody>
          <a:bodyPr>
            <a:normAutofit/>
          </a:bodyPr>
          <a:lstStyle/>
          <a:p>
            <a:endParaRPr lang="tr-TR" sz="2800" b="1" dirty="0" smtClean="0"/>
          </a:p>
          <a:p>
            <a:r>
              <a:rPr lang="tr-TR" sz="2800" b="1" dirty="0" smtClean="0"/>
              <a:t>Sinir </a:t>
            </a:r>
            <a:r>
              <a:rPr lang="tr-TR" sz="2800" b="1" dirty="0" smtClean="0"/>
              <a:t>Sistemi Hastalıkları</a:t>
            </a:r>
          </a:p>
          <a:p>
            <a:r>
              <a:rPr lang="tr-TR" sz="2800" b="1" dirty="0" smtClean="0"/>
              <a:t>Solunum Sistemi Hastalıkları</a:t>
            </a:r>
          </a:p>
          <a:p>
            <a:r>
              <a:rPr lang="tr-TR" sz="2800" b="1" dirty="0" smtClean="0"/>
              <a:t>Deri ve </a:t>
            </a:r>
            <a:r>
              <a:rPr lang="tr-TR" sz="2800" b="1" dirty="0" err="1" smtClean="0"/>
              <a:t>Mukoz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Membranların</a:t>
            </a:r>
            <a:r>
              <a:rPr lang="tr-TR" sz="2800" b="1" dirty="0" smtClean="0"/>
              <a:t> Lokalize Hastalıkları</a:t>
            </a:r>
          </a:p>
          <a:p>
            <a:r>
              <a:rPr lang="tr-TR" sz="2800" b="1" dirty="0" smtClean="0"/>
              <a:t>Göz Hastalıkları</a:t>
            </a:r>
          </a:p>
          <a:p>
            <a:r>
              <a:rPr lang="tr-TR" sz="2800" b="1" dirty="0" smtClean="0"/>
              <a:t>Karaciğer Hastalıkları</a:t>
            </a:r>
          </a:p>
          <a:p>
            <a:r>
              <a:rPr lang="tr-TR" sz="2800" b="1" dirty="0" err="1" smtClean="0"/>
              <a:t>Tükrük</a:t>
            </a:r>
            <a:r>
              <a:rPr lang="tr-TR" sz="2800" b="1" dirty="0" smtClean="0"/>
              <a:t> Bezlerinin Hastalıkları</a:t>
            </a:r>
          </a:p>
          <a:p>
            <a:r>
              <a:rPr lang="tr-TR" sz="2800" b="1" dirty="0" err="1" smtClean="0"/>
              <a:t>Gastrointestinal</a:t>
            </a:r>
            <a:r>
              <a:rPr lang="tr-TR" sz="2800" b="1" dirty="0" smtClean="0"/>
              <a:t> Sistem Hastalıkları</a:t>
            </a:r>
          </a:p>
          <a:p>
            <a:r>
              <a:rPr lang="tr-TR" sz="2800" b="1" dirty="0" smtClean="0"/>
              <a:t>Seksüel Yolla Bulaşan Hastalıklar</a:t>
            </a:r>
            <a:endParaRPr lang="tr-TR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SİNİR SİSTEMİ HASTALIKLARI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Organizmaya giren virüs, sinir sistemi hücrelerini </a:t>
            </a:r>
            <a:r>
              <a:rPr lang="tr-TR" sz="2800" b="1" dirty="0" err="1" smtClean="0"/>
              <a:t>enfekte</a:t>
            </a:r>
            <a:r>
              <a:rPr lang="tr-TR" sz="2800" b="1" dirty="0" smtClean="0"/>
              <a:t> ederek, paralizi, menenjit, </a:t>
            </a:r>
            <a:r>
              <a:rPr lang="tr-TR" sz="2800" b="1" dirty="0" err="1" smtClean="0"/>
              <a:t>ensefalit</a:t>
            </a:r>
            <a:r>
              <a:rPr lang="tr-TR" sz="2800" b="1" dirty="0" smtClean="0"/>
              <a:t> gibi semptomlarla seyreden hastalık yaparlar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err="1" smtClean="0"/>
              <a:t>Poliomyelit</a:t>
            </a:r>
            <a:r>
              <a:rPr lang="tr-TR" sz="2800" b="1" dirty="0" smtClean="0"/>
              <a:t>, kuduz, aseptik menenjit gibi enfeksiyonlar…</a:t>
            </a:r>
            <a:endParaRPr lang="tr-TR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SOLUNUM SİSTEMİ HASTALIKLARI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Özellikle damlacık enfeksiyonu şeklinde vücuda giren virüs, solunum sistemi hücrelerine yerleşerek hastalık oluştururlar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err="1" smtClean="0"/>
              <a:t>İnfluenza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Parainflüenza</a:t>
            </a:r>
            <a:r>
              <a:rPr lang="tr-TR" sz="2800" b="1" dirty="0" smtClean="0"/>
              <a:t>,</a:t>
            </a:r>
            <a:r>
              <a:rPr lang="tr-TR" sz="2800" b="1" dirty="0" err="1" smtClean="0"/>
              <a:t>Respiratuvar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sinsityal</a:t>
            </a:r>
            <a:r>
              <a:rPr lang="tr-TR" sz="2800" b="1" dirty="0" smtClean="0"/>
              <a:t> virüsüne bağlı </a:t>
            </a:r>
            <a:r>
              <a:rPr lang="tr-TR" sz="2800" b="1" dirty="0" err="1" smtClean="0"/>
              <a:t>pnömoni</a:t>
            </a:r>
            <a:r>
              <a:rPr lang="tr-TR" sz="2800" b="1" dirty="0" smtClean="0"/>
              <a:t>, bronşit ve farenjit gibi enfeksiyonlar…</a:t>
            </a:r>
            <a:endParaRPr lang="tr-TR" sz="2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DERİ VE MUKOZ MEMBRANLARIN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LOKALİZE HASTALIKLARI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b="1" dirty="0" smtClean="0"/>
              <a:t>Lokal ya da sistemik enfeksiyonlar</a:t>
            </a:r>
            <a:r>
              <a:rPr lang="tr-TR" sz="2800" b="1" dirty="0" smtClean="0"/>
              <a:t> sonucu virüsün deriye ve </a:t>
            </a:r>
            <a:r>
              <a:rPr lang="tr-TR" sz="2800" b="1" dirty="0" err="1" smtClean="0"/>
              <a:t>mukoz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membranlara</a:t>
            </a:r>
            <a:r>
              <a:rPr lang="tr-TR" sz="2800" b="1" dirty="0" smtClean="0"/>
              <a:t> ulaşmasıyla ortaya çıkan hastalık tablosudur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en-US" sz="2800" b="1" dirty="0" err="1" smtClean="0">
                <a:solidFill>
                  <a:srgbClr val="FF0000"/>
                </a:solidFill>
              </a:rPr>
              <a:t>Örnek</a:t>
            </a:r>
            <a:r>
              <a:rPr lang="en-US" sz="2800" b="1" dirty="0" smtClean="0">
                <a:solidFill>
                  <a:srgbClr val="FF0000"/>
                </a:solidFill>
              </a:rPr>
              <a:t> : </a:t>
            </a:r>
            <a:r>
              <a:rPr lang="en-US" sz="2800" b="1" dirty="0" smtClean="0"/>
              <a:t>Herpes simplex </a:t>
            </a:r>
            <a:r>
              <a:rPr lang="en-US" sz="2800" b="1" dirty="0" err="1" smtClean="0"/>
              <a:t>virüslerine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bağlı</a:t>
            </a:r>
            <a:r>
              <a:rPr lang="tr-TR" sz="2800" b="1" dirty="0" smtClean="0"/>
              <a:t> uçuklar, </a:t>
            </a:r>
            <a:r>
              <a:rPr lang="tr-TR" sz="2800" b="1" dirty="0" err="1" smtClean="0"/>
              <a:t>Molloscum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contagiosum</a:t>
            </a:r>
            <a:r>
              <a:rPr lang="tr-TR" sz="2800" b="1" dirty="0" smtClean="0"/>
              <a:t> ve  </a:t>
            </a:r>
            <a:r>
              <a:rPr lang="tr-TR" sz="2800" b="1" dirty="0" err="1" smtClean="0"/>
              <a:t>Herpanjina</a:t>
            </a:r>
            <a:r>
              <a:rPr lang="tr-TR" sz="2800" b="1" dirty="0" smtClean="0"/>
              <a:t> enfeksiyonları…</a:t>
            </a:r>
            <a:endParaRPr lang="tr-TR" sz="2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GÖZ HASTALIKLARI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b="1" dirty="0" smtClean="0"/>
              <a:t>Lokal ya da sistemik enfeksiyonlar</a:t>
            </a:r>
            <a:r>
              <a:rPr lang="tr-TR" sz="2800" b="1" dirty="0" smtClean="0"/>
              <a:t> sonucu virüsün göze ulaşmasıyla oluşan hastalıklardır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err="1" smtClean="0"/>
              <a:t>Adenovirus'lar</a:t>
            </a:r>
            <a:r>
              <a:rPr lang="tr-TR" sz="2800" b="1" dirty="0" smtClean="0"/>
              <a:t> ve </a:t>
            </a:r>
            <a:r>
              <a:rPr lang="tr-TR" sz="2800" b="1" dirty="0" err="1" smtClean="0"/>
              <a:t>Herpesvirus'lara</a:t>
            </a:r>
            <a:r>
              <a:rPr lang="tr-TR" sz="2800" b="1" dirty="0" smtClean="0"/>
              <a:t> bağlı </a:t>
            </a:r>
            <a:r>
              <a:rPr lang="tr-TR" sz="2800" b="1" dirty="0" err="1" smtClean="0"/>
              <a:t>konjuktivitler</a:t>
            </a:r>
            <a:r>
              <a:rPr lang="tr-TR" sz="2800" b="1" dirty="0" smtClean="0"/>
              <a:t>…</a:t>
            </a:r>
            <a:endParaRPr lang="tr-TR"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KARACİĞER HASTALIKLARI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Virüslerin kan yoluyla ya direkt olarak hedef organ olan karaciğere ulaşması, ya da sistemik enfeksiyonların komplikasyonu olarak karaciğerde oluşan enfeksiyonlardır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smtClean="0"/>
              <a:t>Hepatit virüslerine bağlı hepatitler, Sarı Humma, </a:t>
            </a:r>
            <a:r>
              <a:rPr lang="tr-TR" sz="2800" b="1" dirty="0" err="1" smtClean="0"/>
              <a:t>Enterovirus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Herpesvirus</a:t>
            </a:r>
            <a:r>
              <a:rPr lang="tr-TR" sz="2800" b="1" dirty="0" smtClean="0"/>
              <a:t> ve </a:t>
            </a:r>
            <a:r>
              <a:rPr lang="tr-TR" sz="2800" b="1" dirty="0" err="1" smtClean="0"/>
              <a:t>Rubella</a:t>
            </a:r>
            <a:r>
              <a:rPr lang="tr-TR" sz="2800" b="1" dirty="0" smtClean="0"/>
              <a:t> virüsüne bağlı komplikasyonlardır…</a:t>
            </a:r>
            <a:endParaRPr lang="tr-TR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TÜKRÜK BEZLERİNİN HASTALIKLARI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 smtClean="0"/>
              <a:t>Tükrük</a:t>
            </a:r>
            <a:r>
              <a:rPr lang="tr-TR" sz="2800" b="1" dirty="0" smtClean="0"/>
              <a:t> bezlerine ilgisi olan virüslerin bu bölgelerde üreyerek oluşturdukları hastalıklardır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smtClean="0"/>
              <a:t>Kabakulak ve </a:t>
            </a:r>
            <a:r>
              <a:rPr lang="tr-TR" sz="2800" b="1" dirty="0" err="1" smtClean="0"/>
              <a:t>Cytomegalovirus</a:t>
            </a:r>
            <a:r>
              <a:rPr lang="tr-TR" sz="2800" b="1" dirty="0" smtClean="0"/>
              <a:t>‘ </a:t>
            </a:r>
            <a:r>
              <a:rPr lang="tr-TR" sz="2800" b="1" dirty="0" err="1" smtClean="0"/>
              <a:t>ların</a:t>
            </a:r>
            <a:r>
              <a:rPr lang="tr-TR" sz="2800" b="1" dirty="0" smtClean="0"/>
              <a:t> oluşturduğu enfeksiyonlar…</a:t>
            </a:r>
            <a:endParaRPr lang="tr-TR" sz="28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GASTROİNTESTİNAL SİSTEM HASTALIKLARI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Sindirim sistemine ilgisi olan virüslerin ağız yoluyla alınması ile oluşan enfeksiyonlardır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err="1" smtClean="0"/>
              <a:t>Rotavirus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Norwalk</a:t>
            </a:r>
            <a:r>
              <a:rPr lang="tr-TR" sz="2800" b="1" dirty="0" smtClean="0"/>
              <a:t> ajanı ve </a:t>
            </a:r>
            <a:r>
              <a:rPr lang="tr-TR" sz="2800" b="1" dirty="0" err="1" smtClean="0"/>
              <a:t>Enterovirus'ların</a:t>
            </a:r>
            <a:r>
              <a:rPr lang="tr-TR" sz="2800" b="1" dirty="0" smtClean="0"/>
              <a:t> oluşturduğu </a:t>
            </a:r>
            <a:r>
              <a:rPr lang="tr-TR" sz="2800" b="1" dirty="0" err="1" smtClean="0"/>
              <a:t>gastroenterit</a:t>
            </a:r>
            <a:r>
              <a:rPr lang="tr-TR" sz="2800" b="1" dirty="0" smtClean="0"/>
              <a:t> enfeksiyonları</a:t>
            </a:r>
            <a:endParaRPr lang="tr-TR" sz="28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SEKSÜEL YOLLA BULAŞAN HASTALIKLAR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Seksüel salgılarda bulunan virüslerin cinsel ilişki sırasında bulaşmasıyla oluşan hastalıklardır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>
                <a:solidFill>
                  <a:srgbClr val="FF0000"/>
                </a:solidFill>
              </a:rPr>
              <a:t>Örnek : </a:t>
            </a:r>
            <a:r>
              <a:rPr lang="tr-TR" sz="2800" b="1" dirty="0" err="1" smtClean="0"/>
              <a:t>Herpes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simpleks</a:t>
            </a:r>
            <a:r>
              <a:rPr lang="tr-TR" sz="2800" b="1" dirty="0" smtClean="0"/>
              <a:t> virüsü, Hepatit B virüsü, </a:t>
            </a:r>
            <a:r>
              <a:rPr lang="tr-TR" sz="2800" b="1" dirty="0" err="1" smtClean="0"/>
              <a:t>Papillomavirus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Molloscum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contagiosum</a:t>
            </a:r>
            <a:r>
              <a:rPr lang="tr-TR" sz="2800" b="1" dirty="0" smtClean="0"/>
              <a:t> ve AIDS virüsünün oluşturduğu enfeksiyonlardır…</a:t>
            </a:r>
            <a:endParaRPr lang="tr-TR" sz="28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Symptoms_of_coronavirus_disease_2019_4.0.svg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20688"/>
            <a:ext cx="7993063" cy="5616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77813"/>
            <a:ext cx="8218487" cy="1711325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tr-TR" sz="4000" b="1" smtClean="0">
                <a:effectLst/>
              </a:rPr>
              <a:t>    Viruslar nasıl sınıflandırılır? </a:t>
            </a:r>
            <a:br>
              <a:rPr lang="tr-TR" sz="4000" b="1" smtClean="0">
                <a:effectLst/>
              </a:rPr>
            </a:br>
            <a:r>
              <a:rPr lang="tr-TR" sz="2400" b="1" smtClean="0">
                <a:solidFill>
                  <a:srgbClr val="FF99FF"/>
                </a:solidFill>
                <a:effectLst/>
              </a:rPr>
              <a:t>Yeni bulunan bir virus olduğunu düşünün. </a:t>
            </a:r>
            <a:br>
              <a:rPr lang="tr-TR" sz="2400" b="1" smtClean="0">
                <a:solidFill>
                  <a:srgbClr val="FF99FF"/>
                </a:solidFill>
                <a:effectLst/>
              </a:rPr>
            </a:br>
            <a:r>
              <a:rPr lang="tr-TR" sz="2400" b="1" smtClean="0">
                <a:solidFill>
                  <a:srgbClr val="FF99FF"/>
                </a:solidFill>
                <a:effectLst/>
              </a:rPr>
              <a:t>Bu virusun taksonomik yerini belirlemek için başlıca aşağıdaki özelliklerden yararlanılır.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2060575"/>
            <a:ext cx="4244975" cy="4537075"/>
          </a:xfrm>
          <a:ln w="57150">
            <a:solidFill>
              <a:srgbClr val="FF3399"/>
            </a:solidFill>
          </a:ln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tr-TR" sz="2400" b="1" smtClean="0">
                <a:effectLst/>
              </a:rPr>
              <a:t>Morfoloji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2000" b="1" smtClean="0">
                <a:effectLst/>
              </a:rPr>
              <a:t>	   * büyüklük,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>
                <a:effectLst/>
              </a:rPr>
              <a:t>      * biçim, 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>
                <a:effectLst/>
              </a:rPr>
              <a:t>      * zarf varlığı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tr-TR" sz="2400" b="1" smtClean="0">
                <a:effectLst/>
              </a:rPr>
              <a:t>Fizikokimyasal özellikler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>
                <a:effectLst/>
              </a:rPr>
              <a:t>	    * moleküler kütlesi,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>
                <a:effectLst/>
              </a:rPr>
              <a:t>	    * dansitesi,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>
                <a:effectLst/>
              </a:rPr>
              <a:t>	    * termal stabilitesi,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800" b="1" smtClean="0">
                <a:effectLst/>
              </a:rPr>
              <a:t>	    * eter gibi organik çözücülere duyarlılık (zarflı viruslar duyarlı)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tr-TR" sz="2400" b="1" smtClean="0">
                <a:effectLst/>
              </a:rPr>
              <a:t>Antijenik özellikler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tr-TR" sz="2400" b="1" smtClean="0">
              <a:effectLst/>
            </a:endParaRP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tr-TR" sz="1600" b="1" smtClean="0">
                <a:effectLst/>
              </a:rPr>
              <a:t>       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2060575"/>
            <a:ext cx="4316413" cy="4537075"/>
          </a:xfrm>
          <a:ln w="57150">
            <a:solidFill>
              <a:srgbClr val="FF3399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tr-TR" sz="2400" b="1" smtClean="0">
                <a:effectLst/>
              </a:rPr>
              <a:t>Genomik özellikler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1800" b="1" smtClean="0">
                <a:effectLst/>
              </a:rPr>
              <a:t>	   </a:t>
            </a:r>
            <a:r>
              <a:rPr lang="tr-TR" sz="2000" b="1" smtClean="0">
                <a:effectLst/>
              </a:rPr>
              <a:t> * Nükleik asit tipi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	DNA ya da RNA-,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   * Replikasyon stratejisi,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   * Nükleotid dizisi,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   * Genomik organizasyon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tr-TR" sz="2400" b="1" smtClean="0">
                <a:effectLst/>
              </a:rPr>
              <a:t>Makromoleküler özellik</a:t>
            </a:r>
            <a:r>
              <a:rPr lang="tr-TR" sz="1800" b="1" smtClean="0">
                <a:effectLst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1800" b="1" smtClean="0">
                <a:effectLst/>
              </a:rPr>
              <a:t>	    </a:t>
            </a:r>
            <a:r>
              <a:rPr lang="tr-TR" sz="2000" b="1" smtClean="0">
                <a:effectLst/>
              </a:rPr>
              <a:t>* Protein yapısı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   * Proteinlerin işlevleri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tr-TR" sz="2400" b="1" smtClean="0">
                <a:effectLst/>
              </a:rPr>
              <a:t>Biyolojik özellikler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1800" b="1" smtClean="0">
                <a:effectLst/>
              </a:rPr>
              <a:t>	   </a:t>
            </a:r>
            <a:r>
              <a:rPr lang="tr-TR" sz="2000" b="1" smtClean="0">
                <a:effectLst/>
              </a:rPr>
              <a:t> * konakçıları,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   * varsa organ tropizmi,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tr-TR" sz="2000" b="1" smtClean="0">
                <a:effectLst/>
              </a:rPr>
              <a:t>	   * Oluşturduğu hastalıklar</a:t>
            </a:r>
            <a:endParaRPr lang="tr-TR" sz="200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tr-TR" sz="4000" b="1" i="1" dirty="0" smtClean="0">
                <a:solidFill>
                  <a:srgbClr val="FF0000"/>
                </a:solidFill>
                <a:effectLst/>
              </a:rPr>
              <a:t>BULAŞ YOLLARINA GÖRE </a:t>
            </a:r>
            <a:br>
              <a:rPr lang="tr-TR" sz="4000" b="1" i="1" dirty="0" smtClean="0">
                <a:solidFill>
                  <a:srgbClr val="FF0000"/>
                </a:solidFill>
                <a:effectLst/>
              </a:rPr>
            </a:br>
            <a:r>
              <a:rPr lang="tr-TR" sz="4000" b="1" i="1" dirty="0" smtClean="0">
                <a:solidFill>
                  <a:srgbClr val="FF0000"/>
                </a:solidFill>
                <a:effectLst/>
              </a:rPr>
              <a:t>VİRUSLARIN SINIFLANDIRILMASI</a:t>
            </a:r>
          </a:p>
        </p:txBody>
      </p:sp>
      <p:sp>
        <p:nvSpPr>
          <p:cNvPr id="44035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600200"/>
            <a:ext cx="3384550" cy="50688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sz="2400" b="1" i="1" u="sng" dirty="0" smtClean="0">
                <a:effectLst/>
              </a:rPr>
              <a:t>BULAŞ YOLU</a:t>
            </a:r>
          </a:p>
          <a:p>
            <a:pPr eaLnBrk="1" hangingPunct="1">
              <a:buFont typeface="Wingdings" pitchFamily="2" charset="2"/>
              <a:buNone/>
            </a:pPr>
            <a:endParaRPr lang="tr-TR" sz="2400" b="1" i="1" u="sng" dirty="0" smtClean="0">
              <a:solidFill>
                <a:srgbClr val="FF0066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dirty="0" smtClean="0">
                <a:solidFill>
                  <a:srgbClr val="FF0000"/>
                </a:solidFill>
                <a:effectLst/>
              </a:rPr>
              <a:t>SOLUNUM</a:t>
            </a:r>
          </a:p>
          <a:p>
            <a:pPr eaLnBrk="1" hangingPunct="1">
              <a:buFont typeface="Wingdings" pitchFamily="2" charset="2"/>
              <a:buNone/>
            </a:pPr>
            <a:endParaRPr lang="tr-TR" sz="2000" b="1" dirty="0" smtClean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tr-TR" sz="2000" b="1" dirty="0" smtClean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dirty="0" smtClean="0">
                <a:solidFill>
                  <a:srgbClr val="FF0000"/>
                </a:solidFill>
                <a:effectLst/>
              </a:rPr>
              <a:t>FEKAL-ORAL</a:t>
            </a:r>
          </a:p>
          <a:p>
            <a:pPr eaLnBrk="1" hangingPunct="1">
              <a:buFont typeface="Wingdings" pitchFamily="2" charset="2"/>
              <a:buNone/>
            </a:pPr>
            <a:endParaRPr lang="tr-TR" sz="2000" b="1" dirty="0" smtClean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tr-TR" sz="2000" b="1" dirty="0" smtClean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dirty="0" smtClean="0">
                <a:solidFill>
                  <a:srgbClr val="FF0000"/>
                </a:solidFill>
                <a:effectLst/>
              </a:rPr>
              <a:t>YAKIN TEMAS, KAN,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z="2000" b="1" dirty="0" smtClean="0">
                <a:solidFill>
                  <a:srgbClr val="FF0000"/>
                </a:solidFill>
                <a:effectLst/>
              </a:rPr>
              <a:t>TRANSPLANTASYON</a:t>
            </a:r>
          </a:p>
          <a:p>
            <a:pPr eaLnBrk="1" hangingPunct="1">
              <a:buFont typeface="Wingdings" pitchFamily="2" charset="2"/>
              <a:buNone/>
            </a:pPr>
            <a:endParaRPr lang="tr-TR" sz="2000" b="1" dirty="0" smtClean="0">
              <a:solidFill>
                <a:srgbClr val="FF0000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dirty="0" smtClean="0">
                <a:solidFill>
                  <a:srgbClr val="FF0000"/>
                </a:solidFill>
                <a:effectLst/>
              </a:rPr>
              <a:t>ARTROPODLAR /</a:t>
            </a:r>
          </a:p>
          <a:p>
            <a:pPr eaLnBrk="1" hangingPunct="1">
              <a:buFont typeface="Wingdings" pitchFamily="2" charset="2"/>
              <a:buNone/>
            </a:pPr>
            <a:r>
              <a:rPr lang="tr-TR" sz="2000" b="1" dirty="0" smtClean="0">
                <a:solidFill>
                  <a:srgbClr val="FF0000"/>
                </a:solidFill>
                <a:effectLst/>
              </a:rPr>
              <a:t>HAYVAN ISIRIKLARI</a:t>
            </a:r>
          </a:p>
        </p:txBody>
      </p:sp>
      <p:sp>
        <p:nvSpPr>
          <p:cNvPr id="44036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635375" y="1628775"/>
            <a:ext cx="5329238" cy="5040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sz="2400" b="1" i="1" u="sng" dirty="0" smtClean="0">
                <a:effectLst/>
              </a:rPr>
              <a:t>VİRUS</a:t>
            </a:r>
          </a:p>
          <a:p>
            <a:pPr eaLnBrk="1" hangingPunct="1">
              <a:buFont typeface="Wingdings" pitchFamily="2" charset="2"/>
              <a:buNone/>
            </a:pPr>
            <a:endParaRPr lang="tr-TR" sz="2400" b="1" i="1" u="sng" dirty="0" smtClean="0">
              <a:solidFill>
                <a:srgbClr val="FF0066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i="1" dirty="0" err="1" smtClean="0">
                <a:effectLst/>
              </a:rPr>
              <a:t>Rhinovirus</a:t>
            </a:r>
            <a:r>
              <a:rPr lang="tr-TR" sz="2000" b="1" i="1" dirty="0" smtClean="0">
                <a:effectLst/>
              </a:rPr>
              <a:t>, </a:t>
            </a:r>
            <a:r>
              <a:rPr lang="tr-TR" sz="2000" b="1" i="1" dirty="0" err="1" smtClean="0">
                <a:effectLst/>
              </a:rPr>
              <a:t>Adenovirus</a:t>
            </a:r>
            <a:r>
              <a:rPr lang="tr-TR" sz="2000" b="1" i="1" dirty="0" smtClean="0">
                <a:effectLst/>
              </a:rPr>
              <a:t>, </a:t>
            </a:r>
            <a:r>
              <a:rPr lang="tr-TR" sz="2000" b="1" i="1" dirty="0" err="1" smtClean="0">
                <a:effectLst/>
              </a:rPr>
              <a:t>Coronavirus</a:t>
            </a:r>
            <a:endParaRPr lang="tr-TR" sz="2000" b="1" i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i="1" dirty="0" err="1" smtClean="0">
                <a:effectLst/>
              </a:rPr>
              <a:t>Paramyxoviruslar</a:t>
            </a:r>
            <a:r>
              <a:rPr lang="tr-TR" sz="2000" b="1" i="1" dirty="0" smtClean="0">
                <a:effectLst/>
              </a:rPr>
              <a:t>, </a:t>
            </a:r>
            <a:r>
              <a:rPr lang="tr-TR" sz="2000" b="1" i="1" dirty="0" err="1" smtClean="0">
                <a:effectLst/>
              </a:rPr>
              <a:t>Orthomyxoviruslar</a:t>
            </a:r>
            <a:r>
              <a:rPr lang="tr-TR" sz="2000" b="1" i="1" dirty="0" smtClean="0">
                <a:effectLst/>
              </a:rPr>
              <a:t>,</a:t>
            </a:r>
          </a:p>
          <a:p>
            <a:pPr eaLnBrk="1" hangingPunct="1">
              <a:buFont typeface="Wingdings" pitchFamily="2" charset="2"/>
              <a:buNone/>
            </a:pPr>
            <a:endParaRPr lang="tr-TR" sz="2000" b="1" i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i="1" dirty="0" err="1" smtClean="0">
                <a:effectLst/>
              </a:rPr>
              <a:t>Rotavirus</a:t>
            </a:r>
            <a:r>
              <a:rPr lang="tr-TR" sz="2000" b="1" i="1" dirty="0" smtClean="0">
                <a:effectLst/>
              </a:rPr>
              <a:t>, </a:t>
            </a:r>
            <a:r>
              <a:rPr lang="tr-TR" sz="2000" b="1" i="1" dirty="0" err="1" smtClean="0">
                <a:effectLst/>
              </a:rPr>
              <a:t>Picornaviruslar</a:t>
            </a:r>
            <a:r>
              <a:rPr lang="tr-TR" sz="2000" b="1" i="1" dirty="0" smtClean="0">
                <a:effectLst/>
              </a:rPr>
              <a:t> (</a:t>
            </a:r>
            <a:r>
              <a:rPr lang="tr-TR" sz="2000" b="1" i="1" dirty="0" err="1" smtClean="0">
                <a:effectLst/>
              </a:rPr>
              <a:t>Rhinovirus</a:t>
            </a:r>
            <a:r>
              <a:rPr lang="tr-TR" sz="2000" b="1" i="1" dirty="0" smtClean="0">
                <a:effectLst/>
              </a:rPr>
              <a:t> dışındakiler), </a:t>
            </a:r>
            <a:r>
              <a:rPr lang="tr-TR" sz="2000" b="1" i="1" dirty="0" err="1" smtClean="0">
                <a:effectLst/>
              </a:rPr>
              <a:t>Adenoviruslar</a:t>
            </a:r>
            <a:r>
              <a:rPr lang="tr-TR" sz="2000" b="1" i="1" dirty="0" smtClean="0">
                <a:effectLst/>
              </a:rPr>
              <a:t> (</a:t>
            </a:r>
            <a:r>
              <a:rPr lang="tr-TR" sz="2000" b="1" i="1" dirty="0" err="1" smtClean="0">
                <a:effectLst/>
              </a:rPr>
              <a:t>enterik</a:t>
            </a:r>
            <a:r>
              <a:rPr lang="tr-TR" sz="2000" b="1" i="1" dirty="0" smtClean="0">
                <a:effectLst/>
              </a:rPr>
              <a:t> tipleri)</a:t>
            </a:r>
          </a:p>
          <a:p>
            <a:pPr eaLnBrk="1" hangingPunct="1">
              <a:buFont typeface="Wingdings" pitchFamily="2" charset="2"/>
              <a:buNone/>
            </a:pPr>
            <a:endParaRPr lang="tr-TR" sz="2000" b="1" i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000" b="1" i="1" dirty="0" smtClean="0">
                <a:effectLst/>
              </a:rPr>
              <a:t>HBV, HCV, HIV, </a:t>
            </a:r>
          </a:p>
          <a:p>
            <a:pPr eaLnBrk="1" hangingPunct="1">
              <a:buFont typeface="Wingdings" pitchFamily="2" charset="2"/>
              <a:buNone/>
            </a:pPr>
            <a:endParaRPr lang="tr-TR" sz="2000" b="1" i="1" dirty="0" smtClean="0">
              <a:effectLst/>
            </a:endParaRPr>
          </a:p>
          <a:p>
            <a:pPr eaLnBrk="1" hangingPunct="1">
              <a:lnSpc>
                <a:spcPct val="145000"/>
              </a:lnSpc>
              <a:buFont typeface="Wingdings" pitchFamily="2" charset="2"/>
              <a:buNone/>
            </a:pPr>
            <a:r>
              <a:rPr lang="tr-TR" sz="2000" b="1" i="1" dirty="0" err="1" smtClean="0">
                <a:effectLst/>
              </a:rPr>
              <a:t>Herpesviruslar</a:t>
            </a:r>
            <a:r>
              <a:rPr lang="tr-TR" sz="2000" b="1" i="1" dirty="0" smtClean="0">
                <a:effectLst/>
              </a:rPr>
              <a:t>, </a:t>
            </a:r>
            <a:r>
              <a:rPr lang="tr-TR" sz="2000" b="1" i="1" dirty="0" err="1" smtClean="0">
                <a:effectLst/>
              </a:rPr>
              <a:t>Arboviruslar</a:t>
            </a:r>
            <a:r>
              <a:rPr lang="tr-TR" sz="2000" b="1" i="1" dirty="0" smtClean="0">
                <a:effectLst/>
              </a:rPr>
              <a:t>/ Kuduz </a:t>
            </a:r>
            <a:r>
              <a:rPr lang="tr-TR" sz="2000" b="1" i="1" dirty="0" err="1" smtClean="0">
                <a:effectLst/>
              </a:rPr>
              <a:t>virusu</a:t>
            </a:r>
            <a:endParaRPr lang="tr-TR" sz="2000" b="1" i="1" dirty="0" smtClean="0"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tr-TR" sz="3200" b="1" dirty="0" smtClean="0">
                <a:solidFill>
                  <a:srgbClr val="FF0000"/>
                </a:solidFill>
                <a:effectLst/>
              </a:rPr>
              <a:t>KLİNİK ÖNEMİ OLAN BAZI VİRUSLARIN YAPTIKLARI İNFEKSİYONLARA GÖRE SINIFLANDIRILMASI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700213"/>
            <a:ext cx="3384550" cy="4824412"/>
          </a:xfrm>
          <a:ln w="57150">
            <a:solidFill>
              <a:srgbClr val="FF3399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b="1" dirty="0" smtClean="0">
                <a:solidFill>
                  <a:srgbClr val="FF0066"/>
                </a:solidFill>
                <a:effectLst/>
              </a:rPr>
              <a:t>İNFEKSİYON</a:t>
            </a:r>
          </a:p>
          <a:p>
            <a:pPr eaLnBrk="1" hangingPunct="1">
              <a:buFont typeface="Wingdings" pitchFamily="2" charset="2"/>
              <a:buNone/>
            </a:pPr>
            <a:endParaRPr lang="tr-TR" b="1" dirty="0" smtClean="0">
              <a:solidFill>
                <a:srgbClr val="FF0066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smtClean="0">
                <a:effectLst/>
              </a:rPr>
              <a:t>Alt solunum yolu </a:t>
            </a:r>
            <a:r>
              <a:rPr lang="tr-TR" sz="2400" b="1" dirty="0" err="1" smtClean="0">
                <a:effectLst/>
              </a:rPr>
              <a:t>infeksiyonları</a:t>
            </a: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Enterik</a:t>
            </a:r>
            <a:r>
              <a:rPr lang="tr-TR" sz="2400" b="1" dirty="0" smtClean="0">
                <a:effectLst/>
              </a:rPr>
              <a:t> </a:t>
            </a:r>
            <a:r>
              <a:rPr lang="tr-TR" sz="2400" b="1" dirty="0" err="1" smtClean="0">
                <a:effectLst/>
              </a:rPr>
              <a:t>infeksiyonlar</a:t>
            </a: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Urogenital</a:t>
            </a:r>
            <a:r>
              <a:rPr lang="tr-TR" sz="2400" b="1" dirty="0" smtClean="0">
                <a:effectLst/>
              </a:rPr>
              <a:t> </a:t>
            </a:r>
            <a:r>
              <a:rPr lang="tr-TR" sz="2400" b="1" dirty="0" err="1" smtClean="0">
                <a:effectLst/>
              </a:rPr>
              <a:t>infeksiyon</a:t>
            </a:r>
            <a:r>
              <a:rPr lang="tr-TR" sz="2400" b="1" dirty="0" smtClean="0">
                <a:effectLst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smtClean="0">
                <a:effectLst/>
              </a:rPr>
              <a:t>Hepatit</a:t>
            </a:r>
          </a:p>
        </p:txBody>
      </p:sp>
      <p:sp>
        <p:nvSpPr>
          <p:cNvPr id="4506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3779838" y="1700213"/>
            <a:ext cx="5184775" cy="4824412"/>
          </a:xfrm>
          <a:ln w="57150">
            <a:solidFill>
              <a:srgbClr val="FF3399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b="1" dirty="0" smtClean="0">
                <a:solidFill>
                  <a:srgbClr val="FF0066"/>
                </a:solidFill>
                <a:effectLst/>
              </a:rPr>
              <a:t>EN SIK NEDEN OLAN VİRUSLAR</a:t>
            </a:r>
          </a:p>
          <a:p>
            <a:pPr eaLnBrk="1" hangingPunct="1">
              <a:buFont typeface="Wingdings" pitchFamily="2" charset="2"/>
              <a:buNone/>
            </a:pPr>
            <a:endParaRPr lang="tr-TR" b="1" dirty="0" smtClean="0">
              <a:solidFill>
                <a:srgbClr val="FF0066"/>
              </a:solidFill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Influenza</a:t>
            </a:r>
            <a:r>
              <a:rPr lang="tr-TR" sz="2400" b="1" dirty="0" smtClean="0">
                <a:effectLst/>
              </a:rPr>
              <a:t>, </a:t>
            </a:r>
            <a:r>
              <a:rPr lang="tr-TR" sz="2400" b="1" dirty="0" err="1" smtClean="0">
                <a:effectLst/>
              </a:rPr>
              <a:t>Parainfluenza</a:t>
            </a:r>
            <a:r>
              <a:rPr lang="tr-TR" sz="2400" b="1" dirty="0" smtClean="0">
                <a:effectLst/>
              </a:rPr>
              <a:t>, RSV, </a:t>
            </a:r>
            <a:r>
              <a:rPr lang="tr-TR" sz="2400" b="1" dirty="0" err="1" smtClean="0">
                <a:effectLst/>
              </a:rPr>
              <a:t>Adenovirus</a:t>
            </a: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Rotavirus</a:t>
            </a:r>
            <a:r>
              <a:rPr lang="tr-TR" sz="2400" b="1" dirty="0" smtClean="0">
                <a:effectLst/>
              </a:rPr>
              <a:t>, </a:t>
            </a:r>
            <a:r>
              <a:rPr lang="tr-TR" sz="2400" b="1" dirty="0" err="1" smtClean="0">
                <a:effectLst/>
              </a:rPr>
              <a:t>Astrovirus</a:t>
            </a:r>
            <a:r>
              <a:rPr lang="tr-TR" sz="2400" b="1" dirty="0" smtClean="0">
                <a:effectLst/>
              </a:rPr>
              <a:t>, </a:t>
            </a:r>
            <a:r>
              <a:rPr lang="tr-TR" sz="2400" b="1" dirty="0" err="1" smtClean="0">
                <a:effectLst/>
              </a:rPr>
              <a:t>Calicivirus</a:t>
            </a: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smtClean="0">
                <a:effectLst/>
              </a:rPr>
              <a:t>HSV-2, HPV</a:t>
            </a:r>
          </a:p>
          <a:p>
            <a:pPr eaLnBrk="1" hangingPunct="1"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400" b="1" dirty="0" smtClean="0">
                <a:effectLst/>
              </a:rPr>
              <a:t>HAV, HBV, HCV, HDV, HEV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tr-TR" sz="3200" b="1" dirty="0" smtClean="0">
                <a:solidFill>
                  <a:srgbClr val="FF0000"/>
                </a:solidFill>
                <a:effectLst/>
              </a:rPr>
              <a:t>KLİNİK ÖNEMİ OLAN BAZI VİRUSLARIN YAPTIKLARI İNFEKSİYONLARA GÖRE SINIFLANDIRILMASI</a:t>
            </a:r>
          </a:p>
        </p:txBody>
      </p:sp>
      <p:sp>
        <p:nvSpPr>
          <p:cNvPr id="46083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600200"/>
            <a:ext cx="3600450" cy="4924425"/>
          </a:xfrm>
          <a:ln w="57150">
            <a:solidFill>
              <a:srgbClr val="FF3399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b="1" dirty="0" smtClean="0">
                <a:solidFill>
                  <a:srgbClr val="FF0066"/>
                </a:solidFill>
                <a:effectLst/>
              </a:rPr>
              <a:t>İNFEKSİYON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b="1" dirty="0" smtClean="0">
              <a:solidFill>
                <a:srgbClr val="FF0066"/>
              </a:solidFill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Onkojenik</a:t>
            </a:r>
            <a:r>
              <a:rPr lang="tr-TR" sz="2400" b="1" dirty="0" smtClean="0">
                <a:effectLst/>
              </a:rPr>
              <a:t> </a:t>
            </a:r>
            <a:r>
              <a:rPr lang="tr-TR" sz="2400" b="1" dirty="0" err="1" smtClean="0">
                <a:effectLst/>
              </a:rPr>
              <a:t>viruslar</a:t>
            </a:r>
            <a:r>
              <a:rPr lang="tr-TR" sz="2400" b="1" dirty="0" smtClean="0">
                <a:effectLst/>
              </a:rPr>
              <a:t> (Tümör </a:t>
            </a:r>
            <a:r>
              <a:rPr lang="tr-TR" sz="2400" b="1" dirty="0" err="1" smtClean="0">
                <a:effectLst/>
              </a:rPr>
              <a:t>virusları</a:t>
            </a:r>
            <a:r>
              <a:rPr lang="tr-TR" sz="2400" b="1" dirty="0" smtClean="0">
                <a:effectLst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Nörotropik</a:t>
            </a: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  <a:p>
            <a:pPr eaLnBrk="1" hangingPunct="1">
              <a:lnSpc>
                <a:spcPct val="160000"/>
              </a:lnSpc>
              <a:buFont typeface="Wingdings" pitchFamily="2" charset="2"/>
              <a:buNone/>
            </a:pPr>
            <a:r>
              <a:rPr lang="tr-TR" sz="2400" b="1" dirty="0" err="1" smtClean="0">
                <a:effectLst/>
              </a:rPr>
              <a:t>Perinatal</a:t>
            </a:r>
            <a:r>
              <a:rPr lang="tr-TR" sz="2400" b="1" dirty="0" smtClean="0">
                <a:effectLst/>
              </a:rPr>
              <a:t> </a:t>
            </a:r>
            <a:r>
              <a:rPr lang="tr-TR" sz="2400" b="1" dirty="0" err="1" smtClean="0">
                <a:effectLst/>
              </a:rPr>
              <a:t>infeksiyonlar</a:t>
            </a: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tr-TR" sz="2400" b="1" dirty="0" smtClean="0">
              <a:effectLst/>
            </a:endParaRPr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067175" y="1600200"/>
            <a:ext cx="4897438" cy="4924425"/>
          </a:xfrm>
          <a:ln w="57150">
            <a:solidFill>
              <a:srgbClr val="FF3399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tr-TR" b="1" dirty="0" smtClean="0">
                <a:solidFill>
                  <a:srgbClr val="FF0066"/>
                </a:solidFill>
                <a:effectLst/>
              </a:rPr>
              <a:t>EN SIK NEDEN OLAN VİRUSLAR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tr-TR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tr-TR" sz="2400" b="1" dirty="0" smtClean="0">
                <a:effectLst/>
              </a:rPr>
              <a:t>DNA tümör </a:t>
            </a:r>
            <a:r>
              <a:rPr lang="tr-TR" sz="2400" b="1" dirty="0" err="1" smtClean="0">
                <a:effectLst/>
              </a:rPr>
              <a:t>virusları</a:t>
            </a:r>
            <a:r>
              <a:rPr lang="tr-TR" sz="2400" b="1" dirty="0" smtClean="0">
                <a:effectLst/>
              </a:rPr>
              <a:t>: HPV, EBV, HHV-8, HBV </a:t>
            </a:r>
            <a:r>
              <a:rPr lang="tr-TR" sz="2400" b="1" dirty="0" err="1" smtClean="0">
                <a:effectLst/>
              </a:rPr>
              <a:t>Retroviruslar</a:t>
            </a:r>
            <a:r>
              <a:rPr lang="tr-TR" sz="2400" b="1" dirty="0" smtClean="0">
                <a:effectLst/>
              </a:rPr>
              <a:t> , HCV (?) (RNA tümör </a:t>
            </a:r>
            <a:r>
              <a:rPr lang="tr-TR" sz="2400" b="1" dirty="0" err="1" smtClean="0">
                <a:effectLst/>
              </a:rPr>
              <a:t>virusları</a:t>
            </a:r>
            <a:r>
              <a:rPr lang="tr-TR" sz="2400" b="1" dirty="0" smtClean="0">
                <a:effectLst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tr-TR" sz="2400" b="1" dirty="0" err="1" smtClean="0">
                <a:effectLst/>
              </a:rPr>
              <a:t>Poliovirus</a:t>
            </a:r>
            <a:r>
              <a:rPr lang="tr-TR" sz="2400" b="1" dirty="0" smtClean="0">
                <a:effectLst/>
              </a:rPr>
              <a:t>, Kabakulak </a:t>
            </a:r>
            <a:r>
              <a:rPr lang="tr-TR" sz="2400" b="1" dirty="0" err="1" smtClean="0">
                <a:effectLst/>
              </a:rPr>
              <a:t>virusu</a:t>
            </a:r>
            <a:r>
              <a:rPr lang="tr-TR" sz="2400" b="1" dirty="0" smtClean="0">
                <a:effectLst/>
              </a:rPr>
              <a:t>, Kuduz </a:t>
            </a:r>
            <a:r>
              <a:rPr lang="tr-TR" sz="2400" b="1" dirty="0" err="1" smtClean="0">
                <a:effectLst/>
              </a:rPr>
              <a:t>virusu</a:t>
            </a:r>
            <a:r>
              <a:rPr lang="tr-TR" sz="2400" b="1" dirty="0" smtClean="0">
                <a:effectLst/>
              </a:rPr>
              <a:t>, </a:t>
            </a:r>
            <a:r>
              <a:rPr lang="tr-TR" sz="2400" b="1" dirty="0" err="1" smtClean="0">
                <a:effectLst/>
              </a:rPr>
              <a:t>Arboviruslar</a:t>
            </a:r>
            <a:r>
              <a:rPr lang="tr-TR" sz="2400" b="1" dirty="0" smtClean="0">
                <a:effectLst/>
              </a:rPr>
              <a:t>, HSV-1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tr-TR" sz="2400" b="1" dirty="0" smtClean="0">
              <a:effectLst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tr-TR" sz="2400" b="1" dirty="0" err="1" smtClean="0">
                <a:effectLst/>
              </a:rPr>
              <a:t>Rubella</a:t>
            </a:r>
            <a:r>
              <a:rPr lang="tr-TR" sz="2400" b="1" dirty="0" smtClean="0">
                <a:effectLst/>
              </a:rPr>
              <a:t>, CMV, HBV, HIV, HSV, VZV</a:t>
            </a:r>
            <a:endParaRPr lang="tr-TR" sz="2400" b="1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520</Words>
  <Application>Microsoft Office PowerPoint</Application>
  <PresentationFormat>Ekran Gösterisi (4:3)</PresentationFormat>
  <Paragraphs>141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18" baseType="lpstr">
      <vt:lpstr>Ofis Teması</vt:lpstr>
      <vt:lpstr>HASTALIK OLUŞTURAN VİRÜSLER</vt:lpstr>
      <vt:lpstr>Genel Enfeksiyon Niteliğinde Hastalık Oluşturan Virüsler</vt:lpstr>
      <vt:lpstr>Primer Olarak Spesifik Organlara Yerleşerek Hastalık Oluşturan Virüsler</vt:lpstr>
      <vt:lpstr>Slayt 4</vt:lpstr>
      <vt:lpstr> SİNİR SİSTEMİ HASTALIKLARI </vt:lpstr>
      <vt:lpstr>SOLUNUM SİSTEMİ HASTALIKLARI</vt:lpstr>
      <vt:lpstr>DERİ VE MUKOZ MEMBRANLARIN LOKALİZE HASTALIKLARI</vt:lpstr>
      <vt:lpstr>GÖZ HASTALIKLARI</vt:lpstr>
      <vt:lpstr>KARACİĞER HASTALIKLARI</vt:lpstr>
      <vt:lpstr>TÜKRÜK BEZLERİNİN HASTALIKLARI</vt:lpstr>
      <vt:lpstr>GASTROİNTESTİNAL SİSTEM HASTALIKLARI</vt:lpstr>
      <vt:lpstr>SEKSÜEL YOLLA BULAŞAN HASTALIKLAR</vt:lpstr>
      <vt:lpstr>Slayt 13</vt:lpstr>
      <vt:lpstr>    Viruslar nasıl sınıflandırılır?  Yeni bulunan bir virus olduğunu düşünün.  Bu virusun taksonomik yerini belirlemek için başlıca aşağıdaki özelliklerden yararlanılır.</vt:lpstr>
      <vt:lpstr>BULAŞ YOLLARINA GÖRE  VİRUSLARIN SINIFLANDIRILMASI</vt:lpstr>
      <vt:lpstr>KLİNİK ÖNEMİ OLAN BAZI VİRUSLARIN YAPTIKLARI İNFEKSİYONLARA GÖRE SINIFLANDIRILMASI</vt:lpstr>
      <vt:lpstr>KLİNİK ÖNEMİ OLAN BAZI VİRUSLARIN YAPTIKLARI İNFEKSİYONLARA GÖRE SINIFLANDIRILMASI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GENEL ENFEKSİYON NİTELİĞİNDE HASTALIK OLUŞTURAN VİRÜSLER</dc:title>
  <dc:creator>user</dc:creator>
  <cp:lastModifiedBy>tijen</cp:lastModifiedBy>
  <cp:revision>22</cp:revision>
  <dcterms:created xsi:type="dcterms:W3CDTF">2021-04-11T17:26:15Z</dcterms:created>
  <dcterms:modified xsi:type="dcterms:W3CDTF">2026-08-07T14:49:14Z</dcterms:modified>
</cp:coreProperties>
</file>