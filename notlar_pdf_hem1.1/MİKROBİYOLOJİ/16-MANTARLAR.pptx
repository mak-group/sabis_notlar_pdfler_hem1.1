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slides/slide76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s/slide7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68.xml" ContentType="application/vnd.openxmlformats-officedocument.presentationml.slide+xml"/>
  <Override PartName="/ppt/slides/slide7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s/slide66.xml" ContentType="application/vnd.openxmlformats-officedocument.presentationml.slide+xml"/>
  <Override PartName="/ppt/slides/slide7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s/slide64.xml" ContentType="application/vnd.openxmlformats-officedocument.presentationml.slide+xml"/>
  <Override PartName="/ppt/slides/slide7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s/slide71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slides/slide69.xml" ContentType="application/vnd.openxmlformats-officedocument.presentationml.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s/slide74.xml" ContentType="application/vnd.openxmlformats-officedocument.presentationml.slide+xml"/>
  <Override PartName="/ppt/slideLayouts/slideLayout4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9"/>
  </p:notesMasterIdLst>
  <p:sldIdLst>
    <p:sldId id="260" r:id="rId2"/>
    <p:sldId id="659" r:id="rId3"/>
    <p:sldId id="327" r:id="rId4"/>
    <p:sldId id="385" r:id="rId5"/>
    <p:sldId id="384" r:id="rId6"/>
    <p:sldId id="353" r:id="rId7"/>
    <p:sldId id="263" r:id="rId8"/>
    <p:sldId id="362" r:id="rId9"/>
    <p:sldId id="363" r:id="rId10"/>
    <p:sldId id="661" r:id="rId11"/>
    <p:sldId id="662" r:id="rId12"/>
    <p:sldId id="713" r:id="rId13"/>
    <p:sldId id="742" r:id="rId14"/>
    <p:sldId id="743" r:id="rId15"/>
    <p:sldId id="745" r:id="rId16"/>
    <p:sldId id="744" r:id="rId17"/>
    <p:sldId id="734" r:id="rId18"/>
    <p:sldId id="735" r:id="rId19"/>
    <p:sldId id="736" r:id="rId20"/>
    <p:sldId id="737" r:id="rId21"/>
    <p:sldId id="738" r:id="rId22"/>
    <p:sldId id="739" r:id="rId23"/>
    <p:sldId id="740" r:id="rId24"/>
    <p:sldId id="741" r:id="rId25"/>
    <p:sldId id="668" r:id="rId26"/>
    <p:sldId id="429" r:id="rId27"/>
    <p:sldId id="675" r:id="rId28"/>
    <p:sldId id="425" r:id="rId29"/>
    <p:sldId id="731" r:id="rId30"/>
    <p:sldId id="665" r:id="rId31"/>
    <p:sldId id="439" r:id="rId32"/>
    <p:sldId id="666" r:id="rId33"/>
    <p:sldId id="442" r:id="rId34"/>
    <p:sldId id="443" r:id="rId35"/>
    <p:sldId id="669" r:id="rId36"/>
    <p:sldId id="709" r:id="rId37"/>
    <p:sldId id="670" r:id="rId38"/>
    <p:sldId id="671" r:id="rId39"/>
    <p:sldId id="453" r:id="rId40"/>
    <p:sldId id="702" r:id="rId41"/>
    <p:sldId id="455" r:id="rId42"/>
    <p:sldId id="677" r:id="rId43"/>
    <p:sldId id="694" r:id="rId44"/>
    <p:sldId id="463" r:id="rId45"/>
    <p:sldId id="679" r:id="rId46"/>
    <p:sldId id="682" r:id="rId47"/>
    <p:sldId id="690" r:id="rId48"/>
    <p:sldId id="691" r:id="rId49"/>
    <p:sldId id="687" r:id="rId50"/>
    <p:sldId id="705" r:id="rId51"/>
    <p:sldId id="465" r:id="rId52"/>
    <p:sldId id="695" r:id="rId53"/>
    <p:sldId id="707" r:id="rId54"/>
    <p:sldId id="696" r:id="rId55"/>
    <p:sldId id="701" r:id="rId56"/>
    <p:sldId id="720" r:id="rId57"/>
    <p:sldId id="282" r:id="rId58"/>
    <p:sldId id="279" r:id="rId59"/>
    <p:sldId id="285" r:id="rId60"/>
    <p:sldId id="728" r:id="rId61"/>
    <p:sldId id="730" r:id="rId62"/>
    <p:sldId id="714" r:id="rId63"/>
    <p:sldId id="715" r:id="rId64"/>
    <p:sldId id="716" r:id="rId65"/>
    <p:sldId id="718" r:id="rId66"/>
    <p:sldId id="717" r:id="rId67"/>
    <p:sldId id="475" r:id="rId68"/>
    <p:sldId id="479" r:id="rId69"/>
    <p:sldId id="721" r:id="rId70"/>
    <p:sldId id="484" r:id="rId71"/>
    <p:sldId id="719" r:id="rId72"/>
    <p:sldId id="724" r:id="rId73"/>
    <p:sldId id="726" r:id="rId74"/>
    <p:sldId id="486" r:id="rId75"/>
    <p:sldId id="495" r:id="rId76"/>
    <p:sldId id="488" r:id="rId77"/>
    <p:sldId id="265" r:id="rId78"/>
  </p:sldIdLst>
  <p:sldSz cx="9144000" cy="6858000" type="screen4x3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  <a:srgbClr val="0000FF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62" autoAdjust="0"/>
    <p:restoredTop sz="94660"/>
  </p:normalViewPr>
  <p:slideViewPr>
    <p:cSldViewPr>
      <p:cViewPr>
        <p:scale>
          <a:sx n="64" d="100"/>
          <a:sy n="64" d="100"/>
        </p:scale>
        <p:origin x="-1560" y="-1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Üstbilgi Yer Tutucusu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2 Veri Yer Tutucusu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4E87EC-1EAC-4566-AF67-6661163F0F71}" type="datetimeFigureOut">
              <a:rPr lang="tr-TR" smtClean="0"/>
              <a:pPr/>
              <a:t>17.09.2026</a:t>
            </a:fld>
            <a:endParaRPr lang="tr-TR"/>
          </a:p>
        </p:txBody>
      </p:sp>
      <p:sp>
        <p:nvSpPr>
          <p:cNvPr id="4" name="3 Slayt Görüntüsü Yer Tutucusu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4 Not Yer Tutucusu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A6469F-D85F-4C2B-A004-5E5887701298}" type="slidenum">
              <a:rPr lang="tr-TR" smtClean="0"/>
              <a:pPr/>
              <a:t>‹#›</a:t>
            </a:fld>
            <a:endParaRPr lang="tr-T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D92B134-2F91-4279-9FC9-B6904B5067DA}" type="slidenum">
              <a:rPr lang="tr-TR" smtClean="0"/>
              <a:pPr/>
              <a:t>10</a:t>
            </a:fld>
            <a:endParaRPr lang="tr-TR" smtClean="0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tr-TR" smtClean="0"/>
              <a:t>ikleri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Alt Başlık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 smtClean="0"/>
              <a:t>Asıl alt başlık stilini düzenlemek için tıklatın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E4D69-B3F9-4489-9B60-0A5A358F224E}" type="datetimeFigureOut">
              <a:rPr lang="tr-TR" smtClean="0"/>
              <a:pPr/>
              <a:t>17.09.2026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94E31-B817-471C-AA85-BA3C63C2457C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E4D69-B3F9-4489-9B60-0A5A358F224E}" type="datetimeFigureOut">
              <a:rPr lang="tr-TR" smtClean="0"/>
              <a:pPr/>
              <a:t>17.09.2026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94E31-B817-471C-AA85-BA3C63C2457C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E4D69-B3F9-4489-9B60-0A5A358F224E}" type="datetimeFigureOut">
              <a:rPr lang="tr-TR" smtClean="0"/>
              <a:pPr/>
              <a:t>17.09.2026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94E31-B817-471C-AA85-BA3C63C2457C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E4D69-B3F9-4489-9B60-0A5A358F224E}" type="datetimeFigureOut">
              <a:rPr lang="tr-TR" smtClean="0"/>
              <a:pPr/>
              <a:t>17.09.2026</a:t>
            </a:fld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94E31-B817-471C-AA85-BA3C63C2457C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Metin Yer Tutucusu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5 İçerik Yer Tutucusu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6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E4D69-B3F9-4489-9B60-0A5A358F224E}" type="datetimeFigureOut">
              <a:rPr lang="tr-TR" smtClean="0"/>
              <a:pPr/>
              <a:t>17.09.2026</a:t>
            </a:fld>
            <a:endParaRPr lang="tr-TR"/>
          </a:p>
        </p:txBody>
      </p:sp>
      <p:sp>
        <p:nvSpPr>
          <p:cNvPr id="8" name="7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8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94E31-B817-471C-AA85-BA3C63C2457C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E4D69-B3F9-4489-9B60-0A5A358F224E}" type="datetimeFigureOut">
              <a:rPr lang="tr-TR" smtClean="0"/>
              <a:pPr/>
              <a:t>17.09.2026</a:t>
            </a:fld>
            <a:endParaRPr lang="tr-TR"/>
          </a:p>
        </p:txBody>
      </p:sp>
      <p:sp>
        <p:nvSpPr>
          <p:cNvPr id="4" name="3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94E31-B817-471C-AA85-BA3C63C2457C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E4D69-B3F9-4489-9B60-0A5A358F224E}" type="datetimeFigureOut">
              <a:rPr lang="tr-TR" smtClean="0"/>
              <a:pPr/>
              <a:t>17.09.2026</a:t>
            </a:fld>
            <a:endParaRPr lang="tr-TR"/>
          </a:p>
        </p:txBody>
      </p:sp>
      <p:sp>
        <p:nvSpPr>
          <p:cNvPr id="3" name="2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94E31-B817-471C-AA85-BA3C63C2457C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E4D69-B3F9-4489-9B60-0A5A358F224E}" type="datetimeFigureOut">
              <a:rPr lang="tr-TR" smtClean="0"/>
              <a:pPr/>
              <a:t>17.09.2026</a:t>
            </a:fld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94E31-B817-471C-AA85-BA3C63C2457C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Resim Yer Tutucusu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E4D69-B3F9-4489-9B60-0A5A358F224E}" type="datetimeFigureOut">
              <a:rPr lang="tr-TR" smtClean="0"/>
              <a:pPr/>
              <a:t>17.09.2026</a:t>
            </a:fld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94E31-B817-471C-AA85-BA3C63C2457C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E4D69-B3F9-4489-9B60-0A5A358F224E}" type="datetimeFigureOut">
              <a:rPr lang="tr-TR" smtClean="0"/>
              <a:pPr/>
              <a:t>17.09.2026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94E31-B817-471C-AA85-BA3C63C2457C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ey Başlık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E4D69-B3F9-4489-9B60-0A5A358F224E}" type="datetimeFigureOut">
              <a:rPr lang="tr-TR" smtClean="0"/>
              <a:pPr/>
              <a:t>17.09.2026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94E31-B817-471C-AA85-BA3C63C2457C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 Yer Tutucusu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0E4D69-B3F9-4489-9B60-0A5A358F224E}" type="datetimeFigureOut">
              <a:rPr lang="tr-TR" smtClean="0"/>
              <a:pPr/>
              <a:t>17.09.2026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494E31-B817-471C-AA85-BA3C63C2457C}" type="slidenum">
              <a:rPr lang="tr-TR" smtClean="0"/>
              <a:pPr/>
              <a:t>‹#›</a:t>
            </a:fld>
            <a:endParaRPr lang="tr-T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biyolojihikayesi.com/" TargetMode="Externa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jpeg"/><Relationship Id="rId4" Type="http://schemas.openxmlformats.org/officeDocument/2006/relationships/image" Target="../media/image23.jpe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3.jpe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2.jpeg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eg"/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7.png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eg"/><Relationship Id="rId2" Type="http://schemas.openxmlformats.org/officeDocument/2006/relationships/image" Target="../media/image59.jpeg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eg"/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395536" y="404664"/>
            <a:ext cx="8424936" cy="5976664"/>
          </a:xfrm>
        </p:spPr>
        <p:txBody>
          <a:bodyPr/>
          <a:lstStyle/>
          <a:p>
            <a:pPr>
              <a:buNone/>
            </a:pPr>
            <a:r>
              <a:rPr lang="tr-TR" b="1" dirty="0"/>
              <a:t>	</a:t>
            </a:r>
            <a:r>
              <a:rPr lang="tr-TR" b="1" dirty="0" smtClean="0"/>
              <a:t>	</a:t>
            </a:r>
          </a:p>
          <a:p>
            <a:pPr>
              <a:buNone/>
            </a:pPr>
            <a:r>
              <a:rPr lang="tr-TR" b="1" dirty="0"/>
              <a:t>	</a:t>
            </a:r>
            <a:r>
              <a:rPr lang="tr-TR" b="1" dirty="0" smtClean="0"/>
              <a:t>		</a:t>
            </a:r>
            <a:r>
              <a:rPr lang="tr-TR" sz="7200" b="1" dirty="0" smtClean="0">
                <a:solidFill>
                  <a:srgbClr val="FF0000"/>
                </a:solidFill>
              </a:rPr>
              <a:t>FUNGUSLAR</a:t>
            </a:r>
          </a:p>
          <a:p>
            <a:pPr>
              <a:buNone/>
            </a:pPr>
            <a:r>
              <a:rPr lang="tr-TR" sz="7200" b="1" dirty="0" smtClean="0">
                <a:solidFill>
                  <a:srgbClr val="FF0000"/>
                </a:solidFill>
              </a:rPr>
              <a:t>  MANTARLAR	  </a:t>
            </a:r>
          </a:p>
          <a:p>
            <a:pPr>
              <a:buNone/>
            </a:pPr>
            <a:endParaRPr lang="tr-TR" sz="72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Pc\Desktop\mantar-ic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38204" y="260648"/>
            <a:ext cx="4505795" cy="2664296"/>
          </a:xfrm>
          <a:prstGeom prst="rect">
            <a:avLst/>
          </a:prstGeom>
          <a:noFill/>
        </p:spPr>
      </p:pic>
      <p:pic>
        <p:nvPicPr>
          <p:cNvPr id="3" name="Picture 2" descr="C:\Users\Pc\Desktop\zehirli-mantarlar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1521" y="3068960"/>
            <a:ext cx="4667438" cy="344450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Pc\Desktop\28_t.jpg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16016" y="260648"/>
            <a:ext cx="4032250" cy="3024187"/>
          </a:xfrm>
          <a:prstGeom prst="rect">
            <a:avLst/>
          </a:prstGeom>
          <a:noFill/>
        </p:spPr>
      </p:pic>
      <p:pic>
        <p:nvPicPr>
          <p:cNvPr id="1026" name="Picture 2" descr="C:\Users\user\Desktop\reishi-mantar-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3528" y="260648"/>
            <a:ext cx="3986808" cy="1993404"/>
          </a:xfrm>
          <a:prstGeom prst="rect">
            <a:avLst/>
          </a:prstGeom>
          <a:noFill/>
        </p:spPr>
      </p:pic>
      <p:pic>
        <p:nvPicPr>
          <p:cNvPr id="3" name="Picture 3" descr="C:\Users\user\Desktop\0x0-7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627784" y="2276872"/>
            <a:ext cx="2877398" cy="1911871"/>
          </a:xfrm>
          <a:prstGeom prst="rect">
            <a:avLst/>
          </a:prstGeom>
          <a:noFill/>
        </p:spPr>
      </p:pic>
      <p:pic>
        <p:nvPicPr>
          <p:cNvPr id="1028" name="Picture 4" descr="C:\Users\user\Desktop\0x0-6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23528" y="4005064"/>
            <a:ext cx="4301480" cy="2442463"/>
          </a:xfrm>
          <a:prstGeom prst="rect">
            <a:avLst/>
          </a:prstGeom>
          <a:noFill/>
        </p:spPr>
      </p:pic>
      <p:pic>
        <p:nvPicPr>
          <p:cNvPr id="1029" name="Picture 5" descr="C:\Users\user\Desktop\istiridye-mantarinin-faydalari-nelerdir.jp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076056" y="4005064"/>
            <a:ext cx="3672810" cy="237355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323528" y="260648"/>
            <a:ext cx="8496944" cy="6336704"/>
          </a:xfrm>
        </p:spPr>
        <p:txBody>
          <a:bodyPr>
            <a:normAutofit fontScale="92500" lnSpcReduction="20000"/>
          </a:bodyPr>
          <a:lstStyle/>
          <a:p>
            <a:pPr algn="ctr"/>
            <a:r>
              <a:rPr lang="tr-TR" b="1" dirty="0" smtClean="0">
                <a:solidFill>
                  <a:srgbClr val="FF0000"/>
                </a:solidFill>
              </a:rPr>
              <a:t>DÜNYA EKOSİSTEMİNİN EN ÖNEMLİ UNSURLARINDAN BİRİDİR </a:t>
            </a:r>
          </a:p>
          <a:p>
            <a:pPr>
              <a:buNone/>
            </a:pPr>
            <a:endParaRPr lang="tr-TR" b="1" dirty="0" smtClean="0"/>
          </a:p>
          <a:p>
            <a:r>
              <a:rPr lang="tr-TR" b="1" dirty="0" smtClean="0">
                <a:solidFill>
                  <a:srgbClr val="FF0000"/>
                </a:solidFill>
              </a:rPr>
              <a:t>Çünkü ölü veya canlı organik maddeleri parçalamaları nedeniyle KARBON-AZOT DEVRİNİN sürdürülmesinde </a:t>
            </a:r>
            <a:r>
              <a:rPr lang="tr-TR" b="1" dirty="0" smtClean="0"/>
              <a:t>çok büyük rol oynamak suretiyle tüm canlı yaşamın sağlıklı devam etmesini sağlarlar</a:t>
            </a:r>
          </a:p>
          <a:p>
            <a:pPr>
              <a:buNone/>
            </a:pPr>
            <a:endParaRPr lang="tr-TR" b="1" dirty="0" smtClean="0"/>
          </a:p>
          <a:p>
            <a:r>
              <a:rPr lang="tr-TR" b="1" dirty="0" smtClean="0"/>
              <a:t>Mikro ve makro boyutta olan mantarlar arasında zehirli, zehirsiz, yenilen, tıbbi olanlar, antibiyotik meydana getirenler, </a:t>
            </a:r>
            <a:r>
              <a:rPr lang="tr-TR" b="1" dirty="0" err="1" smtClean="0"/>
              <a:t>alkoloik</a:t>
            </a:r>
            <a:r>
              <a:rPr lang="tr-TR" b="1" dirty="0" smtClean="0"/>
              <a:t> fermantasyon yapanlar vardır</a:t>
            </a:r>
          </a:p>
          <a:p>
            <a:pPr algn="ctr"/>
            <a:r>
              <a:rPr lang="tr-TR" b="1" dirty="0" smtClean="0">
                <a:solidFill>
                  <a:srgbClr val="FF0000"/>
                </a:solidFill>
              </a:rPr>
              <a:t>İNSANLARDA, HAYVANLAR VE BİTKİLERDE HASTALIK MEYDANA GETİRİRLER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251520" y="260648"/>
            <a:ext cx="8640960" cy="6264696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endParaRPr lang="tr-TR" b="1" dirty="0" smtClean="0"/>
          </a:p>
          <a:p>
            <a:r>
              <a:rPr lang="tr-TR" sz="3300" b="1" dirty="0" smtClean="0">
                <a:solidFill>
                  <a:srgbClr val="FF0000"/>
                </a:solidFill>
              </a:rPr>
              <a:t>Mantarlar yedek besin maddesi olarak glikojen, yağ ve bazen de </a:t>
            </a:r>
            <a:r>
              <a:rPr lang="tr-TR" sz="3300" b="1" dirty="0" err="1" smtClean="0">
                <a:solidFill>
                  <a:srgbClr val="FF0000"/>
                </a:solidFill>
              </a:rPr>
              <a:t>mannitol</a:t>
            </a:r>
            <a:r>
              <a:rPr lang="tr-TR" sz="3300" b="1" dirty="0" smtClean="0">
                <a:solidFill>
                  <a:srgbClr val="FF0000"/>
                </a:solidFill>
              </a:rPr>
              <a:t> depo ederler, nişasta bulunmaz</a:t>
            </a:r>
          </a:p>
          <a:p>
            <a:r>
              <a:rPr lang="tr-TR" sz="3300" b="1" dirty="0" smtClean="0"/>
              <a:t>Yani yapısı bitkisel gıdalardan çok hayvansal gıdalara benzer</a:t>
            </a:r>
          </a:p>
          <a:p>
            <a:r>
              <a:rPr lang="tr-TR" sz="3300" b="1" dirty="0" smtClean="0"/>
              <a:t>Bu nedenle vejetaryen beslenme tarzının favori besinleri arasında yer alırlar</a:t>
            </a:r>
          </a:p>
          <a:p>
            <a:r>
              <a:rPr lang="tr-TR" sz="3300" b="1" dirty="0" smtClean="0">
                <a:solidFill>
                  <a:srgbClr val="FF0000"/>
                </a:solidFill>
              </a:rPr>
              <a:t>Protein, B kompleks vitaminler ve D vitamini Kalsiyum, Potasyum, Fosfor ve Demir en yoğun olarak bulunan minerallerdir</a:t>
            </a:r>
          </a:p>
          <a:p>
            <a:r>
              <a:rPr lang="tr-TR" sz="3300" b="1" dirty="0" smtClean="0"/>
              <a:t>İçinde az miktarda </a:t>
            </a:r>
            <a:r>
              <a:rPr lang="tr-TR" sz="3300" b="1" dirty="0" smtClean="0">
                <a:solidFill>
                  <a:srgbClr val="FF0000"/>
                </a:solidFill>
              </a:rPr>
              <a:t>şeker ve yağ bulunması </a:t>
            </a:r>
            <a:r>
              <a:rPr lang="tr-TR" sz="3300" b="1" dirty="0" smtClean="0"/>
              <a:t>nedeniyle zayıflamak isteyen kişiler için mantarları ideal bir gıda niteliğine sokmaktadır</a:t>
            </a:r>
          </a:p>
          <a:p>
            <a:endParaRPr lang="tr-TR" sz="3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251520" y="332656"/>
            <a:ext cx="8640960" cy="6336704"/>
          </a:xfrm>
        </p:spPr>
        <p:txBody>
          <a:bodyPr>
            <a:normAutofit/>
          </a:bodyPr>
          <a:lstStyle/>
          <a:p>
            <a:pPr fontAlgn="base"/>
            <a:r>
              <a:rPr lang="tr-TR" sz="2400" b="1" dirty="0" err="1" smtClean="0"/>
              <a:t>Kazdağları'ndaki</a:t>
            </a:r>
            <a:r>
              <a:rPr lang="tr-TR" sz="2400" b="1" dirty="0" smtClean="0"/>
              <a:t> Ormanlarda Korkutan Hastalık! </a:t>
            </a:r>
          </a:p>
          <a:p>
            <a:pPr fontAlgn="base"/>
            <a:r>
              <a:rPr lang="tr-TR" sz="2400" b="1" dirty="0" smtClean="0"/>
              <a:t>Yüzlerce karaçam ağacı kurudu   </a:t>
            </a:r>
          </a:p>
          <a:p>
            <a:pPr fontAlgn="base"/>
            <a:r>
              <a:rPr lang="tr-TR" sz="2400" b="1" dirty="0" smtClean="0"/>
              <a:t>Ağaçta Çıkan Tepsi Büyüklüğündeki Mantar Şaşırttı  </a:t>
            </a:r>
          </a:p>
          <a:p>
            <a:pPr fontAlgn="base"/>
            <a:endParaRPr lang="tr-TR" sz="2400" b="1" dirty="0" smtClean="0"/>
          </a:p>
          <a:p>
            <a:endParaRPr lang="tr-TR" sz="2400" dirty="0"/>
          </a:p>
        </p:txBody>
      </p:sp>
      <p:pic>
        <p:nvPicPr>
          <p:cNvPr id="4" name="Picture 2" descr="C:\Users\user\Desktop\kazdaglari-ndaki-ormanlarinda-korkutan-hastal-9022457_o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60032" y="4005064"/>
            <a:ext cx="3651741" cy="2564904"/>
          </a:xfrm>
          <a:prstGeom prst="rect">
            <a:avLst/>
          </a:prstGeom>
          <a:noFill/>
        </p:spPr>
      </p:pic>
      <p:pic>
        <p:nvPicPr>
          <p:cNvPr id="6" name="Picture 2" descr="C:\Users\user\Desktop\58427d0a0f25442460b0e6af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7544" y="4005064"/>
            <a:ext cx="3888432" cy="2577006"/>
          </a:xfrm>
          <a:prstGeom prst="rect">
            <a:avLst/>
          </a:prstGeom>
          <a:noFill/>
        </p:spPr>
      </p:pic>
      <p:pic>
        <p:nvPicPr>
          <p:cNvPr id="7" name="Picture 2" descr="C:\Users\user\Desktop\780x411-agacta-cikan-tepsi-buyuklugundeki-mantar-sasirtti-1541141994179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43608" y="1844824"/>
            <a:ext cx="7200800" cy="194421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tr-TR" b="1" dirty="0" smtClean="0">
                <a:solidFill>
                  <a:srgbClr val="FF0000"/>
                </a:solidFill>
              </a:rPr>
              <a:t>NEREDE BULUNURLAR</a:t>
            </a:r>
            <a:br>
              <a:rPr lang="tr-TR" b="1" dirty="0" smtClean="0">
                <a:solidFill>
                  <a:srgbClr val="FF0000"/>
                </a:solidFill>
              </a:rPr>
            </a:br>
            <a:r>
              <a:rPr lang="tr-TR" sz="2700" b="1" dirty="0" smtClean="0">
                <a:solidFill>
                  <a:srgbClr val="FF0000"/>
                </a:solidFill>
              </a:rPr>
              <a:t>Mantarlara dünyanın her yerinde rastlamak mümkündür</a:t>
            </a:r>
            <a:br>
              <a:rPr lang="tr-TR" sz="2700" b="1" dirty="0" smtClean="0">
                <a:solidFill>
                  <a:srgbClr val="FF0000"/>
                </a:solidFill>
              </a:rPr>
            </a:br>
            <a:endParaRPr lang="tr-TR" sz="2700" b="1" dirty="0">
              <a:solidFill>
                <a:srgbClr val="FF0000"/>
              </a:solidFill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539750" y="1412777"/>
            <a:ext cx="8229600" cy="4741962"/>
          </a:xfrm>
        </p:spPr>
        <p:txBody>
          <a:bodyPr>
            <a:noAutofit/>
          </a:bodyPr>
          <a:lstStyle/>
          <a:p>
            <a:pPr eaLnBrk="1" hangingPunct="1"/>
            <a:r>
              <a:rPr lang="tr-TR" sz="2800" b="1" dirty="0" smtClean="0"/>
              <a:t>Toprak</a:t>
            </a:r>
          </a:p>
          <a:p>
            <a:pPr eaLnBrk="1" hangingPunct="1"/>
            <a:r>
              <a:rPr lang="tr-TR" sz="2800" b="1" dirty="0" smtClean="0"/>
              <a:t>Su</a:t>
            </a:r>
          </a:p>
          <a:p>
            <a:pPr eaLnBrk="1" hangingPunct="1"/>
            <a:r>
              <a:rPr lang="tr-TR" sz="2800" b="1" dirty="0" smtClean="0"/>
              <a:t>Çürümüş Organik atıklar </a:t>
            </a:r>
          </a:p>
          <a:p>
            <a:pPr eaLnBrk="1" hangingPunct="1"/>
            <a:r>
              <a:rPr lang="tr-TR" sz="2800" b="1" dirty="0" smtClean="0"/>
              <a:t>Hava</a:t>
            </a:r>
            <a:endParaRPr lang="tr-TR" sz="2800" dirty="0" smtClean="0"/>
          </a:p>
          <a:p>
            <a:r>
              <a:rPr lang="tr-TR" sz="2800" b="1" dirty="0" smtClean="0"/>
              <a:t>Çöl  ve Kutuplar</a:t>
            </a:r>
          </a:p>
          <a:p>
            <a:pPr>
              <a:buNone/>
            </a:pPr>
            <a:r>
              <a:rPr lang="tr-TR" sz="2800" b="1" i="1" dirty="0" smtClean="0"/>
              <a:t>	Doğada toprak , su </a:t>
            </a:r>
            <a:r>
              <a:rPr lang="tr-TR" sz="2800" b="1" i="1" dirty="0" smtClean="0"/>
              <a:t>ve </a:t>
            </a:r>
            <a:r>
              <a:rPr lang="tr-TR" sz="2800" b="1" i="1" dirty="0" smtClean="0"/>
              <a:t>organik kalıntılar üzerinde yaygın olarak bulunurlar </a:t>
            </a:r>
            <a:r>
              <a:rPr lang="tr-TR" sz="2800" b="1" i="1" dirty="0" smtClean="0"/>
              <a:t> ve  </a:t>
            </a:r>
            <a:r>
              <a:rPr lang="tr-TR" sz="2800" b="1" i="1" dirty="0" smtClean="0"/>
              <a:t>tahta, deri, kâğıt, tekstil, çeşitli tarım ürünleri, gıdalar, yemler vb. her ortamda gelişirler</a:t>
            </a:r>
            <a:endParaRPr lang="tr-TR" sz="2800" b="1" dirty="0" smtClean="0">
              <a:solidFill>
                <a:srgbClr val="0000FF"/>
              </a:solidFill>
            </a:endParaRPr>
          </a:p>
          <a:p>
            <a:endParaRPr lang="tr-TR" sz="2800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smtClean="0">
                <a:solidFill>
                  <a:srgbClr val="FF0000"/>
                </a:solidFill>
              </a:rPr>
              <a:t>MANTARLAR</a:t>
            </a:r>
            <a:endParaRPr lang="tr-TR" dirty="0">
              <a:solidFill>
                <a:srgbClr val="FF0000"/>
              </a:solidFill>
            </a:endParaRPr>
          </a:p>
        </p:txBody>
      </p:sp>
      <p:sp>
        <p:nvSpPr>
          <p:cNvPr id="5" name="4 İçerik Yer Tutucusu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sz="2800" b="1" dirty="0" smtClean="0"/>
              <a:t>Mantarlar her yıl milyonlarca dolar zarara neden olan bitki hastalıklarına ve periyodik salgın hastalıklara neden olur</a:t>
            </a:r>
          </a:p>
          <a:p>
            <a:pPr marL="342900" lvl="1" indent="-342900">
              <a:buFont typeface="Arial" pitchFamily="34" charset="0"/>
              <a:buChar char="•"/>
            </a:pPr>
            <a:r>
              <a:rPr lang="tr-TR" b="1" dirty="0" smtClean="0"/>
              <a:t>Mantarlar organik materyallerin yıkımından ve geri dönüşümünden sorumlu başlıca organizmalardır</a:t>
            </a:r>
            <a:endParaRPr lang="tr-TR" sz="2800" b="1" dirty="0" smtClean="0"/>
          </a:p>
          <a:p>
            <a:pPr>
              <a:buNone/>
            </a:pPr>
            <a:r>
              <a:rPr lang="tr-TR" b="1" dirty="0" smtClean="0">
                <a:solidFill>
                  <a:srgbClr val="FF0000"/>
                </a:solidFill>
              </a:rPr>
              <a:t>ÖNEMLİ……</a:t>
            </a:r>
          </a:p>
          <a:p>
            <a:pPr algn="ctr"/>
            <a:r>
              <a:rPr lang="tr-TR" b="1" dirty="0" smtClean="0">
                <a:solidFill>
                  <a:srgbClr val="FF0000"/>
                </a:solidFill>
              </a:rPr>
              <a:t>DOĞADA SELÜLOZUN YIKIMI İÇİN GEREKLİ ENZİM SİSTEMLERİ SADECE MANTARLARDA MEVCUTTUR</a:t>
            </a:r>
            <a:endParaRPr lang="tr-TR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smtClean="0">
                <a:solidFill>
                  <a:srgbClr val="FF0000"/>
                </a:solidFill>
              </a:rPr>
              <a:t>MANTARLARIN TİCARİ ÖNEMİ </a:t>
            </a:r>
            <a:endParaRPr lang="tr-TR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tr-TR" sz="2800" b="1" dirty="0" smtClean="0"/>
              <a:t>Mantarlar ticari olarak önemli biyokimyasal aktiviteye sahiptir</a:t>
            </a:r>
          </a:p>
          <a:p>
            <a:pPr>
              <a:buNone/>
            </a:pPr>
            <a:endParaRPr lang="tr-TR" sz="2800" b="1" dirty="0" smtClean="0"/>
          </a:p>
          <a:p>
            <a:r>
              <a:rPr lang="tr-TR" sz="2800" b="1" dirty="0" smtClean="0"/>
              <a:t>Özellikle antibiyotik, </a:t>
            </a:r>
            <a:r>
              <a:rPr lang="tr-TR" sz="2800" b="1" dirty="0" err="1" smtClean="0"/>
              <a:t>steroid</a:t>
            </a:r>
            <a:r>
              <a:rPr lang="tr-TR" sz="2800" b="1" dirty="0" smtClean="0"/>
              <a:t>, </a:t>
            </a:r>
            <a:r>
              <a:rPr lang="tr-TR" sz="2800" b="1" dirty="0" err="1" smtClean="0"/>
              <a:t>siklosporin</a:t>
            </a:r>
            <a:r>
              <a:rPr lang="tr-TR" sz="2800" b="1" dirty="0" smtClean="0"/>
              <a:t> ve meşrubat endüstrisinde üretimde kullanılırlar</a:t>
            </a:r>
          </a:p>
          <a:p>
            <a:endParaRPr lang="tr-TR" sz="2800" b="1" dirty="0" smtClean="0"/>
          </a:p>
          <a:p>
            <a:r>
              <a:rPr lang="tr-TR" sz="2800" b="1" dirty="0" smtClean="0"/>
              <a:t>Mantarlar önemli gıda kaynaklarıdır</a:t>
            </a:r>
          </a:p>
          <a:p>
            <a:endParaRPr lang="tr-TR" sz="2800" b="1" dirty="0" smtClean="0"/>
          </a:p>
          <a:p>
            <a:r>
              <a:rPr lang="tr-TR" sz="2800" b="1" dirty="0" smtClean="0"/>
              <a:t>Gıda olarak tüketilmelerinin yanında; ekmek yapımında, bazı geleneksel fermente gıdaların yapımında ve alkollü içecek üretiminde kullanılırlar</a:t>
            </a:r>
            <a:endParaRPr lang="tr-TR" sz="2800" b="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179512" y="260648"/>
            <a:ext cx="8784976" cy="6264696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  <a:buNone/>
            </a:pPr>
            <a:r>
              <a:rPr lang="tr-TR" sz="2400" b="1" dirty="0" smtClean="0"/>
              <a:t>				   </a:t>
            </a:r>
            <a:r>
              <a:rPr lang="tr-TR" sz="4300" b="1" dirty="0" smtClean="0">
                <a:solidFill>
                  <a:srgbClr val="FF0000"/>
                </a:solidFill>
              </a:rPr>
              <a:t>NE YAPARLAR?</a:t>
            </a:r>
          </a:p>
          <a:p>
            <a:pPr algn="ctr" eaLnBrk="1" hangingPunct="1">
              <a:lnSpc>
                <a:spcPct val="90000"/>
              </a:lnSpc>
              <a:buNone/>
            </a:pPr>
            <a:r>
              <a:rPr lang="tr-TR" sz="3000" b="1" dirty="0" smtClean="0">
                <a:solidFill>
                  <a:srgbClr val="FF0000"/>
                </a:solidFill>
              </a:rPr>
              <a:t>BAKTERİLERLE BİRLİKTE KOMPLEKS BİLEŞİKLERİ                         BASİT BİLEŞİKLERE ÇEVİRLER</a:t>
            </a:r>
          </a:p>
          <a:p>
            <a:pPr eaLnBrk="1" hangingPunct="1">
              <a:lnSpc>
                <a:spcPct val="90000"/>
              </a:lnSpc>
              <a:buNone/>
            </a:pPr>
            <a:endParaRPr lang="tr-TR" sz="2400" b="1" dirty="0" smtClean="0"/>
          </a:p>
          <a:p>
            <a:pPr eaLnBrk="1" hangingPunct="1">
              <a:lnSpc>
                <a:spcPct val="90000"/>
              </a:lnSpc>
              <a:buNone/>
            </a:pPr>
            <a:r>
              <a:rPr lang="tr-TR" b="1" dirty="0" smtClean="0"/>
              <a:t>			</a:t>
            </a:r>
            <a:r>
              <a:rPr lang="tr-TR" sz="3000" b="1" dirty="0" smtClean="0">
                <a:solidFill>
                  <a:srgbClr val="0000FF"/>
                </a:solidFill>
              </a:rPr>
              <a:t>YARARLARI</a:t>
            </a:r>
          </a:p>
          <a:p>
            <a:pPr lvl="1" eaLnBrk="1" hangingPunct="1">
              <a:lnSpc>
                <a:spcPct val="90000"/>
              </a:lnSpc>
              <a:buNone/>
            </a:pPr>
            <a:r>
              <a:rPr lang="tr-TR" b="1" dirty="0" smtClean="0"/>
              <a:t>Ekmek</a:t>
            </a:r>
          </a:p>
          <a:p>
            <a:pPr lvl="1" eaLnBrk="1" hangingPunct="1">
              <a:lnSpc>
                <a:spcPct val="90000"/>
              </a:lnSpc>
              <a:buNone/>
            </a:pPr>
            <a:r>
              <a:rPr lang="tr-TR" b="1" dirty="0" smtClean="0"/>
              <a:t>Peynir</a:t>
            </a:r>
          </a:p>
          <a:p>
            <a:pPr lvl="1" eaLnBrk="1" hangingPunct="1">
              <a:lnSpc>
                <a:spcPct val="90000"/>
              </a:lnSpc>
              <a:buNone/>
            </a:pPr>
            <a:r>
              <a:rPr lang="tr-TR" b="1" dirty="0" err="1" smtClean="0"/>
              <a:t>Steroit</a:t>
            </a:r>
            <a:endParaRPr lang="tr-TR" b="1" dirty="0" smtClean="0"/>
          </a:p>
          <a:p>
            <a:pPr lvl="1" eaLnBrk="1" hangingPunct="1">
              <a:lnSpc>
                <a:spcPct val="90000"/>
              </a:lnSpc>
              <a:buNone/>
            </a:pPr>
            <a:r>
              <a:rPr lang="tr-TR" b="1" dirty="0" smtClean="0"/>
              <a:t>Antibiyotik</a:t>
            </a:r>
          </a:p>
          <a:p>
            <a:pPr lvl="1" eaLnBrk="1" hangingPunct="1">
              <a:lnSpc>
                <a:spcPct val="90000"/>
              </a:lnSpc>
              <a:buNone/>
            </a:pPr>
            <a:r>
              <a:rPr lang="tr-TR" b="1" dirty="0" smtClean="0"/>
              <a:t>Alkollü içecekler</a:t>
            </a:r>
          </a:p>
          <a:p>
            <a:pPr lvl="1" eaLnBrk="1" hangingPunct="1">
              <a:lnSpc>
                <a:spcPct val="90000"/>
              </a:lnSpc>
              <a:buNone/>
            </a:pPr>
            <a:r>
              <a:rPr lang="tr-TR" b="1" dirty="0" smtClean="0"/>
              <a:t>Organik asitler</a:t>
            </a:r>
          </a:p>
          <a:p>
            <a:pPr lvl="1">
              <a:lnSpc>
                <a:spcPct val="90000"/>
              </a:lnSpc>
              <a:buNone/>
            </a:pPr>
            <a:r>
              <a:rPr lang="tr-TR" b="1" dirty="0" smtClean="0"/>
              <a:t>     		</a:t>
            </a:r>
          </a:p>
          <a:p>
            <a:pPr lvl="1">
              <a:lnSpc>
                <a:spcPct val="90000"/>
              </a:lnSpc>
              <a:buNone/>
            </a:pPr>
            <a:r>
              <a:rPr lang="tr-TR" sz="3000" b="1" dirty="0" smtClean="0">
                <a:solidFill>
                  <a:srgbClr val="0000FF"/>
                </a:solidFill>
              </a:rPr>
              <a:t>			ZARARLARI</a:t>
            </a:r>
          </a:p>
          <a:p>
            <a:pPr lvl="1">
              <a:lnSpc>
                <a:spcPct val="90000"/>
              </a:lnSpc>
              <a:buNone/>
            </a:pPr>
            <a:r>
              <a:rPr lang="tr-TR" b="1" dirty="0" smtClean="0"/>
              <a:t>Hastalık yaparlar</a:t>
            </a:r>
          </a:p>
          <a:p>
            <a:pPr lvl="1">
              <a:lnSpc>
                <a:spcPct val="90000"/>
              </a:lnSpc>
              <a:buNone/>
            </a:pPr>
            <a:r>
              <a:rPr lang="tr-TR" b="1" dirty="0" smtClean="0"/>
              <a:t>Elektronik aletleri bozar</a:t>
            </a:r>
          </a:p>
          <a:p>
            <a:pPr lvl="1">
              <a:buNone/>
            </a:pPr>
            <a:r>
              <a:rPr lang="tr-TR" b="1" dirty="0" smtClean="0"/>
              <a:t>Mobilyaları bozar</a:t>
            </a:r>
            <a:r>
              <a:rPr lang="tr-TR" dirty="0" smtClean="0"/>
              <a:t/>
            </a:r>
            <a:br>
              <a:rPr lang="tr-TR" dirty="0" smtClean="0"/>
            </a:br>
            <a:endParaRPr lang="tr-TR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0" dur="2000"/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3" dur="2000"/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6" dur="2000"/>
                                        <p:tgtEl>
                                          <p:spTgt spid="9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9" dur="2000"/>
                                        <p:tgtEl>
                                          <p:spTgt spid="92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2" dur="2000"/>
                                        <p:tgtEl>
                                          <p:spTgt spid="92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5" dur="2000"/>
                                        <p:tgtEl>
                                          <p:spTgt spid="92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8" dur="2000"/>
                                        <p:tgtEl>
                                          <p:spTgt spid="92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1" dur="2000"/>
                                        <p:tgtEl>
                                          <p:spTgt spid="92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4" dur="2000"/>
                                        <p:tgtEl>
                                          <p:spTgt spid="921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7" dur="2000"/>
                                        <p:tgtEl>
                                          <p:spTgt spid="921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0" dur="2000"/>
                                        <p:tgtEl>
                                          <p:spTgt spid="921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9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b="1" dirty="0" smtClean="0">
                <a:solidFill>
                  <a:srgbClr val="FF0000"/>
                </a:solidFill>
              </a:rPr>
              <a:t>MANTARLARIN SINIFLANDIRILMASI</a:t>
            </a:r>
            <a:endParaRPr lang="tr-TR" dirty="0">
              <a:solidFill>
                <a:srgbClr val="FF0000"/>
              </a:solidFill>
            </a:endParaRPr>
          </a:p>
        </p:txBody>
      </p:sp>
      <p:sp>
        <p:nvSpPr>
          <p:cNvPr id="7" name="6 İçerik Yer Tutucusu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53136"/>
          </a:xfrm>
        </p:spPr>
        <p:txBody>
          <a:bodyPr>
            <a:noAutofit/>
          </a:bodyPr>
          <a:lstStyle/>
          <a:p>
            <a:r>
              <a:rPr lang="tr-TR" sz="2800" b="1" dirty="0" smtClean="0"/>
              <a:t>Mantarların sınıflandırılması daha çok</a:t>
            </a:r>
          </a:p>
          <a:p>
            <a:pPr lvl="1"/>
            <a:r>
              <a:rPr lang="tr-TR" b="1" dirty="0" smtClean="0"/>
              <a:t>Morfoloji</a:t>
            </a:r>
          </a:p>
          <a:p>
            <a:pPr lvl="1"/>
            <a:r>
              <a:rPr lang="tr-TR" b="1" dirty="0" smtClean="0"/>
              <a:t>Spor oluşturma şekline dayanır</a:t>
            </a:r>
          </a:p>
          <a:p>
            <a:pPr lvl="1"/>
            <a:endParaRPr lang="tr-TR" b="1" dirty="0" smtClean="0"/>
          </a:p>
          <a:p>
            <a:pPr lvl="1"/>
            <a:r>
              <a:rPr lang="tr-TR" b="1" dirty="0" smtClean="0"/>
              <a:t>Bunların yanında</a:t>
            </a:r>
          </a:p>
          <a:p>
            <a:pPr lvl="3"/>
            <a:r>
              <a:rPr lang="tr-TR" sz="2800" b="1" dirty="0" smtClean="0"/>
              <a:t>Elektron mikroskobik özellikler</a:t>
            </a:r>
          </a:p>
          <a:p>
            <a:pPr lvl="3"/>
            <a:r>
              <a:rPr lang="tr-TR" sz="2800" b="1" dirty="0" smtClean="0"/>
              <a:t>Biyokimyasal</a:t>
            </a:r>
          </a:p>
          <a:p>
            <a:pPr lvl="3"/>
            <a:r>
              <a:rPr lang="tr-TR" sz="2800" b="1" dirty="0" smtClean="0"/>
              <a:t>Moleküler özelliklerden de yararlanılmaktadır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179512" y="404664"/>
            <a:ext cx="8640960" cy="6120680"/>
          </a:xfrm>
        </p:spPr>
        <p:txBody>
          <a:bodyPr/>
          <a:lstStyle/>
          <a:p>
            <a:pPr algn="ctr">
              <a:buNone/>
            </a:pPr>
            <a:r>
              <a:rPr lang="tr-TR" b="1" dirty="0" smtClean="0">
                <a:solidFill>
                  <a:srgbClr val="0000FF"/>
                </a:solidFill>
              </a:rPr>
              <a:t>     </a:t>
            </a:r>
            <a:r>
              <a:rPr lang="tr-TR" sz="3600" b="1" dirty="0" smtClean="0">
                <a:solidFill>
                  <a:srgbClr val="0000FF"/>
                </a:solidFill>
              </a:rPr>
              <a:t>MANTARLAR KENDİ BESİNİNİ KENDİSİ ÜRETEMEYEN CANLILARDANDIR </a:t>
            </a:r>
          </a:p>
          <a:p>
            <a:pPr algn="ctr">
              <a:buNone/>
            </a:pPr>
            <a:r>
              <a:rPr lang="tr-TR" sz="3600" b="1" dirty="0" smtClean="0">
                <a:solidFill>
                  <a:srgbClr val="0000FF"/>
                </a:solidFill>
              </a:rPr>
              <a:t>BU CANLILAR BESİN İHTİYAÇLARINI ORTAMDAKİ MADDELERİ PARÇALAYARAK YANİ AYRIŞTIRARAK SAĞLAMAKTADIRLAR</a:t>
            </a:r>
          </a:p>
          <a:p>
            <a:pPr algn="ctr">
              <a:buNone/>
            </a:pPr>
            <a:endParaRPr lang="tr-TR" b="1" dirty="0" smtClean="0">
              <a:solidFill>
                <a:srgbClr val="0000FF"/>
              </a:solidFill>
            </a:endParaRPr>
          </a:p>
          <a:p>
            <a:pPr algn="ctr">
              <a:buNone/>
            </a:pPr>
            <a:r>
              <a:rPr lang="tr-TR" sz="3600" b="1" dirty="0" smtClean="0">
                <a:solidFill>
                  <a:srgbClr val="FF0000"/>
                </a:solidFill>
              </a:rPr>
              <a:t>BİTKİLER ÂLEMİNDEN AYRI CANLI GRUP</a:t>
            </a:r>
            <a:endParaRPr lang="tr-TR" sz="36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b="1" dirty="0" smtClean="0">
                <a:solidFill>
                  <a:srgbClr val="FF0000"/>
                </a:solidFill>
              </a:rPr>
              <a:t>Mantarlar, </a:t>
            </a:r>
            <a:r>
              <a:rPr lang="tr-TR" b="1" dirty="0" err="1" smtClean="0">
                <a:solidFill>
                  <a:srgbClr val="FF0000"/>
                </a:solidFill>
              </a:rPr>
              <a:t>ökaryot</a:t>
            </a:r>
            <a:r>
              <a:rPr lang="tr-TR" b="1" dirty="0" smtClean="0">
                <a:solidFill>
                  <a:srgbClr val="FF0000"/>
                </a:solidFill>
              </a:rPr>
              <a:t> hücre yapısına sahiptirler</a:t>
            </a:r>
            <a:endParaRPr lang="tr-TR" b="1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sz="2400" b="1" dirty="0" smtClean="0"/>
              <a:t>► Genellikle çok hücrelidirler ancak </a:t>
            </a:r>
            <a:r>
              <a:rPr lang="tr-TR" sz="2400" b="1" i="1" dirty="0" smtClean="0"/>
              <a:t>bira mayası (maya mantarı)</a:t>
            </a:r>
            <a:r>
              <a:rPr lang="tr-TR" sz="2400" b="1" dirty="0" smtClean="0"/>
              <a:t> tek hücrelidir.</a:t>
            </a:r>
          </a:p>
          <a:p>
            <a:r>
              <a:rPr lang="tr-TR" sz="2400" b="1" dirty="0" smtClean="0"/>
              <a:t>► Tüm </a:t>
            </a:r>
            <a:r>
              <a:rPr lang="tr-TR" sz="2400" b="1" dirty="0" smtClean="0"/>
              <a:t>mantarlar heterotrof beslenirler. Heterotrof beslenmeleri saprofit ya da parazit beslenme şeklindedir.</a:t>
            </a:r>
          </a:p>
          <a:p>
            <a:r>
              <a:rPr lang="tr-TR" sz="2400" b="1" dirty="0" smtClean="0"/>
              <a:t>► </a:t>
            </a:r>
            <a:r>
              <a:rPr lang="tr-TR" sz="2400" b="1" dirty="0" smtClean="0"/>
              <a:t>Saprofit beslenen mantarlar; madde döngülerinde görev alır.</a:t>
            </a:r>
          </a:p>
          <a:p>
            <a:r>
              <a:rPr lang="tr-TR" sz="2400" b="1" dirty="0" smtClean="0"/>
              <a:t>► Parazit olanlar ise hastalık yapar. Örneğin; pamukçuk, saçkıran hastalığı, ayak, el ve tırnaklarda oluşan mantar hastalıkları gibi.</a:t>
            </a:r>
          </a:p>
          <a:p>
            <a:r>
              <a:rPr lang="tr-TR" sz="2400" b="1" dirty="0" smtClean="0"/>
              <a:t>► Hücre içinde ürettikleri enzimleri </a:t>
            </a:r>
            <a:r>
              <a:rPr lang="tr-TR" sz="2400" b="1" dirty="0" err="1" smtClean="0"/>
              <a:t>ekzositoz</a:t>
            </a:r>
            <a:r>
              <a:rPr lang="tr-TR" sz="2400" b="1" dirty="0" smtClean="0"/>
              <a:t> ile hücre dışına vererek organik atıkları ayrıştırırlar (Hücre dışında).</a:t>
            </a:r>
          </a:p>
          <a:p>
            <a:endParaRPr lang="tr-TR" sz="2400" b="1" dirty="0" smtClean="0"/>
          </a:p>
          <a:p>
            <a:endParaRPr lang="tr-TR" sz="2400" b="1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251520" y="476672"/>
            <a:ext cx="8640960" cy="6048672"/>
          </a:xfrm>
        </p:spPr>
        <p:txBody>
          <a:bodyPr>
            <a:normAutofit/>
          </a:bodyPr>
          <a:lstStyle/>
          <a:p>
            <a:r>
              <a:rPr lang="tr-TR" b="1" dirty="0" smtClean="0"/>
              <a:t>► Daha sonra oluşan </a:t>
            </a:r>
            <a:r>
              <a:rPr lang="tr-TR" b="1" dirty="0" smtClean="0"/>
              <a:t>küçük yapılar </a:t>
            </a:r>
            <a:r>
              <a:rPr lang="tr-TR" b="1" dirty="0" err="1" smtClean="0"/>
              <a:t>Hif</a:t>
            </a:r>
            <a:r>
              <a:rPr lang="tr-TR" b="1" dirty="0" smtClean="0"/>
              <a:t> </a:t>
            </a:r>
            <a:r>
              <a:rPr lang="tr-TR" b="1" dirty="0" smtClean="0"/>
              <a:t>adı verilen pamuksu yapıya sahip uzantılar </a:t>
            </a:r>
            <a:r>
              <a:rPr lang="tr-TR" b="1" dirty="0" smtClean="0"/>
              <a:t>oluştururlar</a:t>
            </a:r>
            <a:endParaRPr lang="tr-TR" b="1" dirty="0" smtClean="0"/>
          </a:p>
          <a:p>
            <a:r>
              <a:rPr lang="tr-TR" b="1" dirty="0" smtClean="0"/>
              <a:t>► </a:t>
            </a:r>
            <a:r>
              <a:rPr lang="tr-TR" b="1" dirty="0" err="1" smtClean="0"/>
              <a:t>Hiflerin</a:t>
            </a:r>
            <a:r>
              <a:rPr lang="tr-TR" b="1" dirty="0" smtClean="0"/>
              <a:t> birleşmesiyle oluşan yapıya </a:t>
            </a:r>
            <a:r>
              <a:rPr lang="tr-TR" b="1" dirty="0" err="1" smtClean="0">
                <a:solidFill>
                  <a:srgbClr val="FF0000"/>
                </a:solidFill>
              </a:rPr>
              <a:t>Miselyum</a:t>
            </a:r>
            <a:r>
              <a:rPr lang="tr-TR" b="1" dirty="0" smtClean="0">
                <a:solidFill>
                  <a:srgbClr val="FF0000"/>
                </a:solidFill>
              </a:rPr>
              <a:t> denir. </a:t>
            </a:r>
            <a:r>
              <a:rPr lang="tr-TR" b="1" dirty="0" smtClean="0"/>
              <a:t>(</a:t>
            </a:r>
            <a:r>
              <a:rPr lang="tr-TR" b="1" dirty="0" err="1" smtClean="0"/>
              <a:t>Miselyum</a:t>
            </a:r>
            <a:r>
              <a:rPr lang="tr-TR" b="1" dirty="0" smtClean="0"/>
              <a:t>; </a:t>
            </a:r>
            <a:r>
              <a:rPr lang="tr-TR" b="1" dirty="0" err="1" smtClean="0"/>
              <a:t>hif</a:t>
            </a:r>
            <a:r>
              <a:rPr lang="tr-TR" b="1" dirty="0" smtClean="0"/>
              <a:t> demetidir.)</a:t>
            </a:r>
          </a:p>
          <a:p>
            <a:r>
              <a:rPr lang="tr-TR" b="1" dirty="0" smtClean="0"/>
              <a:t>► </a:t>
            </a:r>
            <a:r>
              <a:rPr lang="tr-TR" b="1" dirty="0" err="1" smtClean="0"/>
              <a:t>Miselyumlar</a:t>
            </a:r>
            <a:r>
              <a:rPr lang="tr-TR" b="1" dirty="0" smtClean="0"/>
              <a:t>; mantarın bulunduğu ortama tutunmasında, yayılmasında ve beslenmesinde etkili olan yapılardır. </a:t>
            </a:r>
          </a:p>
          <a:p>
            <a:r>
              <a:rPr lang="tr-TR" b="1" dirty="0" smtClean="0"/>
              <a:t>► Mantarlarda kök ve gövde gibi yapıları bulunmaz.</a:t>
            </a:r>
          </a:p>
          <a:p>
            <a:pPr>
              <a:buNone/>
            </a:pPr>
            <a:endParaRPr lang="tr-TR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C:\Users\tijen\Desktop\26172mantarlar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476672"/>
            <a:ext cx="8627963" cy="611921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tijen\Desktop\MantarlardaHifMiselyum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188640"/>
            <a:ext cx="8424986" cy="657505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smtClean="0">
                <a:solidFill>
                  <a:srgbClr val="FF0000"/>
                </a:solidFill>
              </a:rPr>
              <a:t>NASIL ÇOĞALIRLAR</a:t>
            </a:r>
            <a:endParaRPr lang="tr-TR" b="1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637112"/>
          </a:xfrm>
        </p:spPr>
        <p:txBody>
          <a:bodyPr>
            <a:normAutofit fontScale="92500" lnSpcReduction="20000"/>
          </a:bodyPr>
          <a:lstStyle/>
          <a:p>
            <a:r>
              <a:rPr lang="tr-TR" b="1" dirty="0" smtClean="0"/>
              <a:t>► Mantarlar spor hücreleri ile eşeyli ve eşeysiz olarak çoğalırlar. Eşeyli üremeleri; eşeyli ve eşeysiz üremenin birbirini takip ettiği özel bir üreme </a:t>
            </a:r>
            <a:r>
              <a:rPr lang="tr-TR" b="1" dirty="0" smtClean="0"/>
              <a:t>şekli vardır</a:t>
            </a:r>
            <a:endParaRPr lang="tr-TR" b="1" dirty="0" smtClean="0"/>
          </a:p>
          <a:p>
            <a:r>
              <a:rPr lang="tr-TR" b="1" dirty="0" smtClean="0"/>
              <a:t>► Taşıdıkları spor keselerinde spor hücreleri oluşur. Spor kesesinin patlamasıyla sporlar; rüzgar, su ve böceklerin etkisiyle çevreye dağılır. Nemli ve uygun koşullarda bu spor hücreleri çimlenerek yeni mantarları oluşturur.</a:t>
            </a:r>
          </a:p>
          <a:p>
            <a:r>
              <a:rPr lang="tr-TR" b="1" dirty="0" smtClean="0"/>
              <a:t>► Sporlar; çevre şartlarına çok dayanıklı olup yıllarca canlı kalabilirler.</a:t>
            </a:r>
          </a:p>
          <a:p>
            <a:endParaRPr lang="tr-TR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b="1" dirty="0" smtClean="0">
                <a:solidFill>
                  <a:srgbClr val="FF0000"/>
                </a:solidFill>
              </a:rPr>
              <a:t>ORGANİK ATIKLARI İNORGANİK MADDELERE DÖNÜŞTÜRÜLER</a:t>
            </a:r>
            <a:endParaRPr lang="tr-TR" b="1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81128"/>
          </a:xfrm>
        </p:spPr>
        <p:txBody>
          <a:bodyPr>
            <a:normAutofit fontScale="85000" lnSpcReduction="10000"/>
          </a:bodyPr>
          <a:lstStyle/>
          <a:p>
            <a:r>
              <a:rPr lang="tr-TR" b="1" dirty="0" smtClean="0"/>
              <a:t>► Hücre </a:t>
            </a:r>
            <a:r>
              <a:rPr lang="tr-TR" b="1" dirty="0" smtClean="0"/>
              <a:t>dışına salgıladıkları enzimlerle organik atıkları inorganik maddelere </a:t>
            </a:r>
            <a:r>
              <a:rPr lang="tr-TR" b="1" dirty="0" err="1" smtClean="0"/>
              <a:t>dönüştürüler</a:t>
            </a:r>
            <a:r>
              <a:rPr lang="tr-TR" b="1" dirty="0" smtClean="0"/>
              <a:t> ve madde döngülerinde rol oynarlar.</a:t>
            </a:r>
          </a:p>
          <a:p>
            <a:r>
              <a:rPr lang="tr-TR" b="1" dirty="0" smtClean="0"/>
              <a:t>► Mantarlarda yer değiştirme şeklinde aktif hareket yoktur. Pasif hareket ederler.</a:t>
            </a:r>
          </a:p>
          <a:p>
            <a:r>
              <a:rPr lang="tr-TR" b="1" dirty="0" smtClean="0"/>
              <a:t>► </a:t>
            </a:r>
            <a:r>
              <a:rPr lang="tr-TR" b="1" dirty="0" smtClean="0"/>
              <a:t>Hücre </a:t>
            </a:r>
            <a:r>
              <a:rPr lang="tr-TR" b="1" dirty="0" smtClean="0"/>
              <a:t>duvarlarında; azot içeren bir </a:t>
            </a:r>
            <a:r>
              <a:rPr lang="tr-TR" b="1" dirty="0" err="1" smtClean="0"/>
              <a:t>polisakkarit</a:t>
            </a:r>
            <a:r>
              <a:rPr lang="tr-TR" b="1" dirty="0" smtClean="0"/>
              <a:t> olan </a:t>
            </a:r>
            <a:r>
              <a:rPr lang="tr-TR" b="1" i="1" dirty="0" smtClean="0"/>
              <a:t>kitin</a:t>
            </a:r>
            <a:r>
              <a:rPr lang="tr-TR" b="1" dirty="0" smtClean="0"/>
              <a:t> bulunur.</a:t>
            </a:r>
          </a:p>
          <a:p>
            <a:r>
              <a:rPr lang="tr-TR" b="1" dirty="0" smtClean="0"/>
              <a:t>► </a:t>
            </a:r>
            <a:r>
              <a:rPr lang="tr-TR" b="1" dirty="0" smtClean="0"/>
              <a:t>Glikozun fazlasını </a:t>
            </a:r>
            <a:r>
              <a:rPr lang="tr-TR" b="1" i="1" dirty="0" smtClean="0"/>
              <a:t>Glikojen</a:t>
            </a:r>
            <a:r>
              <a:rPr lang="tr-TR" b="1" dirty="0" smtClean="0"/>
              <a:t> olarak depo ederler.</a:t>
            </a:r>
          </a:p>
          <a:p>
            <a:r>
              <a:rPr lang="tr-TR" b="1" dirty="0" smtClean="0"/>
              <a:t>► Bazı mantar türleri yeşil alglerle karşılıklı faydaya dayalı bir birliktelik oluştururlar. Bu birlikteliğe </a:t>
            </a:r>
            <a:r>
              <a:rPr lang="tr-TR" b="1" i="1" dirty="0" smtClean="0"/>
              <a:t>Liken </a:t>
            </a:r>
            <a:r>
              <a:rPr lang="tr-TR" b="1" dirty="0" smtClean="0"/>
              <a:t>denir.</a:t>
            </a:r>
          </a:p>
          <a:p>
            <a:endParaRPr lang="tr-TR" b="1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b="1" dirty="0" smtClean="0"/>
              <a:t/>
            </a:r>
            <a:br>
              <a:rPr lang="tr-TR" b="1" dirty="0" smtClean="0"/>
            </a:br>
            <a:r>
              <a:rPr lang="tr-TR" b="1" dirty="0" smtClean="0">
                <a:solidFill>
                  <a:srgbClr val="FF0000"/>
                </a:solidFill>
              </a:rPr>
              <a:t>BAZI MANTAR ÇEŞİTLERİ</a:t>
            </a:r>
            <a:r>
              <a:rPr lang="tr-TR" dirty="0" smtClean="0">
                <a:solidFill>
                  <a:srgbClr val="FF0000"/>
                </a:solidFill>
              </a:rPr>
              <a:t/>
            </a:r>
            <a:br>
              <a:rPr lang="tr-TR" dirty="0" smtClean="0">
                <a:solidFill>
                  <a:srgbClr val="FF0000"/>
                </a:solidFill>
              </a:rPr>
            </a:br>
            <a:endParaRPr lang="tr-TR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tr-TR" b="1" dirty="0" smtClean="0"/>
              <a:t>		     </a:t>
            </a:r>
            <a:r>
              <a:rPr lang="tr-TR" b="1" dirty="0" smtClean="0">
                <a:solidFill>
                  <a:srgbClr val="FF0000"/>
                </a:solidFill>
              </a:rPr>
              <a:t>MAYA MANTARLARI (BİRA MAYASI)</a:t>
            </a:r>
            <a:endParaRPr lang="tr-TR" dirty="0" smtClean="0">
              <a:solidFill>
                <a:srgbClr val="FF0000"/>
              </a:solidFill>
            </a:endParaRPr>
          </a:p>
          <a:p>
            <a:r>
              <a:rPr lang="tr-TR" b="1" dirty="0" smtClean="0"/>
              <a:t>► </a:t>
            </a:r>
            <a:r>
              <a:rPr lang="tr-TR" b="1" dirty="0" smtClean="0"/>
              <a:t>Bitki ve hayvan özsuyu dahil sıvı ya da nemli ortamlarda yaşarlar.</a:t>
            </a:r>
          </a:p>
          <a:p>
            <a:r>
              <a:rPr lang="tr-TR" b="1" dirty="0" smtClean="0"/>
              <a:t>► Bir hücreli olan tek mantar türüdür. Mikroskobiktir.</a:t>
            </a:r>
          </a:p>
          <a:p>
            <a:r>
              <a:rPr lang="tr-TR" b="1" dirty="0" smtClean="0"/>
              <a:t>► Eşeysiz olarak basit hücre bölünmesi ya da tomurcuklanarak çoğalırlar.</a:t>
            </a:r>
          </a:p>
          <a:p>
            <a:r>
              <a:rPr lang="tr-TR" b="1" dirty="0" smtClean="0"/>
              <a:t>► </a:t>
            </a:r>
            <a:r>
              <a:rPr lang="tr-TR" b="1" dirty="0" smtClean="0">
                <a:solidFill>
                  <a:srgbClr val="FF0000"/>
                </a:solidFill>
              </a:rPr>
              <a:t>Maya mantarları etil alkol fermantasyonu yaparlar.</a:t>
            </a:r>
          </a:p>
          <a:p>
            <a:endParaRPr lang="tr-TR" b="1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b="1" dirty="0" smtClean="0"/>
              <a:t/>
            </a:r>
            <a:br>
              <a:rPr lang="tr-TR" b="1" dirty="0" smtClean="0"/>
            </a:br>
            <a:r>
              <a:rPr lang="tr-TR" b="1" dirty="0" smtClean="0">
                <a:solidFill>
                  <a:srgbClr val="FF0000"/>
                </a:solidFill>
              </a:rPr>
              <a:t>KÜF MANTARLARI</a:t>
            </a:r>
            <a:r>
              <a:rPr lang="tr-TR" dirty="0" smtClean="0"/>
              <a:t/>
            </a:r>
            <a:br>
              <a:rPr lang="tr-TR" dirty="0" smtClean="0"/>
            </a:br>
            <a:endParaRPr lang="tr-TR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tr-TR" b="1" dirty="0" smtClean="0"/>
              <a:t>► </a:t>
            </a:r>
            <a:r>
              <a:rPr lang="tr-TR" b="1" dirty="0" smtClean="0">
                <a:solidFill>
                  <a:srgbClr val="FF0000"/>
                </a:solidFill>
              </a:rPr>
              <a:t>Çok hücrelidirler.</a:t>
            </a:r>
          </a:p>
          <a:p>
            <a:r>
              <a:rPr lang="tr-TR" b="1" dirty="0" smtClean="0"/>
              <a:t>► </a:t>
            </a:r>
            <a:r>
              <a:rPr lang="tr-TR" b="1" dirty="0" smtClean="0"/>
              <a:t>Hızlı büyüyen ve eşeysiz çoğalan mantarlardır.</a:t>
            </a:r>
          </a:p>
          <a:p>
            <a:r>
              <a:rPr lang="tr-TR" b="1" dirty="0" smtClean="0"/>
              <a:t>► Küf mantarları nemli ve ılık ortamlarda sporlarla hızlı çoğalır.</a:t>
            </a:r>
          </a:p>
          <a:p>
            <a:r>
              <a:rPr lang="tr-TR" b="1" dirty="0" smtClean="0"/>
              <a:t>► Bu mantarların </a:t>
            </a:r>
            <a:r>
              <a:rPr lang="tr-TR" b="1" dirty="0" err="1" smtClean="0"/>
              <a:t>miselyumları</a:t>
            </a:r>
            <a:r>
              <a:rPr lang="tr-TR" b="1" dirty="0" smtClean="0"/>
              <a:t> çeşitli besin maddelerinin üzerine tutunur. Parazit ya da saprofit beslenerek besinlerin küflenmesine neden olur.</a:t>
            </a:r>
          </a:p>
          <a:p>
            <a:r>
              <a:rPr lang="tr-TR" b="1" dirty="0" smtClean="0"/>
              <a:t>► Örneğin; ekmek küfü, limon ve peynir küfü vb. bunlar zararlı küf mantarlarıdır.</a:t>
            </a:r>
          </a:p>
          <a:p>
            <a:r>
              <a:rPr lang="tr-TR" b="1" dirty="0" smtClean="0"/>
              <a:t>► Bazı küf mantarlarından antibiyotikler elde edilir. Bu antibiyotikler bakterilerin ölümüne neden olduğu için hastalıkların tedavisinde kullanılırlar</a:t>
            </a:r>
            <a:r>
              <a:rPr lang="tr-TR" dirty="0" smtClean="0"/>
              <a:t>.</a:t>
            </a:r>
          </a:p>
          <a:p>
            <a:endParaRPr lang="tr-TR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b="1" dirty="0" smtClean="0"/>
              <a:t/>
            </a:r>
            <a:br>
              <a:rPr lang="tr-TR" b="1" dirty="0" smtClean="0"/>
            </a:br>
            <a:r>
              <a:rPr lang="tr-TR" b="1" dirty="0" smtClean="0">
                <a:solidFill>
                  <a:srgbClr val="FF0000"/>
                </a:solidFill>
              </a:rPr>
              <a:t>ŞAPKALI MANTARLAR</a:t>
            </a:r>
            <a:r>
              <a:rPr lang="tr-TR" dirty="0" smtClean="0">
                <a:solidFill>
                  <a:srgbClr val="FF0000"/>
                </a:solidFill>
              </a:rPr>
              <a:t/>
            </a:r>
            <a:br>
              <a:rPr lang="tr-TR" dirty="0" smtClean="0">
                <a:solidFill>
                  <a:srgbClr val="FF0000"/>
                </a:solidFill>
              </a:rPr>
            </a:br>
            <a:endParaRPr lang="tr-TR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81128"/>
          </a:xfrm>
        </p:spPr>
        <p:txBody>
          <a:bodyPr>
            <a:noAutofit/>
          </a:bodyPr>
          <a:lstStyle/>
          <a:p>
            <a:r>
              <a:rPr lang="tr-TR" sz="2400" b="1" dirty="0" smtClean="0"/>
              <a:t>► </a:t>
            </a:r>
            <a:r>
              <a:rPr lang="tr-TR" sz="2400" b="1" dirty="0" smtClean="0"/>
              <a:t>Çoğu zehirli olup sağlık </a:t>
            </a:r>
            <a:r>
              <a:rPr lang="tr-TR" sz="2400" b="1" dirty="0" smtClean="0"/>
              <a:t>sorunları </a:t>
            </a:r>
            <a:r>
              <a:rPr lang="tr-TR" sz="2400" b="1" dirty="0" smtClean="0"/>
              <a:t>hatta ölüme yol </a:t>
            </a:r>
            <a:r>
              <a:rPr lang="tr-TR" sz="2400" b="1" dirty="0" smtClean="0"/>
              <a:t>açabilir</a:t>
            </a:r>
            <a:endParaRPr lang="tr-TR" sz="2400" b="1" dirty="0" smtClean="0"/>
          </a:p>
          <a:p>
            <a:r>
              <a:rPr lang="tr-TR" sz="2400" b="1" dirty="0" smtClean="0"/>
              <a:t>► </a:t>
            </a:r>
            <a:r>
              <a:rPr lang="tr-TR" sz="2400" b="1" dirty="0" smtClean="0"/>
              <a:t>Bazı türleri Protein, B vitamini ve mineral bakımından zengin olduğu için besin olarak kullanılır.</a:t>
            </a:r>
          </a:p>
          <a:p>
            <a:r>
              <a:rPr lang="tr-TR" sz="2400" b="1" dirty="0" smtClean="0"/>
              <a:t>► Doğada çok türleri bulunur. Zehirli mantarları ayırt etmek ancak </a:t>
            </a:r>
            <a:r>
              <a:rPr lang="tr-TR" sz="2400" b="1" dirty="0" err="1" smtClean="0"/>
              <a:t>laboratuvar</a:t>
            </a:r>
            <a:r>
              <a:rPr lang="tr-TR" sz="2400" b="1" dirty="0" smtClean="0"/>
              <a:t> koşullarında mümkündür. </a:t>
            </a:r>
            <a:r>
              <a:rPr lang="tr-TR" sz="2400" b="1" dirty="0" smtClean="0">
                <a:solidFill>
                  <a:srgbClr val="FF0000"/>
                </a:solidFill>
              </a:rPr>
              <a:t>Bu nedenle besin olarak kullanılan mantar türleri kültür ortamında </a:t>
            </a:r>
            <a:r>
              <a:rPr lang="tr-TR" sz="2400" b="1" dirty="0" smtClean="0">
                <a:solidFill>
                  <a:srgbClr val="FF0000"/>
                </a:solidFill>
              </a:rPr>
              <a:t>yetiştirilir.</a:t>
            </a:r>
            <a:endParaRPr lang="tr-TR" sz="2400" b="1" dirty="0" smtClean="0">
              <a:solidFill>
                <a:srgbClr val="FF0000"/>
              </a:solidFill>
            </a:endParaRPr>
          </a:p>
          <a:p>
            <a:r>
              <a:rPr lang="tr-TR" sz="2400" b="1" dirty="0" smtClean="0"/>
              <a:t>► Çok hücrelidirler. Besinlerini </a:t>
            </a:r>
            <a:r>
              <a:rPr lang="tr-TR" sz="2400" b="1" dirty="0" err="1" smtClean="0"/>
              <a:t>hiflerin</a:t>
            </a:r>
            <a:r>
              <a:rPr lang="tr-TR" sz="2400" b="1" dirty="0" smtClean="0"/>
              <a:t> oluşturduğu </a:t>
            </a:r>
            <a:r>
              <a:rPr lang="tr-TR" sz="2400" b="1" dirty="0" err="1" smtClean="0"/>
              <a:t>miselyumlarla</a:t>
            </a:r>
            <a:r>
              <a:rPr lang="tr-TR" sz="2400" b="1" dirty="0" smtClean="0"/>
              <a:t> yaşadıkları ortamdan hazır alırlar. </a:t>
            </a:r>
            <a:r>
              <a:rPr lang="tr-TR" sz="2400" b="1" dirty="0" smtClean="0"/>
              <a:t>Yani heterotrof </a:t>
            </a:r>
            <a:r>
              <a:rPr lang="tr-TR" sz="2400" b="1" dirty="0" smtClean="0"/>
              <a:t>beslenirler.</a:t>
            </a:r>
          </a:p>
          <a:p>
            <a:r>
              <a:rPr lang="tr-TR" sz="2400" b="1" dirty="0" smtClean="0"/>
              <a:t>► Üremeleri: Şapkalı yapıların altında spor keseleri bulunur. Bu keselerde oluşan spor hücreleri üremelerini sağlar.</a:t>
            </a:r>
          </a:p>
          <a:p>
            <a:endParaRPr lang="tr-TR" sz="2400" b="1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b="1" dirty="0" smtClean="0"/>
              <a:t/>
            </a:r>
            <a:br>
              <a:rPr lang="tr-TR" b="1" dirty="0" smtClean="0"/>
            </a:br>
            <a:r>
              <a:rPr lang="tr-TR" b="1" dirty="0" smtClean="0">
                <a:solidFill>
                  <a:srgbClr val="FF0000"/>
                </a:solidFill>
              </a:rPr>
              <a:t>PARAZİT MANTARLAR</a:t>
            </a:r>
            <a:r>
              <a:rPr lang="tr-TR" dirty="0" smtClean="0">
                <a:solidFill>
                  <a:srgbClr val="FF0000"/>
                </a:solidFill>
              </a:rPr>
              <a:t/>
            </a:r>
            <a:br>
              <a:rPr lang="tr-TR" dirty="0" smtClean="0">
                <a:solidFill>
                  <a:srgbClr val="FF0000"/>
                </a:solidFill>
              </a:rPr>
            </a:br>
            <a:endParaRPr lang="tr-TR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b="1" dirty="0" smtClean="0"/>
              <a:t>► </a:t>
            </a:r>
            <a:r>
              <a:rPr lang="tr-TR" b="1" dirty="0" smtClean="0"/>
              <a:t>Tahıl ve meyvelerde, insan ve hayvanlarda hastalık yapan mantarlardır.</a:t>
            </a:r>
          </a:p>
          <a:p>
            <a:r>
              <a:rPr lang="tr-TR" b="1" dirty="0" smtClean="0"/>
              <a:t>► </a:t>
            </a:r>
            <a:r>
              <a:rPr lang="tr-TR" b="1" dirty="0" smtClean="0"/>
              <a:t>Parazit beslenirler. Çok hücrelidirler.</a:t>
            </a:r>
          </a:p>
          <a:p>
            <a:r>
              <a:rPr lang="tr-TR" b="1" dirty="0" smtClean="0"/>
              <a:t>► İnsanda saçkıran, ciltte mantar enfeksiyonları, ağızda ve boğazda pamukçuk denilen hastalığa, üreme organları ve akciğer zarında enfeksiyonlara </a:t>
            </a:r>
            <a:r>
              <a:rPr lang="tr-TR" b="1" dirty="0" smtClean="0"/>
              <a:t>neden olurlar</a:t>
            </a:r>
            <a:endParaRPr lang="tr-TR" b="1" dirty="0" smtClean="0"/>
          </a:p>
          <a:p>
            <a:endParaRPr lang="tr-TR" b="1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323528" y="260648"/>
            <a:ext cx="8640960" cy="6408712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tr-TR" b="1" dirty="0" smtClean="0">
                <a:solidFill>
                  <a:srgbClr val="FF0000"/>
                </a:solidFill>
              </a:rPr>
              <a:t>	</a:t>
            </a:r>
            <a:r>
              <a:rPr lang="tr-TR" sz="3600" b="1" dirty="0" smtClean="0">
                <a:solidFill>
                  <a:srgbClr val="FF0000"/>
                </a:solidFill>
              </a:rPr>
              <a:t>MANTARLARIN </a:t>
            </a:r>
            <a:r>
              <a:rPr lang="tr-TR" sz="3600" b="1" dirty="0" smtClean="0">
                <a:solidFill>
                  <a:srgbClr val="FF0000"/>
                </a:solidFill>
                <a:hlinkClick r:id="rId2"/>
              </a:rPr>
              <a:t> BİYOLOJİK</a:t>
            </a:r>
            <a:r>
              <a:rPr lang="tr-TR" sz="3600" b="1" dirty="0" smtClean="0">
                <a:solidFill>
                  <a:srgbClr val="FF0000"/>
                </a:solidFill>
              </a:rPr>
              <a:t> VE EKONOMİK ÖNEMLERİ</a:t>
            </a:r>
            <a:endParaRPr lang="tr-TR" sz="3600" b="1" dirty="0" smtClean="0"/>
          </a:p>
          <a:p>
            <a:r>
              <a:rPr lang="tr-TR" b="1" dirty="0" smtClean="0"/>
              <a:t>► </a:t>
            </a:r>
            <a:r>
              <a:rPr lang="tr-TR" b="1" dirty="0" smtClean="0"/>
              <a:t>Besin kaynağı olarak kullanılırlar.</a:t>
            </a:r>
          </a:p>
          <a:p>
            <a:r>
              <a:rPr lang="tr-TR" b="1" dirty="0" smtClean="0"/>
              <a:t>► Penicilin gibi antibiyotik üretiminde kullanılırlar.</a:t>
            </a:r>
          </a:p>
          <a:p>
            <a:r>
              <a:rPr lang="tr-TR" b="1" dirty="0" smtClean="0"/>
              <a:t>► </a:t>
            </a:r>
            <a:r>
              <a:rPr lang="tr-TR" b="1" dirty="0" smtClean="0"/>
              <a:t>Madde döngülerinde görev alırlar.</a:t>
            </a:r>
          </a:p>
          <a:p>
            <a:r>
              <a:rPr lang="tr-TR" b="1" dirty="0" smtClean="0"/>
              <a:t>► Çeşitli ilaçların üretiminde ve </a:t>
            </a:r>
            <a:r>
              <a:rPr lang="tr-TR" b="1" dirty="0" err="1" smtClean="0"/>
              <a:t>biyoteknolojik</a:t>
            </a:r>
            <a:r>
              <a:rPr lang="tr-TR" b="1" dirty="0" smtClean="0"/>
              <a:t> araştırmalarda kullanılırlar.</a:t>
            </a:r>
          </a:p>
          <a:p>
            <a:r>
              <a:rPr lang="tr-TR" b="1" dirty="0" smtClean="0"/>
              <a:t>► Çevre kirliliği ile mücadelede (</a:t>
            </a:r>
            <a:r>
              <a:rPr lang="tr-TR" b="1" dirty="0" err="1" smtClean="0"/>
              <a:t>Bioremediasyon</a:t>
            </a:r>
            <a:r>
              <a:rPr lang="tr-TR" b="1" dirty="0" smtClean="0"/>
              <a:t>) kullanılırlar. Örneğin petrol kirliliğine maruz kalmış bölgelerde petrol yiyen mantarlar kullanılarak temizlik sağlanır.</a:t>
            </a:r>
          </a:p>
          <a:p>
            <a:r>
              <a:rPr lang="tr-TR" b="1" dirty="0" smtClean="0"/>
              <a:t>► Toprağı mineral yönünden zenginleştirirler.</a:t>
            </a:r>
          </a:p>
          <a:p>
            <a:r>
              <a:rPr lang="tr-TR" b="1" dirty="0" smtClean="0"/>
              <a:t>► Fermente ürünlerin üretiminde kullanılırlar. Mayalar; ekmek, bira, şarap ve benzeri ürünlerin üretiminde kullanılır.</a:t>
            </a:r>
          </a:p>
          <a:p>
            <a:r>
              <a:rPr lang="tr-TR" b="1" dirty="0" smtClean="0"/>
              <a:t>► Ölü bitki, hayvan ve canlı atıklarının çürümesini sağlayarak çevre kirliliğini önlerler.</a:t>
            </a:r>
          </a:p>
          <a:p>
            <a:r>
              <a:rPr lang="tr-TR" b="1" dirty="0" smtClean="0"/>
              <a:t>► </a:t>
            </a:r>
            <a:r>
              <a:rPr lang="tr-TR" b="1" dirty="0" err="1" smtClean="0"/>
              <a:t>Biyoteknolojik</a:t>
            </a:r>
            <a:r>
              <a:rPr lang="tr-TR" b="1" dirty="0" smtClean="0"/>
              <a:t> çalışmalarda kullanılırlar. Örneğin; Enzim üretimi, </a:t>
            </a:r>
            <a:r>
              <a:rPr lang="tr-TR" b="1" dirty="0" err="1" smtClean="0"/>
              <a:t>biyoyakıt</a:t>
            </a:r>
            <a:r>
              <a:rPr lang="tr-TR" b="1" dirty="0" smtClean="0"/>
              <a:t> üretimi gibi alanlarda kullanılırlar.</a:t>
            </a:r>
          </a:p>
          <a:p>
            <a:endParaRPr lang="tr-TR" b="1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b="1" dirty="0" smtClean="0"/>
              <a:t/>
            </a:r>
            <a:br>
              <a:rPr lang="tr-TR" b="1" dirty="0" smtClean="0"/>
            </a:br>
            <a:r>
              <a:rPr lang="tr-TR" b="1" dirty="0" smtClean="0">
                <a:solidFill>
                  <a:srgbClr val="FF0000"/>
                </a:solidFill>
              </a:rPr>
              <a:t>HAMURUN MAYALANMA SÜRECİ</a:t>
            </a:r>
            <a:br>
              <a:rPr lang="tr-TR" b="1" dirty="0" smtClean="0">
                <a:solidFill>
                  <a:srgbClr val="FF0000"/>
                </a:solidFill>
              </a:rPr>
            </a:br>
            <a:endParaRPr lang="tr-TR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81128"/>
          </a:xfrm>
        </p:spPr>
        <p:txBody>
          <a:bodyPr>
            <a:normAutofit fontScale="70000" lnSpcReduction="20000"/>
          </a:bodyPr>
          <a:lstStyle/>
          <a:p>
            <a:r>
              <a:rPr lang="tr-TR" b="1" dirty="0" smtClean="0"/>
              <a:t>► </a:t>
            </a:r>
            <a:r>
              <a:rPr lang="tr-TR" b="1" dirty="0" smtClean="0"/>
              <a:t>Hamurun mayalanması etil alkol fermantasyonu ile olur.</a:t>
            </a:r>
          </a:p>
          <a:p>
            <a:r>
              <a:rPr lang="tr-TR" b="1" dirty="0" smtClean="0"/>
              <a:t>► </a:t>
            </a:r>
            <a:r>
              <a:rPr lang="tr-TR" b="1" dirty="0" smtClean="0"/>
              <a:t>Hamuru mayalamak için </a:t>
            </a:r>
            <a:r>
              <a:rPr lang="tr-TR" b="1" dirty="0" err="1" smtClean="0"/>
              <a:t>Saccharomyces</a:t>
            </a:r>
            <a:r>
              <a:rPr lang="tr-TR" b="1" dirty="0" smtClean="0"/>
              <a:t> </a:t>
            </a:r>
            <a:r>
              <a:rPr lang="tr-TR" b="1" dirty="0" err="1" smtClean="0"/>
              <a:t>cerevisiae</a:t>
            </a:r>
            <a:r>
              <a:rPr lang="tr-TR" b="1" dirty="0" smtClean="0"/>
              <a:t> türü maya mantarları kullanılır.</a:t>
            </a:r>
          </a:p>
          <a:p>
            <a:r>
              <a:rPr lang="tr-TR" b="1" dirty="0" smtClean="0"/>
              <a:t>► Hamura katılan maya hücreleri etil alkol fermantasyonu yaparak CO</a:t>
            </a:r>
            <a:r>
              <a:rPr lang="tr-TR" b="1" baseline="-25000" dirty="0" smtClean="0"/>
              <a:t>2</a:t>
            </a:r>
            <a:r>
              <a:rPr lang="tr-TR" b="1" dirty="0" smtClean="0"/>
              <a:t> ve Etil Alkol üretirler.</a:t>
            </a:r>
          </a:p>
          <a:p>
            <a:r>
              <a:rPr lang="tr-TR" b="1" dirty="0" smtClean="0"/>
              <a:t>► Fermantasyon sonucu açığa çıkan CO</a:t>
            </a:r>
            <a:r>
              <a:rPr lang="tr-TR" b="1" baseline="-25000" dirty="0" smtClean="0"/>
              <a:t>2</a:t>
            </a:r>
            <a:r>
              <a:rPr lang="tr-TR" b="1" dirty="0" smtClean="0"/>
              <a:t> hamurun kabarmasına ve ekşimesine neden olur.</a:t>
            </a:r>
          </a:p>
          <a:p>
            <a:r>
              <a:rPr lang="tr-TR" b="1" dirty="0" smtClean="0"/>
              <a:t>► Fırına sürülen bu hamur pişince maya hücreleri ölür ve etil alkol buharlaşarak yok olur.</a:t>
            </a:r>
          </a:p>
          <a:p>
            <a:r>
              <a:rPr lang="tr-TR" b="1" dirty="0" smtClean="0"/>
              <a:t>► Maya hücrelerindeki enzimlerin çalışabilmesi için un ve mayaya su ilave edilir. Çünkü enzimler susuz ortamda çalışmazlar.</a:t>
            </a:r>
          </a:p>
          <a:p>
            <a:r>
              <a:rPr lang="tr-TR" b="1" dirty="0" smtClean="0"/>
              <a:t>►Fermantasyon için gerekli ısıyı sağlamak ve O</a:t>
            </a:r>
            <a:r>
              <a:rPr lang="tr-TR" b="1" baseline="-25000" dirty="0" smtClean="0"/>
              <a:t>2</a:t>
            </a:r>
            <a:r>
              <a:rPr lang="tr-TR" b="1" dirty="0" smtClean="0"/>
              <a:t> girişini önlemek için hamurun üzeri kapatılır.</a:t>
            </a:r>
          </a:p>
          <a:p>
            <a:r>
              <a:rPr lang="tr-TR" b="1" dirty="0" smtClean="0"/>
              <a:t>► Bir süre sonra hamur mayalanır ve üzeri açılarak O</a:t>
            </a:r>
            <a:r>
              <a:rPr lang="tr-TR" b="1" baseline="-25000" dirty="0" smtClean="0"/>
              <a:t>2</a:t>
            </a:r>
            <a:r>
              <a:rPr lang="tr-TR" b="1" dirty="0" smtClean="0"/>
              <a:t> girmesi ve sıcaklığın düşmesi sağlanır. Böylece fermantasyon durdurulur.</a:t>
            </a:r>
          </a:p>
          <a:p>
            <a:endParaRPr lang="tr-TR" b="1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323528" y="188640"/>
            <a:ext cx="8568952" cy="640871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tr-TR" sz="2400" b="1" dirty="0" smtClean="0">
                <a:solidFill>
                  <a:srgbClr val="FF0000"/>
                </a:solidFill>
              </a:rPr>
              <a:t>	</a:t>
            </a:r>
            <a:r>
              <a:rPr lang="tr-TR" b="1" dirty="0" smtClean="0">
                <a:solidFill>
                  <a:srgbClr val="FF0000"/>
                </a:solidFill>
              </a:rPr>
              <a:t>MANTAR HÜCRELERİNİN GENEL ÖZELLİKLERİ</a:t>
            </a:r>
            <a:endParaRPr lang="tr-TR" b="1" dirty="0" smtClean="0"/>
          </a:p>
          <a:p>
            <a:r>
              <a:rPr lang="tr-TR" sz="2800" b="1" dirty="0" err="1" smtClean="0"/>
              <a:t>Eukaryotik</a:t>
            </a:r>
            <a:r>
              <a:rPr lang="tr-TR" sz="2800" b="1" dirty="0" smtClean="0"/>
              <a:t>  organizmalar</a:t>
            </a:r>
          </a:p>
          <a:p>
            <a:r>
              <a:rPr lang="tr-TR" sz="2800" b="1" dirty="0" smtClean="0"/>
              <a:t>Klorofilsiz, Fotosentez yapamazlar</a:t>
            </a:r>
          </a:p>
          <a:p>
            <a:r>
              <a:rPr lang="tr-TR" sz="2800" b="1" dirty="0" err="1" smtClean="0"/>
              <a:t>Kemoheterotrof</a:t>
            </a:r>
            <a:r>
              <a:rPr lang="tr-TR" sz="2800" b="1" dirty="0" smtClean="0"/>
              <a:t> </a:t>
            </a:r>
            <a:r>
              <a:rPr lang="tr-TR" sz="2000" b="1" dirty="0" smtClean="0">
                <a:solidFill>
                  <a:srgbClr val="FF0000"/>
                </a:solidFill>
              </a:rPr>
              <a:t>enerji </a:t>
            </a:r>
            <a:r>
              <a:rPr lang="tr-TR" sz="2000" b="1" dirty="0" smtClean="0">
                <a:solidFill>
                  <a:srgbClr val="FF0000"/>
                </a:solidFill>
              </a:rPr>
              <a:t>ve karbon ihtiyacını dışarıdan hazır organik maddeleri kullanarak karşılayan </a:t>
            </a:r>
            <a:r>
              <a:rPr lang="tr-TR" sz="2000" b="1" dirty="0" smtClean="0">
                <a:solidFill>
                  <a:srgbClr val="FF0000"/>
                </a:solidFill>
              </a:rPr>
              <a:t>canlılar</a:t>
            </a:r>
            <a:endParaRPr lang="tr-TR" sz="2000" b="1" dirty="0" smtClean="0">
              <a:solidFill>
                <a:srgbClr val="FF0000"/>
              </a:solidFill>
            </a:endParaRPr>
          </a:p>
          <a:p>
            <a:r>
              <a:rPr lang="tr-TR" sz="2800" b="1" dirty="0" smtClean="0"/>
              <a:t>Spor oluştururlar</a:t>
            </a:r>
          </a:p>
          <a:p>
            <a:r>
              <a:rPr lang="tr-TR" sz="2800" b="1" dirty="0" smtClean="0"/>
              <a:t>Parazit, saprofit ve </a:t>
            </a:r>
            <a:r>
              <a:rPr lang="tr-TR" sz="2800" b="1" dirty="0" err="1" smtClean="0"/>
              <a:t>simbiyotik</a:t>
            </a:r>
            <a:r>
              <a:rPr lang="tr-TR" sz="2800" b="1" dirty="0" smtClean="0"/>
              <a:t> olarak yaşarlar</a:t>
            </a:r>
          </a:p>
          <a:p>
            <a:r>
              <a:rPr lang="tr-TR" sz="2800" b="1" dirty="0" smtClean="0"/>
              <a:t>Eşeysiz ve/veya eşeyli ürerler</a:t>
            </a:r>
          </a:p>
          <a:p>
            <a:r>
              <a:rPr lang="tr-TR" sz="2800" b="1" dirty="0" err="1" smtClean="0"/>
              <a:t>Filamentöz</a:t>
            </a:r>
            <a:r>
              <a:rPr lang="tr-TR" sz="2800" b="1" dirty="0" smtClean="0"/>
              <a:t> yapılar oluştururlar</a:t>
            </a:r>
          </a:p>
          <a:p>
            <a:r>
              <a:rPr lang="tr-TR" sz="2800" b="1" dirty="0" smtClean="0"/>
              <a:t>Hücre duvarları vardır</a:t>
            </a:r>
          </a:p>
          <a:p>
            <a:pPr lvl="1"/>
            <a:r>
              <a:rPr lang="tr-TR" b="1" dirty="0" smtClean="0"/>
              <a:t>Kitin        (bakteri ve bitkilerde bulunmaz)</a:t>
            </a:r>
          </a:p>
          <a:p>
            <a:pPr lvl="1"/>
            <a:r>
              <a:rPr lang="tr-TR" b="1" dirty="0" err="1" smtClean="0"/>
              <a:t>Mannan</a:t>
            </a:r>
            <a:r>
              <a:rPr lang="tr-TR" b="1" dirty="0" smtClean="0"/>
              <a:t> </a:t>
            </a:r>
          </a:p>
          <a:p>
            <a:pPr lvl="1"/>
            <a:r>
              <a:rPr lang="tr-TR" b="1" dirty="0" err="1" smtClean="0"/>
              <a:t>Glukan</a:t>
            </a:r>
            <a:endParaRPr lang="tr-TR" b="1" dirty="0" smtClean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1476375" y="277813"/>
            <a:ext cx="6119813" cy="990600"/>
          </a:xfrm>
        </p:spPr>
        <p:txBody>
          <a:bodyPr>
            <a:normAutofit fontScale="90000"/>
          </a:bodyPr>
          <a:lstStyle/>
          <a:p>
            <a:r>
              <a:rPr lang="tr-TR" b="1" dirty="0" smtClean="0">
                <a:solidFill>
                  <a:srgbClr val="FF0000"/>
                </a:solidFill>
              </a:rPr>
              <a:t>HÜCRE YAPISI ve BULUNAN ORGANELLER</a:t>
            </a:r>
            <a:endParaRPr lang="tr-TR" b="1" dirty="0">
              <a:solidFill>
                <a:srgbClr val="FF0000"/>
              </a:solidFill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50825" y="1341438"/>
            <a:ext cx="3960813" cy="5183906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tr-TR" sz="2400" b="1" i="1" dirty="0"/>
              <a:t>Hayvan hücreleri gibi</a:t>
            </a:r>
          </a:p>
          <a:p>
            <a:pPr>
              <a:buFont typeface="Wingdings" pitchFamily="2" charset="2"/>
              <a:buNone/>
            </a:pPr>
            <a:r>
              <a:rPr lang="tr-TR" sz="2400" b="1" i="1" dirty="0"/>
              <a:t>mantarlarda </a:t>
            </a:r>
            <a:r>
              <a:rPr lang="tr-TR" sz="2400" b="1" i="1" dirty="0" smtClean="0">
                <a:solidFill>
                  <a:srgbClr val="0000FF"/>
                </a:solidFill>
              </a:rPr>
              <a:t>ÖKARYOT</a:t>
            </a:r>
            <a:endParaRPr lang="tr-TR" sz="2400" b="1" i="1" dirty="0">
              <a:solidFill>
                <a:srgbClr val="0000FF"/>
              </a:solidFill>
            </a:endParaRPr>
          </a:p>
          <a:p>
            <a:pPr>
              <a:buFont typeface="Wingdings" pitchFamily="2" charset="2"/>
              <a:buNone/>
            </a:pPr>
            <a:r>
              <a:rPr lang="tr-TR" sz="2400" b="1" i="1" dirty="0"/>
              <a:t>Hücre yapısına sahiptir </a:t>
            </a:r>
          </a:p>
          <a:p>
            <a:pPr lvl="1"/>
            <a:r>
              <a:rPr lang="tr-TR" b="1" i="1" dirty="0" smtClean="0">
                <a:solidFill>
                  <a:srgbClr val="7030A0"/>
                </a:solidFill>
              </a:rPr>
              <a:t>Çekirdek</a:t>
            </a:r>
            <a:endParaRPr lang="tr-TR" b="1" i="1" dirty="0">
              <a:solidFill>
                <a:srgbClr val="7030A0"/>
              </a:solidFill>
            </a:endParaRPr>
          </a:p>
          <a:p>
            <a:pPr lvl="2"/>
            <a:r>
              <a:rPr lang="tr-TR" b="1" i="1" dirty="0"/>
              <a:t>çekirdek </a:t>
            </a:r>
            <a:r>
              <a:rPr lang="tr-TR" b="1" i="1" dirty="0" smtClean="0"/>
              <a:t>zarı </a:t>
            </a:r>
            <a:endParaRPr lang="tr-TR" b="1" i="1" dirty="0"/>
          </a:p>
          <a:p>
            <a:pPr lvl="2"/>
            <a:r>
              <a:rPr lang="tr-TR" b="1" i="1" dirty="0" err="1" smtClean="0"/>
              <a:t>çekirdekcik</a:t>
            </a:r>
            <a:endParaRPr lang="tr-TR" b="1" i="1" dirty="0"/>
          </a:p>
          <a:p>
            <a:pPr lvl="1"/>
            <a:r>
              <a:rPr lang="tr-TR" b="1" i="1" dirty="0">
                <a:solidFill>
                  <a:srgbClr val="7030A0"/>
                </a:solidFill>
              </a:rPr>
              <a:t>Sitoplazma</a:t>
            </a:r>
          </a:p>
          <a:p>
            <a:pPr lvl="2"/>
            <a:r>
              <a:rPr lang="tr-TR" sz="2400" b="1" i="1" dirty="0"/>
              <a:t>ER </a:t>
            </a:r>
          </a:p>
          <a:p>
            <a:pPr lvl="2"/>
            <a:r>
              <a:rPr lang="tr-TR" sz="2400" b="1" i="1" dirty="0" err="1"/>
              <a:t>golgi</a:t>
            </a:r>
            <a:r>
              <a:rPr lang="tr-TR" sz="2400" b="1" i="1" dirty="0"/>
              <a:t> </a:t>
            </a:r>
            <a:r>
              <a:rPr lang="tr-TR" sz="2400" b="1" i="1" dirty="0" smtClean="0"/>
              <a:t>aygıtı</a:t>
            </a:r>
            <a:endParaRPr lang="tr-TR" sz="2400" b="1" i="1" dirty="0"/>
          </a:p>
          <a:p>
            <a:pPr lvl="2"/>
            <a:r>
              <a:rPr lang="tr-TR" sz="2400" b="1" i="1" dirty="0" smtClean="0"/>
              <a:t>mitokondri</a:t>
            </a:r>
            <a:endParaRPr lang="tr-TR" sz="2400" b="1" i="1" dirty="0"/>
          </a:p>
          <a:p>
            <a:pPr lvl="2"/>
            <a:r>
              <a:rPr lang="tr-TR" sz="2400" b="1" i="1" dirty="0"/>
              <a:t>80s </a:t>
            </a:r>
            <a:r>
              <a:rPr lang="tr-TR" sz="2400" b="1" i="1" dirty="0" smtClean="0"/>
              <a:t>ribozomlar</a:t>
            </a:r>
            <a:endParaRPr lang="tr-TR" sz="2400" b="1" i="1" dirty="0"/>
          </a:p>
          <a:p>
            <a:pPr lvl="2"/>
            <a:r>
              <a:rPr lang="tr-TR" sz="2400" b="1" i="1" dirty="0" err="1"/>
              <a:t>vakuoller</a:t>
            </a:r>
            <a:endParaRPr lang="tr-TR" sz="2400" b="1" i="1" dirty="0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356100" y="4724400"/>
            <a:ext cx="4321175" cy="1873250"/>
          </a:xfrm>
        </p:spPr>
        <p:txBody>
          <a:bodyPr/>
          <a:lstStyle/>
          <a:p>
            <a:pPr lvl="1"/>
            <a:r>
              <a:rPr lang="tr-TR" b="1" i="1" dirty="0">
                <a:solidFill>
                  <a:srgbClr val="0070C0"/>
                </a:solidFill>
              </a:rPr>
              <a:t>Hücre zarı </a:t>
            </a:r>
          </a:p>
          <a:p>
            <a:pPr lvl="1"/>
            <a:r>
              <a:rPr lang="tr-TR" b="1" i="1" dirty="0">
                <a:solidFill>
                  <a:srgbClr val="00B050"/>
                </a:solidFill>
              </a:rPr>
              <a:t>Hücre duvarı </a:t>
            </a:r>
          </a:p>
          <a:p>
            <a:pPr lvl="1"/>
            <a:r>
              <a:rPr lang="tr-TR" b="1" i="1" dirty="0">
                <a:solidFill>
                  <a:schemeClr val="accent6">
                    <a:lumMod val="50000"/>
                  </a:schemeClr>
                </a:solidFill>
              </a:rPr>
              <a:t>Kapsül </a:t>
            </a:r>
          </a:p>
          <a:p>
            <a:pPr lvl="1">
              <a:buFont typeface="Wingdings" pitchFamily="2" charset="2"/>
              <a:buNone/>
            </a:pPr>
            <a:r>
              <a:rPr lang="tr-TR" b="1" i="1" dirty="0"/>
              <a:t>	</a:t>
            </a:r>
            <a:r>
              <a:rPr lang="tr-TR" sz="2000" b="1" i="1" dirty="0"/>
              <a:t>(</a:t>
            </a:r>
            <a:r>
              <a:rPr lang="tr-TR" sz="2000" b="1" i="1" dirty="0" err="1"/>
              <a:t>Cryptococcus</a:t>
            </a:r>
            <a:r>
              <a:rPr lang="tr-TR" sz="2000" b="1" i="1" dirty="0"/>
              <a:t> </a:t>
            </a:r>
            <a:r>
              <a:rPr lang="tr-TR" sz="2000" b="1" i="1" dirty="0" err="1"/>
              <a:t>neoformans</a:t>
            </a:r>
            <a:r>
              <a:rPr lang="tr-TR" sz="2000" b="1" i="1" dirty="0"/>
              <a:t>) </a:t>
            </a:r>
          </a:p>
        </p:txBody>
      </p:sp>
      <p:pic>
        <p:nvPicPr>
          <p:cNvPr id="5126" name="Picture 6" descr="Biological_cell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95738" y="1341438"/>
            <a:ext cx="4897437" cy="3281362"/>
          </a:xfrm>
          <a:prstGeom prst="rect">
            <a:avLst/>
          </a:prstGeom>
          <a:noFill/>
          <a:ln w="38100">
            <a:solidFill>
              <a:srgbClr val="FF66FF"/>
            </a:solidFill>
            <a:miter lim="800000"/>
            <a:headEnd/>
            <a:tailEnd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smtClean="0">
                <a:solidFill>
                  <a:srgbClr val="FF0000"/>
                </a:solidFill>
              </a:rPr>
              <a:t>KAPSÜL</a:t>
            </a:r>
            <a:endParaRPr lang="tr-TR" b="1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179512" y="1340768"/>
            <a:ext cx="8712968" cy="5328592"/>
          </a:xfrm>
        </p:spPr>
        <p:txBody>
          <a:bodyPr>
            <a:normAutofit/>
          </a:bodyPr>
          <a:lstStyle/>
          <a:p>
            <a:r>
              <a:rPr lang="tr-TR" sz="2800" b="1" dirty="0" smtClean="0">
                <a:solidFill>
                  <a:srgbClr val="7030A0"/>
                </a:solidFill>
              </a:rPr>
              <a:t>Yapı: </a:t>
            </a:r>
            <a:r>
              <a:rPr lang="tr-TR" sz="2800" b="1" dirty="0" err="1" smtClean="0">
                <a:solidFill>
                  <a:srgbClr val="7030A0"/>
                </a:solidFill>
              </a:rPr>
              <a:t>polisakkarit</a:t>
            </a:r>
            <a:r>
              <a:rPr lang="tr-TR" sz="2800" b="1" dirty="0" smtClean="0">
                <a:solidFill>
                  <a:srgbClr val="7030A0"/>
                </a:solidFill>
              </a:rPr>
              <a:t> </a:t>
            </a:r>
          </a:p>
          <a:p>
            <a:pPr>
              <a:buNone/>
            </a:pPr>
            <a:r>
              <a:rPr lang="tr-TR" sz="2800" b="1" i="1" dirty="0" smtClean="0"/>
              <a:t>FONKSİYONLARI</a:t>
            </a:r>
          </a:p>
          <a:p>
            <a:pPr lvl="1"/>
            <a:r>
              <a:rPr lang="tr-TR" b="1" i="1" dirty="0" smtClean="0">
                <a:solidFill>
                  <a:srgbClr val="0000FF"/>
                </a:solidFill>
              </a:rPr>
              <a:t> </a:t>
            </a:r>
            <a:r>
              <a:rPr lang="tr-TR" b="1" i="1" dirty="0" err="1" smtClean="0">
                <a:solidFill>
                  <a:srgbClr val="0000FF"/>
                </a:solidFill>
              </a:rPr>
              <a:t>antifagositik</a:t>
            </a:r>
            <a:endParaRPr lang="tr-TR" b="1" i="1" dirty="0" smtClean="0">
              <a:solidFill>
                <a:srgbClr val="0000FF"/>
              </a:solidFill>
            </a:endParaRPr>
          </a:p>
          <a:p>
            <a:pPr lvl="1">
              <a:buNone/>
            </a:pPr>
            <a:r>
              <a:rPr lang="tr-TR" b="1" dirty="0" smtClean="0"/>
              <a:t>Kapsül; hücrelere tutunmayı, kümeleşmeyi, konağın fagositoz etkilerinden korunmayı sağlar</a:t>
            </a:r>
            <a:endParaRPr lang="tr-TR" b="1" i="1" dirty="0" smtClean="0"/>
          </a:p>
          <a:p>
            <a:pPr lvl="1"/>
            <a:r>
              <a:rPr lang="tr-TR" b="1" i="1" dirty="0" err="1" smtClean="0">
                <a:solidFill>
                  <a:srgbClr val="0000FF"/>
                </a:solidFill>
              </a:rPr>
              <a:t>virulans</a:t>
            </a:r>
            <a:r>
              <a:rPr lang="tr-TR" b="1" i="1" dirty="0" smtClean="0">
                <a:solidFill>
                  <a:srgbClr val="0000FF"/>
                </a:solidFill>
              </a:rPr>
              <a:t> faktörü</a:t>
            </a:r>
            <a:endParaRPr lang="tr-TR" dirty="0">
              <a:solidFill>
                <a:srgbClr val="0000FF"/>
              </a:solidFill>
            </a:endParaRPr>
          </a:p>
        </p:txBody>
      </p:sp>
      <p:pic>
        <p:nvPicPr>
          <p:cNvPr id="4" name="Picture 5" descr="Cryptococcus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44008" y="4077072"/>
            <a:ext cx="4054475" cy="2462411"/>
          </a:xfrm>
          <a:prstGeom prst="rect">
            <a:avLst/>
          </a:prstGeom>
          <a:noFill/>
          <a:ln w="38100">
            <a:solidFill>
              <a:srgbClr val="FF66FF"/>
            </a:solidFill>
            <a:miter lim="800000"/>
            <a:headEnd/>
            <a:tailEnd/>
          </a:ln>
        </p:spPr>
      </p:pic>
      <p:pic>
        <p:nvPicPr>
          <p:cNvPr id="5" name="Picture 9" descr="capsule_crypto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1520" y="4581128"/>
            <a:ext cx="4032250" cy="2055763"/>
          </a:xfrm>
          <a:prstGeom prst="rect">
            <a:avLst/>
          </a:prstGeom>
          <a:noFill/>
          <a:ln w="38100">
            <a:solidFill>
              <a:srgbClr val="FF66FF"/>
            </a:solidFill>
            <a:miter lim="800000"/>
            <a:headEnd/>
            <a:tailEnd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smtClean="0">
                <a:solidFill>
                  <a:srgbClr val="FF0000"/>
                </a:solidFill>
              </a:rPr>
              <a:t>HÜCRE  DUVARI</a:t>
            </a:r>
            <a:endParaRPr lang="tr-TR" b="1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69160"/>
          </a:xfrm>
        </p:spPr>
        <p:txBody>
          <a:bodyPr>
            <a:noAutofit/>
          </a:bodyPr>
          <a:lstStyle/>
          <a:p>
            <a:r>
              <a:rPr lang="tr-TR" b="1" i="1" dirty="0" err="1" smtClean="0"/>
              <a:t>Antijeniktir</a:t>
            </a:r>
            <a:endParaRPr lang="tr-TR" b="1" i="1" dirty="0" smtClean="0"/>
          </a:p>
          <a:p>
            <a:r>
              <a:rPr lang="tr-TR" sz="2600" b="1" dirty="0" smtClean="0">
                <a:solidFill>
                  <a:srgbClr val="FF0000"/>
                </a:solidFill>
              </a:rPr>
              <a:t>YAPISI</a:t>
            </a:r>
            <a:r>
              <a:rPr lang="tr-TR" sz="2600" b="1" i="1" dirty="0" smtClean="0">
                <a:solidFill>
                  <a:srgbClr val="FF0000"/>
                </a:solidFill>
              </a:rPr>
              <a:t>   çok tabakalı </a:t>
            </a:r>
          </a:p>
          <a:p>
            <a:pPr lvl="1"/>
            <a:r>
              <a:rPr lang="tr-TR" sz="2600" b="1" i="1" dirty="0" err="1" smtClean="0">
                <a:solidFill>
                  <a:srgbClr val="FF0000"/>
                </a:solidFill>
              </a:rPr>
              <a:t>Polisakkaritler</a:t>
            </a:r>
            <a:r>
              <a:rPr lang="tr-TR" sz="2600" b="1" i="1" dirty="0" smtClean="0">
                <a:solidFill>
                  <a:srgbClr val="FF0000"/>
                </a:solidFill>
              </a:rPr>
              <a:t> </a:t>
            </a:r>
            <a:r>
              <a:rPr lang="tr-TR" sz="2600" b="1" i="1" dirty="0" smtClean="0"/>
              <a:t>(~%90)   kitin, selüloz, </a:t>
            </a:r>
            <a:r>
              <a:rPr lang="tr-TR" sz="2600" b="1" i="1" dirty="0" err="1" smtClean="0"/>
              <a:t>glukan</a:t>
            </a:r>
            <a:r>
              <a:rPr lang="tr-TR" sz="2600" b="1" i="1" dirty="0" smtClean="0"/>
              <a:t>, </a:t>
            </a:r>
            <a:r>
              <a:rPr lang="tr-TR" sz="2600" b="1" i="1" dirty="0" err="1" smtClean="0"/>
              <a:t>mannan</a:t>
            </a:r>
            <a:r>
              <a:rPr lang="tr-TR" sz="2600" b="1" i="1" dirty="0" smtClean="0"/>
              <a:t> </a:t>
            </a:r>
          </a:p>
          <a:p>
            <a:pPr lvl="1"/>
            <a:r>
              <a:rPr lang="tr-TR" sz="2600" b="1" i="1" dirty="0" err="1" smtClean="0"/>
              <a:t>polisakkarit</a:t>
            </a:r>
            <a:r>
              <a:rPr lang="tr-TR" sz="2600" b="1" i="1" dirty="0" smtClean="0"/>
              <a:t> tipi ve miktarı türden türe değişir</a:t>
            </a:r>
          </a:p>
          <a:p>
            <a:pPr lvl="1"/>
            <a:r>
              <a:rPr lang="tr-TR" sz="2600" b="1" i="1" dirty="0" smtClean="0">
                <a:solidFill>
                  <a:srgbClr val="FF0000"/>
                </a:solidFill>
              </a:rPr>
              <a:t>Proteinler ve </a:t>
            </a:r>
            <a:r>
              <a:rPr lang="tr-TR" sz="2600" b="1" i="1" dirty="0" err="1" smtClean="0">
                <a:solidFill>
                  <a:srgbClr val="FF0000"/>
                </a:solidFill>
              </a:rPr>
              <a:t>Glikoproteinler</a:t>
            </a:r>
            <a:r>
              <a:rPr lang="tr-TR" sz="2600" b="1" i="1" dirty="0" smtClean="0">
                <a:solidFill>
                  <a:srgbClr val="FF0000"/>
                </a:solidFill>
              </a:rPr>
              <a:t> </a:t>
            </a:r>
            <a:r>
              <a:rPr lang="tr-TR" sz="2600" b="1" i="1" dirty="0" smtClean="0"/>
              <a:t>(~%10)</a:t>
            </a:r>
            <a:endParaRPr lang="tr-TR" sz="2600" b="1" i="1" dirty="0" smtClean="0">
              <a:solidFill>
                <a:srgbClr val="7030A0"/>
              </a:solidFill>
            </a:endParaRPr>
          </a:p>
          <a:p>
            <a:pPr>
              <a:lnSpc>
                <a:spcPct val="90000"/>
              </a:lnSpc>
            </a:pPr>
            <a:r>
              <a:rPr lang="tr-TR" sz="2600" b="1" dirty="0" smtClean="0">
                <a:solidFill>
                  <a:srgbClr val="FF0000"/>
                </a:solidFill>
              </a:rPr>
              <a:t>FONKSİYONLARI</a:t>
            </a:r>
            <a:r>
              <a:rPr lang="tr-TR" sz="2600" b="1" dirty="0" smtClean="0">
                <a:solidFill>
                  <a:srgbClr val="7030A0"/>
                </a:solidFill>
              </a:rPr>
              <a:t>    </a:t>
            </a:r>
          </a:p>
          <a:p>
            <a:pPr lvl="1">
              <a:lnSpc>
                <a:spcPct val="90000"/>
              </a:lnSpc>
            </a:pPr>
            <a:r>
              <a:rPr lang="tr-TR" sz="2600" b="1" i="1" dirty="0" smtClean="0"/>
              <a:t>Şekil verir</a:t>
            </a:r>
          </a:p>
          <a:p>
            <a:pPr lvl="1">
              <a:lnSpc>
                <a:spcPct val="90000"/>
              </a:lnSpc>
            </a:pPr>
            <a:r>
              <a:rPr lang="tr-TR" sz="2600" b="1" i="1" dirty="0" err="1" smtClean="0"/>
              <a:t>Osmotik</a:t>
            </a:r>
            <a:r>
              <a:rPr lang="tr-TR" sz="2600" b="1" i="1" dirty="0" smtClean="0"/>
              <a:t> şoktan korur</a:t>
            </a:r>
          </a:p>
          <a:p>
            <a:pPr lvl="1">
              <a:lnSpc>
                <a:spcPct val="90000"/>
              </a:lnSpc>
            </a:pPr>
            <a:r>
              <a:rPr lang="tr-TR" sz="2600" b="1" i="1" dirty="0" smtClean="0"/>
              <a:t>Besin alımında rol oynar</a:t>
            </a:r>
          </a:p>
          <a:p>
            <a:pPr lvl="1">
              <a:lnSpc>
                <a:spcPct val="90000"/>
              </a:lnSpc>
            </a:pPr>
            <a:r>
              <a:rPr lang="tr-TR" sz="2600" b="1" i="1" dirty="0" smtClean="0"/>
              <a:t>Ortam ile </a:t>
            </a:r>
            <a:r>
              <a:rPr lang="tr-TR" sz="2600" b="1" i="1" dirty="0" err="1" smtClean="0"/>
              <a:t>m.o</a:t>
            </a:r>
            <a:r>
              <a:rPr lang="tr-TR" sz="2600" b="1" i="1" dirty="0" smtClean="0"/>
              <a:t> arasındaki ilişkiyi düzenler</a:t>
            </a:r>
          </a:p>
          <a:p>
            <a:pPr lvl="1">
              <a:lnSpc>
                <a:spcPct val="90000"/>
              </a:lnSpc>
            </a:pPr>
            <a:r>
              <a:rPr lang="tr-TR" sz="2600" b="1" i="1" dirty="0" smtClean="0"/>
              <a:t>Sert,dirençli yapıdadır</a:t>
            </a:r>
          </a:p>
          <a:p>
            <a:pPr lvl="1">
              <a:lnSpc>
                <a:spcPct val="90000"/>
              </a:lnSpc>
              <a:buNone/>
            </a:pPr>
            <a:endParaRPr lang="tr-TR" sz="2600" b="1" dirty="0" smtClean="0"/>
          </a:p>
          <a:p>
            <a:pPr lvl="1">
              <a:buNone/>
            </a:pPr>
            <a:endParaRPr lang="tr-TR" sz="2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3200" b="1" dirty="0" smtClean="0">
                <a:solidFill>
                  <a:srgbClr val="FF0000"/>
                </a:solidFill>
              </a:rPr>
              <a:t>MANTARIN ANTİJENİK ETKİ GÖSTERMESİ VİRÜLANS FAKTÖRÜ NE DEMEKTİR</a:t>
            </a:r>
            <a:endParaRPr lang="tr-TR" sz="3200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25144"/>
          </a:xfrm>
        </p:spPr>
        <p:txBody>
          <a:bodyPr>
            <a:normAutofit fontScale="77500" lnSpcReduction="20000"/>
          </a:bodyPr>
          <a:lstStyle/>
          <a:p>
            <a:r>
              <a:rPr lang="tr-TR" b="1" dirty="0" smtClean="0">
                <a:solidFill>
                  <a:srgbClr val="FF0000"/>
                </a:solidFill>
              </a:rPr>
              <a:t>MANTARIN ANTİJENİK ETKİ GÖSTERMESİ, </a:t>
            </a:r>
            <a:r>
              <a:rPr lang="tr-TR" b="1" dirty="0" smtClean="0"/>
              <a:t>mantar hücrelerinin (veya yapısal bileşenlerinin) vücuda girdiğinde bağışıklık sistemi tarafından "yabancı ve zararlı" olarak algılanıp bir savunma tepkisi olan  </a:t>
            </a:r>
            <a:r>
              <a:rPr lang="tr-TR" b="1" dirty="0" smtClean="0">
                <a:solidFill>
                  <a:srgbClr val="FF0000"/>
                </a:solidFill>
              </a:rPr>
              <a:t>antikor üretimini veya hücresel bağışıklık yanıtı (T hücresi aktivasyonu) </a:t>
            </a:r>
            <a:r>
              <a:rPr lang="tr-TR" b="1" dirty="0" smtClean="0"/>
              <a:t>tetiklemesi demektir</a:t>
            </a:r>
          </a:p>
          <a:p>
            <a:pPr>
              <a:buNone/>
            </a:pPr>
            <a:endParaRPr lang="tr-TR" b="1" dirty="0" smtClean="0"/>
          </a:p>
          <a:p>
            <a:r>
              <a:rPr lang="tr-TR" b="1" dirty="0" smtClean="0">
                <a:solidFill>
                  <a:srgbClr val="FF0000"/>
                </a:solidFill>
              </a:rPr>
              <a:t>VİRÜLANS FAKTÖRÜ, </a:t>
            </a:r>
            <a:r>
              <a:rPr lang="tr-TR" b="1" dirty="0" smtClean="0"/>
              <a:t>Bakteri, virüs ve mantar gibi mikroorganizmaların (patojenlerin) insan veya hayvan vücudunda hastalık yapma, dokulara tutunma, bağışıklık sisteminden kaçma ve zarar verme yeteneğini artıran moleküler ve yapısal özelliklerin tümüdür. </a:t>
            </a:r>
          </a:p>
          <a:p>
            <a:r>
              <a:rPr lang="tr-TR" b="1" dirty="0" smtClean="0"/>
              <a:t>Bu faktörler bir etkenin ne kadar şiddetli bir enfeksiyona yol açabileceğini belirler. </a:t>
            </a:r>
            <a:endParaRPr lang="tr-TR" b="1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251520" y="260648"/>
            <a:ext cx="8640960" cy="6336704"/>
          </a:xfrm>
        </p:spPr>
        <p:txBody>
          <a:bodyPr>
            <a:normAutofit/>
          </a:bodyPr>
          <a:lstStyle/>
          <a:p>
            <a:pPr marL="342900" lvl="1" indent="-342900">
              <a:buNone/>
            </a:pPr>
            <a:r>
              <a:rPr lang="tr-TR" sz="2400" b="1" dirty="0" smtClean="0">
                <a:solidFill>
                  <a:srgbClr val="FF0000"/>
                </a:solidFill>
              </a:rPr>
              <a:t>		</a:t>
            </a:r>
            <a:r>
              <a:rPr lang="tr-TR" sz="3600" b="1" dirty="0" smtClean="0">
                <a:solidFill>
                  <a:srgbClr val="FF0000"/>
                </a:solidFill>
              </a:rPr>
              <a:t>		MANTARLAR</a:t>
            </a:r>
            <a:endParaRPr lang="tr-TR" sz="2400" b="1" dirty="0" smtClean="0"/>
          </a:p>
          <a:p>
            <a:pPr marL="342900" lvl="1" indent="-342900">
              <a:buFont typeface="Arial" pitchFamily="34" charset="0"/>
              <a:buChar char="•"/>
            </a:pPr>
            <a:r>
              <a:rPr lang="tr-TR" sz="2400" b="1" dirty="0" smtClean="0"/>
              <a:t>BAKTERİDE HÜCRE DUVAR </a:t>
            </a:r>
            <a:r>
              <a:rPr lang="tr-TR" sz="2400" b="1" dirty="0" err="1" smtClean="0"/>
              <a:t>YAPISI’nın</a:t>
            </a:r>
            <a:r>
              <a:rPr lang="tr-TR" sz="2400" b="1" dirty="0" smtClean="0"/>
              <a:t> esas maddesi </a:t>
            </a:r>
            <a:r>
              <a:rPr lang="tr-TR" sz="2400" b="1" dirty="0" err="1" smtClean="0"/>
              <a:t>peptidoglikan</a:t>
            </a:r>
            <a:r>
              <a:rPr lang="tr-TR" sz="2400" b="1" dirty="0" smtClean="0"/>
              <a:t> ,  Mantar hücre duvar </a:t>
            </a:r>
            <a:r>
              <a:rPr lang="tr-TR" sz="2400" b="1" dirty="0" smtClean="0">
                <a:solidFill>
                  <a:srgbClr val="FF0000"/>
                </a:solidFill>
              </a:rPr>
              <a:t>yapısı </a:t>
            </a:r>
            <a:r>
              <a:rPr lang="tr-TR" sz="2400" b="1" i="1" dirty="0" err="1" smtClean="0">
                <a:solidFill>
                  <a:srgbClr val="FF0000"/>
                </a:solidFill>
              </a:rPr>
              <a:t>Polisakkaritler</a:t>
            </a:r>
            <a:r>
              <a:rPr lang="tr-TR" sz="2400" b="1" i="1" dirty="0" smtClean="0">
                <a:solidFill>
                  <a:srgbClr val="FF0000"/>
                </a:solidFill>
              </a:rPr>
              <a:t>  az oranda proteinler ve </a:t>
            </a:r>
            <a:r>
              <a:rPr lang="tr-TR" sz="2400" b="1" i="1" dirty="0" err="1" smtClean="0">
                <a:solidFill>
                  <a:srgbClr val="FF0000"/>
                </a:solidFill>
              </a:rPr>
              <a:t>glikoproteinler</a:t>
            </a:r>
            <a:endParaRPr lang="tr-TR" sz="2400" b="1" dirty="0" smtClean="0">
              <a:solidFill>
                <a:srgbClr val="FF0000"/>
              </a:solidFill>
            </a:endParaRPr>
          </a:p>
          <a:p>
            <a:r>
              <a:rPr lang="tr-TR" sz="2400" b="1" dirty="0" smtClean="0">
                <a:solidFill>
                  <a:srgbClr val="FF0000"/>
                </a:solidFill>
              </a:rPr>
              <a:t>BU NEDENLE;   Bakteri hücre duvarına etkili antibiyotikler MANTARLARA ETKİSİZDİR</a:t>
            </a:r>
          </a:p>
          <a:p>
            <a:r>
              <a:rPr lang="tr-TR" sz="2400" b="1" dirty="0" smtClean="0"/>
              <a:t>Bazı </a:t>
            </a:r>
            <a:r>
              <a:rPr lang="tr-TR" sz="2400" b="1" dirty="0" err="1" smtClean="0"/>
              <a:t>antifungaller</a:t>
            </a:r>
            <a:r>
              <a:rPr lang="tr-TR" sz="2400" b="1" dirty="0" smtClean="0"/>
              <a:t> mantar hücre duvarına etki eder </a:t>
            </a:r>
          </a:p>
          <a:p>
            <a:r>
              <a:rPr lang="tr-TR" sz="2400" b="1" dirty="0" smtClean="0"/>
              <a:t>Hücre  duvarı  </a:t>
            </a:r>
            <a:r>
              <a:rPr lang="tr-TR" sz="2400" b="1" dirty="0" err="1" smtClean="0"/>
              <a:t>antijenik</a:t>
            </a:r>
            <a:r>
              <a:rPr lang="tr-TR" sz="2400" b="1" dirty="0" smtClean="0"/>
              <a:t> yapıdadır</a:t>
            </a:r>
          </a:p>
          <a:p>
            <a:r>
              <a:rPr lang="tr-TR" sz="2400" b="1" dirty="0" smtClean="0"/>
              <a:t>Mantara şeklini verir, </a:t>
            </a:r>
            <a:r>
              <a:rPr lang="tr-TR" sz="2400" b="1" dirty="0" err="1" smtClean="0"/>
              <a:t>ozmotik</a:t>
            </a:r>
            <a:r>
              <a:rPr lang="tr-TR" sz="2400" b="1" dirty="0" smtClean="0"/>
              <a:t> şoklardan korur</a:t>
            </a:r>
          </a:p>
          <a:p>
            <a:pPr>
              <a:buNone/>
            </a:pPr>
            <a:r>
              <a:rPr lang="tr-TR" sz="2400" b="1" dirty="0" smtClean="0"/>
              <a:t>			</a:t>
            </a:r>
          </a:p>
          <a:p>
            <a:pPr>
              <a:buNone/>
            </a:pPr>
            <a:r>
              <a:rPr lang="tr-TR" sz="2400" b="1" dirty="0" smtClean="0"/>
              <a:t>			    </a:t>
            </a:r>
            <a:r>
              <a:rPr lang="tr-TR" sz="3600" b="1" dirty="0" smtClean="0">
                <a:solidFill>
                  <a:srgbClr val="0000FF"/>
                </a:solidFill>
              </a:rPr>
              <a:t>İNSAN DOKUSUNDA</a:t>
            </a:r>
          </a:p>
          <a:p>
            <a:pPr algn="ctr">
              <a:buNone/>
            </a:pPr>
            <a:r>
              <a:rPr lang="tr-TR" b="1" dirty="0" smtClean="0">
                <a:solidFill>
                  <a:srgbClr val="FF0000"/>
                </a:solidFill>
              </a:rPr>
              <a:t>MANTAR</a:t>
            </a:r>
            <a:r>
              <a:rPr lang="tr-TR" dirty="0" smtClean="0">
                <a:solidFill>
                  <a:srgbClr val="FF0000"/>
                </a:solidFill>
              </a:rPr>
              <a:t>  </a:t>
            </a:r>
            <a:r>
              <a:rPr lang="tr-TR" b="1" dirty="0" smtClean="0">
                <a:solidFill>
                  <a:srgbClr val="FF0000"/>
                </a:solidFill>
              </a:rPr>
              <a:t>HÜCRE DUVAR POLİSAKKARİTLERİNİ PARÇALAYACAK ENZİM YOKTUR</a:t>
            </a:r>
          </a:p>
          <a:p>
            <a:pPr>
              <a:buNone/>
            </a:pPr>
            <a:endParaRPr lang="tr-TR" sz="2400" dirty="0">
              <a:solidFill>
                <a:srgbClr val="FF00FF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179388" y="277813"/>
            <a:ext cx="4032250" cy="1711325"/>
          </a:xfrm>
        </p:spPr>
        <p:txBody>
          <a:bodyPr>
            <a:normAutofit/>
          </a:bodyPr>
          <a:lstStyle/>
          <a:p>
            <a:r>
              <a:rPr lang="tr-TR" b="1" dirty="0" smtClean="0">
                <a:solidFill>
                  <a:srgbClr val="FF0000"/>
                </a:solidFill>
              </a:rPr>
              <a:t>HÜCRE ZARI</a:t>
            </a:r>
            <a:endParaRPr lang="tr-TR" b="1" dirty="0">
              <a:solidFill>
                <a:srgbClr val="FF0000"/>
              </a:solidFill>
            </a:endParaRP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51520" y="1628800"/>
            <a:ext cx="4104456" cy="5040560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tr-TR" sz="2600" b="1" dirty="0"/>
              <a:t>Yapısı </a:t>
            </a:r>
            <a:r>
              <a:rPr lang="tr-TR" sz="2600" b="1" dirty="0" smtClean="0"/>
              <a:t> </a:t>
            </a:r>
            <a:endParaRPr lang="tr-TR" sz="2600" b="1" dirty="0"/>
          </a:p>
          <a:p>
            <a:pPr lvl="1">
              <a:lnSpc>
                <a:spcPct val="90000"/>
              </a:lnSpc>
            </a:pPr>
            <a:r>
              <a:rPr lang="tr-TR" sz="2600" b="1" i="1" dirty="0" err="1"/>
              <a:t>Fosfolipit</a:t>
            </a:r>
            <a:r>
              <a:rPr lang="tr-TR" sz="2600" b="1" i="1" dirty="0"/>
              <a:t>    </a:t>
            </a:r>
          </a:p>
          <a:p>
            <a:pPr lvl="1">
              <a:lnSpc>
                <a:spcPct val="90000"/>
              </a:lnSpc>
            </a:pPr>
            <a:r>
              <a:rPr lang="tr-TR" sz="2600" b="1" i="1" dirty="0" smtClean="0"/>
              <a:t>Steroller     (</a:t>
            </a:r>
            <a:r>
              <a:rPr lang="tr-TR" sz="2600" b="1" i="1" dirty="0" err="1"/>
              <a:t>ergosterol</a:t>
            </a:r>
            <a:r>
              <a:rPr lang="tr-TR" sz="2600" b="1" i="1" dirty="0"/>
              <a:t>, </a:t>
            </a:r>
            <a:r>
              <a:rPr lang="tr-TR" sz="2600" b="1" i="1" dirty="0" err="1"/>
              <a:t>zymosterol</a:t>
            </a:r>
            <a:r>
              <a:rPr lang="tr-TR" sz="2600" b="1" i="1" dirty="0"/>
              <a:t>) </a:t>
            </a:r>
            <a:endParaRPr lang="tr-TR" sz="2600" b="1" i="1" dirty="0" smtClean="0"/>
          </a:p>
          <a:p>
            <a:pPr lvl="1">
              <a:lnSpc>
                <a:spcPct val="90000"/>
              </a:lnSpc>
              <a:buNone/>
            </a:pPr>
            <a:endParaRPr lang="tr-TR" sz="2600" b="1" i="1" dirty="0"/>
          </a:p>
          <a:p>
            <a:pPr>
              <a:lnSpc>
                <a:spcPct val="90000"/>
              </a:lnSpc>
            </a:pPr>
            <a:r>
              <a:rPr lang="tr-TR" sz="2600" b="1" i="1" dirty="0"/>
              <a:t>İnsan hücreleri </a:t>
            </a:r>
            <a:r>
              <a:rPr lang="tr-TR" sz="2600" b="1" i="1" dirty="0" smtClean="0"/>
              <a:t>sitoplazma </a:t>
            </a:r>
            <a:r>
              <a:rPr lang="tr-TR" sz="2600" b="1" i="1" dirty="0"/>
              <a:t>zarına benzerlik gösterdiğinden,  </a:t>
            </a:r>
            <a:r>
              <a:rPr lang="tr-TR" sz="2600" b="1" i="1" dirty="0">
                <a:solidFill>
                  <a:srgbClr val="FF0000"/>
                </a:solidFill>
              </a:rPr>
              <a:t>mantar </a:t>
            </a:r>
            <a:r>
              <a:rPr lang="tr-TR" sz="2600" b="1" i="1" dirty="0" err="1">
                <a:solidFill>
                  <a:srgbClr val="FF0000"/>
                </a:solidFill>
              </a:rPr>
              <a:t>infeksiyonlarının</a:t>
            </a:r>
            <a:r>
              <a:rPr lang="tr-TR" sz="2600" b="1" i="1" dirty="0">
                <a:solidFill>
                  <a:srgbClr val="FF0000"/>
                </a:solidFill>
              </a:rPr>
              <a:t> tedavisinde kullanılan ilaçların çoğu, insan hücresi üzerine de </a:t>
            </a:r>
            <a:r>
              <a:rPr lang="tr-TR" sz="2600" b="1" i="1" dirty="0" err="1">
                <a:solidFill>
                  <a:srgbClr val="FF0000"/>
                </a:solidFill>
              </a:rPr>
              <a:t>toksik</a:t>
            </a:r>
            <a:r>
              <a:rPr lang="tr-TR" sz="2600" b="1" i="1" dirty="0">
                <a:solidFill>
                  <a:srgbClr val="FF0000"/>
                </a:solidFill>
              </a:rPr>
              <a:t> etki </a:t>
            </a:r>
            <a:r>
              <a:rPr lang="tr-TR" sz="2600" b="1" i="1" dirty="0" smtClean="0">
                <a:solidFill>
                  <a:srgbClr val="FF0000"/>
                </a:solidFill>
              </a:rPr>
              <a:t>yapar</a:t>
            </a:r>
            <a:endParaRPr lang="tr-TR" sz="2600" b="1" i="1" dirty="0">
              <a:solidFill>
                <a:srgbClr val="FF0000"/>
              </a:solidFill>
            </a:endParaRPr>
          </a:p>
        </p:txBody>
      </p:sp>
      <p:sp>
        <p:nvSpPr>
          <p:cNvPr id="8196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648200" y="3571874"/>
            <a:ext cx="4316288" cy="309748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tr-TR" sz="2600" b="1" i="1" dirty="0"/>
              <a:t>İnsan hücre zarında bulunmayan </a:t>
            </a:r>
            <a:r>
              <a:rPr lang="tr-TR" sz="2600" b="1" i="1" dirty="0" err="1">
                <a:solidFill>
                  <a:srgbClr val="FF0000"/>
                </a:solidFill>
              </a:rPr>
              <a:t>ergosterol</a:t>
            </a:r>
            <a:r>
              <a:rPr lang="tr-TR" sz="2600" b="1" i="1" dirty="0">
                <a:solidFill>
                  <a:srgbClr val="FF0000"/>
                </a:solidFill>
              </a:rPr>
              <a:t> ve </a:t>
            </a:r>
            <a:r>
              <a:rPr lang="tr-TR" sz="2600" b="1" i="1" dirty="0" err="1">
                <a:solidFill>
                  <a:srgbClr val="FF0000"/>
                </a:solidFill>
              </a:rPr>
              <a:t>zymosterol’ü</a:t>
            </a:r>
            <a:r>
              <a:rPr lang="tr-TR" sz="2600" b="1" i="1" dirty="0"/>
              <a:t> hedef alan </a:t>
            </a:r>
            <a:r>
              <a:rPr lang="tr-TR" sz="2600" b="1" i="1" dirty="0" err="1"/>
              <a:t>antifungal</a:t>
            </a:r>
            <a:r>
              <a:rPr lang="tr-TR" sz="2600" b="1" i="1" dirty="0"/>
              <a:t> ilaçlar </a:t>
            </a:r>
            <a:r>
              <a:rPr lang="tr-TR" sz="2600" b="1" i="1" dirty="0" smtClean="0"/>
              <a:t>geliştirilmiştir</a:t>
            </a:r>
          </a:p>
          <a:p>
            <a:pPr>
              <a:lnSpc>
                <a:spcPct val="90000"/>
              </a:lnSpc>
            </a:pPr>
            <a:r>
              <a:rPr lang="tr-TR" sz="2600" b="1" i="1" dirty="0" smtClean="0"/>
              <a:t>Bunlar </a:t>
            </a:r>
            <a:r>
              <a:rPr lang="tr-TR" sz="2600" b="1" i="1" dirty="0"/>
              <a:t>insan hücresine zarar vermeden mantarlara etkili </a:t>
            </a:r>
            <a:r>
              <a:rPr lang="tr-TR" sz="2600" b="1" i="1" dirty="0" smtClean="0"/>
              <a:t>olabilmektedir</a:t>
            </a:r>
            <a:endParaRPr lang="tr-TR" sz="2600" dirty="0"/>
          </a:p>
        </p:txBody>
      </p:sp>
      <p:pic>
        <p:nvPicPr>
          <p:cNvPr id="8198" name="Picture 6" descr="Figure 1. Mechanism of Action of Fluconazole "/>
          <p:cNvPicPr>
            <a:picLocks noChangeAspect="1" noChangeArrowheads="1"/>
          </p:cNvPicPr>
          <p:nvPr/>
        </p:nvPicPr>
        <p:blipFill>
          <a:blip r:embed="rId2" cstate="print"/>
          <a:srcRect b="7625"/>
          <a:stretch>
            <a:fillRect/>
          </a:stretch>
        </p:blipFill>
        <p:spPr bwMode="auto">
          <a:xfrm>
            <a:off x="4283968" y="188640"/>
            <a:ext cx="4618484" cy="2960449"/>
          </a:xfrm>
          <a:prstGeom prst="rect">
            <a:avLst/>
          </a:prstGeom>
          <a:noFill/>
          <a:ln w="38100">
            <a:solidFill>
              <a:srgbClr val="FF66FF"/>
            </a:solidFill>
            <a:miter lim="800000"/>
            <a:headEnd/>
            <a:tailEnd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smtClean="0">
                <a:solidFill>
                  <a:srgbClr val="FF0000"/>
                </a:solidFill>
              </a:rPr>
              <a:t>HÜCRE ÖZELLİKLERİ</a:t>
            </a:r>
            <a:endParaRPr lang="tr-TR" dirty="0">
              <a:solidFill>
                <a:srgbClr val="FF0000"/>
              </a:solidFill>
            </a:endParaRPr>
          </a:p>
        </p:txBody>
      </p:sp>
      <p:sp>
        <p:nvSpPr>
          <p:cNvPr id="6" name="5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 smtClean="0"/>
              <a:t>Klorofil içermedikleri için fotosentez yapamazlar</a:t>
            </a:r>
          </a:p>
          <a:p>
            <a:r>
              <a:rPr lang="tr-TR" b="1" dirty="0" smtClean="0"/>
              <a:t>Bu özellikleri ile yüksek bitkilerden ayrılırlar</a:t>
            </a:r>
          </a:p>
          <a:p>
            <a:r>
              <a:rPr lang="tr-TR" b="1" dirty="0" smtClean="0"/>
              <a:t>Mantarlar, yaşam döngülerini sürdürebilmek için sporları ile çoğalır ve çevreye yayılırlar </a:t>
            </a:r>
          </a:p>
          <a:p>
            <a:endParaRPr lang="tr-TR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smtClean="0">
                <a:solidFill>
                  <a:srgbClr val="FF0000"/>
                </a:solidFill>
              </a:rPr>
              <a:t>MANTARLARIN ÜREME KOŞULLARI</a:t>
            </a:r>
            <a:endParaRPr lang="tr-TR" dirty="0">
              <a:solidFill>
                <a:srgbClr val="FF0000"/>
              </a:solidFill>
            </a:endParaRP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5122863" cy="4997450"/>
          </a:xfrm>
        </p:spPr>
        <p:txBody>
          <a:bodyPr>
            <a:noAutofit/>
          </a:bodyPr>
          <a:lstStyle/>
          <a:p>
            <a:r>
              <a:rPr lang="tr-TR" sz="2500" b="1" dirty="0"/>
              <a:t>Mantarlar 20-35</a:t>
            </a:r>
            <a:r>
              <a:rPr lang="tr-TR" sz="2500" b="1" baseline="30000" dirty="0"/>
              <a:t>0</a:t>
            </a:r>
            <a:r>
              <a:rPr lang="tr-TR" sz="2500" b="1" dirty="0"/>
              <a:t>C </a:t>
            </a:r>
            <a:r>
              <a:rPr lang="tr-TR" sz="2500" b="1" dirty="0" smtClean="0"/>
              <a:t>üreyebilmektedir</a:t>
            </a:r>
            <a:endParaRPr lang="tr-TR" sz="2500" b="1" dirty="0"/>
          </a:p>
          <a:p>
            <a:r>
              <a:rPr lang="tr-TR" sz="2500" b="1" dirty="0"/>
              <a:t>Nem, üreme için gerekli ve önemli bir </a:t>
            </a:r>
            <a:r>
              <a:rPr lang="tr-TR" sz="2500" b="1" dirty="0" smtClean="0"/>
              <a:t>faktördür </a:t>
            </a:r>
            <a:endParaRPr lang="tr-TR" sz="2500" b="1" dirty="0"/>
          </a:p>
          <a:p>
            <a:r>
              <a:rPr lang="tr-TR" sz="2500" b="1" dirty="0" err="1"/>
              <a:t>pH</a:t>
            </a:r>
            <a:r>
              <a:rPr lang="tr-TR" sz="2500" b="1" dirty="0"/>
              <a:t> 5 - 7 de iyi </a:t>
            </a:r>
            <a:r>
              <a:rPr lang="tr-TR" sz="2500" b="1" dirty="0" smtClean="0"/>
              <a:t>ürerler</a:t>
            </a:r>
            <a:endParaRPr lang="tr-TR" sz="2500" b="1" dirty="0"/>
          </a:p>
          <a:p>
            <a:r>
              <a:rPr lang="tr-TR" sz="2500" b="1" dirty="0"/>
              <a:t>Zorunlu veya </a:t>
            </a:r>
            <a:r>
              <a:rPr lang="tr-TR" sz="2500" b="1" dirty="0" err="1"/>
              <a:t>fakültatif</a:t>
            </a:r>
            <a:r>
              <a:rPr lang="tr-TR" sz="2500" b="1" dirty="0"/>
              <a:t> </a:t>
            </a:r>
            <a:r>
              <a:rPr lang="tr-TR" sz="2500" b="1" dirty="0" err="1" smtClean="0"/>
              <a:t>aeropturlar</a:t>
            </a:r>
            <a:endParaRPr lang="tr-TR" sz="2500" b="1" dirty="0"/>
          </a:p>
          <a:p>
            <a:r>
              <a:rPr lang="tr-TR" sz="2500" b="1" dirty="0" err="1"/>
              <a:t>Kemoheterotrofturlar</a:t>
            </a:r>
            <a:r>
              <a:rPr lang="tr-TR" sz="2500" b="1" dirty="0"/>
              <a:t> </a:t>
            </a:r>
          </a:p>
          <a:p>
            <a:r>
              <a:rPr lang="tr-TR" sz="2500" b="1" dirty="0"/>
              <a:t>Mantarların üreme hızları </a:t>
            </a:r>
          </a:p>
          <a:p>
            <a:pPr lvl="1"/>
            <a:r>
              <a:rPr lang="tr-TR" sz="2500" b="1" dirty="0">
                <a:solidFill>
                  <a:srgbClr val="FF0000"/>
                </a:solidFill>
              </a:rPr>
              <a:t>mayalarda 1 - 2 </a:t>
            </a:r>
            <a:r>
              <a:rPr lang="tr-TR" sz="2500" b="1" dirty="0" smtClean="0">
                <a:solidFill>
                  <a:srgbClr val="FF0000"/>
                </a:solidFill>
              </a:rPr>
              <a:t>gün</a:t>
            </a:r>
            <a:endParaRPr lang="tr-TR" sz="2500" b="1" dirty="0">
              <a:solidFill>
                <a:srgbClr val="FF0000"/>
              </a:solidFill>
            </a:endParaRPr>
          </a:p>
          <a:p>
            <a:pPr lvl="1"/>
            <a:r>
              <a:rPr lang="tr-TR" sz="2500" b="1" dirty="0">
                <a:solidFill>
                  <a:srgbClr val="0000FF"/>
                </a:solidFill>
              </a:rPr>
              <a:t>küf mantarlarında ise 4 - 21 </a:t>
            </a:r>
            <a:r>
              <a:rPr lang="tr-TR" sz="2500" b="1" dirty="0" smtClean="0">
                <a:solidFill>
                  <a:srgbClr val="0000FF"/>
                </a:solidFill>
              </a:rPr>
              <a:t>gündür</a:t>
            </a:r>
            <a:endParaRPr lang="tr-TR" sz="2500" b="1" dirty="0">
              <a:solidFill>
                <a:srgbClr val="0000FF"/>
              </a:solidFill>
            </a:endParaRPr>
          </a:p>
        </p:txBody>
      </p:sp>
      <p:pic>
        <p:nvPicPr>
          <p:cNvPr id="44037" name="Picture 5"/>
          <p:cNvPicPr>
            <a:picLocks noGrp="1" noChangeAspect="1" noChangeArrowheads="1"/>
          </p:cNvPicPr>
          <p:nvPr>
            <p:ph type="body" sz="half" idx="2"/>
          </p:nvPr>
        </p:nvPicPr>
        <p:blipFill>
          <a:blip r:embed="rId2" cstate="print"/>
          <a:srcRect t="45799"/>
          <a:stretch>
            <a:fillRect/>
          </a:stretch>
        </p:blipFill>
        <p:spPr>
          <a:xfrm>
            <a:off x="5724525" y="4068763"/>
            <a:ext cx="2808288" cy="2508250"/>
          </a:xfrm>
          <a:noFill/>
          <a:ln w="38100">
            <a:solidFill>
              <a:srgbClr val="FF66FF"/>
            </a:solidFill>
          </a:ln>
        </p:spPr>
      </p:pic>
      <p:pic>
        <p:nvPicPr>
          <p:cNvPr id="44038" name="Picture 6"/>
          <p:cNvPicPr>
            <a:picLocks noChangeAspect="1" noChangeArrowheads="1"/>
          </p:cNvPicPr>
          <p:nvPr/>
        </p:nvPicPr>
        <p:blipFill>
          <a:blip r:embed="rId3" cstate="print"/>
          <a:srcRect l="5830" t="7832" r="55386" b="1567"/>
          <a:stretch>
            <a:fillRect/>
          </a:stretch>
        </p:blipFill>
        <p:spPr bwMode="auto">
          <a:xfrm>
            <a:off x="5724525" y="1412875"/>
            <a:ext cx="2808288" cy="2466975"/>
          </a:xfrm>
          <a:prstGeom prst="rect">
            <a:avLst/>
          </a:prstGeom>
          <a:noFill/>
          <a:ln w="38100">
            <a:solidFill>
              <a:srgbClr val="FF66FF"/>
            </a:solidFill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smtClean="0">
                <a:solidFill>
                  <a:srgbClr val="FF0000"/>
                </a:solidFill>
              </a:rPr>
              <a:t>MANTARLARIN ÜREME KOŞULLARI</a:t>
            </a:r>
            <a:endParaRPr lang="tr-TR" b="1" dirty="0">
              <a:solidFill>
                <a:srgbClr val="FF0000"/>
              </a:solidFill>
            </a:endParaRP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268760"/>
            <a:ext cx="4038600" cy="5400600"/>
          </a:xfrm>
        </p:spPr>
        <p:txBody>
          <a:bodyPr>
            <a:noAutofit/>
          </a:bodyPr>
          <a:lstStyle/>
          <a:p>
            <a:pPr>
              <a:lnSpc>
                <a:spcPct val="80000"/>
              </a:lnSpc>
            </a:pPr>
            <a:r>
              <a:rPr lang="tr-TR" sz="2400" b="1" dirty="0"/>
              <a:t>Enzimleri ile çeşitli organik maddeleri parçalayarak kullanılabilir hale </a:t>
            </a:r>
            <a:r>
              <a:rPr lang="tr-TR" sz="2400" b="1" dirty="0" smtClean="0"/>
              <a:t>çevirebilirler</a:t>
            </a:r>
          </a:p>
          <a:p>
            <a:pPr>
              <a:lnSpc>
                <a:spcPct val="80000"/>
              </a:lnSpc>
              <a:buNone/>
            </a:pPr>
            <a:endParaRPr lang="tr-TR" sz="2400" b="1" dirty="0"/>
          </a:p>
          <a:p>
            <a:pPr>
              <a:lnSpc>
                <a:spcPct val="80000"/>
              </a:lnSpc>
            </a:pPr>
            <a:r>
              <a:rPr lang="tr-TR" sz="2400" b="1" dirty="0"/>
              <a:t>Genellikle çürümekte olan maddeler üzerinde yaşarlar ve birçoğunun doğal olarak bulunduğu yer </a:t>
            </a:r>
            <a:r>
              <a:rPr lang="tr-TR" sz="2400" b="1" dirty="0" smtClean="0"/>
              <a:t>çevredir</a:t>
            </a:r>
          </a:p>
          <a:p>
            <a:pPr>
              <a:lnSpc>
                <a:spcPct val="80000"/>
              </a:lnSpc>
              <a:buNone/>
            </a:pPr>
            <a:endParaRPr lang="tr-TR" sz="2400" b="1" dirty="0" smtClean="0"/>
          </a:p>
          <a:p>
            <a:pPr>
              <a:lnSpc>
                <a:spcPct val="80000"/>
              </a:lnSpc>
            </a:pPr>
            <a:r>
              <a:rPr lang="tr-TR" sz="2000" b="1" dirty="0" smtClean="0"/>
              <a:t>Bu </a:t>
            </a:r>
            <a:r>
              <a:rPr lang="tr-TR" sz="2000" b="1" dirty="0"/>
              <a:t>kuralın tek istisnası </a:t>
            </a:r>
            <a:r>
              <a:rPr lang="tr-TR" sz="2000" b="1" dirty="0" err="1"/>
              <a:t>Candida</a:t>
            </a:r>
            <a:r>
              <a:rPr lang="tr-TR" sz="2000" b="1" dirty="0"/>
              <a:t> </a:t>
            </a:r>
            <a:r>
              <a:rPr lang="tr-TR" sz="2000" b="1" dirty="0" err="1" smtClean="0"/>
              <a:t>albicans’tır</a:t>
            </a:r>
            <a:endParaRPr lang="tr-TR" sz="2000" b="1" dirty="0" smtClean="0"/>
          </a:p>
          <a:p>
            <a:pPr>
              <a:lnSpc>
                <a:spcPct val="80000"/>
              </a:lnSpc>
              <a:buNone/>
            </a:pPr>
            <a:endParaRPr lang="tr-TR" sz="2400" b="1" dirty="0"/>
          </a:p>
          <a:p>
            <a:pPr>
              <a:lnSpc>
                <a:spcPct val="80000"/>
              </a:lnSpc>
            </a:pPr>
            <a:r>
              <a:rPr lang="tr-TR" sz="2400" b="1" dirty="0"/>
              <a:t>Mantarların üreyebilmesi için bulundukları ortamda inorganik madde ve tuzlarda </a:t>
            </a:r>
            <a:r>
              <a:rPr lang="tr-TR" sz="2400" b="1" dirty="0" smtClean="0"/>
              <a:t>bulunmalıdır</a:t>
            </a:r>
            <a:endParaRPr lang="tr-TR" sz="2400" b="1" dirty="0"/>
          </a:p>
        </p:txBody>
      </p:sp>
      <p:sp>
        <p:nvSpPr>
          <p:cNvPr id="45060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854575" y="5084763"/>
            <a:ext cx="4038600" cy="1584325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tr-TR" sz="2400" b="1" dirty="0"/>
              <a:t>Mantarlar çeşitli fiziksel ve kimyasal dış etkenlere karşı bakterilerden daha </a:t>
            </a:r>
            <a:r>
              <a:rPr lang="tr-TR" sz="2400" b="1" dirty="0" smtClean="0"/>
              <a:t>dirençlidirler</a:t>
            </a:r>
            <a:endParaRPr lang="tr-TR" sz="2400" b="1" dirty="0"/>
          </a:p>
          <a:p>
            <a:pPr>
              <a:lnSpc>
                <a:spcPct val="80000"/>
              </a:lnSpc>
            </a:pPr>
            <a:endParaRPr lang="tr-TR" sz="2400" dirty="0"/>
          </a:p>
        </p:txBody>
      </p:sp>
      <p:pic>
        <p:nvPicPr>
          <p:cNvPr id="45061" name="Picture 5" descr="Sabouraud-cdc"/>
          <p:cNvPicPr>
            <a:picLocks noChangeAspect="1" noChangeArrowheads="1"/>
          </p:cNvPicPr>
          <p:nvPr/>
        </p:nvPicPr>
        <p:blipFill>
          <a:blip r:embed="rId2" cstate="print"/>
          <a:srcRect l="10912" r="9821"/>
          <a:stretch>
            <a:fillRect/>
          </a:stretch>
        </p:blipFill>
        <p:spPr bwMode="auto">
          <a:xfrm>
            <a:off x="5003800" y="1412875"/>
            <a:ext cx="3744913" cy="3498850"/>
          </a:xfrm>
          <a:prstGeom prst="rect">
            <a:avLst/>
          </a:prstGeom>
          <a:noFill/>
          <a:ln w="38100">
            <a:solidFill>
              <a:srgbClr val="FF66FF"/>
            </a:solidFill>
            <a:miter lim="800000"/>
            <a:headEnd/>
            <a:tailEnd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b="1" dirty="0" smtClean="0">
                <a:solidFill>
                  <a:srgbClr val="FF0000"/>
                </a:solidFill>
              </a:rPr>
              <a:t>DİĞER ORGANİZMALARDAN FARKLARI</a:t>
            </a:r>
            <a:endParaRPr lang="tr-TR" b="1" dirty="0">
              <a:solidFill>
                <a:srgbClr val="FF0000"/>
              </a:solidFill>
            </a:endParaRPr>
          </a:p>
        </p:txBody>
      </p:sp>
      <p:sp>
        <p:nvSpPr>
          <p:cNvPr id="6" name="5 İçerik Yer Tutucusu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tr-TR" b="1" dirty="0" err="1" smtClean="0"/>
              <a:t>Fotosentetik</a:t>
            </a:r>
            <a:r>
              <a:rPr lang="tr-TR" b="1" dirty="0" smtClean="0"/>
              <a:t> pigmentleri (klorofil) olmadığı için Bitki, alg ve yosunlardan ayrılırlar</a:t>
            </a:r>
          </a:p>
          <a:p>
            <a:pPr>
              <a:buNone/>
            </a:pPr>
            <a:endParaRPr lang="tr-TR" b="1" dirty="0" smtClean="0"/>
          </a:p>
          <a:p>
            <a:r>
              <a:rPr lang="tr-TR" b="1" dirty="0" smtClean="0"/>
              <a:t>Emici tipte beslenmeleri ile hayvanlardan </a:t>
            </a:r>
          </a:p>
          <a:p>
            <a:pPr>
              <a:buNone/>
            </a:pPr>
            <a:endParaRPr lang="tr-TR" b="1" dirty="0" smtClean="0"/>
          </a:p>
          <a:p>
            <a:r>
              <a:rPr lang="tr-TR" b="1" dirty="0" err="1" smtClean="0"/>
              <a:t>Ökaryotik</a:t>
            </a:r>
            <a:r>
              <a:rPr lang="tr-TR" b="1" dirty="0" smtClean="0"/>
              <a:t> hücrelere sahip olmaları ile ve Bakterilerden daha büyük çok şekilli ve hakiki çekirdeğe sahip olmaları yönünden bakterilerden ayrılırlar</a:t>
            </a:r>
          </a:p>
          <a:p>
            <a:pPr>
              <a:buNone/>
            </a:pPr>
            <a:r>
              <a:rPr lang="tr-TR" b="1" dirty="0" smtClean="0"/>
              <a:t>				</a:t>
            </a:r>
            <a:endParaRPr lang="tr-TR" b="1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smtClean="0">
                <a:solidFill>
                  <a:srgbClr val="FF0000"/>
                </a:solidFill>
              </a:rPr>
              <a:t>MANTARLARIN BOYANMASI</a:t>
            </a:r>
            <a:endParaRPr lang="tr-TR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 smtClean="0"/>
              <a:t>Gram ile boyanırlar </a:t>
            </a:r>
          </a:p>
          <a:p>
            <a:r>
              <a:rPr lang="tr-TR" b="1" dirty="0" smtClean="0"/>
              <a:t>Metilen mavisi, </a:t>
            </a:r>
            <a:r>
              <a:rPr lang="tr-TR" b="1" dirty="0" err="1" smtClean="0"/>
              <a:t>laktofenol</a:t>
            </a:r>
            <a:r>
              <a:rPr lang="tr-TR" b="1" dirty="0" smtClean="0"/>
              <a:t> pamuk mavisi gibi birçok boya ile boyanırlar</a:t>
            </a:r>
          </a:p>
          <a:p>
            <a:r>
              <a:rPr lang="tr-TR" b="1" dirty="0" smtClean="0"/>
              <a:t>Küfler </a:t>
            </a:r>
            <a:r>
              <a:rPr lang="tr-TR" b="1" dirty="0" err="1" smtClean="0"/>
              <a:t>laktofenol</a:t>
            </a:r>
            <a:r>
              <a:rPr lang="tr-TR" b="1" dirty="0" smtClean="0"/>
              <a:t> pamuk mavisi ile iyi boyanırlar</a:t>
            </a:r>
          </a:p>
          <a:p>
            <a:r>
              <a:rPr lang="tr-TR" b="1" dirty="0" err="1" smtClean="0"/>
              <a:t>Laboratuvar</a:t>
            </a:r>
            <a:r>
              <a:rPr lang="tr-TR" b="1" dirty="0" smtClean="0"/>
              <a:t> şartlarında her türlü </a:t>
            </a:r>
            <a:r>
              <a:rPr lang="tr-TR" b="1" dirty="0" err="1" smtClean="0"/>
              <a:t>besiyerinde</a:t>
            </a:r>
            <a:r>
              <a:rPr lang="tr-TR" b="1" dirty="0" smtClean="0"/>
              <a:t> kolaylıkla ürerler</a:t>
            </a:r>
          </a:p>
          <a:p>
            <a:r>
              <a:rPr lang="tr-TR" b="1" dirty="0" err="1" smtClean="0"/>
              <a:t>Sabouraud</a:t>
            </a:r>
            <a:r>
              <a:rPr lang="tr-TR" b="1" dirty="0" smtClean="0"/>
              <a:t> dekstroz, kanlı </a:t>
            </a:r>
            <a:r>
              <a:rPr lang="tr-TR" b="1" dirty="0" err="1" smtClean="0"/>
              <a:t>besiyeri</a:t>
            </a:r>
            <a:r>
              <a:rPr lang="tr-TR" b="1" dirty="0" smtClean="0"/>
              <a:t> gibi.</a:t>
            </a:r>
          </a:p>
          <a:p>
            <a:endParaRPr lang="tr-TR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260648"/>
            <a:ext cx="8496944" cy="62646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3200" b="1" dirty="0" smtClean="0">
                <a:solidFill>
                  <a:srgbClr val="FF0000"/>
                </a:solidFill>
              </a:rPr>
              <a:t>MANTARLAR, MORFOLOJİK YAPILARINA GÖRE</a:t>
            </a:r>
            <a:r>
              <a:rPr lang="tr-TR" sz="3200" b="1" dirty="0" smtClean="0"/>
              <a:t> </a:t>
            </a:r>
            <a:r>
              <a:rPr lang="tr-TR" sz="3200" b="1" dirty="0" smtClean="0">
                <a:solidFill>
                  <a:srgbClr val="FF0000"/>
                </a:solidFill>
              </a:rPr>
              <a:t>SINIFLANDIRILIR</a:t>
            </a:r>
            <a:endParaRPr lang="tr-TR" sz="3200" b="1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 smtClean="0"/>
              <a:t>Küf </a:t>
            </a:r>
          </a:p>
          <a:p>
            <a:r>
              <a:rPr lang="tr-TR" b="1" dirty="0" smtClean="0"/>
              <a:t>Maya </a:t>
            </a:r>
          </a:p>
          <a:p>
            <a:r>
              <a:rPr lang="tr-TR" b="1" dirty="0" err="1" smtClean="0"/>
              <a:t>Dimorfik</a:t>
            </a:r>
            <a:r>
              <a:rPr lang="tr-TR" b="1" dirty="0" smtClean="0"/>
              <a:t> mantarlar</a:t>
            </a:r>
          </a:p>
          <a:p>
            <a:pPr lvl="1"/>
            <a:r>
              <a:rPr lang="tr-TR" b="1" dirty="0" smtClean="0"/>
              <a:t>Isıya bağlı olarak yapıları değişir</a:t>
            </a:r>
            <a:endParaRPr lang="tr-TR" b="1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77813"/>
            <a:ext cx="8424863" cy="1279525"/>
          </a:xfrm>
        </p:spPr>
        <p:txBody>
          <a:bodyPr>
            <a:normAutofit/>
          </a:bodyPr>
          <a:lstStyle/>
          <a:p>
            <a:r>
              <a:rPr lang="tr-TR" sz="4000" b="1" dirty="0" smtClean="0"/>
              <a:t>  </a:t>
            </a:r>
            <a:endParaRPr lang="tr-TR" sz="4000" b="1" dirty="0">
              <a:solidFill>
                <a:srgbClr val="FF0000"/>
              </a:solidFill>
            </a:endParaRP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251520" y="260648"/>
            <a:ext cx="8496944" cy="6408711"/>
          </a:xfrm>
        </p:spPr>
        <p:txBody>
          <a:bodyPr>
            <a:normAutofit/>
          </a:bodyPr>
          <a:lstStyle/>
          <a:p>
            <a:pPr marL="609600" indent="-609600">
              <a:lnSpc>
                <a:spcPct val="80000"/>
              </a:lnSpc>
              <a:buNone/>
            </a:pPr>
            <a:r>
              <a:rPr lang="tr-TR" b="1" i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MAYA</a:t>
            </a:r>
            <a:r>
              <a:rPr lang="tr-TR" b="1" i="1" dirty="0" smtClean="0"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lang="tr-TR" b="1" i="1" dirty="0" smtClean="0"/>
              <a:t>Tek </a:t>
            </a:r>
            <a:r>
              <a:rPr lang="tr-TR" b="1" i="1" dirty="0"/>
              <a:t>hücreli </a:t>
            </a:r>
            <a:r>
              <a:rPr lang="tr-TR" b="1" i="1" dirty="0" smtClean="0"/>
              <a:t>şekil</a:t>
            </a:r>
          </a:p>
          <a:p>
            <a:pPr marL="609600" indent="-609600">
              <a:lnSpc>
                <a:spcPct val="80000"/>
              </a:lnSpc>
            </a:pPr>
            <a:endParaRPr lang="tr-TR" b="1" i="1" dirty="0"/>
          </a:p>
          <a:p>
            <a:pPr marL="609600" indent="-609600">
              <a:lnSpc>
                <a:spcPct val="80000"/>
              </a:lnSpc>
              <a:buNone/>
            </a:pPr>
            <a:r>
              <a:rPr lang="tr-TR" b="1" i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KÜF</a:t>
            </a:r>
            <a:r>
              <a:rPr lang="tr-TR" b="1" i="1" dirty="0" smtClean="0">
                <a:effectLst>
                  <a:outerShdw blurRad="38100" dist="38100" dir="2700000" algn="tl">
                    <a:srgbClr val="FFFFFF"/>
                  </a:outerShdw>
                </a:effectLst>
              </a:rPr>
              <a:t>  </a:t>
            </a:r>
            <a:r>
              <a:rPr lang="tr-TR" b="1" i="1" dirty="0" smtClean="0"/>
              <a:t> Çok </a:t>
            </a:r>
            <a:r>
              <a:rPr lang="tr-TR" b="1" i="1" dirty="0"/>
              <a:t>hücreli ipliksi şekil </a:t>
            </a:r>
            <a:endParaRPr lang="tr-TR" b="1" i="1" dirty="0" smtClean="0"/>
          </a:p>
          <a:p>
            <a:pPr marL="609600" indent="-609600">
              <a:lnSpc>
                <a:spcPct val="80000"/>
              </a:lnSpc>
            </a:pPr>
            <a:endParaRPr lang="tr-TR" b="1" i="1" dirty="0"/>
          </a:p>
          <a:p>
            <a:pPr marL="609600" indent="-609600">
              <a:lnSpc>
                <a:spcPct val="80000"/>
              </a:lnSpc>
              <a:buNone/>
            </a:pPr>
            <a:r>
              <a:rPr lang="tr-TR" b="1" i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DİMORFİK</a:t>
            </a:r>
            <a:r>
              <a:rPr lang="tr-TR" b="1" i="1" dirty="0" smtClean="0">
                <a:effectLst>
                  <a:outerShdw blurRad="38100" dist="38100" dir="2700000" algn="tl">
                    <a:srgbClr val="FFFFFF"/>
                  </a:outerShdw>
                </a:effectLst>
              </a:rPr>
              <a:t>  </a:t>
            </a:r>
            <a:r>
              <a:rPr lang="tr-TR" b="1" i="1" dirty="0" smtClean="0"/>
              <a:t> farklı </a:t>
            </a:r>
            <a:r>
              <a:rPr lang="tr-TR" b="1" i="1" dirty="0"/>
              <a:t>çevre koşulları </a:t>
            </a:r>
            <a:endParaRPr lang="tr-TR" b="1" i="1" dirty="0" smtClean="0"/>
          </a:p>
          <a:p>
            <a:pPr marL="609600" indent="-609600">
              <a:lnSpc>
                <a:spcPct val="80000"/>
              </a:lnSpc>
              <a:buNone/>
            </a:pPr>
            <a:r>
              <a:rPr lang="tr-TR" b="1" i="1" dirty="0" smtClean="0"/>
              <a:t>	altında </a:t>
            </a:r>
            <a:r>
              <a:rPr lang="tr-TR" b="1" i="1" dirty="0"/>
              <a:t>maya ya da küf şeklinde üreme </a:t>
            </a:r>
            <a:r>
              <a:rPr lang="tr-TR" b="1" i="1" dirty="0" smtClean="0"/>
              <a:t>yeteneğinde olanlardır  </a:t>
            </a:r>
            <a:r>
              <a:rPr lang="tr-TR" b="1" i="1" dirty="0"/>
              <a:t>(ısı, </a:t>
            </a:r>
            <a:r>
              <a:rPr lang="tr-TR" b="1" i="1" dirty="0" smtClean="0"/>
              <a:t>CO², </a:t>
            </a:r>
            <a:r>
              <a:rPr lang="tr-TR" b="1" i="1" dirty="0"/>
              <a:t>besinler)       </a:t>
            </a:r>
          </a:p>
          <a:p>
            <a:pPr marL="990600" lvl="1" indent="-533400">
              <a:lnSpc>
                <a:spcPct val="80000"/>
              </a:lnSpc>
            </a:pPr>
            <a:r>
              <a:rPr lang="tr-TR" sz="3200" b="1" i="1" dirty="0">
                <a:solidFill>
                  <a:srgbClr val="0000FF"/>
                </a:solidFill>
              </a:rPr>
              <a:t>T</a:t>
            </a:r>
            <a:r>
              <a:rPr lang="tr-TR" sz="3200" b="1" i="1" dirty="0" smtClean="0">
                <a:solidFill>
                  <a:srgbClr val="0000FF"/>
                </a:solidFill>
              </a:rPr>
              <a:t>ermal </a:t>
            </a:r>
            <a:r>
              <a:rPr lang="tr-TR" sz="3200" b="1" i="1" dirty="0" err="1">
                <a:solidFill>
                  <a:srgbClr val="0000FF"/>
                </a:solidFill>
              </a:rPr>
              <a:t>dimorfizm</a:t>
            </a:r>
            <a:r>
              <a:rPr lang="tr-TR" sz="3200" b="1" i="1" dirty="0"/>
              <a:t>: bir grup patojen mantar </a:t>
            </a:r>
            <a:r>
              <a:rPr lang="tr-TR" sz="3200" b="1" i="1" dirty="0" smtClean="0"/>
              <a:t>35</a:t>
            </a:r>
            <a:r>
              <a:rPr lang="tr-TR" sz="3200" b="1" i="1" baseline="30000" dirty="0" smtClean="0"/>
              <a:t>0</a:t>
            </a:r>
            <a:r>
              <a:rPr lang="tr-TR" sz="3200" b="1" i="1" dirty="0" smtClean="0"/>
              <a:t>C’de İKEN  </a:t>
            </a:r>
            <a:r>
              <a:rPr lang="tr-TR" sz="3200" b="1" i="1" dirty="0"/>
              <a:t>maya veya 25</a:t>
            </a:r>
            <a:r>
              <a:rPr lang="tr-TR" sz="3200" b="1" i="1" baseline="30000" dirty="0"/>
              <a:t>0</a:t>
            </a:r>
            <a:r>
              <a:rPr lang="tr-TR" sz="3200" b="1" i="1" dirty="0"/>
              <a:t>C’de küf şeklinde </a:t>
            </a:r>
            <a:r>
              <a:rPr lang="tr-TR" sz="3200" b="1" i="1" dirty="0" smtClean="0"/>
              <a:t>üreyebilir </a:t>
            </a:r>
            <a:endParaRPr lang="tr-TR" sz="3200" b="1" i="1" dirty="0"/>
          </a:p>
          <a:p>
            <a:pPr marL="990600" lvl="1" indent="-533400">
              <a:lnSpc>
                <a:spcPct val="80000"/>
              </a:lnSpc>
            </a:pPr>
            <a:r>
              <a:rPr lang="tr-TR" sz="3200" b="1" i="1" dirty="0"/>
              <a:t>Bunlar doğal ortamlarında küf, insan vücut ısısında maya şeklindedirler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smtClean="0">
                <a:solidFill>
                  <a:srgbClr val="FF0000"/>
                </a:solidFill>
              </a:rPr>
              <a:t>DİMORFİK MANTARLAR</a:t>
            </a:r>
            <a:endParaRPr lang="tr-TR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 dirty="0" smtClean="0"/>
          </a:p>
          <a:p>
            <a:r>
              <a:rPr lang="tr-TR" sz="2800" b="1" dirty="0" smtClean="0"/>
              <a:t>Doğal ortamda ve oda ısısındaki </a:t>
            </a:r>
            <a:r>
              <a:rPr lang="tr-TR" sz="2800" b="1" dirty="0" err="1" smtClean="0"/>
              <a:t>besiyerlerinde</a:t>
            </a:r>
            <a:r>
              <a:rPr lang="tr-TR" sz="2800" b="1" dirty="0" smtClean="0"/>
              <a:t> küf, </a:t>
            </a:r>
            <a:r>
              <a:rPr lang="tr-TR" sz="2800" b="1" dirty="0" err="1" smtClean="0"/>
              <a:t>invivo</a:t>
            </a:r>
            <a:r>
              <a:rPr lang="tr-TR" sz="2800" b="1" dirty="0" smtClean="0"/>
              <a:t> ve 35-37 C de maya şeklinde üreyen mantarlara </a:t>
            </a:r>
            <a:r>
              <a:rPr lang="tr-TR" sz="2800" b="1" dirty="0" err="1" smtClean="0"/>
              <a:t>dimorfik</a:t>
            </a:r>
            <a:r>
              <a:rPr lang="tr-TR" sz="2800" b="1" dirty="0" smtClean="0"/>
              <a:t> veya </a:t>
            </a:r>
            <a:r>
              <a:rPr lang="tr-TR" sz="2800" b="1" dirty="0" err="1" smtClean="0"/>
              <a:t>difazik</a:t>
            </a:r>
            <a:r>
              <a:rPr lang="tr-TR" sz="2800" b="1" dirty="0" smtClean="0"/>
              <a:t> mantarlar denir</a:t>
            </a:r>
          </a:p>
          <a:p>
            <a:pPr>
              <a:buNone/>
            </a:pPr>
            <a:endParaRPr lang="tr-TR" sz="2800" b="1" dirty="0" smtClean="0"/>
          </a:p>
          <a:p>
            <a:r>
              <a:rPr lang="tr-TR" sz="2800" b="1" dirty="0" err="1" smtClean="0"/>
              <a:t>Dimorfizmin</a:t>
            </a:r>
            <a:r>
              <a:rPr lang="tr-TR" sz="2800" b="1" dirty="0" smtClean="0"/>
              <a:t> gelişmesinde besin, </a:t>
            </a:r>
            <a:r>
              <a:rPr lang="tr-TR" sz="2800" b="1" dirty="0" err="1" smtClean="0"/>
              <a:t>oksidasyon</a:t>
            </a:r>
            <a:r>
              <a:rPr lang="tr-TR" sz="2800" b="1" dirty="0" smtClean="0"/>
              <a:t>-redüksiyon potansiyeli, CO² basıncı, çevre ısısı gibi faktörler rol oynar</a:t>
            </a:r>
          </a:p>
          <a:p>
            <a:pPr>
              <a:buNone/>
            </a:pPr>
            <a:endParaRPr lang="tr-TR" sz="2800" b="1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60350"/>
            <a:ext cx="8229600" cy="1081088"/>
          </a:xfrm>
        </p:spPr>
        <p:txBody>
          <a:bodyPr/>
          <a:lstStyle/>
          <a:p>
            <a:r>
              <a:rPr lang="tr-TR" b="1" dirty="0" smtClean="0">
                <a:solidFill>
                  <a:srgbClr val="FF0000"/>
                </a:solidFill>
              </a:rPr>
              <a:t>MAYA MANTARLARI</a:t>
            </a:r>
            <a:endParaRPr lang="tr-TR" b="1" dirty="0">
              <a:solidFill>
                <a:srgbClr val="FF0000"/>
              </a:solidFill>
            </a:endParaRPr>
          </a:p>
        </p:txBody>
      </p:sp>
      <p:sp>
        <p:nvSpPr>
          <p:cNvPr id="15257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23850" y="1557338"/>
            <a:ext cx="4392613" cy="4895850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tr-TR" b="1" i="1" dirty="0"/>
              <a:t>Bakteriler gibi tek hücreli </a:t>
            </a:r>
            <a:r>
              <a:rPr lang="tr-TR" b="1" i="1" dirty="0" smtClean="0"/>
              <a:t>canlılardır</a:t>
            </a:r>
            <a:endParaRPr lang="tr-TR" b="1" i="1" dirty="0"/>
          </a:p>
          <a:p>
            <a:pPr>
              <a:lnSpc>
                <a:spcPct val="80000"/>
              </a:lnSpc>
            </a:pPr>
            <a:r>
              <a:rPr lang="tr-TR" b="1" i="1" dirty="0" smtClean="0"/>
              <a:t>Tanımlanmış </a:t>
            </a:r>
            <a:r>
              <a:rPr lang="tr-TR" b="1" i="1" dirty="0"/>
              <a:t>binden fazla maya türü </a:t>
            </a:r>
            <a:r>
              <a:rPr lang="tr-TR" b="1" i="1" dirty="0" smtClean="0"/>
              <a:t>vardır </a:t>
            </a:r>
          </a:p>
          <a:p>
            <a:pPr>
              <a:lnSpc>
                <a:spcPct val="80000"/>
              </a:lnSpc>
              <a:buNone/>
            </a:pPr>
            <a:endParaRPr lang="tr-TR" b="1" i="1" dirty="0"/>
          </a:p>
          <a:p>
            <a:pPr>
              <a:lnSpc>
                <a:spcPct val="80000"/>
              </a:lnSpc>
            </a:pPr>
            <a:r>
              <a:rPr lang="tr-TR" b="1" i="1" dirty="0"/>
              <a:t>Bazı türleri ekmek kabartmak, </a:t>
            </a:r>
            <a:r>
              <a:rPr lang="tr-TR" b="1" i="1" dirty="0" err="1"/>
              <a:t>alkollu</a:t>
            </a:r>
            <a:r>
              <a:rPr lang="tr-TR" b="1" i="1" dirty="0"/>
              <a:t> içki fermantasyonu ve hatta yakıt pillerinin çalışmasında </a:t>
            </a:r>
            <a:r>
              <a:rPr lang="tr-TR" b="1" i="1" dirty="0" smtClean="0"/>
              <a:t>kullanılır</a:t>
            </a:r>
            <a:endParaRPr lang="tr-TR" b="1" i="1" dirty="0"/>
          </a:p>
        </p:txBody>
      </p:sp>
      <p:sp>
        <p:nvSpPr>
          <p:cNvPr id="152580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787900" y="1584325"/>
            <a:ext cx="4105275" cy="4869011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tr-TR" b="1" i="1" dirty="0"/>
              <a:t>Mayalar tabiatta yaygın olup, toprakta ve özellikle bağ topraklarında fazlaca </a:t>
            </a:r>
            <a:r>
              <a:rPr lang="tr-TR" b="1" i="1" dirty="0" smtClean="0"/>
              <a:t>bulunmaktadır</a:t>
            </a:r>
          </a:p>
          <a:p>
            <a:pPr>
              <a:lnSpc>
                <a:spcPct val="80000"/>
              </a:lnSpc>
              <a:buNone/>
            </a:pPr>
            <a:endParaRPr lang="tr-TR" b="1" i="1" dirty="0" smtClean="0"/>
          </a:p>
          <a:p>
            <a:pPr>
              <a:lnSpc>
                <a:spcPct val="80000"/>
              </a:lnSpc>
            </a:pPr>
            <a:r>
              <a:rPr lang="tr-TR" b="1" i="1" dirty="0" smtClean="0"/>
              <a:t>Buradan </a:t>
            </a:r>
            <a:r>
              <a:rPr lang="tr-TR" b="1" i="1" dirty="0"/>
              <a:t>bazı yollarla örn; böceklerle üzüm ve meyvelere taşınmakta, meyveler üzerindeki çatlaklardan içeri girerek </a:t>
            </a:r>
            <a:r>
              <a:rPr lang="tr-TR" b="1" i="1" dirty="0" smtClean="0"/>
              <a:t>çoğalmaktadır</a:t>
            </a:r>
            <a:endParaRPr lang="tr-TR" b="1" i="1" dirty="0"/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endParaRPr lang="tr-TR" dirty="0"/>
          </a:p>
          <a:p>
            <a:pPr>
              <a:lnSpc>
                <a:spcPct val="80000"/>
              </a:lnSpc>
            </a:pPr>
            <a:endParaRPr lang="tr-TR" sz="2400" b="1" i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İçerik Yer Tutucusu"/>
          <p:cNvSpPr>
            <a:spLocks noGrp="1"/>
          </p:cNvSpPr>
          <p:nvPr>
            <p:ph idx="4294967295"/>
          </p:nvPr>
        </p:nvSpPr>
        <p:spPr>
          <a:xfrm>
            <a:off x="251520" y="188640"/>
            <a:ext cx="8640960" cy="6408712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tr-TR" b="1" dirty="0" smtClean="0">
                <a:solidFill>
                  <a:srgbClr val="FF0000"/>
                </a:solidFill>
              </a:rPr>
              <a:t>			</a:t>
            </a:r>
            <a:r>
              <a:rPr lang="tr-TR" sz="4300" b="1" dirty="0" smtClean="0">
                <a:solidFill>
                  <a:srgbClr val="FF0000"/>
                </a:solidFill>
              </a:rPr>
              <a:t> MAYA MANTARLARI</a:t>
            </a:r>
            <a:endParaRPr lang="tr-TR" sz="4300" b="1" dirty="0" smtClean="0"/>
          </a:p>
          <a:p>
            <a:r>
              <a:rPr lang="tr-TR" b="1" dirty="0" smtClean="0"/>
              <a:t>Maya hücreleri, yuvarlak, oval ve silindir biçiminde bir görünümde olup tek hücrelidirler.</a:t>
            </a:r>
            <a:r>
              <a:rPr lang="tr-TR" dirty="0" smtClean="0"/>
              <a:t> </a:t>
            </a:r>
          </a:p>
          <a:p>
            <a:r>
              <a:rPr lang="tr-TR" b="1" dirty="0" smtClean="0"/>
              <a:t>3-5 µm çapında </a:t>
            </a:r>
            <a:r>
              <a:rPr lang="tr-TR" altLang="tr-TR" b="1" i="1" dirty="0" smtClean="0"/>
              <a:t>3-15 </a:t>
            </a:r>
            <a:r>
              <a:rPr lang="tr-TR" altLang="tr-TR" b="1" i="1" dirty="0" err="1" smtClean="0"/>
              <a:t>μm</a:t>
            </a:r>
            <a:r>
              <a:rPr lang="tr-TR" altLang="tr-TR" b="1" i="1" dirty="0" smtClean="0"/>
              <a:t>. Uzunluğunda olabilirler </a:t>
            </a:r>
            <a:endParaRPr lang="tr-TR" b="1" dirty="0" smtClean="0"/>
          </a:p>
          <a:p>
            <a:pPr>
              <a:lnSpc>
                <a:spcPct val="90000"/>
              </a:lnSpc>
            </a:pPr>
            <a:r>
              <a:rPr lang="tr-TR" b="1" i="1" dirty="0" smtClean="0">
                <a:solidFill>
                  <a:srgbClr val="FF00FF"/>
                </a:solidFill>
              </a:rPr>
              <a:t>Mayalar zorunlu </a:t>
            </a:r>
            <a:r>
              <a:rPr lang="tr-TR" b="1" i="1" dirty="0" err="1" smtClean="0">
                <a:solidFill>
                  <a:srgbClr val="FF00FF"/>
                </a:solidFill>
              </a:rPr>
              <a:t>aerob</a:t>
            </a:r>
            <a:r>
              <a:rPr lang="tr-TR" b="1" i="1" dirty="0" smtClean="0">
                <a:solidFill>
                  <a:srgbClr val="FF00FF"/>
                </a:solidFill>
              </a:rPr>
              <a:t> veya </a:t>
            </a:r>
            <a:r>
              <a:rPr lang="tr-TR" b="1" i="1" dirty="0" err="1" smtClean="0">
                <a:solidFill>
                  <a:srgbClr val="FF00FF"/>
                </a:solidFill>
              </a:rPr>
              <a:t>fakültatif</a:t>
            </a:r>
            <a:r>
              <a:rPr lang="tr-TR" b="1" i="1" dirty="0" smtClean="0">
                <a:solidFill>
                  <a:srgbClr val="FF00FF"/>
                </a:solidFill>
              </a:rPr>
              <a:t> </a:t>
            </a:r>
            <a:r>
              <a:rPr lang="tr-TR" b="1" i="1" dirty="0" err="1" smtClean="0">
                <a:solidFill>
                  <a:srgbClr val="FF00FF"/>
                </a:solidFill>
              </a:rPr>
              <a:t>anaerobtur</a:t>
            </a:r>
            <a:endParaRPr lang="tr-TR" b="1" i="1" dirty="0" smtClean="0">
              <a:solidFill>
                <a:srgbClr val="FF00FF"/>
              </a:solidFill>
            </a:endParaRPr>
          </a:p>
          <a:p>
            <a:pPr>
              <a:lnSpc>
                <a:spcPct val="90000"/>
              </a:lnSpc>
            </a:pPr>
            <a:r>
              <a:rPr lang="tr-TR" b="1" i="1" dirty="0" smtClean="0">
                <a:solidFill>
                  <a:srgbClr val="0000FF"/>
                </a:solidFill>
              </a:rPr>
              <a:t>Zorunlu </a:t>
            </a:r>
            <a:r>
              <a:rPr lang="tr-TR" b="1" i="1" dirty="0" err="1" smtClean="0">
                <a:solidFill>
                  <a:srgbClr val="0000FF"/>
                </a:solidFill>
              </a:rPr>
              <a:t>anaerob</a:t>
            </a:r>
            <a:r>
              <a:rPr lang="tr-TR" b="1" i="1" dirty="0" smtClean="0">
                <a:solidFill>
                  <a:srgbClr val="0000FF"/>
                </a:solidFill>
              </a:rPr>
              <a:t> maya türü yoktur</a:t>
            </a:r>
            <a:endParaRPr lang="tr-TR" dirty="0" smtClean="0">
              <a:solidFill>
                <a:srgbClr val="0000FF"/>
              </a:solidFill>
            </a:endParaRPr>
          </a:p>
          <a:p>
            <a:r>
              <a:rPr lang="tr-TR" b="1" dirty="0" err="1" smtClean="0"/>
              <a:t>Anaerob</a:t>
            </a:r>
            <a:r>
              <a:rPr lang="tr-TR" b="1" dirty="0" smtClean="0"/>
              <a:t> şartlarda </a:t>
            </a:r>
            <a:r>
              <a:rPr lang="tr-TR" b="1" dirty="0" err="1" smtClean="0"/>
              <a:t>glukozu</a:t>
            </a:r>
            <a:r>
              <a:rPr lang="tr-TR" b="1" dirty="0" smtClean="0"/>
              <a:t> alkol ve CO²’e (</a:t>
            </a:r>
            <a:r>
              <a:rPr lang="tr-TR" b="1" dirty="0" err="1" smtClean="0"/>
              <a:t>fermentasyon</a:t>
            </a:r>
            <a:r>
              <a:rPr lang="tr-TR" b="1" dirty="0" smtClean="0"/>
              <a:t>) </a:t>
            </a:r>
          </a:p>
          <a:p>
            <a:r>
              <a:rPr lang="tr-TR" b="1" dirty="0" err="1" smtClean="0"/>
              <a:t>Aerob</a:t>
            </a:r>
            <a:r>
              <a:rPr lang="tr-TR" b="1" dirty="0" smtClean="0"/>
              <a:t> şartlarda ise </a:t>
            </a:r>
            <a:r>
              <a:rPr lang="tr-TR" b="1" dirty="0" err="1" smtClean="0"/>
              <a:t>tamemen</a:t>
            </a:r>
            <a:r>
              <a:rPr lang="tr-TR" b="1" dirty="0" smtClean="0"/>
              <a:t> CO² ve H₂O (asimilasyon) dönüştürürler</a:t>
            </a:r>
          </a:p>
          <a:p>
            <a:pPr>
              <a:lnSpc>
                <a:spcPct val="90000"/>
              </a:lnSpc>
              <a:buNone/>
            </a:pPr>
            <a:r>
              <a:rPr lang="tr-TR" b="1" i="1" dirty="0" smtClean="0"/>
              <a:t>			</a:t>
            </a:r>
          </a:p>
          <a:p>
            <a:pPr>
              <a:lnSpc>
                <a:spcPct val="90000"/>
              </a:lnSpc>
              <a:buNone/>
            </a:pPr>
            <a:r>
              <a:rPr lang="tr-TR" b="1" i="1" dirty="0" smtClean="0">
                <a:solidFill>
                  <a:srgbClr val="FF0000"/>
                </a:solidFill>
              </a:rPr>
              <a:t>TEKRAR EDELİM</a:t>
            </a:r>
          </a:p>
          <a:p>
            <a:r>
              <a:rPr lang="tr-TR" b="1" i="1" dirty="0" smtClean="0">
                <a:solidFill>
                  <a:srgbClr val="FF0000"/>
                </a:solidFill>
              </a:rPr>
              <a:t>Oksijen yokluğunda mayalar enerji elde etmek için karbonhidratları karbon dioksit ve etanol (alkol) VE laktik </a:t>
            </a:r>
            <a:r>
              <a:rPr lang="tr-TR" b="1" i="1" dirty="0" err="1" smtClean="0">
                <a:solidFill>
                  <a:srgbClr val="FF0000"/>
                </a:solidFill>
              </a:rPr>
              <a:t>asite</a:t>
            </a:r>
            <a:r>
              <a:rPr lang="tr-TR" b="1" i="1" dirty="0" smtClean="0">
                <a:solidFill>
                  <a:srgbClr val="FF0000"/>
                </a:solidFill>
              </a:rPr>
              <a:t> dönüştürürler</a:t>
            </a:r>
          </a:p>
          <a:p>
            <a:r>
              <a:rPr lang="tr-TR" b="1" i="1" dirty="0" smtClean="0"/>
              <a:t>Biracılık ve şarapçılıkta ortaya çıkan etanol şişelenir</a:t>
            </a:r>
          </a:p>
          <a:p>
            <a:r>
              <a:rPr lang="tr-TR" b="1" i="1" dirty="0" smtClean="0"/>
              <a:t>Ekmek yapımında oluşan etanol buharlaşır, açığa çıkan karbon dioksit ekmeği kabartır</a:t>
            </a:r>
            <a:endParaRPr lang="tr-TR" dirty="0" smtClean="0"/>
          </a:p>
          <a:p>
            <a:endParaRPr lang="tr-TR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mayalarÄ±n mikroskopta incelenmesi ile ilgili gÃ¶rsel sonucu">
            <a:extLst>
              <a:ext uri="{FF2B5EF4-FFF2-40B4-BE49-F238E27FC236}">
                <a16:creationId xmlns="" xmlns:a16="http://schemas.microsoft.com/office/drawing/2014/main" id="{50F91DB2-322B-44D8-B848-CE68646C7C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88640"/>
            <a:ext cx="3985592" cy="317882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Ä°lgili resim">
            <a:extLst>
              <a:ext uri="{FF2B5EF4-FFF2-40B4-BE49-F238E27FC236}">
                <a16:creationId xmlns="" xmlns:a16="http://schemas.microsoft.com/office/drawing/2014/main" id="{E5D84AD6-A4FF-4780-94FF-054627DC5DC6}"/>
              </a:ext>
            </a:extLst>
          </p:cNvPr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8652" y="3816626"/>
            <a:ext cx="3598199" cy="293867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Ä°lgili resim">
            <a:extLst>
              <a:ext uri="{FF2B5EF4-FFF2-40B4-BE49-F238E27FC236}">
                <a16:creationId xmlns="" xmlns:a16="http://schemas.microsoft.com/office/drawing/2014/main" id="{20F0E007-94A2-4E3C-ACFD-77C9B77E59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3284984"/>
            <a:ext cx="3985592" cy="3332922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Ä°lgili resim">
            <a:extLst>
              <a:ext uri="{FF2B5EF4-FFF2-40B4-BE49-F238E27FC236}">
                <a16:creationId xmlns="" xmlns:a16="http://schemas.microsoft.com/office/drawing/2014/main" id="{C666DD20-87A9-485F-A973-AA64AD7936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8652" y="250180"/>
            <a:ext cx="3598199" cy="341897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154033665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tr-TR" b="1" dirty="0" smtClean="0">
                <a:solidFill>
                  <a:srgbClr val="FF0000"/>
                </a:solidFill>
              </a:rPr>
              <a:t>    </a:t>
            </a:r>
            <a:r>
              <a:rPr lang="tr-TR" sz="4000" b="1" dirty="0" smtClean="0">
                <a:solidFill>
                  <a:srgbClr val="FF0000"/>
                </a:solidFill>
              </a:rPr>
              <a:t>MAYA MANTARLARI</a:t>
            </a:r>
            <a:endParaRPr lang="tr-TR" sz="4000" dirty="0">
              <a:solidFill>
                <a:srgbClr val="FF0000"/>
              </a:solidFill>
            </a:endParaRPr>
          </a:p>
        </p:txBody>
      </p:sp>
      <p:sp>
        <p:nvSpPr>
          <p:cNvPr id="6" name="5 İçerik Yer Tutucusu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8112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None/>
            </a:pPr>
            <a:endParaRPr lang="tr-TR" b="1" i="1" dirty="0" smtClean="0"/>
          </a:p>
          <a:p>
            <a:pPr>
              <a:lnSpc>
                <a:spcPct val="90000"/>
              </a:lnSpc>
              <a:buNone/>
            </a:pPr>
            <a:r>
              <a:rPr lang="tr-TR" b="1" i="1" dirty="0" smtClean="0">
                <a:solidFill>
                  <a:srgbClr val="FF0000"/>
                </a:solidFill>
              </a:rPr>
              <a:t> </a:t>
            </a:r>
          </a:p>
          <a:p>
            <a:pPr>
              <a:lnSpc>
                <a:spcPct val="90000"/>
              </a:lnSpc>
              <a:buNone/>
            </a:pPr>
            <a:endParaRPr lang="tr-TR" b="1" i="1" dirty="0" smtClean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11960" y="1484784"/>
            <a:ext cx="4267150" cy="46938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55576" y="3645024"/>
            <a:ext cx="3312368" cy="30243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79512" y="620688"/>
            <a:ext cx="3810000" cy="3533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C:\Users\user\Desktop\5sinfenteknolojimantarbitkidegilmiet-doc.003.jpg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476672"/>
            <a:ext cx="4885545" cy="2808312"/>
          </a:xfrm>
          <a:prstGeom prst="rect">
            <a:avLst/>
          </a:prstGeom>
          <a:noFill/>
        </p:spPr>
      </p:pic>
      <p:pic>
        <p:nvPicPr>
          <p:cNvPr id="6" name="Picture 9" descr="capsule_crypto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60032" y="3429000"/>
            <a:ext cx="4032250" cy="3063875"/>
          </a:xfrm>
          <a:prstGeom prst="rect">
            <a:avLst/>
          </a:prstGeom>
          <a:noFill/>
          <a:ln w="38100">
            <a:solidFill>
              <a:srgbClr val="FF66FF"/>
            </a:solidFill>
            <a:miter lim="800000"/>
            <a:headEnd/>
            <a:tailEnd/>
          </a:ln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39552" y="3789040"/>
            <a:ext cx="3924300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427984" y="332656"/>
            <a:ext cx="4495800" cy="300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323528" y="332656"/>
            <a:ext cx="8640960" cy="6336704"/>
          </a:xfrm>
        </p:spPr>
        <p:txBody>
          <a:bodyPr/>
          <a:lstStyle/>
          <a:p>
            <a:pPr>
              <a:buNone/>
            </a:pPr>
            <a:r>
              <a:rPr lang="tr-TR" b="1" dirty="0" smtClean="0"/>
              <a:t>				</a:t>
            </a:r>
            <a:r>
              <a:rPr lang="tr-TR" b="1" dirty="0" smtClean="0">
                <a:solidFill>
                  <a:srgbClr val="FF0000"/>
                </a:solidFill>
              </a:rPr>
              <a:t>BİRA YAPIMINDA </a:t>
            </a:r>
          </a:p>
          <a:p>
            <a:pPr>
              <a:buNone/>
            </a:pPr>
            <a:r>
              <a:rPr lang="tr-TR" b="1" dirty="0" smtClean="0"/>
              <a:t>	</a:t>
            </a:r>
            <a:r>
              <a:rPr lang="tr-TR" sz="2800" b="1" dirty="0" smtClean="0">
                <a:solidFill>
                  <a:srgbClr val="0000FF"/>
                </a:solidFill>
              </a:rPr>
              <a:t>MAYALAR ortamda oksijen yoksa</a:t>
            </a:r>
          </a:p>
          <a:p>
            <a:r>
              <a:rPr lang="tr-TR" sz="2800" b="1" dirty="0" smtClean="0"/>
              <a:t>Üzüm, Elma gibi meyvelerdeki Şekerleri fermente ederek </a:t>
            </a:r>
            <a:r>
              <a:rPr lang="tr-TR" sz="2800" b="1" dirty="0" smtClean="0">
                <a:solidFill>
                  <a:srgbClr val="FF0000"/>
                </a:solidFill>
              </a:rPr>
              <a:t>alkol ve CO² oluştururlar</a:t>
            </a:r>
          </a:p>
          <a:p>
            <a:r>
              <a:rPr lang="tr-TR" sz="2800" b="1" dirty="0" smtClean="0"/>
              <a:t>En yaygın kullanılan maya olan  </a:t>
            </a:r>
          </a:p>
          <a:p>
            <a:pPr>
              <a:buNone/>
            </a:pPr>
            <a:r>
              <a:rPr lang="tr-TR" sz="2800" b="1" dirty="0" smtClean="0"/>
              <a:t>    </a:t>
            </a:r>
            <a:r>
              <a:rPr lang="tr-TR" sz="2800" b="1" dirty="0" err="1" smtClean="0"/>
              <a:t>Saccharomyces</a:t>
            </a:r>
            <a:r>
              <a:rPr lang="tr-TR" sz="2800" b="1" dirty="0" smtClean="0"/>
              <a:t>  </a:t>
            </a:r>
            <a:r>
              <a:rPr lang="tr-TR" sz="2800" b="1" dirty="0" err="1" smtClean="0"/>
              <a:t>cerevisiae</a:t>
            </a:r>
            <a:r>
              <a:rPr lang="tr-TR" sz="2800" b="1" dirty="0" smtClean="0"/>
              <a:t>  , binlerce yıl önce şarap, bira ve ekmek yapımı için evcilleştirilmiştir</a:t>
            </a:r>
          </a:p>
          <a:p>
            <a:endParaRPr lang="tr-TR" sz="2800" b="1" dirty="0"/>
          </a:p>
        </p:txBody>
      </p:sp>
      <p:pic>
        <p:nvPicPr>
          <p:cNvPr id="4" name="Picture 2" descr="C:\Users\Pc\Desktop\sarap-yapimi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51920" y="4005064"/>
            <a:ext cx="4953003" cy="2592288"/>
          </a:xfrm>
          <a:prstGeom prst="rect">
            <a:avLst/>
          </a:prstGeom>
          <a:noFill/>
        </p:spPr>
      </p:pic>
      <p:pic>
        <p:nvPicPr>
          <p:cNvPr id="5" name="3 İçerik Yer Tutucusu" descr="C:\Users\oem\Desktop\yeast-dk1.jpg"/>
          <p:cNvPicPr>
            <a:picLocks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5536" y="4293096"/>
            <a:ext cx="2520280" cy="22957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251520" y="260648"/>
            <a:ext cx="8640960" cy="6408712"/>
          </a:xfrm>
        </p:spPr>
        <p:txBody>
          <a:bodyPr/>
          <a:lstStyle/>
          <a:p>
            <a:r>
              <a:rPr lang="tr-TR" sz="2800" b="1" dirty="0" smtClean="0"/>
              <a:t>Ekmeğin Mayalanmasında Tahılın yapısında olan  karbonhidratlar parçalanır </a:t>
            </a:r>
          </a:p>
          <a:p>
            <a:r>
              <a:rPr lang="tr-TR" sz="2800" b="1" dirty="0" smtClean="0"/>
              <a:t>CO² gazı açığa çıkar</a:t>
            </a:r>
          </a:p>
          <a:p>
            <a:pPr>
              <a:lnSpc>
                <a:spcPct val="90000"/>
              </a:lnSpc>
            </a:pPr>
            <a:r>
              <a:rPr lang="tr-TR" sz="2800" b="1" dirty="0" smtClean="0"/>
              <a:t>Çıkan gaz ekmeğin kabarıp sünger gibi olmasını sağlar</a:t>
            </a:r>
          </a:p>
          <a:p>
            <a:pPr>
              <a:lnSpc>
                <a:spcPct val="90000"/>
              </a:lnSpc>
            </a:pPr>
            <a:r>
              <a:rPr lang="tr-TR" sz="2800" b="1" i="1" dirty="0" smtClean="0"/>
              <a:t>Ekmek yapımında oluşan etanol buharlaşır, açığa çıkan karbon dioksit ekmeği kabartır</a:t>
            </a:r>
          </a:p>
          <a:p>
            <a:endParaRPr lang="tr-TR" b="1" i="1" dirty="0" smtClean="0">
              <a:solidFill>
                <a:srgbClr val="FF0000"/>
              </a:solidFill>
            </a:endParaRPr>
          </a:p>
          <a:p>
            <a:endParaRPr lang="tr-TR" b="1" dirty="0" smtClean="0"/>
          </a:p>
          <a:p>
            <a:endParaRPr lang="tr-TR" b="1" dirty="0" smtClean="0"/>
          </a:p>
          <a:p>
            <a:endParaRPr lang="tr-TR" dirty="0" smtClean="0"/>
          </a:p>
          <a:p>
            <a:endParaRPr lang="tr-TR" dirty="0"/>
          </a:p>
        </p:txBody>
      </p:sp>
      <p:pic>
        <p:nvPicPr>
          <p:cNvPr id="5" name="Picture 3" descr="C:\Users\Pc\Desktop\untitled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84168" y="4149080"/>
            <a:ext cx="2701509" cy="1872208"/>
          </a:xfrm>
          <a:prstGeom prst="rect">
            <a:avLst/>
          </a:prstGeom>
          <a:noFill/>
        </p:spPr>
      </p:pic>
      <p:pic>
        <p:nvPicPr>
          <p:cNvPr id="6" name="Picture 2" descr="C:\Users\Pc\Desktop\imagesLM2NP2RI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7544" y="3356992"/>
            <a:ext cx="5671750" cy="329788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smtClean="0">
                <a:solidFill>
                  <a:srgbClr val="FF0000"/>
                </a:solidFill>
              </a:rPr>
              <a:t>ALKOL NASIL ELDE EDİLİR?</a:t>
            </a:r>
            <a:endParaRPr lang="tr-TR" b="1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 smtClean="0">
                <a:solidFill>
                  <a:srgbClr val="FF0000"/>
                </a:solidFill>
              </a:rPr>
              <a:t>ALKOL, </a:t>
            </a:r>
            <a:r>
              <a:rPr lang="tr-TR" b="1" dirty="0" smtClean="0"/>
              <a:t>şekerli hammaddelerden (üzüm, elma, armut, erik gibi değişik meyveler, şeker pancarı, şeker kamışı ve mısır, arpa, pirinç gibi tahıllardan) fermantasyon yolu ile elde edilir…..Etil alkol</a:t>
            </a:r>
          </a:p>
          <a:p>
            <a:endParaRPr lang="tr-TR" b="1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esktop\200px-Candida_albicans_PHIL_3192_lores.jpg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5856" y="476672"/>
            <a:ext cx="5583237" cy="3713162"/>
          </a:xfrm>
          <a:prstGeom prst="rect">
            <a:avLst/>
          </a:prstGeom>
          <a:noFill/>
        </p:spPr>
      </p:pic>
      <p:pic>
        <p:nvPicPr>
          <p:cNvPr id="1027" name="Picture 3" descr="C:\Users\user\Desktop\Candida albicans SAB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1520" y="2420888"/>
            <a:ext cx="4152001" cy="418187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>
            <a:extLst>
              <a:ext uri="{FF2B5EF4-FFF2-40B4-BE49-F238E27FC236}">
                <a16:creationId xmlns="" xmlns:a16="http://schemas.microsoft.com/office/drawing/2014/main" id="{308A19CB-FB98-4B43-A736-CB8AE38E66A6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395536" y="371062"/>
            <a:ext cx="8496944" cy="6308034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3200" b="1" i="1" dirty="0">
                <a:latin typeface="Comic Sans MS" panose="030F0702030302020204" pitchFamily="66" charset="0"/>
              </a:rPr>
              <a:t>  </a:t>
            </a:r>
            <a:r>
              <a:rPr lang="tr-TR" sz="3200" b="1" i="1" dirty="0" smtClean="0">
                <a:latin typeface="Comic Sans MS" panose="030F0702030302020204" pitchFamily="66" charset="0"/>
              </a:rPr>
              <a:t>	</a:t>
            </a:r>
            <a:r>
              <a:rPr lang="tr-TR" sz="3200" b="1" dirty="0" smtClean="0">
                <a:solidFill>
                  <a:srgbClr val="FF0000"/>
                </a:solidFill>
              </a:rPr>
              <a:t>MAYALARIN </a:t>
            </a:r>
            <a:r>
              <a:rPr lang="tr-TR" sz="3200" b="1" dirty="0">
                <a:solidFill>
                  <a:srgbClr val="FF0000"/>
                </a:solidFill>
              </a:rPr>
              <a:t>TİCARİ KULLANIMLARI </a:t>
            </a:r>
          </a:p>
          <a:p>
            <a:pPr marL="0" indent="0">
              <a:buNone/>
            </a:pPr>
            <a:r>
              <a:rPr lang="tr-TR" sz="2800" b="1" i="1" cap="none" dirty="0"/>
              <a:t>Maya türlerinin çok azı ticari olarak kullanılmaktadır. “ekmekçi mayası” olarak ta bilinen </a:t>
            </a:r>
            <a:r>
              <a:rPr lang="tr-TR" sz="2800" b="1" i="1" cap="none" dirty="0" err="1"/>
              <a:t>saccharomyces</a:t>
            </a:r>
            <a:r>
              <a:rPr lang="tr-TR" sz="2800" b="1" i="1" cap="none" dirty="0"/>
              <a:t> </a:t>
            </a:r>
            <a:r>
              <a:rPr lang="tr-TR" sz="2800" b="1" i="1" cap="none" dirty="0" err="1"/>
              <a:t>cerevisiae</a:t>
            </a:r>
            <a:r>
              <a:rPr lang="tr-TR" sz="2800" b="1" i="1" cap="none" dirty="0"/>
              <a:t> en yaygın ticarileştirilmiş türlerden </a:t>
            </a:r>
            <a:r>
              <a:rPr lang="tr-TR" sz="2800" b="1" i="1" cap="none" dirty="0" smtClean="0"/>
              <a:t>biridir</a:t>
            </a:r>
            <a:endParaRPr lang="tr-TR" sz="2800" b="1" i="1" dirty="0" smtClean="0"/>
          </a:p>
          <a:p>
            <a:pPr marL="0" indent="0">
              <a:buNone/>
            </a:pPr>
            <a:endParaRPr lang="tr-TR" sz="2800" b="1" i="1" cap="none" dirty="0"/>
          </a:p>
          <a:p>
            <a:pPr marL="0" indent="0">
              <a:buNone/>
            </a:pPr>
            <a:r>
              <a:rPr lang="tr-TR" sz="2800" b="1" i="1" dirty="0" err="1"/>
              <a:t>C</a:t>
            </a:r>
            <a:r>
              <a:rPr lang="tr-TR" sz="2800" b="1" i="1" cap="none" dirty="0" err="1" smtClean="0"/>
              <a:t>andida</a:t>
            </a:r>
            <a:r>
              <a:rPr lang="tr-TR" sz="2800" b="1" i="1" cap="none" dirty="0" smtClean="0"/>
              <a:t> </a:t>
            </a:r>
            <a:r>
              <a:rPr lang="tr-TR" sz="2800" b="1" i="1" cap="none" dirty="0" err="1"/>
              <a:t>utilis</a:t>
            </a:r>
            <a:r>
              <a:rPr lang="tr-TR" sz="2800" b="1" i="1" cap="none" dirty="0"/>
              <a:t> (eskiden </a:t>
            </a:r>
            <a:r>
              <a:rPr lang="tr-TR" sz="2800" b="1" i="1" cap="none" dirty="0" err="1"/>
              <a:t>torulopsis</a:t>
            </a:r>
            <a:r>
              <a:rPr lang="tr-TR" sz="2800" b="1" i="1" cap="none" dirty="0"/>
              <a:t> </a:t>
            </a:r>
            <a:r>
              <a:rPr lang="tr-TR" sz="2800" b="1" i="1" cap="none" dirty="0" err="1"/>
              <a:t>utilis</a:t>
            </a:r>
            <a:r>
              <a:rPr lang="tr-TR" sz="2800" b="1" i="1" cap="none" dirty="0"/>
              <a:t> olarak tanımlanan) “</a:t>
            </a:r>
            <a:r>
              <a:rPr lang="tr-TR" sz="2800" b="1" i="1" cap="none" dirty="0" err="1"/>
              <a:t>torula</a:t>
            </a:r>
            <a:r>
              <a:rPr lang="tr-TR" sz="2800" b="1" i="1" cap="none" dirty="0"/>
              <a:t> mayası” olarak bilinir. Bu maya kağıt üretiminde kullanılan işlenmiş ağaç posasındaki </a:t>
            </a:r>
            <a:r>
              <a:rPr lang="tr-TR" sz="2800" b="1" i="1" cap="none" dirty="0" err="1"/>
              <a:t>pentoz</a:t>
            </a:r>
            <a:r>
              <a:rPr lang="tr-TR" sz="2800" b="1" i="1" cap="none" dirty="0"/>
              <a:t> şekerini kullanabildiği için </a:t>
            </a:r>
            <a:r>
              <a:rPr lang="tr-TR" sz="2800" b="1" i="1" cap="none" dirty="0" smtClean="0"/>
              <a:t>önemlidir </a:t>
            </a:r>
          </a:p>
          <a:p>
            <a:pPr marL="0" indent="0">
              <a:buNone/>
            </a:pPr>
            <a:endParaRPr lang="tr-TR" sz="2800" b="1" i="1" dirty="0" smtClean="0"/>
          </a:p>
          <a:p>
            <a:pPr marL="0" indent="0">
              <a:buNone/>
            </a:pPr>
            <a:r>
              <a:rPr lang="tr-TR" sz="2800" b="1" i="1" dirty="0" smtClean="0"/>
              <a:t>D</a:t>
            </a:r>
            <a:r>
              <a:rPr lang="tr-TR" sz="2800" b="1" i="1" cap="none" dirty="0" smtClean="0"/>
              <a:t>iğer </a:t>
            </a:r>
            <a:r>
              <a:rPr lang="tr-TR" sz="2800" b="1" i="1" cap="none" dirty="0"/>
              <a:t>bir faydalı maya ise </a:t>
            </a:r>
            <a:r>
              <a:rPr lang="tr-TR" sz="2800" b="1" i="1" cap="none" dirty="0" err="1"/>
              <a:t>kluyveromyces</a:t>
            </a:r>
            <a:r>
              <a:rPr lang="tr-TR" sz="2800" b="1" i="1" cap="none" dirty="0"/>
              <a:t> </a:t>
            </a:r>
            <a:r>
              <a:rPr lang="tr-TR" sz="2800" b="1" i="1" cap="none" dirty="0" err="1"/>
              <a:t>marxianus</a:t>
            </a:r>
            <a:r>
              <a:rPr lang="tr-TR" sz="2800" b="1" i="1" cap="none" dirty="0"/>
              <a:t> tur. bu süt şekeri yada laktozu </a:t>
            </a:r>
            <a:r>
              <a:rPr lang="tr-TR" sz="2800" b="1" i="1" cap="none" dirty="0" err="1"/>
              <a:t>substrat</a:t>
            </a:r>
            <a:r>
              <a:rPr lang="tr-TR" sz="2800" b="1" i="1" cap="none" dirty="0"/>
              <a:t> olarak kullanabilen “peynir altı suyu mayası” </a:t>
            </a:r>
            <a:r>
              <a:rPr lang="tr-TR" sz="2800" b="1" i="1" cap="none" dirty="0" smtClean="0"/>
              <a:t>dır</a:t>
            </a:r>
            <a:endParaRPr lang="tr-TR" sz="2800" b="1" i="1" cap="none" dirty="0"/>
          </a:p>
          <a:p>
            <a:pPr marL="0" indent="0">
              <a:buNone/>
            </a:pPr>
            <a:endParaRPr lang="tr-TR" dirty="0"/>
          </a:p>
        </p:txBody>
      </p:sp>
    </p:spTree>
    <p:extLst>
      <p:ext uri="{BB962C8B-B14F-4D97-AF65-F5344CB8AC3E}">
        <p14:creationId xmlns="" xmlns:p14="http://schemas.microsoft.com/office/powerpoint/2010/main" val="92661875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b="1" dirty="0" smtClean="0">
                <a:solidFill>
                  <a:srgbClr val="FF0000"/>
                </a:solidFill>
              </a:rPr>
              <a:t/>
            </a:r>
            <a:br>
              <a:rPr lang="tr-TR" b="1" dirty="0" smtClean="0">
                <a:solidFill>
                  <a:srgbClr val="FF0000"/>
                </a:solidFill>
              </a:rPr>
            </a:br>
            <a:r>
              <a:rPr lang="tr-TR" b="1" dirty="0" smtClean="0">
                <a:solidFill>
                  <a:srgbClr val="FF0000"/>
                </a:solidFill>
              </a:rPr>
              <a:t/>
            </a:r>
            <a:br>
              <a:rPr lang="tr-TR" b="1" dirty="0" smtClean="0">
                <a:solidFill>
                  <a:srgbClr val="FF0000"/>
                </a:solidFill>
              </a:rPr>
            </a:br>
            <a:r>
              <a:rPr lang="tr-TR" b="1" dirty="0" smtClean="0">
                <a:solidFill>
                  <a:srgbClr val="FF0000"/>
                </a:solidFill>
              </a:rPr>
              <a:t>NEDİR İSTENMEYEN SONUÇLAR</a:t>
            </a:r>
            <a:br>
              <a:rPr lang="tr-TR" b="1" dirty="0" smtClean="0">
                <a:solidFill>
                  <a:srgbClr val="FF0000"/>
                </a:solidFill>
              </a:rPr>
            </a:br>
            <a:r>
              <a:rPr lang="tr-TR" b="1" dirty="0" smtClean="0"/>
              <a:t/>
            </a:r>
            <a:br>
              <a:rPr lang="tr-TR" b="1" dirty="0" smtClean="0"/>
            </a:br>
            <a:endParaRPr lang="tr-TR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328592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80000"/>
              </a:lnSpc>
              <a:buNone/>
            </a:pPr>
            <a:endParaRPr lang="tr-TR" b="1" i="1" dirty="0" smtClean="0"/>
          </a:p>
          <a:p>
            <a:pPr>
              <a:lnSpc>
                <a:spcPct val="80000"/>
              </a:lnSpc>
            </a:pPr>
            <a:r>
              <a:rPr lang="tr-TR" sz="4000" b="1" dirty="0" smtClean="0"/>
              <a:t>Bazı maya türleri ise fermantasyon ve gıda sanayinde istenmeyen sonuçlara </a:t>
            </a:r>
            <a:r>
              <a:rPr lang="tr-TR" sz="4000" b="1" dirty="0" err="1" smtClean="0"/>
              <a:t>sebeb</a:t>
            </a:r>
            <a:r>
              <a:rPr lang="tr-TR" sz="4000" b="1" dirty="0" smtClean="0"/>
              <a:t> olur</a:t>
            </a:r>
          </a:p>
          <a:p>
            <a:pPr>
              <a:buNone/>
            </a:pPr>
            <a:endParaRPr lang="tr-TR" sz="4000" b="1" dirty="0" smtClean="0"/>
          </a:p>
          <a:p>
            <a:r>
              <a:rPr lang="tr-TR" sz="4000" b="1" dirty="0" smtClean="0"/>
              <a:t>Gıdalardaki kontrolsüz ve istenmeyen </a:t>
            </a:r>
            <a:r>
              <a:rPr lang="tr-TR" sz="4000" b="1" dirty="0" err="1" smtClean="0"/>
              <a:t>mikrobiyal</a:t>
            </a:r>
            <a:r>
              <a:rPr lang="tr-TR" sz="4000" b="1" dirty="0" smtClean="0"/>
              <a:t> gelişme </a:t>
            </a:r>
          </a:p>
          <a:p>
            <a:pPr>
              <a:buNone/>
            </a:pPr>
            <a:endParaRPr lang="tr-TR" sz="4000" b="1" dirty="0" smtClean="0"/>
          </a:p>
          <a:p>
            <a:r>
              <a:rPr lang="tr-TR" sz="4000" b="1" dirty="0" smtClean="0"/>
              <a:t>Gıdalara büyük miktarda zarar verip, sınırsız besin kayıplarının yanında </a:t>
            </a:r>
          </a:p>
          <a:p>
            <a:pPr>
              <a:buNone/>
            </a:pPr>
            <a:endParaRPr lang="tr-TR" sz="4000" b="1" dirty="0" smtClean="0"/>
          </a:p>
          <a:p>
            <a:r>
              <a:rPr lang="tr-TR" sz="4000" b="1" dirty="0" smtClean="0"/>
              <a:t>Ekonomik kayıplara da yol açar</a:t>
            </a:r>
          </a:p>
          <a:p>
            <a:pPr>
              <a:buNone/>
            </a:pPr>
            <a:endParaRPr lang="tr-TR" sz="4000" b="1" dirty="0" smtClean="0"/>
          </a:p>
          <a:p>
            <a:r>
              <a:rPr lang="tr-TR" sz="4000" b="1" dirty="0" err="1" smtClean="0"/>
              <a:t>Kontaminasyonlu</a:t>
            </a:r>
            <a:r>
              <a:rPr lang="tr-TR" sz="4000" b="1" dirty="0" smtClean="0"/>
              <a:t> gıdalar gıda enfeksiyonu ve gıda zehirlenmelerine yol açar </a:t>
            </a:r>
            <a:endParaRPr lang="tr-TR" sz="4000" b="1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323528" y="404664"/>
            <a:ext cx="8496944" cy="6048672"/>
          </a:xfrm>
        </p:spPr>
        <p:txBody>
          <a:bodyPr/>
          <a:lstStyle/>
          <a:p>
            <a:pPr>
              <a:buNone/>
            </a:pPr>
            <a:r>
              <a:rPr lang="tr-TR" b="1" dirty="0" smtClean="0"/>
              <a:t>		</a:t>
            </a:r>
            <a:r>
              <a:rPr lang="tr-TR" b="1" dirty="0" err="1" smtClean="0">
                <a:solidFill>
                  <a:srgbClr val="FF0000"/>
                </a:solidFill>
              </a:rPr>
              <a:t>Cycloheximide’de</a:t>
            </a:r>
            <a:r>
              <a:rPr lang="tr-TR" b="1" dirty="0" smtClean="0">
                <a:solidFill>
                  <a:srgbClr val="FF0000"/>
                </a:solidFill>
              </a:rPr>
              <a:t> bazı türler ürer (</a:t>
            </a:r>
            <a:r>
              <a:rPr lang="tr-TR" b="1" i="1" dirty="0" err="1" smtClean="0">
                <a:solidFill>
                  <a:srgbClr val="FF0000"/>
                </a:solidFill>
              </a:rPr>
              <a:t>Candida</a:t>
            </a:r>
            <a:r>
              <a:rPr lang="tr-TR" b="1" i="1" dirty="0" smtClean="0">
                <a:solidFill>
                  <a:srgbClr val="FF0000"/>
                </a:solidFill>
              </a:rPr>
              <a:t>),bazıları </a:t>
            </a:r>
            <a:r>
              <a:rPr lang="tr-TR" b="1" i="1" dirty="0" err="1" smtClean="0">
                <a:solidFill>
                  <a:srgbClr val="FF0000"/>
                </a:solidFill>
              </a:rPr>
              <a:t>inhibe</a:t>
            </a:r>
            <a:r>
              <a:rPr lang="tr-TR" b="1" i="1" dirty="0" smtClean="0">
                <a:solidFill>
                  <a:srgbClr val="FF0000"/>
                </a:solidFill>
              </a:rPr>
              <a:t> olur (</a:t>
            </a:r>
            <a:r>
              <a:rPr lang="tr-TR" b="1" i="1" dirty="0" err="1" smtClean="0">
                <a:solidFill>
                  <a:srgbClr val="FF0000"/>
                </a:solidFill>
              </a:rPr>
              <a:t>Cryptococcus</a:t>
            </a:r>
            <a:r>
              <a:rPr lang="tr-TR" b="1" i="1" dirty="0" smtClean="0">
                <a:solidFill>
                  <a:srgbClr val="FF0000"/>
                </a:solidFill>
              </a:rPr>
              <a:t>)</a:t>
            </a:r>
          </a:p>
          <a:p>
            <a:endParaRPr lang="tr-TR" dirty="0" smtClean="0"/>
          </a:p>
          <a:p>
            <a:endParaRPr lang="tr-TR" b="1" dirty="0" smtClean="0">
              <a:solidFill>
                <a:srgbClr val="0000FF"/>
              </a:solidFill>
            </a:endParaRPr>
          </a:p>
          <a:p>
            <a:r>
              <a:rPr lang="tr-TR" b="1" dirty="0" smtClean="0">
                <a:solidFill>
                  <a:srgbClr val="0000FF"/>
                </a:solidFill>
              </a:rPr>
              <a:t>Mantar ilacıdır </a:t>
            </a:r>
          </a:p>
          <a:p>
            <a:r>
              <a:rPr lang="tr-TR" b="1" dirty="0" err="1" smtClean="0">
                <a:solidFill>
                  <a:srgbClr val="0000FF"/>
                </a:solidFill>
              </a:rPr>
              <a:t>Sikloheksimid</a:t>
            </a:r>
            <a:r>
              <a:rPr lang="tr-TR" b="1" dirty="0" smtClean="0">
                <a:solidFill>
                  <a:srgbClr val="0000FF"/>
                </a:solidFill>
              </a:rPr>
              <a:t> etkilerini protein sentezindeki </a:t>
            </a:r>
            <a:r>
              <a:rPr lang="tr-TR" b="1" dirty="0" err="1" smtClean="0">
                <a:solidFill>
                  <a:srgbClr val="0000FF"/>
                </a:solidFill>
              </a:rPr>
              <a:t>translokasyon</a:t>
            </a:r>
            <a:r>
              <a:rPr lang="tr-TR" b="1" dirty="0" smtClean="0">
                <a:solidFill>
                  <a:srgbClr val="0000FF"/>
                </a:solidFill>
              </a:rPr>
              <a:t> basamağına müdahale ederek gösterir</a:t>
            </a:r>
            <a:endParaRPr lang="tr-TR" b="1" dirty="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smtClean="0">
                <a:solidFill>
                  <a:srgbClr val="FF0000"/>
                </a:solidFill>
              </a:rPr>
              <a:t>DİMORFİK MANTARLAR</a:t>
            </a:r>
            <a:endParaRPr lang="tr-TR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 dirty="0" smtClean="0"/>
          </a:p>
          <a:p>
            <a:r>
              <a:rPr lang="tr-TR" sz="2800" b="1" dirty="0" smtClean="0"/>
              <a:t>Doğal ortamda ve oda ısısındaki besi yerlerinde küf, </a:t>
            </a:r>
            <a:r>
              <a:rPr lang="tr-TR" sz="2800" b="1" dirty="0" err="1" smtClean="0"/>
              <a:t>invivo</a:t>
            </a:r>
            <a:r>
              <a:rPr lang="tr-TR" sz="2800" b="1" dirty="0" smtClean="0"/>
              <a:t> ve 35-37 C de maya şeklinde üreyen mantarlara </a:t>
            </a:r>
            <a:r>
              <a:rPr lang="tr-TR" sz="2800" b="1" dirty="0" err="1" smtClean="0"/>
              <a:t>dimorfik</a:t>
            </a:r>
            <a:r>
              <a:rPr lang="tr-TR" sz="2800" b="1" dirty="0" smtClean="0"/>
              <a:t> veya </a:t>
            </a:r>
            <a:r>
              <a:rPr lang="tr-TR" sz="2800" b="1" dirty="0" err="1" smtClean="0"/>
              <a:t>difazik</a:t>
            </a:r>
            <a:r>
              <a:rPr lang="tr-TR" sz="2800" b="1" dirty="0" smtClean="0"/>
              <a:t> mantarlar denir</a:t>
            </a:r>
          </a:p>
          <a:p>
            <a:pPr>
              <a:buNone/>
            </a:pPr>
            <a:endParaRPr lang="tr-TR" sz="2800" b="1" dirty="0" smtClean="0"/>
          </a:p>
          <a:p>
            <a:r>
              <a:rPr lang="tr-TR" sz="2800" b="1" dirty="0" err="1" smtClean="0"/>
              <a:t>Dimorfizmin</a:t>
            </a:r>
            <a:r>
              <a:rPr lang="tr-TR" sz="2800" b="1" dirty="0" smtClean="0"/>
              <a:t> gelişmesinde besin, </a:t>
            </a:r>
            <a:r>
              <a:rPr lang="tr-TR" sz="2800" b="1" dirty="0" err="1" smtClean="0"/>
              <a:t>oksidasyon</a:t>
            </a:r>
            <a:r>
              <a:rPr lang="tr-TR" sz="2800" b="1" dirty="0" smtClean="0"/>
              <a:t>-redüksiyon potansiyeli, CO² basıncı, çevre ısısı gibi faktörler rol oynar</a:t>
            </a:r>
          </a:p>
          <a:p>
            <a:pPr>
              <a:buNone/>
            </a:pPr>
            <a:endParaRPr lang="tr-TR" sz="2800" b="1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smtClean="0">
                <a:solidFill>
                  <a:srgbClr val="FF0000"/>
                </a:solidFill>
                <a:latin typeface="+mn-lt"/>
              </a:rPr>
              <a:t>CANDİDA ALBİCANS</a:t>
            </a:r>
            <a:endParaRPr lang="tr-TR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97152"/>
          </a:xfrm>
        </p:spPr>
        <p:txBody>
          <a:bodyPr>
            <a:noAutofit/>
          </a:bodyPr>
          <a:lstStyle/>
          <a:p>
            <a:pPr>
              <a:lnSpc>
                <a:spcPct val="80000"/>
              </a:lnSpc>
              <a:buNone/>
              <a:defRPr/>
            </a:pPr>
            <a:r>
              <a:rPr lang="tr-TR" sz="2800" b="1" i="1" dirty="0" err="1" smtClean="0">
                <a:solidFill>
                  <a:srgbClr val="0000FF"/>
                </a:solidFill>
              </a:rPr>
              <a:t>Candida</a:t>
            </a:r>
            <a:r>
              <a:rPr lang="tr-TR" sz="2800" b="1" i="1" dirty="0" smtClean="0">
                <a:solidFill>
                  <a:srgbClr val="0000FF"/>
                </a:solidFill>
              </a:rPr>
              <a:t> </a:t>
            </a:r>
            <a:r>
              <a:rPr lang="tr-TR" sz="2800" b="1" i="1" dirty="0" err="1" smtClean="0">
                <a:solidFill>
                  <a:srgbClr val="0000FF"/>
                </a:solidFill>
              </a:rPr>
              <a:t>albicans</a:t>
            </a:r>
            <a:r>
              <a:rPr lang="tr-TR" sz="2800" b="1" i="1" dirty="0" smtClean="0">
                <a:solidFill>
                  <a:srgbClr val="0000FF"/>
                </a:solidFill>
              </a:rPr>
              <a:t>: </a:t>
            </a:r>
            <a:r>
              <a:rPr lang="tr-TR" sz="2800" b="1" i="1" dirty="0" smtClean="0"/>
              <a:t>Maya ve </a:t>
            </a:r>
            <a:r>
              <a:rPr lang="tr-TR" sz="2800" b="1" i="1" dirty="0" err="1" smtClean="0"/>
              <a:t>hif</a:t>
            </a:r>
            <a:r>
              <a:rPr lang="tr-TR" sz="2800" b="1" i="1" dirty="0" smtClean="0"/>
              <a:t> yapısında dönemler ile </a:t>
            </a:r>
            <a:r>
              <a:rPr lang="tr-TR" sz="2800" b="1" i="1" dirty="0" err="1" smtClean="0"/>
              <a:t>dimorfik</a:t>
            </a:r>
            <a:r>
              <a:rPr lang="tr-TR" sz="2800" b="1" i="1" dirty="0" smtClean="0"/>
              <a:t> bir yaşam </a:t>
            </a:r>
            <a:r>
              <a:rPr lang="tr-TR" sz="2800" b="1" i="1" dirty="0" err="1" smtClean="0"/>
              <a:t>siklusuna</a:t>
            </a:r>
            <a:r>
              <a:rPr lang="tr-TR" sz="2800" b="1" i="1" dirty="0" smtClean="0"/>
              <a:t> sahiptir </a:t>
            </a:r>
          </a:p>
          <a:p>
            <a:pPr>
              <a:lnSpc>
                <a:spcPct val="80000"/>
              </a:lnSpc>
              <a:defRPr/>
            </a:pPr>
            <a:r>
              <a:rPr lang="tr-TR" sz="2800" b="1" i="1" dirty="0" err="1" smtClean="0"/>
              <a:t>Candida</a:t>
            </a:r>
            <a:r>
              <a:rPr lang="tr-TR" sz="2800" b="1" i="1" dirty="0" smtClean="0"/>
              <a:t> </a:t>
            </a:r>
            <a:r>
              <a:rPr lang="tr-TR" sz="2800" b="1" i="1" dirty="0" err="1" smtClean="0"/>
              <a:t>albicans</a:t>
            </a:r>
            <a:r>
              <a:rPr lang="tr-TR" sz="2800" b="1" i="1" dirty="0" smtClean="0"/>
              <a:t>, bazı çevre koşulları altında tek tip maya hücresi şeklinde ürer iken bazı koşullarda </a:t>
            </a:r>
            <a:r>
              <a:rPr lang="tr-TR" sz="2800" b="1" i="1" dirty="0" err="1" smtClean="0"/>
              <a:t>filamentöz</a:t>
            </a:r>
            <a:r>
              <a:rPr lang="tr-TR" sz="2800" b="1" i="1" dirty="0" smtClean="0"/>
              <a:t> </a:t>
            </a:r>
            <a:r>
              <a:rPr lang="tr-TR" sz="2800" b="1" i="1" dirty="0" err="1" smtClean="0"/>
              <a:t>fungus</a:t>
            </a:r>
            <a:r>
              <a:rPr lang="tr-TR" sz="2800" b="1" i="1" dirty="0" smtClean="0"/>
              <a:t> gibi ürer </a:t>
            </a:r>
          </a:p>
          <a:p>
            <a:pPr>
              <a:lnSpc>
                <a:spcPct val="80000"/>
              </a:lnSpc>
              <a:defRPr/>
            </a:pPr>
            <a:r>
              <a:rPr lang="tr-TR" sz="2800" b="1" i="1" dirty="0" smtClean="0">
                <a:solidFill>
                  <a:srgbClr val="FF0000"/>
                </a:solidFill>
              </a:rPr>
              <a:t>Bu nedenle </a:t>
            </a:r>
            <a:r>
              <a:rPr lang="tr-TR" sz="2800" b="1" i="1" dirty="0" err="1" smtClean="0">
                <a:solidFill>
                  <a:srgbClr val="FF0000"/>
                </a:solidFill>
              </a:rPr>
              <a:t>dimorfik</a:t>
            </a:r>
            <a:r>
              <a:rPr lang="tr-TR" sz="2800" b="1" i="1" dirty="0" smtClean="0">
                <a:solidFill>
                  <a:srgbClr val="FF0000"/>
                </a:solidFill>
              </a:rPr>
              <a:t> mantar adını alır</a:t>
            </a:r>
          </a:p>
          <a:p>
            <a:pPr>
              <a:lnSpc>
                <a:spcPct val="80000"/>
              </a:lnSpc>
              <a:defRPr/>
            </a:pPr>
            <a:r>
              <a:rPr lang="tr-TR" sz="2800" b="1" i="1" dirty="0" err="1" smtClean="0"/>
              <a:t>Candida</a:t>
            </a:r>
            <a:r>
              <a:rPr lang="tr-TR" sz="2800" b="1" i="1" dirty="0" smtClean="0"/>
              <a:t> </a:t>
            </a:r>
            <a:r>
              <a:rPr lang="tr-TR" sz="2800" b="1" i="1" dirty="0" err="1" smtClean="0"/>
              <a:t>albicans</a:t>
            </a:r>
            <a:r>
              <a:rPr lang="tr-TR" sz="2800" b="1" i="1" dirty="0" smtClean="0"/>
              <a:t> insanlarda </a:t>
            </a:r>
            <a:r>
              <a:rPr lang="tr-TR" sz="2800" b="1" i="1" dirty="0" err="1" smtClean="0"/>
              <a:t>mukoz</a:t>
            </a:r>
            <a:r>
              <a:rPr lang="tr-TR" sz="2800" b="1" i="1" dirty="0" smtClean="0"/>
              <a:t> </a:t>
            </a:r>
            <a:r>
              <a:rPr lang="tr-TR" sz="2800" b="1" i="1" dirty="0" err="1" smtClean="0"/>
              <a:t>membranlarda</a:t>
            </a:r>
            <a:r>
              <a:rPr lang="tr-TR" sz="2800" b="1" i="1" dirty="0" smtClean="0"/>
              <a:t> insan derisi, üst solunum yolları, sindirim ve kadın </a:t>
            </a:r>
            <a:r>
              <a:rPr lang="tr-TR" sz="2800" b="1" i="1" dirty="0" err="1" smtClean="0"/>
              <a:t>genital</a:t>
            </a:r>
            <a:r>
              <a:rPr lang="tr-TR" sz="2800" b="1" i="1" dirty="0" smtClean="0"/>
              <a:t> sistemlerinde normal vajina florasında bulunur</a:t>
            </a:r>
          </a:p>
          <a:p>
            <a:pPr>
              <a:lnSpc>
                <a:spcPct val="80000"/>
              </a:lnSpc>
              <a:defRPr/>
            </a:pPr>
            <a:r>
              <a:rPr lang="tr-TR" sz="2800" b="1" i="1" dirty="0" smtClean="0"/>
              <a:t>Pamukçuk (ağız ve vajina enfeksiyonu) ve </a:t>
            </a:r>
            <a:r>
              <a:rPr lang="tr-TR" sz="2800" b="1" i="1" dirty="0" err="1" smtClean="0"/>
              <a:t>vulvovajiniti</a:t>
            </a:r>
            <a:r>
              <a:rPr lang="tr-TR" sz="2800" b="1" i="1" dirty="0" smtClean="0"/>
              <a:t> içeren </a:t>
            </a:r>
            <a:r>
              <a:rPr lang="tr-TR" sz="2800" b="1" i="1" dirty="0" err="1" smtClean="0"/>
              <a:t>kandidiyaza</a:t>
            </a:r>
            <a:r>
              <a:rPr lang="tr-TR" sz="2800" b="1" i="1" dirty="0" smtClean="0"/>
              <a:t> sebep olur. </a:t>
            </a:r>
          </a:p>
          <a:p>
            <a:pPr>
              <a:lnSpc>
                <a:spcPct val="80000"/>
              </a:lnSpc>
              <a:defRPr/>
            </a:pPr>
            <a:endParaRPr lang="tr-TR" sz="2800" i="1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95536" y="5157788"/>
            <a:ext cx="8352928" cy="1439564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80000"/>
              </a:lnSpc>
              <a:defRPr/>
            </a:pPr>
            <a:r>
              <a:rPr lang="tr-TR" sz="2000" b="1" i="1" dirty="0" smtClean="0"/>
              <a:t>C. </a:t>
            </a:r>
            <a:r>
              <a:rPr lang="tr-TR" sz="2000" b="1" i="1" dirty="0" err="1" smtClean="0"/>
              <a:t>albicans</a:t>
            </a:r>
            <a:r>
              <a:rPr lang="tr-TR" sz="2000" b="1" i="1" dirty="0" smtClean="0"/>
              <a:t>, </a:t>
            </a:r>
            <a:r>
              <a:rPr lang="tr-TR" sz="2000" b="1" dirty="0" err="1" smtClean="0"/>
              <a:t>yeast</a:t>
            </a:r>
            <a:r>
              <a:rPr lang="tr-TR" sz="2000" b="1" dirty="0" smtClean="0"/>
              <a:t>-</a:t>
            </a:r>
            <a:r>
              <a:rPr lang="tr-TR" sz="2000" b="1" dirty="0" err="1" smtClean="0"/>
              <a:t>peptone</a:t>
            </a:r>
            <a:r>
              <a:rPr lang="tr-TR" sz="2000" b="1" dirty="0" smtClean="0"/>
              <a:t>-</a:t>
            </a:r>
            <a:r>
              <a:rPr lang="tr-TR" sz="2000" b="1" dirty="0" err="1" smtClean="0"/>
              <a:t>dextrose</a:t>
            </a:r>
            <a:r>
              <a:rPr lang="tr-TR" sz="2000" b="1" dirty="0" smtClean="0"/>
              <a:t> (YPD) </a:t>
            </a:r>
            <a:r>
              <a:rPr lang="tr-TR" sz="2000" b="1" dirty="0" err="1" smtClean="0"/>
              <a:t>besiyerinde</a:t>
            </a:r>
            <a:r>
              <a:rPr lang="tr-TR" sz="2000" b="1" i="1" dirty="0" smtClean="0"/>
              <a:t> üç saat </a:t>
            </a:r>
            <a:r>
              <a:rPr lang="tr-TR" sz="2000" b="1" i="1" dirty="0" err="1" smtClean="0"/>
              <a:t>inkübe</a:t>
            </a:r>
            <a:r>
              <a:rPr lang="tr-TR" sz="2000" b="1" i="1" dirty="0" smtClean="0"/>
              <a:t> edildikten sonra “</a:t>
            </a:r>
            <a:r>
              <a:rPr lang="tr-TR" sz="2000" b="1" i="1" dirty="0" err="1" smtClean="0"/>
              <a:t>germ</a:t>
            </a:r>
            <a:r>
              <a:rPr lang="tr-TR" sz="2000" b="1" i="1" dirty="0" smtClean="0"/>
              <a:t> tüp” görünümü dikkati çeker. Hücrenin bir tarafından </a:t>
            </a:r>
            <a:r>
              <a:rPr lang="tr-TR" sz="2000" b="1" i="1" dirty="0" err="1" smtClean="0"/>
              <a:t>septalı</a:t>
            </a:r>
            <a:r>
              <a:rPr lang="tr-TR" sz="2000" b="1" i="1" dirty="0" smtClean="0"/>
              <a:t> bir </a:t>
            </a:r>
            <a:r>
              <a:rPr lang="tr-TR" sz="2000" b="1" i="1" dirty="0" err="1" smtClean="0"/>
              <a:t>hif</a:t>
            </a:r>
            <a:r>
              <a:rPr lang="tr-TR" sz="2000" b="1" i="1" dirty="0" smtClean="0"/>
              <a:t> uzantısı dikkati çeker. Aynı anda hücrenin </a:t>
            </a:r>
            <a:r>
              <a:rPr lang="tr-TR" sz="2000" b="1" i="1" dirty="0" err="1" smtClean="0"/>
              <a:t>distal</a:t>
            </a:r>
            <a:r>
              <a:rPr lang="tr-TR" sz="2000" b="1" i="1" dirty="0" smtClean="0"/>
              <a:t> havuzundan yeni bir </a:t>
            </a:r>
            <a:r>
              <a:rPr lang="tr-TR" sz="2000" b="1" i="1" dirty="0" err="1" smtClean="0"/>
              <a:t>germ</a:t>
            </a:r>
            <a:r>
              <a:rPr lang="tr-TR" sz="2000" b="1" i="1" dirty="0" smtClean="0"/>
              <a:t> tüp oluşmaya başlar. 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tr-TR" sz="2000" b="1" i="1" dirty="0" smtClean="0"/>
              <a:t>Faz kontrast mikroskobunda X 1.000 büyültme ile boyanmayan hücreler  yukarıdaki gibi görülür.</a:t>
            </a:r>
          </a:p>
        </p:txBody>
      </p:sp>
      <p:pic>
        <p:nvPicPr>
          <p:cNvPr id="21508" name="Picture 5" descr="yeast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59632" y="188640"/>
            <a:ext cx="6551612" cy="4729162"/>
          </a:xfrm>
          <a:prstGeom prst="rect">
            <a:avLst/>
          </a:prstGeom>
          <a:noFill/>
          <a:ln w="38100">
            <a:solidFill>
              <a:srgbClr val="FF99FF"/>
            </a:solidFill>
            <a:miter lim="800000"/>
            <a:headEnd/>
            <a:tailEnd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Pc\Desktop\imagesV4Y76OXS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548680"/>
            <a:ext cx="8280920" cy="561662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 idx="4294967295"/>
          </p:nvPr>
        </p:nvSpPr>
        <p:spPr>
          <a:xfrm>
            <a:off x="6444208" y="274638"/>
            <a:ext cx="2448272" cy="1143000"/>
          </a:xfrm>
        </p:spPr>
        <p:txBody>
          <a:bodyPr>
            <a:normAutofit/>
          </a:bodyPr>
          <a:lstStyle/>
          <a:p>
            <a:r>
              <a:rPr lang="tr-TR" sz="2800" b="1" dirty="0" smtClean="0">
                <a:solidFill>
                  <a:srgbClr val="FF0000"/>
                </a:solidFill>
              </a:rPr>
              <a:t>KÜF  MANTARLARI</a:t>
            </a:r>
            <a:endParaRPr lang="tr-TR" sz="2800" b="1" dirty="0">
              <a:solidFill>
                <a:srgbClr val="FF0000"/>
              </a:solidFill>
            </a:endParaRPr>
          </a:p>
        </p:txBody>
      </p:sp>
      <p:pic>
        <p:nvPicPr>
          <p:cNvPr id="1026" name="Picture 2" descr="C:\Users\Pc\Desktop\175255.jpg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635896" y="3068960"/>
            <a:ext cx="4786312" cy="3589337"/>
          </a:xfrm>
          <a:prstGeom prst="rect">
            <a:avLst/>
          </a:prstGeom>
          <a:noFill/>
        </p:spPr>
      </p:pic>
      <p:pic>
        <p:nvPicPr>
          <p:cNvPr id="5" name="Picture 2" descr="C:\Users\Pc\Desktop\kuflu-ekmek-yersek-ne-olurd676b0d3fea6f59fbbed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9512" y="548680"/>
            <a:ext cx="6191250" cy="35147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Pc\Desktop\kirli-silikon-A.jpeg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635896" y="260648"/>
            <a:ext cx="5057123" cy="3312368"/>
          </a:xfrm>
          <a:prstGeom prst="rect">
            <a:avLst/>
          </a:prstGeom>
          <a:noFill/>
        </p:spPr>
      </p:pic>
      <p:pic>
        <p:nvPicPr>
          <p:cNvPr id="5" name="Picture 2" descr="C:\Users\user\Desktop\banyo-küflenme-1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1520" y="2924944"/>
            <a:ext cx="5382530" cy="3715873"/>
          </a:xfrm>
          <a:prstGeom prst="rect">
            <a:avLst/>
          </a:prstGeom>
          <a:noFill/>
        </p:spPr>
      </p:pic>
      <p:pic>
        <p:nvPicPr>
          <p:cNvPr id="6" name="Picture 2" descr="C:\Users\user\Desktop\banyo-küflenme-2-1024x765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364088" y="3789040"/>
            <a:ext cx="3537194" cy="239059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b="1" dirty="0" smtClean="0">
                <a:solidFill>
                  <a:srgbClr val="FF0000"/>
                </a:solidFill>
              </a:rPr>
              <a:t>KÜF  MANTARLARI</a:t>
            </a:r>
            <a:endParaRPr lang="tr-TR" b="1" dirty="0">
              <a:solidFill>
                <a:srgbClr val="FF0000"/>
              </a:solidFill>
            </a:endParaRPr>
          </a:p>
        </p:txBody>
      </p:sp>
      <p:pic>
        <p:nvPicPr>
          <p:cNvPr id="4" name="3 İçerik Yer Tutucusu" descr="C:\Users\oem\Desktop\mold.jpg"/>
          <p:cNvPicPr>
            <a:picLocks noGrp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82978" y="1600200"/>
            <a:ext cx="5978043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 descr="C:\Users\user\Desktop\indir.jpg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332656"/>
            <a:ext cx="8337550" cy="576103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 descr="C:\Users\user\Desktop\wns_GeomycesDestructans.JPG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260648"/>
            <a:ext cx="8375650" cy="611981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323528" y="260648"/>
            <a:ext cx="8496944" cy="6264696"/>
          </a:xfrm>
        </p:spPr>
        <p:txBody>
          <a:bodyPr>
            <a:normAutofit fontScale="92500" lnSpcReduction="10000"/>
          </a:bodyPr>
          <a:lstStyle/>
          <a:p>
            <a:r>
              <a:rPr lang="tr-TR" b="1" dirty="0" smtClean="0">
                <a:solidFill>
                  <a:srgbClr val="FF0000"/>
                </a:solidFill>
              </a:rPr>
              <a:t>Küf mantarları, sporlarla üreme özelliğine sahiptir </a:t>
            </a:r>
          </a:p>
          <a:p>
            <a:r>
              <a:rPr lang="tr-TR" b="1" dirty="0" smtClean="0">
                <a:solidFill>
                  <a:srgbClr val="FF0000"/>
                </a:solidFill>
              </a:rPr>
              <a:t>Bu sporların insan bedeni üzerinde çeşitli etkileri de olabilmektedir</a:t>
            </a:r>
          </a:p>
          <a:p>
            <a:r>
              <a:rPr lang="tr-TR" b="1" dirty="0" smtClean="0">
                <a:solidFill>
                  <a:srgbClr val="FF0000"/>
                </a:solidFill>
              </a:rPr>
              <a:t>Bu etkilerden en çok rastlanılan ise, cilt yüzeyinde meydana gelen alerjik reaksiyonlardır</a:t>
            </a:r>
          </a:p>
          <a:p>
            <a:r>
              <a:rPr lang="tr-TR" b="1" dirty="0" smtClean="0">
                <a:solidFill>
                  <a:srgbClr val="FF0000"/>
                </a:solidFill>
              </a:rPr>
              <a:t>Küf oluşumu, mevsim şartlarına göre değişebilmektedir</a:t>
            </a:r>
          </a:p>
          <a:p>
            <a:r>
              <a:rPr lang="tr-TR" b="1" dirty="0" smtClean="0">
                <a:solidFill>
                  <a:srgbClr val="FF0000"/>
                </a:solidFill>
              </a:rPr>
              <a:t>Her mevsim ve iklimde yaşamın bir parçası olan küf oluşumları gözlemlenebilse de, küflenme en çok nemin çok fazla olduğu bölgelerde daha çok oluşmaktadır</a:t>
            </a:r>
          </a:p>
          <a:p>
            <a:r>
              <a:rPr lang="tr-TR" b="1" dirty="0" smtClean="0">
                <a:solidFill>
                  <a:srgbClr val="FF0000"/>
                </a:solidFill>
              </a:rPr>
              <a:t>Alerjik reaksiyon riski taşıyan küfler, her mevsimde ve her ortamda bulunabilmektedir</a:t>
            </a:r>
            <a:endParaRPr lang="tr-TR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179512" y="332656"/>
            <a:ext cx="8784976" cy="6192688"/>
          </a:xfrm>
        </p:spPr>
        <p:txBody>
          <a:bodyPr>
            <a:normAutofit fontScale="85000" lnSpcReduction="20000"/>
          </a:bodyPr>
          <a:lstStyle/>
          <a:p>
            <a:r>
              <a:rPr lang="tr-TR" b="1" dirty="0" smtClean="0">
                <a:solidFill>
                  <a:srgbClr val="FF0000"/>
                </a:solidFill>
              </a:rPr>
              <a:t>Nem ve ısı faktörleri nedeniyle oldukça fazla gıda maddesi üzerinde kendisini gösteren küflenme, bu gıda maddelerden en çok peynir ve ekmek gibi gıdalarda görülür </a:t>
            </a:r>
          </a:p>
          <a:p>
            <a:r>
              <a:rPr lang="tr-TR" b="1" dirty="0" smtClean="0">
                <a:solidFill>
                  <a:srgbClr val="7030A0"/>
                </a:solidFill>
              </a:rPr>
              <a:t>Aynı zamanda son yıllarda yapılan bilimsel araştırmalar sonucunda küflenmiş besinlerin sağlık için oldukça zararlı olduğu anlaşılmış ve bu tür besinlerin kansere neden olabileceği söylenmiştir</a:t>
            </a:r>
          </a:p>
          <a:p>
            <a:r>
              <a:rPr lang="tr-TR" b="1" dirty="0" smtClean="0"/>
              <a:t>Özel olarak küflendirilmiş olan peynirler de bulunmaktadır</a:t>
            </a:r>
          </a:p>
          <a:p>
            <a:r>
              <a:rPr lang="tr-TR" b="1" dirty="0" smtClean="0">
                <a:solidFill>
                  <a:srgbClr val="FF0000"/>
                </a:solidFill>
              </a:rPr>
              <a:t>Bu tür peynirler özel işlemlerden geçer ve bu nedenle de oldukça pahalıdır. </a:t>
            </a:r>
          </a:p>
          <a:p>
            <a:r>
              <a:rPr lang="tr-TR" b="1" dirty="0" smtClean="0"/>
              <a:t>Mantar, çevresinde bulunan hemen hemen her şeyi kendisine besin sağlamak için kullanır</a:t>
            </a:r>
          </a:p>
          <a:p>
            <a:r>
              <a:rPr lang="tr-TR" b="1" dirty="0" smtClean="0"/>
              <a:t>Bu nedenle küf mantarları doğanın her yerinde ve hayatın her anında karşılaşılabilecek canlı türleri arasındadır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251520" y="260648"/>
            <a:ext cx="8568952" cy="6408712"/>
          </a:xfrm>
        </p:spPr>
        <p:txBody>
          <a:bodyPr>
            <a:normAutofit/>
          </a:bodyPr>
          <a:lstStyle/>
          <a:p>
            <a:r>
              <a:rPr lang="tr-TR" sz="2800" b="1" dirty="0" smtClean="0">
                <a:solidFill>
                  <a:srgbClr val="FF0000"/>
                </a:solidFill>
              </a:rPr>
              <a:t>Küflerin oluşabilmesi için, mantar neme ihtiyaç duymaktadır. Bu nedenle küflenme olayı ıslak çamaşırların üzerinde dahi görülebilir</a:t>
            </a:r>
            <a:r>
              <a:rPr lang="tr-TR" sz="2800" b="1" dirty="0" smtClean="0"/>
              <a:t>. </a:t>
            </a:r>
          </a:p>
          <a:p>
            <a:r>
              <a:rPr lang="tr-TR" sz="2800" b="1" dirty="0" smtClean="0">
                <a:solidFill>
                  <a:srgbClr val="0070C0"/>
                </a:solidFill>
              </a:rPr>
              <a:t>Aynı zamanda yine güneş ışını görmeyen dolaplarda, çekmecelerde ve de poşet içlerindeki ıslak elbiselerde çok kısa bir süre zarfı içerisinde küflenme görüntüsüne rastlanılabilir</a:t>
            </a:r>
            <a:endParaRPr lang="tr-TR" sz="2800" b="1" dirty="0" smtClean="0"/>
          </a:p>
          <a:p>
            <a:r>
              <a:rPr lang="tr-TR" sz="2800" b="1" dirty="0" smtClean="0">
                <a:solidFill>
                  <a:srgbClr val="FF00FF"/>
                </a:solidFill>
              </a:rPr>
              <a:t>Islandığı zaman yapısı nedeniyle kuruması bir hayli zor olan halılar, küflenme olabilmesi için en ideal noktalardan birini oluşturur </a:t>
            </a:r>
          </a:p>
          <a:p>
            <a:r>
              <a:rPr lang="tr-TR" sz="2800" b="1" dirty="0" smtClean="0">
                <a:solidFill>
                  <a:srgbClr val="FF0000"/>
                </a:solidFill>
              </a:rPr>
              <a:t>Küfler, doğada her yerdedir </a:t>
            </a:r>
          </a:p>
          <a:p>
            <a:r>
              <a:rPr lang="tr-TR" sz="2800" b="1" dirty="0" smtClean="0"/>
              <a:t>Öyle ki solunan havada dahi küf olabilir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b="1" dirty="0" smtClean="0">
                <a:solidFill>
                  <a:srgbClr val="FF0000"/>
                </a:solidFill>
              </a:rPr>
              <a:t>KÜFLER HASTALIK OLUŞTURABİLİR Mİ</a:t>
            </a:r>
            <a:endParaRPr lang="tr-TR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53136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80000"/>
              </a:lnSpc>
            </a:pPr>
            <a:r>
              <a:rPr lang="tr-TR" b="1" i="1" dirty="0" smtClean="0"/>
              <a:t>Parazit küfler bitki, hayvan ve insanlarda çeşitli hastalıklara neden olurlar</a:t>
            </a:r>
          </a:p>
          <a:p>
            <a:pPr>
              <a:lnSpc>
                <a:spcPct val="80000"/>
              </a:lnSpc>
              <a:buNone/>
            </a:pPr>
            <a:endParaRPr lang="tr-TR" b="1" i="1" dirty="0" smtClean="0"/>
          </a:p>
          <a:p>
            <a:pPr>
              <a:lnSpc>
                <a:spcPct val="80000"/>
              </a:lnSpc>
            </a:pPr>
            <a:r>
              <a:rPr lang="tr-TR" b="1" i="1" dirty="0" smtClean="0"/>
              <a:t>Bugün bilinen 800,000 küf türü bulunmaktadır. Ancak bunlardan sadece 10-15….adedi insana özgü patojendir</a:t>
            </a:r>
          </a:p>
          <a:p>
            <a:pPr>
              <a:lnSpc>
                <a:spcPct val="80000"/>
              </a:lnSpc>
              <a:buNone/>
            </a:pPr>
            <a:endParaRPr lang="tr-TR" b="1" i="1" dirty="0" smtClean="0"/>
          </a:p>
          <a:p>
            <a:pPr>
              <a:lnSpc>
                <a:spcPct val="80000"/>
              </a:lnSpc>
            </a:pPr>
            <a:r>
              <a:rPr lang="tr-TR" b="1" i="1" dirty="0" err="1" smtClean="0"/>
              <a:t>Fungal</a:t>
            </a:r>
            <a:r>
              <a:rPr lang="tr-TR" b="1" i="1" dirty="0" smtClean="0"/>
              <a:t> </a:t>
            </a:r>
            <a:r>
              <a:rPr lang="tr-TR" b="1" i="1" dirty="0" err="1" smtClean="0"/>
              <a:t>infeksiyonlardan</a:t>
            </a:r>
            <a:r>
              <a:rPr lang="tr-TR" b="1" i="1" dirty="0" smtClean="0"/>
              <a:t> ölüm diğer hastalıklara göre daha fazladır</a:t>
            </a:r>
          </a:p>
          <a:p>
            <a:pPr>
              <a:lnSpc>
                <a:spcPct val="80000"/>
              </a:lnSpc>
              <a:buNone/>
            </a:pPr>
            <a:r>
              <a:rPr lang="tr-TR" b="1" i="1" dirty="0" smtClean="0"/>
              <a:t/>
            </a:r>
            <a:br>
              <a:rPr lang="tr-TR" b="1" i="1" dirty="0" smtClean="0"/>
            </a:br>
            <a:r>
              <a:rPr lang="tr-TR" b="1" i="1" dirty="0" smtClean="0"/>
              <a:t>Küflerin hem yararları hem de zararları söz konusudur</a:t>
            </a:r>
          </a:p>
          <a:p>
            <a:pPr>
              <a:buNone/>
            </a:pPr>
            <a:endParaRPr lang="tr-TR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smtClean="0">
                <a:solidFill>
                  <a:srgbClr val="FF0000"/>
                </a:solidFill>
              </a:rPr>
              <a:t>KÜF MANTARLARI ÖZELLİKLERİ</a:t>
            </a:r>
            <a:endParaRPr lang="tr-TR" dirty="0"/>
          </a:p>
        </p:txBody>
      </p:sp>
      <p:sp>
        <p:nvSpPr>
          <p:cNvPr id="6" name="5 İçerik Yer Tutucusu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tr-TR" b="1" dirty="0" smtClean="0"/>
              <a:t>Heterotrofik organizmalardır </a:t>
            </a:r>
          </a:p>
          <a:p>
            <a:r>
              <a:rPr lang="tr-TR" b="1" dirty="0" smtClean="0"/>
              <a:t>Beslenme ve gelişim için organik bileşiklere ihtiyaç duyarlar</a:t>
            </a:r>
            <a:endParaRPr lang="tr-TR" dirty="0" smtClean="0"/>
          </a:p>
          <a:p>
            <a:r>
              <a:rPr lang="tr-TR" b="1" dirty="0" smtClean="0"/>
              <a:t>Gelişme için ışığa ihtiyaç duymazlar</a:t>
            </a:r>
          </a:p>
          <a:p>
            <a:pPr>
              <a:lnSpc>
                <a:spcPct val="80000"/>
              </a:lnSpc>
            </a:pPr>
            <a:r>
              <a:rPr lang="tr-TR" b="1" dirty="0" smtClean="0"/>
              <a:t>Parçalanmış ve çözünmüş organik maddeler üzerinde geliştiklerinden saprofit (çürükçül) organizmalar olarak tanımlanır</a:t>
            </a:r>
          </a:p>
          <a:p>
            <a:pPr>
              <a:lnSpc>
                <a:spcPct val="80000"/>
              </a:lnSpc>
            </a:pPr>
            <a:r>
              <a:rPr lang="tr-TR" b="1" dirty="0" smtClean="0"/>
              <a:t>Bazıları hem saprofit hem parazittir</a:t>
            </a:r>
          </a:p>
          <a:p>
            <a:pPr>
              <a:lnSpc>
                <a:spcPct val="80000"/>
              </a:lnSpc>
            </a:pPr>
            <a:endParaRPr lang="tr-TR" b="1" dirty="0" smtClean="0"/>
          </a:p>
          <a:p>
            <a:endParaRPr lang="tr-TR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b="1" dirty="0" smtClean="0">
                <a:solidFill>
                  <a:srgbClr val="FF0000"/>
                </a:solidFill>
              </a:rPr>
              <a:t/>
            </a:r>
            <a:br>
              <a:rPr lang="tr-TR" b="1" dirty="0" smtClean="0">
                <a:solidFill>
                  <a:srgbClr val="FF0000"/>
                </a:solidFill>
              </a:rPr>
            </a:br>
            <a:r>
              <a:rPr lang="tr-TR" sz="4900" b="1" dirty="0" smtClean="0">
                <a:solidFill>
                  <a:srgbClr val="FF0000"/>
                </a:solidFill>
              </a:rPr>
              <a:t>KÜF MANTARLARI</a:t>
            </a:r>
            <a:r>
              <a:rPr lang="tr-TR" sz="4900" dirty="0" smtClean="0"/>
              <a:t/>
            </a:r>
            <a:br>
              <a:rPr lang="tr-TR" sz="4900" dirty="0" smtClean="0"/>
            </a:br>
            <a:endParaRPr lang="tr-TR" sz="4900" dirty="0">
              <a:solidFill>
                <a:srgbClr val="FF0000"/>
              </a:solidFill>
            </a:endParaRPr>
          </a:p>
        </p:txBody>
      </p:sp>
      <p:sp>
        <p:nvSpPr>
          <p:cNvPr id="6" name="5 İçerik Yer Tutucusu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53136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  <a:defRPr/>
            </a:pPr>
            <a:r>
              <a:rPr lang="tr-TR" b="1" dirty="0" smtClean="0"/>
              <a:t>Çok hücreli, ipliksi yapılardır </a:t>
            </a:r>
          </a:p>
          <a:p>
            <a:pPr>
              <a:lnSpc>
                <a:spcPct val="80000"/>
              </a:lnSpc>
              <a:defRPr/>
            </a:pPr>
            <a:r>
              <a:rPr lang="tr-TR" b="1" dirty="0" smtClean="0"/>
              <a:t>Uzunlukları1-3cm(veya daha uzun)</a:t>
            </a:r>
          </a:p>
          <a:p>
            <a:pPr>
              <a:lnSpc>
                <a:spcPct val="80000"/>
              </a:lnSpc>
              <a:defRPr/>
            </a:pPr>
            <a:r>
              <a:rPr lang="tr-TR" b="1" dirty="0" smtClean="0"/>
              <a:t>Çapları 2-10</a:t>
            </a:r>
            <a:r>
              <a:rPr lang="tr-TR" b="1" dirty="0" smtClean="0">
                <a:sym typeface="Symbol" pitchFamily="18" charset="2"/>
              </a:rPr>
              <a:t></a:t>
            </a:r>
            <a:r>
              <a:rPr lang="tr-TR" b="1" dirty="0" smtClean="0"/>
              <a:t> olan silindirik tüplerden oluşur</a:t>
            </a:r>
          </a:p>
          <a:p>
            <a:pPr>
              <a:lnSpc>
                <a:spcPct val="80000"/>
              </a:lnSpc>
              <a:defRPr/>
            </a:pPr>
            <a:r>
              <a:rPr lang="tr-TR" b="1" dirty="0" err="1" smtClean="0"/>
              <a:t>Hif</a:t>
            </a:r>
            <a:r>
              <a:rPr lang="tr-TR" b="1" dirty="0" smtClean="0"/>
              <a:t> (=</a:t>
            </a:r>
            <a:r>
              <a:rPr lang="tr-TR" b="1" dirty="0" err="1" smtClean="0"/>
              <a:t>hypha</a:t>
            </a:r>
            <a:r>
              <a:rPr lang="tr-TR" b="1" dirty="0" smtClean="0"/>
              <a:t>) adı verilir </a:t>
            </a:r>
          </a:p>
          <a:p>
            <a:pPr>
              <a:lnSpc>
                <a:spcPct val="80000"/>
              </a:lnSpc>
              <a:defRPr/>
            </a:pPr>
            <a:r>
              <a:rPr lang="tr-TR" b="1" dirty="0" err="1" smtClean="0"/>
              <a:t>Hiflerin</a:t>
            </a:r>
            <a:r>
              <a:rPr lang="tr-TR" b="1" dirty="0" smtClean="0"/>
              <a:t> bazıları </a:t>
            </a:r>
            <a:r>
              <a:rPr lang="tr-TR" b="1" dirty="0" err="1" smtClean="0"/>
              <a:t>septum</a:t>
            </a:r>
            <a:r>
              <a:rPr lang="tr-TR" b="1" dirty="0" smtClean="0"/>
              <a:t> denen delikli hücre duvarları ile bölümlere ayrılmıştır (</a:t>
            </a:r>
            <a:r>
              <a:rPr lang="tr-TR" b="1" dirty="0" err="1" smtClean="0"/>
              <a:t>septalı</a:t>
            </a:r>
            <a:r>
              <a:rPr lang="tr-TR" b="1" dirty="0" smtClean="0"/>
              <a:t> </a:t>
            </a:r>
            <a:r>
              <a:rPr lang="tr-TR" b="1" dirty="0" err="1" smtClean="0"/>
              <a:t>hifa</a:t>
            </a:r>
            <a:r>
              <a:rPr lang="tr-TR" b="1" dirty="0" smtClean="0"/>
              <a:t>) </a:t>
            </a:r>
          </a:p>
          <a:p>
            <a:pPr>
              <a:lnSpc>
                <a:spcPct val="80000"/>
              </a:lnSpc>
              <a:defRPr/>
            </a:pPr>
            <a:r>
              <a:rPr lang="tr-TR" b="1" dirty="0" smtClean="0"/>
              <a:t>Diğerlerinde ise bölme bulunmaz (</a:t>
            </a:r>
            <a:r>
              <a:rPr lang="tr-TR" b="1" dirty="0" err="1" smtClean="0"/>
              <a:t>septasız</a:t>
            </a:r>
            <a:r>
              <a:rPr lang="tr-TR" b="1" dirty="0" smtClean="0"/>
              <a:t> </a:t>
            </a:r>
            <a:r>
              <a:rPr lang="tr-TR" b="1" dirty="0" err="1" smtClean="0"/>
              <a:t>hifa</a:t>
            </a:r>
            <a:r>
              <a:rPr lang="tr-TR" b="1" dirty="0" smtClean="0"/>
              <a:t>) 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Pc\Desktop\images3A6J2F0N.jpg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11760" y="260648"/>
            <a:ext cx="6366296" cy="3592513"/>
          </a:xfrm>
          <a:prstGeom prst="rect">
            <a:avLst/>
          </a:prstGeom>
          <a:noFill/>
        </p:spPr>
      </p:pic>
      <p:pic>
        <p:nvPicPr>
          <p:cNvPr id="5" name="Picture 2" descr="C:\Users\Pc\Desktop\imagesBNX0II7S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3528" y="3378926"/>
            <a:ext cx="5040560" cy="327852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3 İçerik Yer Tutucusu" descr="C:\Users\oem\Desktop\1-s2_0-S0960982206003575-gr1.jpg"/>
          <p:cNvPicPr>
            <a:picLocks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404664"/>
            <a:ext cx="7632847" cy="5976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smtClean="0">
                <a:solidFill>
                  <a:srgbClr val="FF0000"/>
                </a:solidFill>
              </a:rPr>
              <a:t>MİÇEL ----MİÇELYUM NEDİR</a:t>
            </a:r>
            <a:endParaRPr lang="tr-TR" b="1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5184576"/>
          </a:xfrm>
        </p:spPr>
        <p:txBody>
          <a:bodyPr>
            <a:noAutofit/>
          </a:bodyPr>
          <a:lstStyle/>
          <a:p>
            <a:r>
              <a:rPr lang="tr-TR" sz="2600" b="1" i="1" dirty="0" smtClean="0"/>
              <a:t>Kolayca havaya saçılırlar ve kondukları yerde uygun koşulları bulduklarında çimlenerek MİÇEL  oluşturur</a:t>
            </a:r>
          </a:p>
          <a:p>
            <a:r>
              <a:rPr lang="tr-TR" sz="2600" b="1" dirty="0" smtClean="0"/>
              <a:t>Keçeleşmiş yumak şeklinde görülürler</a:t>
            </a:r>
          </a:p>
          <a:p>
            <a:r>
              <a:rPr lang="tr-TR" sz="2600" b="1" dirty="0" smtClean="0"/>
              <a:t>Bu yapıya   MİÇEL denir (</a:t>
            </a:r>
            <a:r>
              <a:rPr lang="tr-TR" sz="2600" b="1" dirty="0" err="1" smtClean="0"/>
              <a:t>Hifalardan</a:t>
            </a:r>
            <a:r>
              <a:rPr lang="tr-TR" sz="2600" b="1" dirty="0" smtClean="0"/>
              <a:t> meydana gelen ağ benzeri </a:t>
            </a:r>
            <a:r>
              <a:rPr lang="tr-TR" sz="2600" b="1" dirty="0" err="1" smtClean="0"/>
              <a:t>oluşumlaradenir</a:t>
            </a:r>
            <a:r>
              <a:rPr lang="tr-TR" sz="2600" b="1" dirty="0" smtClean="0"/>
              <a:t>)</a:t>
            </a:r>
          </a:p>
          <a:p>
            <a:r>
              <a:rPr lang="tr-TR" sz="2600" b="1" dirty="0" smtClean="0"/>
              <a:t>MİÇEL uzun </a:t>
            </a:r>
            <a:r>
              <a:rPr lang="tr-TR" sz="2600" b="1" dirty="0" err="1" smtClean="0"/>
              <a:t>hiflerin</a:t>
            </a:r>
            <a:r>
              <a:rPr lang="tr-TR" sz="2600" b="1" dirty="0" smtClean="0"/>
              <a:t> birleşmesi ile meydana gelen yapıdır</a:t>
            </a:r>
          </a:p>
          <a:p>
            <a:r>
              <a:rPr lang="tr-TR" sz="2600" b="1" dirty="0" err="1" smtClean="0"/>
              <a:t>Hiflerin</a:t>
            </a:r>
            <a:r>
              <a:rPr lang="tr-TR" sz="2600" b="1" dirty="0" smtClean="0"/>
              <a:t> oluşturduğu örgü yumak biçiminde görülür</a:t>
            </a:r>
          </a:p>
          <a:p>
            <a:r>
              <a:rPr lang="tr-TR" sz="2600" b="1" dirty="0" smtClean="0"/>
              <a:t>Bulundukları beslenme ortamının içine uzayıp beslenme işlevi gören </a:t>
            </a:r>
            <a:r>
              <a:rPr lang="tr-TR" sz="2600" b="1" dirty="0" err="1" smtClean="0"/>
              <a:t>miselyumlara</a:t>
            </a:r>
            <a:r>
              <a:rPr lang="tr-TR" sz="2600" b="1" dirty="0" smtClean="0"/>
              <a:t> </a:t>
            </a:r>
            <a:r>
              <a:rPr lang="tr-TR" sz="2600" b="1" dirty="0" err="1" smtClean="0">
                <a:solidFill>
                  <a:srgbClr val="FF0000"/>
                </a:solidFill>
              </a:rPr>
              <a:t>vegetatif</a:t>
            </a:r>
            <a:r>
              <a:rPr lang="tr-TR" sz="2600" b="1" dirty="0" smtClean="0">
                <a:solidFill>
                  <a:srgbClr val="FF0000"/>
                </a:solidFill>
              </a:rPr>
              <a:t> </a:t>
            </a:r>
            <a:r>
              <a:rPr lang="tr-TR" sz="2600" b="1" dirty="0" err="1" smtClean="0">
                <a:solidFill>
                  <a:srgbClr val="FF0000"/>
                </a:solidFill>
              </a:rPr>
              <a:t>miselyum</a:t>
            </a:r>
            <a:r>
              <a:rPr lang="tr-TR" sz="2600" b="1" dirty="0" smtClean="0"/>
              <a:t>, </a:t>
            </a:r>
          </a:p>
          <a:p>
            <a:r>
              <a:rPr lang="tr-TR" sz="2600" b="1" dirty="0" smtClean="0"/>
              <a:t>Yüzeyde yükselen kısmına </a:t>
            </a:r>
            <a:r>
              <a:rPr lang="tr-TR" sz="2600" b="1" dirty="0" err="1" smtClean="0">
                <a:solidFill>
                  <a:srgbClr val="FF0000"/>
                </a:solidFill>
              </a:rPr>
              <a:t>aerial</a:t>
            </a:r>
            <a:r>
              <a:rPr lang="tr-TR" sz="2600" b="1" dirty="0" smtClean="0">
                <a:solidFill>
                  <a:srgbClr val="FF0000"/>
                </a:solidFill>
              </a:rPr>
              <a:t> </a:t>
            </a:r>
            <a:r>
              <a:rPr lang="tr-TR" sz="2600" b="1" dirty="0" err="1" smtClean="0">
                <a:solidFill>
                  <a:srgbClr val="FF0000"/>
                </a:solidFill>
              </a:rPr>
              <a:t>miselyum</a:t>
            </a:r>
            <a:r>
              <a:rPr lang="tr-TR" sz="2600" b="1" dirty="0" smtClean="0">
                <a:solidFill>
                  <a:srgbClr val="FF0000"/>
                </a:solidFill>
              </a:rPr>
              <a:t> </a:t>
            </a:r>
            <a:r>
              <a:rPr lang="tr-TR" sz="2600" b="1" dirty="0" smtClean="0"/>
              <a:t>adı verilir</a:t>
            </a:r>
          </a:p>
          <a:p>
            <a:endParaRPr lang="tr-TR" sz="2600" b="1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 descr="31-06-Rhizophus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067944" y="260648"/>
            <a:ext cx="4244975" cy="2825750"/>
          </a:xfrm>
          <a:prstGeom prst="rect">
            <a:avLst/>
          </a:prstGeom>
          <a:noFill/>
          <a:ln w="38100">
            <a:solidFill>
              <a:srgbClr val="FF99FF"/>
            </a:solidFill>
            <a:miter lim="800000"/>
            <a:headEnd/>
            <a:tailEnd/>
          </a:ln>
        </p:spPr>
      </p:pic>
      <p:pic>
        <p:nvPicPr>
          <p:cNvPr id="3" name="3 İçerik Yer Tutucusu" descr="C:\Users\oem\Desktop\800px-Schimmel-op-tomaat1079.jpg"/>
          <p:cNvPicPr>
            <a:picLocks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7545" y="2924944"/>
            <a:ext cx="4248472" cy="36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3 İçerik Yer Tutucusu" descr="C:\Users\oem\Desktop\800px-Mouldy_Clementine.jpg"/>
          <p:cNvPicPr>
            <a:picLocks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364088" y="3429000"/>
            <a:ext cx="3275856" cy="30026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323528" y="404664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tr-TR" b="1" dirty="0" err="1" smtClean="0">
                <a:solidFill>
                  <a:srgbClr val="FF0000"/>
                </a:solidFill>
              </a:rPr>
              <a:t>Miçelyum</a:t>
            </a:r>
            <a:r>
              <a:rPr lang="tr-TR" b="1" dirty="0" smtClean="0">
                <a:solidFill>
                  <a:srgbClr val="FF0000"/>
                </a:solidFill>
              </a:rPr>
              <a:t> </a:t>
            </a:r>
            <a:br>
              <a:rPr lang="tr-TR" b="1" dirty="0" smtClean="0">
                <a:solidFill>
                  <a:srgbClr val="FF0000"/>
                </a:solidFill>
              </a:rPr>
            </a:br>
            <a:r>
              <a:rPr lang="tr-TR" b="1" dirty="0" smtClean="0">
                <a:solidFill>
                  <a:srgbClr val="FF0000"/>
                </a:solidFill>
              </a:rPr>
              <a:t>“</a:t>
            </a:r>
            <a:r>
              <a:rPr lang="tr-TR" b="1" dirty="0" err="1" smtClean="0">
                <a:solidFill>
                  <a:srgbClr val="FF0000"/>
                </a:solidFill>
              </a:rPr>
              <a:t>Scanning</a:t>
            </a:r>
            <a:r>
              <a:rPr lang="tr-TR" b="1" dirty="0" smtClean="0">
                <a:solidFill>
                  <a:srgbClr val="FF0000"/>
                </a:solidFill>
              </a:rPr>
              <a:t>” elektron mikroskop</a:t>
            </a:r>
            <a:endParaRPr lang="tr-TR" dirty="0">
              <a:solidFill>
                <a:srgbClr val="FF0000"/>
              </a:solidFill>
            </a:endParaRPr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1772816"/>
            <a:ext cx="7776864" cy="4464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b="1" dirty="0" err="1" smtClean="0">
                <a:solidFill>
                  <a:srgbClr val="FF0000"/>
                </a:solidFill>
              </a:rPr>
              <a:t>Miçelyum</a:t>
            </a:r>
            <a:r>
              <a:rPr lang="tr-TR" b="1" dirty="0" smtClean="0">
                <a:solidFill>
                  <a:srgbClr val="FF0000"/>
                </a:solidFill>
              </a:rPr>
              <a:t> </a:t>
            </a:r>
            <a:br>
              <a:rPr lang="tr-TR" b="1" dirty="0" smtClean="0">
                <a:solidFill>
                  <a:srgbClr val="FF0000"/>
                </a:solidFill>
              </a:rPr>
            </a:br>
            <a:r>
              <a:rPr lang="tr-TR" b="1" dirty="0" smtClean="0">
                <a:solidFill>
                  <a:srgbClr val="FF0000"/>
                </a:solidFill>
              </a:rPr>
              <a:t>“</a:t>
            </a:r>
            <a:r>
              <a:rPr lang="tr-TR" b="1" dirty="0" err="1" smtClean="0">
                <a:solidFill>
                  <a:srgbClr val="FF0000"/>
                </a:solidFill>
              </a:rPr>
              <a:t>Scanning</a:t>
            </a:r>
            <a:r>
              <a:rPr lang="tr-TR" b="1" dirty="0" smtClean="0">
                <a:solidFill>
                  <a:srgbClr val="FF0000"/>
                </a:solidFill>
              </a:rPr>
              <a:t>” elektron mikroskop</a:t>
            </a:r>
            <a:endParaRPr lang="tr-TR" dirty="0"/>
          </a:p>
        </p:txBody>
      </p:sp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1600" y="1772816"/>
            <a:ext cx="7010722" cy="46899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 idx="4294967295"/>
          </p:nvPr>
        </p:nvSpPr>
        <p:spPr>
          <a:xfrm>
            <a:off x="395536" y="274638"/>
            <a:ext cx="3358902" cy="1143000"/>
          </a:xfrm>
        </p:spPr>
        <p:txBody>
          <a:bodyPr>
            <a:normAutofit fontScale="90000"/>
          </a:bodyPr>
          <a:lstStyle/>
          <a:p>
            <a:r>
              <a:rPr lang="tr-TR" b="1" dirty="0" smtClean="0">
                <a:solidFill>
                  <a:srgbClr val="FF0000"/>
                </a:solidFill>
              </a:rPr>
              <a:t>KÜF MANTARLARI</a:t>
            </a:r>
            <a:endParaRPr lang="tr-TR" dirty="0">
              <a:solidFill>
                <a:srgbClr val="FF0000"/>
              </a:solidFill>
            </a:endParaRPr>
          </a:p>
        </p:txBody>
      </p:sp>
      <p:pic>
        <p:nvPicPr>
          <p:cNvPr id="4" name="Picture 2" descr="C:\Users\Pc\Desktop\indir.jpg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04048" y="260648"/>
            <a:ext cx="3725862" cy="3889375"/>
          </a:xfrm>
          <a:prstGeom prst="rect">
            <a:avLst/>
          </a:prstGeom>
          <a:noFill/>
        </p:spPr>
      </p:pic>
      <p:pic>
        <p:nvPicPr>
          <p:cNvPr id="5" name="Picture 2" descr="C:\Users\Pc\Desktop\küf-mantari-ve-astim-iliskisi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1520" y="1844824"/>
            <a:ext cx="4906633" cy="3121310"/>
          </a:xfrm>
          <a:prstGeom prst="rect">
            <a:avLst/>
          </a:prstGeom>
          <a:noFill/>
        </p:spPr>
      </p:pic>
      <p:pic>
        <p:nvPicPr>
          <p:cNvPr id="6" name="Picture 12" descr="Scopulariopsis"/>
          <p:cNvPicPr>
            <a:picLocks noChangeAspect="1" noChangeArrowheads="1"/>
          </p:cNvPicPr>
          <p:nvPr/>
        </p:nvPicPr>
        <p:blipFill>
          <a:blip r:embed="rId4" cstate="print"/>
          <a:srcRect t="1680" r="1260"/>
          <a:stretch>
            <a:fillRect/>
          </a:stretch>
        </p:blipFill>
        <p:spPr bwMode="auto">
          <a:xfrm>
            <a:off x="5580112" y="4581128"/>
            <a:ext cx="3204999" cy="1973843"/>
          </a:xfrm>
          <a:prstGeom prst="rect">
            <a:avLst/>
          </a:prstGeom>
          <a:noFill/>
          <a:ln w="38100">
            <a:solidFill>
              <a:srgbClr val="FF66FF"/>
            </a:solidFill>
            <a:miter lim="800000"/>
            <a:headEnd/>
            <a:tailEnd/>
          </a:ln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user\Desktop\indir.jpg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476672"/>
            <a:ext cx="7632700" cy="583264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C:\Users\Pc\Desktop\shropshire-blue-cheese-3534_640.jpg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3501008"/>
            <a:ext cx="7632848" cy="3013795"/>
          </a:xfrm>
          <a:prstGeom prst="rect">
            <a:avLst/>
          </a:prstGeom>
          <a:noFill/>
        </p:spPr>
      </p:pic>
      <p:pic>
        <p:nvPicPr>
          <p:cNvPr id="4" name="Picture 2" descr="C:\Users\user\Desktop\küf-mantarı-örnekleri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9552" y="404664"/>
            <a:ext cx="8229600" cy="273630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Pc\Desktop\Hallitus 002.jpg-a0b96e74bccad76ae1b7d93d046255cd.jpg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59832" y="260648"/>
            <a:ext cx="5760616" cy="3515307"/>
          </a:xfrm>
          <a:prstGeom prst="rect">
            <a:avLst/>
          </a:prstGeom>
          <a:noFill/>
        </p:spPr>
      </p:pic>
      <p:pic>
        <p:nvPicPr>
          <p:cNvPr id="4" name="Picture 2" descr="C:\Users\Pc\Desktop\3665765t81hc99f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3528" y="3861048"/>
            <a:ext cx="4327376" cy="272620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4510</TotalTime>
  <Words>1949</Words>
  <Application>Microsoft Office PowerPoint</Application>
  <PresentationFormat>Ekran Gösterisi (4:3)</PresentationFormat>
  <Paragraphs>375</Paragraphs>
  <Slides>77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77</vt:i4>
      </vt:variant>
    </vt:vector>
  </HeadingPairs>
  <TitlesOfParts>
    <vt:vector size="78" baseType="lpstr">
      <vt:lpstr>Ofis Teması</vt:lpstr>
      <vt:lpstr>Slayt 1</vt:lpstr>
      <vt:lpstr>Slayt 2</vt:lpstr>
      <vt:lpstr>Slayt 3</vt:lpstr>
      <vt:lpstr>Slayt 4</vt:lpstr>
      <vt:lpstr>Slayt 5</vt:lpstr>
      <vt:lpstr>Slayt 6</vt:lpstr>
      <vt:lpstr>NEREDE BULUNURLAR Mantarlara dünyanın her yerinde rastlamak mümkündür </vt:lpstr>
      <vt:lpstr>MANTARLAR</vt:lpstr>
      <vt:lpstr>MANTARLARIN TİCARİ ÖNEMİ </vt:lpstr>
      <vt:lpstr>Slayt 10</vt:lpstr>
      <vt:lpstr>MANTARLARIN SINIFLANDIRILMASI</vt:lpstr>
      <vt:lpstr>Slayt 12</vt:lpstr>
      <vt:lpstr>Mantarlar, ökaryot hücre yapısına sahiptirler</vt:lpstr>
      <vt:lpstr>Slayt 14</vt:lpstr>
      <vt:lpstr>Slayt 15</vt:lpstr>
      <vt:lpstr>Slayt 16</vt:lpstr>
      <vt:lpstr>NASIL ÇOĞALIRLAR</vt:lpstr>
      <vt:lpstr>ORGANİK ATIKLARI İNORGANİK MADDELERE DÖNÜŞTÜRÜLER</vt:lpstr>
      <vt:lpstr> BAZI MANTAR ÇEŞİTLERİ </vt:lpstr>
      <vt:lpstr> KÜF MANTARLARI </vt:lpstr>
      <vt:lpstr> ŞAPKALI MANTARLAR </vt:lpstr>
      <vt:lpstr> PARAZİT MANTARLAR </vt:lpstr>
      <vt:lpstr>Slayt 23</vt:lpstr>
      <vt:lpstr> HAMURUN MAYALANMA SÜRECİ </vt:lpstr>
      <vt:lpstr>Slayt 25</vt:lpstr>
      <vt:lpstr>HÜCRE YAPISI ve BULUNAN ORGANELLER</vt:lpstr>
      <vt:lpstr>KAPSÜL</vt:lpstr>
      <vt:lpstr>HÜCRE  DUVARI</vt:lpstr>
      <vt:lpstr>MANTARIN ANTİJENİK ETKİ GÖSTERMESİ VİRÜLANS FAKTÖRÜ NE DEMEKTİR</vt:lpstr>
      <vt:lpstr>Slayt 30</vt:lpstr>
      <vt:lpstr>HÜCRE ZARI</vt:lpstr>
      <vt:lpstr>HÜCRE ÖZELLİKLERİ</vt:lpstr>
      <vt:lpstr>MANTARLARIN ÜREME KOŞULLARI</vt:lpstr>
      <vt:lpstr>MANTARLARIN ÜREME KOŞULLARI</vt:lpstr>
      <vt:lpstr>DİĞER ORGANİZMALARDAN FARKLARI</vt:lpstr>
      <vt:lpstr>MANTARLARIN BOYANMASI</vt:lpstr>
      <vt:lpstr>Slayt 37</vt:lpstr>
      <vt:lpstr>MANTARLAR, MORFOLOJİK YAPILARINA GÖRE SINIFLANDIRILIR</vt:lpstr>
      <vt:lpstr>  </vt:lpstr>
      <vt:lpstr>DİMORFİK MANTARLAR</vt:lpstr>
      <vt:lpstr>MAYA MANTARLARI</vt:lpstr>
      <vt:lpstr>Slayt 42</vt:lpstr>
      <vt:lpstr>Slayt 43</vt:lpstr>
      <vt:lpstr>    MAYA MANTARLARI</vt:lpstr>
      <vt:lpstr>Slayt 45</vt:lpstr>
      <vt:lpstr>Slayt 46</vt:lpstr>
      <vt:lpstr>Slayt 47</vt:lpstr>
      <vt:lpstr>ALKOL NASIL ELDE EDİLİR?</vt:lpstr>
      <vt:lpstr>Slayt 49</vt:lpstr>
      <vt:lpstr>Slayt 50</vt:lpstr>
      <vt:lpstr>  NEDİR İSTENMEYEN SONUÇLAR  </vt:lpstr>
      <vt:lpstr>Slayt 52</vt:lpstr>
      <vt:lpstr>DİMORFİK MANTARLAR</vt:lpstr>
      <vt:lpstr>CANDİDA ALBİCANS</vt:lpstr>
      <vt:lpstr>Slayt 55</vt:lpstr>
      <vt:lpstr>Slayt 56</vt:lpstr>
      <vt:lpstr>KÜF  MANTARLARI</vt:lpstr>
      <vt:lpstr>Slayt 58</vt:lpstr>
      <vt:lpstr>KÜF  MANTARLARI</vt:lpstr>
      <vt:lpstr>Slayt 60</vt:lpstr>
      <vt:lpstr>Slayt 61</vt:lpstr>
      <vt:lpstr>Slayt 62</vt:lpstr>
      <vt:lpstr>Slayt 63</vt:lpstr>
      <vt:lpstr>Slayt 64</vt:lpstr>
      <vt:lpstr>KÜFLER HASTALIK OLUŞTURABİLİR Mİ</vt:lpstr>
      <vt:lpstr>KÜF MANTARLARI ÖZELLİKLERİ</vt:lpstr>
      <vt:lpstr> KÜF MANTARLARI </vt:lpstr>
      <vt:lpstr>Slayt 68</vt:lpstr>
      <vt:lpstr>Slayt 69</vt:lpstr>
      <vt:lpstr>MİÇEL ----MİÇELYUM NEDİR</vt:lpstr>
      <vt:lpstr>Slayt 71</vt:lpstr>
      <vt:lpstr>Miçelyum  “Scanning” elektron mikroskop</vt:lpstr>
      <vt:lpstr>Miçelyum  “Scanning” elektron mikroskop</vt:lpstr>
      <vt:lpstr>KÜF MANTARLARI</vt:lpstr>
      <vt:lpstr>Slayt 75</vt:lpstr>
      <vt:lpstr>Slayt 76</vt:lpstr>
      <vt:lpstr>Slayt 77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Slayt 1</dc:title>
  <dc:creator>Pc</dc:creator>
  <cp:lastModifiedBy>tijen</cp:lastModifiedBy>
  <cp:revision>784</cp:revision>
  <dcterms:created xsi:type="dcterms:W3CDTF">2016-10-01T14:18:57Z</dcterms:created>
  <dcterms:modified xsi:type="dcterms:W3CDTF">2026-09-17T17:05:39Z</dcterms:modified>
</cp:coreProperties>
</file>