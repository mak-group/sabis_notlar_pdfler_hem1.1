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90" r:id="rId3"/>
    <p:sldId id="293" r:id="rId4"/>
    <p:sldId id="294" r:id="rId5"/>
    <p:sldId id="295" r:id="rId6"/>
    <p:sldId id="296" r:id="rId7"/>
    <p:sldId id="297" r:id="rId8"/>
    <p:sldId id="298" r:id="rId9"/>
    <p:sldId id="260" r:id="rId10"/>
    <p:sldId id="261" r:id="rId11"/>
    <p:sldId id="262" r:id="rId12"/>
    <p:sldId id="263" r:id="rId13"/>
    <p:sldId id="256" r:id="rId14"/>
    <p:sldId id="291" r:id="rId15"/>
    <p:sldId id="265" r:id="rId16"/>
    <p:sldId id="266" r:id="rId17"/>
    <p:sldId id="267" r:id="rId18"/>
    <p:sldId id="268" r:id="rId19"/>
    <p:sldId id="276" r:id="rId20"/>
    <p:sldId id="272" r:id="rId21"/>
    <p:sldId id="277" r:id="rId22"/>
    <p:sldId id="275" r:id="rId23"/>
    <p:sldId id="287" r:id="rId24"/>
    <p:sldId id="273" r:id="rId25"/>
    <p:sldId id="289" r:id="rId26"/>
    <p:sldId id="278" r:id="rId27"/>
    <p:sldId id="279" r:id="rId28"/>
    <p:sldId id="280" r:id="rId29"/>
    <p:sldId id="281" r:id="rId30"/>
    <p:sldId id="282" r:id="rId31"/>
    <p:sldId id="284" r:id="rId32"/>
    <p:sldId id="285" r:id="rId33"/>
    <p:sldId id="283" r:id="rId34"/>
    <p:sldId id="286" r:id="rId3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27" autoAdjust="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F24C1-0333-47A5-B374-1530F04BC219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04C34-6C98-405E-BADB-245CC8462F3D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04C34-6C98-405E-BADB-245CC8462F3D}" type="slidenum">
              <a:rPr lang="tr-TR" smtClean="0"/>
              <a:pPr/>
              <a:t>17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71171-955D-4D9B-8608-B3A71D59053D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C13AE-F25A-4638-9E6E-BBE4201C936D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tr.wikipedia.org/wiki/Malayca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 idx="4294967295"/>
          </p:nvPr>
        </p:nvSpPr>
        <p:spPr>
          <a:xfrm>
            <a:off x="683568" y="2130425"/>
            <a:ext cx="7560840" cy="2018655"/>
          </a:xfrm>
        </p:spPr>
        <p:txBody>
          <a:bodyPr>
            <a:noAutofit/>
          </a:bodyPr>
          <a:lstStyle/>
          <a:p>
            <a:r>
              <a:rPr lang="tr-TR" sz="6000" b="1" dirty="0" smtClean="0">
                <a:solidFill>
                  <a:srgbClr val="FF0000"/>
                </a:solidFill>
              </a:rPr>
              <a:t>MİKROBİYOLOJİ  LABORATUVARI</a:t>
            </a:r>
            <a:endParaRPr lang="tr-TR" sz="6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images0492DEBJ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836712"/>
            <a:ext cx="8320409" cy="5000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c\Desktop\DSC00071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908720"/>
            <a:ext cx="8215312" cy="5544616"/>
          </a:xfrm>
          <a:prstGeom prst="rect">
            <a:avLst/>
          </a:prstGeom>
          <a:noFill/>
        </p:spPr>
      </p:pic>
      <p:sp>
        <p:nvSpPr>
          <p:cNvPr id="3" name="2 Dikdörtgen"/>
          <p:cNvSpPr/>
          <p:nvPr/>
        </p:nvSpPr>
        <p:spPr>
          <a:xfrm flipH="1">
            <a:off x="1043606" y="332656"/>
            <a:ext cx="17281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 smtClean="0">
                <a:solidFill>
                  <a:srgbClr val="FF0000"/>
                </a:solidFill>
              </a:rPr>
              <a:t>PETRİ </a:t>
            </a:r>
            <a:r>
              <a:rPr lang="tr-TR" sz="2000" b="1" dirty="0" smtClean="0">
                <a:solidFill>
                  <a:srgbClr val="FF0000"/>
                </a:solidFill>
              </a:rPr>
              <a:t>KUTUSU</a:t>
            </a:r>
            <a:endParaRPr lang="tr-TR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besi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620688"/>
            <a:ext cx="7634287" cy="5357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Pc\Desktop\sivi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548680"/>
            <a:ext cx="3429000" cy="2025650"/>
          </a:xfrm>
          <a:prstGeom prst="rect">
            <a:avLst/>
          </a:prstGeom>
          <a:noFill/>
        </p:spPr>
      </p:pic>
      <p:pic>
        <p:nvPicPr>
          <p:cNvPr id="3075" name="Picture 3" descr="C:\Users\Pc\Desktop\SIM%2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404664"/>
            <a:ext cx="3929090" cy="2428892"/>
          </a:xfrm>
          <a:prstGeom prst="rect">
            <a:avLst/>
          </a:prstGeom>
          <a:noFill/>
        </p:spPr>
      </p:pic>
      <p:pic>
        <p:nvPicPr>
          <p:cNvPr id="3076" name="Picture 4" descr="C:\Users\Pc\Desktop\920020137_img_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6056" y="2780928"/>
            <a:ext cx="3240360" cy="3600400"/>
          </a:xfrm>
          <a:prstGeom prst="rect">
            <a:avLst/>
          </a:prstGeom>
          <a:noFill/>
        </p:spPr>
      </p:pic>
      <p:pic>
        <p:nvPicPr>
          <p:cNvPr id="3078" name="Picture 6" descr="C:\Users\Pc\Desktop\siv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140968"/>
            <a:ext cx="2857520" cy="32083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Pc\Desktop\mikrobiyolojiUrunleri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692696"/>
            <a:ext cx="7358062" cy="5349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Pc\Desktop\Banne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836712"/>
            <a:ext cx="8229600" cy="4727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Pc\Desktop\bk059ha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548680"/>
            <a:ext cx="6753225" cy="56911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BESİYERİ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525963"/>
          </a:xfrm>
        </p:spPr>
        <p:txBody>
          <a:bodyPr/>
          <a:lstStyle/>
          <a:p>
            <a:pPr algn="just">
              <a:lnSpc>
                <a:spcPct val="80000"/>
              </a:lnSpc>
              <a:buNone/>
            </a:pPr>
            <a:r>
              <a:rPr lang="tr-TR" dirty="0" smtClean="0"/>
              <a:t>	</a:t>
            </a:r>
            <a:r>
              <a:rPr lang="tr-TR" b="1" dirty="0" smtClean="0"/>
              <a:t>Mikroorganizmaları bulundukları ortam </a:t>
            </a:r>
            <a:r>
              <a:rPr lang="tr-TR" b="1" i="1" dirty="0" smtClean="0"/>
              <a:t>dışında çoğaltmak için kullanılan, genel olarak </a:t>
            </a:r>
            <a:r>
              <a:rPr lang="tr-TR" b="1" dirty="0" smtClean="0"/>
              <a:t>mikroorganizmaların ihtiyaç duydukları besleyici ortamlara </a:t>
            </a:r>
            <a:r>
              <a:rPr lang="tr-TR" b="1" dirty="0" smtClean="0">
                <a:solidFill>
                  <a:srgbClr val="FF0000"/>
                </a:solidFill>
              </a:rPr>
              <a:t>BESİYERİ</a:t>
            </a:r>
            <a:r>
              <a:rPr lang="tr-TR" b="1" dirty="0" smtClean="0"/>
              <a:t> adı verilmektedir</a:t>
            </a:r>
          </a:p>
          <a:p>
            <a:pPr algn="just">
              <a:lnSpc>
                <a:spcPct val="80000"/>
              </a:lnSpc>
            </a:pPr>
            <a:endParaRPr lang="tr-TR" b="1" dirty="0" smtClean="0"/>
          </a:p>
          <a:p>
            <a:pPr algn="just">
              <a:lnSpc>
                <a:spcPct val="80000"/>
              </a:lnSpc>
              <a:buNone/>
            </a:pPr>
            <a:r>
              <a:rPr lang="tr-TR" b="1" dirty="0" smtClean="0"/>
              <a:t>	Mikroorganizmaların üretilmeleri dışında benzerlerinden ayırt edilmelerinde ve özelliklerinin belirlenmelerinde kullanılır</a:t>
            </a:r>
          </a:p>
          <a:p>
            <a:pPr algn="just">
              <a:lnSpc>
                <a:spcPct val="80000"/>
              </a:lnSpc>
              <a:buNone/>
            </a:pPr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332656"/>
            <a:ext cx="8424936" cy="6048672"/>
          </a:xfrm>
        </p:spPr>
        <p:txBody>
          <a:bodyPr/>
          <a:lstStyle/>
          <a:p>
            <a:pPr algn="just"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</a:t>
            </a:r>
            <a:r>
              <a:rPr lang="tr-TR" b="1" dirty="0" smtClean="0">
                <a:solidFill>
                  <a:srgbClr val="FF0000"/>
                </a:solidFill>
              </a:rPr>
              <a:t>BESİYERİ BİLEŞİMİNDE YER ALAN MADDELER</a:t>
            </a:r>
            <a:endParaRPr lang="tr-TR" b="1" dirty="0" smtClean="0"/>
          </a:p>
          <a:p>
            <a:pPr algn="just" eaLnBrk="1" hangingPunct="1">
              <a:buNone/>
            </a:pPr>
            <a:endParaRPr lang="tr-TR" sz="2800" b="1" dirty="0" smtClean="0"/>
          </a:p>
          <a:p>
            <a:pPr algn="just" eaLnBrk="1" hangingPunct="1"/>
            <a:r>
              <a:rPr lang="tr-TR" sz="2800" b="1" dirty="0" smtClean="0"/>
              <a:t>Su</a:t>
            </a:r>
          </a:p>
          <a:p>
            <a:pPr algn="just" eaLnBrk="1" hangingPunct="1"/>
            <a:r>
              <a:rPr lang="tr-TR" sz="2800" b="1" dirty="0" smtClean="0"/>
              <a:t>Karbon ve enerji kaynağı maddeler (karbonhidratlar, yokluğu ve yetersizliğinde proteinler vb.)</a:t>
            </a:r>
          </a:p>
          <a:p>
            <a:pPr algn="just" eaLnBrk="1" hangingPunct="1"/>
            <a:r>
              <a:rPr lang="tr-TR" sz="2800" b="1" dirty="0" smtClean="0"/>
              <a:t>Azot kaynağı maddeler (proteinler, peptonlar, amino asitler vb.)</a:t>
            </a:r>
          </a:p>
          <a:p>
            <a:pPr algn="just" eaLnBrk="1" hangingPunct="1"/>
            <a:r>
              <a:rPr lang="tr-TR" sz="2800" b="1" dirty="0" smtClean="0"/>
              <a:t>İnorganik maddeler (makro ve mikro elementler)</a:t>
            </a:r>
          </a:p>
          <a:p>
            <a:pPr algn="just" eaLnBrk="1" hangingPunct="1"/>
            <a:r>
              <a:rPr lang="tr-TR" sz="2800" b="1" dirty="0" smtClean="0"/>
              <a:t>Üreme faktörleri (vitaminler, aminoasitler, pürin ve </a:t>
            </a:r>
            <a:r>
              <a:rPr lang="tr-TR" sz="2800" b="1" dirty="0" err="1" smtClean="0"/>
              <a:t>pirimidinler</a:t>
            </a:r>
            <a:r>
              <a:rPr lang="tr-TR" sz="2800" b="1" dirty="0" smtClean="0"/>
              <a:t> vb.)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260648"/>
            <a:ext cx="8533456" cy="6221288"/>
          </a:xfrm>
        </p:spPr>
        <p:txBody>
          <a:bodyPr>
            <a:normAutofit fontScale="92500" lnSpcReduction="10000"/>
          </a:bodyPr>
          <a:lstStyle/>
          <a:p>
            <a:pPr marL="609600" indent="-609600">
              <a:lnSpc>
                <a:spcPct val="90000"/>
              </a:lnSpc>
              <a:buNone/>
            </a:pPr>
            <a:r>
              <a:rPr lang="tr-TR" sz="4300" b="1" dirty="0" smtClean="0">
                <a:solidFill>
                  <a:srgbClr val="FF0000"/>
                </a:solidFill>
              </a:rPr>
              <a:t>      BESİYERLERİNİN SINIFLANDIRILMASI</a:t>
            </a:r>
            <a:r>
              <a:rPr lang="tr-TR" sz="3600" b="1" i="1" dirty="0" smtClean="0"/>
              <a:t>	</a:t>
            </a:r>
            <a:endParaRPr lang="tr-TR" sz="2800" b="1" i="1" dirty="0" smtClean="0">
              <a:solidFill>
                <a:srgbClr val="7030A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800" b="1" i="1" dirty="0" smtClean="0">
                <a:solidFill>
                  <a:srgbClr val="7030A0"/>
                </a:solidFill>
              </a:rPr>
              <a:t>			1. GENEL OLARAK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Canlı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Doğal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Sentetik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600" b="1" i="1" dirty="0" smtClean="0"/>
              <a:t>			</a:t>
            </a:r>
            <a:r>
              <a:rPr lang="tr-TR" sz="2800" b="1" i="1" dirty="0" smtClean="0">
                <a:solidFill>
                  <a:srgbClr val="7030A0"/>
                </a:solidFill>
              </a:rPr>
              <a:t>2. FİZİKSEL ÖZELLİKLERİNE GÖRE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Katı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Sıvı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600" b="1" i="1" dirty="0" smtClean="0"/>
              <a:t>			</a:t>
            </a:r>
            <a:r>
              <a:rPr lang="tr-TR" sz="2800" b="1" i="1" dirty="0" smtClean="0">
                <a:solidFill>
                  <a:srgbClr val="7030A0"/>
                </a:solidFill>
              </a:rPr>
              <a:t>3. KAYNAKLARINA GÖRE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Hayvansal kaynaklı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Bitkisel kaynaklı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600" b="1" i="1" dirty="0" smtClean="0"/>
              <a:t>			</a:t>
            </a:r>
            <a:r>
              <a:rPr lang="tr-TR" sz="2800" b="1" i="1" dirty="0" smtClean="0">
                <a:solidFill>
                  <a:srgbClr val="7030A0"/>
                </a:solidFill>
              </a:rPr>
              <a:t>4. KULLANIM AMACINA GÖRE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Genel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</a:pPr>
            <a:r>
              <a:rPr lang="tr-TR" sz="2600" b="1" dirty="0" smtClean="0"/>
              <a:t>Özel </a:t>
            </a:r>
            <a:r>
              <a:rPr lang="tr-TR" sz="2600" b="1" dirty="0" err="1" smtClean="0"/>
              <a:t>besiyerleri</a:t>
            </a:r>
            <a:endParaRPr lang="tr-TR" sz="2600" b="1" dirty="0" smtClean="0"/>
          </a:p>
          <a:p>
            <a:pPr marL="609600" indent="-609600" eaLnBrk="1" hangingPunct="1">
              <a:lnSpc>
                <a:spcPct val="90000"/>
              </a:lnSpc>
            </a:pPr>
            <a:endParaRPr lang="tr-TR" sz="2000" b="1" dirty="0" smtClean="0"/>
          </a:p>
          <a:p>
            <a:pPr marL="609600" indent="-609600" eaLnBrk="1" hangingPunct="1">
              <a:lnSpc>
                <a:spcPct val="90000"/>
              </a:lnSpc>
            </a:pPr>
            <a:endParaRPr lang="tr-TR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z="3400" b="1" dirty="0" smtClean="0">
                <a:solidFill>
                  <a:srgbClr val="FF0000"/>
                </a:solidFill>
              </a:rPr>
              <a:t>2. FİZİKSEL ÖZELLİKLERİNE GÖRE BESİYERLERİ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91513" cy="456565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endParaRPr lang="tr-TR" sz="2000" dirty="0" smtClean="0">
              <a:solidFill>
                <a:schemeClr val="hlink"/>
              </a:solidFill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lang="tr-TR" sz="2400" b="1" dirty="0" smtClean="0"/>
              <a:t>			</a:t>
            </a:r>
            <a:r>
              <a:rPr lang="tr-TR" sz="2800" b="1" dirty="0" smtClean="0">
                <a:solidFill>
                  <a:srgbClr val="00B050"/>
                </a:solidFill>
              </a:rPr>
              <a:t>KATI BESİYERLERİ</a:t>
            </a:r>
          </a:p>
          <a:p>
            <a:pPr algn="just" eaLnBrk="1" hangingPunct="1">
              <a:lnSpc>
                <a:spcPct val="80000"/>
              </a:lnSpc>
            </a:pPr>
            <a:r>
              <a:rPr lang="tr-TR" sz="2400" b="1" dirty="0" smtClean="0"/>
              <a:t>İçerisinde katılaştırıcı ajan bulunmaktadır.</a:t>
            </a:r>
          </a:p>
          <a:p>
            <a:pPr algn="just" eaLnBrk="1" hangingPunct="1">
              <a:lnSpc>
                <a:spcPct val="80000"/>
              </a:lnSpc>
            </a:pPr>
            <a:r>
              <a:rPr lang="tr-TR" sz="2400" b="1" dirty="0" smtClean="0"/>
              <a:t>Katılaştırıcı ajan(madde) genel olarak </a:t>
            </a:r>
            <a:r>
              <a:rPr lang="tr-TR" sz="2400" b="1" dirty="0" err="1" smtClean="0"/>
              <a:t>agar’dır</a:t>
            </a:r>
            <a:r>
              <a:rPr lang="tr-TR" sz="2400" b="1" dirty="0" smtClean="0"/>
              <a:t>. </a:t>
            </a:r>
          </a:p>
          <a:p>
            <a:pPr algn="just" eaLnBrk="1" hangingPunct="1">
              <a:lnSpc>
                <a:spcPct val="80000"/>
              </a:lnSpc>
            </a:pPr>
            <a:r>
              <a:rPr lang="tr-TR" sz="2400" b="1" dirty="0" smtClean="0"/>
              <a:t>Jelatin, pıhtılaştırılmış serum, yumurta ve mikroorganizmalar için </a:t>
            </a:r>
            <a:r>
              <a:rPr lang="tr-TR" sz="2400" b="1" dirty="0" err="1" smtClean="0"/>
              <a:t>inert</a:t>
            </a:r>
            <a:r>
              <a:rPr lang="tr-TR" sz="2400" b="1" dirty="0" smtClean="0"/>
              <a:t> maddeler olan silika jel, </a:t>
            </a:r>
            <a:r>
              <a:rPr lang="tr-TR" sz="2400" b="1" dirty="0" err="1" smtClean="0"/>
              <a:t>karregenanlar</a:t>
            </a:r>
            <a:r>
              <a:rPr lang="tr-TR" sz="2400" b="1" dirty="0" smtClean="0"/>
              <a:t>, </a:t>
            </a:r>
            <a:r>
              <a:rPr lang="tr-TR" sz="2400" b="1" dirty="0" err="1" smtClean="0"/>
              <a:t>aljinatlar</a:t>
            </a:r>
            <a:r>
              <a:rPr lang="tr-TR" sz="2400" b="1" dirty="0" smtClean="0"/>
              <a:t> ve </a:t>
            </a:r>
            <a:r>
              <a:rPr lang="tr-TR" sz="2400" b="1" dirty="0" err="1" smtClean="0"/>
              <a:t>poliakrilamidler</a:t>
            </a:r>
            <a:r>
              <a:rPr lang="tr-TR" sz="2400" b="1" dirty="0" smtClean="0"/>
              <a:t> katılaştırıcı ajan olarak kullanılabilmektedir.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tr-TR" sz="2400" b="1" dirty="0" smtClean="0"/>
              <a:t> </a:t>
            </a:r>
            <a:endParaRPr lang="tr-TR" sz="2800" b="1" dirty="0" smtClean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tr-TR" sz="2800" b="1" dirty="0" smtClean="0">
                <a:solidFill>
                  <a:srgbClr val="00B050"/>
                </a:solidFill>
              </a:rPr>
              <a:t>			SIVI BESİYERLERİ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dirty="0" smtClean="0"/>
              <a:t>İçerisinde katılaştırıcı ajan bulunmayan ve daha çok üremeyi teşvik edici </a:t>
            </a:r>
            <a:r>
              <a:rPr lang="tr-TR" sz="2400" b="1" dirty="0" err="1" smtClean="0"/>
              <a:t>besiyerleridir</a:t>
            </a:r>
            <a:r>
              <a:rPr lang="tr-TR" sz="2400" b="1" dirty="0" smtClean="0"/>
              <a:t>.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2400" b="1" dirty="0" smtClean="0"/>
              <a:t>    (Pepton </a:t>
            </a:r>
            <a:r>
              <a:rPr lang="tr-TR" sz="2400" b="1" dirty="0" err="1" smtClean="0"/>
              <a:t>Water</a:t>
            </a:r>
            <a:r>
              <a:rPr lang="tr-TR" sz="2400" b="1" dirty="0" smtClean="0"/>
              <a:t>, </a:t>
            </a:r>
            <a:r>
              <a:rPr lang="tr-TR" sz="2400" b="1" dirty="0" err="1" smtClean="0"/>
              <a:t>Nutrient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Broth</a:t>
            </a:r>
            <a:r>
              <a:rPr lang="tr-TR" sz="2400" b="1" dirty="0" smtClean="0"/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endParaRPr lang="tr-TR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idx="4294967295"/>
          </p:nvPr>
        </p:nvSpPr>
        <p:spPr>
          <a:xfrm>
            <a:off x="395536" y="548680"/>
            <a:ext cx="8280920" cy="5976664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En sık kullanılan sıvı besi yeri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b="1" dirty="0" err="1" smtClean="0">
                <a:solidFill>
                  <a:srgbClr val="FF0000"/>
                </a:solidFill>
              </a:rPr>
              <a:t>buyyon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b="1" dirty="0" smtClean="0"/>
              <a:t>dur</a:t>
            </a:r>
          </a:p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err="1" smtClean="0"/>
              <a:t>Buyyon</a:t>
            </a:r>
            <a:r>
              <a:rPr lang="tr-TR" b="1" dirty="0" smtClean="0"/>
              <a:t>; peptonlu, tuzlu,et suyudur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i="1" u="sng" dirty="0" smtClean="0">
                <a:solidFill>
                  <a:srgbClr val="0070C0"/>
                </a:solidFill>
              </a:rPr>
              <a:t>PEPTON:</a:t>
            </a:r>
            <a:r>
              <a:rPr lang="tr-TR" b="1" dirty="0" smtClean="0">
                <a:solidFill>
                  <a:srgbClr val="0070C0"/>
                </a:solidFill>
              </a:rPr>
              <a:t> </a:t>
            </a:r>
            <a:r>
              <a:rPr lang="tr-TR" b="1" dirty="0" smtClean="0"/>
              <a:t>proteinlerin hidrolizi ile elde edilen ürünlere verilen genel bir isimdir.</a:t>
            </a:r>
          </a:p>
          <a:p>
            <a:pPr>
              <a:buNone/>
            </a:pPr>
            <a:r>
              <a:rPr lang="tr-TR" b="1" dirty="0" smtClean="0"/>
              <a:t>(et,karaciğer,alyuvar,fibrin,kazein,soya,fasulyesi vs.. gibi proteinli maddelerin çeşitli enzimlerle işleme sokulması sonucunda elde edilen ürün)</a:t>
            </a:r>
            <a:endParaRPr lang="tr-TR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tr-TR" sz="4000" b="1" dirty="0" smtClean="0">
                <a:solidFill>
                  <a:srgbClr val="FF0000"/>
                </a:solidFill>
              </a:rPr>
              <a:t>			     AGAR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err="1" smtClean="0"/>
              <a:t>Agar</a:t>
            </a:r>
            <a:r>
              <a:rPr lang="tr-TR" b="1" dirty="0" smtClean="0"/>
              <a:t> su yosunlarından elde edilen uzun zincirli POLİSAKKARİT </a:t>
            </a:r>
            <a:r>
              <a:rPr lang="tr-TR" b="1" dirty="0" err="1" smtClean="0"/>
              <a:t>dir</a:t>
            </a:r>
            <a:r>
              <a:rPr lang="tr-TR" b="1" dirty="0" smtClean="0"/>
              <a:t>.Kelime olarak </a:t>
            </a:r>
            <a:r>
              <a:rPr lang="tr-TR" b="1" dirty="0" smtClean="0">
                <a:hlinkClick r:id="rId2" tooltip="Malayca"/>
              </a:rPr>
              <a:t>Malayca</a:t>
            </a:r>
            <a:r>
              <a:rPr lang="tr-TR" b="1" dirty="0" smtClean="0"/>
              <a:t> "jel" anlamına gelen "</a:t>
            </a:r>
            <a:r>
              <a:rPr lang="tr-TR" b="1" dirty="0" err="1" smtClean="0"/>
              <a:t>agar</a:t>
            </a:r>
            <a:r>
              <a:rPr lang="tr-TR" b="1" dirty="0" smtClean="0"/>
              <a:t>-</a:t>
            </a:r>
            <a:r>
              <a:rPr lang="tr-TR" b="1" dirty="0" err="1" smtClean="0"/>
              <a:t>agar</a:t>
            </a:r>
            <a:r>
              <a:rPr lang="tr-TR" b="1" dirty="0" smtClean="0"/>
              <a:t>" kelimesinden gelmektedir.</a:t>
            </a:r>
            <a:endParaRPr lang="tr-TR" b="1" baseline="30000" dirty="0" smtClean="0"/>
          </a:p>
          <a:p>
            <a:r>
              <a:rPr lang="tr-TR" b="1" dirty="0" smtClean="0"/>
              <a:t> </a:t>
            </a:r>
            <a:r>
              <a:rPr lang="tr-TR" b="1" dirty="0" err="1" smtClean="0"/>
              <a:t>Agar</a:t>
            </a:r>
            <a:r>
              <a:rPr lang="tr-TR" b="1" dirty="0" smtClean="0"/>
              <a:t>, mikrobiyolojik testlerde, dişçilikte, elektrokimyada, </a:t>
            </a:r>
            <a:r>
              <a:rPr lang="tr-TR" b="1" dirty="0" err="1" smtClean="0"/>
              <a:t>formikaryum</a:t>
            </a:r>
            <a:r>
              <a:rPr lang="tr-TR" b="1" dirty="0" smtClean="0"/>
              <a:t> yapımında (deneysel karınca evi) vs. alanlarda malzeme olarak kullanılmaktadır</a:t>
            </a:r>
          </a:p>
          <a:p>
            <a:r>
              <a:rPr lang="tr-TR" b="1" dirty="0" smtClean="0"/>
              <a:t> </a:t>
            </a:r>
            <a:r>
              <a:rPr lang="tr-TR" b="1" dirty="0" err="1" smtClean="0"/>
              <a:t>Agar</a:t>
            </a:r>
            <a:r>
              <a:rPr lang="tr-TR" b="1" dirty="0" smtClean="0"/>
              <a:t>, çorba, dondurma ve jöleli yiyeceklerde kıvam artırıcı olarak kullanılır.</a:t>
            </a:r>
            <a:endParaRPr lang="tr-TR" b="1" baseline="30000" dirty="0" smtClean="0"/>
          </a:p>
          <a:p>
            <a:r>
              <a:rPr lang="tr-TR" b="1" dirty="0" err="1" smtClean="0"/>
              <a:t>Anmitsu</a:t>
            </a:r>
            <a:r>
              <a:rPr lang="tr-TR" b="1" dirty="0" smtClean="0"/>
              <a:t> ve </a:t>
            </a:r>
            <a:r>
              <a:rPr lang="tr-TR" b="1" dirty="0" err="1" smtClean="0"/>
              <a:t>Mizuyōkan</a:t>
            </a:r>
            <a:r>
              <a:rPr lang="tr-TR" b="1" dirty="0" smtClean="0"/>
              <a:t> gibi geleneksel Japon yiyeceklerinin imalatında kullanılır.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z="3400" b="1" dirty="0" smtClean="0">
                <a:solidFill>
                  <a:srgbClr val="FF0000"/>
                </a:solidFill>
              </a:rPr>
              <a:t>4. KULLANIM AMACINA GÖRE BESİYERLERİ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2400" b="1" dirty="0" smtClean="0">
                <a:solidFill>
                  <a:srgbClr val="7030A0"/>
                </a:solidFill>
              </a:rPr>
              <a:t>GENEL BESİYERLERİ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tr-TR" sz="2400" b="1" dirty="0" smtClean="0"/>
              <a:t>          Birçok </a:t>
            </a:r>
            <a:r>
              <a:rPr lang="tr-TR" sz="2400" b="1" dirty="0" err="1" smtClean="0"/>
              <a:t>mikrorganizmanın</a:t>
            </a:r>
            <a:r>
              <a:rPr lang="tr-TR" sz="2400" b="1" dirty="0" smtClean="0"/>
              <a:t> üremesine olanak sağlayan </a:t>
            </a:r>
            <a:r>
              <a:rPr lang="tr-TR" sz="2400" b="1" dirty="0" err="1" smtClean="0"/>
              <a:t>besiyerleridir</a:t>
            </a:r>
            <a:r>
              <a:rPr lang="tr-TR" sz="2400" b="1" dirty="0" smtClean="0"/>
              <a:t>. (</a:t>
            </a:r>
            <a:r>
              <a:rPr lang="tr-TR" sz="2400" b="1" dirty="0" err="1" smtClean="0"/>
              <a:t>Nutrient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Broth</a:t>
            </a:r>
            <a:r>
              <a:rPr lang="tr-TR" sz="2400" b="1" dirty="0" smtClean="0"/>
              <a:t>, </a:t>
            </a:r>
            <a:r>
              <a:rPr lang="tr-TR" sz="2400" b="1" dirty="0" err="1" smtClean="0"/>
              <a:t>Nutrient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Agar</a:t>
            </a:r>
            <a:r>
              <a:rPr lang="tr-TR" sz="2400" b="1" dirty="0" smtClean="0"/>
              <a:t>) Laktik asit bakterileri ve üretimi zor olan patojen bakteriler  dışında pek çok bakteri üreyebilmektedir.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tr-TR" sz="2400" b="1" dirty="0" smtClean="0">
                <a:solidFill>
                  <a:srgbClr val="7030A0"/>
                </a:solidFill>
              </a:rPr>
              <a:t>ÖZEL BESİYERLERİ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tr-TR" sz="2400" b="1" dirty="0" smtClean="0"/>
              <a:t>          Belirli bir amaç veya belirli bir mikroorganizma için kullanılan </a:t>
            </a:r>
            <a:r>
              <a:rPr lang="tr-TR" sz="2400" b="1" dirty="0" err="1" smtClean="0"/>
              <a:t>besiyerleridir</a:t>
            </a:r>
            <a:r>
              <a:rPr lang="tr-TR" sz="2400" b="1" dirty="0" smtClean="0"/>
              <a:t>.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tr-TR" sz="2400" b="1" dirty="0" smtClean="0">
                <a:solidFill>
                  <a:srgbClr val="0070C0"/>
                </a:solidFill>
              </a:rPr>
              <a:t>Zenginleştirilmiş besi yeri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tr-TR" sz="2400" b="1" dirty="0" smtClean="0">
                <a:solidFill>
                  <a:srgbClr val="0070C0"/>
                </a:solidFill>
              </a:rPr>
              <a:t>Ayırt edici  besi yeri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tr-TR" sz="2400" b="1" dirty="0" smtClean="0">
                <a:solidFill>
                  <a:srgbClr val="0070C0"/>
                </a:solidFill>
              </a:rPr>
              <a:t>Çoğaltma besi yeri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tr-TR" sz="2400" b="1" dirty="0" smtClean="0">
                <a:solidFill>
                  <a:srgbClr val="0070C0"/>
                </a:solidFill>
              </a:rPr>
              <a:t>Transport besi yeri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tr-TR" sz="2400" b="1" dirty="0" smtClean="0">
                <a:solidFill>
                  <a:srgbClr val="0070C0"/>
                </a:solidFill>
              </a:rPr>
              <a:t> Seçici besi yeri   vb….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z="3400" b="1" dirty="0" smtClean="0">
                <a:solidFill>
                  <a:srgbClr val="FF0000"/>
                </a:solidFill>
              </a:rPr>
              <a:t>BESİYERİ BİLEŞİMİNE GİREN TEMEL MADDELER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r-TR" sz="2800" b="1" dirty="0" err="1" smtClean="0"/>
              <a:t>Agar</a:t>
            </a:r>
            <a:endParaRPr lang="tr-TR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Pepton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err="1" smtClean="0"/>
              <a:t>Yeast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extract</a:t>
            </a:r>
            <a:r>
              <a:rPr lang="tr-TR" sz="2800" b="1" dirty="0" smtClean="0"/>
              <a:t> (Maya </a:t>
            </a:r>
            <a:r>
              <a:rPr lang="tr-TR" sz="2800" b="1" dirty="0" err="1" smtClean="0"/>
              <a:t>Ekstraktı</a:t>
            </a:r>
            <a:r>
              <a:rPr lang="tr-TR" sz="2800" b="1" dirty="0" smtClean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err="1" smtClean="0"/>
              <a:t>Beef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extract</a:t>
            </a:r>
            <a:r>
              <a:rPr lang="tr-TR" sz="2800" b="1" dirty="0" smtClean="0"/>
              <a:t> (Et </a:t>
            </a:r>
            <a:r>
              <a:rPr lang="tr-TR" sz="2800" b="1" dirty="0" err="1" smtClean="0"/>
              <a:t>Ekstraktı</a:t>
            </a:r>
            <a:r>
              <a:rPr lang="tr-TR" sz="2800" b="1" dirty="0" smtClean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Tuz (</a:t>
            </a:r>
            <a:r>
              <a:rPr lang="tr-TR" sz="2800" b="1" dirty="0" err="1" smtClean="0"/>
              <a:t>NaCl</a:t>
            </a:r>
            <a:r>
              <a:rPr lang="tr-TR" sz="2800" b="1" dirty="0" smtClean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Jelatin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Karbonhidratlar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Kan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Tampon maddeler (</a:t>
            </a:r>
            <a:r>
              <a:rPr lang="tr-TR" sz="2800" b="1" dirty="0" err="1" smtClean="0"/>
              <a:t>Buffer</a:t>
            </a:r>
            <a:r>
              <a:rPr lang="tr-TR" sz="2800" b="1" dirty="0" smtClean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İnorganik Maddeler</a:t>
            </a:r>
          </a:p>
          <a:p>
            <a:pPr eaLnBrk="1" hangingPunct="1">
              <a:lnSpc>
                <a:spcPct val="80000"/>
              </a:lnSpc>
            </a:pPr>
            <a:endParaRPr lang="tr-TR" sz="2800" dirty="0" smtClean="0"/>
          </a:p>
          <a:p>
            <a:pPr eaLnBrk="1" hangingPunct="1">
              <a:lnSpc>
                <a:spcPct val="80000"/>
              </a:lnSpc>
            </a:pPr>
            <a:endParaRPr lang="tr-T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260648"/>
            <a:ext cx="8424936" cy="640871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</a:t>
            </a:r>
            <a:r>
              <a:rPr lang="tr-TR" b="1" dirty="0" smtClean="0">
                <a:solidFill>
                  <a:srgbClr val="FF0000"/>
                </a:solidFill>
              </a:rPr>
              <a:t>BESİYERİ BİLEŞİMİNE GİREN TEMEL MADDELER		</a:t>
            </a:r>
            <a:endParaRPr lang="tr-TR" sz="2400" b="1" i="1" u="sng" dirty="0" smtClean="0"/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AGAR: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/>
              <a:t>Besiyerlerinde</a:t>
            </a:r>
            <a:r>
              <a:rPr lang="tr-TR" sz="2400" b="1" dirty="0" smtClean="0"/>
              <a:t> katılaştırıcı ajandır. Bazı deniz yosunlarından elde edilir.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PEPTON: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smtClean="0"/>
              <a:t>proteinlerin hidrolizi ile elde edilen ürünlere verilen genel bir isimdir. Proteinleri (enzim sistemleri olmadığı için) çok az sayıda </a:t>
            </a:r>
            <a:r>
              <a:rPr lang="tr-TR" sz="2400" b="1" dirty="0" err="1" smtClean="0"/>
              <a:t>mikrorganizma</a:t>
            </a:r>
            <a:r>
              <a:rPr lang="tr-TR" sz="2400" b="1" dirty="0" smtClean="0"/>
              <a:t>  azot kaynağı olarak kullanabilmektedir.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YEAST EXTRACT: </a:t>
            </a:r>
            <a:r>
              <a:rPr lang="tr-TR" sz="2400" b="1" dirty="0" smtClean="0"/>
              <a:t>Ekmek mayasından (</a:t>
            </a:r>
            <a:r>
              <a:rPr lang="tr-TR" sz="2400" b="1" dirty="0" err="1" smtClean="0"/>
              <a:t>Saccharomyces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cerevisiae</a:t>
            </a:r>
            <a:r>
              <a:rPr lang="tr-TR" sz="2400" b="1" dirty="0" smtClean="0"/>
              <a:t>)enzim veya asit hidrolizi ya da </a:t>
            </a:r>
            <a:r>
              <a:rPr lang="tr-TR" sz="2400" b="1" dirty="0" err="1" smtClean="0"/>
              <a:t>otolizasyonu</a:t>
            </a:r>
            <a:r>
              <a:rPr lang="tr-TR" sz="2400" b="1" dirty="0" smtClean="0"/>
              <a:t> yolu elde edilir.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dirty="0" smtClean="0"/>
              <a:t>Suda çözünebilen azotlu maddeler, vitaminler özellikle de B kompleks vitaminleri yönünden zengin bir kaynaktır.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BEEF EXTRACT</a:t>
            </a:r>
            <a:r>
              <a:rPr lang="tr-TR" sz="2400" b="1" dirty="0" smtClean="0">
                <a:solidFill>
                  <a:srgbClr val="7030A0"/>
                </a:solidFill>
              </a:rPr>
              <a:t>: </a:t>
            </a:r>
            <a:r>
              <a:rPr lang="tr-TR" sz="2400" b="1" dirty="0" smtClean="0"/>
              <a:t>Genellikle yağsız sığır etinden elde edilir. Protein içermez ancak suda çözünen azotlu maddeler ile suda çözünen mineral maddeler, iz elementler, üreme faktörleri ve çok az miktarda karbonhidrat içerirler.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dirty="0" err="1" smtClean="0"/>
              <a:t>Besiyerlerine</a:t>
            </a:r>
            <a:r>
              <a:rPr lang="tr-TR" sz="2400" b="1" dirty="0" smtClean="0"/>
              <a:t> genellikle % 1 oranında eklenir.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TUZ:</a:t>
            </a:r>
            <a:r>
              <a:rPr lang="tr-TR" sz="2400" b="1" dirty="0" smtClean="0">
                <a:solidFill>
                  <a:srgbClr val="7030A0"/>
                </a:solidFill>
              </a:rPr>
              <a:t>  </a:t>
            </a:r>
            <a:r>
              <a:rPr lang="tr-TR" sz="2400" b="1" dirty="0" err="1" smtClean="0"/>
              <a:t>izotonik</a:t>
            </a:r>
            <a:r>
              <a:rPr lang="tr-TR" sz="2400" b="1" dirty="0" smtClean="0"/>
              <a:t> ortam yaratmak amacıyla kullanılır.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260648"/>
            <a:ext cx="8640960" cy="6336704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tr-TR" b="1" dirty="0" smtClean="0">
                <a:solidFill>
                  <a:srgbClr val="FF0000"/>
                </a:solidFill>
              </a:rPr>
              <a:t>	BESİYERİ BİLEŞİMİNE GİREN TEMEL MADDELER</a:t>
            </a:r>
            <a:endParaRPr lang="tr-TR" b="1" i="1" u="sng" dirty="0" smtClean="0"/>
          </a:p>
          <a:p>
            <a:pPr eaLnBrk="1" hangingPunct="1">
              <a:lnSpc>
                <a:spcPct val="80000"/>
              </a:lnSpc>
            </a:pPr>
            <a:endParaRPr lang="tr-TR" sz="2400" b="1" i="1" u="sng" dirty="0" smtClean="0"/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JELATİN: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smtClean="0"/>
              <a:t>Süt emmekte olan hayvanların kemiklerinden elde edilir. Protein yapıdadır. </a:t>
            </a:r>
            <a:r>
              <a:rPr lang="tr-TR" sz="2400" b="1" dirty="0" err="1" smtClean="0"/>
              <a:t>Katılaşıtırıcı</a:t>
            </a:r>
            <a:r>
              <a:rPr lang="tr-TR" sz="2400" b="1" dirty="0" smtClean="0"/>
              <a:t> ajan olmaktan çok mikroorganizmaların </a:t>
            </a:r>
            <a:r>
              <a:rPr lang="tr-TR" sz="2400" b="1" dirty="0" err="1" smtClean="0"/>
              <a:t>proteolitik</a:t>
            </a:r>
            <a:r>
              <a:rPr lang="tr-TR" sz="2400" b="1" dirty="0" smtClean="0"/>
              <a:t> enzim aktivitesini ortaya koymak amacıyla kullanılır.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KARBONHİDRATLAR: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/>
              <a:t>Besiyerlerine</a:t>
            </a:r>
            <a:r>
              <a:rPr lang="tr-TR" sz="2400" b="1" dirty="0" smtClean="0"/>
              <a:t> genellikle % 0.1- 1.0 oranında katılırlar. Bazı karbonhidratlar belirli bazı tuzlarla birlikte otoklavda sterilize edilirse </a:t>
            </a:r>
            <a:r>
              <a:rPr lang="tr-TR" sz="2400" b="1" dirty="0" err="1" smtClean="0"/>
              <a:t>besiyerinde</a:t>
            </a:r>
            <a:r>
              <a:rPr lang="tr-TR" sz="2400" b="1" dirty="0" smtClean="0"/>
              <a:t> mikroorganizmaların üremesini </a:t>
            </a:r>
            <a:r>
              <a:rPr lang="tr-TR" sz="2400" b="1" dirty="0" err="1" smtClean="0"/>
              <a:t>inhibe</a:t>
            </a:r>
            <a:r>
              <a:rPr lang="tr-TR" sz="2400" b="1" dirty="0" smtClean="0"/>
              <a:t> eden bileşikler meydana getirebilmektedir.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KAN:</a:t>
            </a:r>
            <a:r>
              <a:rPr lang="tr-TR" sz="2400" b="1" dirty="0" smtClean="0">
                <a:solidFill>
                  <a:srgbClr val="7030A0"/>
                </a:solidFill>
              </a:rPr>
              <a:t>  </a:t>
            </a:r>
            <a:r>
              <a:rPr lang="tr-TR" sz="2400" b="1" dirty="0" smtClean="0"/>
              <a:t>belirli bazı </a:t>
            </a:r>
            <a:r>
              <a:rPr lang="tr-TR" sz="2400" b="1" dirty="0" err="1" smtClean="0"/>
              <a:t>besiyerlerine</a:t>
            </a:r>
            <a:r>
              <a:rPr lang="tr-TR" sz="2400" b="1" dirty="0" smtClean="0"/>
              <a:t> zenginleştirme veya bakterilerin </a:t>
            </a:r>
            <a:r>
              <a:rPr lang="tr-TR" sz="2400" b="1" dirty="0" err="1" smtClean="0"/>
              <a:t>hemoliz</a:t>
            </a:r>
            <a:r>
              <a:rPr lang="tr-TR" sz="2400" b="1" dirty="0" smtClean="0"/>
              <a:t> yapma durumunu ortaya koyma amaçlarıyla eklenir.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TAMPON MADDELER (BUFFER): </a:t>
            </a:r>
            <a:r>
              <a:rPr lang="tr-TR" sz="2400" b="1" dirty="0" smtClean="0"/>
              <a:t>çözelti içerisindeki ani ve hızlı </a:t>
            </a:r>
            <a:r>
              <a:rPr lang="tr-TR" sz="2400" b="1" dirty="0" err="1" smtClean="0"/>
              <a:t>pH</a:t>
            </a:r>
            <a:r>
              <a:rPr lang="tr-TR" sz="2400" b="1" dirty="0" smtClean="0"/>
              <a:t> değişimlerini kontrol etmek için eklenen zayıf asit veya bazların tuzlarıdır.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b="1" i="1" u="sng" dirty="0" smtClean="0">
                <a:solidFill>
                  <a:srgbClr val="7030A0"/>
                </a:solidFill>
              </a:rPr>
              <a:t>İNORGANİK MADDELER: </a:t>
            </a:r>
            <a:r>
              <a:rPr lang="tr-TR" sz="2400" b="1" dirty="0" err="1" smtClean="0"/>
              <a:t>Besiyerlerinin</a:t>
            </a:r>
            <a:r>
              <a:rPr lang="tr-TR" sz="2400" b="1" dirty="0" smtClean="0"/>
              <a:t> pek çoğunda bu bileşenlere ayrıca yer verilmemektedir. Çünkü pepton, </a:t>
            </a:r>
            <a:r>
              <a:rPr lang="tr-TR" sz="2400" b="1" dirty="0" err="1" smtClean="0"/>
              <a:t>yeast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extract</a:t>
            </a:r>
            <a:r>
              <a:rPr lang="tr-TR" sz="2400" b="1" dirty="0" smtClean="0"/>
              <a:t>, </a:t>
            </a:r>
            <a:r>
              <a:rPr lang="tr-TR" sz="2400" b="1" dirty="0" err="1" smtClean="0"/>
              <a:t>beef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extract</a:t>
            </a:r>
            <a:r>
              <a:rPr lang="tr-TR" sz="2400" b="1" dirty="0" smtClean="0"/>
              <a:t>, tampon maddeler ile </a:t>
            </a:r>
            <a:r>
              <a:rPr lang="tr-TR" sz="2400" b="1" dirty="0" err="1" smtClean="0"/>
              <a:t>agar</a:t>
            </a:r>
            <a:r>
              <a:rPr lang="tr-TR" sz="2400" b="1" dirty="0" smtClean="0"/>
              <a:t> gibi maddelerde yeterli düzeyde inorganik madde bulunmaktadır. </a:t>
            </a:r>
            <a:endParaRPr lang="tr-TR" sz="2400" b="1" i="1" dirty="0" smtClean="0"/>
          </a:p>
          <a:p>
            <a:pPr eaLnBrk="1" hangingPunct="1">
              <a:lnSpc>
                <a:spcPct val="80000"/>
              </a:lnSpc>
            </a:pPr>
            <a:endParaRPr lang="tr-TR" sz="2400" b="1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404664"/>
            <a:ext cx="8208912" cy="6048672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None/>
            </a:pPr>
            <a:r>
              <a:rPr lang="tr-TR" sz="2800" b="1" dirty="0" smtClean="0"/>
              <a:t>   </a:t>
            </a:r>
            <a:r>
              <a:rPr lang="tr-TR" b="1" dirty="0" smtClean="0">
                <a:solidFill>
                  <a:srgbClr val="FF0000"/>
                </a:solidFill>
              </a:rPr>
              <a:t>BESİYERLERİNİN SAHİP OLMASI GEREKEN ÖZELİKLER</a:t>
            </a:r>
          </a:p>
          <a:p>
            <a:pPr eaLnBrk="1" hangingPunct="1">
              <a:lnSpc>
                <a:spcPct val="80000"/>
              </a:lnSpc>
              <a:buNone/>
            </a:pPr>
            <a:endParaRPr lang="tr-TR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BESİYERİ HAZIRLIK AŞAMALARI</a:t>
            </a:r>
          </a:p>
          <a:p>
            <a:pPr eaLnBrk="1" hangingPunct="1">
              <a:lnSpc>
                <a:spcPct val="80000"/>
              </a:lnSpc>
              <a:buNone/>
            </a:pPr>
            <a:endParaRPr lang="tr-TR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/>
              <a:t>STERİLİZASYON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2800" b="1" dirty="0" smtClean="0"/>
              <a:t>   (Genellikle </a:t>
            </a:r>
            <a:r>
              <a:rPr lang="tr-TR" sz="2800" b="1" dirty="0" err="1" smtClean="0"/>
              <a:t>besiyerleri</a:t>
            </a:r>
            <a:r>
              <a:rPr lang="tr-TR" sz="2800" b="1" dirty="0" smtClean="0"/>
              <a:t> otoklavda 115 -134 </a:t>
            </a:r>
            <a:r>
              <a:rPr lang="en-US" sz="2800" b="1" dirty="0" smtClean="0">
                <a:cs typeface="Arial" charset="0"/>
              </a:rPr>
              <a:t>°</a:t>
            </a:r>
            <a:r>
              <a:rPr lang="tr-TR" sz="2800" b="1" dirty="0" err="1" smtClean="0">
                <a:cs typeface="Arial" charset="0"/>
              </a:rPr>
              <a:t>C’ler</a:t>
            </a:r>
            <a:r>
              <a:rPr lang="tr-TR" sz="2800" b="1" dirty="0" smtClean="0">
                <a:cs typeface="Arial" charset="0"/>
              </a:rPr>
              <a:t> arasında belli süre sterilize edilmektedir)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tr-TR" sz="2800" b="1" dirty="0" smtClean="0"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r-TR" sz="2800" b="1" dirty="0" smtClean="0">
                <a:cs typeface="Arial" charset="0"/>
              </a:rPr>
              <a:t>Genel bir kural olarak sterilizasyonda yüksek sıcaklık- kısa süre uygulamasının daha uygun olduğu kabul edilmektedir</a:t>
            </a:r>
            <a:endParaRPr lang="en-US" sz="2800" b="1" dirty="0" smtClean="0"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endParaRPr lang="tr-TR" sz="2800" b="1" dirty="0" smtClean="0"/>
          </a:p>
          <a:p>
            <a:pPr eaLnBrk="1" hangingPunct="1">
              <a:lnSpc>
                <a:spcPct val="80000"/>
              </a:lnSpc>
            </a:pPr>
            <a:endParaRPr lang="tr-T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KÜLTÜR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 smtClean="0"/>
              <a:t>		</a:t>
            </a:r>
            <a:r>
              <a:rPr lang="tr-TR" dirty="0" smtClean="0">
                <a:solidFill>
                  <a:srgbClr val="7030A0"/>
                </a:solidFill>
              </a:rPr>
              <a:t>	</a:t>
            </a:r>
            <a:r>
              <a:rPr lang="tr-TR" b="1" dirty="0" smtClean="0">
                <a:solidFill>
                  <a:srgbClr val="7030A0"/>
                </a:solidFill>
              </a:rPr>
              <a:t>TANIM</a:t>
            </a:r>
          </a:p>
          <a:p>
            <a:pPr>
              <a:buNone/>
            </a:pPr>
            <a:r>
              <a:rPr lang="tr-TR" b="1" dirty="0" smtClean="0"/>
              <a:t>	üzerinde veya içinde mikroorganizma üretilmiş </a:t>
            </a:r>
            <a:r>
              <a:rPr lang="tr-TR" b="1" dirty="0" err="1" smtClean="0"/>
              <a:t>besiyerlerine</a:t>
            </a:r>
            <a:r>
              <a:rPr lang="tr-TR" b="1" dirty="0" smtClean="0"/>
              <a:t> kültür adı verilir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/>
              <a:t>    Kültür ortamı MO.</a:t>
            </a:r>
            <a:r>
              <a:rPr lang="tr-TR" b="1" dirty="0" err="1" smtClean="0"/>
              <a:t>nın</a:t>
            </a:r>
            <a:r>
              <a:rPr lang="tr-TR" b="1" dirty="0" smtClean="0"/>
              <a:t> üremesi için gerekli besin maddelerini içermelidir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/>
              <a:t>	</a:t>
            </a:r>
            <a:endParaRPr lang="tr-TR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b="1" dirty="0" smtClean="0">
                <a:solidFill>
                  <a:srgbClr val="FF0000"/>
                </a:solidFill>
              </a:rPr>
              <a:t>HAZIRLANAN KÜLTÜR TİPLERİ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b="1" dirty="0" smtClean="0"/>
              <a:t>Yatık </a:t>
            </a:r>
            <a:r>
              <a:rPr lang="tr-TR" b="1" dirty="0" err="1" smtClean="0"/>
              <a:t>agarlı</a:t>
            </a:r>
            <a:r>
              <a:rPr lang="tr-TR" b="1" dirty="0" smtClean="0"/>
              <a:t> kültür</a:t>
            </a:r>
          </a:p>
          <a:p>
            <a:pPr eaLnBrk="1" hangingPunct="1"/>
            <a:r>
              <a:rPr lang="tr-TR" b="1" dirty="0" smtClean="0"/>
              <a:t>Saplama kültür</a:t>
            </a:r>
          </a:p>
          <a:p>
            <a:pPr eaLnBrk="1" hangingPunct="1"/>
            <a:r>
              <a:rPr lang="tr-TR" b="1" dirty="0" smtClean="0"/>
              <a:t>Yarı katı kültür</a:t>
            </a:r>
          </a:p>
          <a:p>
            <a:pPr eaLnBrk="1" hangingPunct="1"/>
            <a:r>
              <a:rPr lang="tr-TR" b="1" dirty="0" smtClean="0"/>
              <a:t>Çalkalama kültür</a:t>
            </a:r>
          </a:p>
          <a:p>
            <a:pPr eaLnBrk="1" hangingPunct="1"/>
            <a:r>
              <a:rPr lang="tr-TR" b="1" dirty="0" smtClean="0"/>
              <a:t>Plak kültürler  (kültür kabı olarak </a:t>
            </a:r>
            <a:r>
              <a:rPr lang="tr-TR" b="1" dirty="0" err="1" smtClean="0"/>
              <a:t>Petri</a:t>
            </a:r>
            <a:r>
              <a:rPr lang="tr-TR" b="1" dirty="0" smtClean="0"/>
              <a:t> kutusu) kullanılan kültürlerdir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Pc\Desktop\klebsiella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260648"/>
            <a:ext cx="4770437" cy="3578225"/>
          </a:xfrm>
          <a:prstGeom prst="rect">
            <a:avLst/>
          </a:prstGeom>
          <a:noFill/>
        </p:spPr>
      </p:pic>
      <p:pic>
        <p:nvPicPr>
          <p:cNvPr id="7" name="Picture 5" descr="C:\Users\Pc\Desktop\durham-tÃ¼pÃ¼-cetinadam.gif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32656"/>
            <a:ext cx="3859213" cy="3028950"/>
          </a:xfrm>
          <a:prstGeom prst="rect">
            <a:avLst/>
          </a:prstGeom>
          <a:noFill/>
        </p:spPr>
      </p:pic>
      <p:pic>
        <p:nvPicPr>
          <p:cNvPr id="6" name="Picture 2" descr="C:\Users\Pc\Desktop\13_TSI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3433441"/>
            <a:ext cx="4572032" cy="34245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6eac82bb-0f24-4c40-9030-fc872107e646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" y="260648"/>
            <a:ext cx="8463855" cy="60925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EKİM YÖNTEMLERİ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7" name="6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AZALTMA YÖNTEMİ</a:t>
            </a:r>
          </a:p>
          <a:p>
            <a:pPr>
              <a:buNone/>
            </a:pPr>
            <a:r>
              <a:rPr lang="tr-TR" b="1" dirty="0" smtClean="0"/>
              <a:t>	Öze kullanılır. Tek koloni düşürme tekniği olarak da ifade edilmektedir</a:t>
            </a: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ÇALKALAMA YÖNTEMİ</a:t>
            </a:r>
          </a:p>
          <a:p>
            <a:pPr>
              <a:buNone/>
            </a:pPr>
            <a:r>
              <a:rPr lang="tr-TR" b="1" dirty="0" smtClean="0"/>
              <a:t>	Besi yerinin her yerine </a:t>
            </a:r>
            <a:r>
              <a:rPr lang="tr-TR" b="1" dirty="0" err="1" smtClean="0"/>
              <a:t>inokülasyon</a:t>
            </a:r>
            <a:endParaRPr lang="tr-TR" b="1" dirty="0" smtClean="0"/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BATIRMA YÖNTEMİ</a:t>
            </a:r>
          </a:p>
          <a:p>
            <a:pPr>
              <a:buNone/>
            </a:pPr>
            <a:r>
              <a:rPr lang="tr-TR" b="1" dirty="0" smtClean="0"/>
              <a:t>	İğne öze ile tüpün dip kısmına kadar batırılmak suretiyle ,jelatini eritmesi ve gaz oluşumu</a:t>
            </a:r>
            <a:endParaRPr lang="tr-TR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4"/>
          <p:cNvSpPr txBox="1">
            <a:spLocks noChangeArrowheads="1"/>
          </p:cNvSpPr>
          <p:nvPr/>
        </p:nvSpPr>
        <p:spPr bwMode="auto">
          <a:xfrm>
            <a:off x="611188" y="260350"/>
            <a:ext cx="77771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2800" b="1" dirty="0">
                <a:solidFill>
                  <a:srgbClr val="FF0000"/>
                </a:solidFill>
              </a:rPr>
              <a:t>Tek tip mikroorganizmadan oluşan topluluğa saf kültür denir. Değişik  ortamlarda saf veya karışık halde bulunan </a:t>
            </a:r>
            <a:r>
              <a:rPr lang="tr-TR" sz="2800" b="1" dirty="0" err="1">
                <a:solidFill>
                  <a:srgbClr val="FF0000"/>
                </a:solidFill>
              </a:rPr>
              <a:t>mikroorganizmları</a:t>
            </a:r>
            <a:r>
              <a:rPr lang="tr-TR" sz="2800" b="1" dirty="0">
                <a:solidFill>
                  <a:srgbClr val="FF0000"/>
                </a:solidFill>
              </a:rPr>
              <a:t> katı </a:t>
            </a:r>
            <a:r>
              <a:rPr lang="tr-TR" sz="2800" b="1" dirty="0" err="1">
                <a:solidFill>
                  <a:srgbClr val="FF0000"/>
                </a:solidFill>
              </a:rPr>
              <a:t>besiyeri</a:t>
            </a:r>
            <a:r>
              <a:rPr lang="tr-TR" sz="2800" b="1" dirty="0">
                <a:solidFill>
                  <a:srgbClr val="FF0000"/>
                </a:solidFill>
              </a:rPr>
              <a:t> yüzeylerine veya sıvı </a:t>
            </a:r>
            <a:r>
              <a:rPr lang="tr-TR" sz="2800" b="1" dirty="0" err="1">
                <a:solidFill>
                  <a:srgbClr val="FF0000"/>
                </a:solidFill>
              </a:rPr>
              <a:t>besiyerine</a:t>
            </a:r>
            <a:r>
              <a:rPr lang="tr-TR" sz="2800" b="1" dirty="0">
                <a:solidFill>
                  <a:srgbClr val="FF0000"/>
                </a:solidFill>
              </a:rPr>
              <a:t> </a:t>
            </a:r>
            <a:r>
              <a:rPr lang="tr-TR" sz="2800" b="1" dirty="0" smtClean="0">
                <a:solidFill>
                  <a:srgbClr val="FF0000"/>
                </a:solidFill>
              </a:rPr>
              <a:t>ekmek için </a:t>
            </a:r>
            <a:r>
              <a:rPr lang="tr-TR" sz="2800" b="1" dirty="0">
                <a:solidFill>
                  <a:srgbClr val="FF0000"/>
                </a:solidFill>
              </a:rPr>
              <a:t>değişik yöntemler </a:t>
            </a:r>
            <a:r>
              <a:rPr lang="tr-TR" sz="2800" b="1" dirty="0" smtClean="0">
                <a:solidFill>
                  <a:srgbClr val="FF0000"/>
                </a:solidFill>
              </a:rPr>
              <a:t>kullanılır </a:t>
            </a:r>
          </a:p>
          <a:p>
            <a:r>
              <a:rPr lang="tr-TR" sz="2800" b="1" dirty="0" smtClean="0">
                <a:solidFill>
                  <a:srgbClr val="FF0000"/>
                </a:solidFill>
              </a:rPr>
              <a:t>Genelde </a:t>
            </a:r>
            <a:r>
              <a:rPr lang="tr-TR" sz="2800" b="1" dirty="0">
                <a:solidFill>
                  <a:srgbClr val="FF0000"/>
                </a:solidFill>
              </a:rPr>
              <a:t>bu ekimler öze ile </a:t>
            </a:r>
            <a:r>
              <a:rPr lang="tr-TR" sz="2800" b="1" dirty="0" smtClean="0">
                <a:solidFill>
                  <a:srgbClr val="FF0000"/>
                </a:solidFill>
              </a:rPr>
              <a:t>yapılır</a:t>
            </a:r>
            <a:endParaRPr lang="tr-TR" sz="2800" b="1" dirty="0">
              <a:solidFill>
                <a:srgbClr val="FF0000"/>
              </a:solidFill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395536" y="3068960"/>
            <a:ext cx="2519362" cy="2376487"/>
            <a:chOff x="657" y="2205"/>
            <a:chExt cx="1587" cy="1497"/>
          </a:xfrm>
        </p:grpSpPr>
        <p:sp>
          <p:nvSpPr>
            <p:cNvPr id="13405" name="Oval 5"/>
            <p:cNvSpPr>
              <a:spLocks noChangeArrowheads="1"/>
            </p:cNvSpPr>
            <p:nvPr/>
          </p:nvSpPr>
          <p:spPr bwMode="auto">
            <a:xfrm>
              <a:off x="657" y="2205"/>
              <a:ext cx="1587" cy="149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406" name="Line 6"/>
            <p:cNvSpPr>
              <a:spLocks noChangeShapeType="1"/>
            </p:cNvSpPr>
            <p:nvPr/>
          </p:nvSpPr>
          <p:spPr bwMode="auto">
            <a:xfrm>
              <a:off x="1020" y="2523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7" name="Line 7"/>
            <p:cNvSpPr>
              <a:spLocks noChangeShapeType="1"/>
            </p:cNvSpPr>
            <p:nvPr/>
          </p:nvSpPr>
          <p:spPr bwMode="auto">
            <a:xfrm flipH="1">
              <a:off x="1020" y="2523"/>
              <a:ext cx="771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8" name="Line 8"/>
            <p:cNvSpPr>
              <a:spLocks noChangeShapeType="1"/>
            </p:cNvSpPr>
            <p:nvPr/>
          </p:nvSpPr>
          <p:spPr bwMode="auto">
            <a:xfrm>
              <a:off x="1020" y="2614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9" name="Line 9"/>
            <p:cNvSpPr>
              <a:spLocks noChangeShapeType="1"/>
            </p:cNvSpPr>
            <p:nvPr/>
          </p:nvSpPr>
          <p:spPr bwMode="auto">
            <a:xfrm flipH="1">
              <a:off x="1020" y="2614"/>
              <a:ext cx="77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0" name="Line 10"/>
            <p:cNvSpPr>
              <a:spLocks noChangeShapeType="1"/>
            </p:cNvSpPr>
            <p:nvPr/>
          </p:nvSpPr>
          <p:spPr bwMode="auto">
            <a:xfrm>
              <a:off x="1020" y="2704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1" name="Line 11"/>
            <p:cNvSpPr>
              <a:spLocks noChangeShapeType="1"/>
            </p:cNvSpPr>
            <p:nvPr/>
          </p:nvSpPr>
          <p:spPr bwMode="auto">
            <a:xfrm flipH="1">
              <a:off x="1020" y="2750"/>
              <a:ext cx="726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2" name="Line 12"/>
            <p:cNvSpPr>
              <a:spLocks noChangeShapeType="1"/>
            </p:cNvSpPr>
            <p:nvPr/>
          </p:nvSpPr>
          <p:spPr bwMode="auto">
            <a:xfrm>
              <a:off x="1020" y="2795"/>
              <a:ext cx="726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3" name="Line 13"/>
            <p:cNvSpPr>
              <a:spLocks noChangeShapeType="1"/>
            </p:cNvSpPr>
            <p:nvPr/>
          </p:nvSpPr>
          <p:spPr bwMode="auto">
            <a:xfrm flipH="1">
              <a:off x="1020" y="2840"/>
              <a:ext cx="726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4" name="Line 14"/>
            <p:cNvSpPr>
              <a:spLocks noChangeShapeType="1"/>
            </p:cNvSpPr>
            <p:nvPr/>
          </p:nvSpPr>
          <p:spPr bwMode="auto">
            <a:xfrm>
              <a:off x="1066" y="2886"/>
              <a:ext cx="635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5" name="Line 15"/>
            <p:cNvSpPr>
              <a:spLocks noChangeShapeType="1"/>
            </p:cNvSpPr>
            <p:nvPr/>
          </p:nvSpPr>
          <p:spPr bwMode="auto">
            <a:xfrm flipH="1">
              <a:off x="1066" y="2931"/>
              <a:ext cx="635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6" name="Line 17"/>
            <p:cNvSpPr>
              <a:spLocks noChangeShapeType="1"/>
            </p:cNvSpPr>
            <p:nvPr/>
          </p:nvSpPr>
          <p:spPr bwMode="auto">
            <a:xfrm>
              <a:off x="1066" y="2976"/>
              <a:ext cx="63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7" name="Line 18"/>
            <p:cNvSpPr>
              <a:spLocks noChangeShapeType="1"/>
            </p:cNvSpPr>
            <p:nvPr/>
          </p:nvSpPr>
          <p:spPr bwMode="auto">
            <a:xfrm flipH="1">
              <a:off x="1066" y="3022"/>
              <a:ext cx="589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8" name="Line 19"/>
            <p:cNvSpPr>
              <a:spLocks noChangeShapeType="1"/>
            </p:cNvSpPr>
            <p:nvPr/>
          </p:nvSpPr>
          <p:spPr bwMode="auto">
            <a:xfrm>
              <a:off x="1111" y="311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19" name="Line 20"/>
            <p:cNvSpPr>
              <a:spLocks noChangeShapeType="1"/>
            </p:cNvSpPr>
            <p:nvPr/>
          </p:nvSpPr>
          <p:spPr bwMode="auto">
            <a:xfrm>
              <a:off x="1066" y="3067"/>
              <a:ext cx="589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0" name="Line 21"/>
            <p:cNvSpPr>
              <a:spLocks noChangeShapeType="1"/>
            </p:cNvSpPr>
            <p:nvPr/>
          </p:nvSpPr>
          <p:spPr bwMode="auto">
            <a:xfrm flipH="1">
              <a:off x="1111" y="3113"/>
              <a:ext cx="544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1" name="Line 22"/>
            <p:cNvSpPr>
              <a:spLocks noChangeShapeType="1"/>
            </p:cNvSpPr>
            <p:nvPr/>
          </p:nvSpPr>
          <p:spPr bwMode="auto">
            <a:xfrm>
              <a:off x="1111" y="3158"/>
              <a:ext cx="499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2" name="Line 23"/>
            <p:cNvSpPr>
              <a:spLocks noChangeShapeType="1"/>
            </p:cNvSpPr>
            <p:nvPr/>
          </p:nvSpPr>
          <p:spPr bwMode="auto">
            <a:xfrm flipH="1">
              <a:off x="1111" y="3203"/>
              <a:ext cx="499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3" name="Line 24"/>
            <p:cNvSpPr>
              <a:spLocks noChangeShapeType="1"/>
            </p:cNvSpPr>
            <p:nvPr/>
          </p:nvSpPr>
          <p:spPr bwMode="auto">
            <a:xfrm>
              <a:off x="1111" y="3249"/>
              <a:ext cx="499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4" name="Line 25"/>
            <p:cNvSpPr>
              <a:spLocks noChangeShapeType="1"/>
            </p:cNvSpPr>
            <p:nvPr/>
          </p:nvSpPr>
          <p:spPr bwMode="auto">
            <a:xfrm flipH="1">
              <a:off x="1156" y="3294"/>
              <a:ext cx="499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5" name="Line 26"/>
            <p:cNvSpPr>
              <a:spLocks noChangeShapeType="1"/>
            </p:cNvSpPr>
            <p:nvPr/>
          </p:nvSpPr>
          <p:spPr bwMode="auto">
            <a:xfrm>
              <a:off x="1156" y="3339"/>
              <a:ext cx="499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6" name="Line 27"/>
            <p:cNvSpPr>
              <a:spLocks noChangeShapeType="1"/>
            </p:cNvSpPr>
            <p:nvPr/>
          </p:nvSpPr>
          <p:spPr bwMode="auto">
            <a:xfrm flipH="1">
              <a:off x="1202" y="3385"/>
              <a:ext cx="453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7" name="Line 28"/>
            <p:cNvSpPr>
              <a:spLocks noChangeShapeType="1"/>
            </p:cNvSpPr>
            <p:nvPr/>
          </p:nvSpPr>
          <p:spPr bwMode="auto">
            <a:xfrm>
              <a:off x="1202" y="3430"/>
              <a:ext cx="408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28" name="Line 29"/>
            <p:cNvSpPr>
              <a:spLocks noChangeShapeType="1"/>
            </p:cNvSpPr>
            <p:nvPr/>
          </p:nvSpPr>
          <p:spPr bwMode="auto">
            <a:xfrm flipH="1">
              <a:off x="1247" y="3475"/>
              <a:ext cx="363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3275856" y="3068960"/>
            <a:ext cx="2520950" cy="2376487"/>
            <a:chOff x="1973" y="2024"/>
            <a:chExt cx="1588" cy="1497"/>
          </a:xfrm>
        </p:grpSpPr>
        <p:sp>
          <p:nvSpPr>
            <p:cNvPr id="13382" name="Oval 31"/>
            <p:cNvSpPr>
              <a:spLocks noChangeArrowheads="1"/>
            </p:cNvSpPr>
            <p:nvPr/>
          </p:nvSpPr>
          <p:spPr bwMode="auto">
            <a:xfrm>
              <a:off x="1973" y="2024"/>
              <a:ext cx="1588" cy="149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83" name="Line 32"/>
            <p:cNvSpPr>
              <a:spLocks noChangeShapeType="1"/>
            </p:cNvSpPr>
            <p:nvPr/>
          </p:nvSpPr>
          <p:spPr bwMode="auto">
            <a:xfrm>
              <a:off x="2517" y="225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84" name="Line 33"/>
            <p:cNvSpPr>
              <a:spLocks noChangeShapeType="1"/>
            </p:cNvSpPr>
            <p:nvPr/>
          </p:nvSpPr>
          <p:spPr bwMode="auto">
            <a:xfrm flipH="1">
              <a:off x="2426" y="2251"/>
              <a:ext cx="4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85" name="Line 34"/>
            <p:cNvSpPr>
              <a:spLocks noChangeShapeType="1"/>
            </p:cNvSpPr>
            <p:nvPr/>
          </p:nvSpPr>
          <p:spPr bwMode="auto">
            <a:xfrm>
              <a:off x="2381" y="2341"/>
              <a:ext cx="726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86" name="Line 35"/>
            <p:cNvSpPr>
              <a:spLocks noChangeShapeType="1"/>
            </p:cNvSpPr>
            <p:nvPr/>
          </p:nvSpPr>
          <p:spPr bwMode="auto">
            <a:xfrm flipH="1">
              <a:off x="2290" y="2387"/>
              <a:ext cx="817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87" name="Line 36"/>
            <p:cNvSpPr>
              <a:spLocks noChangeShapeType="1"/>
            </p:cNvSpPr>
            <p:nvPr/>
          </p:nvSpPr>
          <p:spPr bwMode="auto">
            <a:xfrm>
              <a:off x="2290" y="2432"/>
              <a:ext cx="953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88" name="Line 37"/>
            <p:cNvSpPr>
              <a:spLocks noChangeShapeType="1"/>
            </p:cNvSpPr>
            <p:nvPr/>
          </p:nvSpPr>
          <p:spPr bwMode="auto">
            <a:xfrm flipH="1">
              <a:off x="2154" y="2478"/>
              <a:ext cx="10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89" name="Line 38"/>
            <p:cNvSpPr>
              <a:spLocks noChangeShapeType="1"/>
            </p:cNvSpPr>
            <p:nvPr/>
          </p:nvSpPr>
          <p:spPr bwMode="auto">
            <a:xfrm flipV="1">
              <a:off x="2064" y="2387"/>
              <a:ext cx="408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0" name="Line 39"/>
            <p:cNvSpPr>
              <a:spLocks noChangeShapeType="1"/>
            </p:cNvSpPr>
            <p:nvPr/>
          </p:nvSpPr>
          <p:spPr bwMode="auto">
            <a:xfrm flipH="1">
              <a:off x="2064" y="2387"/>
              <a:ext cx="408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1" name="Line 40"/>
            <p:cNvSpPr>
              <a:spLocks noChangeShapeType="1"/>
            </p:cNvSpPr>
            <p:nvPr/>
          </p:nvSpPr>
          <p:spPr bwMode="auto">
            <a:xfrm flipV="1">
              <a:off x="2064" y="2387"/>
              <a:ext cx="544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2" name="Line 41"/>
            <p:cNvSpPr>
              <a:spLocks noChangeShapeType="1"/>
            </p:cNvSpPr>
            <p:nvPr/>
          </p:nvSpPr>
          <p:spPr bwMode="auto">
            <a:xfrm flipH="1">
              <a:off x="2109" y="2387"/>
              <a:ext cx="499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3" name="Line 42"/>
            <p:cNvSpPr>
              <a:spLocks noChangeShapeType="1"/>
            </p:cNvSpPr>
            <p:nvPr/>
          </p:nvSpPr>
          <p:spPr bwMode="auto">
            <a:xfrm flipV="1">
              <a:off x="2109" y="2568"/>
              <a:ext cx="499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4" name="Line 43"/>
            <p:cNvSpPr>
              <a:spLocks noChangeShapeType="1"/>
            </p:cNvSpPr>
            <p:nvPr/>
          </p:nvSpPr>
          <p:spPr bwMode="auto">
            <a:xfrm flipH="1">
              <a:off x="2154" y="2568"/>
              <a:ext cx="454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5" name="Line 44"/>
            <p:cNvSpPr>
              <a:spLocks noChangeShapeType="1"/>
            </p:cNvSpPr>
            <p:nvPr/>
          </p:nvSpPr>
          <p:spPr bwMode="auto">
            <a:xfrm>
              <a:off x="2381" y="2614"/>
              <a:ext cx="227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6" name="Line 45"/>
            <p:cNvSpPr>
              <a:spLocks noChangeShapeType="1"/>
            </p:cNvSpPr>
            <p:nvPr/>
          </p:nvSpPr>
          <p:spPr bwMode="auto">
            <a:xfrm>
              <a:off x="2472" y="2568"/>
              <a:ext cx="136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7" name="Line 46"/>
            <p:cNvSpPr>
              <a:spLocks noChangeShapeType="1"/>
            </p:cNvSpPr>
            <p:nvPr/>
          </p:nvSpPr>
          <p:spPr bwMode="auto">
            <a:xfrm>
              <a:off x="2472" y="2568"/>
              <a:ext cx="317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8" name="Line 47"/>
            <p:cNvSpPr>
              <a:spLocks noChangeShapeType="1"/>
            </p:cNvSpPr>
            <p:nvPr/>
          </p:nvSpPr>
          <p:spPr bwMode="auto">
            <a:xfrm>
              <a:off x="2653" y="2614"/>
              <a:ext cx="136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99" name="Line 48"/>
            <p:cNvSpPr>
              <a:spLocks noChangeShapeType="1"/>
            </p:cNvSpPr>
            <p:nvPr/>
          </p:nvSpPr>
          <p:spPr bwMode="auto">
            <a:xfrm>
              <a:off x="2653" y="2614"/>
              <a:ext cx="227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0" name="Line 49"/>
            <p:cNvSpPr>
              <a:spLocks noChangeShapeType="1"/>
            </p:cNvSpPr>
            <p:nvPr/>
          </p:nvSpPr>
          <p:spPr bwMode="auto">
            <a:xfrm>
              <a:off x="2789" y="2568"/>
              <a:ext cx="91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1" name="Line 50"/>
            <p:cNvSpPr>
              <a:spLocks noChangeShapeType="1"/>
            </p:cNvSpPr>
            <p:nvPr/>
          </p:nvSpPr>
          <p:spPr bwMode="auto">
            <a:xfrm>
              <a:off x="2789" y="2568"/>
              <a:ext cx="136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2" name="Line 51"/>
            <p:cNvSpPr>
              <a:spLocks noChangeShapeType="1"/>
            </p:cNvSpPr>
            <p:nvPr/>
          </p:nvSpPr>
          <p:spPr bwMode="auto">
            <a:xfrm>
              <a:off x="2880" y="2614"/>
              <a:ext cx="45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3" name="Line 52"/>
            <p:cNvSpPr>
              <a:spLocks noChangeShapeType="1"/>
            </p:cNvSpPr>
            <p:nvPr/>
          </p:nvSpPr>
          <p:spPr bwMode="auto">
            <a:xfrm>
              <a:off x="2880" y="2614"/>
              <a:ext cx="136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404" name="Line 53"/>
            <p:cNvSpPr>
              <a:spLocks noChangeShapeType="1"/>
            </p:cNvSpPr>
            <p:nvPr/>
          </p:nvSpPr>
          <p:spPr bwMode="auto">
            <a:xfrm>
              <a:off x="2971" y="2568"/>
              <a:ext cx="45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114"/>
          <p:cNvGrpSpPr>
            <a:grpSpLocks/>
          </p:cNvGrpSpPr>
          <p:nvPr/>
        </p:nvGrpSpPr>
        <p:grpSpPr bwMode="auto">
          <a:xfrm>
            <a:off x="6227763" y="2565400"/>
            <a:ext cx="2520950" cy="2447925"/>
            <a:chOff x="3923" y="2024"/>
            <a:chExt cx="1588" cy="1542"/>
          </a:xfrm>
        </p:grpSpPr>
        <p:sp>
          <p:nvSpPr>
            <p:cNvPr id="13323" name="Oval 55"/>
            <p:cNvSpPr>
              <a:spLocks noChangeArrowheads="1"/>
            </p:cNvSpPr>
            <p:nvPr/>
          </p:nvSpPr>
          <p:spPr bwMode="auto">
            <a:xfrm>
              <a:off x="3923" y="2024"/>
              <a:ext cx="1588" cy="15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24" name="Line 56"/>
            <p:cNvSpPr>
              <a:spLocks noChangeShapeType="1"/>
            </p:cNvSpPr>
            <p:nvPr/>
          </p:nvSpPr>
          <p:spPr bwMode="auto">
            <a:xfrm>
              <a:off x="4694" y="2024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25" name="Line 57"/>
            <p:cNvSpPr>
              <a:spLocks noChangeShapeType="1"/>
            </p:cNvSpPr>
            <p:nvPr/>
          </p:nvSpPr>
          <p:spPr bwMode="auto">
            <a:xfrm>
              <a:off x="3923" y="2750"/>
              <a:ext cx="1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grpSp>
          <p:nvGrpSpPr>
            <p:cNvPr id="5" name="Group 71"/>
            <p:cNvGrpSpPr>
              <a:grpSpLocks/>
            </p:cNvGrpSpPr>
            <p:nvPr/>
          </p:nvGrpSpPr>
          <p:grpSpPr bwMode="auto">
            <a:xfrm>
              <a:off x="4740" y="2115"/>
              <a:ext cx="635" cy="589"/>
              <a:chOff x="4740" y="2115"/>
              <a:chExt cx="635" cy="589"/>
            </a:xfrm>
          </p:grpSpPr>
          <p:sp>
            <p:nvSpPr>
              <p:cNvPr id="13369" name="Line 58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545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0" name="Line 59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499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1" name="Line 60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544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2" name="Line 61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408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3" name="Line 62"/>
              <p:cNvSpPr>
                <a:spLocks noChangeShapeType="1"/>
              </p:cNvSpPr>
              <p:nvPr/>
            </p:nvSpPr>
            <p:spPr bwMode="auto">
              <a:xfrm flipH="1" flipV="1">
                <a:off x="4785" y="2296"/>
                <a:ext cx="40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4" name="Line 63"/>
              <p:cNvSpPr>
                <a:spLocks noChangeShapeType="1"/>
              </p:cNvSpPr>
              <p:nvPr/>
            </p:nvSpPr>
            <p:spPr bwMode="auto">
              <a:xfrm>
                <a:off x="4785" y="2296"/>
                <a:ext cx="31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5" name="Line 64"/>
              <p:cNvSpPr>
                <a:spLocks noChangeShapeType="1"/>
              </p:cNvSpPr>
              <p:nvPr/>
            </p:nvSpPr>
            <p:spPr bwMode="auto">
              <a:xfrm flipH="1" flipV="1">
                <a:off x="4740" y="2341"/>
                <a:ext cx="363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6" name="Line 65"/>
              <p:cNvSpPr>
                <a:spLocks noChangeShapeType="1"/>
              </p:cNvSpPr>
              <p:nvPr/>
            </p:nvSpPr>
            <p:spPr bwMode="auto">
              <a:xfrm>
                <a:off x="4740" y="2341"/>
                <a:ext cx="317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7" name="Line 66"/>
              <p:cNvSpPr>
                <a:spLocks noChangeShapeType="1"/>
              </p:cNvSpPr>
              <p:nvPr/>
            </p:nvSpPr>
            <p:spPr bwMode="auto">
              <a:xfrm flipH="1" flipV="1">
                <a:off x="4740" y="2432"/>
                <a:ext cx="31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8" name="Line 67"/>
              <p:cNvSpPr>
                <a:spLocks noChangeShapeType="1"/>
              </p:cNvSpPr>
              <p:nvPr/>
            </p:nvSpPr>
            <p:spPr bwMode="auto">
              <a:xfrm>
                <a:off x="4740" y="2432"/>
                <a:ext cx="22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79" name="Line 68"/>
              <p:cNvSpPr>
                <a:spLocks noChangeShapeType="1"/>
              </p:cNvSpPr>
              <p:nvPr/>
            </p:nvSpPr>
            <p:spPr bwMode="auto">
              <a:xfrm flipH="1" flipV="1">
                <a:off x="4740" y="2523"/>
                <a:ext cx="227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80" name="Line 69"/>
              <p:cNvSpPr>
                <a:spLocks noChangeShapeType="1"/>
              </p:cNvSpPr>
              <p:nvPr/>
            </p:nvSpPr>
            <p:spPr bwMode="auto">
              <a:xfrm>
                <a:off x="4740" y="2523"/>
                <a:ext cx="136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81" name="Line 70"/>
              <p:cNvSpPr>
                <a:spLocks noChangeShapeType="1"/>
              </p:cNvSpPr>
              <p:nvPr/>
            </p:nvSpPr>
            <p:spPr bwMode="auto">
              <a:xfrm flipH="1" flipV="1">
                <a:off x="4740" y="2614"/>
                <a:ext cx="136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</p:grpSp>
        <p:grpSp>
          <p:nvGrpSpPr>
            <p:cNvPr id="6" name="Group 72"/>
            <p:cNvGrpSpPr>
              <a:grpSpLocks/>
            </p:cNvGrpSpPr>
            <p:nvPr/>
          </p:nvGrpSpPr>
          <p:grpSpPr bwMode="auto">
            <a:xfrm rot="-9974512">
              <a:off x="3969" y="2795"/>
              <a:ext cx="635" cy="589"/>
              <a:chOff x="4740" y="2115"/>
              <a:chExt cx="635" cy="589"/>
            </a:xfrm>
          </p:grpSpPr>
          <p:sp>
            <p:nvSpPr>
              <p:cNvPr id="13356" name="Line 73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545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7" name="Line 74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499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8" name="Line 75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544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9" name="Line 76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408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0" name="Line 77"/>
              <p:cNvSpPr>
                <a:spLocks noChangeShapeType="1"/>
              </p:cNvSpPr>
              <p:nvPr/>
            </p:nvSpPr>
            <p:spPr bwMode="auto">
              <a:xfrm flipH="1" flipV="1">
                <a:off x="4785" y="2296"/>
                <a:ext cx="40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1" name="Line 78"/>
              <p:cNvSpPr>
                <a:spLocks noChangeShapeType="1"/>
              </p:cNvSpPr>
              <p:nvPr/>
            </p:nvSpPr>
            <p:spPr bwMode="auto">
              <a:xfrm>
                <a:off x="4785" y="2296"/>
                <a:ext cx="31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2" name="Line 79"/>
              <p:cNvSpPr>
                <a:spLocks noChangeShapeType="1"/>
              </p:cNvSpPr>
              <p:nvPr/>
            </p:nvSpPr>
            <p:spPr bwMode="auto">
              <a:xfrm flipH="1" flipV="1">
                <a:off x="4740" y="2341"/>
                <a:ext cx="363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3" name="Line 80"/>
              <p:cNvSpPr>
                <a:spLocks noChangeShapeType="1"/>
              </p:cNvSpPr>
              <p:nvPr/>
            </p:nvSpPr>
            <p:spPr bwMode="auto">
              <a:xfrm>
                <a:off x="4740" y="2341"/>
                <a:ext cx="317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4" name="Line 81"/>
              <p:cNvSpPr>
                <a:spLocks noChangeShapeType="1"/>
              </p:cNvSpPr>
              <p:nvPr/>
            </p:nvSpPr>
            <p:spPr bwMode="auto">
              <a:xfrm flipH="1" flipV="1">
                <a:off x="4740" y="2432"/>
                <a:ext cx="31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5" name="Line 82"/>
              <p:cNvSpPr>
                <a:spLocks noChangeShapeType="1"/>
              </p:cNvSpPr>
              <p:nvPr/>
            </p:nvSpPr>
            <p:spPr bwMode="auto">
              <a:xfrm>
                <a:off x="4740" y="2432"/>
                <a:ext cx="22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6" name="Line 83"/>
              <p:cNvSpPr>
                <a:spLocks noChangeShapeType="1"/>
              </p:cNvSpPr>
              <p:nvPr/>
            </p:nvSpPr>
            <p:spPr bwMode="auto">
              <a:xfrm flipH="1" flipV="1">
                <a:off x="4740" y="2523"/>
                <a:ext cx="227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7" name="Line 84"/>
              <p:cNvSpPr>
                <a:spLocks noChangeShapeType="1"/>
              </p:cNvSpPr>
              <p:nvPr/>
            </p:nvSpPr>
            <p:spPr bwMode="auto">
              <a:xfrm>
                <a:off x="4740" y="2523"/>
                <a:ext cx="136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68" name="Line 85"/>
              <p:cNvSpPr>
                <a:spLocks noChangeShapeType="1"/>
              </p:cNvSpPr>
              <p:nvPr/>
            </p:nvSpPr>
            <p:spPr bwMode="auto">
              <a:xfrm flipH="1" flipV="1">
                <a:off x="4740" y="2614"/>
                <a:ext cx="136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</p:grpSp>
        <p:grpSp>
          <p:nvGrpSpPr>
            <p:cNvPr id="7" name="Group 86"/>
            <p:cNvGrpSpPr>
              <a:grpSpLocks/>
            </p:cNvGrpSpPr>
            <p:nvPr/>
          </p:nvGrpSpPr>
          <p:grpSpPr bwMode="auto">
            <a:xfrm rot="5248075">
              <a:off x="4762" y="2863"/>
              <a:ext cx="635" cy="589"/>
              <a:chOff x="4740" y="2115"/>
              <a:chExt cx="635" cy="589"/>
            </a:xfrm>
          </p:grpSpPr>
          <p:sp>
            <p:nvSpPr>
              <p:cNvPr id="13343" name="Line 87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545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4" name="Line 88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499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5" name="Line 89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544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6" name="Line 90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408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7" name="Line 91"/>
              <p:cNvSpPr>
                <a:spLocks noChangeShapeType="1"/>
              </p:cNvSpPr>
              <p:nvPr/>
            </p:nvSpPr>
            <p:spPr bwMode="auto">
              <a:xfrm flipH="1" flipV="1">
                <a:off x="4785" y="2296"/>
                <a:ext cx="40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8" name="Line 92"/>
              <p:cNvSpPr>
                <a:spLocks noChangeShapeType="1"/>
              </p:cNvSpPr>
              <p:nvPr/>
            </p:nvSpPr>
            <p:spPr bwMode="auto">
              <a:xfrm>
                <a:off x="4785" y="2296"/>
                <a:ext cx="31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9" name="Line 93"/>
              <p:cNvSpPr>
                <a:spLocks noChangeShapeType="1"/>
              </p:cNvSpPr>
              <p:nvPr/>
            </p:nvSpPr>
            <p:spPr bwMode="auto">
              <a:xfrm flipH="1" flipV="1">
                <a:off x="4740" y="2341"/>
                <a:ext cx="363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0" name="Line 94"/>
              <p:cNvSpPr>
                <a:spLocks noChangeShapeType="1"/>
              </p:cNvSpPr>
              <p:nvPr/>
            </p:nvSpPr>
            <p:spPr bwMode="auto">
              <a:xfrm>
                <a:off x="4740" y="2341"/>
                <a:ext cx="317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1" name="Line 95"/>
              <p:cNvSpPr>
                <a:spLocks noChangeShapeType="1"/>
              </p:cNvSpPr>
              <p:nvPr/>
            </p:nvSpPr>
            <p:spPr bwMode="auto">
              <a:xfrm flipH="1" flipV="1">
                <a:off x="4740" y="2432"/>
                <a:ext cx="31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2" name="Line 96"/>
              <p:cNvSpPr>
                <a:spLocks noChangeShapeType="1"/>
              </p:cNvSpPr>
              <p:nvPr/>
            </p:nvSpPr>
            <p:spPr bwMode="auto">
              <a:xfrm>
                <a:off x="4740" y="2432"/>
                <a:ext cx="22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3" name="Line 97"/>
              <p:cNvSpPr>
                <a:spLocks noChangeShapeType="1"/>
              </p:cNvSpPr>
              <p:nvPr/>
            </p:nvSpPr>
            <p:spPr bwMode="auto">
              <a:xfrm flipH="1" flipV="1">
                <a:off x="4740" y="2523"/>
                <a:ext cx="227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4" name="Line 98"/>
              <p:cNvSpPr>
                <a:spLocks noChangeShapeType="1"/>
              </p:cNvSpPr>
              <p:nvPr/>
            </p:nvSpPr>
            <p:spPr bwMode="auto">
              <a:xfrm>
                <a:off x="4740" y="2523"/>
                <a:ext cx="136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55" name="Line 99"/>
              <p:cNvSpPr>
                <a:spLocks noChangeShapeType="1"/>
              </p:cNvSpPr>
              <p:nvPr/>
            </p:nvSpPr>
            <p:spPr bwMode="auto">
              <a:xfrm flipH="1" flipV="1">
                <a:off x="4740" y="2614"/>
                <a:ext cx="136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</p:grpSp>
        <p:grpSp>
          <p:nvGrpSpPr>
            <p:cNvPr id="8" name="Group 100"/>
            <p:cNvGrpSpPr>
              <a:grpSpLocks/>
            </p:cNvGrpSpPr>
            <p:nvPr/>
          </p:nvGrpSpPr>
          <p:grpSpPr bwMode="auto">
            <a:xfrm rot="-5400000">
              <a:off x="3991" y="2111"/>
              <a:ext cx="635" cy="589"/>
              <a:chOff x="4740" y="2115"/>
              <a:chExt cx="635" cy="589"/>
            </a:xfrm>
          </p:grpSpPr>
          <p:sp>
            <p:nvSpPr>
              <p:cNvPr id="13330" name="Line 101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545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1" name="Line 102"/>
              <p:cNvSpPr>
                <a:spLocks noChangeShapeType="1"/>
              </p:cNvSpPr>
              <p:nvPr/>
            </p:nvSpPr>
            <p:spPr bwMode="auto">
              <a:xfrm>
                <a:off x="4830" y="2115"/>
                <a:ext cx="499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2" name="Line 103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544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3" name="Line 104"/>
              <p:cNvSpPr>
                <a:spLocks noChangeShapeType="1"/>
              </p:cNvSpPr>
              <p:nvPr/>
            </p:nvSpPr>
            <p:spPr bwMode="auto">
              <a:xfrm>
                <a:off x="4785" y="2205"/>
                <a:ext cx="408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4" name="Line 105"/>
              <p:cNvSpPr>
                <a:spLocks noChangeShapeType="1"/>
              </p:cNvSpPr>
              <p:nvPr/>
            </p:nvSpPr>
            <p:spPr bwMode="auto">
              <a:xfrm flipH="1" flipV="1">
                <a:off x="4785" y="2296"/>
                <a:ext cx="40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5" name="Line 106"/>
              <p:cNvSpPr>
                <a:spLocks noChangeShapeType="1"/>
              </p:cNvSpPr>
              <p:nvPr/>
            </p:nvSpPr>
            <p:spPr bwMode="auto">
              <a:xfrm>
                <a:off x="4785" y="2296"/>
                <a:ext cx="318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6" name="Line 107"/>
              <p:cNvSpPr>
                <a:spLocks noChangeShapeType="1"/>
              </p:cNvSpPr>
              <p:nvPr/>
            </p:nvSpPr>
            <p:spPr bwMode="auto">
              <a:xfrm flipH="1" flipV="1">
                <a:off x="4740" y="2341"/>
                <a:ext cx="363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7" name="Line 108"/>
              <p:cNvSpPr>
                <a:spLocks noChangeShapeType="1"/>
              </p:cNvSpPr>
              <p:nvPr/>
            </p:nvSpPr>
            <p:spPr bwMode="auto">
              <a:xfrm>
                <a:off x="4740" y="2341"/>
                <a:ext cx="317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8" name="Line 109"/>
              <p:cNvSpPr>
                <a:spLocks noChangeShapeType="1"/>
              </p:cNvSpPr>
              <p:nvPr/>
            </p:nvSpPr>
            <p:spPr bwMode="auto">
              <a:xfrm flipH="1" flipV="1">
                <a:off x="4740" y="2432"/>
                <a:ext cx="31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39" name="Line 110"/>
              <p:cNvSpPr>
                <a:spLocks noChangeShapeType="1"/>
              </p:cNvSpPr>
              <p:nvPr/>
            </p:nvSpPr>
            <p:spPr bwMode="auto">
              <a:xfrm>
                <a:off x="4740" y="2432"/>
                <a:ext cx="22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0" name="Line 111"/>
              <p:cNvSpPr>
                <a:spLocks noChangeShapeType="1"/>
              </p:cNvSpPr>
              <p:nvPr/>
            </p:nvSpPr>
            <p:spPr bwMode="auto">
              <a:xfrm flipH="1" flipV="1">
                <a:off x="4740" y="2523"/>
                <a:ext cx="227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1" name="Line 112"/>
              <p:cNvSpPr>
                <a:spLocks noChangeShapeType="1"/>
              </p:cNvSpPr>
              <p:nvPr/>
            </p:nvSpPr>
            <p:spPr bwMode="auto">
              <a:xfrm>
                <a:off x="4740" y="2523"/>
                <a:ext cx="136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342" name="Line 113"/>
              <p:cNvSpPr>
                <a:spLocks noChangeShapeType="1"/>
              </p:cNvSpPr>
              <p:nvPr/>
            </p:nvSpPr>
            <p:spPr bwMode="auto">
              <a:xfrm flipH="1" flipV="1">
                <a:off x="4740" y="2614"/>
                <a:ext cx="136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</p:grpSp>
      </p:grpSp>
      <p:sp>
        <p:nvSpPr>
          <p:cNvPr id="13318" name="Text Box 115"/>
          <p:cNvSpPr txBox="1">
            <a:spLocks noChangeArrowheads="1"/>
          </p:cNvSpPr>
          <p:nvPr/>
        </p:nvSpPr>
        <p:spPr bwMode="auto">
          <a:xfrm>
            <a:off x="539552" y="5733256"/>
            <a:ext cx="47525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      ÇİZGİ EKİM YÖNTEMLERİ</a:t>
            </a:r>
            <a:endParaRPr lang="tr-TR" sz="2800" b="1" dirty="0">
              <a:solidFill>
                <a:srgbClr val="7030A0"/>
              </a:solidFill>
            </a:endParaRPr>
          </a:p>
        </p:txBody>
      </p:sp>
      <p:grpSp>
        <p:nvGrpSpPr>
          <p:cNvPr id="9" name="Group 119"/>
          <p:cNvGrpSpPr>
            <a:grpSpLocks/>
          </p:cNvGrpSpPr>
          <p:nvPr/>
        </p:nvGrpSpPr>
        <p:grpSpPr bwMode="auto">
          <a:xfrm rot="1873335">
            <a:off x="5704059" y="5569027"/>
            <a:ext cx="3038475" cy="215900"/>
            <a:chOff x="3415" y="3421"/>
            <a:chExt cx="1914" cy="136"/>
          </a:xfrm>
        </p:grpSpPr>
        <p:sp>
          <p:nvSpPr>
            <p:cNvPr id="13320" name="AutoShape 116"/>
            <p:cNvSpPr>
              <a:spLocks noChangeArrowheads="1"/>
            </p:cNvSpPr>
            <p:nvPr/>
          </p:nvSpPr>
          <p:spPr bwMode="auto">
            <a:xfrm>
              <a:off x="3969" y="3430"/>
              <a:ext cx="1360" cy="91"/>
            </a:xfrm>
            <a:prstGeom prst="flowChartProcess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21" name="Line 117"/>
            <p:cNvSpPr>
              <a:spLocks noChangeShapeType="1"/>
            </p:cNvSpPr>
            <p:nvPr/>
          </p:nvSpPr>
          <p:spPr bwMode="auto">
            <a:xfrm flipH="1">
              <a:off x="3560" y="3475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322" name="Oval 118"/>
            <p:cNvSpPr>
              <a:spLocks noChangeArrowheads="1"/>
            </p:cNvSpPr>
            <p:nvPr/>
          </p:nvSpPr>
          <p:spPr bwMode="auto">
            <a:xfrm>
              <a:off x="3415" y="3421"/>
              <a:ext cx="136" cy="1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1108_cultur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476672"/>
            <a:ext cx="3714750" cy="4143375"/>
          </a:xfrm>
          <a:prstGeom prst="rect">
            <a:avLst/>
          </a:prstGeom>
          <a:noFill/>
        </p:spPr>
      </p:pic>
      <p:pic>
        <p:nvPicPr>
          <p:cNvPr id="1027" name="Picture 3" descr="C:\Users\Pc\Desktop\micr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2071678"/>
            <a:ext cx="4357686" cy="45005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Pc\Desktop\0021-14028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404664"/>
            <a:ext cx="4333875" cy="3929211"/>
          </a:xfrm>
          <a:prstGeom prst="rect">
            <a:avLst/>
          </a:prstGeom>
          <a:noFill/>
        </p:spPr>
      </p:pic>
      <p:pic>
        <p:nvPicPr>
          <p:cNvPr id="2050" name="Picture 2" descr="C:\Users\Pc\Desktop\salmonell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484784"/>
            <a:ext cx="5072066" cy="4992695"/>
          </a:xfrm>
          <a:prstGeom prst="rect">
            <a:avLst/>
          </a:prstGeom>
          <a:noFill/>
        </p:spPr>
      </p:pic>
      <p:sp>
        <p:nvSpPr>
          <p:cNvPr id="6" name="5 Dikdörtgen"/>
          <p:cNvSpPr/>
          <p:nvPr/>
        </p:nvSpPr>
        <p:spPr>
          <a:xfrm>
            <a:off x="6357950" y="4572008"/>
            <a:ext cx="23574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EMB </a:t>
            </a:r>
            <a:r>
              <a:rPr lang="tr-TR" b="1" dirty="0" err="1" smtClean="0">
                <a:solidFill>
                  <a:srgbClr val="7030A0"/>
                </a:solidFill>
              </a:rPr>
              <a:t>Agar</a:t>
            </a:r>
            <a:r>
              <a:rPr lang="tr-TR" b="1" dirty="0" smtClean="0">
                <a:solidFill>
                  <a:srgbClr val="7030A0"/>
                </a:solidFill>
              </a:rPr>
              <a:t>; </a:t>
            </a:r>
            <a:r>
              <a:rPr lang="tr-TR" b="1" dirty="0" err="1" smtClean="0">
                <a:solidFill>
                  <a:srgbClr val="7030A0"/>
                </a:solidFill>
              </a:rPr>
              <a:t>LevineStaphylococcus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err="1" smtClean="0">
                <a:solidFill>
                  <a:srgbClr val="7030A0"/>
                </a:solidFill>
              </a:rPr>
              <a:t>epidermidis</a:t>
            </a:r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Pc\Desktop\0021-25922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76672"/>
            <a:ext cx="7858125" cy="61413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3059832" y="274638"/>
            <a:ext cx="5169768" cy="778098"/>
          </a:xfrm>
        </p:spPr>
        <p:txBody>
          <a:bodyPr>
            <a:noAutofit/>
          </a:bodyPr>
          <a:lstStyle/>
          <a:p>
            <a:r>
              <a:rPr lang="it-IT" sz="2400" b="1" dirty="0" smtClean="0">
                <a:solidFill>
                  <a:srgbClr val="7030A0"/>
                </a:solidFill>
              </a:rPr>
              <a:t>Chromogenic Media for Listeria </a:t>
            </a:r>
            <a:r>
              <a:rPr lang="tr-TR" sz="2400" b="1" dirty="0" smtClean="0">
                <a:solidFill>
                  <a:srgbClr val="7030A0"/>
                </a:solidFill>
              </a:rPr>
              <a:t>				</a:t>
            </a:r>
            <a:r>
              <a:rPr lang="it-IT" sz="2400" b="1" dirty="0" smtClean="0">
                <a:solidFill>
                  <a:srgbClr val="7030A0"/>
                </a:solidFill>
              </a:rPr>
              <a:t>Isolation</a:t>
            </a:r>
            <a:endParaRPr lang="tr-TR" sz="2400" b="1" dirty="0">
              <a:solidFill>
                <a:srgbClr val="7030A0"/>
              </a:solidFill>
            </a:endParaRPr>
          </a:p>
        </p:txBody>
      </p:sp>
      <p:pic>
        <p:nvPicPr>
          <p:cNvPr id="4098" name="Picture 2" descr="C:\Users\Pc\Desktop\995h46p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1196752"/>
            <a:ext cx="4305300" cy="4214813"/>
          </a:xfrm>
          <a:prstGeom prst="rect">
            <a:avLst/>
          </a:prstGeom>
          <a:noFill/>
        </p:spPr>
      </p:pic>
      <p:sp>
        <p:nvSpPr>
          <p:cNvPr id="7" name="6 Dikdörtgen"/>
          <p:cNvSpPr/>
          <p:nvPr/>
        </p:nvSpPr>
        <p:spPr>
          <a:xfrm>
            <a:off x="357159" y="5877273"/>
            <a:ext cx="37107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err="1" smtClean="0">
                <a:solidFill>
                  <a:srgbClr val="7030A0"/>
                </a:solidFill>
              </a:rPr>
              <a:t>Endo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>
                <a:solidFill>
                  <a:srgbClr val="7030A0"/>
                </a:solidFill>
              </a:rPr>
              <a:t>Agar</a:t>
            </a:r>
            <a:endParaRPr lang="tr-TR" sz="2400" b="1" dirty="0" smtClean="0">
              <a:solidFill>
                <a:srgbClr val="7030A0"/>
              </a:solidFill>
            </a:endParaRPr>
          </a:p>
          <a:p>
            <a:r>
              <a:rPr lang="tr-TR" sz="2400" b="1" dirty="0" err="1" smtClean="0">
                <a:solidFill>
                  <a:srgbClr val="7030A0"/>
                </a:solidFill>
              </a:rPr>
              <a:t>Enterobacter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>
                <a:solidFill>
                  <a:srgbClr val="7030A0"/>
                </a:solidFill>
              </a:rPr>
              <a:t>cloacae</a:t>
            </a:r>
            <a:endParaRPr lang="tr-TR" sz="2400" b="1" dirty="0">
              <a:solidFill>
                <a:srgbClr val="7030A0"/>
              </a:solidFill>
            </a:endParaRPr>
          </a:p>
        </p:txBody>
      </p:sp>
      <p:pic>
        <p:nvPicPr>
          <p:cNvPr id="8" name="Picture 2" descr="C:\Users\Pc\Desktop\0285-1304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700808"/>
            <a:ext cx="4524281" cy="42148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1187624" y="274638"/>
            <a:ext cx="7041976" cy="706090"/>
          </a:xfrm>
        </p:spPr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STAPHYLOCOCCUS AUREUS</a:t>
            </a:r>
            <a:endParaRPr lang="tr-TR" sz="2800" dirty="0">
              <a:solidFill>
                <a:srgbClr val="7030A0"/>
              </a:solidFill>
            </a:endParaRPr>
          </a:p>
        </p:txBody>
      </p:sp>
      <p:pic>
        <p:nvPicPr>
          <p:cNvPr id="5123" name="Picture 3" descr="C:\Users\Pc\Desktop\1024px-Staphylococcus_aureus_agar_sangr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196752"/>
            <a:ext cx="6858000" cy="52565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Pc\Desktop\040624_strap-cultur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620688"/>
            <a:ext cx="7165975" cy="5648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Pc\Desktop\stafaur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836712"/>
            <a:ext cx="5891386" cy="52433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Pc\Desktop\ijmsv06p0234g04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620688"/>
            <a:ext cx="7620000" cy="5759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Pc\Desktop\AdvBiomedRes_2014_3_1_32_124683_f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548680"/>
            <a:ext cx="6861175" cy="5929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319</Words>
  <Application>Microsoft Office PowerPoint</Application>
  <PresentationFormat>Ekran Gösterisi (4:3)</PresentationFormat>
  <Paragraphs>120</Paragraphs>
  <Slides>34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35" baseType="lpstr">
      <vt:lpstr>Ofis Teması</vt:lpstr>
      <vt:lpstr>MİKROBİYOLOJİ  LABORATUVARI</vt:lpstr>
      <vt:lpstr>Slayt 2</vt:lpstr>
      <vt:lpstr>Slayt 3</vt:lpstr>
      <vt:lpstr>Slayt 4</vt:lpstr>
      <vt:lpstr>Slayt 5</vt:lpstr>
      <vt:lpstr>Slayt 6</vt:lpstr>
      <vt:lpstr>Slayt 7</vt:lpstr>
      <vt:lpstr>Slayt 8</vt:lpstr>
      <vt:lpstr>BESİYERİ</vt:lpstr>
      <vt:lpstr>Slayt 10</vt:lpstr>
      <vt:lpstr>Slayt 11</vt:lpstr>
      <vt:lpstr>2. FİZİKSEL ÖZELLİKLERİNE GÖRE BESİYERLERİ</vt:lpstr>
      <vt:lpstr>Slayt 13</vt:lpstr>
      <vt:lpstr>        AGAR</vt:lpstr>
      <vt:lpstr>4. KULLANIM AMACINA GÖRE BESİYERLERİ</vt:lpstr>
      <vt:lpstr>BESİYERİ BİLEŞİMİNE GİREN TEMEL MADDELER</vt:lpstr>
      <vt:lpstr>Slayt 17</vt:lpstr>
      <vt:lpstr>Slayt 18</vt:lpstr>
      <vt:lpstr>Slayt 19</vt:lpstr>
      <vt:lpstr>KÜLTÜR</vt:lpstr>
      <vt:lpstr>HAZIRLANAN KÜLTÜR TİPLERİ</vt:lpstr>
      <vt:lpstr>Slayt 22</vt:lpstr>
      <vt:lpstr>Slayt 23</vt:lpstr>
      <vt:lpstr>EKİM YÖNTEMLERİ</vt:lpstr>
      <vt:lpstr>Slayt 25</vt:lpstr>
      <vt:lpstr>Slayt 26</vt:lpstr>
      <vt:lpstr>Slayt 27</vt:lpstr>
      <vt:lpstr>Slayt 28</vt:lpstr>
      <vt:lpstr>Chromogenic Media for Listeria     Isolation</vt:lpstr>
      <vt:lpstr>STAPHYLOCOCCUS AUREUS</vt:lpstr>
      <vt:lpstr>Slayt 31</vt:lpstr>
      <vt:lpstr>Slayt 32</vt:lpstr>
      <vt:lpstr>Slayt 33</vt:lpstr>
      <vt:lpstr>Slayt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MİKROBİYOLOJİ  LABORATUVARI</dc:title>
  <dc:creator>Pc</dc:creator>
  <cp:lastModifiedBy>tijen</cp:lastModifiedBy>
  <cp:revision>55</cp:revision>
  <dcterms:created xsi:type="dcterms:W3CDTF">2014-11-29T18:06:28Z</dcterms:created>
  <dcterms:modified xsi:type="dcterms:W3CDTF">2026-08-19T07:59:49Z</dcterms:modified>
</cp:coreProperties>
</file>