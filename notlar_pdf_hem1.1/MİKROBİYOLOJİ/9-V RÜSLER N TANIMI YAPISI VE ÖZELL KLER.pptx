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94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s/slide102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s/slide79.xml" ContentType="application/vnd.openxmlformats-officedocument.presentationml.slide+xml"/>
  <Override PartName="/ppt/slides/slide99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slides/slide97.xml" ContentType="application/vnd.openxmlformats-officedocument.presentationml.slide+xml"/>
  <Override PartName="/ppt/slides/slide10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95.xml" ContentType="application/vnd.openxmlformats-officedocument.presentationml.slide+xml"/>
  <Override PartName="/ppt/slides/slide103.xml" ContentType="application/vnd.openxmlformats-officedocument.presentationml.slide+xml"/>
  <Override PartName="/ppt/slides/slide10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slides/slide93.xml" ContentType="application/vnd.openxmlformats-officedocument.presentationml.slide+xml"/>
  <Override PartName="/ppt/slides/slide101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s/slide80.xml" ContentType="application/vnd.openxmlformats-officedocument.presentationml.slide+xml"/>
  <Override PartName="/ppt/slides/slide82.xml" ContentType="application/vnd.openxmlformats-officedocument.presentationml.slide+xml"/>
  <Override PartName="/ppt/slides/slide91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Default Extension="gif" ContentType="image/gif"/>
  <Override PartName="/ppt/slides/slide89.xml" ContentType="application/vnd.openxmlformats-officedocument.presentationml.slide+xml"/>
  <Override PartName="/ppt/slides/slide98.xml" ContentType="application/vnd.openxmlformats-officedocument.presentationml.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slides/slide87.xml" ContentType="application/vnd.openxmlformats-officedocument.presentationml.slide+xml"/>
  <Override PartName="/ppt/slides/slide96.xml" ContentType="application/vnd.openxmlformats-officedocument.presentationml.slide+xml"/>
  <Override PartName="/ppt/slides/slide106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s/slide104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slides/slide100.xml" ContentType="application/vnd.openxmlformats-officedocument.presentationml.slide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552" r:id="rId3"/>
    <p:sldId id="555" r:id="rId4"/>
    <p:sldId id="440" r:id="rId5"/>
    <p:sldId id="441" r:id="rId6"/>
    <p:sldId id="442" r:id="rId7"/>
    <p:sldId id="443" r:id="rId8"/>
    <p:sldId id="446" r:id="rId9"/>
    <p:sldId id="447" r:id="rId10"/>
    <p:sldId id="449" r:id="rId11"/>
    <p:sldId id="464" r:id="rId12"/>
    <p:sldId id="465" r:id="rId13"/>
    <p:sldId id="450" r:id="rId14"/>
    <p:sldId id="451" r:id="rId15"/>
    <p:sldId id="453" r:id="rId16"/>
    <p:sldId id="525" r:id="rId17"/>
    <p:sldId id="452" r:id="rId18"/>
    <p:sldId id="455" r:id="rId19"/>
    <p:sldId id="454" r:id="rId20"/>
    <p:sldId id="457" r:id="rId21"/>
    <p:sldId id="456" r:id="rId22"/>
    <p:sldId id="458" r:id="rId23"/>
    <p:sldId id="459" r:id="rId24"/>
    <p:sldId id="460" r:id="rId25"/>
    <p:sldId id="462" r:id="rId26"/>
    <p:sldId id="495" r:id="rId27"/>
    <p:sldId id="473" r:id="rId28"/>
    <p:sldId id="475" r:id="rId29"/>
    <p:sldId id="477" r:id="rId30"/>
    <p:sldId id="480" r:id="rId31"/>
    <p:sldId id="484" r:id="rId32"/>
    <p:sldId id="485" r:id="rId33"/>
    <p:sldId id="486" r:id="rId34"/>
    <p:sldId id="488" r:id="rId35"/>
    <p:sldId id="489" r:id="rId36"/>
    <p:sldId id="490" r:id="rId37"/>
    <p:sldId id="492" r:id="rId38"/>
    <p:sldId id="493" r:id="rId39"/>
    <p:sldId id="496" r:id="rId40"/>
    <p:sldId id="497" r:id="rId41"/>
    <p:sldId id="498" r:id="rId42"/>
    <p:sldId id="499" r:id="rId43"/>
    <p:sldId id="500" r:id="rId44"/>
    <p:sldId id="501" r:id="rId45"/>
    <p:sldId id="502" r:id="rId46"/>
    <p:sldId id="503" r:id="rId47"/>
    <p:sldId id="504" r:id="rId48"/>
    <p:sldId id="505" r:id="rId49"/>
    <p:sldId id="506" r:id="rId50"/>
    <p:sldId id="507" r:id="rId51"/>
    <p:sldId id="508" r:id="rId52"/>
    <p:sldId id="262" r:id="rId53"/>
    <p:sldId id="509" r:id="rId54"/>
    <p:sldId id="371" r:id="rId55"/>
    <p:sldId id="373" r:id="rId56"/>
    <p:sldId id="510" r:id="rId57"/>
    <p:sldId id="395" r:id="rId58"/>
    <p:sldId id="390" r:id="rId59"/>
    <p:sldId id="513" r:id="rId60"/>
    <p:sldId id="522" r:id="rId61"/>
    <p:sldId id="399" r:id="rId62"/>
    <p:sldId id="378" r:id="rId63"/>
    <p:sldId id="404" r:id="rId64"/>
    <p:sldId id="512" r:id="rId65"/>
    <p:sldId id="515" r:id="rId66"/>
    <p:sldId id="519" r:id="rId67"/>
    <p:sldId id="520" r:id="rId68"/>
    <p:sldId id="586" r:id="rId69"/>
    <p:sldId id="410" r:id="rId70"/>
    <p:sldId id="408" r:id="rId71"/>
    <p:sldId id="382" r:id="rId72"/>
    <p:sldId id="561" r:id="rId73"/>
    <p:sldId id="562" r:id="rId74"/>
    <p:sldId id="563" r:id="rId75"/>
    <p:sldId id="564" r:id="rId76"/>
    <p:sldId id="565" r:id="rId77"/>
    <p:sldId id="566" r:id="rId78"/>
    <p:sldId id="567" r:id="rId79"/>
    <p:sldId id="569" r:id="rId80"/>
    <p:sldId id="570" r:id="rId81"/>
    <p:sldId id="571" r:id="rId82"/>
    <p:sldId id="572" r:id="rId83"/>
    <p:sldId id="573" r:id="rId84"/>
    <p:sldId id="574" r:id="rId85"/>
    <p:sldId id="575" r:id="rId86"/>
    <p:sldId id="576" r:id="rId87"/>
    <p:sldId id="577" r:id="rId88"/>
    <p:sldId id="578" r:id="rId89"/>
    <p:sldId id="579" r:id="rId90"/>
    <p:sldId id="580" r:id="rId91"/>
    <p:sldId id="581" r:id="rId92"/>
    <p:sldId id="582" r:id="rId93"/>
    <p:sldId id="583" r:id="rId94"/>
    <p:sldId id="435" r:id="rId95"/>
    <p:sldId id="385" r:id="rId96"/>
    <p:sldId id="413" r:id="rId97"/>
    <p:sldId id="388" r:id="rId98"/>
    <p:sldId id="355" r:id="rId99"/>
    <p:sldId id="431" r:id="rId100"/>
    <p:sldId id="333" r:id="rId101"/>
    <p:sldId id="334" r:id="rId102"/>
    <p:sldId id="554" r:id="rId103"/>
    <p:sldId id="584" r:id="rId104"/>
    <p:sldId id="591" r:id="rId105"/>
    <p:sldId id="592" r:id="rId106"/>
    <p:sldId id="593" r:id="rId107"/>
    <p:sldId id="594" r:id="rId108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99"/>
    <a:srgbClr val="290985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4660"/>
  </p:normalViewPr>
  <p:slideViewPr>
    <p:cSldViewPr>
      <p:cViewPr varScale="1">
        <p:scale>
          <a:sx n="68" d="100"/>
          <a:sy n="68" d="100"/>
        </p:scale>
        <p:origin x="-142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110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presProps" Target="presProp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DEC65-2706-4D00-AFF9-7344E3286F22}" type="datetimeFigureOut">
              <a:rPr lang="tr-TR" smtClean="0"/>
              <a:pPr/>
              <a:t>7.08.2026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EC31E-F376-4B05-BC6E-E2DA62F5D4A2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DEC65-2706-4D00-AFF9-7344E3286F22}" type="datetimeFigureOut">
              <a:rPr lang="tr-TR" smtClean="0"/>
              <a:pPr/>
              <a:t>7.08.2026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EC31E-F376-4B05-BC6E-E2DA62F5D4A2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DEC65-2706-4D00-AFF9-7344E3286F22}" type="datetimeFigureOut">
              <a:rPr lang="tr-TR" smtClean="0"/>
              <a:pPr/>
              <a:t>7.08.2026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EC31E-F376-4B05-BC6E-E2DA62F5D4A2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DEC65-2706-4D00-AFF9-7344E3286F22}" type="datetimeFigureOut">
              <a:rPr lang="tr-TR" smtClean="0"/>
              <a:pPr/>
              <a:t>7.08.2026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EC31E-F376-4B05-BC6E-E2DA62F5D4A2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DEC65-2706-4D00-AFF9-7344E3286F22}" type="datetimeFigureOut">
              <a:rPr lang="tr-TR" smtClean="0"/>
              <a:pPr/>
              <a:t>7.08.2026</a:t>
            </a:fld>
            <a:endParaRPr lang="tr-TR"/>
          </a:p>
        </p:txBody>
      </p:sp>
      <p:sp>
        <p:nvSpPr>
          <p:cNvPr id="8" name="7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EC31E-F376-4B05-BC6E-E2DA62F5D4A2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DEC65-2706-4D00-AFF9-7344E3286F22}" type="datetimeFigureOut">
              <a:rPr lang="tr-TR" smtClean="0"/>
              <a:pPr/>
              <a:t>7.08.2026</a:t>
            </a:fld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EC31E-F376-4B05-BC6E-E2DA62F5D4A2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DEC65-2706-4D00-AFF9-7344E3286F22}" type="datetimeFigureOut">
              <a:rPr lang="tr-TR" smtClean="0"/>
              <a:pPr/>
              <a:t>7.08.2026</a:t>
            </a:fld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EC31E-F376-4B05-BC6E-E2DA62F5D4A2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DEC65-2706-4D00-AFF9-7344E3286F22}" type="datetimeFigureOut">
              <a:rPr lang="tr-TR" smtClean="0"/>
              <a:pPr/>
              <a:t>7.08.2026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EC31E-F376-4B05-BC6E-E2DA62F5D4A2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DEC65-2706-4D00-AFF9-7344E3286F22}" type="datetimeFigureOut">
              <a:rPr lang="tr-TR" smtClean="0"/>
              <a:pPr/>
              <a:t>7.08.2026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EC31E-F376-4B05-BC6E-E2DA62F5D4A2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DEC65-2706-4D00-AFF9-7344E3286F22}" type="datetimeFigureOut">
              <a:rPr lang="tr-TR" smtClean="0"/>
              <a:pPr/>
              <a:t>7.08.2026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EC31E-F376-4B05-BC6E-E2DA62F5D4A2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DEC65-2706-4D00-AFF9-7344E3286F22}" type="datetimeFigureOut">
              <a:rPr lang="tr-TR" smtClean="0"/>
              <a:pPr/>
              <a:t>7.08.2026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EC31E-F376-4B05-BC6E-E2DA62F5D4A2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 Yer Tutucusu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0DEC65-2706-4D00-AFF9-7344E3286F22}" type="datetimeFigureOut">
              <a:rPr lang="tr-TR" smtClean="0"/>
              <a:pPr/>
              <a:t>7.08.2026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FEC31E-F376-4B05-BC6E-E2DA62F5D4A2}" type="slidenum">
              <a:rPr lang="tr-TR" smtClean="0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gif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wmf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7704" y="2348880"/>
            <a:ext cx="5545559" cy="4176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3568" y="188640"/>
            <a:ext cx="2124075" cy="2152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92080" y="404664"/>
            <a:ext cx="2653605" cy="157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268761"/>
            <a:ext cx="4066383" cy="2448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2 Başlık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tr-TR" sz="3200" dirty="0" smtClean="0">
                <a:solidFill>
                  <a:srgbClr val="FF0000"/>
                </a:solidFill>
              </a:rPr>
              <a:t>Sığır vebası,</a:t>
            </a:r>
            <a:r>
              <a:rPr lang="tr-TR" sz="3200" dirty="0" err="1" smtClean="0">
                <a:solidFill>
                  <a:srgbClr val="FF0000"/>
                </a:solidFill>
              </a:rPr>
              <a:t>ispanyol</a:t>
            </a:r>
            <a:r>
              <a:rPr lang="tr-TR" sz="3200" dirty="0" smtClean="0">
                <a:solidFill>
                  <a:srgbClr val="FF0000"/>
                </a:solidFill>
              </a:rPr>
              <a:t> gribi, ebola,domates virüsü</a:t>
            </a:r>
            <a:endParaRPr lang="tr-TR" sz="3200" dirty="0">
              <a:solidFill>
                <a:srgbClr val="FF0000"/>
              </a:solidFill>
            </a:endParaRPr>
          </a:p>
        </p:txBody>
      </p:sp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92080" y="1196752"/>
            <a:ext cx="3286125" cy="2314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1520" y="3861048"/>
            <a:ext cx="3849445" cy="2664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 descr="C:\Users\tijen\Desktop\images.jfif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156176" y="3789040"/>
            <a:ext cx="2747472" cy="2016224"/>
          </a:xfrm>
          <a:prstGeom prst="rect">
            <a:avLst/>
          </a:prstGeom>
          <a:noFill/>
        </p:spPr>
      </p:pic>
      <p:pic>
        <p:nvPicPr>
          <p:cNvPr id="1030" name="Picture 6" descr="C:\Users\tijen\Desktop\biberde-meyve-virusu-1-1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995936" y="4437112"/>
            <a:ext cx="2467715" cy="196359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260648"/>
            <a:ext cx="3419872" cy="2376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584" y="260648"/>
            <a:ext cx="3699495" cy="2304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81450" y="3068960"/>
            <a:ext cx="516255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55576" y="4797152"/>
            <a:ext cx="2676525" cy="170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043608" y="2996952"/>
            <a:ext cx="2124075" cy="1549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/>
            </a:r>
            <a:br>
              <a:rPr lang="tr-TR" b="1" dirty="0" smtClean="0">
                <a:solidFill>
                  <a:srgbClr val="FF0000"/>
                </a:solidFill>
              </a:rPr>
            </a:br>
            <a:r>
              <a:rPr lang="tr-TR" b="1" dirty="0" smtClean="0">
                <a:solidFill>
                  <a:srgbClr val="FF0000"/>
                </a:solidFill>
              </a:rPr>
              <a:t>VİROLOJİ BİLİMİ NEDİR</a:t>
            </a:r>
            <a:br>
              <a:rPr lang="tr-TR" b="1" dirty="0" smtClean="0">
                <a:solidFill>
                  <a:srgbClr val="FF0000"/>
                </a:solidFill>
              </a:rPr>
            </a:b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ctr"/>
            <a:r>
              <a:rPr lang="tr-TR" b="1" dirty="0" err="1" smtClean="0"/>
              <a:t>Virusların</a:t>
            </a:r>
            <a:r>
              <a:rPr lang="tr-TR" b="1" dirty="0" smtClean="0"/>
              <a:t> yapısını</a:t>
            </a:r>
          </a:p>
          <a:p>
            <a:pPr algn="ctr"/>
            <a:r>
              <a:rPr lang="tr-TR" b="1" dirty="0" smtClean="0"/>
              <a:t>biyolojilerini </a:t>
            </a:r>
          </a:p>
          <a:p>
            <a:pPr algn="ctr"/>
            <a:r>
              <a:rPr lang="tr-TR" b="1" dirty="0" err="1" smtClean="0"/>
              <a:t>virus</a:t>
            </a:r>
            <a:r>
              <a:rPr lang="tr-TR" b="1" dirty="0" smtClean="0"/>
              <a:t>-konakçı ilişkilerini ve </a:t>
            </a:r>
          </a:p>
          <a:p>
            <a:pPr algn="ctr"/>
            <a:r>
              <a:rPr lang="tr-TR" b="1" dirty="0" smtClean="0"/>
              <a:t>neden oldukları enfeksiyonları</a:t>
            </a:r>
          </a:p>
          <a:p>
            <a:pPr algn="ctr"/>
            <a:r>
              <a:rPr lang="tr-TR" b="1" dirty="0" smtClean="0"/>
              <a:t>inceleyen bilim dalı olarak tanımlanır</a:t>
            </a:r>
          </a:p>
          <a:p>
            <a:pPr algn="ctr"/>
            <a:endParaRPr lang="tr-TR" b="1" dirty="0" smtClean="0"/>
          </a:p>
          <a:p>
            <a:pPr algn="ctr"/>
            <a:r>
              <a:rPr lang="sv-SE" dirty="0" smtClean="0">
                <a:solidFill>
                  <a:srgbClr val="FF0000"/>
                </a:solidFill>
              </a:rPr>
              <a:t>Virüsler organizmada hastalık yapabilen en küçük canlı</a:t>
            </a:r>
            <a:r>
              <a:rPr lang="tr-TR" dirty="0" smtClean="0">
                <a:solidFill>
                  <a:srgbClr val="FF0000"/>
                </a:solidFill>
              </a:rPr>
              <a:t> enfeksiyon etkenidirler</a:t>
            </a:r>
            <a:endParaRPr lang="tr-TR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VİRUS TANIMI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/>
              <a:t>Kendine özgü çoğalma stratejisine sahip,</a:t>
            </a:r>
          </a:p>
          <a:p>
            <a:r>
              <a:rPr lang="tr-TR" b="1" dirty="0" smtClean="0"/>
              <a:t>Tek tip </a:t>
            </a:r>
            <a:r>
              <a:rPr lang="tr-TR" b="1" dirty="0" err="1" smtClean="0"/>
              <a:t>nükleik</a:t>
            </a:r>
            <a:r>
              <a:rPr lang="tr-TR" b="1" dirty="0" smtClean="0"/>
              <a:t> asit taşıyan, </a:t>
            </a:r>
          </a:p>
          <a:p>
            <a:r>
              <a:rPr lang="tr-TR" b="1" dirty="0" smtClean="0"/>
              <a:t>Protein ve enerji üretim mekanizmaları olmayan </a:t>
            </a:r>
          </a:p>
          <a:p>
            <a:r>
              <a:rPr lang="tr-TR" b="1" dirty="0" smtClean="0"/>
              <a:t>Bu gereksinimlerini hücreden sağlayan zorunlu hücre içi parazitlerdir.</a:t>
            </a:r>
          </a:p>
          <a:p>
            <a:endParaRPr lang="tr-TR" sz="2800" b="1" dirty="0" smtClean="0">
              <a:solidFill>
                <a:srgbClr val="FF0000"/>
              </a:solidFill>
            </a:endParaRPr>
          </a:p>
          <a:p>
            <a:r>
              <a:rPr lang="tr-TR" sz="2800" b="1" dirty="0" smtClean="0">
                <a:solidFill>
                  <a:srgbClr val="FF0000"/>
                </a:solidFill>
              </a:rPr>
              <a:t>LATİNCE TERMİNOLOJİDE  VİRUS = ZEHİR  demektir</a:t>
            </a:r>
            <a:endParaRPr lang="tr-TR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/>
              <a:t/>
            </a:r>
            <a:br>
              <a:rPr lang="tr-TR" b="1" dirty="0" smtClean="0"/>
            </a:br>
            <a:r>
              <a:rPr lang="tr-TR" b="1" dirty="0" smtClean="0">
                <a:solidFill>
                  <a:srgbClr val="FF0000"/>
                </a:solidFill>
              </a:rPr>
              <a:t>VİRUSLARIN BÜYÜKLÜKLERİ </a:t>
            </a:r>
            <a:br>
              <a:rPr lang="tr-TR" b="1" dirty="0" smtClean="0">
                <a:solidFill>
                  <a:srgbClr val="FF0000"/>
                </a:solidFill>
              </a:rPr>
            </a:b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09120"/>
          </a:xfrm>
        </p:spPr>
        <p:txBody>
          <a:bodyPr>
            <a:normAutofit fontScale="70000" lnSpcReduction="20000"/>
          </a:bodyPr>
          <a:lstStyle/>
          <a:p>
            <a:r>
              <a:rPr lang="tr-TR" b="1" dirty="0" smtClean="0"/>
              <a:t>Virüs büyüklükleri NANOMETRE cinsinden ifade edilir.</a:t>
            </a:r>
          </a:p>
          <a:p>
            <a:pPr>
              <a:buNone/>
            </a:pPr>
            <a:r>
              <a:rPr lang="tr-TR" b="1" dirty="0" smtClean="0"/>
              <a:t>				1nm = 10⁻9 m</a:t>
            </a:r>
          </a:p>
          <a:p>
            <a:r>
              <a:rPr lang="tr-TR" b="1" dirty="0" smtClean="0"/>
              <a:t>Eski kaynaklarda bu birim milimikron (m</a:t>
            </a:r>
            <a:r>
              <a:rPr lang="el-GR" b="1" dirty="0" smtClean="0"/>
              <a:t>μ) </a:t>
            </a:r>
            <a:r>
              <a:rPr lang="tr-TR" b="1" dirty="0" smtClean="0"/>
              <a:t>olarak ifade edilmektedir…</a:t>
            </a:r>
          </a:p>
          <a:p>
            <a:r>
              <a:rPr lang="tr-TR" b="1" i="1" dirty="0" smtClean="0"/>
              <a:t>1 </a:t>
            </a:r>
            <a:r>
              <a:rPr lang="tr-TR" b="1" i="1" dirty="0" err="1" smtClean="0"/>
              <a:t>mikronmetre</a:t>
            </a:r>
            <a:r>
              <a:rPr lang="tr-TR" b="1" i="1" dirty="0" smtClean="0"/>
              <a:t> (</a:t>
            </a:r>
            <a:r>
              <a:rPr lang="tr-TR" b="1" i="1" dirty="0" err="1" smtClean="0"/>
              <a:t>μm</a:t>
            </a:r>
            <a:r>
              <a:rPr lang="tr-TR" b="1" i="1" dirty="0" smtClean="0"/>
              <a:t>)‟</a:t>
            </a:r>
            <a:r>
              <a:rPr lang="tr-TR" b="1" i="1" dirty="0" err="1" smtClean="0"/>
              <a:t>nin</a:t>
            </a:r>
            <a:r>
              <a:rPr lang="tr-TR" b="1" i="1" dirty="0" smtClean="0"/>
              <a:t> binde biri olan nanometre (</a:t>
            </a:r>
            <a:r>
              <a:rPr lang="tr-TR" b="1" i="1" dirty="0" err="1" smtClean="0"/>
              <a:t>nm</a:t>
            </a:r>
            <a:r>
              <a:rPr lang="tr-TR" b="1" i="1" dirty="0" smtClean="0"/>
              <a:t>)</a:t>
            </a:r>
            <a:endParaRPr lang="tr-TR" b="1" dirty="0" smtClean="0"/>
          </a:p>
          <a:p>
            <a:pPr>
              <a:buNone/>
            </a:pPr>
            <a:r>
              <a:rPr lang="tr-TR" b="1" dirty="0" smtClean="0"/>
              <a:t>				</a:t>
            </a:r>
            <a:r>
              <a:rPr lang="el-GR" b="1" dirty="0" smtClean="0"/>
              <a:t>1 mμ</a:t>
            </a:r>
            <a:r>
              <a:rPr lang="tr-TR" b="1" dirty="0" smtClean="0"/>
              <a:t> </a:t>
            </a:r>
            <a:r>
              <a:rPr lang="el-GR" b="1" dirty="0" smtClean="0"/>
              <a:t>= 10</a:t>
            </a:r>
            <a:r>
              <a:rPr lang="tr-TR" b="1" dirty="0" smtClean="0"/>
              <a:t> ⁻ </a:t>
            </a:r>
            <a:r>
              <a:rPr lang="el-GR" b="1" dirty="0" smtClean="0"/>
              <a:t>3 μm</a:t>
            </a:r>
            <a:r>
              <a:rPr lang="tr-TR" b="1" dirty="0" smtClean="0"/>
              <a:t> </a:t>
            </a:r>
            <a:r>
              <a:rPr lang="el-GR" b="1" dirty="0" smtClean="0"/>
              <a:t>=</a:t>
            </a:r>
            <a:r>
              <a:rPr lang="tr-TR" b="1" dirty="0" smtClean="0"/>
              <a:t> </a:t>
            </a:r>
            <a:r>
              <a:rPr lang="el-GR" b="1" dirty="0" smtClean="0"/>
              <a:t>10</a:t>
            </a:r>
            <a:r>
              <a:rPr lang="tr-TR" b="1" dirty="0" smtClean="0"/>
              <a:t>⁻ </a:t>
            </a:r>
            <a:r>
              <a:rPr lang="el-GR" b="1" dirty="0" smtClean="0"/>
              <a:t>9 m</a:t>
            </a:r>
          </a:p>
          <a:p>
            <a:pPr>
              <a:buNone/>
            </a:pPr>
            <a:endParaRPr lang="tr-TR" b="1" dirty="0" smtClean="0"/>
          </a:p>
          <a:p>
            <a:pPr>
              <a:buNone/>
            </a:pPr>
            <a:r>
              <a:rPr lang="tr-TR" b="1" dirty="0" smtClean="0"/>
              <a:t>	</a:t>
            </a:r>
            <a:r>
              <a:rPr lang="tr-TR" b="1" dirty="0" smtClean="0">
                <a:solidFill>
                  <a:srgbClr val="FF0000"/>
                </a:solidFill>
              </a:rPr>
              <a:t>Genel olarak </a:t>
            </a:r>
            <a:r>
              <a:rPr lang="tr-TR" b="1" dirty="0" err="1" smtClean="0">
                <a:solidFill>
                  <a:srgbClr val="FF0000"/>
                </a:solidFill>
              </a:rPr>
              <a:t>virus</a:t>
            </a:r>
            <a:r>
              <a:rPr lang="tr-TR" b="1" dirty="0" smtClean="0">
                <a:solidFill>
                  <a:srgbClr val="FF0000"/>
                </a:solidFill>
              </a:rPr>
              <a:t> ölçüleri </a:t>
            </a:r>
          </a:p>
          <a:p>
            <a:pPr>
              <a:buNone/>
            </a:pPr>
            <a:r>
              <a:rPr lang="tr-TR" b="1" dirty="0" smtClean="0">
                <a:solidFill>
                  <a:srgbClr val="FF0000"/>
                </a:solidFill>
              </a:rPr>
              <a:t>			17-300 </a:t>
            </a:r>
            <a:r>
              <a:rPr lang="tr-TR" b="1" dirty="0" err="1" smtClean="0">
                <a:solidFill>
                  <a:srgbClr val="FF0000"/>
                </a:solidFill>
              </a:rPr>
              <a:t>nm</a:t>
            </a:r>
            <a:endParaRPr lang="tr-TR" b="1" dirty="0" smtClean="0">
              <a:solidFill>
                <a:srgbClr val="FF0000"/>
              </a:solidFill>
            </a:endParaRPr>
          </a:p>
          <a:p>
            <a:r>
              <a:rPr lang="tr-TR" b="1" dirty="0" smtClean="0"/>
              <a:t>İnsan ve hayvanlarda </a:t>
            </a:r>
          </a:p>
          <a:p>
            <a:r>
              <a:rPr lang="tr-TR" b="1" dirty="0" smtClean="0"/>
              <a:t>en küçük </a:t>
            </a:r>
            <a:r>
              <a:rPr lang="tr-TR" b="1" dirty="0" err="1" smtClean="0"/>
              <a:t>virus</a:t>
            </a:r>
            <a:r>
              <a:rPr lang="tr-TR" b="1" dirty="0" smtClean="0"/>
              <a:t> ailesi (</a:t>
            </a:r>
            <a:r>
              <a:rPr lang="tr-TR" b="1" dirty="0" err="1" smtClean="0"/>
              <a:t>Circoviridae</a:t>
            </a:r>
            <a:r>
              <a:rPr lang="tr-TR" b="1" dirty="0" smtClean="0"/>
              <a:t>)</a:t>
            </a:r>
          </a:p>
          <a:p>
            <a:pPr>
              <a:buNone/>
            </a:pPr>
            <a:r>
              <a:rPr lang="tr-TR" b="1" dirty="0" smtClean="0"/>
              <a:t>			17-22nm </a:t>
            </a:r>
          </a:p>
          <a:p>
            <a:r>
              <a:rPr lang="tr-TR" b="1" dirty="0" smtClean="0"/>
              <a:t>en büyük </a:t>
            </a:r>
            <a:r>
              <a:rPr lang="tr-TR" b="1" dirty="0" err="1" smtClean="0"/>
              <a:t>virus</a:t>
            </a:r>
            <a:r>
              <a:rPr lang="tr-TR" b="1" dirty="0" smtClean="0"/>
              <a:t> ailesi (</a:t>
            </a:r>
            <a:r>
              <a:rPr lang="tr-TR" b="1" dirty="0" err="1" smtClean="0"/>
              <a:t>Herpesviridae</a:t>
            </a:r>
            <a:r>
              <a:rPr lang="tr-TR" b="1" dirty="0" smtClean="0"/>
              <a:t>) </a:t>
            </a:r>
          </a:p>
          <a:p>
            <a:pPr>
              <a:buNone/>
            </a:pPr>
            <a:r>
              <a:rPr lang="tr-TR" b="1" dirty="0" smtClean="0"/>
              <a:t>			300 </a:t>
            </a:r>
            <a:r>
              <a:rPr lang="tr-TR" b="1" dirty="0" err="1" smtClean="0"/>
              <a:t>nm</a:t>
            </a:r>
            <a:endParaRPr lang="tr-T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tr-TR" b="1" dirty="0" smtClean="0">
                <a:solidFill>
                  <a:srgbClr val="FF0000"/>
                </a:solidFill>
              </a:rPr>
              <a:t>    VİRUSLARIN  ŞEKLİ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3000" b="1" dirty="0" smtClean="0">
                <a:solidFill>
                  <a:srgbClr val="FF0000"/>
                </a:solidFill>
              </a:rPr>
              <a:t>Genel olarak küresel (</a:t>
            </a:r>
            <a:r>
              <a:rPr lang="tr-TR" sz="3000" b="1" dirty="0" err="1" smtClean="0">
                <a:solidFill>
                  <a:srgbClr val="FF0000"/>
                </a:solidFill>
              </a:rPr>
              <a:t>spherical</a:t>
            </a:r>
            <a:r>
              <a:rPr lang="tr-TR" sz="3000" b="1" dirty="0" smtClean="0">
                <a:solidFill>
                  <a:srgbClr val="FF0000"/>
                </a:solidFill>
              </a:rPr>
              <a:t>) </a:t>
            </a:r>
            <a:r>
              <a:rPr lang="tr-TR" sz="3000" b="1" dirty="0" err="1" smtClean="0">
                <a:solidFill>
                  <a:srgbClr val="FF0000"/>
                </a:solidFill>
              </a:rPr>
              <a:t>şekile</a:t>
            </a:r>
            <a:r>
              <a:rPr lang="tr-TR" sz="3000" b="1" dirty="0" smtClean="0">
                <a:solidFill>
                  <a:srgbClr val="FF0000"/>
                </a:solidFill>
              </a:rPr>
              <a:t> sahipler</a:t>
            </a:r>
            <a:endParaRPr lang="tr-TR" sz="3000" b="1" dirty="0">
              <a:solidFill>
                <a:srgbClr val="FF000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44208" y="188640"/>
            <a:ext cx="2204442" cy="15111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1560" y="2219325"/>
            <a:ext cx="8136904" cy="43780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88640"/>
            <a:ext cx="8568952" cy="6480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218610"/>
            <a:ext cx="8280920" cy="62347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VİRUSLARIN ÖZELLİKLERİ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Autofit/>
          </a:bodyPr>
          <a:lstStyle/>
          <a:p>
            <a:r>
              <a:rPr lang="tr-TR" sz="2400" b="1" dirty="0" err="1" smtClean="0"/>
              <a:t>Asellüler</a:t>
            </a:r>
            <a:r>
              <a:rPr lang="tr-TR" sz="2400" b="1" dirty="0" smtClean="0"/>
              <a:t> </a:t>
            </a:r>
            <a:r>
              <a:rPr lang="tr-TR" sz="2400" b="1" dirty="0" err="1" smtClean="0"/>
              <a:t>infeksiyöz</a:t>
            </a:r>
            <a:r>
              <a:rPr lang="tr-TR" sz="2400" b="1" dirty="0" smtClean="0"/>
              <a:t> ajanlar</a:t>
            </a:r>
          </a:p>
          <a:p>
            <a:r>
              <a:rPr lang="tr-TR" sz="2400" b="1" dirty="0" err="1" smtClean="0"/>
              <a:t>İnert</a:t>
            </a:r>
            <a:r>
              <a:rPr lang="tr-TR" sz="2400" b="1" dirty="0" smtClean="0"/>
              <a:t> ve </a:t>
            </a:r>
            <a:r>
              <a:rPr lang="tr-TR" sz="2400" b="1" dirty="0" err="1" smtClean="0"/>
              <a:t>filitre</a:t>
            </a:r>
            <a:r>
              <a:rPr lang="tr-TR" sz="2400" b="1" dirty="0" smtClean="0"/>
              <a:t> edilebilir</a:t>
            </a:r>
          </a:p>
          <a:p>
            <a:r>
              <a:rPr lang="tr-TR" sz="2400" b="1" dirty="0" smtClean="0"/>
              <a:t>Zorunlu hücre içi parazit</a:t>
            </a:r>
          </a:p>
          <a:p>
            <a:r>
              <a:rPr lang="tr-TR" sz="2400" b="1" dirty="0" smtClean="0"/>
              <a:t>Enerji üretemez</a:t>
            </a:r>
          </a:p>
          <a:p>
            <a:r>
              <a:rPr lang="tr-TR" sz="2400" b="1" dirty="0" smtClean="0"/>
              <a:t>Protein sentezleyemez</a:t>
            </a:r>
            <a:r>
              <a:rPr lang="tr-TR" sz="2400" b="1" i="1" dirty="0" smtClean="0"/>
              <a:t> -ribozomları yoktur</a:t>
            </a:r>
            <a:endParaRPr lang="tr-TR" sz="2400" b="1" dirty="0" smtClean="0"/>
          </a:p>
          <a:p>
            <a:r>
              <a:rPr lang="tr-TR" sz="2400" b="1" dirty="0" err="1" smtClean="0"/>
              <a:t>Nükleik</a:t>
            </a:r>
            <a:r>
              <a:rPr lang="tr-TR" sz="2400" b="1" dirty="0" smtClean="0"/>
              <a:t> Asitlerden sadece birini taşır</a:t>
            </a:r>
            <a:r>
              <a:rPr lang="it-IT" sz="2400" dirty="0" smtClean="0"/>
              <a:t> </a:t>
            </a:r>
            <a:endParaRPr lang="tr-TR" sz="2400" dirty="0" smtClean="0"/>
          </a:p>
          <a:p>
            <a:pPr lvl="1"/>
            <a:r>
              <a:rPr lang="it-IT" sz="2400" dirty="0" smtClean="0">
                <a:solidFill>
                  <a:srgbClr val="FF0000"/>
                </a:solidFill>
              </a:rPr>
              <a:t>DNA veya RNA ’ dan birine sahiptir, ikisini birden</a:t>
            </a:r>
            <a:r>
              <a:rPr lang="tr-TR" sz="2400" dirty="0" smtClean="0">
                <a:solidFill>
                  <a:srgbClr val="FF0000"/>
                </a:solidFill>
              </a:rPr>
              <a:t> içermez</a:t>
            </a:r>
            <a:endParaRPr lang="tr-TR" sz="2400" b="1" dirty="0" smtClean="0"/>
          </a:p>
          <a:p>
            <a:r>
              <a:rPr lang="tr-TR" sz="2400" b="1" dirty="0" smtClean="0"/>
              <a:t>Zorunlu hücre </a:t>
            </a:r>
            <a:r>
              <a:rPr lang="tr-TR" sz="2400" b="1" dirty="0" err="1" smtClean="0"/>
              <a:t>içi</a:t>
            </a:r>
            <a:r>
              <a:rPr lang="tr-TR" sz="2400" b="1" dirty="0" smtClean="0"/>
              <a:t> parazitlerdir. Yalnız canlı bir hücre </a:t>
            </a:r>
            <a:r>
              <a:rPr lang="tr-TR" sz="2400" b="1" dirty="0" err="1" smtClean="0"/>
              <a:t>içinde</a:t>
            </a:r>
            <a:endParaRPr lang="tr-TR" sz="2400" b="1" dirty="0" smtClean="0"/>
          </a:p>
          <a:p>
            <a:r>
              <a:rPr lang="tr-TR" sz="2400" b="1" dirty="0" err="1" smtClean="0"/>
              <a:t>çoğalabilirler</a:t>
            </a:r>
            <a:endParaRPr lang="tr-TR" sz="2400" b="1" dirty="0" smtClean="0"/>
          </a:p>
          <a:p>
            <a:pPr lvl="1"/>
            <a:r>
              <a:rPr lang="tr-TR" sz="2400" b="1" dirty="0" err="1" smtClean="0"/>
              <a:t>Inert</a:t>
            </a:r>
            <a:r>
              <a:rPr lang="tr-TR" sz="2400" b="1" dirty="0" smtClean="0"/>
              <a:t>= Atıl, durağan,etkinlik göstermeyen</a:t>
            </a:r>
          </a:p>
          <a:p>
            <a:endParaRPr lang="tr-TR" sz="230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VİRUSLARIN ÖZELLİKLERİ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/>
              <a:t>Enerji üretebilmesi için gerekli enzim ve genleri yoktur</a:t>
            </a:r>
          </a:p>
          <a:p>
            <a:r>
              <a:rPr lang="tr-TR" b="1" dirty="0" smtClean="0">
                <a:solidFill>
                  <a:srgbClr val="FF0000"/>
                </a:solidFill>
              </a:rPr>
              <a:t>Protein üretimi; konak hücresindeki ribozomlara, enzimler ve besinlere bağımlıdır</a:t>
            </a:r>
          </a:p>
          <a:p>
            <a:r>
              <a:rPr lang="tr-TR" b="1" dirty="0" err="1" smtClean="0"/>
              <a:t>Çekirdek</a:t>
            </a:r>
            <a:r>
              <a:rPr lang="tr-TR" b="1" dirty="0" smtClean="0"/>
              <a:t>, </a:t>
            </a:r>
            <a:r>
              <a:rPr lang="tr-TR" b="1" dirty="0" err="1" smtClean="0"/>
              <a:t>organel</a:t>
            </a:r>
            <a:r>
              <a:rPr lang="tr-TR" b="1" dirty="0" smtClean="0"/>
              <a:t> ve sitoplazmaları yoktur</a:t>
            </a:r>
          </a:p>
          <a:p>
            <a:r>
              <a:rPr lang="tr-TR" b="1" dirty="0" err="1" smtClean="0"/>
              <a:t>Işık</a:t>
            </a:r>
            <a:r>
              <a:rPr lang="tr-TR" b="1" dirty="0" smtClean="0"/>
              <a:t> mikroskobuyla görülemeyecek kadar </a:t>
            </a:r>
            <a:r>
              <a:rPr lang="tr-TR" b="1" dirty="0" err="1" smtClean="0"/>
              <a:t>küçüktürler</a:t>
            </a:r>
            <a:endParaRPr lang="tr-TR" b="1" dirty="0" smtClean="0"/>
          </a:p>
          <a:p>
            <a:r>
              <a:rPr lang="tr-TR" b="1" dirty="0" smtClean="0"/>
              <a:t>Sadece elektron mikroskobuyla </a:t>
            </a:r>
            <a:r>
              <a:rPr lang="tr-TR" b="1" dirty="0" err="1" smtClean="0"/>
              <a:t>görülebilirler</a:t>
            </a:r>
            <a:endParaRPr lang="tr-TR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VİRUSLARIN ÖZELLİKLERİ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 fontScale="92500" lnSpcReduction="10000"/>
          </a:bodyPr>
          <a:lstStyle/>
          <a:p>
            <a:r>
              <a:rPr lang="tr-TR" sz="2800" b="1" dirty="0" smtClean="0"/>
              <a:t>Morfolojik yapıları ve genel özellikleri yönünden diğer mikroorganizmalardan büyük farklılıklar gösterirler</a:t>
            </a:r>
          </a:p>
          <a:p>
            <a:r>
              <a:rPr lang="tr-TR" sz="2800" b="1" dirty="0" smtClean="0">
                <a:solidFill>
                  <a:srgbClr val="FF3399"/>
                </a:solidFill>
              </a:rPr>
              <a:t>Bakteri, </a:t>
            </a:r>
            <a:r>
              <a:rPr lang="tr-TR" sz="2800" b="1" dirty="0" err="1" smtClean="0">
                <a:solidFill>
                  <a:srgbClr val="FF3399"/>
                </a:solidFill>
              </a:rPr>
              <a:t>protozoa</a:t>
            </a:r>
            <a:r>
              <a:rPr lang="tr-TR" sz="2800" b="1" dirty="0" smtClean="0">
                <a:solidFill>
                  <a:srgbClr val="FF3399"/>
                </a:solidFill>
              </a:rPr>
              <a:t> ve mantarlarda olduğu gibi tam bir hücre yapısı göstermezler</a:t>
            </a:r>
          </a:p>
          <a:p>
            <a:r>
              <a:rPr lang="tr-TR" sz="2800" b="1" dirty="0" smtClean="0"/>
              <a:t>Yalnız başlarına yaşamak için gerekli olan enerjiyi ve </a:t>
            </a:r>
            <a:r>
              <a:rPr lang="tr-TR" sz="2800" b="1" dirty="0" err="1" smtClean="0"/>
              <a:t>makromolekülleri</a:t>
            </a:r>
            <a:r>
              <a:rPr lang="tr-TR" sz="2800" b="1" dirty="0" smtClean="0"/>
              <a:t> sentezleyemezler</a:t>
            </a:r>
          </a:p>
          <a:p>
            <a:r>
              <a:rPr lang="tr-TR" sz="2800" b="1" dirty="0" smtClean="0"/>
              <a:t>Bu nedenle virüsler tamamen </a:t>
            </a:r>
            <a:r>
              <a:rPr lang="tr-TR" sz="2800" b="1" dirty="0" err="1" smtClean="0"/>
              <a:t>enfekte</a:t>
            </a:r>
            <a:r>
              <a:rPr lang="tr-TR" sz="2800" b="1" dirty="0" smtClean="0"/>
              <a:t> ettikleri hücrelerin </a:t>
            </a:r>
            <a:r>
              <a:rPr lang="tr-TR" sz="2800" b="1" dirty="0" err="1" smtClean="0"/>
              <a:t>metabolik</a:t>
            </a:r>
            <a:r>
              <a:rPr lang="tr-TR" sz="2800" b="1" dirty="0" smtClean="0"/>
              <a:t> sistemlerinden yararlanırlar</a:t>
            </a:r>
          </a:p>
          <a:p>
            <a:r>
              <a:rPr lang="tr-TR" sz="2800" b="1" dirty="0" smtClean="0"/>
              <a:t>Yani zorunlu hücre içi paraziti olarak yaşamlarını devam ettirirler</a:t>
            </a:r>
          </a:p>
          <a:p>
            <a:r>
              <a:rPr lang="tr-TR" sz="2800" b="1" dirty="0" smtClean="0"/>
              <a:t>Canlı hücrelerin dışında yaşamlarını sürdürmeleri mümkün değildir</a:t>
            </a:r>
            <a:endParaRPr lang="tr-TR" sz="2800"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200" b="1" dirty="0" smtClean="0">
                <a:solidFill>
                  <a:srgbClr val="FF0000"/>
                </a:solidFill>
              </a:rPr>
              <a:t>VİRÜSLERİN FİZİKSEL VE KİMYASAL ETKENLERE</a:t>
            </a:r>
            <a:br>
              <a:rPr lang="tr-TR" sz="3200" b="1" dirty="0" smtClean="0">
                <a:solidFill>
                  <a:srgbClr val="FF0000"/>
                </a:solidFill>
              </a:rPr>
            </a:br>
            <a:r>
              <a:rPr lang="tr-TR" sz="3200" b="1" dirty="0" smtClean="0">
                <a:solidFill>
                  <a:srgbClr val="FF0000"/>
                </a:solidFill>
              </a:rPr>
              <a:t>KARŞI DUYARLILIKLARI</a:t>
            </a:r>
            <a:endParaRPr lang="tr-TR" sz="3200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tr-TR" b="1" dirty="0" smtClean="0"/>
              <a:t>			</a:t>
            </a:r>
            <a:r>
              <a:rPr lang="tr-TR" b="1" dirty="0" smtClean="0">
                <a:solidFill>
                  <a:srgbClr val="FF0000"/>
                </a:solidFill>
              </a:rPr>
              <a:t>1 - Fiziksel Ekenlere Duyarlılıkları</a:t>
            </a:r>
          </a:p>
          <a:p>
            <a:r>
              <a:rPr lang="tr-TR" b="1" dirty="0" smtClean="0"/>
              <a:t>Isı</a:t>
            </a:r>
          </a:p>
          <a:p>
            <a:r>
              <a:rPr lang="tr-TR" b="1" dirty="0" smtClean="0"/>
              <a:t>İyonik çevre ve </a:t>
            </a:r>
            <a:r>
              <a:rPr lang="tr-TR" b="1" dirty="0" err="1" smtClean="0"/>
              <a:t>pH</a:t>
            </a:r>
            <a:endParaRPr lang="tr-TR" b="1" dirty="0" smtClean="0"/>
          </a:p>
          <a:p>
            <a:r>
              <a:rPr lang="tr-TR" b="1" dirty="0" smtClean="0"/>
              <a:t>Radyasyon</a:t>
            </a:r>
          </a:p>
          <a:p>
            <a:pPr>
              <a:buNone/>
            </a:pPr>
            <a:r>
              <a:rPr lang="tr-TR" b="1" dirty="0" smtClean="0"/>
              <a:t>			</a:t>
            </a:r>
            <a:r>
              <a:rPr lang="tr-TR" b="1" dirty="0" smtClean="0">
                <a:solidFill>
                  <a:srgbClr val="FF0000"/>
                </a:solidFill>
              </a:rPr>
              <a:t>2 – Kimyasal Etkenlere Duyarlılıkları</a:t>
            </a:r>
          </a:p>
          <a:p>
            <a:r>
              <a:rPr lang="tr-TR" b="1" dirty="0" smtClean="0"/>
              <a:t>Lipit eritici maddeler</a:t>
            </a:r>
          </a:p>
          <a:p>
            <a:r>
              <a:rPr lang="tr-TR" b="1" dirty="0" smtClean="0"/>
              <a:t>Antiseptik ve dezenfektanlar</a:t>
            </a:r>
          </a:p>
          <a:p>
            <a:r>
              <a:rPr lang="tr-TR" b="1" dirty="0" smtClean="0"/>
              <a:t>Deterjanlar</a:t>
            </a:r>
            <a:endParaRPr lang="tr-TR"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323528" y="332656"/>
            <a:ext cx="8568952" cy="6264695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tr-TR" sz="2400" b="1" dirty="0" smtClean="0">
                <a:solidFill>
                  <a:srgbClr val="FF0000"/>
                </a:solidFill>
              </a:rPr>
              <a:t>				</a:t>
            </a:r>
            <a:r>
              <a:rPr lang="tr-TR" sz="4400" b="1" dirty="0" smtClean="0">
                <a:solidFill>
                  <a:srgbClr val="FF0000"/>
                </a:solidFill>
              </a:rPr>
              <a:t>	ISI</a:t>
            </a:r>
            <a:endParaRPr lang="tr-TR" sz="4400" b="1" dirty="0" smtClean="0"/>
          </a:p>
          <a:p>
            <a:r>
              <a:rPr lang="tr-TR" sz="2400" b="1" dirty="0" smtClean="0">
                <a:solidFill>
                  <a:srgbClr val="FF0000"/>
                </a:solidFill>
              </a:rPr>
              <a:t>Virüsler genellikle yüksek ısıya karşı dayanıksızdırlar</a:t>
            </a:r>
          </a:p>
          <a:p>
            <a:r>
              <a:rPr lang="tr-TR" sz="2400" b="1" dirty="0" smtClean="0"/>
              <a:t>Virüslerin bir çoğu 55 - 60 ⁰C ısıda birkaç dakika içinde </a:t>
            </a:r>
            <a:r>
              <a:rPr lang="tr-TR" sz="2400" b="1" dirty="0" err="1" smtClean="0"/>
              <a:t>inaktive</a:t>
            </a:r>
            <a:r>
              <a:rPr lang="tr-TR" sz="2400" b="1" dirty="0" smtClean="0"/>
              <a:t> olurlar</a:t>
            </a:r>
          </a:p>
          <a:p>
            <a:r>
              <a:rPr lang="tr-TR" sz="2400" b="1" dirty="0" smtClean="0"/>
              <a:t>Yüksek ısının etkisi ile </a:t>
            </a:r>
            <a:r>
              <a:rPr lang="tr-TR" sz="2400" b="1" dirty="0" err="1" smtClean="0"/>
              <a:t>kapsid</a:t>
            </a:r>
            <a:r>
              <a:rPr lang="tr-TR" sz="2400" b="1" dirty="0" smtClean="0"/>
              <a:t> proteinlerinin yapısı bozularak, virüsün konak hücreye bağlanma yeteneği kaybolur</a:t>
            </a:r>
          </a:p>
          <a:p>
            <a:r>
              <a:rPr lang="tr-TR" sz="2400" b="1" dirty="0" smtClean="0"/>
              <a:t>Zarflı virüsler yüzeyindeki lipit yapı nedeniyle, ısıya daha dayanıksızlar</a:t>
            </a:r>
          </a:p>
          <a:p>
            <a:r>
              <a:rPr lang="tr-TR" sz="2400" b="1" dirty="0" smtClean="0">
                <a:solidFill>
                  <a:srgbClr val="FF0000"/>
                </a:solidFill>
              </a:rPr>
              <a:t>Virüsler soğuğa karşı ise oldukça dayanıklıdırlar</a:t>
            </a:r>
          </a:p>
          <a:p>
            <a:r>
              <a:rPr lang="tr-TR" sz="2400" b="1" dirty="0" smtClean="0"/>
              <a:t>Bu yüzden sıfırın altındaki düşük ısılarda dondurulduklarında uzun süre canlılıklarını korurlar</a:t>
            </a:r>
          </a:p>
          <a:p>
            <a:r>
              <a:rPr lang="tr-TR" sz="2400" b="1" dirty="0" smtClean="0"/>
              <a:t>En iyi saklama ısısı -70 ile -196 ⁰C arasındaki ısılardır</a:t>
            </a:r>
          </a:p>
          <a:p>
            <a:r>
              <a:rPr lang="tr-TR" sz="2400" b="1" dirty="0" smtClean="0"/>
              <a:t>Bu ısı dereceleri arasında dondurulan virüsler, yıllarca canlılıklarını korurlar</a:t>
            </a:r>
            <a:endParaRPr lang="tr-TR" sz="2400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İYONİK ÇEVRE VE PH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b="1" dirty="0" smtClean="0"/>
              <a:t>Virüslerin çoğu nötr </a:t>
            </a:r>
            <a:r>
              <a:rPr lang="tr-TR" b="1" dirty="0" err="1" smtClean="0"/>
              <a:t>pH'da</a:t>
            </a:r>
            <a:r>
              <a:rPr lang="tr-TR" b="1" dirty="0" smtClean="0"/>
              <a:t>, </a:t>
            </a:r>
            <a:r>
              <a:rPr lang="tr-TR" b="1" dirty="0" err="1" smtClean="0"/>
              <a:t>izotonik</a:t>
            </a:r>
            <a:r>
              <a:rPr lang="tr-TR" b="1" dirty="0" smtClean="0"/>
              <a:t> bir çevreyi tercih ederler</a:t>
            </a:r>
          </a:p>
          <a:p>
            <a:r>
              <a:rPr lang="tr-TR" b="1" dirty="0" smtClean="0"/>
              <a:t>Normal koşullarda çoğu virüsler, 5 – 9 arasındaki </a:t>
            </a:r>
            <a:r>
              <a:rPr lang="tr-TR" b="1" dirty="0" err="1" smtClean="0"/>
              <a:t>pH'da</a:t>
            </a:r>
            <a:r>
              <a:rPr lang="tr-TR" b="1" dirty="0" smtClean="0"/>
              <a:t> canlılıklarını sürdürürler</a:t>
            </a:r>
          </a:p>
          <a:p>
            <a:r>
              <a:rPr lang="tr-TR" b="1" dirty="0" smtClean="0"/>
              <a:t>Bunun dışındaki </a:t>
            </a:r>
            <a:r>
              <a:rPr lang="tr-TR" b="1" dirty="0" err="1" smtClean="0"/>
              <a:t>pH'larda</a:t>
            </a:r>
            <a:r>
              <a:rPr lang="tr-TR" b="1" dirty="0" smtClean="0"/>
              <a:t> ise genellikle </a:t>
            </a:r>
            <a:r>
              <a:rPr lang="tr-TR" b="1" dirty="0" err="1" smtClean="0"/>
              <a:t>inaktive</a:t>
            </a:r>
            <a:r>
              <a:rPr lang="tr-TR" b="1" dirty="0" smtClean="0"/>
              <a:t> olurlar</a:t>
            </a:r>
          </a:p>
          <a:p>
            <a:r>
              <a:rPr lang="fi-FI" b="1" dirty="0" smtClean="0"/>
              <a:t>Virüslerin hemen hemen tamamı alkali</a:t>
            </a:r>
            <a:r>
              <a:rPr lang="tr-TR" b="1" dirty="0" smtClean="0"/>
              <a:t> ortamlarda kısa sürede </a:t>
            </a:r>
            <a:r>
              <a:rPr lang="tr-TR" b="1" dirty="0" err="1" smtClean="0"/>
              <a:t>inaktive</a:t>
            </a:r>
            <a:r>
              <a:rPr lang="tr-TR" b="1" dirty="0" smtClean="0"/>
              <a:t> olmalarına karşılık, bazı virüsler asit ortama dirençlilik gösterebilmektedirler</a:t>
            </a:r>
            <a:endParaRPr lang="tr-TR" b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ph-metre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692696"/>
            <a:ext cx="8497887" cy="46085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RADYASYON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b="1" dirty="0" smtClean="0"/>
              <a:t>Ultraviyole, X ve gama ışınları virüsleri kısa sürede </a:t>
            </a:r>
            <a:r>
              <a:rPr lang="tr-TR" b="1" dirty="0" err="1" smtClean="0"/>
              <a:t>inaktive</a:t>
            </a:r>
            <a:r>
              <a:rPr lang="tr-TR" b="1" dirty="0" smtClean="0"/>
              <a:t> ederler</a:t>
            </a:r>
          </a:p>
          <a:p>
            <a:r>
              <a:rPr lang="tr-TR" b="1" dirty="0" smtClean="0"/>
              <a:t>Bu ışınların öldürücü dozları tüm virüsler için farklılıklar göstermektedir</a:t>
            </a:r>
          </a:p>
          <a:p>
            <a:r>
              <a:rPr lang="tr-TR" b="1" dirty="0" smtClean="0"/>
              <a:t>Etkileri daha çok </a:t>
            </a:r>
            <a:r>
              <a:rPr lang="tr-TR" b="1" dirty="0" err="1" smtClean="0"/>
              <a:t>nukleik</a:t>
            </a:r>
            <a:r>
              <a:rPr lang="tr-TR" b="1" dirty="0" smtClean="0"/>
              <a:t> asitler üzerine olmaktadır</a:t>
            </a:r>
          </a:p>
          <a:p>
            <a:r>
              <a:rPr lang="tr-TR" b="1" dirty="0" smtClean="0"/>
              <a:t>Genellikle </a:t>
            </a:r>
            <a:r>
              <a:rPr lang="tr-TR" b="1" dirty="0" err="1" smtClean="0"/>
              <a:t>nukleik</a:t>
            </a:r>
            <a:r>
              <a:rPr lang="tr-TR" b="1" dirty="0" smtClean="0"/>
              <a:t> asitlerin yapılarını bozmaktadırlar</a:t>
            </a:r>
            <a:endParaRPr lang="tr-TR" b="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LİPİT ERİTİCİ MADDELER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/>
              <a:t>Zarf üzerinde bol miktarda </a:t>
            </a:r>
            <a:r>
              <a:rPr lang="tr-TR" b="1" dirty="0" smtClean="0">
                <a:solidFill>
                  <a:srgbClr val="FF0000"/>
                </a:solidFill>
              </a:rPr>
              <a:t>lipit bulunması </a:t>
            </a:r>
            <a:r>
              <a:rPr lang="tr-TR" b="1" dirty="0" smtClean="0"/>
              <a:t>nedeniyle </a:t>
            </a:r>
            <a:r>
              <a:rPr lang="tr-TR" b="1" dirty="0" smtClean="0">
                <a:solidFill>
                  <a:srgbClr val="FF0000"/>
                </a:solidFill>
              </a:rPr>
              <a:t>zarflı virüsler eter, kloroform </a:t>
            </a:r>
            <a:r>
              <a:rPr lang="tr-TR" b="1" dirty="0" smtClean="0"/>
              <a:t>veya sodyum </a:t>
            </a:r>
            <a:r>
              <a:rPr lang="tr-TR" b="1" dirty="0" err="1" smtClean="0"/>
              <a:t>deoxycholate</a:t>
            </a:r>
            <a:r>
              <a:rPr lang="tr-TR" b="1" dirty="0" smtClean="0"/>
              <a:t> gibi lipit eritici maddelere karşı oldukça duyarlıdırlar</a:t>
            </a:r>
          </a:p>
          <a:p>
            <a:pPr>
              <a:buNone/>
            </a:pPr>
            <a:endParaRPr lang="tr-TR" b="1" dirty="0" smtClean="0"/>
          </a:p>
          <a:p>
            <a:r>
              <a:rPr lang="tr-TR" b="1" dirty="0" smtClean="0"/>
              <a:t>Bu maddeler tarafından lipit zarfın eritilmesiyle kısa sürede </a:t>
            </a:r>
            <a:r>
              <a:rPr lang="tr-TR" b="1" dirty="0" err="1" smtClean="0"/>
              <a:t>enfektivitesini</a:t>
            </a:r>
            <a:r>
              <a:rPr lang="tr-TR" b="1" dirty="0" smtClean="0"/>
              <a:t> kaybederler</a:t>
            </a:r>
            <a:endParaRPr lang="tr-TR" b="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ANTİSEPTİK VE DEZENFEKTANLAR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b="1" dirty="0" smtClean="0"/>
              <a:t>Bakteriler üzerine etkili olan antiseptik ve dezenfektanların çoğunluğunun virüsler üzerine </a:t>
            </a:r>
            <a:r>
              <a:rPr lang="tr-TR" b="1" dirty="0" smtClean="0">
                <a:solidFill>
                  <a:srgbClr val="7030A0"/>
                </a:solidFill>
              </a:rPr>
              <a:t>etkisi sınırlı olmaktadır</a:t>
            </a:r>
          </a:p>
          <a:p>
            <a:r>
              <a:rPr lang="tr-TR" b="1" dirty="0" smtClean="0">
                <a:solidFill>
                  <a:srgbClr val="FF0000"/>
                </a:solidFill>
              </a:rPr>
              <a:t>Bunun yanında formaldehit, hidroklorik asit, sodyum </a:t>
            </a:r>
            <a:r>
              <a:rPr lang="tr-TR" b="1" dirty="0" err="1" smtClean="0">
                <a:solidFill>
                  <a:srgbClr val="FF0000"/>
                </a:solidFill>
              </a:rPr>
              <a:t>hipoklorit</a:t>
            </a:r>
            <a:r>
              <a:rPr lang="tr-TR" b="1" dirty="0" smtClean="0">
                <a:solidFill>
                  <a:srgbClr val="FF0000"/>
                </a:solidFill>
              </a:rPr>
              <a:t> virüsler üzerine etkili maddelerdir</a:t>
            </a:r>
          </a:p>
          <a:p>
            <a:r>
              <a:rPr lang="tr-TR" b="1" dirty="0" err="1" smtClean="0"/>
              <a:t>Viral</a:t>
            </a:r>
            <a:r>
              <a:rPr lang="tr-TR" b="1" dirty="0" smtClean="0"/>
              <a:t> enfeksiyonlara karşı içme sularının klorlanmasında, klor oranının bakteriyel </a:t>
            </a:r>
            <a:r>
              <a:rPr lang="tr-TR" b="1" dirty="0" err="1" smtClean="0"/>
              <a:t>kontaminasyonlardakine</a:t>
            </a:r>
            <a:r>
              <a:rPr lang="tr-TR" b="1" dirty="0" smtClean="0"/>
              <a:t> </a:t>
            </a:r>
            <a:r>
              <a:rPr lang="tr-TR" b="1" dirty="0" smtClean="0">
                <a:solidFill>
                  <a:srgbClr val="FF0000"/>
                </a:solidFill>
              </a:rPr>
              <a:t>oranla daha yüksek tutulması gerekir</a:t>
            </a:r>
            <a:endParaRPr lang="tr-TR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FORMALDEHİDİN ETKİSİ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b="1" dirty="0" err="1" smtClean="0"/>
              <a:t>Formaldehidin</a:t>
            </a:r>
            <a:r>
              <a:rPr lang="tr-TR" b="1" dirty="0" smtClean="0"/>
              <a:t> etkisi </a:t>
            </a:r>
            <a:r>
              <a:rPr lang="tr-TR" b="1" dirty="0" err="1" smtClean="0"/>
              <a:t>viral</a:t>
            </a:r>
            <a:r>
              <a:rPr lang="tr-TR" b="1" dirty="0" smtClean="0"/>
              <a:t> </a:t>
            </a:r>
            <a:r>
              <a:rPr lang="tr-TR" b="1" dirty="0" err="1" smtClean="0"/>
              <a:t>nükleik</a:t>
            </a:r>
            <a:r>
              <a:rPr lang="tr-TR" b="1" dirty="0" smtClean="0"/>
              <a:t> asidi bozması ile olur </a:t>
            </a:r>
          </a:p>
          <a:p>
            <a:pPr>
              <a:buNone/>
            </a:pPr>
            <a:r>
              <a:rPr lang="tr-TR" b="1" dirty="0" smtClean="0"/>
              <a:t>				</a:t>
            </a:r>
            <a:r>
              <a:rPr lang="tr-TR" b="1" dirty="0" smtClean="0">
                <a:solidFill>
                  <a:srgbClr val="FF0000"/>
                </a:solidFill>
              </a:rPr>
              <a:t>ÖNEMLİİİİİİİ</a:t>
            </a:r>
          </a:p>
          <a:p>
            <a:r>
              <a:rPr lang="tr-TR" b="1" dirty="0" smtClean="0"/>
              <a:t>Bu etki sonucu </a:t>
            </a:r>
            <a:r>
              <a:rPr lang="tr-TR" b="1" dirty="0" err="1" smtClean="0"/>
              <a:t>viral</a:t>
            </a:r>
            <a:r>
              <a:rPr lang="tr-TR" b="1" dirty="0" smtClean="0"/>
              <a:t> </a:t>
            </a:r>
            <a:r>
              <a:rPr lang="tr-TR" b="1" dirty="0" err="1" smtClean="0"/>
              <a:t>enfektivitenin</a:t>
            </a:r>
            <a:r>
              <a:rPr lang="tr-TR" b="1" dirty="0" smtClean="0"/>
              <a:t> ortadan kalkmasına karşılık </a:t>
            </a:r>
            <a:r>
              <a:rPr lang="tr-TR" b="1" dirty="0" err="1" smtClean="0">
                <a:solidFill>
                  <a:srgbClr val="FF0000"/>
                </a:solidFill>
              </a:rPr>
              <a:t>viral</a:t>
            </a:r>
            <a:r>
              <a:rPr lang="tr-TR" b="1" dirty="0" smtClean="0">
                <a:solidFill>
                  <a:srgbClr val="FF0000"/>
                </a:solidFill>
              </a:rPr>
              <a:t> proteinler herhangi bir zarar görmemekte, dolayısıyla virüsün </a:t>
            </a:r>
            <a:r>
              <a:rPr lang="tr-TR" b="1" dirty="0" err="1" smtClean="0">
                <a:solidFill>
                  <a:srgbClr val="FF0000"/>
                </a:solidFill>
              </a:rPr>
              <a:t>antijenik</a:t>
            </a:r>
            <a:r>
              <a:rPr lang="tr-TR" b="1" dirty="0" smtClean="0">
                <a:solidFill>
                  <a:srgbClr val="FF0000"/>
                </a:solidFill>
              </a:rPr>
              <a:t> özelliği aynen devam etmektedir</a:t>
            </a:r>
          </a:p>
          <a:p>
            <a:r>
              <a:rPr lang="tr-TR" b="1" dirty="0" smtClean="0">
                <a:solidFill>
                  <a:srgbClr val="FF0000"/>
                </a:solidFill>
              </a:rPr>
              <a:t>Bu özelliğinden dolayı formaldehit </a:t>
            </a:r>
            <a:r>
              <a:rPr lang="tr-TR" b="1" dirty="0" err="1" smtClean="0">
                <a:solidFill>
                  <a:srgbClr val="FF0000"/>
                </a:solidFill>
              </a:rPr>
              <a:t>inaktive</a:t>
            </a:r>
            <a:r>
              <a:rPr lang="tr-TR" b="1" dirty="0" smtClean="0">
                <a:solidFill>
                  <a:srgbClr val="FF0000"/>
                </a:solidFill>
              </a:rPr>
              <a:t> aşı yapımında çok kullanılan bir maddedir</a:t>
            </a:r>
          </a:p>
          <a:p>
            <a:endParaRPr lang="tr-TR" b="1" dirty="0" smtClean="0"/>
          </a:p>
          <a:p>
            <a:endParaRPr lang="tr-TR" b="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DETERJANLAR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Alkil sülfatlar, </a:t>
            </a:r>
            <a:r>
              <a:rPr lang="tr-TR" b="1" dirty="0" smtClean="0"/>
              <a:t>yüzeye etkili deterjanlar </a:t>
            </a:r>
            <a:r>
              <a:rPr lang="tr-TR" b="1" dirty="0" err="1" smtClean="0">
                <a:solidFill>
                  <a:srgbClr val="FF0000"/>
                </a:solidFill>
              </a:rPr>
              <a:t>virüsidal</a:t>
            </a:r>
            <a:r>
              <a:rPr lang="tr-TR" b="1" dirty="0" smtClean="0"/>
              <a:t> (virüsleri öldüren) özelliğe sahiptirler</a:t>
            </a:r>
          </a:p>
          <a:p>
            <a:r>
              <a:rPr lang="tr-TR" b="1" dirty="0" err="1" smtClean="0"/>
              <a:t>Nonidet</a:t>
            </a:r>
            <a:r>
              <a:rPr lang="tr-TR" b="1" dirty="0" smtClean="0"/>
              <a:t> ve triton gibi </a:t>
            </a:r>
            <a:r>
              <a:rPr lang="tr-TR" b="1" dirty="0" err="1" smtClean="0"/>
              <a:t>noniyonik</a:t>
            </a:r>
            <a:r>
              <a:rPr lang="tr-TR" b="1" dirty="0" smtClean="0"/>
              <a:t> deterjanlar </a:t>
            </a:r>
            <a:r>
              <a:rPr lang="tr-TR" b="1" dirty="0" err="1" smtClean="0">
                <a:solidFill>
                  <a:srgbClr val="FF0000"/>
                </a:solidFill>
              </a:rPr>
              <a:t>viral</a:t>
            </a:r>
            <a:r>
              <a:rPr lang="tr-TR" b="1" dirty="0" smtClean="0">
                <a:solidFill>
                  <a:srgbClr val="FF0000"/>
                </a:solidFill>
              </a:rPr>
              <a:t> </a:t>
            </a:r>
            <a:r>
              <a:rPr lang="tr-TR" b="1" dirty="0" err="1" smtClean="0">
                <a:solidFill>
                  <a:srgbClr val="FF0000"/>
                </a:solidFill>
              </a:rPr>
              <a:t>membranın</a:t>
            </a:r>
            <a:r>
              <a:rPr lang="tr-TR" b="1" dirty="0" smtClean="0">
                <a:solidFill>
                  <a:srgbClr val="FF0000"/>
                </a:solidFill>
              </a:rPr>
              <a:t> lipit yapısını bozarlar</a:t>
            </a:r>
          </a:p>
          <a:p>
            <a:r>
              <a:rPr lang="tr-TR" b="1" dirty="0" smtClean="0"/>
              <a:t>Bu durumda zarftaki </a:t>
            </a:r>
            <a:r>
              <a:rPr lang="tr-TR" b="1" dirty="0" err="1" smtClean="0"/>
              <a:t>viral</a:t>
            </a:r>
            <a:r>
              <a:rPr lang="tr-TR" b="1" dirty="0" smtClean="0"/>
              <a:t> </a:t>
            </a:r>
            <a:r>
              <a:rPr lang="tr-TR" b="1" dirty="0" smtClean="0">
                <a:solidFill>
                  <a:srgbClr val="FF0000"/>
                </a:solidFill>
              </a:rPr>
              <a:t>proteinler serbest hale gelirler</a:t>
            </a:r>
          </a:p>
          <a:p>
            <a:r>
              <a:rPr lang="tr-TR" b="1" dirty="0" smtClean="0"/>
              <a:t>Sodyum </a:t>
            </a:r>
            <a:r>
              <a:rPr lang="tr-TR" b="1" dirty="0" err="1" smtClean="0"/>
              <a:t>dodecil</a:t>
            </a:r>
            <a:r>
              <a:rPr lang="tr-TR" b="1" dirty="0" smtClean="0"/>
              <a:t> sülfat gibi </a:t>
            </a:r>
            <a:r>
              <a:rPr lang="tr-TR" b="1" dirty="0" err="1" smtClean="0"/>
              <a:t>aniyonik</a:t>
            </a:r>
            <a:r>
              <a:rPr lang="tr-TR" b="1" dirty="0" smtClean="0"/>
              <a:t> deterjanlar da </a:t>
            </a:r>
            <a:r>
              <a:rPr lang="tr-TR" b="1" dirty="0" err="1" smtClean="0">
                <a:solidFill>
                  <a:srgbClr val="FF0000"/>
                </a:solidFill>
              </a:rPr>
              <a:t>viral</a:t>
            </a:r>
            <a:r>
              <a:rPr lang="tr-TR" b="1" dirty="0" smtClean="0">
                <a:solidFill>
                  <a:srgbClr val="FF0000"/>
                </a:solidFill>
              </a:rPr>
              <a:t> zarfı eritirler</a:t>
            </a:r>
          </a:p>
          <a:p>
            <a:r>
              <a:rPr lang="tr-TR" b="1" dirty="0" smtClean="0"/>
              <a:t>Buna ilaveten </a:t>
            </a:r>
            <a:r>
              <a:rPr lang="tr-TR" b="1" dirty="0" err="1" smtClean="0"/>
              <a:t>kapsidi</a:t>
            </a:r>
            <a:r>
              <a:rPr lang="tr-TR" b="1" dirty="0" smtClean="0"/>
              <a:t> </a:t>
            </a:r>
            <a:r>
              <a:rPr lang="tr-TR" b="1" dirty="0" err="1" smtClean="0">
                <a:solidFill>
                  <a:srgbClr val="FF0000"/>
                </a:solidFill>
              </a:rPr>
              <a:t>polipeptitlerine</a:t>
            </a:r>
            <a:r>
              <a:rPr lang="tr-TR" b="1" dirty="0" smtClean="0">
                <a:solidFill>
                  <a:srgbClr val="FF0000"/>
                </a:solidFill>
              </a:rPr>
              <a:t> ayrıştırarak </a:t>
            </a:r>
            <a:r>
              <a:rPr lang="tr-TR" b="1" dirty="0" smtClean="0"/>
              <a:t>parçalarlar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BİLGİ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ctr"/>
            <a:r>
              <a:rPr lang="tr-TR" b="1" dirty="0" smtClean="0">
                <a:solidFill>
                  <a:srgbClr val="FF0000"/>
                </a:solidFill>
              </a:rPr>
              <a:t>Zarftaki </a:t>
            </a:r>
            <a:r>
              <a:rPr lang="tr-TR" b="1" dirty="0" err="1" smtClean="0">
                <a:solidFill>
                  <a:srgbClr val="FF0000"/>
                </a:solidFill>
              </a:rPr>
              <a:t>viral</a:t>
            </a:r>
            <a:r>
              <a:rPr lang="tr-TR" b="1" dirty="0" smtClean="0">
                <a:solidFill>
                  <a:srgbClr val="FF0000"/>
                </a:solidFill>
              </a:rPr>
              <a:t> proteinlerin serbest hale gelmesi ne demek </a:t>
            </a:r>
            <a:r>
              <a:rPr lang="tr-TR" dirty="0" smtClean="0">
                <a:solidFill>
                  <a:srgbClr val="FF0000"/>
                </a:solidFill>
              </a:rPr>
              <a:t> </a:t>
            </a:r>
          </a:p>
          <a:p>
            <a:r>
              <a:rPr lang="tr-TR" b="1" dirty="0" smtClean="0"/>
              <a:t>Virüsün dış yüzeyini çevreleyen koruyucu zar tabakasının (</a:t>
            </a:r>
            <a:r>
              <a:rPr lang="tr-TR" b="1" dirty="0" err="1" smtClean="0"/>
              <a:t>lipid</a:t>
            </a:r>
            <a:r>
              <a:rPr lang="tr-TR" b="1" dirty="0" smtClean="0"/>
              <a:t> ve protein yapısının) deterjan, kimyasal madde veya fiziksel etkenlerle bozulup parçalanması, bu zarın içine gömülü olan proteinlerin ve yapı taşlarının artık yapıda tutunamayıp çözelti içine veya dış ortama dağılması anlamına gelir.</a:t>
            </a:r>
            <a:endParaRPr lang="tr-TR" b="1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VİRUSLER CANLI MIDIR?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tr-TR" b="1" dirty="0" smtClean="0"/>
              <a:t>				</a:t>
            </a:r>
            <a:r>
              <a:rPr lang="tr-TR" b="1" dirty="0" smtClean="0">
                <a:solidFill>
                  <a:srgbClr val="FF0000"/>
                </a:solidFill>
              </a:rPr>
              <a:t>Görüş 1</a:t>
            </a:r>
          </a:p>
          <a:p>
            <a:r>
              <a:rPr lang="tr-TR" b="1" dirty="0" smtClean="0"/>
              <a:t>Canlı konak dışında </a:t>
            </a:r>
            <a:r>
              <a:rPr lang="tr-TR" b="1" dirty="0" err="1" smtClean="0"/>
              <a:t>inert</a:t>
            </a:r>
            <a:r>
              <a:rPr lang="tr-TR" b="1" dirty="0" smtClean="0"/>
              <a:t> olması </a:t>
            </a:r>
            <a:r>
              <a:rPr lang="tr-TR" b="1" dirty="0" smtClean="0"/>
              <a:t>nedeni ile canlı olarak kabul edilemezler</a:t>
            </a:r>
          </a:p>
          <a:p>
            <a:pPr>
              <a:buNone/>
            </a:pPr>
            <a:r>
              <a:rPr lang="tr-TR" b="1" dirty="0" smtClean="0"/>
              <a:t>			</a:t>
            </a:r>
            <a:r>
              <a:rPr lang="tr-TR" b="1" dirty="0" smtClean="0">
                <a:solidFill>
                  <a:srgbClr val="FF0000"/>
                </a:solidFill>
              </a:rPr>
              <a:t>	Görüş 2</a:t>
            </a:r>
          </a:p>
          <a:p>
            <a:r>
              <a:rPr lang="tr-TR" b="1" dirty="0" smtClean="0"/>
              <a:t>Canlı olarak kabul edilirler</a:t>
            </a:r>
          </a:p>
          <a:p>
            <a:endParaRPr lang="tr-TR" b="1" dirty="0" smtClean="0"/>
          </a:p>
          <a:p>
            <a:pPr>
              <a:buNone/>
            </a:pPr>
            <a:r>
              <a:rPr lang="tr-TR" b="1" dirty="0" smtClean="0"/>
              <a:t>			</a:t>
            </a:r>
            <a:r>
              <a:rPr lang="tr-TR" b="1" dirty="0" smtClean="0">
                <a:solidFill>
                  <a:srgbClr val="FF0000"/>
                </a:solidFill>
              </a:rPr>
              <a:t>Genel görüş (</a:t>
            </a:r>
            <a:r>
              <a:rPr lang="tr-TR" b="1" dirty="0" err="1" smtClean="0">
                <a:solidFill>
                  <a:srgbClr val="FF0000"/>
                </a:solidFill>
              </a:rPr>
              <a:t>Consensus</a:t>
            </a:r>
            <a:r>
              <a:rPr lang="tr-TR" b="1" dirty="0" smtClean="0">
                <a:solidFill>
                  <a:srgbClr val="FF0000"/>
                </a:solidFill>
              </a:rPr>
              <a:t>) </a:t>
            </a:r>
          </a:p>
          <a:p>
            <a:r>
              <a:rPr lang="tr-TR" b="1" dirty="0" smtClean="0"/>
              <a:t>CANLI OLARAK KABUL EDİLMELİLER</a:t>
            </a:r>
            <a:endParaRPr lang="tr-TR" b="1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/>
            </a:r>
            <a:br>
              <a:rPr lang="tr-TR" b="1" dirty="0" smtClean="0">
                <a:solidFill>
                  <a:srgbClr val="FF0000"/>
                </a:solidFill>
              </a:rPr>
            </a:br>
            <a:r>
              <a:rPr lang="tr-TR" sz="4900" b="1" dirty="0" smtClean="0">
                <a:solidFill>
                  <a:srgbClr val="FF0000"/>
                </a:solidFill>
              </a:rPr>
              <a:t>VİRÜSLERİN SINIFLANDIRILMASI</a:t>
            </a:r>
            <a:r>
              <a:rPr lang="tr-TR" b="1" dirty="0" smtClean="0">
                <a:solidFill>
                  <a:srgbClr val="FF0000"/>
                </a:solidFill>
              </a:rPr>
              <a:t/>
            </a:r>
            <a:br>
              <a:rPr lang="tr-TR" b="1" dirty="0" smtClean="0">
                <a:solidFill>
                  <a:srgbClr val="FF0000"/>
                </a:solidFill>
              </a:rPr>
            </a:br>
            <a:endParaRPr lang="tr-TR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628800"/>
            <a:ext cx="8064895" cy="44755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200" b="1" dirty="0" smtClean="0">
                <a:solidFill>
                  <a:srgbClr val="FF0000"/>
                </a:solidFill>
              </a:rPr>
              <a:t>ENFEKTE ETTİKLERİ KONAKLARA GÖRE </a:t>
            </a:r>
            <a:br>
              <a:rPr lang="tr-TR" sz="3200" b="1" dirty="0" smtClean="0">
                <a:solidFill>
                  <a:srgbClr val="FF0000"/>
                </a:solidFill>
              </a:rPr>
            </a:br>
            <a:r>
              <a:rPr lang="tr-TR" sz="3200" b="1" dirty="0" smtClean="0">
                <a:solidFill>
                  <a:srgbClr val="FF0000"/>
                </a:solidFill>
              </a:rPr>
              <a:t>SINIFLANDIRABİLİRİZ</a:t>
            </a:r>
            <a:endParaRPr lang="tr-TR" sz="3200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b="1" dirty="0" smtClean="0"/>
              <a:t>İnsanları (çiçek,Kızamık,HIV,Ebola,</a:t>
            </a:r>
            <a:r>
              <a:rPr lang="tr-TR" b="1" dirty="0" err="1" smtClean="0"/>
              <a:t>Influenza</a:t>
            </a:r>
            <a:r>
              <a:rPr lang="tr-TR" b="1" dirty="0" smtClean="0"/>
              <a:t>….)</a:t>
            </a:r>
          </a:p>
          <a:p>
            <a:r>
              <a:rPr lang="tr-TR" b="1" dirty="0" smtClean="0"/>
              <a:t>Hayvanları (Şap, Sığır Vebası, </a:t>
            </a:r>
            <a:r>
              <a:rPr lang="tr-TR" b="1" dirty="0" err="1" smtClean="0"/>
              <a:t>Distemper</a:t>
            </a:r>
            <a:r>
              <a:rPr lang="tr-TR" b="1" dirty="0" smtClean="0"/>
              <a:t>….)</a:t>
            </a:r>
          </a:p>
          <a:p>
            <a:r>
              <a:rPr lang="tr-TR" b="1" dirty="0" smtClean="0"/>
              <a:t>Mantarları</a:t>
            </a:r>
          </a:p>
          <a:p>
            <a:r>
              <a:rPr lang="tr-TR" b="1" dirty="0" smtClean="0"/>
              <a:t>Bakterileri (</a:t>
            </a:r>
            <a:r>
              <a:rPr lang="tr-TR" b="1" dirty="0" err="1" smtClean="0"/>
              <a:t>bakteriofajlar</a:t>
            </a:r>
            <a:r>
              <a:rPr lang="tr-TR" b="1" dirty="0" smtClean="0"/>
              <a:t> veya basitçe </a:t>
            </a:r>
            <a:r>
              <a:rPr lang="tr-TR" b="1" dirty="0" err="1" smtClean="0"/>
              <a:t>faj</a:t>
            </a:r>
            <a:r>
              <a:rPr lang="tr-TR" b="1" dirty="0" smtClean="0"/>
              <a:t>) </a:t>
            </a:r>
          </a:p>
          <a:p>
            <a:r>
              <a:rPr lang="tr-TR" b="1" dirty="0" err="1" smtClean="0"/>
              <a:t>İnsektleri</a:t>
            </a:r>
            <a:r>
              <a:rPr lang="tr-TR" b="1" dirty="0" smtClean="0"/>
              <a:t> (Böcek) </a:t>
            </a:r>
          </a:p>
          <a:p>
            <a:r>
              <a:rPr lang="tr-TR" b="1" dirty="0" smtClean="0"/>
              <a:t>Bitkileri</a:t>
            </a:r>
          </a:p>
          <a:p>
            <a:endParaRPr lang="tr-TR" b="1" dirty="0" smtClean="0"/>
          </a:p>
          <a:p>
            <a:pPr>
              <a:buNone/>
            </a:pPr>
            <a:r>
              <a:rPr lang="tr-TR" b="1" dirty="0" smtClean="0"/>
              <a:t>kısaca omurgalı ve omurgasız tüm canlıları  ve mikroorganizmaların çoğunu </a:t>
            </a:r>
            <a:r>
              <a:rPr lang="tr-TR" b="1" dirty="0" err="1" smtClean="0"/>
              <a:t>enfekte</a:t>
            </a:r>
            <a:r>
              <a:rPr lang="tr-TR" b="1" dirty="0" smtClean="0"/>
              <a:t> eder</a:t>
            </a:r>
            <a:endParaRPr lang="tr-TR" b="1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sz="3200" b="1" dirty="0" smtClean="0">
                <a:solidFill>
                  <a:srgbClr val="FF0000"/>
                </a:solidFill>
              </a:rPr>
              <a:t/>
            </a:r>
            <a:br>
              <a:rPr lang="tr-TR" sz="3200" b="1" dirty="0" smtClean="0">
                <a:solidFill>
                  <a:srgbClr val="FF0000"/>
                </a:solidFill>
              </a:rPr>
            </a:br>
            <a:r>
              <a:rPr lang="tr-TR" sz="3600" b="1" dirty="0" smtClean="0">
                <a:solidFill>
                  <a:srgbClr val="FF0000"/>
                </a:solidFill>
              </a:rPr>
              <a:t>ÖZELLİKLERİNE GÖRE SINIFLANDIRABİLİRİZ</a:t>
            </a:r>
            <a:r>
              <a:rPr lang="tr-TR" sz="3600" b="1" dirty="0" smtClean="0"/>
              <a:t/>
            </a:r>
            <a:br>
              <a:rPr lang="tr-TR" sz="3600" b="1" dirty="0" smtClean="0"/>
            </a:br>
            <a:endParaRPr lang="tr-TR" sz="36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b="1" dirty="0" err="1" smtClean="0"/>
              <a:t>Nükleik</a:t>
            </a:r>
            <a:r>
              <a:rPr lang="tr-TR" b="1" dirty="0" smtClean="0"/>
              <a:t> Asit Tipi</a:t>
            </a:r>
          </a:p>
          <a:p>
            <a:r>
              <a:rPr lang="tr-TR" b="1" dirty="0" smtClean="0"/>
              <a:t>Morfolojisi</a:t>
            </a:r>
          </a:p>
          <a:p>
            <a:r>
              <a:rPr lang="tr-TR" b="1" dirty="0" smtClean="0"/>
              <a:t>Fiziksel ve Kimyasal Etkenlere Duyarlılıkları</a:t>
            </a:r>
          </a:p>
          <a:p>
            <a:r>
              <a:rPr lang="tr-TR" b="1" dirty="0" err="1" smtClean="0"/>
              <a:t>Enzimatik</a:t>
            </a:r>
            <a:r>
              <a:rPr lang="tr-TR" b="1" dirty="0" smtClean="0"/>
              <a:t> Özellikleri</a:t>
            </a:r>
          </a:p>
          <a:p>
            <a:r>
              <a:rPr lang="tr-TR" b="1" dirty="0" smtClean="0"/>
              <a:t>İmmünolojik Özellikleri</a:t>
            </a:r>
          </a:p>
          <a:p>
            <a:r>
              <a:rPr lang="tr-TR" b="1" dirty="0" smtClean="0"/>
              <a:t>Doğal </a:t>
            </a:r>
            <a:r>
              <a:rPr lang="tr-TR" b="1" dirty="0" err="1" smtClean="0"/>
              <a:t>Bulaşım</a:t>
            </a:r>
            <a:r>
              <a:rPr lang="tr-TR" b="1" dirty="0" smtClean="0"/>
              <a:t> Yolları</a:t>
            </a:r>
          </a:p>
          <a:p>
            <a:r>
              <a:rPr lang="tr-TR" b="1" dirty="0" smtClean="0"/>
              <a:t>Tropizm</a:t>
            </a:r>
          </a:p>
          <a:p>
            <a:r>
              <a:rPr lang="tr-TR" b="1" dirty="0" err="1" smtClean="0"/>
              <a:t>Patogenez</a:t>
            </a:r>
            <a:endParaRPr lang="tr-TR" dirty="0" smtClean="0"/>
          </a:p>
          <a:p>
            <a:pPr>
              <a:buNone/>
            </a:pPr>
            <a:endParaRPr lang="tr-TR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NÜKLEİK ASİT TİPİ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sv-SE" sz="2800" b="1" dirty="0" smtClean="0">
                <a:solidFill>
                  <a:srgbClr val="7030A0"/>
                </a:solidFill>
              </a:rPr>
              <a:t>Sınıflandırmada en önemli kriter budur</a:t>
            </a:r>
            <a:endParaRPr lang="tr-TR" sz="2800" b="1" dirty="0" smtClean="0"/>
          </a:p>
          <a:p>
            <a:r>
              <a:rPr lang="tr-TR" sz="2800" b="1" dirty="0" smtClean="0"/>
              <a:t>Virüslerde DNA veya RNA' dan oluşan tek bir </a:t>
            </a:r>
            <a:r>
              <a:rPr lang="tr-TR" sz="2800" b="1" dirty="0" err="1" smtClean="0"/>
              <a:t>nükleik</a:t>
            </a:r>
            <a:r>
              <a:rPr lang="tr-TR" sz="2800" b="1" dirty="0" smtClean="0"/>
              <a:t> asit bulunur</a:t>
            </a:r>
          </a:p>
          <a:p>
            <a:r>
              <a:rPr lang="tr-TR" sz="2800" b="1" dirty="0" err="1" smtClean="0"/>
              <a:t>Nükleik</a:t>
            </a:r>
            <a:r>
              <a:rPr lang="tr-TR" sz="2800" b="1" dirty="0" smtClean="0"/>
              <a:t> asitlerin tipine bakılarak </a:t>
            </a:r>
            <a:r>
              <a:rPr lang="sv-SE" sz="2800" b="1" dirty="0" smtClean="0"/>
              <a:t>virüsler DNA ve RNA virüsleri olmak</a:t>
            </a:r>
            <a:r>
              <a:rPr lang="tr-TR" sz="2800" b="1" dirty="0" smtClean="0"/>
              <a:t> üzere iki ana gruba ayrılırlar</a:t>
            </a:r>
          </a:p>
          <a:p>
            <a:r>
              <a:rPr lang="tr-TR" sz="2800" b="1" dirty="0" err="1" smtClean="0"/>
              <a:t>Nükleik</a:t>
            </a:r>
            <a:r>
              <a:rPr lang="tr-TR" sz="2800" b="1" dirty="0" smtClean="0"/>
              <a:t> asitlerin </a:t>
            </a:r>
            <a:r>
              <a:rPr lang="tr-TR" sz="2800" b="1" dirty="0" smtClean="0">
                <a:solidFill>
                  <a:srgbClr val="FF0000"/>
                </a:solidFill>
              </a:rPr>
              <a:t>tek </a:t>
            </a:r>
            <a:r>
              <a:rPr lang="tr-TR" sz="2800" b="1" dirty="0" smtClean="0"/>
              <a:t>veya </a:t>
            </a:r>
            <a:r>
              <a:rPr lang="tr-TR" sz="2800" b="1" dirty="0" smtClean="0">
                <a:solidFill>
                  <a:srgbClr val="FF0000"/>
                </a:solidFill>
              </a:rPr>
              <a:t>çift </a:t>
            </a:r>
            <a:r>
              <a:rPr lang="tr-TR" sz="2800" b="1" dirty="0" err="1" smtClean="0">
                <a:solidFill>
                  <a:srgbClr val="FF0000"/>
                </a:solidFill>
              </a:rPr>
              <a:t>iplikçikli</a:t>
            </a:r>
            <a:r>
              <a:rPr lang="tr-TR" sz="2800" b="1" dirty="0" smtClean="0">
                <a:solidFill>
                  <a:srgbClr val="FF0000"/>
                </a:solidFill>
              </a:rPr>
              <a:t> </a:t>
            </a:r>
            <a:r>
              <a:rPr lang="tr-TR" sz="2800" b="1" dirty="0" smtClean="0"/>
              <a:t>olması</a:t>
            </a:r>
          </a:p>
          <a:p>
            <a:r>
              <a:rPr lang="tr-TR" sz="2800" b="1" dirty="0" smtClean="0">
                <a:solidFill>
                  <a:srgbClr val="7030A0"/>
                </a:solidFill>
              </a:rPr>
              <a:t>Düzlemsel </a:t>
            </a:r>
            <a:r>
              <a:rPr lang="tr-TR" sz="2800" b="1" dirty="0" smtClean="0"/>
              <a:t>ya da </a:t>
            </a:r>
            <a:r>
              <a:rPr lang="tr-TR" sz="2800" b="1" dirty="0" smtClean="0">
                <a:solidFill>
                  <a:srgbClr val="7030A0"/>
                </a:solidFill>
              </a:rPr>
              <a:t>çembersel </a:t>
            </a:r>
            <a:r>
              <a:rPr lang="tr-TR" sz="2800" b="1" dirty="0" smtClean="0"/>
              <a:t>yapıda olması</a:t>
            </a:r>
          </a:p>
          <a:p>
            <a:r>
              <a:rPr lang="tr-TR" sz="2800" b="1" dirty="0" smtClean="0"/>
              <a:t>Tek molekül halinde ya da </a:t>
            </a:r>
            <a:r>
              <a:rPr lang="tr-TR" sz="2800" b="1" dirty="0" err="1" smtClean="0"/>
              <a:t>parçacıklı</a:t>
            </a:r>
            <a:r>
              <a:rPr lang="tr-TR" sz="2800" b="1" dirty="0" smtClean="0"/>
              <a:t> moleküller halinde olması</a:t>
            </a:r>
          </a:p>
          <a:p>
            <a:pPr>
              <a:buNone/>
            </a:pPr>
            <a:endParaRPr lang="tr-TR" sz="2800" b="1" dirty="0" smtClean="0"/>
          </a:p>
          <a:p>
            <a:pPr lvl="1"/>
            <a:r>
              <a:rPr lang="tr-TR" sz="2400" b="1" dirty="0" smtClean="0"/>
              <a:t> gibi özelliklerdir</a:t>
            </a:r>
          </a:p>
          <a:p>
            <a:pPr>
              <a:buNone/>
            </a:pPr>
            <a:endParaRPr lang="tr-TR" sz="2800" b="1" dirty="0" smtClean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88640"/>
            <a:ext cx="8640960" cy="63367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179512" y="260648"/>
            <a:ext cx="8640960" cy="6336704"/>
          </a:xfrm>
        </p:spPr>
        <p:txBody>
          <a:bodyPr/>
          <a:lstStyle/>
          <a:p>
            <a:pPr>
              <a:buNone/>
            </a:pPr>
            <a:r>
              <a:rPr lang="tr-TR" sz="2800" b="1" dirty="0" smtClean="0">
                <a:solidFill>
                  <a:srgbClr val="FF0000"/>
                </a:solidFill>
              </a:rPr>
              <a:t>				</a:t>
            </a:r>
            <a:r>
              <a:rPr lang="tr-TR" sz="2400" b="1" dirty="0" smtClean="0">
                <a:solidFill>
                  <a:srgbClr val="FF0000"/>
                </a:solidFill>
              </a:rPr>
              <a:t>MORFOLOJİSİ</a:t>
            </a:r>
            <a:endParaRPr lang="tr-TR" sz="2400" b="1" dirty="0" smtClean="0"/>
          </a:p>
          <a:p>
            <a:r>
              <a:rPr lang="tr-TR" sz="2400" b="1" dirty="0" smtClean="0"/>
              <a:t>Virüsün büyüklüğü</a:t>
            </a:r>
          </a:p>
          <a:p>
            <a:r>
              <a:rPr lang="tr-TR" sz="2400" b="1" dirty="0" smtClean="0"/>
              <a:t>Morfolojik yapısı</a:t>
            </a:r>
          </a:p>
          <a:p>
            <a:r>
              <a:rPr lang="tr-TR" sz="2400" b="1" dirty="0" smtClean="0"/>
              <a:t>Simetrik özellikleri</a:t>
            </a:r>
          </a:p>
          <a:p>
            <a:r>
              <a:rPr lang="tr-TR" sz="2400" b="1" dirty="0" err="1" smtClean="0"/>
              <a:t>Kapsomer</a:t>
            </a:r>
            <a:r>
              <a:rPr lang="tr-TR" sz="2400" b="1" dirty="0" smtClean="0"/>
              <a:t> sayısı</a:t>
            </a:r>
          </a:p>
          <a:p>
            <a:r>
              <a:rPr lang="tr-TR" sz="2400" b="1" dirty="0" smtClean="0"/>
              <a:t>Zarf bulunup bulunmaması </a:t>
            </a:r>
          </a:p>
          <a:p>
            <a:pPr>
              <a:buNone/>
            </a:pPr>
            <a:r>
              <a:rPr lang="tr-TR" sz="2400" b="1" dirty="0" smtClean="0">
                <a:solidFill>
                  <a:srgbClr val="FF0000"/>
                </a:solidFill>
              </a:rPr>
              <a:t>		FİZİKSEL VE KİMYASAL ETKENLERE DUYARLILIKLARI</a:t>
            </a:r>
          </a:p>
          <a:p>
            <a:r>
              <a:rPr lang="tr-TR" sz="2400" b="1" dirty="0" smtClean="0"/>
              <a:t>Virüslerin eter veya kloroform gibi </a:t>
            </a:r>
            <a:r>
              <a:rPr lang="da-DK" sz="2400" b="1" dirty="0" smtClean="0"/>
              <a:t>fiziksel veya kimyasal etkenlere karşı</a:t>
            </a:r>
            <a:r>
              <a:rPr lang="tr-TR" sz="2400" b="1" dirty="0" smtClean="0"/>
              <a:t> duyarlı ya da dirençli olmaları gibi özellikleri</a:t>
            </a:r>
          </a:p>
          <a:p>
            <a:pPr>
              <a:buNone/>
            </a:pPr>
            <a:r>
              <a:rPr lang="tr-TR" sz="2400" b="1" dirty="0" smtClean="0">
                <a:solidFill>
                  <a:srgbClr val="FF0000"/>
                </a:solidFill>
              </a:rPr>
              <a:t>				ENZİMATİK ÖZELLİKLER</a:t>
            </a:r>
          </a:p>
          <a:p>
            <a:r>
              <a:rPr lang="tr-TR" sz="2800" b="1" dirty="0" smtClean="0"/>
              <a:t>Virüslerin RNA ve DNA </a:t>
            </a:r>
            <a:r>
              <a:rPr lang="tr-TR" sz="2800" b="1" dirty="0" err="1" smtClean="0"/>
              <a:t>polimeraz</a:t>
            </a:r>
            <a:endParaRPr lang="tr-TR" sz="2800" b="1" dirty="0" smtClean="0"/>
          </a:p>
          <a:p>
            <a:r>
              <a:rPr lang="tr-TR" sz="2800" b="1" dirty="0" err="1" smtClean="0"/>
              <a:t>Nöroaminidaz</a:t>
            </a:r>
            <a:endParaRPr lang="tr-TR" sz="2800" b="1" dirty="0" smtClean="0"/>
          </a:p>
          <a:p>
            <a:r>
              <a:rPr lang="tr-TR" sz="2800" b="1" dirty="0" err="1" smtClean="0"/>
              <a:t>Revers</a:t>
            </a:r>
            <a:r>
              <a:rPr lang="tr-TR" sz="2800" b="1" dirty="0" smtClean="0"/>
              <a:t> </a:t>
            </a:r>
            <a:r>
              <a:rPr lang="tr-TR" sz="2800" b="1" dirty="0" err="1" smtClean="0"/>
              <a:t>transkriptaz</a:t>
            </a:r>
            <a:r>
              <a:rPr lang="tr-TR" sz="2800" b="1" dirty="0" smtClean="0"/>
              <a:t> gibi spesifik enzimlerinin varlığı</a:t>
            </a:r>
          </a:p>
          <a:p>
            <a:endParaRPr lang="tr-TR" sz="2800" b="1" dirty="0" smtClean="0"/>
          </a:p>
          <a:p>
            <a:endParaRPr lang="tr-TR" sz="2800" b="1" dirty="0" smtClean="0"/>
          </a:p>
          <a:p>
            <a:pPr lvl="1">
              <a:buNone/>
            </a:pPr>
            <a:endParaRPr lang="tr-TR" b="1" dirty="0" smtClean="0"/>
          </a:p>
          <a:p>
            <a:pPr>
              <a:buNone/>
            </a:pPr>
            <a:endParaRPr lang="tr-TR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323528" y="260648"/>
            <a:ext cx="8568952" cy="6336704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tr-TR" b="1" dirty="0" smtClean="0">
                <a:solidFill>
                  <a:srgbClr val="FF0000"/>
                </a:solidFill>
              </a:rPr>
              <a:t>			</a:t>
            </a:r>
            <a:r>
              <a:rPr lang="tr-TR" sz="2400" b="1" dirty="0" smtClean="0">
                <a:solidFill>
                  <a:srgbClr val="FF0000"/>
                </a:solidFill>
              </a:rPr>
              <a:t>İMMÜNOLOJİK ÖZELLİKLERİ</a:t>
            </a:r>
            <a:endParaRPr lang="tr-TR" sz="2400" dirty="0" smtClean="0"/>
          </a:p>
          <a:p>
            <a:r>
              <a:rPr lang="tr-TR" sz="2400" b="1" dirty="0" smtClean="0"/>
              <a:t>Virüslerin organizmada oluşturduğu bağışıklık şekli ve süresi gibi özellikleri</a:t>
            </a:r>
          </a:p>
          <a:p>
            <a:pPr>
              <a:buNone/>
            </a:pPr>
            <a:r>
              <a:rPr lang="tr-TR" sz="2400" b="1" dirty="0" smtClean="0">
                <a:solidFill>
                  <a:srgbClr val="FF0000"/>
                </a:solidFill>
              </a:rPr>
              <a:t>			DOĞAL BULAŞIM YOLLARI</a:t>
            </a:r>
          </a:p>
          <a:p>
            <a:r>
              <a:rPr lang="tr-TR" sz="2400" b="1" dirty="0" smtClean="0"/>
              <a:t>Virüslerin vücuda giriş şekilleri</a:t>
            </a:r>
          </a:p>
          <a:p>
            <a:r>
              <a:rPr lang="tr-TR" sz="2400" b="1" dirty="0" smtClean="0"/>
              <a:t>Taşınmaları</a:t>
            </a:r>
          </a:p>
          <a:p>
            <a:r>
              <a:rPr lang="tr-TR" sz="2400" b="1" dirty="0" smtClean="0"/>
              <a:t>Rezervuar teşkil eden doğal konakları gibi özellikleri</a:t>
            </a:r>
          </a:p>
          <a:p>
            <a:pPr>
              <a:buNone/>
            </a:pPr>
            <a:r>
              <a:rPr lang="tr-TR" sz="2400" b="1" dirty="0" smtClean="0">
                <a:solidFill>
                  <a:srgbClr val="FF0000"/>
                </a:solidFill>
              </a:rPr>
              <a:t>			TROPİZM</a:t>
            </a:r>
          </a:p>
          <a:p>
            <a:r>
              <a:rPr lang="tr-TR" sz="2400" b="1" dirty="0" err="1" smtClean="0"/>
              <a:t>Enfekte</a:t>
            </a:r>
            <a:r>
              <a:rPr lang="tr-TR" sz="2400" b="1" dirty="0" smtClean="0"/>
              <a:t> ettikleri canlıların türü ve bu canlıların çeşitli organ ve doku hücrelerine karşı olan ilgileri gibi özelliklerdir</a:t>
            </a:r>
          </a:p>
          <a:p>
            <a:pPr>
              <a:buNone/>
            </a:pPr>
            <a:r>
              <a:rPr lang="tr-TR" sz="2400" b="1" dirty="0" smtClean="0">
                <a:solidFill>
                  <a:srgbClr val="FF0000"/>
                </a:solidFill>
              </a:rPr>
              <a:t>			PATOGENEZ</a:t>
            </a:r>
          </a:p>
          <a:p>
            <a:r>
              <a:rPr lang="tr-TR" sz="2400" b="1" dirty="0" smtClean="0"/>
              <a:t>Virüslerin organizmada hastalık oluşturma mekanizmaları</a:t>
            </a:r>
          </a:p>
          <a:p>
            <a:r>
              <a:rPr lang="tr-TR" sz="2400" b="1" dirty="0" smtClean="0"/>
              <a:t>Organizmadaki hücreler üzerinde oluşturdukları patolojik etkiler</a:t>
            </a:r>
          </a:p>
          <a:p>
            <a:r>
              <a:rPr lang="tr-TR" sz="2400" b="1" dirty="0" smtClean="0"/>
              <a:t>ve </a:t>
            </a:r>
            <a:r>
              <a:rPr lang="tr-TR" sz="2400" b="1" dirty="0" err="1" smtClean="0">
                <a:solidFill>
                  <a:srgbClr val="FF0000"/>
                </a:solidFill>
              </a:rPr>
              <a:t>inklüzyon</a:t>
            </a:r>
            <a:r>
              <a:rPr lang="tr-TR" sz="2400" b="1" dirty="0" smtClean="0">
                <a:solidFill>
                  <a:srgbClr val="FF0000"/>
                </a:solidFill>
              </a:rPr>
              <a:t> cisimciği oluşturmaları </a:t>
            </a:r>
            <a:r>
              <a:rPr lang="tr-TR" sz="2400" b="1" dirty="0" smtClean="0"/>
              <a:t>gibi özellikleri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KAPSİT YAPISINA GÖRE SINIFLANDIRMA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800" b="1" dirty="0" smtClean="0">
                <a:solidFill>
                  <a:srgbClr val="7030A0"/>
                </a:solidFill>
              </a:rPr>
              <a:t>KAPSİD: </a:t>
            </a:r>
            <a:r>
              <a:rPr lang="tr-TR" sz="2800" b="1" dirty="0" smtClean="0"/>
              <a:t>genomu çevreleyen </a:t>
            </a:r>
            <a:r>
              <a:rPr lang="tr-TR" sz="2800" b="1" dirty="0" err="1" smtClean="0"/>
              <a:t>kapsomerlerden</a:t>
            </a:r>
            <a:r>
              <a:rPr lang="tr-TR" sz="2800" b="1" dirty="0" smtClean="0"/>
              <a:t> oluşan protein kılıftır</a:t>
            </a:r>
          </a:p>
          <a:p>
            <a:r>
              <a:rPr lang="tr-TR" sz="2800" b="1" dirty="0" err="1" smtClean="0"/>
              <a:t>Kapsid</a:t>
            </a:r>
            <a:r>
              <a:rPr lang="tr-TR" sz="2800" b="1" dirty="0" smtClean="0"/>
              <a:t> dizilişinin genel özellikleri ya da </a:t>
            </a:r>
            <a:r>
              <a:rPr lang="tr-TR" sz="2800" b="1" dirty="0" err="1" smtClean="0"/>
              <a:t>kapsidin</a:t>
            </a:r>
            <a:r>
              <a:rPr lang="tr-TR" sz="2800" b="1" dirty="0" smtClean="0"/>
              <a:t> oluşturduğu simetrik yapıya göre 3 önemli gruba ayrılırlar</a:t>
            </a:r>
            <a:endParaRPr lang="tr-TR" sz="2800" b="1" dirty="0"/>
          </a:p>
        </p:txBody>
      </p:sp>
      <p:pic>
        <p:nvPicPr>
          <p:cNvPr id="4" name="Picture 2" descr="C:\Users\user\Desktop\kapsomer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23928" y="3789040"/>
            <a:ext cx="4467784" cy="269778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KAPSİT YAPISINA GÖRE SINIFLANDIRMA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5" name="4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tr-TR" sz="2800" b="1" dirty="0" smtClean="0"/>
          </a:p>
          <a:p>
            <a:r>
              <a:rPr lang="tr-TR" sz="2800" b="1" dirty="0" smtClean="0"/>
              <a:t>1 – </a:t>
            </a:r>
            <a:r>
              <a:rPr lang="tr-TR" sz="2800" b="1" dirty="0" err="1" smtClean="0"/>
              <a:t>İkozahedral</a:t>
            </a:r>
            <a:r>
              <a:rPr lang="tr-TR" sz="2800" b="1" dirty="0" smtClean="0"/>
              <a:t> Simetrili Virüsler (Kübik simetrili)</a:t>
            </a:r>
          </a:p>
          <a:p>
            <a:r>
              <a:rPr lang="tr-TR" sz="2800" b="1" dirty="0" smtClean="0"/>
              <a:t>2 – </a:t>
            </a:r>
            <a:r>
              <a:rPr lang="tr-TR" sz="2800" b="1" dirty="0" err="1" smtClean="0"/>
              <a:t>Helikal</a:t>
            </a:r>
            <a:r>
              <a:rPr lang="tr-TR" sz="2800" b="1" dirty="0" smtClean="0"/>
              <a:t> Simetrili Virüsler (Helezon yapılı virüsler)</a:t>
            </a:r>
          </a:p>
          <a:p>
            <a:r>
              <a:rPr lang="tr-TR" sz="2800" b="1" dirty="0" smtClean="0"/>
              <a:t>3 – Kompleks (karmaşık) Simetrili Virüsler</a:t>
            </a:r>
            <a:endParaRPr lang="tr-TR" sz="2800" b="1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/>
              <a:t/>
            </a:r>
            <a:br>
              <a:rPr lang="tr-TR" b="1" dirty="0" smtClean="0"/>
            </a:br>
            <a:r>
              <a:rPr lang="tr-TR" b="1" dirty="0" smtClean="0">
                <a:solidFill>
                  <a:srgbClr val="FF0000"/>
                </a:solidFill>
              </a:rPr>
              <a:t>1 – İKOZAHEDRAL SİMETRİLİ VİRÜSLER</a:t>
            </a:r>
            <a:br>
              <a:rPr lang="tr-TR" b="1" dirty="0" smtClean="0">
                <a:solidFill>
                  <a:srgbClr val="FF0000"/>
                </a:solidFill>
              </a:rPr>
            </a:b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800" b="1" dirty="0" smtClean="0"/>
              <a:t>Kübik simetrili virüsler olarak da adlandırılırlar</a:t>
            </a:r>
          </a:p>
          <a:p>
            <a:r>
              <a:rPr lang="tr-TR" sz="2800" b="1" dirty="0" smtClean="0"/>
              <a:t>Bu tür simetri yapısı 20 eşkenar üçgen şeklinde dizilen </a:t>
            </a:r>
            <a:r>
              <a:rPr lang="tr-TR" sz="2800" b="1" dirty="0" err="1" smtClean="0"/>
              <a:t>kapsomerlerin</a:t>
            </a:r>
            <a:r>
              <a:rPr lang="tr-TR" sz="2800" b="1" dirty="0" smtClean="0"/>
              <a:t> birleşmesiyle oluşan, 12 köşesi bulunan bir simetri yapısıdır</a:t>
            </a:r>
            <a:endParaRPr lang="tr-TR" sz="2800" b="1" dirty="0"/>
          </a:p>
        </p:txBody>
      </p:sp>
      <p:pic>
        <p:nvPicPr>
          <p:cNvPr id="3074" name="Picture 2" descr="C:\Users\user\Desktop\hqdefaul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3968" y="3861048"/>
            <a:ext cx="4572000" cy="2564904"/>
          </a:xfrm>
          <a:prstGeom prst="rect">
            <a:avLst/>
          </a:prstGeom>
          <a:noFill/>
        </p:spPr>
      </p:pic>
      <p:pic>
        <p:nvPicPr>
          <p:cNvPr id="3075" name="Picture 3" descr="C:\Users\user\Desktop\virus-icosahedron-symmetry-axes-Edges-lines-surfaces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4005064"/>
            <a:ext cx="3981856" cy="231611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err="1" smtClean="0">
                <a:solidFill>
                  <a:srgbClr val="FF0000"/>
                </a:solidFill>
              </a:rPr>
              <a:t>İkosahedral</a:t>
            </a:r>
            <a:r>
              <a:rPr lang="tr-TR" b="1" dirty="0" smtClean="0">
                <a:solidFill>
                  <a:srgbClr val="FF0000"/>
                </a:solidFill>
              </a:rPr>
              <a:t> Simetri Gösteren Bazı </a:t>
            </a:r>
            <a:r>
              <a:rPr lang="tr-TR" b="1" dirty="0" err="1" smtClean="0">
                <a:solidFill>
                  <a:srgbClr val="FF0000"/>
                </a:solidFill>
              </a:rPr>
              <a:t>Viruslar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tr-TR" dirty="0" smtClean="0"/>
              <a:t>		</a:t>
            </a:r>
            <a:r>
              <a:rPr lang="tr-TR" b="1" dirty="0" smtClean="0">
                <a:solidFill>
                  <a:srgbClr val="7030A0"/>
                </a:solidFill>
              </a:rPr>
              <a:t>DNA </a:t>
            </a:r>
            <a:r>
              <a:rPr lang="tr-TR" b="1" dirty="0" err="1" smtClean="0">
                <a:solidFill>
                  <a:srgbClr val="7030A0"/>
                </a:solidFill>
              </a:rPr>
              <a:t>virusları</a:t>
            </a:r>
            <a:endParaRPr lang="tr-TR" b="1" dirty="0" smtClean="0">
              <a:solidFill>
                <a:srgbClr val="7030A0"/>
              </a:solidFill>
            </a:endParaRPr>
          </a:p>
          <a:p>
            <a:pPr lvl="1"/>
            <a:r>
              <a:rPr lang="tr-TR" b="1" dirty="0" err="1" smtClean="0"/>
              <a:t>Adenovirus</a:t>
            </a:r>
            <a:endParaRPr lang="tr-TR" b="1" dirty="0" smtClean="0"/>
          </a:p>
          <a:p>
            <a:pPr lvl="1"/>
            <a:r>
              <a:rPr lang="tr-TR" b="1" dirty="0" err="1" smtClean="0"/>
              <a:t>Herpes</a:t>
            </a:r>
            <a:r>
              <a:rPr lang="tr-TR" b="1" dirty="0" smtClean="0"/>
              <a:t> </a:t>
            </a:r>
            <a:r>
              <a:rPr lang="tr-TR" b="1" dirty="0" err="1" smtClean="0"/>
              <a:t>virus</a:t>
            </a:r>
            <a:endParaRPr lang="tr-TR" b="1" dirty="0" smtClean="0"/>
          </a:p>
          <a:p>
            <a:pPr>
              <a:buNone/>
            </a:pPr>
            <a:r>
              <a:rPr lang="tr-TR" dirty="0" smtClean="0"/>
              <a:t>		</a:t>
            </a:r>
            <a:r>
              <a:rPr lang="tr-TR" b="1" dirty="0" smtClean="0">
                <a:solidFill>
                  <a:srgbClr val="7030A0"/>
                </a:solidFill>
              </a:rPr>
              <a:t>RNA </a:t>
            </a:r>
            <a:r>
              <a:rPr lang="tr-TR" b="1" dirty="0" err="1" smtClean="0">
                <a:solidFill>
                  <a:srgbClr val="7030A0"/>
                </a:solidFill>
              </a:rPr>
              <a:t>virusları</a:t>
            </a:r>
            <a:endParaRPr lang="tr-TR" b="1" dirty="0" smtClean="0">
              <a:solidFill>
                <a:srgbClr val="7030A0"/>
              </a:solidFill>
            </a:endParaRPr>
          </a:p>
          <a:p>
            <a:pPr lvl="1"/>
            <a:r>
              <a:rPr lang="tr-TR" b="1" dirty="0" err="1" smtClean="0"/>
              <a:t>Reovirus</a:t>
            </a:r>
            <a:endParaRPr lang="tr-TR" b="1" dirty="0" smtClean="0"/>
          </a:p>
          <a:p>
            <a:pPr lvl="1"/>
            <a:r>
              <a:rPr lang="tr-TR" b="1" dirty="0" err="1" smtClean="0"/>
              <a:t>Togavirus</a:t>
            </a:r>
            <a:endParaRPr lang="tr-TR" b="1" dirty="0" smtClean="0"/>
          </a:p>
          <a:p>
            <a:pPr lvl="1"/>
            <a:r>
              <a:rPr lang="tr-TR" b="1" dirty="0" err="1" smtClean="0"/>
              <a:t>Flavivirus</a:t>
            </a:r>
            <a:endParaRPr lang="tr-TR" b="1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2-HELİKAL SİMETRİLİ VİRÜSLER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6" name="5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800" b="1" dirty="0" smtClean="0"/>
              <a:t>Helezon yapılı virüsler olarak da adlandırılırlar</a:t>
            </a:r>
          </a:p>
          <a:p>
            <a:r>
              <a:rPr lang="tr-TR" sz="2800" b="1" dirty="0" err="1" smtClean="0"/>
              <a:t>Virion</a:t>
            </a:r>
            <a:r>
              <a:rPr lang="tr-TR" sz="2800" b="1" dirty="0" smtClean="0"/>
              <a:t> silindirik görünümdedir</a:t>
            </a:r>
          </a:p>
          <a:p>
            <a:r>
              <a:rPr lang="tr-TR" sz="2800" b="1" dirty="0" smtClean="0"/>
              <a:t>Bu tür simetride </a:t>
            </a:r>
            <a:r>
              <a:rPr lang="tr-TR" sz="2800" b="1" dirty="0" err="1" smtClean="0"/>
              <a:t>kapsomerler</a:t>
            </a:r>
            <a:r>
              <a:rPr lang="tr-TR" sz="2800" b="1" dirty="0" smtClean="0"/>
              <a:t> </a:t>
            </a:r>
            <a:r>
              <a:rPr lang="tr-TR" sz="2800" b="1" dirty="0" err="1" smtClean="0"/>
              <a:t>nukleusun</a:t>
            </a:r>
            <a:r>
              <a:rPr lang="tr-TR" sz="2800" b="1" dirty="0" smtClean="0"/>
              <a:t> etrafında bir eksen boyunca üst üste kıvrılarak boru şeklinde dizilmişlerdir.</a:t>
            </a:r>
          </a:p>
          <a:p>
            <a:r>
              <a:rPr lang="tr-TR" sz="2800" b="1" dirty="0" smtClean="0"/>
              <a:t>Yani bir nevi yay ya da helezon oluşturmuşlardır</a:t>
            </a:r>
            <a:endParaRPr lang="tr-TR" sz="2800" b="1" dirty="0"/>
          </a:p>
        </p:txBody>
      </p:sp>
      <p:pic>
        <p:nvPicPr>
          <p:cNvPr id="7" name="Picture 3" descr="C:\Users\user\Desktop\helical_virus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84168" y="4509120"/>
            <a:ext cx="2699792" cy="2148483"/>
          </a:xfrm>
          <a:prstGeom prst="rect">
            <a:avLst/>
          </a:prstGeom>
          <a:noFill/>
        </p:spPr>
      </p:pic>
      <p:pic>
        <p:nvPicPr>
          <p:cNvPr id="9" name="Picture 2" descr="C:\Users\user\Desktop\hel-kal-s-metr1-l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07704" y="4437112"/>
            <a:ext cx="3308185" cy="219310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err="1" smtClean="0">
                <a:solidFill>
                  <a:srgbClr val="FF0000"/>
                </a:solidFill>
              </a:rPr>
              <a:t>Helikal</a:t>
            </a:r>
            <a:r>
              <a:rPr lang="tr-TR" b="1" dirty="0" smtClean="0">
                <a:solidFill>
                  <a:srgbClr val="FF0000"/>
                </a:solidFill>
              </a:rPr>
              <a:t> Simetri Gösteren Bazı </a:t>
            </a:r>
            <a:r>
              <a:rPr lang="tr-TR" b="1" dirty="0" err="1" smtClean="0">
                <a:solidFill>
                  <a:srgbClr val="FF0000"/>
                </a:solidFill>
              </a:rPr>
              <a:t>Viruslar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tr-TR" sz="3200" b="1" dirty="0" err="1" smtClean="0"/>
              <a:t>Bünyavirus</a:t>
            </a:r>
            <a:endParaRPr lang="tr-TR" sz="3200" b="1" dirty="0" smtClean="0"/>
          </a:p>
          <a:p>
            <a:pPr lvl="1"/>
            <a:r>
              <a:rPr lang="tr-TR" sz="3200" b="1" dirty="0" err="1" smtClean="0"/>
              <a:t>Rhabdovirus</a:t>
            </a:r>
            <a:endParaRPr lang="tr-TR" sz="3200" b="1" dirty="0" smtClean="0"/>
          </a:p>
          <a:p>
            <a:pPr lvl="1"/>
            <a:r>
              <a:rPr lang="tr-TR" sz="3200" b="1" dirty="0" err="1" smtClean="0"/>
              <a:t>Orthomyxovirus</a:t>
            </a:r>
            <a:endParaRPr lang="tr-TR" sz="3200" b="1" dirty="0" smtClean="0"/>
          </a:p>
          <a:p>
            <a:pPr lvl="1"/>
            <a:r>
              <a:rPr lang="tr-TR" sz="3200" b="1" dirty="0" smtClean="0"/>
              <a:t>Arena </a:t>
            </a:r>
            <a:r>
              <a:rPr lang="tr-TR" sz="3200" b="1" dirty="0" err="1" smtClean="0"/>
              <a:t>virus</a:t>
            </a:r>
            <a:r>
              <a:rPr lang="tr-TR" sz="3200" b="1" dirty="0" smtClean="0"/>
              <a:t> </a:t>
            </a:r>
          </a:p>
          <a:p>
            <a:pPr lvl="1"/>
            <a:r>
              <a:rPr lang="tr-TR" sz="3200" b="1" dirty="0" smtClean="0"/>
              <a:t>Tütün mozaik virüsü</a:t>
            </a:r>
            <a:endParaRPr lang="tr-TR" sz="3200" dirty="0" smtClean="0"/>
          </a:p>
          <a:p>
            <a:endParaRPr lang="tr-TR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 descr="C:\Users\tijen\Desktop\estructura-del-virus-helicoidal-tipos-básicos-de-el-helix-es-uno-los-255822034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404664"/>
            <a:ext cx="6840760" cy="583264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/>
              <a:t/>
            </a:r>
            <a:br>
              <a:rPr lang="tr-TR" b="1" dirty="0" smtClean="0"/>
            </a:br>
            <a:r>
              <a:rPr lang="tr-TR" b="1" dirty="0" smtClean="0">
                <a:solidFill>
                  <a:srgbClr val="FF0000"/>
                </a:solidFill>
              </a:rPr>
              <a:t>3 – KOMPLEKS (karmaşık) SİMETRİLİ VİRÜSLER</a:t>
            </a:r>
            <a:br>
              <a:rPr lang="tr-TR" b="1" dirty="0" smtClean="0">
                <a:solidFill>
                  <a:srgbClr val="FF0000"/>
                </a:solidFill>
              </a:rPr>
            </a:b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5" name="4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800" b="1" dirty="0" smtClean="0"/>
              <a:t>Bazı virüsler belirgin bir simetri yapısı göstermezler</a:t>
            </a:r>
          </a:p>
          <a:p>
            <a:r>
              <a:rPr lang="tr-TR" sz="2800" b="1" dirty="0" smtClean="0"/>
              <a:t>Oval şekilli, tuğla görünümlü </a:t>
            </a:r>
            <a:r>
              <a:rPr lang="tr-TR" sz="2800" b="1" dirty="0" err="1" smtClean="0"/>
              <a:t>viruslardır</a:t>
            </a:r>
            <a:endParaRPr lang="tr-TR" sz="2800" b="1" dirty="0" smtClean="0"/>
          </a:p>
          <a:p>
            <a:r>
              <a:rPr lang="tr-TR" sz="2800" b="1" dirty="0" smtClean="0"/>
              <a:t>Bunların daha karmaşık ve daha farklı bir </a:t>
            </a:r>
            <a:r>
              <a:rPr lang="tr-TR" sz="2800" b="1" dirty="0" err="1" smtClean="0"/>
              <a:t>kapsid</a:t>
            </a:r>
            <a:r>
              <a:rPr lang="tr-TR" sz="2800" b="1" dirty="0" smtClean="0"/>
              <a:t> yapıları vardır</a:t>
            </a:r>
          </a:p>
          <a:p>
            <a:r>
              <a:rPr lang="tr-TR" sz="2800" b="1" dirty="0" err="1" smtClean="0"/>
              <a:t>Kapsidi</a:t>
            </a:r>
            <a:r>
              <a:rPr lang="tr-TR" sz="2800" b="1" dirty="0" smtClean="0"/>
              <a:t> oluşturan </a:t>
            </a:r>
            <a:r>
              <a:rPr lang="tr-TR" sz="2800" b="1" dirty="0" err="1" smtClean="0"/>
              <a:t>kapsomerler</a:t>
            </a:r>
            <a:r>
              <a:rPr lang="tr-TR" sz="2800" b="1" dirty="0" smtClean="0"/>
              <a:t> birbirleri ile açı oluşturarak düzensiz şekilde dizilmiştir</a:t>
            </a:r>
            <a:endParaRPr lang="tr-TR" sz="2800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84168" y="4365104"/>
            <a:ext cx="2733675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VİRUS İLE BAKTERİ </a:t>
            </a:r>
            <a:br>
              <a:rPr lang="tr-TR" b="1" dirty="0" smtClean="0">
                <a:solidFill>
                  <a:srgbClr val="FF0000"/>
                </a:solidFill>
              </a:rPr>
            </a:br>
            <a:r>
              <a:rPr lang="tr-TR" b="1" dirty="0" smtClean="0">
                <a:solidFill>
                  <a:srgbClr val="FF0000"/>
                </a:solidFill>
              </a:rPr>
              <a:t>ARASINDAKİ FARKLILIKLAR 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tr-TR" sz="2800" b="1" dirty="0" smtClean="0"/>
              <a:t>1-Üreme ortamı</a:t>
            </a:r>
          </a:p>
          <a:p>
            <a:r>
              <a:rPr lang="tr-TR" sz="2800" b="1" dirty="0" smtClean="0"/>
              <a:t>2-Büyüklük</a:t>
            </a:r>
          </a:p>
          <a:p>
            <a:r>
              <a:rPr lang="tr-TR" sz="2800" b="1" dirty="0" smtClean="0"/>
              <a:t>3-Hücre Yapısı </a:t>
            </a:r>
          </a:p>
          <a:p>
            <a:r>
              <a:rPr lang="tr-TR" sz="2800" b="1" dirty="0" smtClean="0"/>
              <a:t>4-Çoğalma</a:t>
            </a:r>
          </a:p>
          <a:p>
            <a:r>
              <a:rPr lang="tr-TR" sz="2800" b="1" dirty="0" smtClean="0"/>
              <a:t>5-</a:t>
            </a:r>
            <a:r>
              <a:rPr lang="tr-TR" sz="2800" b="1" dirty="0" err="1" smtClean="0"/>
              <a:t>Genomik</a:t>
            </a:r>
            <a:r>
              <a:rPr lang="tr-TR" sz="2800" b="1" dirty="0" smtClean="0"/>
              <a:t> yapı</a:t>
            </a:r>
          </a:p>
          <a:p>
            <a:r>
              <a:rPr lang="tr-TR" sz="2800" b="1" dirty="0" smtClean="0"/>
              <a:t>6-</a:t>
            </a:r>
            <a:r>
              <a:rPr lang="tr-TR" sz="2800" b="1" dirty="0" err="1" smtClean="0"/>
              <a:t>Metabolik</a:t>
            </a:r>
            <a:r>
              <a:rPr lang="tr-TR" sz="2800" b="1" dirty="0" smtClean="0"/>
              <a:t> aktivite</a:t>
            </a:r>
          </a:p>
          <a:p>
            <a:r>
              <a:rPr lang="tr-TR" sz="2800" b="1" dirty="0" smtClean="0"/>
              <a:t>7- Mikroskopta görülebilme</a:t>
            </a:r>
          </a:p>
          <a:p>
            <a:r>
              <a:rPr lang="tr-TR" sz="2800" b="1" dirty="0" smtClean="0"/>
              <a:t>8-Filtrelerden geçebilme</a:t>
            </a:r>
          </a:p>
          <a:p>
            <a:r>
              <a:rPr lang="tr-TR" sz="2800" b="1" dirty="0" smtClean="0"/>
              <a:t>9-Antibiyotik Duyarlılığı</a:t>
            </a:r>
          </a:p>
          <a:p>
            <a:r>
              <a:rPr lang="tr-TR" sz="2800" b="1" dirty="0" smtClean="0"/>
              <a:t>10-İnterferon Duyarlılığı</a:t>
            </a:r>
          </a:p>
          <a:p>
            <a:r>
              <a:rPr lang="tr-TR" sz="2800" b="1" dirty="0" smtClean="0"/>
              <a:t>11- Hücre </a:t>
            </a:r>
            <a:r>
              <a:rPr lang="tr-TR" sz="2800" b="1" dirty="0" err="1" smtClean="0"/>
              <a:t>Organelleri</a:t>
            </a:r>
            <a:r>
              <a:rPr lang="tr-TR" sz="2800" b="1" dirty="0" smtClean="0"/>
              <a:t> açısından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251520" y="260648"/>
            <a:ext cx="8640960" cy="619268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tr-TR" sz="2800" b="1" dirty="0" smtClean="0">
                <a:solidFill>
                  <a:srgbClr val="FF0000"/>
                </a:solidFill>
              </a:rPr>
              <a:t>				</a:t>
            </a:r>
            <a:r>
              <a:rPr lang="tr-TR" sz="4000" b="1" dirty="0" smtClean="0">
                <a:solidFill>
                  <a:srgbClr val="FF0000"/>
                </a:solidFill>
              </a:rPr>
              <a:t>1-ÜREME ORTAMI</a:t>
            </a:r>
            <a:endParaRPr lang="tr-TR" sz="4000" b="1" dirty="0" smtClean="0">
              <a:solidFill>
                <a:srgbClr val="7030A0"/>
              </a:solidFill>
            </a:endParaRPr>
          </a:p>
          <a:p>
            <a:r>
              <a:rPr lang="tr-TR" sz="2800" b="1" dirty="0" smtClean="0">
                <a:solidFill>
                  <a:srgbClr val="7030A0"/>
                </a:solidFill>
              </a:rPr>
              <a:t>VİRUSLARIN</a:t>
            </a:r>
            <a:r>
              <a:rPr lang="tr-TR" sz="2800" b="1" dirty="0" smtClean="0"/>
              <a:t> üremeleri ve çoğalmaları için mutlaka canlı ortamlara ihtiyaç vardır</a:t>
            </a:r>
          </a:p>
          <a:p>
            <a:pPr>
              <a:buNone/>
            </a:pPr>
            <a:endParaRPr lang="tr-TR" sz="2800" b="1" dirty="0" smtClean="0"/>
          </a:p>
          <a:p>
            <a:r>
              <a:rPr lang="tr-TR" sz="2800" b="1" dirty="0" smtClean="0">
                <a:solidFill>
                  <a:schemeClr val="accent6">
                    <a:lumMod val="50000"/>
                  </a:schemeClr>
                </a:solidFill>
              </a:rPr>
              <a:t>BAKTERİLER</a:t>
            </a:r>
            <a:r>
              <a:rPr lang="tr-TR" sz="2800" b="1" dirty="0" smtClean="0"/>
              <a:t> ise hem canlı hem de cansız ortamlarda üreyebilirler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tr-TR" sz="2000" b="1" dirty="0" smtClean="0">
                <a:solidFill>
                  <a:schemeClr val="accent6">
                    <a:lumMod val="50000"/>
                  </a:schemeClr>
                </a:solidFill>
              </a:rPr>
              <a:t>Bakteri ve diğer mikroorganizmaların </a:t>
            </a:r>
            <a:r>
              <a:rPr lang="tr-TR" sz="2000" b="1" dirty="0" smtClean="0"/>
              <a:t>büyük çoğunluğu cansız besleyici maddelerden hazırlanan yapay </a:t>
            </a:r>
            <a:r>
              <a:rPr lang="tr-TR" sz="2000" b="1" dirty="0" err="1" smtClean="0"/>
              <a:t>besiyerlerinde</a:t>
            </a:r>
            <a:r>
              <a:rPr lang="tr-TR" sz="2000" b="1" dirty="0" smtClean="0"/>
              <a:t> kolaylıkla üreyebilirler</a:t>
            </a:r>
          </a:p>
          <a:p>
            <a:pPr marL="342900" lvl="1" indent="-342900">
              <a:buNone/>
            </a:pPr>
            <a:endParaRPr lang="tr-TR" sz="2000" b="1" dirty="0" smtClean="0"/>
          </a:p>
          <a:p>
            <a:r>
              <a:rPr lang="tr-TR" sz="2800" b="1" dirty="0" err="1" smtClean="0">
                <a:solidFill>
                  <a:srgbClr val="FF0000"/>
                </a:solidFill>
              </a:rPr>
              <a:t>Virusların</a:t>
            </a:r>
            <a:r>
              <a:rPr lang="tr-TR" sz="2800" b="1" dirty="0" smtClean="0">
                <a:solidFill>
                  <a:srgbClr val="FF0000"/>
                </a:solidFill>
              </a:rPr>
              <a:t> </a:t>
            </a:r>
            <a:r>
              <a:rPr lang="tr-TR" sz="2800" b="1" dirty="0" err="1" smtClean="0">
                <a:solidFill>
                  <a:srgbClr val="FF0000"/>
                </a:solidFill>
              </a:rPr>
              <a:t>laboratuvar</a:t>
            </a:r>
            <a:r>
              <a:rPr lang="tr-TR" sz="2800" b="1" dirty="0" smtClean="0">
                <a:solidFill>
                  <a:srgbClr val="FF0000"/>
                </a:solidFill>
              </a:rPr>
              <a:t> şartlarında üretilmesi için </a:t>
            </a:r>
          </a:p>
          <a:p>
            <a:pPr lvl="1"/>
            <a:r>
              <a:rPr lang="tr-TR" sz="2000" b="1" dirty="0" smtClean="0">
                <a:solidFill>
                  <a:srgbClr val="0070C0"/>
                </a:solidFill>
              </a:rPr>
              <a:t>deney hayvanları</a:t>
            </a:r>
          </a:p>
          <a:p>
            <a:pPr lvl="1"/>
            <a:r>
              <a:rPr lang="tr-TR" sz="2000" b="1" dirty="0" smtClean="0">
                <a:solidFill>
                  <a:srgbClr val="0070C0"/>
                </a:solidFill>
              </a:rPr>
              <a:t>Canlı hücrelerin bulunduğu hücre kültürü sistemleri</a:t>
            </a:r>
          </a:p>
          <a:p>
            <a:pPr lvl="1"/>
            <a:r>
              <a:rPr lang="tr-TR" sz="2000" b="1" dirty="0" smtClean="0">
                <a:solidFill>
                  <a:srgbClr val="0070C0"/>
                </a:solidFill>
              </a:rPr>
              <a:t>Embriyonlu yumurta’ya ihtiyaç vardır</a:t>
            </a:r>
          </a:p>
          <a:p>
            <a:pPr lvl="1"/>
            <a:endParaRPr lang="tr-TR" sz="2000" b="1" dirty="0" smtClean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323528" y="404664"/>
            <a:ext cx="8496944" cy="6048672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tr-TR" b="1" dirty="0" smtClean="0">
                <a:solidFill>
                  <a:srgbClr val="FF0000"/>
                </a:solidFill>
              </a:rPr>
              <a:t>				</a:t>
            </a:r>
            <a:r>
              <a:rPr lang="tr-TR" sz="4700" b="1" dirty="0" smtClean="0">
                <a:solidFill>
                  <a:srgbClr val="FF0000"/>
                </a:solidFill>
              </a:rPr>
              <a:t>2-BÜYÜKLÜK</a:t>
            </a:r>
            <a:endParaRPr lang="tr-TR" sz="4700" b="1" dirty="0" smtClean="0"/>
          </a:p>
          <a:p>
            <a:pPr>
              <a:buNone/>
            </a:pPr>
            <a:endParaRPr lang="tr-TR" b="1" dirty="0" smtClean="0"/>
          </a:p>
          <a:p>
            <a:r>
              <a:rPr lang="tr-TR" b="1" dirty="0" smtClean="0"/>
              <a:t>Virüsler bakterilerden ve diğer mikroorganizmalardan daha küçüktürler</a:t>
            </a:r>
          </a:p>
          <a:p>
            <a:r>
              <a:rPr lang="tr-TR" b="1" dirty="0" smtClean="0"/>
              <a:t>Virüslerin en büyüğü dahi, en küçük bakteriden daha küçük veya aynı boyuttadır</a:t>
            </a:r>
          </a:p>
          <a:p>
            <a:pPr>
              <a:buNone/>
            </a:pPr>
            <a:endParaRPr lang="tr-TR" b="1" dirty="0" smtClean="0"/>
          </a:p>
          <a:p>
            <a:r>
              <a:rPr lang="da-DK" b="1" dirty="0" smtClean="0"/>
              <a:t>Bakteriler ve diğer mikroorganimala</a:t>
            </a:r>
            <a:r>
              <a:rPr lang="tr-TR" b="1" dirty="0" smtClean="0"/>
              <a:t>r </a:t>
            </a:r>
            <a:r>
              <a:rPr lang="da-DK" b="1" dirty="0" smtClean="0"/>
              <a:t>mikrometre</a:t>
            </a:r>
            <a:r>
              <a:rPr lang="tr-TR" b="1" dirty="0" smtClean="0"/>
              <a:t> (µm) ile ölçülürken, virüsler nanometre (</a:t>
            </a:r>
            <a:r>
              <a:rPr lang="tr-TR" b="1" dirty="0" err="1" smtClean="0"/>
              <a:t>nm</a:t>
            </a:r>
            <a:r>
              <a:rPr lang="tr-TR" b="1" dirty="0" smtClean="0"/>
              <a:t>) ile ölçülürler</a:t>
            </a:r>
          </a:p>
          <a:p>
            <a:pPr>
              <a:buNone/>
            </a:pPr>
            <a:endParaRPr lang="tr-TR" b="1" dirty="0" smtClean="0"/>
          </a:p>
          <a:p>
            <a:r>
              <a:rPr lang="tr-TR" b="1" dirty="0" smtClean="0"/>
              <a:t>Virüslerin büyüklüğü yaklaşık 17-300 / 20 - 400 </a:t>
            </a:r>
            <a:r>
              <a:rPr lang="tr-TR" b="1" dirty="0" err="1" smtClean="0"/>
              <a:t>nm</a:t>
            </a:r>
            <a:r>
              <a:rPr lang="tr-TR" b="1" dirty="0" smtClean="0"/>
              <a:t> arasında</a:t>
            </a:r>
          </a:p>
          <a:p>
            <a:pPr>
              <a:buNone/>
            </a:pPr>
            <a:endParaRPr lang="tr-TR" b="1" dirty="0" smtClean="0"/>
          </a:p>
          <a:p>
            <a:r>
              <a:rPr lang="tr-TR" b="1" dirty="0" smtClean="0"/>
              <a:t>Bakteriler ortalama 1000 </a:t>
            </a:r>
            <a:r>
              <a:rPr lang="tr-TR" b="1" dirty="0" err="1" smtClean="0"/>
              <a:t>nm</a:t>
            </a:r>
            <a:r>
              <a:rPr lang="tr-TR" b="1" dirty="0" smtClean="0"/>
              <a:t> kadardır</a:t>
            </a:r>
          </a:p>
          <a:p>
            <a:endParaRPr lang="tr-TR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/>
            </a:r>
            <a:br>
              <a:rPr lang="tr-TR" b="1" dirty="0" smtClean="0">
                <a:solidFill>
                  <a:srgbClr val="FF0000"/>
                </a:solidFill>
              </a:rPr>
            </a:br>
            <a:r>
              <a:rPr lang="tr-TR" b="1" dirty="0" smtClean="0">
                <a:solidFill>
                  <a:srgbClr val="FF0000"/>
                </a:solidFill>
              </a:rPr>
              <a:t>3-HÜCRE YAPISI </a:t>
            </a:r>
            <a:br>
              <a:rPr lang="tr-TR" b="1" dirty="0" smtClean="0">
                <a:solidFill>
                  <a:srgbClr val="FF0000"/>
                </a:solidFill>
              </a:rPr>
            </a:b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800" b="1" dirty="0" smtClean="0">
                <a:solidFill>
                  <a:srgbClr val="7030A0"/>
                </a:solidFill>
              </a:rPr>
              <a:t>VİRUSLARIN</a:t>
            </a:r>
            <a:r>
              <a:rPr lang="tr-TR" sz="2800" b="1" dirty="0" smtClean="0"/>
              <a:t>  hücre </a:t>
            </a:r>
            <a:r>
              <a:rPr lang="tr-TR" sz="2800" b="1" dirty="0" err="1" smtClean="0"/>
              <a:t>organelleri</a:t>
            </a:r>
            <a:r>
              <a:rPr lang="tr-TR" sz="2800" b="1" dirty="0" smtClean="0"/>
              <a:t> yoktur</a:t>
            </a:r>
          </a:p>
          <a:p>
            <a:pPr>
              <a:buNone/>
            </a:pPr>
            <a:endParaRPr lang="tr-TR" sz="2800" b="1" dirty="0" smtClean="0"/>
          </a:p>
          <a:p>
            <a:r>
              <a:rPr lang="tr-TR" sz="2800" b="1" dirty="0" smtClean="0">
                <a:solidFill>
                  <a:schemeClr val="accent6">
                    <a:lumMod val="50000"/>
                  </a:schemeClr>
                </a:solidFill>
              </a:rPr>
              <a:t>BAKTERİLERDE</a:t>
            </a:r>
            <a:r>
              <a:rPr lang="tr-TR" sz="2800" b="1" dirty="0" smtClean="0"/>
              <a:t> görülen hücre yapısı </a:t>
            </a:r>
            <a:r>
              <a:rPr lang="tr-TR" sz="2800" b="1" dirty="0" err="1" smtClean="0"/>
              <a:t>viruslarda</a:t>
            </a:r>
            <a:r>
              <a:rPr lang="tr-TR" sz="2800" b="1" dirty="0" smtClean="0"/>
              <a:t> bulunmamaktadır</a:t>
            </a:r>
          </a:p>
          <a:p>
            <a:r>
              <a:rPr lang="tr-TR" sz="2800" b="1" dirty="0" err="1" smtClean="0"/>
              <a:t>Flegella</a:t>
            </a:r>
            <a:r>
              <a:rPr lang="tr-TR" sz="2800" b="1" dirty="0" smtClean="0"/>
              <a:t>,kapsül ve hücre duvarı gibi oluşumlar </a:t>
            </a:r>
            <a:r>
              <a:rPr lang="tr-TR" sz="2800" b="1" dirty="0" err="1" smtClean="0"/>
              <a:t>virus</a:t>
            </a:r>
            <a:r>
              <a:rPr lang="tr-TR" sz="2800" b="1" dirty="0" smtClean="0"/>
              <a:t> morfolojisinde yer almaz</a:t>
            </a:r>
            <a:endParaRPr lang="tr-TR" sz="2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b="1" dirty="0" smtClean="0">
                <a:solidFill>
                  <a:srgbClr val="FF0000"/>
                </a:solidFill>
              </a:rPr>
              <a:t>4-ÇOĞALMA</a:t>
            </a:r>
            <a:endParaRPr lang="tr-TR" sz="4000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tr-TR" sz="2800" b="1" dirty="0" smtClean="0"/>
          </a:p>
          <a:p>
            <a:r>
              <a:rPr lang="tr-TR" sz="2800" b="1" dirty="0" err="1" smtClean="0"/>
              <a:t>Viruslar</a:t>
            </a:r>
            <a:r>
              <a:rPr lang="tr-TR" sz="2800" b="1" dirty="0" smtClean="0"/>
              <a:t>, protein sentezi ve </a:t>
            </a:r>
            <a:r>
              <a:rPr lang="tr-TR" sz="2800" b="1" dirty="0" err="1" smtClean="0"/>
              <a:t>metabolik</a:t>
            </a:r>
            <a:r>
              <a:rPr lang="tr-TR" sz="2800" b="1" dirty="0" smtClean="0"/>
              <a:t> enerjinin üretilmesi için gerekli aparatları şifreleyen genetik bilgilerden yoksundurlar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251520" y="404664"/>
            <a:ext cx="8424936" cy="612068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tr-TR" sz="2800" b="1" dirty="0" smtClean="0">
                <a:solidFill>
                  <a:srgbClr val="FF0000"/>
                </a:solidFill>
              </a:rPr>
              <a:t>				</a:t>
            </a:r>
            <a:r>
              <a:rPr lang="tr-TR" sz="4000" b="1" dirty="0" smtClean="0">
                <a:solidFill>
                  <a:srgbClr val="FF0000"/>
                </a:solidFill>
              </a:rPr>
              <a:t>4-ÇOĞALMA</a:t>
            </a:r>
            <a:endParaRPr lang="tr-TR" sz="4000" b="1" dirty="0" smtClean="0">
              <a:solidFill>
                <a:srgbClr val="7030A0"/>
              </a:solidFill>
            </a:endParaRPr>
          </a:p>
          <a:p>
            <a:r>
              <a:rPr lang="tr-TR" sz="2800" b="1" dirty="0" smtClean="0">
                <a:solidFill>
                  <a:srgbClr val="7030A0"/>
                </a:solidFill>
              </a:rPr>
              <a:t>BAKTERİLER</a:t>
            </a:r>
            <a:r>
              <a:rPr lang="tr-TR" sz="2800" b="1" dirty="0" smtClean="0"/>
              <a:t> bölünme yolu ile çoğalırlar</a:t>
            </a:r>
          </a:p>
          <a:p>
            <a:pPr>
              <a:buNone/>
            </a:pPr>
            <a:endParaRPr lang="tr-TR" sz="2800" b="1" dirty="0" smtClean="0"/>
          </a:p>
          <a:p>
            <a:r>
              <a:rPr lang="tr-TR" sz="2800" b="1" dirty="0" smtClean="0">
                <a:solidFill>
                  <a:schemeClr val="accent6">
                    <a:lumMod val="50000"/>
                  </a:schemeClr>
                </a:solidFill>
              </a:rPr>
              <a:t>VİRUSLAR</a:t>
            </a:r>
            <a:r>
              <a:rPr lang="tr-TR" sz="2800" b="1" dirty="0" smtClean="0"/>
              <a:t> ise </a:t>
            </a:r>
            <a:r>
              <a:rPr lang="tr-TR" sz="2800" b="1" dirty="0" err="1" smtClean="0"/>
              <a:t>nükleik</a:t>
            </a:r>
            <a:r>
              <a:rPr lang="tr-TR" sz="2800" b="1" dirty="0" smtClean="0"/>
              <a:t> asit </a:t>
            </a:r>
            <a:r>
              <a:rPr lang="tr-TR" sz="2800" b="1" dirty="0" err="1" smtClean="0">
                <a:solidFill>
                  <a:srgbClr val="FF0000"/>
                </a:solidFill>
              </a:rPr>
              <a:t>replikasyonu</a:t>
            </a:r>
            <a:r>
              <a:rPr lang="tr-TR" sz="2800" b="1" dirty="0" smtClean="0"/>
              <a:t>* esası ile çoğalır</a:t>
            </a:r>
          </a:p>
          <a:p>
            <a:r>
              <a:rPr lang="tr-TR" sz="2800" b="1" dirty="0" smtClean="0"/>
              <a:t>“</a:t>
            </a:r>
            <a:r>
              <a:rPr lang="tr-TR" sz="2800" b="1" dirty="0" err="1" smtClean="0"/>
              <a:t>Viral</a:t>
            </a:r>
            <a:r>
              <a:rPr lang="tr-TR" sz="2800" b="1" dirty="0" smtClean="0"/>
              <a:t> yapılar konakçı hücreye sentezletilir ve bunların çoğalıp, sentezi ile </a:t>
            </a:r>
            <a:r>
              <a:rPr lang="tr-TR" sz="2800" b="1" dirty="0" err="1" smtClean="0">
                <a:solidFill>
                  <a:srgbClr val="FF0000"/>
                </a:solidFill>
              </a:rPr>
              <a:t>virion</a:t>
            </a:r>
            <a:r>
              <a:rPr lang="tr-TR" sz="2800" b="1" dirty="0" smtClean="0"/>
              <a:t>** adı verilen </a:t>
            </a:r>
            <a:r>
              <a:rPr lang="tr-TR" sz="2800" b="1" dirty="0" err="1" smtClean="0"/>
              <a:t>virus</a:t>
            </a:r>
            <a:r>
              <a:rPr lang="tr-TR" sz="2800" b="1" dirty="0" smtClean="0"/>
              <a:t> partikülleri şekillenir</a:t>
            </a:r>
          </a:p>
          <a:p>
            <a:endParaRPr lang="tr-TR" sz="2800" dirty="0" smtClean="0"/>
          </a:p>
          <a:p>
            <a:r>
              <a:rPr lang="tr-TR" sz="2800" b="1" dirty="0" err="1" smtClean="0"/>
              <a:t>replikasyon</a:t>
            </a:r>
            <a:r>
              <a:rPr lang="tr-TR" sz="2800" b="1" dirty="0" smtClean="0"/>
              <a:t>  </a:t>
            </a:r>
            <a:r>
              <a:rPr lang="tr-TR" sz="2800" b="1" dirty="0" err="1" smtClean="0"/>
              <a:t>nükleik</a:t>
            </a:r>
            <a:r>
              <a:rPr lang="tr-TR" sz="2800" b="1" dirty="0" smtClean="0"/>
              <a:t> asidin kopyasının çıkarılması</a:t>
            </a:r>
            <a:endParaRPr lang="tr-TR" sz="2400" b="1" dirty="0" smtClean="0">
              <a:solidFill>
                <a:srgbClr val="FF0000"/>
              </a:solidFill>
            </a:endParaRPr>
          </a:p>
          <a:p>
            <a:pPr lvl="1"/>
            <a:r>
              <a:rPr lang="tr-TR" sz="2400" b="1" dirty="0" smtClean="0">
                <a:solidFill>
                  <a:srgbClr val="FF0000"/>
                </a:solidFill>
              </a:rPr>
              <a:t>REPLİCATİON: </a:t>
            </a:r>
            <a:r>
              <a:rPr lang="tr-TR" sz="2400" b="1" dirty="0" smtClean="0"/>
              <a:t>kopyalama, tekrarlama</a:t>
            </a:r>
          </a:p>
          <a:p>
            <a:pPr lvl="1"/>
            <a:r>
              <a:rPr lang="tr-TR" sz="2400" b="1" dirty="0" smtClean="0">
                <a:solidFill>
                  <a:srgbClr val="FF0000"/>
                </a:solidFill>
              </a:rPr>
              <a:t>VİRİON</a:t>
            </a:r>
            <a:r>
              <a:rPr lang="tr-TR" sz="2400" b="1" dirty="0" smtClean="0"/>
              <a:t>: </a:t>
            </a:r>
            <a:r>
              <a:rPr lang="tr-TR" sz="2400" b="1" dirty="0" err="1" smtClean="0"/>
              <a:t>enfektif</a:t>
            </a:r>
            <a:r>
              <a:rPr lang="tr-TR" sz="2400" b="1" dirty="0" smtClean="0"/>
              <a:t> olgun </a:t>
            </a:r>
            <a:r>
              <a:rPr lang="tr-TR" sz="2400" b="1" dirty="0" err="1" smtClean="0"/>
              <a:t>virus</a:t>
            </a:r>
            <a:r>
              <a:rPr lang="tr-TR" sz="2400" b="1" dirty="0" smtClean="0"/>
              <a:t> partikülü</a:t>
            </a:r>
          </a:p>
          <a:p>
            <a:endParaRPr lang="tr-TR" sz="2800" b="1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/>
              <a:t/>
            </a:r>
            <a:br>
              <a:rPr lang="tr-TR" b="1" dirty="0" smtClean="0"/>
            </a:br>
            <a:r>
              <a:rPr lang="tr-TR" b="1" dirty="0" smtClean="0">
                <a:solidFill>
                  <a:srgbClr val="FF0000"/>
                </a:solidFill>
              </a:rPr>
              <a:t>5-GENOMİK YAPI</a:t>
            </a:r>
            <a:r>
              <a:rPr lang="tr-TR" b="1" dirty="0" smtClean="0"/>
              <a:t/>
            </a:r>
            <a:br>
              <a:rPr lang="tr-TR" b="1" dirty="0" smtClean="0"/>
            </a:b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800" b="1" dirty="0" smtClean="0">
                <a:solidFill>
                  <a:schemeClr val="accent6">
                    <a:lumMod val="50000"/>
                  </a:schemeClr>
                </a:solidFill>
              </a:rPr>
              <a:t>VİRÜSLER</a:t>
            </a:r>
            <a:r>
              <a:rPr lang="tr-TR" sz="2800" b="1" dirty="0" smtClean="0"/>
              <a:t> </a:t>
            </a:r>
            <a:r>
              <a:rPr lang="tr-TR" sz="2800" b="1" dirty="0" err="1" smtClean="0"/>
              <a:t>nükleik</a:t>
            </a:r>
            <a:r>
              <a:rPr lang="tr-TR" sz="2800" b="1" dirty="0" smtClean="0"/>
              <a:t>  asitlerden sadece bir tanesini ,  ya DNA, ya da RNA </a:t>
            </a:r>
            <a:r>
              <a:rPr lang="tr-TR" sz="2800" b="1" dirty="0" err="1" smtClean="0"/>
              <a:t>yı</a:t>
            </a:r>
            <a:r>
              <a:rPr lang="tr-TR" sz="2800" b="1" dirty="0" smtClean="0"/>
              <a:t> taşırlar</a:t>
            </a:r>
          </a:p>
          <a:p>
            <a:pPr>
              <a:buNone/>
            </a:pPr>
            <a:endParaRPr lang="tr-TR" sz="2800" b="1" dirty="0" smtClean="0"/>
          </a:p>
          <a:p>
            <a:r>
              <a:rPr lang="tr-TR" sz="2800" b="1" dirty="0" smtClean="0">
                <a:solidFill>
                  <a:srgbClr val="7030A0"/>
                </a:solidFill>
              </a:rPr>
              <a:t>BAKTERİLER</a:t>
            </a:r>
            <a:r>
              <a:rPr lang="tr-TR" sz="2800" b="1" dirty="0" smtClean="0"/>
              <a:t> ise </a:t>
            </a:r>
            <a:r>
              <a:rPr lang="sv-SE" sz="2800" b="1" dirty="0" smtClean="0"/>
              <a:t>hem DNA, hem de RNA birlikte</a:t>
            </a:r>
            <a:r>
              <a:rPr lang="tr-TR" sz="2800" b="1" dirty="0" smtClean="0"/>
              <a:t> bulunmaktadır</a:t>
            </a:r>
            <a:endParaRPr lang="tr-TR" sz="2800" b="1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251520" y="260648"/>
            <a:ext cx="8568952" cy="633670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tr-TR" sz="2800" b="1" dirty="0" smtClean="0">
                <a:solidFill>
                  <a:srgbClr val="FF0000"/>
                </a:solidFill>
              </a:rPr>
              <a:t>			</a:t>
            </a:r>
            <a:r>
              <a:rPr lang="tr-TR" sz="4000" b="1" dirty="0" smtClean="0">
                <a:solidFill>
                  <a:srgbClr val="FF0000"/>
                </a:solidFill>
              </a:rPr>
              <a:t>6-METABOLİK AKTİVİTE</a:t>
            </a:r>
            <a:endParaRPr lang="tr-TR" sz="4000" b="1" dirty="0" smtClean="0">
              <a:solidFill>
                <a:srgbClr val="00B050"/>
              </a:solidFill>
            </a:endParaRPr>
          </a:p>
          <a:p>
            <a:r>
              <a:rPr lang="tr-TR" sz="2800" b="1" dirty="0" smtClean="0">
                <a:solidFill>
                  <a:srgbClr val="00B050"/>
                </a:solidFill>
              </a:rPr>
              <a:t>VİRÜSLER</a:t>
            </a:r>
            <a:r>
              <a:rPr lang="tr-TR" sz="2800" b="1" dirty="0" smtClean="0"/>
              <a:t> </a:t>
            </a:r>
            <a:r>
              <a:rPr lang="tr-TR" sz="2800" b="1" dirty="0" err="1" smtClean="0"/>
              <a:t>metabolik</a:t>
            </a:r>
            <a:r>
              <a:rPr lang="tr-TR" sz="2800" b="1" dirty="0" smtClean="0"/>
              <a:t> aktivite bakımından tek başlarına, aktivitelerini sürdürecek enzimleri bulunmamaktadır</a:t>
            </a:r>
          </a:p>
          <a:p>
            <a:r>
              <a:rPr lang="tr-TR" sz="2800" b="1" dirty="0" smtClean="0">
                <a:solidFill>
                  <a:srgbClr val="FF0000"/>
                </a:solidFill>
              </a:rPr>
              <a:t>Bu yüzden yaşamlarını sürdürebilmeleri için mutlaka canlı bir hücreye ihtiyaçları bulunur</a:t>
            </a:r>
          </a:p>
          <a:p>
            <a:r>
              <a:rPr lang="tr-TR" sz="2800" b="1" dirty="0" smtClean="0"/>
              <a:t>Hayatlarını devam ettirebilmeleri için canlı hücrelerin </a:t>
            </a:r>
            <a:r>
              <a:rPr lang="tr-TR" sz="2800" b="1" dirty="0" err="1" smtClean="0"/>
              <a:t>metabolik</a:t>
            </a:r>
            <a:r>
              <a:rPr lang="tr-TR" sz="2800" b="1" dirty="0" smtClean="0"/>
              <a:t> sistemlerinden faydalanırlar</a:t>
            </a:r>
          </a:p>
          <a:p>
            <a:r>
              <a:rPr lang="tr-TR" sz="2800" b="1" dirty="0" smtClean="0">
                <a:solidFill>
                  <a:schemeClr val="accent6">
                    <a:lumMod val="50000"/>
                  </a:schemeClr>
                </a:solidFill>
              </a:rPr>
              <a:t>BAKTERİLERİN</a:t>
            </a:r>
            <a:r>
              <a:rPr lang="tr-TR" sz="2800" b="1" dirty="0" smtClean="0"/>
              <a:t> ve diğer mikroorganizmaların ise </a:t>
            </a:r>
            <a:r>
              <a:rPr lang="tr-TR" sz="2800" b="1" dirty="0" err="1" smtClean="0"/>
              <a:t>metabolik</a:t>
            </a:r>
            <a:r>
              <a:rPr lang="tr-TR" sz="2800" b="1" dirty="0" smtClean="0"/>
              <a:t> faaliyetlerini sürdürebilecekleri </a:t>
            </a:r>
            <a:r>
              <a:rPr lang="tr-TR" sz="2800" b="1" dirty="0" smtClean="0">
                <a:solidFill>
                  <a:srgbClr val="FF0000"/>
                </a:solidFill>
              </a:rPr>
              <a:t>enzimleri</a:t>
            </a:r>
            <a:r>
              <a:rPr lang="tr-TR" sz="2800" b="1" dirty="0" smtClean="0"/>
              <a:t> bulunur</a:t>
            </a:r>
          </a:p>
          <a:p>
            <a:r>
              <a:rPr lang="tr-TR" sz="2800" b="1" dirty="0" smtClean="0"/>
              <a:t>Bu yüzden bakteriler ve diğer mikroorganizmalar hücre dışında da canlı kalabilmektedirler</a:t>
            </a:r>
          </a:p>
          <a:p>
            <a:pPr>
              <a:buNone/>
            </a:pPr>
            <a:endParaRPr lang="tr-TR" sz="2800" b="1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b="1" dirty="0" smtClean="0">
                <a:solidFill>
                  <a:srgbClr val="FF0000"/>
                </a:solidFill>
              </a:rPr>
              <a:t>7-MİKROSKOPTA GÖRÜLEBİLME</a:t>
            </a:r>
            <a:endParaRPr lang="tr-TR" sz="4000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tr-TR" sz="2800" b="1" dirty="0" smtClean="0">
                <a:solidFill>
                  <a:srgbClr val="0070C0"/>
                </a:solidFill>
              </a:rPr>
              <a:t>VİRÜSLER</a:t>
            </a:r>
            <a:r>
              <a:rPr lang="tr-TR" sz="2800" b="1" dirty="0" smtClean="0"/>
              <a:t> çok küçük olmaları nedeniyle ışık mikroskobunda görülmeleri mümkün değildir</a:t>
            </a:r>
          </a:p>
          <a:p>
            <a:pPr>
              <a:buNone/>
            </a:pPr>
            <a:endParaRPr lang="tr-TR" sz="2800" b="1" dirty="0" smtClean="0"/>
          </a:p>
          <a:p>
            <a:r>
              <a:rPr lang="tr-TR" sz="2800" b="1" dirty="0" smtClean="0"/>
              <a:t>Ancak en büyük virüsler hücreler içerisinde noktacıklar şeklinde fark edilebilirler</a:t>
            </a:r>
          </a:p>
          <a:p>
            <a:pPr>
              <a:buNone/>
            </a:pPr>
            <a:endParaRPr lang="tr-TR" sz="2800" b="1" dirty="0" smtClean="0"/>
          </a:p>
          <a:p>
            <a:r>
              <a:rPr lang="tr-TR" sz="2800" b="1" dirty="0" smtClean="0"/>
              <a:t>Bu yüzden virüslerin incelenmesinde büyütme gücü daha </a:t>
            </a:r>
            <a:r>
              <a:rPr lang="fi-FI" sz="2800" b="1" dirty="0" smtClean="0"/>
              <a:t>fazla olan elektron mikroskobu kullanılır</a:t>
            </a:r>
            <a:r>
              <a:rPr lang="tr-TR" sz="2800" b="1" dirty="0" smtClean="0"/>
              <a:t>. </a:t>
            </a:r>
          </a:p>
          <a:p>
            <a:r>
              <a:rPr lang="tr-TR" sz="2800" b="1" dirty="0" smtClean="0"/>
              <a:t>Işık mikroskobu ile görülemezler</a:t>
            </a:r>
            <a:r>
              <a:rPr lang="tr-TR" sz="2800" dirty="0" smtClean="0"/>
              <a:t> </a:t>
            </a:r>
            <a:r>
              <a:rPr lang="tr-TR" sz="2800" dirty="0" smtClean="0">
                <a:solidFill>
                  <a:srgbClr val="FF0000"/>
                </a:solidFill>
              </a:rPr>
              <a:t>(</a:t>
            </a:r>
            <a:r>
              <a:rPr lang="tr-TR" sz="2800" dirty="0" err="1" smtClean="0">
                <a:solidFill>
                  <a:srgbClr val="FF0000"/>
                </a:solidFill>
              </a:rPr>
              <a:t>Pox</a:t>
            </a:r>
            <a:r>
              <a:rPr lang="tr-TR" sz="2800" dirty="0" smtClean="0">
                <a:solidFill>
                  <a:srgbClr val="FF0000"/>
                </a:solidFill>
              </a:rPr>
              <a:t> </a:t>
            </a:r>
            <a:r>
              <a:rPr lang="tr-TR" sz="2800" dirty="0" err="1" smtClean="0">
                <a:solidFill>
                  <a:srgbClr val="FF0000"/>
                </a:solidFill>
              </a:rPr>
              <a:t>virus</a:t>
            </a:r>
            <a:r>
              <a:rPr lang="tr-TR" sz="2800" dirty="0" smtClean="0">
                <a:solidFill>
                  <a:srgbClr val="FF0000"/>
                </a:solidFill>
              </a:rPr>
              <a:t> hariç)</a:t>
            </a:r>
            <a:endParaRPr lang="tr-TR" sz="2800" b="1" dirty="0" smtClean="0">
              <a:solidFill>
                <a:srgbClr val="FF0000"/>
              </a:solidFill>
            </a:endParaRPr>
          </a:p>
          <a:p>
            <a:pPr>
              <a:buNone/>
            </a:pPr>
            <a:endParaRPr lang="fi-FI" sz="2800" b="1" dirty="0" smtClean="0"/>
          </a:p>
          <a:p>
            <a:r>
              <a:rPr lang="tr-TR" sz="2800" b="1" dirty="0" smtClean="0">
                <a:solidFill>
                  <a:schemeClr val="accent6">
                    <a:lumMod val="50000"/>
                  </a:schemeClr>
                </a:solidFill>
              </a:rPr>
              <a:t>BAKTERİLER</a:t>
            </a:r>
            <a:r>
              <a:rPr lang="tr-TR" sz="2800" b="1" dirty="0" smtClean="0"/>
              <a:t> ve diğer mikroorganizmalar ise ışık mikroskobu ile görülebilirler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/>
              <a:t/>
            </a:r>
            <a:br>
              <a:rPr lang="tr-TR" b="1" dirty="0" smtClean="0"/>
            </a:br>
            <a:r>
              <a:rPr lang="tr-TR" b="1" dirty="0" smtClean="0">
                <a:solidFill>
                  <a:srgbClr val="FF0000"/>
                </a:solidFill>
              </a:rPr>
              <a:t>8-FİLTRELERDEN GEÇEBİLME</a:t>
            </a:r>
            <a:br>
              <a:rPr lang="tr-TR" b="1" dirty="0" smtClean="0">
                <a:solidFill>
                  <a:srgbClr val="FF0000"/>
                </a:solidFill>
              </a:rPr>
            </a:b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800" b="1" dirty="0" err="1" smtClean="0"/>
              <a:t>Viruslar</a:t>
            </a:r>
            <a:r>
              <a:rPr lang="tr-TR" sz="2800" b="1" dirty="0" smtClean="0"/>
              <a:t> yapısal olarak bakterilerden daha küçük oldukları için bakterilerin geçemedikleri filtre sistemlerinden geçerler</a:t>
            </a:r>
          </a:p>
          <a:p>
            <a:pPr>
              <a:buNone/>
            </a:pPr>
            <a:endParaRPr lang="tr-TR" sz="2800" b="1" dirty="0" smtClean="0"/>
          </a:p>
          <a:p>
            <a:r>
              <a:rPr lang="tr-TR" sz="2800" b="1" dirty="0" smtClean="0"/>
              <a:t>220 </a:t>
            </a:r>
            <a:r>
              <a:rPr lang="tr-TR" sz="2800" b="1" dirty="0" err="1" smtClean="0"/>
              <a:t>nm</a:t>
            </a:r>
            <a:r>
              <a:rPr lang="tr-TR" sz="2800" b="1" dirty="0" smtClean="0"/>
              <a:t> </a:t>
            </a:r>
            <a:r>
              <a:rPr lang="tr-TR" sz="2800" b="1" dirty="0" err="1" smtClean="0"/>
              <a:t>porlara</a:t>
            </a:r>
            <a:r>
              <a:rPr lang="tr-TR" sz="2800" b="1" dirty="0" smtClean="0"/>
              <a:t> sahip filtreler kullanılır</a:t>
            </a:r>
          </a:p>
          <a:p>
            <a:pPr>
              <a:buNone/>
            </a:pPr>
            <a:endParaRPr lang="tr-TR" sz="2800" b="1" dirty="0" smtClean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b="1" dirty="0" smtClean="0">
                <a:solidFill>
                  <a:srgbClr val="FF0000"/>
                </a:solidFill>
              </a:rPr>
              <a:t>9-ANTİBİYOTİK DUYARLILIĞI</a:t>
            </a:r>
            <a:endParaRPr lang="tr-TR" sz="4000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sz="2800" b="1" dirty="0" smtClean="0">
                <a:solidFill>
                  <a:srgbClr val="7030A0"/>
                </a:solidFill>
              </a:rPr>
              <a:t>VİRUSLAR</a:t>
            </a:r>
            <a:r>
              <a:rPr lang="tr-TR" sz="2800" b="1" dirty="0" smtClean="0"/>
              <a:t> antibiyotiklerden etkilenmezler</a:t>
            </a:r>
          </a:p>
          <a:p>
            <a:r>
              <a:rPr lang="tr-TR" sz="2800" b="1" dirty="0" smtClean="0"/>
              <a:t>Bu nedenle </a:t>
            </a:r>
            <a:r>
              <a:rPr lang="tr-TR" sz="2800" b="1" dirty="0" err="1" smtClean="0"/>
              <a:t>viral</a:t>
            </a:r>
            <a:r>
              <a:rPr lang="tr-TR" sz="2800" b="1" dirty="0" smtClean="0"/>
              <a:t> enfeksiyonların tedavisinde antibiyotikler kullanılmaz</a:t>
            </a:r>
          </a:p>
          <a:p>
            <a:r>
              <a:rPr lang="tr-TR" sz="2800" b="1" dirty="0" err="1" smtClean="0"/>
              <a:t>Nükleosid</a:t>
            </a:r>
            <a:r>
              <a:rPr lang="tr-TR" sz="2800" b="1" dirty="0" smtClean="0"/>
              <a:t> </a:t>
            </a:r>
            <a:r>
              <a:rPr lang="tr-TR" sz="2800" b="1" dirty="0" err="1" smtClean="0"/>
              <a:t>analogları</a:t>
            </a:r>
            <a:r>
              <a:rPr lang="tr-TR" sz="2800" b="1" dirty="0" smtClean="0"/>
              <a:t> ve interferonlar tercih edilmektedir</a:t>
            </a:r>
          </a:p>
          <a:p>
            <a:pPr>
              <a:buNone/>
            </a:pPr>
            <a:endParaRPr lang="tr-TR" sz="2800" b="1" dirty="0" smtClean="0"/>
          </a:p>
          <a:p>
            <a:r>
              <a:rPr lang="tr-TR" sz="2800" b="1" dirty="0" smtClean="0">
                <a:solidFill>
                  <a:srgbClr val="7030A0"/>
                </a:solidFill>
              </a:rPr>
              <a:t>BAKTERİLER</a:t>
            </a:r>
            <a:r>
              <a:rPr lang="tr-TR" sz="2800" b="1" dirty="0" smtClean="0"/>
              <a:t> antibiyotiklerden etkilenirler</a:t>
            </a:r>
          </a:p>
          <a:p>
            <a:r>
              <a:rPr lang="tr-TR" sz="2800" b="1" dirty="0" smtClean="0"/>
              <a:t>Antibiyotikler</a:t>
            </a:r>
            <a:r>
              <a:rPr lang="tr-TR" sz="2800" b="1" dirty="0" smtClean="0">
                <a:solidFill>
                  <a:schemeClr val="accent6">
                    <a:lumMod val="50000"/>
                  </a:schemeClr>
                </a:solidFill>
              </a:rPr>
              <a:t> BAKTERİLERİN </a:t>
            </a:r>
            <a:r>
              <a:rPr lang="tr-TR" sz="2800" b="1" dirty="0" smtClean="0"/>
              <a:t>üzerine onları öldürerek ya da üremesini yavaşlatarak veya durdurarak etki ederler</a:t>
            </a:r>
            <a:endParaRPr lang="tr-TR" sz="2800" b="1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b="1" dirty="0" smtClean="0">
                <a:solidFill>
                  <a:srgbClr val="FF0000"/>
                </a:solidFill>
              </a:rPr>
              <a:t>10-İNTERFERON DUYARLILIĞI</a:t>
            </a:r>
            <a:endParaRPr lang="tr-TR" sz="4000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tr-TR" sz="2400" b="1" dirty="0" err="1" smtClean="0"/>
              <a:t>Interferonlar</a:t>
            </a:r>
            <a:r>
              <a:rPr lang="tr-TR" sz="2400" b="1" dirty="0" smtClean="0"/>
              <a:t> doğal proteinlerdir</a:t>
            </a:r>
          </a:p>
          <a:p>
            <a:r>
              <a:rPr lang="tr-TR" sz="2400" b="1" dirty="0" err="1" smtClean="0"/>
              <a:t>Virus</a:t>
            </a:r>
            <a:r>
              <a:rPr lang="tr-TR" sz="2400" b="1" dirty="0" smtClean="0"/>
              <a:t>, bakteri,parazit ve tümör hücrelerine karşı             </a:t>
            </a:r>
            <a:r>
              <a:rPr lang="tr-TR" sz="2400" b="1" dirty="0" err="1" smtClean="0"/>
              <a:t>immun</a:t>
            </a:r>
            <a:r>
              <a:rPr lang="tr-TR" sz="2400" b="1" dirty="0" smtClean="0"/>
              <a:t> sistem hücreleri tarafından oluşturulur</a:t>
            </a:r>
          </a:p>
          <a:p>
            <a:r>
              <a:rPr lang="tr-TR" sz="2400" b="1" dirty="0" err="1" smtClean="0"/>
              <a:t>Sitokinler</a:t>
            </a:r>
            <a:r>
              <a:rPr lang="tr-TR" sz="2400" b="1" dirty="0" smtClean="0"/>
              <a:t> olarak bilinen </a:t>
            </a:r>
            <a:r>
              <a:rPr lang="tr-TR" sz="2400" b="1" dirty="0" err="1" smtClean="0"/>
              <a:t>glikoprotein</a:t>
            </a:r>
            <a:r>
              <a:rPr lang="tr-TR" sz="2400" b="1" dirty="0" smtClean="0"/>
              <a:t> ailesi içinde yer almaktadırlar</a:t>
            </a:r>
          </a:p>
          <a:p>
            <a:r>
              <a:rPr lang="tr-TR" sz="2400" b="1" dirty="0" err="1" smtClean="0"/>
              <a:t>Interferonların</a:t>
            </a:r>
            <a:r>
              <a:rPr lang="tr-TR" sz="2400" b="1" dirty="0" smtClean="0"/>
              <a:t> </a:t>
            </a:r>
            <a:r>
              <a:rPr lang="tr-TR" sz="2400" b="1" dirty="0" err="1" smtClean="0"/>
              <a:t>antiviral</a:t>
            </a:r>
            <a:r>
              <a:rPr lang="tr-TR" sz="2400" b="1" dirty="0" smtClean="0"/>
              <a:t>, </a:t>
            </a:r>
            <a:r>
              <a:rPr lang="tr-TR" sz="2400" b="1" dirty="0" err="1" smtClean="0"/>
              <a:t>antitümoral</a:t>
            </a:r>
            <a:r>
              <a:rPr lang="tr-TR" sz="2400" b="1" dirty="0" smtClean="0"/>
              <a:t> ve </a:t>
            </a:r>
            <a:r>
              <a:rPr lang="tr-TR" sz="2400" b="1" dirty="0" err="1" smtClean="0"/>
              <a:t>immunomodülatör</a:t>
            </a:r>
            <a:r>
              <a:rPr lang="tr-TR" sz="2400" b="1" dirty="0" smtClean="0"/>
              <a:t> olmak üzere 3 temel etkisi vardır</a:t>
            </a:r>
          </a:p>
          <a:p>
            <a:r>
              <a:rPr lang="tr-TR" sz="2400" b="1" dirty="0" smtClean="0">
                <a:solidFill>
                  <a:srgbClr val="FF0000"/>
                </a:solidFill>
              </a:rPr>
              <a:t>VİRUSLARIN </a:t>
            </a:r>
            <a:r>
              <a:rPr lang="tr-TR" sz="2400" b="1" dirty="0" smtClean="0">
                <a:solidFill>
                  <a:srgbClr val="0070C0"/>
                </a:solidFill>
              </a:rPr>
              <a:t>çoğalması interferonlar tarafından in </a:t>
            </a:r>
            <a:r>
              <a:rPr lang="tr-TR" sz="2400" b="1" dirty="0" err="1" smtClean="0">
                <a:solidFill>
                  <a:srgbClr val="0070C0"/>
                </a:solidFill>
              </a:rPr>
              <a:t>vitro</a:t>
            </a:r>
            <a:r>
              <a:rPr lang="tr-TR" sz="2400" b="1" dirty="0" smtClean="0">
                <a:solidFill>
                  <a:srgbClr val="0070C0"/>
                </a:solidFill>
              </a:rPr>
              <a:t> ve     in </a:t>
            </a:r>
            <a:r>
              <a:rPr lang="tr-TR" sz="2400" b="1" dirty="0" err="1" smtClean="0">
                <a:solidFill>
                  <a:srgbClr val="0070C0"/>
                </a:solidFill>
              </a:rPr>
              <a:t>vivo</a:t>
            </a:r>
            <a:r>
              <a:rPr lang="tr-TR" sz="2400" b="1" dirty="0" smtClean="0">
                <a:solidFill>
                  <a:srgbClr val="0070C0"/>
                </a:solidFill>
              </a:rPr>
              <a:t> olarak durdurulabilir. Bu nedenle </a:t>
            </a:r>
            <a:r>
              <a:rPr lang="tr-TR" sz="2400" b="1" dirty="0" err="1" smtClean="0">
                <a:solidFill>
                  <a:srgbClr val="0070C0"/>
                </a:solidFill>
              </a:rPr>
              <a:t>viral</a:t>
            </a:r>
            <a:r>
              <a:rPr lang="tr-TR" sz="2400" b="1" dirty="0" smtClean="0">
                <a:solidFill>
                  <a:srgbClr val="0070C0"/>
                </a:solidFill>
              </a:rPr>
              <a:t> enfeksiyonların tedavisinde kullanılırlar</a:t>
            </a:r>
          </a:p>
          <a:p>
            <a:r>
              <a:rPr lang="tr-TR" sz="2400" b="1" dirty="0" smtClean="0">
                <a:solidFill>
                  <a:srgbClr val="FF0000"/>
                </a:solidFill>
              </a:rPr>
              <a:t>BAKTERİLER</a:t>
            </a:r>
            <a:r>
              <a:rPr lang="tr-TR" sz="2400" b="1" dirty="0" smtClean="0"/>
              <a:t>  </a:t>
            </a:r>
            <a:r>
              <a:rPr lang="tr-TR" sz="2400" b="1" dirty="0" err="1" smtClean="0"/>
              <a:t>interferonlar’dan</a:t>
            </a:r>
            <a:r>
              <a:rPr lang="tr-TR" sz="2400" b="1" dirty="0" smtClean="0"/>
              <a:t> etkilenmezler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b="1" dirty="0" smtClean="0">
                <a:solidFill>
                  <a:srgbClr val="FF0000"/>
                </a:solidFill>
              </a:rPr>
              <a:t>11-HÜCRE ORGANELLERİ AÇISINDAN</a:t>
            </a:r>
            <a:endParaRPr lang="tr-TR" sz="4000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b="1" dirty="0" smtClean="0"/>
              <a:t>Bakterilerde ve diğer mikroorganizmalarda ribozom var</a:t>
            </a:r>
          </a:p>
          <a:p>
            <a:pPr>
              <a:buNone/>
            </a:pPr>
            <a:endParaRPr lang="tr-TR" b="1" dirty="0" smtClean="0"/>
          </a:p>
          <a:p>
            <a:r>
              <a:rPr lang="tr-TR" b="1" dirty="0" err="1" smtClean="0"/>
              <a:t>Ökaryotik</a:t>
            </a:r>
            <a:r>
              <a:rPr lang="tr-TR" b="1" dirty="0" smtClean="0"/>
              <a:t> mikroorganizmalarda ise ribozom, </a:t>
            </a:r>
            <a:r>
              <a:rPr lang="tr-TR" b="1" dirty="0" err="1" smtClean="0"/>
              <a:t>endoplazmik</a:t>
            </a:r>
            <a:r>
              <a:rPr lang="tr-TR" b="1" dirty="0" smtClean="0"/>
              <a:t> </a:t>
            </a:r>
            <a:r>
              <a:rPr lang="tr-TR" b="1" dirty="0" err="1" smtClean="0"/>
              <a:t>retikulum</a:t>
            </a:r>
            <a:r>
              <a:rPr lang="tr-TR" b="1" dirty="0" smtClean="0"/>
              <a:t>, mitokondri, </a:t>
            </a:r>
            <a:r>
              <a:rPr lang="tr-TR" b="1" dirty="0" err="1" smtClean="0"/>
              <a:t>golgi</a:t>
            </a:r>
            <a:r>
              <a:rPr lang="tr-TR" b="1" dirty="0" smtClean="0"/>
              <a:t> aygıtı gibi hücre </a:t>
            </a:r>
            <a:r>
              <a:rPr lang="tr-TR" b="1" dirty="0" err="1" smtClean="0"/>
              <a:t>organelleri</a:t>
            </a:r>
            <a:r>
              <a:rPr lang="tr-TR" b="1" dirty="0" smtClean="0"/>
              <a:t> var</a:t>
            </a:r>
          </a:p>
          <a:p>
            <a:pPr>
              <a:buNone/>
            </a:pPr>
            <a:endParaRPr lang="tr-TR" b="1" dirty="0" smtClean="0"/>
          </a:p>
          <a:p>
            <a:r>
              <a:rPr lang="tr-TR" b="1" dirty="0" smtClean="0"/>
              <a:t>Virüslerde bu </a:t>
            </a:r>
            <a:r>
              <a:rPr lang="tr-TR" b="1" dirty="0" err="1" smtClean="0"/>
              <a:t>organellerden</a:t>
            </a:r>
            <a:r>
              <a:rPr lang="tr-TR" b="1" dirty="0" smtClean="0"/>
              <a:t> hiçbirisi bulunmaz</a:t>
            </a:r>
            <a:endParaRPr lang="tr-TR" b="1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b="1" dirty="0" smtClean="0">
                <a:solidFill>
                  <a:srgbClr val="FF0000"/>
                </a:solidFill>
              </a:rPr>
              <a:t>VİRİON NEDİR?</a:t>
            </a:r>
            <a:endParaRPr lang="tr-TR" sz="4000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800" b="1" dirty="0" err="1" smtClean="0"/>
              <a:t>İnfektif</a:t>
            </a:r>
            <a:r>
              <a:rPr lang="tr-TR" sz="2800" b="1" dirty="0" smtClean="0"/>
              <a:t> özelliğe sahip komple virüs partikülüne </a:t>
            </a:r>
            <a:r>
              <a:rPr lang="tr-TR" sz="2800" b="1" dirty="0" err="1" smtClean="0"/>
              <a:t>virion</a:t>
            </a:r>
            <a:r>
              <a:rPr lang="tr-TR" sz="2800" b="1" dirty="0" smtClean="0"/>
              <a:t> denir</a:t>
            </a:r>
          </a:p>
          <a:p>
            <a:r>
              <a:rPr lang="tr-TR" sz="2800" b="1" dirty="0" smtClean="0"/>
              <a:t>Bir diğer anlamı Olgun </a:t>
            </a:r>
            <a:r>
              <a:rPr lang="tr-TR" sz="2800" b="1" dirty="0" err="1" smtClean="0"/>
              <a:t>virus</a:t>
            </a:r>
            <a:r>
              <a:rPr lang="tr-TR" sz="2800" b="1" dirty="0" smtClean="0"/>
              <a:t> partikülü demektir</a:t>
            </a:r>
          </a:p>
          <a:p>
            <a:endParaRPr lang="tr-TR" sz="2800" b="1" dirty="0" smtClean="0"/>
          </a:p>
          <a:p>
            <a:pPr lvl="1"/>
            <a:r>
              <a:rPr lang="tr-TR" sz="2400" b="1" dirty="0" err="1" smtClean="0">
                <a:solidFill>
                  <a:srgbClr val="7030A0"/>
                </a:solidFill>
              </a:rPr>
              <a:t>Virus</a:t>
            </a:r>
            <a:r>
              <a:rPr lang="tr-TR" sz="2400" b="1" dirty="0" smtClean="0">
                <a:solidFill>
                  <a:srgbClr val="7030A0"/>
                </a:solidFill>
              </a:rPr>
              <a:t> partikülünün </a:t>
            </a:r>
            <a:r>
              <a:rPr lang="tr-TR" sz="2400" b="1" dirty="0" err="1" smtClean="0">
                <a:solidFill>
                  <a:srgbClr val="7030A0"/>
                </a:solidFill>
              </a:rPr>
              <a:t>enfektif</a:t>
            </a:r>
            <a:r>
              <a:rPr lang="tr-TR" sz="2400" b="1" dirty="0" smtClean="0">
                <a:solidFill>
                  <a:srgbClr val="7030A0"/>
                </a:solidFill>
              </a:rPr>
              <a:t> özellik kazandığı bölümü</a:t>
            </a:r>
          </a:p>
          <a:p>
            <a:pPr lvl="1"/>
            <a:r>
              <a:rPr lang="tr-TR" sz="2400" b="1" dirty="0" smtClean="0">
                <a:solidFill>
                  <a:srgbClr val="7030A0"/>
                </a:solidFill>
              </a:rPr>
              <a:t>Yapısal olarak olgun ve </a:t>
            </a:r>
            <a:r>
              <a:rPr lang="tr-TR" sz="2400" b="1" dirty="0" err="1" smtClean="0">
                <a:solidFill>
                  <a:srgbClr val="7030A0"/>
                </a:solidFill>
              </a:rPr>
              <a:t>extraselüler</a:t>
            </a:r>
            <a:r>
              <a:rPr lang="tr-TR" sz="2400" b="1" dirty="0" smtClean="0">
                <a:solidFill>
                  <a:srgbClr val="7030A0"/>
                </a:solidFill>
              </a:rPr>
              <a:t> </a:t>
            </a:r>
            <a:r>
              <a:rPr lang="tr-TR" sz="2400" b="1" dirty="0" err="1" smtClean="0">
                <a:solidFill>
                  <a:srgbClr val="7030A0"/>
                </a:solidFill>
              </a:rPr>
              <a:t>virus</a:t>
            </a:r>
            <a:r>
              <a:rPr lang="tr-TR" sz="2400" b="1" dirty="0" smtClean="0">
                <a:solidFill>
                  <a:srgbClr val="7030A0"/>
                </a:solidFill>
              </a:rPr>
              <a:t> partikülü olarak kabul edilir</a:t>
            </a:r>
          </a:p>
          <a:p>
            <a:endParaRPr lang="tr-TR" sz="2800" b="1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332656"/>
            <a:ext cx="8424936" cy="6192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VİRUS YAPISI İLE İLGİLİ KAVRAMLAR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/>
              <a:t>1-KAPSİD</a:t>
            </a:r>
          </a:p>
          <a:p>
            <a:r>
              <a:rPr lang="tr-TR" b="1" dirty="0" smtClean="0"/>
              <a:t>2-KAPSOMER</a:t>
            </a:r>
          </a:p>
          <a:p>
            <a:r>
              <a:rPr lang="tr-TR" b="1" dirty="0" smtClean="0"/>
              <a:t>3-ZARF</a:t>
            </a:r>
          </a:p>
          <a:p>
            <a:r>
              <a:rPr lang="tr-TR" b="1" dirty="0" smtClean="0"/>
              <a:t>4-TEGUMENT</a:t>
            </a:r>
          </a:p>
          <a:p>
            <a:r>
              <a:rPr lang="tr-TR" b="1" dirty="0" smtClean="0"/>
              <a:t>5-GLİKOPROTEİNLER  (PEPLOMER)</a:t>
            </a:r>
            <a:endParaRPr lang="tr-TR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467544" y="332656"/>
            <a:ext cx="8352928" cy="626469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tr-TR" dirty="0" smtClean="0"/>
              <a:t>		</a:t>
            </a:r>
            <a:r>
              <a:rPr lang="tr-TR" sz="4000" b="1" dirty="0" smtClean="0"/>
              <a:t>	           </a:t>
            </a:r>
            <a:r>
              <a:rPr lang="tr-TR" sz="4000" b="1" dirty="0" smtClean="0">
                <a:solidFill>
                  <a:srgbClr val="FF0000"/>
                </a:solidFill>
              </a:rPr>
              <a:t>KAPSİT</a:t>
            </a:r>
          </a:p>
          <a:p>
            <a:pPr>
              <a:buNone/>
            </a:pPr>
            <a:r>
              <a:rPr lang="tr-TR" sz="3000" b="1" dirty="0" smtClean="0"/>
              <a:t>	Virüsün  </a:t>
            </a:r>
            <a:r>
              <a:rPr lang="tr-TR" sz="3000" b="1" dirty="0" smtClean="0">
                <a:solidFill>
                  <a:srgbClr val="FF0000"/>
                </a:solidFill>
              </a:rPr>
              <a:t>GENETİK MATERYALİNİ </a:t>
            </a:r>
            <a:r>
              <a:rPr lang="tr-TR" sz="3000" b="1" dirty="0" smtClean="0"/>
              <a:t>saran ve onu koruyan </a:t>
            </a:r>
            <a:r>
              <a:rPr lang="tr-TR" sz="3000" b="1" dirty="0" smtClean="0">
                <a:solidFill>
                  <a:srgbClr val="0070C0"/>
                </a:solidFill>
              </a:rPr>
              <a:t>PROTEİN YAPISINDAKİ  </a:t>
            </a:r>
            <a:r>
              <a:rPr lang="tr-TR" sz="3000" b="1" dirty="0" smtClean="0"/>
              <a:t>kılıfa verilen isim</a:t>
            </a:r>
          </a:p>
          <a:p>
            <a:pPr>
              <a:buNone/>
            </a:pPr>
            <a:r>
              <a:rPr lang="tr-TR" sz="2400" b="1" dirty="0" smtClean="0">
                <a:solidFill>
                  <a:srgbClr val="FF0000"/>
                </a:solidFill>
              </a:rPr>
              <a:t>veya</a:t>
            </a:r>
            <a:r>
              <a:rPr lang="tr-TR" sz="3000" b="1" dirty="0" smtClean="0">
                <a:solidFill>
                  <a:srgbClr val="FF0000"/>
                </a:solidFill>
              </a:rPr>
              <a:t> </a:t>
            </a:r>
            <a:r>
              <a:rPr lang="tr-TR" sz="3000" b="1" dirty="0" err="1" smtClean="0">
                <a:solidFill>
                  <a:srgbClr val="FF0000"/>
                </a:solidFill>
              </a:rPr>
              <a:t>Nükleik</a:t>
            </a:r>
            <a:r>
              <a:rPr lang="tr-TR" sz="3000" b="1" dirty="0" smtClean="0">
                <a:solidFill>
                  <a:srgbClr val="FF0000"/>
                </a:solidFill>
              </a:rPr>
              <a:t> </a:t>
            </a:r>
            <a:r>
              <a:rPr lang="tr-TR" sz="3000" b="1" dirty="0" err="1" smtClean="0">
                <a:solidFill>
                  <a:srgbClr val="FF0000"/>
                </a:solidFill>
              </a:rPr>
              <a:t>asiti</a:t>
            </a:r>
            <a:r>
              <a:rPr lang="tr-TR" sz="3000" b="1" dirty="0" smtClean="0">
                <a:solidFill>
                  <a:srgbClr val="FF0000"/>
                </a:solidFill>
              </a:rPr>
              <a:t> saran protein tabakaya verilen </a:t>
            </a:r>
            <a:r>
              <a:rPr lang="tr-TR" sz="2400" b="1" dirty="0" smtClean="0">
                <a:solidFill>
                  <a:srgbClr val="FF0000"/>
                </a:solidFill>
              </a:rPr>
              <a:t>isim</a:t>
            </a:r>
          </a:p>
          <a:p>
            <a:pPr>
              <a:buNone/>
            </a:pPr>
            <a:r>
              <a:rPr lang="tr-TR" sz="3000" b="1" dirty="0" smtClean="0"/>
              <a:t>	Virüse karakteristik şeklini verir</a:t>
            </a:r>
          </a:p>
          <a:p>
            <a:pPr>
              <a:buNone/>
            </a:pPr>
            <a:endParaRPr lang="tr-TR" sz="3000" b="1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tr-TR" sz="3000" b="1" dirty="0" smtClean="0">
                <a:solidFill>
                  <a:srgbClr val="FF0000"/>
                </a:solidFill>
              </a:rPr>
              <a:t>			</a:t>
            </a:r>
            <a:endParaRPr lang="tr-TR" sz="3000" b="1" dirty="0"/>
          </a:p>
        </p:txBody>
      </p:sp>
      <p:pic>
        <p:nvPicPr>
          <p:cNvPr id="6" name="Picture 2" descr="C:\Users\tijen\Desktop\1.jpe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648" y="3356992"/>
            <a:ext cx="6624736" cy="32403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NÜKLEOKAPSİD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/>
          <a:lstStyle/>
          <a:p>
            <a:pPr algn="ctr"/>
            <a:r>
              <a:rPr lang="tr-TR" b="1" dirty="0" err="1" smtClean="0"/>
              <a:t>Virusun</a:t>
            </a:r>
            <a:r>
              <a:rPr lang="tr-TR" b="1" dirty="0" smtClean="0"/>
              <a:t> yapısında </a:t>
            </a:r>
          </a:p>
          <a:p>
            <a:pPr algn="ctr">
              <a:buNone/>
            </a:pPr>
            <a:r>
              <a:rPr lang="tr-TR" b="1" dirty="0" smtClean="0"/>
              <a:t>        </a:t>
            </a:r>
            <a:r>
              <a:rPr lang="tr-TR" b="1" dirty="0" err="1" smtClean="0"/>
              <a:t>Nükleik</a:t>
            </a:r>
            <a:r>
              <a:rPr lang="tr-TR" b="1" dirty="0" smtClean="0"/>
              <a:t> asit ve </a:t>
            </a:r>
            <a:r>
              <a:rPr lang="tr-TR" b="1" dirty="0" err="1" smtClean="0"/>
              <a:t>kapsit</a:t>
            </a:r>
            <a:r>
              <a:rPr lang="tr-TR" b="1" dirty="0" smtClean="0"/>
              <a:t> önemlidir</a:t>
            </a:r>
          </a:p>
          <a:p>
            <a:pPr>
              <a:buNone/>
            </a:pPr>
            <a:r>
              <a:rPr lang="tr-TR" b="1" dirty="0" smtClean="0">
                <a:solidFill>
                  <a:srgbClr val="FF0000"/>
                </a:solidFill>
              </a:rPr>
              <a:t>Bu temel yapı </a:t>
            </a:r>
          </a:p>
          <a:p>
            <a:r>
              <a:rPr lang="tr-TR" b="1" dirty="0" smtClean="0"/>
              <a:t>“</a:t>
            </a:r>
            <a:r>
              <a:rPr lang="tr-TR" b="1" dirty="0" err="1" smtClean="0"/>
              <a:t>nükleokapsid</a:t>
            </a:r>
            <a:r>
              <a:rPr lang="tr-TR" b="1" dirty="0" smtClean="0"/>
              <a:t>”    olarak tanımlanır.</a:t>
            </a:r>
          </a:p>
          <a:p>
            <a:r>
              <a:rPr lang="tr-TR" b="1" dirty="0" err="1" smtClean="0"/>
              <a:t>Nükleokapsid</a:t>
            </a:r>
            <a:r>
              <a:rPr lang="tr-TR" b="1" dirty="0" smtClean="0"/>
              <a:t>= </a:t>
            </a:r>
            <a:r>
              <a:rPr lang="tr-TR" b="1" dirty="0" err="1" smtClean="0"/>
              <a:t>Nükleik</a:t>
            </a:r>
            <a:r>
              <a:rPr lang="tr-TR" b="1" dirty="0" smtClean="0"/>
              <a:t> Asit+ </a:t>
            </a:r>
            <a:r>
              <a:rPr lang="tr-TR" b="1" dirty="0" err="1" smtClean="0"/>
              <a:t>Kapsid</a:t>
            </a:r>
            <a:endParaRPr lang="tr-TR" dirty="0"/>
          </a:p>
        </p:txBody>
      </p:sp>
      <p:pic>
        <p:nvPicPr>
          <p:cNvPr id="4" name="Picture 2" descr="C:\Users\Pc\Desktop\imagesHJ0W6O4D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4581128"/>
            <a:ext cx="3456384" cy="208823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user\Desktop\Non-enveloped-and-enveloped-viruses-a-simple-schematic-diagram-illustrating-the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3140968"/>
            <a:ext cx="4827521" cy="3383631"/>
          </a:xfrm>
          <a:prstGeom prst="rect">
            <a:avLst/>
          </a:prstGeom>
          <a:noFill/>
        </p:spPr>
      </p:pic>
      <p:pic>
        <p:nvPicPr>
          <p:cNvPr id="3" name="Picture 2" descr="C:\Users\user\Desktop\difference-between-capsid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260648"/>
            <a:ext cx="4335063" cy="2952328"/>
          </a:xfrm>
          <a:prstGeom prst="rect">
            <a:avLst/>
          </a:prstGeom>
          <a:noFill/>
        </p:spPr>
      </p:pic>
      <p:pic>
        <p:nvPicPr>
          <p:cNvPr id="5" name="Picture 2" descr="C:\Users\tijen\Desktop\220px-Helical_capsid_with_RNA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92080" y="548680"/>
            <a:ext cx="3384376" cy="234302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b="1" dirty="0" smtClean="0">
                <a:solidFill>
                  <a:srgbClr val="FF0000"/>
                </a:solidFill>
              </a:rPr>
              <a:t>KAPSİDİN GÖREVİ NEDİR?</a:t>
            </a:r>
            <a:endParaRPr lang="tr-TR" sz="4000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5184576"/>
          </a:xfrm>
        </p:spPr>
        <p:txBody>
          <a:bodyPr>
            <a:normAutofit lnSpcReduction="10000"/>
          </a:bodyPr>
          <a:lstStyle/>
          <a:p>
            <a:r>
              <a:rPr lang="tr-TR" sz="2800" b="1" dirty="0" smtClean="0"/>
              <a:t>1-</a:t>
            </a:r>
            <a:r>
              <a:rPr lang="tr-TR" sz="2800" b="1" dirty="0" err="1" smtClean="0"/>
              <a:t>Viral</a:t>
            </a:r>
            <a:r>
              <a:rPr lang="tr-TR" sz="2800" b="1" dirty="0" smtClean="0"/>
              <a:t> </a:t>
            </a:r>
            <a:r>
              <a:rPr lang="tr-TR" sz="2800" b="1" dirty="0" err="1" smtClean="0"/>
              <a:t>nükleik</a:t>
            </a:r>
            <a:r>
              <a:rPr lang="tr-TR" sz="2800" b="1" dirty="0" smtClean="0"/>
              <a:t> asidi çepeçevre sararak dış etkilerden ve </a:t>
            </a:r>
            <a:r>
              <a:rPr lang="tr-TR" sz="2800" b="1" dirty="0" err="1" smtClean="0"/>
              <a:t>nükleazlardan</a:t>
            </a:r>
            <a:r>
              <a:rPr lang="tr-TR" sz="2800" b="1" dirty="0" smtClean="0"/>
              <a:t> korur</a:t>
            </a:r>
          </a:p>
          <a:p>
            <a:r>
              <a:rPr lang="tr-TR" sz="2800" b="1" dirty="0" smtClean="0"/>
              <a:t>2-</a:t>
            </a:r>
            <a:r>
              <a:rPr lang="tr-TR" sz="2800" b="1" dirty="0" err="1" smtClean="0"/>
              <a:t>Viral</a:t>
            </a:r>
            <a:r>
              <a:rPr lang="tr-TR" sz="2800" b="1" dirty="0" smtClean="0"/>
              <a:t> enfeksiyonlara katılmak</a:t>
            </a:r>
          </a:p>
          <a:p>
            <a:r>
              <a:rPr lang="tr-TR" sz="2800" b="1" dirty="0" smtClean="0"/>
              <a:t>3-</a:t>
            </a:r>
            <a:r>
              <a:rPr lang="tr-TR" sz="2800" b="1" dirty="0" err="1" smtClean="0"/>
              <a:t>Viral</a:t>
            </a:r>
            <a:r>
              <a:rPr lang="tr-TR" sz="2800" b="1" dirty="0" smtClean="0"/>
              <a:t> </a:t>
            </a:r>
            <a:r>
              <a:rPr lang="tr-TR" sz="2800" b="1" dirty="0" err="1" smtClean="0"/>
              <a:t>nükleik</a:t>
            </a:r>
            <a:r>
              <a:rPr lang="tr-TR" sz="2800" b="1" dirty="0" smtClean="0"/>
              <a:t> asit için uygun bir kılıf oluşturur</a:t>
            </a:r>
          </a:p>
          <a:p>
            <a:r>
              <a:rPr lang="tr-TR" sz="2800" b="1" dirty="0" smtClean="0"/>
              <a:t>4-Virüse </a:t>
            </a:r>
            <a:r>
              <a:rPr lang="tr-TR" sz="2800" b="1" dirty="0" err="1" smtClean="0"/>
              <a:t>antijenik</a:t>
            </a:r>
            <a:r>
              <a:rPr lang="tr-TR" sz="2800" b="1" dirty="0" smtClean="0"/>
              <a:t> özelliğini verir</a:t>
            </a:r>
          </a:p>
          <a:p>
            <a:r>
              <a:rPr lang="tr-TR" sz="2800" b="1" dirty="0" smtClean="0"/>
              <a:t>5-</a:t>
            </a:r>
            <a:r>
              <a:rPr lang="tr-TR" sz="2800" b="1" dirty="0" err="1" smtClean="0"/>
              <a:t>Nükleik</a:t>
            </a:r>
            <a:r>
              <a:rPr lang="tr-TR" sz="2800" b="1" dirty="0" smtClean="0"/>
              <a:t> asitleri </a:t>
            </a:r>
            <a:r>
              <a:rPr lang="tr-TR" sz="2800" b="1" dirty="0" err="1" smtClean="0"/>
              <a:t>degredasyondan</a:t>
            </a:r>
            <a:r>
              <a:rPr lang="tr-TR" sz="2800" b="1" dirty="0" smtClean="0"/>
              <a:t> (bozulma) korumak</a:t>
            </a:r>
          </a:p>
          <a:p>
            <a:r>
              <a:rPr lang="tr-TR" sz="2800" b="1" dirty="0" smtClean="0"/>
              <a:t>6-Konak hücreye tutunmayı sağlamak (zarfsız virüsler)</a:t>
            </a:r>
          </a:p>
          <a:p>
            <a:r>
              <a:rPr lang="tr-TR" sz="2800" b="1" dirty="0" smtClean="0"/>
              <a:t>7-Konağın </a:t>
            </a:r>
            <a:r>
              <a:rPr lang="tr-TR" sz="2800" b="1" dirty="0" err="1" smtClean="0"/>
              <a:t>immün</a:t>
            </a:r>
            <a:r>
              <a:rPr lang="tr-TR" sz="2800" b="1" dirty="0" smtClean="0"/>
              <a:t> sistemi tarafından tanınan antijenleri taşımak (zarflı ve zarfsız virüsler)</a:t>
            </a:r>
          </a:p>
          <a:p>
            <a:pPr>
              <a:buNone/>
            </a:pPr>
            <a:endParaRPr lang="tr-TR" sz="2600" b="1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KAPSOMER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tr-TR" sz="2800" b="1" dirty="0" err="1" smtClean="0"/>
              <a:t>Kapsiti</a:t>
            </a:r>
            <a:r>
              <a:rPr lang="tr-TR" sz="2800" b="1" dirty="0" smtClean="0"/>
              <a:t> oluşturan  belli bir düzende dizilmiş küçük protein yapısındaki alt birimlerdir</a:t>
            </a:r>
          </a:p>
          <a:p>
            <a:r>
              <a:rPr lang="tr-TR" sz="2800" b="1" dirty="0" smtClean="0"/>
              <a:t>Her bir virüsün kendine ait yapıda </a:t>
            </a:r>
            <a:r>
              <a:rPr lang="tr-TR" sz="2800" b="1" dirty="0" err="1" smtClean="0"/>
              <a:t>kapsomeri</a:t>
            </a:r>
            <a:r>
              <a:rPr lang="tr-TR" sz="2800" b="1" dirty="0" smtClean="0"/>
              <a:t> vardır</a:t>
            </a:r>
          </a:p>
          <a:p>
            <a:r>
              <a:rPr lang="sv-SE" sz="2800" b="1" dirty="0" smtClean="0"/>
              <a:t>Bu özellik virüslerin tanımlanmasında kullanılır</a:t>
            </a:r>
            <a:endParaRPr lang="tr-TR" sz="2800" b="1" dirty="0" smtClean="0"/>
          </a:p>
          <a:p>
            <a:pPr>
              <a:buNone/>
            </a:pPr>
            <a:r>
              <a:rPr lang="tr-TR" sz="2800" b="1" dirty="0" err="1" smtClean="0"/>
              <a:t>Kapsomerler</a:t>
            </a:r>
            <a:r>
              <a:rPr lang="tr-TR" sz="2800" b="1" dirty="0" smtClean="0"/>
              <a:t> farklı virüslerde </a:t>
            </a:r>
          </a:p>
          <a:p>
            <a:pPr>
              <a:buNone/>
            </a:pPr>
            <a:r>
              <a:rPr lang="tr-TR" sz="2800" b="1" dirty="0" smtClean="0"/>
              <a:t>farklı şekilde</a:t>
            </a:r>
          </a:p>
          <a:p>
            <a:pPr>
              <a:buNone/>
            </a:pPr>
            <a:r>
              <a:rPr lang="tr-TR" sz="2800" b="1" dirty="0" smtClean="0"/>
              <a:t>dizilmiş olup, </a:t>
            </a:r>
          </a:p>
          <a:p>
            <a:pPr>
              <a:buNone/>
            </a:pPr>
            <a:r>
              <a:rPr lang="tr-TR" sz="2800" b="1" dirty="0" smtClean="0"/>
              <a:t>bu dizilimler virüslerin </a:t>
            </a:r>
          </a:p>
          <a:p>
            <a:pPr>
              <a:buNone/>
            </a:pPr>
            <a:r>
              <a:rPr lang="tr-TR" sz="2800" b="1" dirty="0" smtClean="0"/>
              <a:t>özgül yapılarını oluştururlar</a:t>
            </a:r>
          </a:p>
          <a:p>
            <a:endParaRPr lang="tr-TR" sz="2800" dirty="0"/>
          </a:p>
        </p:txBody>
      </p:sp>
      <p:pic>
        <p:nvPicPr>
          <p:cNvPr id="4" name="Picture 2" descr="C:\Users\user\Desktop\Non-enveloped-and-enveloped-viruses-a-simple-schematic-diagram-illustrating-the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76056" y="3645024"/>
            <a:ext cx="3345152" cy="28083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user\Desktop\u2fig2a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620688"/>
            <a:ext cx="7992542" cy="57677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Pc\Desktop\imagesHJ0W6O4D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692696"/>
            <a:ext cx="8352928" cy="547260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323528" y="404664"/>
            <a:ext cx="8568952" cy="572149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tr-TR" sz="2800" b="1" dirty="0" smtClean="0">
                <a:solidFill>
                  <a:srgbClr val="FF0000"/>
                </a:solidFill>
              </a:rPr>
              <a:t>			</a:t>
            </a:r>
            <a:r>
              <a:rPr lang="tr-TR" sz="4000" b="1" dirty="0" smtClean="0">
                <a:solidFill>
                  <a:srgbClr val="FF0000"/>
                </a:solidFill>
              </a:rPr>
              <a:t>KAPSİTLERİNİN ŞEKİLLERİ  SINIFLANDIRMA İÇİN GÜNÜMÜZDE….</a:t>
            </a:r>
            <a:endParaRPr lang="tr-TR" sz="2800" b="1" dirty="0" smtClean="0"/>
          </a:p>
          <a:p>
            <a:r>
              <a:rPr lang="tr-TR" sz="2800" b="1" dirty="0" err="1" smtClean="0"/>
              <a:t>Kapsomerleri</a:t>
            </a:r>
            <a:r>
              <a:rPr lang="tr-TR" sz="2800" b="1" dirty="0" smtClean="0"/>
              <a:t> oluşturan dizilmiş küçük protein yapısındaki alt birimler belirli bir simetri şeklindedirler  </a:t>
            </a:r>
            <a:r>
              <a:rPr lang="tr-TR" sz="2800" b="1" dirty="0" smtClean="0">
                <a:solidFill>
                  <a:srgbClr val="FF0000"/>
                </a:solidFill>
              </a:rPr>
              <a:t>ve virüse karakteristik şeklini verirler DEMİŞTİK</a:t>
            </a:r>
          </a:p>
          <a:p>
            <a:pPr>
              <a:buNone/>
            </a:pPr>
            <a:r>
              <a:rPr lang="tr-TR" sz="2800" b="1" dirty="0" smtClean="0">
                <a:solidFill>
                  <a:srgbClr val="FF0000"/>
                </a:solidFill>
              </a:rPr>
              <a:t>HANGİ KARAKTERİSTİK ŞEKİLLERDİR BUNLAR…??????</a:t>
            </a:r>
          </a:p>
          <a:p>
            <a:pPr>
              <a:buNone/>
            </a:pPr>
            <a:r>
              <a:rPr lang="tr-TR" sz="2800" b="1" dirty="0" smtClean="0">
                <a:solidFill>
                  <a:srgbClr val="7030A0"/>
                </a:solidFill>
              </a:rPr>
              <a:t>			</a:t>
            </a:r>
            <a:r>
              <a:rPr lang="tr-TR" sz="2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tr-TR" sz="2800" b="1" dirty="0" err="1" smtClean="0">
                <a:solidFill>
                  <a:schemeClr val="accent6">
                    <a:lumMod val="50000"/>
                  </a:schemeClr>
                </a:solidFill>
              </a:rPr>
              <a:t>İkozohedral</a:t>
            </a:r>
            <a:r>
              <a:rPr lang="tr-TR" sz="2800" b="1" dirty="0" smtClean="0">
                <a:solidFill>
                  <a:schemeClr val="accent6">
                    <a:lumMod val="50000"/>
                  </a:schemeClr>
                </a:solidFill>
              </a:rPr>
              <a:t> simetri (Kübik simetri)</a:t>
            </a:r>
            <a:endParaRPr lang="tr-TR" sz="2800" b="1" dirty="0" smtClean="0">
              <a:solidFill>
                <a:srgbClr val="7030A0"/>
              </a:solidFill>
            </a:endParaRPr>
          </a:p>
          <a:p>
            <a:pPr>
              <a:buNone/>
            </a:pPr>
            <a:r>
              <a:rPr lang="tr-TR" sz="2800" b="1" dirty="0" smtClean="0">
                <a:solidFill>
                  <a:schemeClr val="accent6">
                    <a:lumMod val="50000"/>
                  </a:schemeClr>
                </a:solidFill>
              </a:rPr>
              <a:t>			</a:t>
            </a:r>
            <a:r>
              <a:rPr lang="tr-TR" sz="2800" b="1" dirty="0" smtClean="0">
                <a:solidFill>
                  <a:srgbClr val="7030A0"/>
                </a:solidFill>
              </a:rPr>
              <a:t> </a:t>
            </a:r>
            <a:r>
              <a:rPr lang="tr-TR" sz="2800" b="1" dirty="0" err="1" smtClean="0">
                <a:solidFill>
                  <a:srgbClr val="7030A0"/>
                </a:solidFill>
              </a:rPr>
              <a:t>Helikal</a:t>
            </a:r>
            <a:r>
              <a:rPr lang="tr-TR" sz="2800" b="1" dirty="0" smtClean="0">
                <a:solidFill>
                  <a:srgbClr val="7030A0"/>
                </a:solidFill>
              </a:rPr>
              <a:t> simetri</a:t>
            </a:r>
          </a:p>
          <a:p>
            <a:pPr>
              <a:buNone/>
            </a:pPr>
            <a:r>
              <a:rPr lang="tr-TR" sz="2800" b="1" dirty="0" smtClean="0">
                <a:solidFill>
                  <a:srgbClr val="00B050"/>
                </a:solidFill>
              </a:rPr>
              <a:t>			 Kompleks yapısında</a:t>
            </a:r>
          </a:p>
          <a:p>
            <a:pPr>
              <a:buNone/>
            </a:pPr>
            <a:r>
              <a:rPr lang="tr-TR" sz="2800" b="1" dirty="0" smtClean="0"/>
              <a:t>bulunabilirler		</a:t>
            </a:r>
          </a:p>
          <a:p>
            <a:pPr>
              <a:buNone/>
            </a:pPr>
            <a:endParaRPr lang="tr-TR" sz="2800" b="1" dirty="0" smtClean="0"/>
          </a:p>
          <a:p>
            <a:endParaRPr lang="tr-TR" sz="2800" b="1" dirty="0" smtClean="0"/>
          </a:p>
          <a:p>
            <a:pPr>
              <a:buNone/>
            </a:pPr>
            <a:endParaRPr lang="tr-TR" sz="28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user\Desktop\hqdefaul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916832"/>
            <a:ext cx="4572000" cy="2780928"/>
          </a:xfrm>
          <a:prstGeom prst="rect">
            <a:avLst/>
          </a:prstGeom>
          <a:noFill/>
        </p:spPr>
      </p:pic>
      <p:pic>
        <p:nvPicPr>
          <p:cNvPr id="3" name="Picture 3" descr="C:\Users\tijen\Desktop\estructura-del-virus-helicoidal-tipos-básicos-de-el-helix-es-uno-los-255822034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04048" y="2636912"/>
            <a:ext cx="3888432" cy="3645879"/>
          </a:xfrm>
          <a:prstGeom prst="rect">
            <a:avLst/>
          </a:prstGeom>
          <a:noFill/>
        </p:spPr>
      </p:pic>
      <p:sp>
        <p:nvSpPr>
          <p:cNvPr id="9" name="8 Dikdörtgen"/>
          <p:cNvSpPr/>
          <p:nvPr/>
        </p:nvSpPr>
        <p:spPr>
          <a:xfrm>
            <a:off x="971600" y="260649"/>
            <a:ext cx="6696744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4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tr-TR" sz="2600" b="1" dirty="0" smtClean="0">
                <a:solidFill>
                  <a:schemeClr val="accent6">
                    <a:lumMod val="50000"/>
                  </a:schemeClr>
                </a:solidFill>
              </a:rPr>
              <a:t>İKOZOHEDRAL SİMETRİ (KÜBİK SİMETRİ)</a:t>
            </a:r>
            <a:r>
              <a:rPr lang="tr-TR" sz="2600" b="1" dirty="0" smtClean="0">
                <a:solidFill>
                  <a:srgbClr val="7030A0"/>
                </a:solidFill>
              </a:rPr>
              <a:t/>
            </a:r>
            <a:br>
              <a:rPr lang="tr-TR" sz="2600" b="1" dirty="0" smtClean="0">
                <a:solidFill>
                  <a:srgbClr val="7030A0"/>
                </a:solidFill>
              </a:rPr>
            </a:br>
            <a:r>
              <a:rPr lang="tr-TR" sz="2600" b="1" dirty="0" smtClean="0">
                <a:solidFill>
                  <a:srgbClr val="7030A0"/>
                </a:solidFill>
              </a:rPr>
              <a:t> HELİKAL SİMETRİ (HELEZON YAPILI VİRÜSLER)</a:t>
            </a:r>
            <a:br>
              <a:rPr lang="tr-TR" sz="2600" b="1" dirty="0" smtClean="0">
                <a:solidFill>
                  <a:srgbClr val="7030A0"/>
                </a:solidFill>
              </a:rPr>
            </a:br>
            <a:endParaRPr lang="tr-TR" sz="26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tijen\Desktop\kapsi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476672"/>
            <a:ext cx="8424936" cy="577745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404664"/>
            <a:ext cx="7704856" cy="59268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ZARF  (</a:t>
            </a:r>
            <a:r>
              <a:rPr lang="tr-TR" b="1" dirty="0" err="1" smtClean="0">
                <a:solidFill>
                  <a:srgbClr val="FF0000"/>
                </a:solidFill>
              </a:rPr>
              <a:t>envelope</a:t>
            </a:r>
            <a:r>
              <a:rPr lang="tr-TR" b="1" dirty="0" smtClean="0">
                <a:solidFill>
                  <a:srgbClr val="FF0000"/>
                </a:solidFill>
              </a:rPr>
              <a:t>) NEDİR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b="1" dirty="0" smtClean="0"/>
              <a:t>Bazı virüslerde </a:t>
            </a:r>
            <a:r>
              <a:rPr lang="tr-TR" b="1" dirty="0" err="1" smtClean="0"/>
              <a:t>nukleokapsidin</a:t>
            </a:r>
            <a:r>
              <a:rPr lang="tr-TR" b="1" dirty="0" smtClean="0"/>
              <a:t> çevresini lipit yapısında bir zarf çevreler</a:t>
            </a:r>
            <a:endParaRPr lang="tr-TR" b="1" i="1" dirty="0" smtClean="0"/>
          </a:p>
          <a:p>
            <a:pPr marL="609600" indent="-609600">
              <a:buFont typeface="Wingdings" pitchFamily="2" charset="2"/>
              <a:buNone/>
            </a:pPr>
            <a:r>
              <a:rPr lang="tr-TR" b="1" i="1" dirty="0" smtClean="0"/>
              <a:t>			</a:t>
            </a:r>
          </a:p>
          <a:p>
            <a:pPr marL="609600" indent="-609600">
              <a:buFont typeface="Wingdings" pitchFamily="2" charset="2"/>
              <a:buNone/>
            </a:pPr>
            <a:r>
              <a:rPr lang="tr-TR" b="1" i="1" dirty="0" smtClean="0">
                <a:solidFill>
                  <a:srgbClr val="FF0000"/>
                </a:solidFill>
              </a:rPr>
              <a:t>		ZARFLI VİRUSLARDA ZARF</a:t>
            </a:r>
            <a:endParaRPr lang="tr-TR" b="1" i="1" dirty="0" smtClean="0"/>
          </a:p>
          <a:p>
            <a:pPr marL="609600" indent="-609600">
              <a:buFont typeface="Wingdings" pitchFamily="2" charset="2"/>
              <a:buAutoNum type="arabicPeriod"/>
            </a:pPr>
            <a:r>
              <a:rPr lang="tr-TR" b="1" i="1" dirty="0" smtClean="0"/>
              <a:t>İki tabakalı </a:t>
            </a:r>
            <a:r>
              <a:rPr lang="tr-TR" b="1" i="1" dirty="0" err="1" smtClean="0"/>
              <a:t>lipid</a:t>
            </a:r>
            <a:r>
              <a:rPr lang="tr-TR" b="1" i="1" dirty="0" smtClean="0"/>
              <a:t> yapıdaki birim </a:t>
            </a:r>
            <a:r>
              <a:rPr lang="tr-TR" b="1" i="1" dirty="0" err="1" smtClean="0"/>
              <a:t>membran</a:t>
            </a:r>
            <a:r>
              <a:rPr lang="tr-TR" b="1" i="1" dirty="0" smtClean="0"/>
              <a:t> </a:t>
            </a:r>
          </a:p>
          <a:p>
            <a:pPr marL="609600" indent="-609600">
              <a:buFont typeface="Wingdings" pitchFamily="2" charset="2"/>
              <a:buAutoNum type="arabicPeriod"/>
            </a:pPr>
            <a:r>
              <a:rPr lang="tr-TR" b="1" i="1" dirty="0" smtClean="0"/>
              <a:t>Proteinlerden </a:t>
            </a:r>
          </a:p>
          <a:p>
            <a:pPr marL="609600" indent="-609600">
              <a:buFont typeface="Wingdings" pitchFamily="2" charset="2"/>
              <a:buNone/>
            </a:pPr>
            <a:endParaRPr lang="tr-TR" b="1" i="1" dirty="0" smtClean="0"/>
          </a:p>
          <a:p>
            <a:pPr marL="609600" indent="-609600">
              <a:buFont typeface="Wingdings" pitchFamily="2" charset="2"/>
              <a:buNone/>
            </a:pPr>
            <a:r>
              <a:rPr lang="tr-TR" b="1" i="1" dirty="0" smtClean="0"/>
              <a:t>oluşur.</a:t>
            </a:r>
            <a:endParaRPr lang="tr-TR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ZARFLI VİRÜSLER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b="1" dirty="0" smtClean="0"/>
              <a:t>Bu tür virüslere zarflı virüsler adı verilir </a:t>
            </a:r>
          </a:p>
          <a:p>
            <a:r>
              <a:rPr lang="tr-TR" b="1" dirty="0" smtClean="0"/>
              <a:t>Bu virüsler içinde üredikleri hücreden tomurcuklanma ile ayrılırlar</a:t>
            </a:r>
          </a:p>
          <a:p>
            <a:r>
              <a:rPr lang="tr-TR" b="1" dirty="0" smtClean="0"/>
              <a:t>Zarflarını tomurcuklanma sırasında hücre </a:t>
            </a:r>
            <a:r>
              <a:rPr lang="tr-TR" b="1" dirty="0" err="1" smtClean="0"/>
              <a:t>membranından</a:t>
            </a:r>
            <a:r>
              <a:rPr lang="tr-TR" b="1" dirty="0" smtClean="0"/>
              <a:t> alırlar</a:t>
            </a:r>
            <a:endParaRPr lang="tr-TR" b="1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tr-TR" b="1" dirty="0" smtClean="0">
                <a:solidFill>
                  <a:srgbClr val="FF0000"/>
                </a:solidFill>
              </a:rPr>
              <a:t>			ZARFIN GÖREVİ</a:t>
            </a:r>
          </a:p>
          <a:p>
            <a:r>
              <a:rPr lang="tr-TR" b="1" dirty="0" err="1" smtClean="0"/>
              <a:t>Antijeniteden</a:t>
            </a:r>
            <a:endParaRPr lang="tr-TR" b="1" dirty="0" smtClean="0"/>
          </a:p>
          <a:p>
            <a:r>
              <a:rPr lang="tr-TR" b="1" dirty="0" smtClean="0"/>
              <a:t>Dirençten</a:t>
            </a:r>
          </a:p>
          <a:p>
            <a:r>
              <a:rPr lang="tr-TR" b="1" dirty="0" err="1" smtClean="0"/>
              <a:t>enfektiviteden</a:t>
            </a:r>
            <a:r>
              <a:rPr lang="tr-TR" b="1" dirty="0" smtClean="0"/>
              <a:t> sorumludur.</a:t>
            </a:r>
            <a:endParaRPr lang="tr-TR" b="1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9632" y="332656"/>
            <a:ext cx="6819900" cy="593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user\Desktop\article-Characteristics-of-V-2pg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332656"/>
            <a:ext cx="8424862" cy="619268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user\Desktop\17-11-12-Fig1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404664"/>
            <a:ext cx="7920880" cy="583264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332656"/>
            <a:ext cx="8351838" cy="6192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 idx="4294967295"/>
          </p:nvPr>
        </p:nvSpPr>
        <p:spPr>
          <a:xfrm>
            <a:off x="611560" y="1412776"/>
            <a:ext cx="7848872" cy="2592287"/>
          </a:xfrm>
        </p:spPr>
        <p:txBody>
          <a:bodyPr>
            <a:noAutofit/>
          </a:bodyPr>
          <a:lstStyle/>
          <a:p>
            <a:r>
              <a:rPr lang="tr-TR" sz="6000" b="1" dirty="0" smtClean="0">
                <a:solidFill>
                  <a:srgbClr val="FF0000"/>
                </a:solidFill>
              </a:rPr>
              <a:t>ZARFLI  VE ZARFSIZ  VİRÜSLER</a:t>
            </a:r>
            <a:endParaRPr lang="tr-TR" sz="6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b="1" dirty="0" smtClean="0">
                <a:solidFill>
                  <a:srgbClr val="FF0000"/>
                </a:solidFill>
              </a:rPr>
              <a:t>VİRAL ZARF</a:t>
            </a:r>
            <a:endParaRPr lang="tr-TR" sz="40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800" b="1" dirty="0" smtClean="0">
                <a:solidFill>
                  <a:srgbClr val="FF0000"/>
                </a:solidFill>
              </a:rPr>
              <a:t>Bazı</a:t>
            </a:r>
            <a:r>
              <a:rPr lang="tr-TR" sz="2800" b="1" dirty="0" smtClean="0"/>
              <a:t> virüslerde </a:t>
            </a:r>
            <a:r>
              <a:rPr lang="tr-TR" sz="2800" b="1" dirty="0" err="1" smtClean="0"/>
              <a:t>nukleo</a:t>
            </a:r>
            <a:r>
              <a:rPr lang="tr-TR" sz="2800" b="1" dirty="0" smtClean="0"/>
              <a:t> </a:t>
            </a:r>
            <a:r>
              <a:rPr lang="tr-TR" sz="2800" b="1" dirty="0" err="1" smtClean="0"/>
              <a:t>kapsidin</a:t>
            </a:r>
            <a:r>
              <a:rPr lang="tr-TR" sz="2800" b="1" dirty="0" smtClean="0"/>
              <a:t> çevresini lipit yapısında bir zarf çevreler</a:t>
            </a:r>
          </a:p>
          <a:p>
            <a:r>
              <a:rPr lang="tr-TR" sz="2800" b="1" dirty="0" smtClean="0"/>
              <a:t>Bu tür virüslere </a:t>
            </a:r>
            <a:r>
              <a:rPr lang="tr-TR" sz="2800" b="1" dirty="0" smtClean="0">
                <a:solidFill>
                  <a:srgbClr val="FF0000"/>
                </a:solidFill>
              </a:rPr>
              <a:t>ZARFLI VİRÜSLER </a:t>
            </a:r>
            <a:r>
              <a:rPr lang="tr-TR" sz="2800" b="1" dirty="0" smtClean="0"/>
              <a:t>adı verilir</a:t>
            </a:r>
          </a:p>
          <a:p>
            <a:endParaRPr lang="tr-TR" sz="2800" b="1" dirty="0" smtClean="0"/>
          </a:p>
          <a:p>
            <a:r>
              <a:rPr lang="tr-TR" sz="2800" b="1" dirty="0" smtClean="0"/>
              <a:t>Çıplak (</a:t>
            </a:r>
            <a:r>
              <a:rPr lang="tr-TR" sz="2800" b="1" dirty="0" err="1" smtClean="0"/>
              <a:t>Naked</a:t>
            </a:r>
            <a:r>
              <a:rPr lang="tr-TR" sz="2800" b="1" dirty="0" smtClean="0"/>
              <a:t>) virüslerin zarfı yoktur</a:t>
            </a:r>
          </a:p>
          <a:p>
            <a:endParaRPr lang="tr-TR" sz="2800" b="1" dirty="0" smtClean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ZARF  YAPISI=LİPİT MEMBRAN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tr-TR" b="1" i="1" dirty="0" smtClean="0">
                <a:solidFill>
                  <a:srgbClr val="FF0000"/>
                </a:solidFill>
              </a:rPr>
              <a:t>LİPİD MEMBRAN</a:t>
            </a:r>
            <a:r>
              <a:rPr lang="tr-TR" b="1" i="1" dirty="0" smtClean="0"/>
              <a:t>, </a:t>
            </a:r>
            <a:r>
              <a:rPr lang="tr-TR" b="1" i="1" dirty="0" err="1" smtClean="0"/>
              <a:t>virusun</a:t>
            </a:r>
            <a:r>
              <a:rPr lang="tr-TR" b="1" i="1" dirty="0" smtClean="0"/>
              <a:t> tomurcuklanması sırasında konak hücre </a:t>
            </a:r>
            <a:r>
              <a:rPr lang="tr-TR" b="1" i="1" dirty="0" err="1" smtClean="0"/>
              <a:t>membranından</a:t>
            </a:r>
            <a:r>
              <a:rPr lang="tr-TR" b="1" i="1" dirty="0" smtClean="0"/>
              <a:t> kaynak alır. Diğer bir deyişle, </a:t>
            </a:r>
            <a:r>
              <a:rPr lang="tr-TR" b="1" i="1" dirty="0" err="1" smtClean="0"/>
              <a:t>lipid</a:t>
            </a:r>
            <a:r>
              <a:rPr lang="tr-TR" b="1" i="1" dirty="0" smtClean="0"/>
              <a:t> tabaka hücresel </a:t>
            </a:r>
            <a:r>
              <a:rPr lang="tr-TR" b="1" i="1" dirty="0" err="1" smtClean="0"/>
              <a:t>membranlardan</a:t>
            </a:r>
            <a:r>
              <a:rPr lang="tr-TR" b="1" i="1" dirty="0" smtClean="0"/>
              <a:t> oluşur.</a:t>
            </a:r>
            <a:endParaRPr lang="tr-TR" i="1" dirty="0" smtClean="0"/>
          </a:p>
          <a:p>
            <a:r>
              <a:rPr lang="tr-TR" b="1" i="1" dirty="0" err="1" smtClean="0"/>
              <a:t>Virusların</a:t>
            </a:r>
            <a:r>
              <a:rPr lang="tr-TR" b="1" i="1" dirty="0" smtClean="0"/>
              <a:t> çoğu </a:t>
            </a:r>
            <a:r>
              <a:rPr lang="tr-TR" b="1" i="1" dirty="0" err="1" smtClean="0"/>
              <a:t>sitoplazmik</a:t>
            </a:r>
            <a:r>
              <a:rPr lang="tr-TR" b="1" i="1" dirty="0" smtClean="0"/>
              <a:t> </a:t>
            </a:r>
            <a:r>
              <a:rPr lang="tr-TR" b="1" i="1" dirty="0" err="1" smtClean="0"/>
              <a:t>membrandan</a:t>
            </a:r>
            <a:r>
              <a:rPr lang="tr-TR" b="1" i="1" dirty="0" smtClean="0"/>
              <a:t>, daha az bir bölümü ise, nükleer </a:t>
            </a:r>
            <a:r>
              <a:rPr lang="tr-TR" b="1" i="1" dirty="0" err="1" smtClean="0"/>
              <a:t>membrandan</a:t>
            </a:r>
            <a:r>
              <a:rPr lang="tr-TR" b="1" i="1" dirty="0" smtClean="0"/>
              <a:t> ya da ER/</a:t>
            </a:r>
            <a:r>
              <a:rPr lang="tr-TR" b="1" i="1" dirty="0" err="1" smtClean="0"/>
              <a:t>Golgi</a:t>
            </a:r>
            <a:r>
              <a:rPr lang="tr-TR" b="1" i="1" dirty="0" smtClean="0"/>
              <a:t> </a:t>
            </a:r>
            <a:r>
              <a:rPr lang="tr-TR" b="1" i="1" dirty="0" err="1" smtClean="0"/>
              <a:t>membranlarından</a:t>
            </a:r>
            <a:r>
              <a:rPr lang="tr-TR" b="1" i="1" dirty="0" smtClean="0"/>
              <a:t> tomurcuklanır. </a:t>
            </a:r>
          </a:p>
          <a:p>
            <a:r>
              <a:rPr lang="tr-TR" b="1" i="1" dirty="0" smtClean="0">
                <a:solidFill>
                  <a:srgbClr val="FF0000"/>
                </a:solidFill>
              </a:rPr>
              <a:t>Dolayısıyla, </a:t>
            </a:r>
            <a:r>
              <a:rPr lang="tr-TR" b="1" i="1" dirty="0" err="1" smtClean="0">
                <a:solidFill>
                  <a:srgbClr val="FF0000"/>
                </a:solidFill>
              </a:rPr>
              <a:t>virusun</a:t>
            </a:r>
            <a:r>
              <a:rPr lang="tr-TR" b="1" i="1" dirty="0" smtClean="0">
                <a:solidFill>
                  <a:srgbClr val="FF0000"/>
                </a:solidFill>
              </a:rPr>
              <a:t> tomurcuklandığı </a:t>
            </a:r>
            <a:r>
              <a:rPr lang="tr-TR" b="1" i="1" dirty="0" err="1" smtClean="0">
                <a:solidFill>
                  <a:srgbClr val="FF0000"/>
                </a:solidFill>
              </a:rPr>
              <a:t>organelin</a:t>
            </a:r>
            <a:r>
              <a:rPr lang="tr-TR" b="1" i="1" dirty="0" smtClean="0">
                <a:solidFill>
                  <a:srgbClr val="FF0000"/>
                </a:solidFill>
              </a:rPr>
              <a:t> </a:t>
            </a:r>
            <a:r>
              <a:rPr lang="tr-TR" b="1" i="1" dirty="0" err="1" smtClean="0">
                <a:solidFill>
                  <a:srgbClr val="FF0000"/>
                </a:solidFill>
              </a:rPr>
              <a:t>membranı</a:t>
            </a:r>
            <a:r>
              <a:rPr lang="tr-TR" b="1" i="1" dirty="0" smtClean="0">
                <a:solidFill>
                  <a:srgbClr val="FF0000"/>
                </a:solidFill>
              </a:rPr>
              <a:t> zarfın yapısına katılır.</a:t>
            </a:r>
            <a:endParaRPr lang="tr-TR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ZARF  YAPISI</a:t>
            </a:r>
            <a:br>
              <a:rPr lang="tr-TR" b="1" dirty="0" smtClean="0">
                <a:solidFill>
                  <a:srgbClr val="FF0000"/>
                </a:solidFill>
              </a:rPr>
            </a:br>
            <a:r>
              <a:rPr lang="tr-TR" b="1" dirty="0" smtClean="0">
                <a:solidFill>
                  <a:srgbClr val="FF0000"/>
                </a:solidFill>
              </a:rPr>
              <a:t>AÇIKLAYALIM-TEKRAR EDELİM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37112"/>
          </a:xfrm>
        </p:spPr>
        <p:txBody>
          <a:bodyPr>
            <a:noAutofit/>
          </a:bodyPr>
          <a:lstStyle/>
          <a:p>
            <a:r>
              <a:rPr lang="tr-TR" sz="2800" b="1" i="1" dirty="0" err="1" smtClean="0">
                <a:solidFill>
                  <a:srgbClr val="FF0000"/>
                </a:solidFill>
              </a:rPr>
              <a:t>Lipid</a:t>
            </a:r>
            <a:r>
              <a:rPr lang="tr-TR" sz="2800" b="1" i="1" dirty="0" smtClean="0">
                <a:solidFill>
                  <a:srgbClr val="7030A0"/>
                </a:solidFill>
              </a:rPr>
              <a:t> </a:t>
            </a:r>
            <a:r>
              <a:rPr lang="tr-TR" sz="2800" b="1" i="1" dirty="0" err="1" smtClean="0">
                <a:solidFill>
                  <a:srgbClr val="7030A0"/>
                </a:solidFill>
              </a:rPr>
              <a:t>membran</a:t>
            </a:r>
            <a:r>
              <a:rPr lang="tr-TR" sz="2800" b="1" i="1" dirty="0" smtClean="0">
                <a:solidFill>
                  <a:srgbClr val="7030A0"/>
                </a:solidFill>
              </a:rPr>
              <a:t>, </a:t>
            </a:r>
            <a:r>
              <a:rPr lang="tr-TR" sz="2800" b="1" i="1" dirty="0" err="1" smtClean="0">
                <a:solidFill>
                  <a:srgbClr val="7030A0"/>
                </a:solidFill>
              </a:rPr>
              <a:t>virusun</a:t>
            </a:r>
            <a:r>
              <a:rPr lang="tr-TR" sz="2800" b="1" i="1" dirty="0" smtClean="0">
                <a:solidFill>
                  <a:srgbClr val="7030A0"/>
                </a:solidFill>
              </a:rPr>
              <a:t> tomurcuklanması sırasında konak hücre </a:t>
            </a:r>
            <a:r>
              <a:rPr lang="tr-TR" sz="2800" b="1" i="1" dirty="0" err="1" smtClean="0">
                <a:solidFill>
                  <a:srgbClr val="7030A0"/>
                </a:solidFill>
              </a:rPr>
              <a:t>membranından</a:t>
            </a:r>
            <a:r>
              <a:rPr lang="tr-TR" sz="2800" b="1" i="1" dirty="0" smtClean="0">
                <a:solidFill>
                  <a:srgbClr val="7030A0"/>
                </a:solidFill>
              </a:rPr>
              <a:t> kaynak alır dedik </a:t>
            </a:r>
          </a:p>
          <a:p>
            <a:r>
              <a:rPr lang="tr-TR" sz="2800" b="1" i="1" dirty="0" smtClean="0"/>
              <a:t>YANİ </a:t>
            </a:r>
            <a:r>
              <a:rPr lang="tr-TR" sz="2800" b="1" dirty="0" smtClean="0"/>
              <a:t>Konak hücreden tomurcuklanma ile olgunlaşan </a:t>
            </a:r>
            <a:r>
              <a:rPr lang="tr-TR" sz="2800" b="1" dirty="0" err="1" smtClean="0"/>
              <a:t>viruslar</a:t>
            </a:r>
            <a:r>
              <a:rPr lang="tr-TR" sz="2800" b="1" dirty="0" smtClean="0"/>
              <a:t>, hücre </a:t>
            </a:r>
            <a:r>
              <a:rPr lang="tr-TR" sz="2800" b="1" dirty="0" err="1" smtClean="0"/>
              <a:t>membranından</a:t>
            </a:r>
            <a:r>
              <a:rPr lang="tr-TR" sz="2800" b="1" dirty="0" smtClean="0"/>
              <a:t> bir yapı kazanır, Bu yapıya </a:t>
            </a:r>
            <a:r>
              <a:rPr lang="tr-TR" sz="2800" b="1" dirty="0" smtClean="0">
                <a:solidFill>
                  <a:srgbClr val="FF0000"/>
                </a:solidFill>
              </a:rPr>
              <a:t>Zarf (</a:t>
            </a:r>
            <a:r>
              <a:rPr lang="tr-TR" sz="2800" b="1" dirty="0" err="1" smtClean="0">
                <a:solidFill>
                  <a:srgbClr val="FF0000"/>
                </a:solidFill>
              </a:rPr>
              <a:t>membran</a:t>
            </a:r>
            <a:r>
              <a:rPr lang="tr-TR" sz="2800" b="1" dirty="0" smtClean="0">
                <a:solidFill>
                  <a:srgbClr val="FF0000"/>
                </a:solidFill>
              </a:rPr>
              <a:t>) denir </a:t>
            </a:r>
          </a:p>
          <a:p>
            <a:pPr>
              <a:buNone/>
            </a:pPr>
            <a:endParaRPr lang="tr-TR" sz="2800" b="1" dirty="0" smtClean="0">
              <a:solidFill>
                <a:srgbClr val="FF0000"/>
              </a:solidFill>
            </a:endParaRPr>
          </a:p>
          <a:p>
            <a:r>
              <a:rPr lang="tr-TR" sz="2800" b="1" dirty="0" smtClean="0">
                <a:solidFill>
                  <a:srgbClr val="FF0000"/>
                </a:solidFill>
              </a:rPr>
              <a:t>VE BU YAPI (ZARF) </a:t>
            </a:r>
            <a:r>
              <a:rPr lang="tr-TR" sz="2800" b="1" dirty="0" smtClean="0">
                <a:solidFill>
                  <a:srgbClr val="7030A0"/>
                </a:solidFill>
              </a:rPr>
              <a:t>Konak hücreye ait hücresel </a:t>
            </a:r>
            <a:r>
              <a:rPr lang="tr-TR" sz="2800" b="1" dirty="0" err="1" smtClean="0">
                <a:solidFill>
                  <a:srgbClr val="7030A0"/>
                </a:solidFill>
              </a:rPr>
              <a:t>membran</a:t>
            </a:r>
            <a:r>
              <a:rPr lang="tr-TR" sz="2800" b="1" dirty="0" smtClean="0">
                <a:solidFill>
                  <a:srgbClr val="7030A0"/>
                </a:solidFill>
              </a:rPr>
              <a:t>=lipit ve </a:t>
            </a:r>
            <a:r>
              <a:rPr lang="sv-SE" sz="2800" b="1" dirty="0" smtClean="0">
                <a:solidFill>
                  <a:srgbClr val="7030A0"/>
                </a:solidFill>
              </a:rPr>
              <a:t>virus</a:t>
            </a:r>
            <a:r>
              <a:rPr lang="tr-TR" sz="2800" b="1" dirty="0" smtClean="0">
                <a:solidFill>
                  <a:srgbClr val="7030A0"/>
                </a:solidFill>
              </a:rPr>
              <a:t> </a:t>
            </a:r>
            <a:r>
              <a:rPr lang="sv-SE" sz="2800" b="1" dirty="0" smtClean="0">
                <a:solidFill>
                  <a:srgbClr val="7030A0"/>
                </a:solidFill>
              </a:rPr>
              <a:t>tarafından kodlanan özgül proteinlerden oluşur</a:t>
            </a:r>
            <a:endParaRPr lang="tr-TR" sz="2800" b="1" dirty="0" smtClean="0">
              <a:solidFill>
                <a:srgbClr val="7030A0"/>
              </a:solidFill>
            </a:endParaRPr>
          </a:p>
          <a:p>
            <a:r>
              <a:rPr lang="tr-TR" sz="2800" b="1" dirty="0" smtClean="0">
                <a:solidFill>
                  <a:schemeClr val="accent6">
                    <a:lumMod val="50000"/>
                  </a:schemeClr>
                </a:solidFill>
              </a:rPr>
              <a:t>(virüse özgül fonksiyonları olan </a:t>
            </a:r>
            <a:r>
              <a:rPr lang="tr-TR" sz="2800" b="1" dirty="0" smtClean="0">
                <a:solidFill>
                  <a:srgbClr val="0070C0"/>
                </a:solidFill>
              </a:rPr>
              <a:t>proteinler</a:t>
            </a:r>
            <a:r>
              <a:rPr lang="tr-TR" sz="2800" b="1" dirty="0" smtClean="0">
                <a:solidFill>
                  <a:schemeClr val="accent6">
                    <a:lumMod val="50000"/>
                  </a:schemeClr>
                </a:solidFill>
              </a:rPr>
              <a:t> bulunur)</a:t>
            </a:r>
            <a:endParaRPr lang="tr-TR" sz="2800" b="1" dirty="0" smtClean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/>
            </a:r>
            <a:br>
              <a:rPr lang="tr-TR" b="1" dirty="0" smtClean="0">
                <a:solidFill>
                  <a:srgbClr val="FF0000"/>
                </a:solidFill>
              </a:rPr>
            </a:br>
            <a:r>
              <a:rPr lang="tr-TR" b="1" dirty="0" smtClean="0">
                <a:solidFill>
                  <a:srgbClr val="FF0000"/>
                </a:solidFill>
              </a:rPr>
              <a:t>ZARFIN FONKSİYONLARI</a:t>
            </a:r>
            <a:br>
              <a:rPr lang="tr-TR" b="1" dirty="0" smtClean="0">
                <a:solidFill>
                  <a:srgbClr val="FF0000"/>
                </a:solidFill>
              </a:rPr>
            </a:br>
            <a:r>
              <a:rPr lang="tr-TR" sz="3100" b="1" dirty="0" smtClean="0">
                <a:solidFill>
                  <a:srgbClr val="FF0000"/>
                </a:solidFill>
              </a:rPr>
              <a:t>VİRAL ZARF NE İŞE YARAR?</a:t>
            </a:r>
            <a:r>
              <a:rPr lang="tr-TR" sz="3100" b="1" i="1" dirty="0" smtClean="0">
                <a:solidFill>
                  <a:srgbClr val="66FFFF"/>
                </a:solidFill>
              </a:rPr>
              <a:t/>
            </a:r>
            <a:br>
              <a:rPr lang="tr-TR" sz="3100" b="1" i="1" dirty="0" smtClean="0">
                <a:solidFill>
                  <a:srgbClr val="66FFFF"/>
                </a:solidFill>
              </a:rPr>
            </a:br>
            <a:endParaRPr lang="tr-TR" sz="31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err="1" smtClean="0"/>
              <a:t>Antijenik</a:t>
            </a:r>
            <a:r>
              <a:rPr lang="tr-TR" b="1" dirty="0" smtClean="0"/>
              <a:t> özellik kazandırma</a:t>
            </a:r>
          </a:p>
          <a:p>
            <a:pPr lvl="1"/>
            <a:r>
              <a:rPr lang="tr-TR" b="1" dirty="0" smtClean="0"/>
              <a:t>Bazı virüsler </a:t>
            </a:r>
            <a:r>
              <a:rPr lang="tr-TR" b="1" dirty="0" err="1" smtClean="0">
                <a:solidFill>
                  <a:srgbClr val="FF0000"/>
                </a:solidFill>
              </a:rPr>
              <a:t>Nöraminidaza</a:t>
            </a:r>
            <a:r>
              <a:rPr lang="tr-TR" b="1" dirty="0" smtClean="0"/>
              <a:t> sahiptir</a:t>
            </a:r>
          </a:p>
          <a:p>
            <a:r>
              <a:rPr lang="tr-TR" b="1" dirty="0" smtClean="0"/>
              <a:t>Enfeksiyona neden olma,</a:t>
            </a:r>
            <a:r>
              <a:rPr lang="tr-TR" b="1" dirty="0" err="1" smtClean="0"/>
              <a:t>enfektivite</a:t>
            </a:r>
            <a:endParaRPr lang="tr-TR" b="1" dirty="0" smtClean="0"/>
          </a:p>
          <a:p>
            <a:r>
              <a:rPr lang="tr-TR" b="1" dirty="0" smtClean="0"/>
              <a:t>Dirençlilik</a:t>
            </a:r>
          </a:p>
          <a:p>
            <a:endParaRPr lang="tr-TR" dirty="0"/>
          </a:p>
        </p:txBody>
      </p:sp>
      <p:pic>
        <p:nvPicPr>
          <p:cNvPr id="4" name="Picture 4" descr="C:\Users\user\Desktop\Adsız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4048" y="3645024"/>
            <a:ext cx="3536753" cy="257533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sz="4000" b="1" dirty="0" smtClean="0">
                <a:solidFill>
                  <a:srgbClr val="FF0000"/>
                </a:solidFill>
              </a:rPr>
              <a:t>VİRAL ZARF </a:t>
            </a:r>
            <a:br>
              <a:rPr lang="tr-TR" sz="4000" b="1" dirty="0" smtClean="0">
                <a:solidFill>
                  <a:srgbClr val="FF0000"/>
                </a:solidFill>
              </a:rPr>
            </a:br>
            <a:r>
              <a:rPr lang="tr-TR" sz="4000" b="1" dirty="0" smtClean="0">
                <a:solidFill>
                  <a:srgbClr val="FF0000"/>
                </a:solidFill>
              </a:rPr>
              <a:t>DUYARLI OLDUĞU KİMYASALLAR</a:t>
            </a:r>
            <a:endParaRPr lang="tr-TR" sz="4000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tr-TR" sz="2800" b="1" dirty="0" smtClean="0">
                <a:solidFill>
                  <a:srgbClr val="FF0000"/>
                </a:solidFill>
              </a:rPr>
              <a:t>Zarflı virüsler lipit içermeleri nedeniyle eter ve kloroform gibi lipit eriticilere duyarlıdırlar</a:t>
            </a:r>
            <a:endParaRPr lang="tr-TR" sz="2800" b="1" dirty="0" smtClean="0"/>
          </a:p>
          <a:p>
            <a:pPr lvl="2">
              <a:buNone/>
            </a:pPr>
            <a:r>
              <a:rPr lang="tr-TR" sz="2800" b="1" dirty="0" smtClean="0">
                <a:solidFill>
                  <a:srgbClr val="FF0000"/>
                </a:solidFill>
              </a:rPr>
              <a:t>O HALDE LİPİT TABAKA !!!!!</a:t>
            </a:r>
          </a:p>
          <a:p>
            <a:r>
              <a:rPr lang="tr-TR" sz="2800" b="1" dirty="0" smtClean="0"/>
              <a:t>Lipit tabaka virüsü, organik çözücülere duyarlı hale getirir (Eter, Kloroform vb….)</a:t>
            </a:r>
          </a:p>
          <a:p>
            <a:pPr>
              <a:buNone/>
            </a:pPr>
            <a:endParaRPr lang="tr-TR" sz="2800" b="1" dirty="0" smtClean="0"/>
          </a:p>
          <a:p>
            <a:r>
              <a:rPr lang="tr-TR" sz="2800" b="1" dirty="0" smtClean="0"/>
              <a:t>BU nedenle zarflı virüsler ortam koşullarından çabuk etkilenirler</a:t>
            </a:r>
          </a:p>
          <a:p>
            <a:r>
              <a:rPr lang="tr-TR" sz="2800" b="1" dirty="0" err="1" smtClean="0">
                <a:solidFill>
                  <a:srgbClr val="FF0000"/>
                </a:solidFill>
              </a:rPr>
              <a:t>Viral</a:t>
            </a:r>
            <a:r>
              <a:rPr lang="tr-TR" sz="2800" b="1" dirty="0" smtClean="0">
                <a:solidFill>
                  <a:srgbClr val="FF0000"/>
                </a:solidFill>
              </a:rPr>
              <a:t> zarf zarar görürse virüs aktivitesini kaybeder</a:t>
            </a:r>
          </a:p>
          <a:p>
            <a:pPr>
              <a:buNone/>
            </a:pPr>
            <a:endParaRPr lang="tr-TR" sz="2800" b="1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r>
              <a:rPr lang="tr-TR" sz="4000" b="1" dirty="0" smtClean="0">
                <a:solidFill>
                  <a:srgbClr val="FF0000"/>
                </a:solidFill>
              </a:rPr>
              <a:t>ZARFLI VİRUSLARIN ÖZELLİKLERİ</a:t>
            </a:r>
            <a:endParaRPr lang="tr-TR" sz="4000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256584"/>
          </a:xfrm>
        </p:spPr>
        <p:txBody>
          <a:bodyPr>
            <a:noAutofit/>
          </a:bodyPr>
          <a:lstStyle/>
          <a:p>
            <a:r>
              <a:rPr lang="tr-TR" sz="2600" b="1" dirty="0" smtClean="0"/>
              <a:t>Dış çevre şartlarına dayanıksızdırlar</a:t>
            </a:r>
          </a:p>
          <a:p>
            <a:r>
              <a:rPr lang="tr-TR" sz="2600" b="1" dirty="0" smtClean="0"/>
              <a:t>Yüksek ısı, deterjan,kuru hava ve asit karşısında tahrip olurlar</a:t>
            </a:r>
          </a:p>
          <a:p>
            <a:r>
              <a:rPr lang="tr-TR" sz="2600" b="1" dirty="0" smtClean="0"/>
              <a:t>Çoğalma süresince yeni bir hücre </a:t>
            </a:r>
            <a:r>
              <a:rPr lang="tr-TR" sz="2600" b="1" dirty="0" err="1" smtClean="0"/>
              <a:t>membranı</a:t>
            </a:r>
            <a:r>
              <a:rPr lang="tr-TR" sz="2600" b="1" dirty="0" smtClean="0"/>
              <a:t> edinirler</a:t>
            </a:r>
          </a:p>
          <a:p>
            <a:r>
              <a:rPr lang="tr-TR" sz="2600" b="1" dirty="0" smtClean="0"/>
              <a:t>Yapımdan sonra yeni </a:t>
            </a:r>
            <a:r>
              <a:rPr lang="tr-TR" sz="2600" b="1" dirty="0" err="1" smtClean="0"/>
              <a:t>virus</a:t>
            </a:r>
            <a:r>
              <a:rPr lang="tr-TR" sz="2600" b="1" dirty="0" smtClean="0"/>
              <a:t> spesifik proteinler edinirler</a:t>
            </a:r>
          </a:p>
          <a:p>
            <a:r>
              <a:rPr lang="tr-TR" sz="2600" b="1" dirty="0" smtClean="0">
                <a:solidFill>
                  <a:srgbClr val="FF0000"/>
                </a:solidFill>
              </a:rPr>
              <a:t>Hücreden tomurcuklanma ile salınırlar.Bu nedenle hücrede </a:t>
            </a:r>
            <a:r>
              <a:rPr lang="tr-TR" sz="2600" b="1" dirty="0" err="1" smtClean="0">
                <a:solidFill>
                  <a:srgbClr val="FF0000"/>
                </a:solidFill>
              </a:rPr>
              <a:t>lizis</a:t>
            </a:r>
            <a:r>
              <a:rPr lang="tr-TR" sz="2600" b="1" dirty="0" smtClean="0">
                <a:solidFill>
                  <a:srgbClr val="FF0000"/>
                </a:solidFill>
              </a:rPr>
              <a:t> oluşturmazlar.Bu özellik zarfsız </a:t>
            </a:r>
            <a:r>
              <a:rPr lang="tr-TR" sz="2600" b="1" dirty="0" err="1" smtClean="0">
                <a:solidFill>
                  <a:srgbClr val="FF0000"/>
                </a:solidFill>
              </a:rPr>
              <a:t>virular</a:t>
            </a:r>
            <a:r>
              <a:rPr lang="tr-TR" sz="2600" b="1" dirty="0" smtClean="0">
                <a:solidFill>
                  <a:srgbClr val="FF0000"/>
                </a:solidFill>
              </a:rPr>
              <a:t> ile karşılaştırıldığında daha az </a:t>
            </a:r>
            <a:r>
              <a:rPr lang="tr-TR" sz="2600" b="1" dirty="0" err="1" smtClean="0">
                <a:solidFill>
                  <a:srgbClr val="FF0000"/>
                </a:solidFill>
              </a:rPr>
              <a:t>virulent</a:t>
            </a:r>
            <a:r>
              <a:rPr lang="tr-TR" sz="2600" b="1" dirty="0" smtClean="0">
                <a:solidFill>
                  <a:srgbClr val="FF0000"/>
                </a:solidFill>
              </a:rPr>
              <a:t> olduklarını gösterir</a:t>
            </a:r>
          </a:p>
          <a:p>
            <a:r>
              <a:rPr lang="tr-TR" sz="2600" b="1" dirty="0" smtClean="0"/>
              <a:t>GI sistemde etkili olmayabilirler </a:t>
            </a:r>
            <a:r>
              <a:rPr lang="tr-TR" sz="2600" b="1" dirty="0" smtClean="0">
                <a:solidFill>
                  <a:srgbClr val="0070C0"/>
                </a:solidFill>
              </a:rPr>
              <a:t>(yaşayamayabilirler)</a:t>
            </a:r>
          </a:p>
          <a:p>
            <a:r>
              <a:rPr lang="tr-TR" sz="2600" b="1" dirty="0" smtClean="0"/>
              <a:t>Kan ,</a:t>
            </a:r>
            <a:r>
              <a:rPr lang="tr-TR" sz="2600" b="1" dirty="0" err="1" smtClean="0"/>
              <a:t>sekresyonlar</a:t>
            </a:r>
            <a:r>
              <a:rPr lang="tr-TR" sz="2600" b="1" dirty="0" smtClean="0"/>
              <a:t> ve organ transplantasyonu en önemli bulaş yoludur</a:t>
            </a:r>
          </a:p>
          <a:p>
            <a:endParaRPr lang="tr-TR" sz="2600" dirty="0" smtClean="0"/>
          </a:p>
          <a:p>
            <a:endParaRPr lang="tr-TR" sz="26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ZARFLI VİRUSLAR</a:t>
            </a:r>
            <a:br>
              <a:rPr lang="tr-TR" b="1" dirty="0" smtClean="0">
                <a:solidFill>
                  <a:srgbClr val="FF0000"/>
                </a:solidFill>
              </a:rPr>
            </a:br>
            <a:r>
              <a:rPr lang="tr-TR" b="1" dirty="0" smtClean="0">
                <a:solidFill>
                  <a:srgbClr val="FF0000"/>
                </a:solidFill>
              </a:rPr>
              <a:t>ÖRNEKLER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tr-TR" sz="2800" b="1" dirty="0" err="1" smtClean="0"/>
              <a:t>Herpesviridae</a:t>
            </a:r>
            <a:endParaRPr lang="tr-TR" sz="2800" b="1" dirty="0" smtClean="0"/>
          </a:p>
          <a:p>
            <a:r>
              <a:rPr lang="tr-TR" sz="2800" b="1" dirty="0" err="1" smtClean="0"/>
              <a:t>Poxviridae</a:t>
            </a:r>
            <a:endParaRPr lang="tr-TR" sz="2800" b="1" dirty="0" smtClean="0"/>
          </a:p>
          <a:p>
            <a:r>
              <a:rPr lang="tr-TR" sz="2800" b="1" dirty="0" err="1" smtClean="0"/>
              <a:t>Hepadnaviridae</a:t>
            </a:r>
            <a:endParaRPr lang="tr-TR" sz="2800" b="1" dirty="0" smtClean="0"/>
          </a:p>
          <a:p>
            <a:r>
              <a:rPr lang="tr-TR" sz="2800" b="1" dirty="0" err="1" smtClean="0"/>
              <a:t>Flaviridae</a:t>
            </a:r>
            <a:endParaRPr lang="tr-TR" sz="2800" b="1" dirty="0" smtClean="0"/>
          </a:p>
          <a:p>
            <a:r>
              <a:rPr lang="tr-TR" sz="2800" b="1" dirty="0" err="1" smtClean="0"/>
              <a:t>Coronaviridae</a:t>
            </a:r>
            <a:endParaRPr lang="tr-TR" sz="2800" b="1" dirty="0" smtClean="0"/>
          </a:p>
          <a:p>
            <a:r>
              <a:rPr lang="tr-TR" sz="2800" b="1" dirty="0" err="1" smtClean="0"/>
              <a:t>Togaviridae</a:t>
            </a:r>
            <a:endParaRPr lang="tr-TR" sz="2800" b="1" dirty="0" smtClean="0"/>
          </a:p>
          <a:p>
            <a:r>
              <a:rPr lang="tr-TR" sz="2800" b="1" dirty="0" err="1" smtClean="0"/>
              <a:t>Orthomyxoviridae</a:t>
            </a:r>
            <a:endParaRPr lang="tr-TR" sz="2800" b="1" dirty="0" smtClean="0"/>
          </a:p>
          <a:p>
            <a:r>
              <a:rPr lang="tr-TR" sz="2800" b="1" dirty="0" err="1" smtClean="0"/>
              <a:t>Rhabdoviridae</a:t>
            </a:r>
            <a:endParaRPr lang="tr-TR" sz="2800" b="1" dirty="0" smtClean="0"/>
          </a:p>
          <a:p>
            <a:r>
              <a:rPr lang="tr-TR" sz="2800" b="1" dirty="0" err="1" smtClean="0"/>
              <a:t>Retroviridae</a:t>
            </a:r>
            <a:endParaRPr lang="tr-TR" sz="28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251520" y="260648"/>
            <a:ext cx="8640960" cy="6264696"/>
          </a:xfrm>
        </p:spPr>
        <p:txBody>
          <a:bodyPr/>
          <a:lstStyle/>
          <a:p>
            <a:r>
              <a:rPr lang="tr-TR" b="1" i="1" dirty="0" smtClean="0">
                <a:solidFill>
                  <a:srgbClr val="FF0000"/>
                </a:solidFill>
              </a:rPr>
              <a:t>ZARF YAPISINDA ÇEŞİTLİ PROTEİNLER BULUNUR</a:t>
            </a:r>
          </a:p>
          <a:p>
            <a:r>
              <a:rPr lang="tr-TR" b="1" i="1" dirty="0" smtClean="0"/>
              <a:t>Bunlar </a:t>
            </a:r>
            <a:r>
              <a:rPr lang="tr-TR" b="1" i="1" dirty="0" err="1" smtClean="0"/>
              <a:t>viral</a:t>
            </a:r>
            <a:r>
              <a:rPr lang="tr-TR" b="1" i="1" dirty="0" smtClean="0"/>
              <a:t> genler tarafından kodlanan proteinlerdir</a:t>
            </a:r>
          </a:p>
          <a:p>
            <a:r>
              <a:rPr lang="tr-TR" b="1" i="1" dirty="0" smtClean="0"/>
              <a:t>Zarf yapısında başlıca 3 tip protein bulunabilir</a:t>
            </a:r>
          </a:p>
          <a:p>
            <a:endParaRPr lang="tr-TR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2852936"/>
            <a:ext cx="7792481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395536" y="260648"/>
            <a:ext cx="8229600" cy="1440160"/>
          </a:xfrm>
        </p:spPr>
        <p:txBody>
          <a:bodyPr>
            <a:noAutofit/>
          </a:bodyPr>
          <a:lstStyle/>
          <a:p>
            <a:r>
              <a:rPr lang="tr-TR" sz="3200" b="1" dirty="0" smtClean="0">
                <a:solidFill>
                  <a:srgbClr val="FF0000"/>
                </a:solidFill>
              </a:rPr>
              <a:t>VİRAL ZARF ÜZERİNDE BULUNAN PROTEİNLER BAŞLICA</a:t>
            </a:r>
            <a:br>
              <a:rPr lang="tr-TR" sz="3200" b="1" dirty="0" smtClean="0">
                <a:solidFill>
                  <a:srgbClr val="FF0000"/>
                </a:solidFill>
              </a:rPr>
            </a:br>
            <a:r>
              <a:rPr lang="tr-TR" sz="3200" b="1" dirty="0" smtClean="0">
                <a:solidFill>
                  <a:srgbClr val="FF0000"/>
                </a:solidFill>
              </a:rPr>
              <a:t>ÜÇ GRUP ALTINDA İNCELENİRLER</a:t>
            </a:r>
            <a:endParaRPr lang="tr-TR" sz="3200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457200" y="1772816"/>
            <a:ext cx="8229600" cy="4353347"/>
          </a:xfrm>
        </p:spPr>
        <p:txBody>
          <a:bodyPr>
            <a:normAutofit/>
          </a:bodyPr>
          <a:lstStyle/>
          <a:p>
            <a:pPr>
              <a:buNone/>
            </a:pPr>
            <a:endParaRPr lang="tr-TR" sz="2800" b="1" dirty="0" smtClean="0"/>
          </a:p>
          <a:p>
            <a:r>
              <a:rPr lang="tr-TR" sz="2800" b="1" dirty="0" smtClean="0"/>
              <a:t>A – </a:t>
            </a:r>
            <a:r>
              <a:rPr lang="tr-TR" sz="2800" b="1" dirty="0" err="1" smtClean="0"/>
              <a:t>Glikoproteinler</a:t>
            </a:r>
            <a:r>
              <a:rPr lang="tr-TR" sz="2800" b="1" dirty="0" smtClean="0"/>
              <a:t> (zarfın dış kısmında çıkıntılar 				halinde bulunur)</a:t>
            </a:r>
          </a:p>
          <a:p>
            <a:pPr>
              <a:buNone/>
            </a:pPr>
            <a:endParaRPr lang="tr-TR" sz="2800" b="1" dirty="0" smtClean="0"/>
          </a:p>
          <a:p>
            <a:r>
              <a:rPr lang="tr-TR" sz="2800" b="1" dirty="0" smtClean="0"/>
              <a:t>B – </a:t>
            </a:r>
            <a:r>
              <a:rPr lang="tr-TR" sz="2800" b="1" dirty="0" err="1" smtClean="0"/>
              <a:t>Matriks</a:t>
            </a:r>
            <a:r>
              <a:rPr lang="tr-TR" sz="2800" b="1" dirty="0" smtClean="0"/>
              <a:t> proteinleri (</a:t>
            </a:r>
            <a:r>
              <a:rPr lang="tr-TR" sz="2800" b="1" dirty="0" err="1" smtClean="0"/>
              <a:t>membran</a:t>
            </a:r>
            <a:r>
              <a:rPr lang="tr-TR" sz="2800" b="1" dirty="0" smtClean="0"/>
              <a:t> altında yer alırlar)</a:t>
            </a:r>
          </a:p>
          <a:p>
            <a:pPr>
              <a:buNone/>
            </a:pPr>
            <a:endParaRPr lang="tr-TR" sz="2800" b="1" dirty="0" smtClean="0"/>
          </a:p>
          <a:p>
            <a:endParaRPr lang="tr-TR" sz="2800" b="1" dirty="0" smtClean="0"/>
          </a:p>
          <a:p>
            <a:r>
              <a:rPr lang="tr-TR" sz="2800" b="1" dirty="0" smtClean="0"/>
              <a:t>C  – Transport kanal proteinleri</a:t>
            </a:r>
            <a:endParaRPr lang="tr-TR" sz="2800" b="1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251520" y="332656"/>
            <a:ext cx="8496944" cy="6264696"/>
          </a:xfrm>
        </p:spPr>
        <p:txBody>
          <a:bodyPr>
            <a:normAutofit fontScale="85000" lnSpcReduction="10000"/>
          </a:bodyPr>
          <a:lstStyle/>
          <a:p>
            <a:pPr algn="ctr">
              <a:buNone/>
            </a:pPr>
            <a:r>
              <a:rPr lang="tr-TR" dirty="0" smtClean="0"/>
              <a:t>	</a:t>
            </a:r>
            <a:r>
              <a:rPr lang="tr-TR" sz="4700" b="1" dirty="0" smtClean="0">
                <a:solidFill>
                  <a:srgbClr val="FF0000"/>
                </a:solidFill>
              </a:rPr>
              <a:t>GLİKOPROTEİNLER (</a:t>
            </a:r>
            <a:r>
              <a:rPr lang="tr-TR" sz="4700" b="1" dirty="0" err="1" smtClean="0">
                <a:solidFill>
                  <a:srgbClr val="FF0000"/>
                </a:solidFill>
              </a:rPr>
              <a:t>peplomer</a:t>
            </a:r>
            <a:r>
              <a:rPr lang="tr-TR" sz="4700" b="1" dirty="0" smtClean="0">
                <a:solidFill>
                  <a:srgbClr val="FF0000"/>
                </a:solidFill>
              </a:rPr>
              <a:t>)</a:t>
            </a:r>
          </a:p>
          <a:p>
            <a:r>
              <a:rPr lang="tr-TR" b="1" dirty="0" smtClean="0"/>
              <a:t>Zarf üzerinde bulunan dikensi çıkıntılardır</a:t>
            </a:r>
          </a:p>
          <a:p>
            <a:r>
              <a:rPr lang="tr-TR" b="1" dirty="0" err="1" smtClean="0"/>
              <a:t>Peplomer</a:t>
            </a:r>
            <a:r>
              <a:rPr lang="tr-TR" b="1" dirty="0" smtClean="0"/>
              <a:t> olarak da adlandırılırlar</a:t>
            </a:r>
          </a:p>
          <a:p>
            <a:r>
              <a:rPr lang="tr-TR" b="1" dirty="0" err="1" smtClean="0"/>
              <a:t>Transmembran</a:t>
            </a:r>
            <a:r>
              <a:rPr lang="tr-TR" b="1" dirty="0" smtClean="0"/>
              <a:t> proteinleridir</a:t>
            </a:r>
          </a:p>
          <a:p>
            <a:r>
              <a:rPr lang="tr-TR" b="1" dirty="0" smtClean="0"/>
              <a:t>Bu proteinlerin büyük bir bölümü zarfın dışında yer alır ancak kuyruk kısmı </a:t>
            </a:r>
            <a:r>
              <a:rPr lang="tr-TR" b="1" dirty="0" err="1" smtClean="0"/>
              <a:t>hidrofobik</a:t>
            </a:r>
            <a:r>
              <a:rPr lang="tr-TR" b="1" dirty="0" smtClean="0"/>
              <a:t> a.a. </a:t>
            </a:r>
            <a:r>
              <a:rPr lang="tr-TR" b="1" dirty="0" err="1" smtClean="0"/>
              <a:t>lerle</a:t>
            </a:r>
            <a:r>
              <a:rPr lang="tr-TR" b="1" dirty="0" smtClean="0"/>
              <a:t> birlikte </a:t>
            </a:r>
            <a:r>
              <a:rPr lang="tr-TR" b="1" dirty="0" err="1" smtClean="0"/>
              <a:t>membran</a:t>
            </a:r>
            <a:r>
              <a:rPr lang="tr-TR" b="1" dirty="0" smtClean="0"/>
              <a:t> içerisine gömülü haldedir</a:t>
            </a:r>
          </a:p>
          <a:p>
            <a:pPr>
              <a:buNone/>
            </a:pPr>
            <a:r>
              <a:rPr lang="tr-TR" b="1" dirty="0" smtClean="0">
                <a:solidFill>
                  <a:srgbClr val="FF0000"/>
                </a:solidFill>
              </a:rPr>
              <a:t>			</a:t>
            </a:r>
            <a:r>
              <a:rPr lang="tr-TR" sz="3800" b="1" dirty="0" smtClean="0">
                <a:solidFill>
                  <a:srgbClr val="FF0000"/>
                </a:solidFill>
              </a:rPr>
              <a:t>GÖREVLERİ NEDİR?</a:t>
            </a:r>
          </a:p>
          <a:p>
            <a:r>
              <a:rPr lang="tr-TR" b="1" dirty="0" smtClean="0">
                <a:solidFill>
                  <a:srgbClr val="7030A0"/>
                </a:solidFill>
              </a:rPr>
              <a:t>Virüsün konak hücreye </a:t>
            </a:r>
            <a:r>
              <a:rPr lang="tr-TR" b="1" dirty="0" err="1" smtClean="0">
                <a:solidFill>
                  <a:srgbClr val="7030A0"/>
                </a:solidFill>
              </a:rPr>
              <a:t>adsorbsiyonunu</a:t>
            </a:r>
            <a:r>
              <a:rPr lang="tr-TR" b="1" dirty="0" smtClean="0">
                <a:solidFill>
                  <a:srgbClr val="7030A0"/>
                </a:solidFill>
              </a:rPr>
              <a:t> ve </a:t>
            </a:r>
            <a:r>
              <a:rPr lang="tr-TR" b="1" dirty="0" err="1" smtClean="0">
                <a:solidFill>
                  <a:srgbClr val="7030A0"/>
                </a:solidFill>
              </a:rPr>
              <a:t>penetrasyonunu</a:t>
            </a:r>
            <a:r>
              <a:rPr lang="tr-TR" b="1" dirty="0" smtClean="0">
                <a:solidFill>
                  <a:srgbClr val="7030A0"/>
                </a:solidFill>
              </a:rPr>
              <a:t> sağlar</a:t>
            </a:r>
          </a:p>
          <a:p>
            <a:r>
              <a:rPr lang="tr-TR" b="1" dirty="0" smtClean="0">
                <a:solidFill>
                  <a:srgbClr val="FF0000"/>
                </a:solidFill>
              </a:rPr>
              <a:t>Yani virüsün konak hücreye tutunmasında ve hücreyi delerek içeri girmesinde önemli rol oynarlar</a:t>
            </a:r>
          </a:p>
          <a:p>
            <a:r>
              <a:rPr lang="tr-TR" sz="2800" b="1" dirty="0" smtClean="0"/>
              <a:t>Kuduz virüsünde beyin hücrelerinde </a:t>
            </a:r>
            <a:r>
              <a:rPr lang="tr-TR" sz="2800" b="1" dirty="0" err="1" smtClean="0"/>
              <a:t>asetil</a:t>
            </a:r>
            <a:r>
              <a:rPr lang="tr-TR" sz="2800" b="1" dirty="0" smtClean="0"/>
              <a:t> kolin reseptörlerine bağlanarak </a:t>
            </a:r>
            <a:r>
              <a:rPr lang="tr-TR" sz="2800" b="1" dirty="0" err="1" smtClean="0"/>
              <a:t>nörotoksik</a:t>
            </a:r>
            <a:r>
              <a:rPr lang="tr-TR" sz="2800" b="1" dirty="0" smtClean="0"/>
              <a:t> etki gösterir</a:t>
            </a:r>
          </a:p>
          <a:p>
            <a:pPr>
              <a:buNone/>
            </a:pPr>
            <a:endParaRPr lang="tr-TR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tijen\Desktop\seki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476672"/>
            <a:ext cx="7272808" cy="58626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tijen\Desktop\images.jf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548680"/>
            <a:ext cx="7653376" cy="583264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tr-TR" sz="4000" b="1" dirty="0" smtClean="0">
                <a:solidFill>
                  <a:srgbClr val="FF0000"/>
                </a:solidFill>
              </a:rPr>
              <a:t>GLİKOPROTEİNLER</a:t>
            </a:r>
            <a:br>
              <a:rPr lang="tr-TR" sz="4000" b="1" dirty="0" smtClean="0">
                <a:solidFill>
                  <a:srgbClr val="FF0000"/>
                </a:solidFill>
              </a:rPr>
            </a:br>
            <a:r>
              <a:rPr lang="tr-TR" sz="4000" b="1" dirty="0" smtClean="0">
                <a:solidFill>
                  <a:srgbClr val="FF0000"/>
                </a:solidFill>
              </a:rPr>
              <a:t> (</a:t>
            </a:r>
            <a:r>
              <a:rPr lang="tr-TR" sz="4000" b="1" dirty="0" err="1" smtClean="0">
                <a:solidFill>
                  <a:srgbClr val="FF0000"/>
                </a:solidFill>
              </a:rPr>
              <a:t>peplomer</a:t>
            </a:r>
            <a:r>
              <a:rPr lang="tr-TR" sz="4000" b="1" dirty="0" smtClean="0">
                <a:solidFill>
                  <a:srgbClr val="FF0000"/>
                </a:solidFill>
              </a:rPr>
              <a:t>)</a:t>
            </a:r>
            <a:endParaRPr lang="tr-TR" sz="40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4853136"/>
          </a:xfrm>
        </p:spPr>
        <p:txBody>
          <a:bodyPr/>
          <a:lstStyle/>
          <a:p>
            <a:r>
              <a:rPr lang="tr-TR" b="1" dirty="0" err="1" smtClean="0"/>
              <a:t>Peplomer</a:t>
            </a:r>
            <a:r>
              <a:rPr lang="tr-TR" b="1" dirty="0" smtClean="0"/>
              <a:t> sayısı </a:t>
            </a:r>
            <a:r>
              <a:rPr lang="tr-TR" b="1" dirty="0" err="1" smtClean="0"/>
              <a:t>virus</a:t>
            </a:r>
            <a:r>
              <a:rPr lang="tr-TR" b="1" dirty="0" smtClean="0"/>
              <a:t> gruplarına</a:t>
            </a:r>
          </a:p>
          <a:p>
            <a:pPr>
              <a:buNone/>
            </a:pPr>
            <a:r>
              <a:rPr lang="tr-TR" b="1" dirty="0" smtClean="0"/>
              <a:t>     göre değişiklik gösterir</a:t>
            </a:r>
          </a:p>
          <a:p>
            <a:pPr>
              <a:buNone/>
            </a:pPr>
            <a:r>
              <a:rPr lang="tr-TR" b="1" dirty="0" smtClean="0"/>
              <a:t>Bu sınıflandırmada önemli</a:t>
            </a:r>
          </a:p>
          <a:p>
            <a:r>
              <a:rPr lang="tr-TR" b="1" i="1" dirty="0" smtClean="0">
                <a:solidFill>
                  <a:srgbClr val="FF0000"/>
                </a:solidFill>
              </a:rPr>
              <a:t>ÖNEMLİ</a:t>
            </a:r>
          </a:p>
          <a:p>
            <a:r>
              <a:rPr lang="tr-TR" b="1" i="1" dirty="0" smtClean="0"/>
              <a:t>Bazı </a:t>
            </a:r>
            <a:r>
              <a:rPr lang="tr-TR" b="1" i="1" dirty="0" err="1" smtClean="0"/>
              <a:t>viral</a:t>
            </a:r>
            <a:r>
              <a:rPr lang="tr-TR" b="1" i="1" dirty="0" smtClean="0"/>
              <a:t> </a:t>
            </a:r>
            <a:r>
              <a:rPr lang="tr-TR" b="1" i="1" dirty="0" err="1" smtClean="0"/>
              <a:t>glikoproteinler</a:t>
            </a:r>
            <a:endParaRPr lang="tr-TR" b="1" i="1" dirty="0" smtClean="0"/>
          </a:p>
          <a:p>
            <a:r>
              <a:rPr lang="tr-TR" b="1" i="1" dirty="0" smtClean="0"/>
              <a:t> farklı işlevlere de sahiptir</a:t>
            </a:r>
          </a:p>
          <a:p>
            <a:r>
              <a:rPr lang="tr-TR" b="1" i="1" dirty="0" smtClean="0"/>
              <a:t>Hücreler arası kaynaşmayı sağlar</a:t>
            </a:r>
          </a:p>
          <a:p>
            <a:r>
              <a:rPr lang="tr-TR" b="1" i="1" dirty="0" smtClean="0"/>
              <a:t>Örn: </a:t>
            </a:r>
            <a:r>
              <a:rPr lang="tr-TR" b="1" i="1" dirty="0" err="1" smtClean="0"/>
              <a:t>İnfluenza</a:t>
            </a:r>
            <a:r>
              <a:rPr lang="tr-TR" b="1" i="1" dirty="0" smtClean="0"/>
              <a:t> ve kızamık </a:t>
            </a:r>
            <a:endParaRPr lang="tr-TR" dirty="0"/>
          </a:p>
        </p:txBody>
      </p:sp>
      <p:pic>
        <p:nvPicPr>
          <p:cNvPr id="4" name="Picture 3" descr="C:\Users\user\Desktop\Adsız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64088" y="2204864"/>
            <a:ext cx="3086165" cy="28083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179512" y="404664"/>
            <a:ext cx="8784976" cy="6120680"/>
          </a:xfrm>
        </p:spPr>
        <p:txBody>
          <a:bodyPr>
            <a:normAutofit/>
          </a:bodyPr>
          <a:lstStyle/>
          <a:p>
            <a:r>
              <a:rPr lang="tr-TR" b="1" dirty="0" err="1" smtClean="0">
                <a:solidFill>
                  <a:srgbClr val="FF0000"/>
                </a:solidFill>
              </a:rPr>
              <a:t>Nöraminidaz</a:t>
            </a:r>
            <a:r>
              <a:rPr lang="tr-TR" b="1" dirty="0" smtClean="0">
                <a:solidFill>
                  <a:srgbClr val="FF0000"/>
                </a:solidFill>
              </a:rPr>
              <a:t> nedir = Bazı virüslerin yüzeyinde olan ve hücrelerde bu virüsler için bulunan reseptörleri tahrip = </a:t>
            </a:r>
            <a:r>
              <a:rPr lang="tr-TR" b="1" dirty="0" err="1" smtClean="0">
                <a:solidFill>
                  <a:srgbClr val="FF0000"/>
                </a:solidFill>
              </a:rPr>
              <a:t>aglütine</a:t>
            </a:r>
            <a:r>
              <a:rPr lang="tr-TR" b="1" dirty="0" smtClean="0">
                <a:solidFill>
                  <a:srgbClr val="FF0000"/>
                </a:solidFill>
              </a:rPr>
              <a:t> eden bir enzimdir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tr-TR" sz="3200" b="1" dirty="0" err="1" smtClean="0">
                <a:solidFill>
                  <a:srgbClr val="FF0000"/>
                </a:solidFill>
              </a:rPr>
              <a:t>Nöraminidaz</a:t>
            </a:r>
            <a:r>
              <a:rPr lang="tr-TR" sz="3200" b="1" dirty="0" smtClean="0">
                <a:solidFill>
                  <a:srgbClr val="FF0000"/>
                </a:solidFill>
              </a:rPr>
              <a:t> = </a:t>
            </a:r>
            <a:r>
              <a:rPr lang="tr-TR" sz="3200" b="1" dirty="0" err="1" smtClean="0">
                <a:solidFill>
                  <a:srgbClr val="FF0000"/>
                </a:solidFill>
              </a:rPr>
              <a:t>infekte</a:t>
            </a:r>
            <a:r>
              <a:rPr lang="tr-TR" sz="3200" b="1" dirty="0" smtClean="0">
                <a:solidFill>
                  <a:srgbClr val="FF0000"/>
                </a:solidFill>
              </a:rPr>
              <a:t> hücre yüzeyinden virüs kümeleşmesini ve yayılmasını önler)</a:t>
            </a:r>
          </a:p>
          <a:p>
            <a:pPr>
              <a:buNone/>
            </a:pPr>
            <a:endParaRPr lang="tr-TR" sz="2800" b="1" dirty="0" smtClean="0"/>
          </a:p>
          <a:p>
            <a:r>
              <a:rPr lang="tr-TR" sz="2800" b="1" dirty="0" err="1" smtClean="0"/>
              <a:t>Influenza</a:t>
            </a:r>
            <a:r>
              <a:rPr lang="tr-TR" sz="2800" b="1" dirty="0" smtClean="0"/>
              <a:t> virüsünde ise </a:t>
            </a:r>
            <a:r>
              <a:rPr lang="tr-TR" sz="2800" b="1" dirty="0" err="1" smtClean="0"/>
              <a:t>nöroaminidaz</a:t>
            </a:r>
            <a:r>
              <a:rPr lang="tr-TR" sz="2800" b="1" dirty="0" smtClean="0"/>
              <a:t> etkisi gösteren </a:t>
            </a:r>
            <a:r>
              <a:rPr lang="tr-TR" sz="2800" b="1" dirty="0" err="1" smtClean="0"/>
              <a:t>glikoproteinler</a:t>
            </a:r>
            <a:r>
              <a:rPr lang="tr-TR" sz="2800" b="1" dirty="0" smtClean="0"/>
              <a:t> mevcuttur</a:t>
            </a:r>
          </a:p>
          <a:p>
            <a:r>
              <a:rPr lang="tr-TR" sz="2800" b="1" dirty="0" smtClean="0"/>
              <a:t>Virüs bu sayede üst solunum yolunda bulunan </a:t>
            </a:r>
            <a:r>
              <a:rPr lang="tr-TR" sz="2800" b="1" dirty="0" err="1" smtClean="0"/>
              <a:t>musin</a:t>
            </a:r>
            <a:r>
              <a:rPr lang="tr-TR" sz="2800" b="1" dirty="0" smtClean="0"/>
              <a:t> tabakasını eriterek hücrelerin yüzeyini açığa çıkarır</a:t>
            </a:r>
          </a:p>
          <a:p>
            <a:r>
              <a:rPr lang="tr-TR" sz="2800" b="1" dirty="0" smtClean="0"/>
              <a:t>Böylece yüzeyi açığa çıkmış hücrelere virüs daha kolay </a:t>
            </a:r>
            <a:r>
              <a:rPr lang="tr-TR" sz="2800" b="1" dirty="0" err="1" smtClean="0"/>
              <a:t>adsorbe</a:t>
            </a:r>
            <a:r>
              <a:rPr lang="tr-TR" sz="2800" b="1" dirty="0" smtClean="0"/>
              <a:t> olur</a:t>
            </a:r>
            <a:endParaRPr lang="tr-TR" sz="2800" b="1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323528" y="404664"/>
            <a:ext cx="8568952" cy="612068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tr-TR" sz="2800" b="1" dirty="0" smtClean="0">
                <a:solidFill>
                  <a:srgbClr val="FF0000"/>
                </a:solidFill>
              </a:rPr>
              <a:t>			</a:t>
            </a:r>
            <a:r>
              <a:rPr lang="tr-TR" sz="4000" b="1" dirty="0" smtClean="0">
                <a:solidFill>
                  <a:srgbClr val="FF0000"/>
                </a:solidFill>
              </a:rPr>
              <a:t> MATRİKS PROTEİNLERİ</a:t>
            </a:r>
            <a:endParaRPr lang="tr-TR" sz="4000" b="1" dirty="0" smtClean="0">
              <a:solidFill>
                <a:srgbClr val="7030A0"/>
              </a:solidFill>
            </a:endParaRPr>
          </a:p>
          <a:p>
            <a:r>
              <a:rPr lang="tr-TR" sz="2800" b="1" dirty="0" smtClean="0">
                <a:solidFill>
                  <a:srgbClr val="7030A0"/>
                </a:solidFill>
              </a:rPr>
              <a:t>M proteinleri olarak da adlandırılan </a:t>
            </a:r>
            <a:r>
              <a:rPr lang="tr-TR" sz="2800" b="1" dirty="0" err="1" smtClean="0">
                <a:solidFill>
                  <a:srgbClr val="7030A0"/>
                </a:solidFill>
              </a:rPr>
              <a:t>matriks</a:t>
            </a:r>
            <a:r>
              <a:rPr lang="tr-TR" sz="2800" b="1" dirty="0" smtClean="0">
                <a:solidFill>
                  <a:srgbClr val="7030A0"/>
                </a:solidFill>
              </a:rPr>
              <a:t> proteinleri</a:t>
            </a:r>
            <a:r>
              <a:rPr lang="tr-TR" sz="2800" b="1" dirty="0" smtClean="0"/>
              <a:t>, </a:t>
            </a:r>
            <a:r>
              <a:rPr lang="tr-TR" sz="2800" b="1" dirty="0" err="1" smtClean="0"/>
              <a:t>glikoprotein</a:t>
            </a:r>
            <a:r>
              <a:rPr lang="tr-TR" sz="2800" b="1" dirty="0" smtClean="0"/>
              <a:t> çıkıntıların taban kısmında, virüsü çevreleyen proteinlerdir</a:t>
            </a:r>
          </a:p>
          <a:p>
            <a:r>
              <a:rPr lang="tr-TR" sz="2800" b="1" dirty="0" smtClean="0"/>
              <a:t>Bu proteinler bir çok </a:t>
            </a:r>
            <a:r>
              <a:rPr lang="tr-TR" sz="2800" b="1" dirty="0" err="1" smtClean="0"/>
              <a:t>hidrofobik</a:t>
            </a:r>
            <a:r>
              <a:rPr lang="tr-TR" sz="2800" b="1" dirty="0" smtClean="0"/>
              <a:t> bağlarla zarfın lipit tabakasına bağlanırlar</a:t>
            </a:r>
          </a:p>
          <a:p>
            <a:pPr>
              <a:buNone/>
            </a:pPr>
            <a:r>
              <a:rPr lang="tr-TR" sz="2800" b="1" dirty="0" smtClean="0">
                <a:solidFill>
                  <a:srgbClr val="FF0000"/>
                </a:solidFill>
              </a:rPr>
              <a:t>		            </a:t>
            </a:r>
            <a:r>
              <a:rPr lang="tr-TR" b="1" dirty="0" smtClean="0">
                <a:solidFill>
                  <a:srgbClr val="FF0000"/>
                </a:solidFill>
              </a:rPr>
              <a:t>GÖREVLERİ NEDİR?</a:t>
            </a:r>
            <a:endParaRPr lang="tr-TR" dirty="0" smtClean="0"/>
          </a:p>
          <a:p>
            <a:r>
              <a:rPr lang="tr-TR" sz="3000" b="1" dirty="0" err="1" smtClean="0"/>
              <a:t>Matriks</a:t>
            </a:r>
            <a:r>
              <a:rPr lang="tr-TR" sz="3000" b="1" dirty="0" smtClean="0"/>
              <a:t> proteinleri virüslerin hücre </a:t>
            </a:r>
            <a:r>
              <a:rPr lang="tr-TR" sz="3000" b="1" dirty="0" err="1" smtClean="0"/>
              <a:t>membranından</a:t>
            </a:r>
            <a:r>
              <a:rPr lang="tr-TR" sz="3000" b="1" dirty="0" smtClean="0"/>
              <a:t> tomurcuklanmasında </a:t>
            </a:r>
            <a:r>
              <a:rPr lang="tr-TR" sz="3000" b="1" dirty="0" smtClean="0">
                <a:solidFill>
                  <a:srgbClr val="FF0000"/>
                </a:solidFill>
              </a:rPr>
              <a:t>(tomurcuklanarak konak hücreden ayrılmasında) önemli rol oynarlar</a:t>
            </a:r>
          </a:p>
          <a:p>
            <a:endParaRPr lang="tr-TR" sz="3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7" y="404664"/>
            <a:ext cx="8568953" cy="52565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user\Desktop\Adsız.pn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620688"/>
            <a:ext cx="6840538" cy="525621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tr-TR" sz="4000" b="1" dirty="0" smtClean="0">
                <a:solidFill>
                  <a:srgbClr val="FF0000"/>
                </a:solidFill>
              </a:rPr>
              <a:t>ZARFSIZ VİRUSLARIN ÖZELLİKLERİ</a:t>
            </a:r>
            <a:endParaRPr lang="tr-TR" sz="4000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00600"/>
          </a:xfrm>
        </p:spPr>
        <p:txBody>
          <a:bodyPr>
            <a:noAutofit/>
          </a:bodyPr>
          <a:lstStyle/>
          <a:p>
            <a:r>
              <a:rPr lang="tr-TR" sz="2300" b="1" dirty="0" smtClean="0"/>
              <a:t>Dış çevre şartlarına dayanıklıdır (Stabil). Özellikle toprakta ve kuru çevrede dayanıklıdırlar ve </a:t>
            </a:r>
            <a:r>
              <a:rPr lang="tr-TR" sz="2300" b="1" dirty="0" err="1" smtClean="0"/>
              <a:t>enfektif</a:t>
            </a:r>
            <a:r>
              <a:rPr lang="tr-TR" sz="2300" b="1" dirty="0" smtClean="0"/>
              <a:t> özelliğini sürdürürler</a:t>
            </a:r>
          </a:p>
          <a:p>
            <a:r>
              <a:rPr lang="tr-TR" sz="2300" b="1" dirty="0" smtClean="0"/>
              <a:t>Zarflı </a:t>
            </a:r>
            <a:r>
              <a:rPr lang="tr-TR" sz="2300" b="1" dirty="0" err="1" smtClean="0"/>
              <a:t>viruslar</a:t>
            </a:r>
            <a:r>
              <a:rPr lang="tr-TR" sz="2300" b="1" dirty="0" smtClean="0"/>
              <a:t> ile karşılaştırıldıklarında daha </a:t>
            </a:r>
            <a:r>
              <a:rPr lang="tr-TR" sz="2300" b="1" dirty="0" err="1" smtClean="0">
                <a:solidFill>
                  <a:srgbClr val="FF0000"/>
                </a:solidFill>
              </a:rPr>
              <a:t>virulenttir</a:t>
            </a:r>
            <a:r>
              <a:rPr lang="tr-TR" sz="2300" b="1" dirty="0" smtClean="0">
                <a:solidFill>
                  <a:srgbClr val="FF0000"/>
                </a:solidFill>
              </a:rPr>
              <a:t> ve konakçı hücreyi </a:t>
            </a:r>
            <a:r>
              <a:rPr lang="tr-TR" sz="2300" b="1" dirty="0" err="1" smtClean="0">
                <a:solidFill>
                  <a:srgbClr val="FF0000"/>
                </a:solidFill>
              </a:rPr>
              <a:t>lizis</a:t>
            </a:r>
            <a:r>
              <a:rPr lang="tr-TR" sz="2300" b="1" dirty="0" smtClean="0">
                <a:solidFill>
                  <a:srgbClr val="FF0000"/>
                </a:solidFill>
              </a:rPr>
              <a:t> ederler</a:t>
            </a:r>
          </a:p>
          <a:p>
            <a:r>
              <a:rPr lang="tr-TR" sz="2300" b="1" dirty="0" smtClean="0"/>
              <a:t>Asit deterjan ve ısı karşısında tahrip olmazlar</a:t>
            </a:r>
          </a:p>
          <a:p>
            <a:r>
              <a:rPr lang="tr-TR" sz="2300" b="1" dirty="0" smtClean="0">
                <a:solidFill>
                  <a:srgbClr val="FF0000"/>
                </a:solidFill>
              </a:rPr>
              <a:t>Hücreden </a:t>
            </a:r>
            <a:r>
              <a:rPr lang="tr-TR" sz="2300" b="1" dirty="0" err="1" smtClean="0">
                <a:solidFill>
                  <a:srgbClr val="FF0000"/>
                </a:solidFill>
              </a:rPr>
              <a:t>lizis</a:t>
            </a:r>
            <a:r>
              <a:rPr lang="tr-TR" sz="2300" b="1" dirty="0" smtClean="0">
                <a:solidFill>
                  <a:srgbClr val="FF0000"/>
                </a:solidFill>
              </a:rPr>
              <a:t> yolu ile salınırlar</a:t>
            </a:r>
          </a:p>
          <a:p>
            <a:r>
              <a:rPr lang="tr-TR" sz="2300" b="1" dirty="0" smtClean="0"/>
              <a:t>GI sistemi </a:t>
            </a:r>
            <a:r>
              <a:rPr lang="tr-TR" sz="2300" b="1" dirty="0" err="1" smtClean="0"/>
              <a:t>enfekte</a:t>
            </a:r>
            <a:r>
              <a:rPr lang="tr-TR" sz="2300" b="1" dirty="0" smtClean="0"/>
              <a:t> edebilirler; bu nedenle asit ve safraya dayanıklıdırlar</a:t>
            </a:r>
            <a:r>
              <a:rPr lang="tr-TR" sz="2400" b="1" dirty="0" smtClean="0"/>
              <a:t> ve  GI sistemde yaşayabilirler</a:t>
            </a:r>
            <a:endParaRPr lang="tr-TR" sz="2300" b="1" dirty="0" smtClean="0"/>
          </a:p>
          <a:p>
            <a:r>
              <a:rPr lang="tr-TR" sz="2300" b="1" dirty="0" smtClean="0"/>
              <a:t>Oluşturdukları enfeksiyonların </a:t>
            </a:r>
            <a:r>
              <a:rPr lang="tr-TR" sz="2300" b="1" dirty="0" err="1" smtClean="0"/>
              <a:t>kontrolu</a:t>
            </a:r>
            <a:r>
              <a:rPr lang="tr-TR" sz="2300" b="1" dirty="0" smtClean="0"/>
              <a:t> için sistemik antikorların yanı sıra lokal </a:t>
            </a:r>
            <a:r>
              <a:rPr lang="tr-TR" sz="2300" b="1" dirty="0" err="1" smtClean="0"/>
              <a:t>immuniteden</a:t>
            </a:r>
            <a:r>
              <a:rPr lang="tr-TR" sz="2300" b="1" dirty="0" smtClean="0"/>
              <a:t> sorumlu antikorlara ihtiyaç vardır</a:t>
            </a:r>
          </a:p>
          <a:p>
            <a:r>
              <a:rPr lang="tr-TR" sz="2300" b="1" dirty="0" smtClean="0"/>
              <a:t>Bulaşmasında </a:t>
            </a:r>
            <a:r>
              <a:rPr lang="tr-TR" sz="2300" b="1" dirty="0" err="1" smtClean="0"/>
              <a:t>fekal</a:t>
            </a:r>
            <a:r>
              <a:rPr lang="tr-TR" sz="2300" b="1" dirty="0" smtClean="0"/>
              <a:t>-oral yol, tozlar, araç ve gereç önemli rol oynar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ZARFSIZ VİRUSLAR</a:t>
            </a:r>
            <a:br>
              <a:rPr lang="tr-TR" b="1" dirty="0" smtClean="0">
                <a:solidFill>
                  <a:srgbClr val="FF0000"/>
                </a:solidFill>
              </a:rPr>
            </a:br>
            <a:r>
              <a:rPr lang="tr-TR" b="1" dirty="0" smtClean="0">
                <a:solidFill>
                  <a:srgbClr val="FF0000"/>
                </a:solidFill>
              </a:rPr>
              <a:t>ÖRNEKLER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tr-TR" dirty="0" smtClean="0"/>
          </a:p>
          <a:p>
            <a:r>
              <a:rPr lang="tr-TR" sz="2800" b="1" dirty="0" err="1" smtClean="0"/>
              <a:t>Picornaviridae</a:t>
            </a:r>
            <a:endParaRPr lang="tr-TR" sz="2800" b="1" dirty="0" smtClean="0"/>
          </a:p>
          <a:p>
            <a:r>
              <a:rPr lang="tr-TR" sz="2800" b="1" dirty="0" err="1" smtClean="0"/>
              <a:t>Adenoviridae</a:t>
            </a:r>
            <a:endParaRPr lang="tr-TR" sz="2800" b="1" dirty="0" smtClean="0"/>
          </a:p>
          <a:p>
            <a:r>
              <a:rPr lang="tr-TR" sz="2800" b="1" dirty="0" err="1" smtClean="0"/>
              <a:t>Reoviridae</a:t>
            </a:r>
            <a:endParaRPr lang="tr-TR" sz="2800" b="1" dirty="0" smtClean="0"/>
          </a:p>
          <a:p>
            <a:r>
              <a:rPr lang="tr-TR" sz="2800" b="1" dirty="0" err="1" smtClean="0"/>
              <a:t>Birnaviridae</a:t>
            </a:r>
            <a:endParaRPr lang="tr-TR" sz="2800" b="1" dirty="0" smtClean="0"/>
          </a:p>
          <a:p>
            <a:r>
              <a:rPr lang="tr-TR" sz="2800" b="1" dirty="0" err="1" smtClean="0"/>
              <a:t>Astroviridae</a:t>
            </a:r>
            <a:endParaRPr lang="tr-TR" sz="2800" b="1" dirty="0" smtClean="0"/>
          </a:p>
          <a:p>
            <a:r>
              <a:rPr lang="tr-TR" sz="2800" b="1" dirty="0" err="1" smtClean="0"/>
              <a:t>Papillomaaviridae</a:t>
            </a:r>
            <a:endParaRPr lang="tr-TR" sz="2800" b="1" dirty="0" smtClean="0"/>
          </a:p>
          <a:p>
            <a:r>
              <a:rPr lang="tr-TR" sz="2800" b="1" dirty="0" err="1" smtClean="0"/>
              <a:t>Polymaviridae</a:t>
            </a:r>
            <a:endParaRPr lang="tr-TR" sz="2800" b="1" dirty="0" smtClean="0"/>
          </a:p>
          <a:p>
            <a:endParaRPr lang="tr-TR" sz="2800" b="1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620688"/>
            <a:ext cx="7916863" cy="528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 descr="C:\Users\user\Desktop\virüs22-min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620688"/>
            <a:ext cx="7848600" cy="561662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323528" y="404664"/>
            <a:ext cx="8568952" cy="6192688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tr-TR" b="1" dirty="0" smtClean="0"/>
              <a:t>	</a:t>
            </a:r>
            <a:r>
              <a:rPr lang="tr-TR" sz="2400" b="1" dirty="0" err="1" smtClean="0"/>
              <a:t>İnfektif</a:t>
            </a:r>
            <a:r>
              <a:rPr lang="tr-TR" sz="2400" b="1" dirty="0" smtClean="0"/>
              <a:t> özelliğe sahip komple virüs partikülüne </a:t>
            </a:r>
            <a:r>
              <a:rPr lang="tr-TR" sz="2400" b="1" dirty="0" err="1" smtClean="0"/>
              <a:t>virion</a:t>
            </a:r>
            <a:r>
              <a:rPr lang="tr-TR" sz="2400" b="1" dirty="0" smtClean="0"/>
              <a:t> denir</a:t>
            </a:r>
            <a:endParaRPr lang="tr-TR" sz="2400" b="1" dirty="0" smtClean="0">
              <a:solidFill>
                <a:srgbClr val="FF0000"/>
              </a:solidFill>
            </a:endParaRPr>
          </a:p>
          <a:p>
            <a:pPr algn="ctr">
              <a:buNone/>
            </a:pPr>
            <a:r>
              <a:rPr lang="tr-TR" b="1" dirty="0" smtClean="0">
                <a:solidFill>
                  <a:srgbClr val="FF0000"/>
                </a:solidFill>
              </a:rPr>
              <a:t> </a:t>
            </a:r>
            <a:r>
              <a:rPr lang="tr-TR" sz="2800" b="1" dirty="0" smtClean="0">
                <a:solidFill>
                  <a:srgbClr val="FF0000"/>
                </a:solidFill>
              </a:rPr>
              <a:t>ZARF BULUNUP BULUNMAMASINA GÖRE AYIRABİLİRİZ</a:t>
            </a:r>
            <a:r>
              <a:rPr lang="tr-TR" sz="2800" b="1" dirty="0" smtClean="0"/>
              <a:t>  </a:t>
            </a:r>
          </a:p>
          <a:p>
            <a:pPr>
              <a:buNone/>
            </a:pPr>
            <a:r>
              <a:rPr lang="tr-TR" b="1" dirty="0" smtClean="0"/>
              <a:t> 			1-Basit (</a:t>
            </a:r>
            <a:r>
              <a:rPr lang="tr-TR" b="1" dirty="0" err="1" smtClean="0"/>
              <a:t>Simple</a:t>
            </a:r>
            <a:r>
              <a:rPr lang="tr-TR" b="1" dirty="0" smtClean="0"/>
              <a:t>) </a:t>
            </a:r>
            <a:r>
              <a:rPr lang="tr-TR" b="1" dirty="0" err="1" smtClean="0"/>
              <a:t>Virion</a:t>
            </a:r>
            <a:endParaRPr lang="tr-TR" b="1" dirty="0" smtClean="0"/>
          </a:p>
          <a:p>
            <a:r>
              <a:rPr lang="tr-TR" b="1" dirty="0" err="1" smtClean="0">
                <a:solidFill>
                  <a:srgbClr val="0070C0"/>
                </a:solidFill>
              </a:rPr>
              <a:t>Nükleik</a:t>
            </a:r>
            <a:r>
              <a:rPr lang="tr-TR" b="1" dirty="0" smtClean="0">
                <a:solidFill>
                  <a:srgbClr val="0070C0"/>
                </a:solidFill>
              </a:rPr>
              <a:t> asit + </a:t>
            </a:r>
            <a:r>
              <a:rPr lang="tr-TR" b="1" dirty="0" err="1" smtClean="0">
                <a:solidFill>
                  <a:srgbClr val="0070C0"/>
                </a:solidFill>
              </a:rPr>
              <a:t>kapsit</a:t>
            </a:r>
            <a:endParaRPr lang="tr-TR" sz="2400" b="1" dirty="0" smtClean="0">
              <a:solidFill>
                <a:srgbClr val="0070C0"/>
              </a:solidFill>
            </a:endParaRPr>
          </a:p>
          <a:p>
            <a:pPr lvl="1"/>
            <a:r>
              <a:rPr lang="tr-TR" b="1" dirty="0" smtClean="0">
                <a:solidFill>
                  <a:schemeClr val="accent6">
                    <a:lumMod val="50000"/>
                  </a:schemeClr>
                </a:solidFill>
              </a:rPr>
              <a:t>Genel olarak çıplak (</a:t>
            </a:r>
            <a:r>
              <a:rPr lang="tr-TR" b="1" dirty="0" err="1" smtClean="0">
                <a:solidFill>
                  <a:schemeClr val="accent6">
                    <a:lumMod val="50000"/>
                  </a:schemeClr>
                </a:solidFill>
              </a:rPr>
              <a:t>Naked</a:t>
            </a:r>
            <a:r>
              <a:rPr lang="tr-TR" b="1" dirty="0" smtClean="0">
                <a:solidFill>
                  <a:schemeClr val="accent6">
                    <a:lumMod val="50000"/>
                  </a:schemeClr>
                </a:solidFill>
              </a:rPr>
              <a:t>) </a:t>
            </a:r>
            <a:r>
              <a:rPr lang="tr-TR" b="1" dirty="0" err="1" smtClean="0">
                <a:solidFill>
                  <a:schemeClr val="accent6">
                    <a:lumMod val="50000"/>
                  </a:schemeClr>
                </a:solidFill>
              </a:rPr>
              <a:t>virus</a:t>
            </a:r>
            <a:r>
              <a:rPr lang="tr-TR" b="1" dirty="0" smtClean="0">
                <a:solidFill>
                  <a:schemeClr val="accent6">
                    <a:lumMod val="50000"/>
                  </a:schemeClr>
                </a:solidFill>
              </a:rPr>
              <a:t> için geçerlidir</a:t>
            </a:r>
          </a:p>
          <a:p>
            <a:pPr lvl="1">
              <a:buNone/>
            </a:pPr>
            <a:endParaRPr lang="tr-TR" dirty="0" smtClean="0"/>
          </a:p>
          <a:p>
            <a:pPr>
              <a:buNone/>
            </a:pPr>
            <a:r>
              <a:rPr lang="tr-TR" b="1" dirty="0" smtClean="0"/>
              <a:t>		           2-Kompleks (</a:t>
            </a:r>
            <a:r>
              <a:rPr lang="tr-TR" b="1" dirty="0" err="1" smtClean="0"/>
              <a:t>Complex</a:t>
            </a:r>
            <a:r>
              <a:rPr lang="tr-TR" b="1" dirty="0" smtClean="0"/>
              <a:t>) </a:t>
            </a:r>
            <a:r>
              <a:rPr lang="tr-TR" b="1" dirty="0" err="1" smtClean="0"/>
              <a:t>Virion</a:t>
            </a:r>
            <a:endParaRPr lang="tr-TR" b="1" dirty="0" smtClean="0"/>
          </a:p>
          <a:p>
            <a:r>
              <a:rPr lang="tr-TR" b="1" dirty="0" err="1" smtClean="0">
                <a:solidFill>
                  <a:srgbClr val="7030A0"/>
                </a:solidFill>
              </a:rPr>
              <a:t>Nükleik</a:t>
            </a:r>
            <a:r>
              <a:rPr lang="tr-TR" b="1" dirty="0" smtClean="0">
                <a:solidFill>
                  <a:srgbClr val="7030A0"/>
                </a:solidFill>
              </a:rPr>
              <a:t> asit + </a:t>
            </a:r>
            <a:r>
              <a:rPr lang="tr-TR" b="1" dirty="0" err="1" smtClean="0">
                <a:solidFill>
                  <a:srgbClr val="7030A0"/>
                </a:solidFill>
              </a:rPr>
              <a:t>Kapsid</a:t>
            </a:r>
            <a:r>
              <a:rPr lang="tr-TR" b="1" dirty="0" smtClean="0">
                <a:solidFill>
                  <a:srgbClr val="7030A0"/>
                </a:solidFill>
              </a:rPr>
              <a:t>+ Zarf</a:t>
            </a:r>
            <a:endParaRPr lang="tr-TR" b="1" dirty="0">
              <a:solidFill>
                <a:srgbClr val="7030A0"/>
              </a:solidFill>
            </a:endParaRPr>
          </a:p>
        </p:txBody>
      </p:sp>
      <p:pic>
        <p:nvPicPr>
          <p:cNvPr id="4" name="Picture 2" descr="C:\Users\tijen\Desktop\Naked-enveloped-viruse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84168" y="4653136"/>
            <a:ext cx="2736304" cy="194693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>
            <a:normAutofit/>
          </a:bodyPr>
          <a:lstStyle/>
          <a:p>
            <a:r>
              <a:rPr lang="tr-TR" sz="4000" b="1" dirty="0" smtClean="0">
                <a:solidFill>
                  <a:srgbClr val="FF0000"/>
                </a:solidFill>
              </a:rPr>
              <a:t>TEGUMENT</a:t>
            </a:r>
            <a:endParaRPr lang="tr-TR" sz="4000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641379"/>
          </a:xfrm>
        </p:spPr>
        <p:txBody>
          <a:bodyPr/>
          <a:lstStyle/>
          <a:p>
            <a:r>
              <a:rPr lang="tr-TR" b="1" dirty="0" smtClean="0"/>
              <a:t>Zarf ile </a:t>
            </a:r>
            <a:r>
              <a:rPr lang="tr-TR" b="1" dirty="0" err="1" smtClean="0"/>
              <a:t>kapsid</a:t>
            </a:r>
            <a:r>
              <a:rPr lang="tr-TR" b="1" dirty="0" smtClean="0"/>
              <a:t> arasındaki boşluğu kaplayan bir protein kümesidir</a:t>
            </a:r>
            <a:endParaRPr lang="tr-TR" b="1" dirty="0"/>
          </a:p>
        </p:txBody>
      </p:sp>
      <p:pic>
        <p:nvPicPr>
          <p:cNvPr id="10242" name="Picture 2" descr="C:\Users\user\Desktop\Virus_tegum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63688" y="2708920"/>
            <a:ext cx="6043761" cy="352839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b="1" dirty="0" smtClean="0">
                <a:solidFill>
                  <a:srgbClr val="FF0000"/>
                </a:solidFill>
              </a:rPr>
              <a:t>TEGUMENT</a:t>
            </a:r>
            <a:endParaRPr lang="tr-TR" sz="40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800" b="1" dirty="0" smtClean="0"/>
              <a:t>Yapısal Proteinlerin bir kısmı </a:t>
            </a:r>
            <a:r>
              <a:rPr lang="tr-TR" sz="2800" b="1" dirty="0" err="1" smtClean="0"/>
              <a:t>kapsit</a:t>
            </a:r>
            <a:r>
              <a:rPr lang="tr-TR" sz="2800" b="1" dirty="0" smtClean="0"/>
              <a:t> ve zarf arasında birikip dolgu maddesi görevi görürler, özellikle </a:t>
            </a:r>
            <a:r>
              <a:rPr lang="tr-TR" sz="2800" b="1" dirty="0" err="1" smtClean="0"/>
              <a:t>helikal</a:t>
            </a:r>
            <a:r>
              <a:rPr lang="tr-TR" sz="2800" b="1" dirty="0" smtClean="0"/>
              <a:t> simetrili </a:t>
            </a:r>
            <a:r>
              <a:rPr lang="tr-TR" sz="2800" b="1" dirty="0" err="1" smtClean="0"/>
              <a:t>viruslarda</a:t>
            </a:r>
            <a:r>
              <a:rPr lang="tr-TR" sz="2800" b="1" dirty="0" smtClean="0"/>
              <a:t> görülür</a:t>
            </a:r>
            <a:r>
              <a:rPr lang="nb-NO" sz="2800" dirty="0" smtClean="0"/>
              <a:t> </a:t>
            </a:r>
            <a:endParaRPr lang="tr-TR" sz="2800" dirty="0" smtClean="0"/>
          </a:p>
          <a:p>
            <a:r>
              <a:rPr lang="nb-NO" sz="2800" b="1" dirty="0" smtClean="0"/>
              <a:t>Virus simetrisini desteklemek ve morfolojik stabiliteye yardım e</a:t>
            </a:r>
            <a:r>
              <a:rPr lang="tr-TR" sz="2800" b="1" dirty="0" smtClean="0"/>
              <a:t>eden protein kümesi</a:t>
            </a:r>
            <a:endParaRPr lang="tr-TR" sz="2800" b="1" dirty="0"/>
          </a:p>
        </p:txBody>
      </p:sp>
      <p:pic>
        <p:nvPicPr>
          <p:cNvPr id="4" name="Picture 2" descr="C:\Users\user\Desktop\HSV-1-virion-structure-The-virion-is-composed-of-the-viral-genome-capsid-tegument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35896" y="4005064"/>
            <a:ext cx="5143922" cy="237626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C:\Users\user\Desktop\Virus Structure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332656"/>
            <a:ext cx="7993062" cy="61912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sz="4000" b="1" dirty="0" smtClean="0">
                <a:solidFill>
                  <a:srgbClr val="FF0000"/>
                </a:solidFill>
              </a:rPr>
              <a:t>NÜKLEİK ASİD (Genom) YAPISI VE ÇEŞİTLERİ</a:t>
            </a:r>
            <a:endParaRPr lang="tr-TR" sz="4000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tr-TR" b="1" dirty="0" err="1" smtClean="0">
                <a:solidFill>
                  <a:srgbClr val="7030A0"/>
                </a:solidFill>
              </a:rPr>
              <a:t>Viruslarda</a:t>
            </a:r>
            <a:r>
              <a:rPr lang="tr-TR" b="1" dirty="0" smtClean="0">
                <a:solidFill>
                  <a:srgbClr val="7030A0"/>
                </a:solidFill>
              </a:rPr>
              <a:t> tek tip </a:t>
            </a:r>
            <a:r>
              <a:rPr lang="tr-TR" b="1" dirty="0" err="1" smtClean="0">
                <a:solidFill>
                  <a:srgbClr val="7030A0"/>
                </a:solidFill>
              </a:rPr>
              <a:t>nükleik</a:t>
            </a:r>
            <a:r>
              <a:rPr lang="tr-TR" b="1" dirty="0" smtClean="0">
                <a:solidFill>
                  <a:srgbClr val="7030A0"/>
                </a:solidFill>
              </a:rPr>
              <a:t> asit bulunur</a:t>
            </a:r>
          </a:p>
          <a:p>
            <a:pPr lvl="1">
              <a:buNone/>
            </a:pPr>
            <a:r>
              <a:rPr lang="tr-TR" b="1" dirty="0" smtClean="0">
                <a:solidFill>
                  <a:schemeClr val="accent6">
                    <a:lumMod val="50000"/>
                  </a:schemeClr>
                </a:solidFill>
              </a:rPr>
              <a:t>      </a:t>
            </a:r>
            <a:r>
              <a:rPr lang="tr-TR" b="1" dirty="0" err="1" smtClean="0">
                <a:solidFill>
                  <a:schemeClr val="accent6">
                    <a:lumMod val="50000"/>
                  </a:schemeClr>
                </a:solidFill>
              </a:rPr>
              <a:t>Deoksiribonükleik</a:t>
            </a:r>
            <a:r>
              <a:rPr lang="tr-TR" b="1" dirty="0" smtClean="0">
                <a:solidFill>
                  <a:schemeClr val="accent6">
                    <a:lumMod val="50000"/>
                  </a:schemeClr>
                </a:solidFill>
              </a:rPr>
              <a:t> asit (DNA)                                         	</a:t>
            </a:r>
            <a:r>
              <a:rPr lang="tr-TR" b="1" dirty="0" err="1" smtClean="0">
                <a:solidFill>
                  <a:schemeClr val="accent6">
                    <a:lumMod val="50000"/>
                  </a:schemeClr>
                </a:solidFill>
              </a:rPr>
              <a:t>Ribonükleik</a:t>
            </a:r>
            <a:r>
              <a:rPr lang="tr-TR" b="1" dirty="0" smtClean="0">
                <a:solidFill>
                  <a:schemeClr val="accent6">
                    <a:lumMod val="50000"/>
                  </a:schemeClr>
                </a:solidFill>
              </a:rPr>
              <a:t> asit (RNA) </a:t>
            </a:r>
          </a:p>
          <a:p>
            <a:r>
              <a:rPr lang="tr-TR" b="1" dirty="0" err="1" smtClean="0">
                <a:solidFill>
                  <a:srgbClr val="FF0000"/>
                </a:solidFill>
              </a:rPr>
              <a:t>Viruslarda</a:t>
            </a:r>
            <a:r>
              <a:rPr lang="tr-TR" b="1" dirty="0" smtClean="0">
                <a:solidFill>
                  <a:srgbClr val="FF0000"/>
                </a:solidFill>
              </a:rPr>
              <a:t> özgün genetik şifrenin taşıyıcısıdırlar</a:t>
            </a:r>
          </a:p>
          <a:p>
            <a:r>
              <a:rPr lang="tr-TR" b="1" dirty="0" err="1" smtClean="0"/>
              <a:t>Viral</a:t>
            </a:r>
            <a:r>
              <a:rPr lang="tr-TR" b="1" dirty="0" smtClean="0"/>
              <a:t> kalıtım ve genetik varyasyonu kontrol eder</a:t>
            </a:r>
          </a:p>
          <a:p>
            <a:r>
              <a:rPr lang="tr-TR" b="1" dirty="0" err="1" smtClean="0"/>
              <a:t>İnfektiviteden</a:t>
            </a:r>
            <a:r>
              <a:rPr lang="tr-TR" b="1" dirty="0" smtClean="0"/>
              <a:t> sorumludur</a:t>
            </a:r>
          </a:p>
          <a:p>
            <a:endParaRPr lang="tr-TR" sz="2800" b="1" dirty="0" smtClean="0"/>
          </a:p>
          <a:p>
            <a:r>
              <a:rPr lang="tr-TR" sz="2800" b="1" dirty="0" err="1" smtClean="0"/>
              <a:t>Virus</a:t>
            </a:r>
            <a:r>
              <a:rPr lang="tr-TR" sz="2800" b="1" dirty="0" smtClean="0"/>
              <a:t> </a:t>
            </a:r>
            <a:r>
              <a:rPr lang="tr-TR" sz="2800" b="1" dirty="0" err="1" smtClean="0"/>
              <a:t>nükleik</a:t>
            </a:r>
            <a:r>
              <a:rPr lang="tr-TR" sz="2800" b="1" dirty="0" smtClean="0"/>
              <a:t> </a:t>
            </a:r>
            <a:r>
              <a:rPr lang="tr-TR" sz="2800" b="1" dirty="0" err="1" smtClean="0"/>
              <a:t>asiti</a:t>
            </a:r>
            <a:r>
              <a:rPr lang="tr-TR" sz="2800" b="1" dirty="0" smtClean="0"/>
              <a:t> (N.A.) tek veya çift </a:t>
            </a:r>
            <a:r>
              <a:rPr lang="tr-TR" sz="2800" b="1" dirty="0" err="1" smtClean="0"/>
              <a:t>iplikçikli</a:t>
            </a:r>
            <a:r>
              <a:rPr lang="tr-TR" sz="2800" b="1" dirty="0" smtClean="0"/>
              <a:t>, </a:t>
            </a:r>
            <a:r>
              <a:rPr lang="tr-TR" sz="2800" b="1" dirty="0" err="1" smtClean="0"/>
              <a:t>linear</a:t>
            </a:r>
            <a:r>
              <a:rPr lang="tr-TR" sz="2800" b="1" dirty="0" smtClean="0"/>
              <a:t> veya sirküler yapıda olabilmektedir</a:t>
            </a:r>
          </a:p>
          <a:p>
            <a:pPr>
              <a:buNone/>
            </a:pPr>
            <a:endParaRPr lang="tr-TR" b="1" dirty="0" smtClean="0"/>
          </a:p>
          <a:p>
            <a:endParaRPr lang="tr-TR" b="1" dirty="0" smtClean="0">
              <a:solidFill>
                <a:schemeClr val="accent6">
                  <a:lumMod val="50000"/>
                </a:schemeClr>
              </a:solidFill>
            </a:endParaRPr>
          </a:p>
          <a:p>
            <a:pPr>
              <a:buNone/>
            </a:pPr>
            <a:endParaRPr lang="tr-TR" b="1" dirty="0" smtClean="0">
              <a:solidFill>
                <a:schemeClr val="accent6">
                  <a:lumMod val="50000"/>
                </a:schemeClr>
              </a:solidFill>
            </a:endParaRPr>
          </a:p>
          <a:p>
            <a:pPr>
              <a:buNone/>
            </a:pPr>
            <a:endParaRPr lang="tr-TR" b="1" dirty="0" smtClean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88640"/>
            <a:ext cx="8640960" cy="63367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b="1" dirty="0" smtClean="0">
                <a:solidFill>
                  <a:srgbClr val="FF0000"/>
                </a:solidFill>
              </a:rPr>
              <a:t>VİRAL ENZİM NEDİR?</a:t>
            </a:r>
            <a:endParaRPr lang="tr-TR" sz="4000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800" b="1" dirty="0" smtClean="0"/>
              <a:t>Virüsler, </a:t>
            </a:r>
            <a:r>
              <a:rPr lang="tr-TR" sz="2800" b="1" dirty="0" err="1" smtClean="0"/>
              <a:t>viral</a:t>
            </a:r>
            <a:r>
              <a:rPr lang="tr-TR" sz="2800" b="1" dirty="0" smtClean="0"/>
              <a:t> </a:t>
            </a:r>
            <a:r>
              <a:rPr lang="tr-TR" sz="2800" b="1" dirty="0" err="1" smtClean="0"/>
              <a:t>replikasyonda</a:t>
            </a:r>
            <a:r>
              <a:rPr lang="tr-TR" sz="2800" b="1" dirty="0" smtClean="0"/>
              <a:t> rol oynayan bazı enzimler içerirler</a:t>
            </a:r>
          </a:p>
          <a:p>
            <a:r>
              <a:rPr lang="tr-TR" sz="2800" b="1" dirty="0" smtClean="0"/>
              <a:t>Bunlar </a:t>
            </a:r>
            <a:r>
              <a:rPr lang="tr-TR" sz="2800" b="1" dirty="0" err="1" smtClean="0"/>
              <a:t>viral</a:t>
            </a:r>
            <a:r>
              <a:rPr lang="tr-TR" sz="2800" b="1" dirty="0" smtClean="0"/>
              <a:t> genler tarafından kodlanırlar</a:t>
            </a:r>
          </a:p>
          <a:p>
            <a:pPr>
              <a:buNone/>
            </a:pPr>
            <a:endParaRPr lang="tr-TR" sz="2800" b="1" dirty="0" smtClean="0"/>
          </a:p>
          <a:p>
            <a:pPr>
              <a:buNone/>
            </a:pPr>
            <a:r>
              <a:rPr lang="tr-TR" sz="2800" b="1" dirty="0" smtClean="0">
                <a:solidFill>
                  <a:srgbClr val="FF0000"/>
                </a:solidFill>
              </a:rPr>
              <a:t>		BU ENZİMLER ŞUNLARDIR</a:t>
            </a:r>
          </a:p>
          <a:p>
            <a:r>
              <a:rPr lang="tr-TR" sz="2800" b="1" dirty="0" smtClean="0"/>
              <a:t>RNA </a:t>
            </a:r>
            <a:r>
              <a:rPr lang="tr-TR" sz="2800" b="1" dirty="0" err="1" smtClean="0"/>
              <a:t>polimeraz</a:t>
            </a:r>
            <a:r>
              <a:rPr lang="tr-TR" sz="2800" b="1" dirty="0" smtClean="0"/>
              <a:t> enzimi</a:t>
            </a:r>
          </a:p>
          <a:p>
            <a:r>
              <a:rPr lang="tr-TR" sz="2800" b="1" dirty="0" smtClean="0"/>
              <a:t>DNA </a:t>
            </a:r>
            <a:r>
              <a:rPr lang="tr-TR" sz="2800" b="1" dirty="0" err="1" smtClean="0"/>
              <a:t>polimeraz</a:t>
            </a:r>
            <a:r>
              <a:rPr lang="tr-TR" sz="2800" b="1" dirty="0" smtClean="0"/>
              <a:t> enzimi</a:t>
            </a:r>
          </a:p>
          <a:p>
            <a:r>
              <a:rPr lang="tr-TR" sz="2800" b="1" dirty="0" err="1" smtClean="0"/>
              <a:t>Revers</a:t>
            </a:r>
            <a:r>
              <a:rPr lang="tr-TR" sz="2800" b="1" dirty="0" smtClean="0"/>
              <a:t> </a:t>
            </a:r>
            <a:r>
              <a:rPr lang="tr-TR" sz="2800" b="1" dirty="0" err="1" smtClean="0"/>
              <a:t>transkriptaz</a:t>
            </a:r>
            <a:r>
              <a:rPr lang="tr-TR" sz="2800" b="1" dirty="0" smtClean="0"/>
              <a:t> enzimi</a:t>
            </a:r>
            <a:endParaRPr lang="tr-TR" sz="2800" b="1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b="1" dirty="0" smtClean="0">
                <a:solidFill>
                  <a:srgbClr val="FF0000"/>
                </a:solidFill>
              </a:rPr>
              <a:t>VİRİON ENZİMLERİ</a:t>
            </a:r>
            <a:endParaRPr lang="tr-TR" sz="40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800" b="1" dirty="0" smtClean="0">
                <a:solidFill>
                  <a:srgbClr val="7030A0"/>
                </a:solidFill>
              </a:rPr>
              <a:t>RNA </a:t>
            </a:r>
            <a:r>
              <a:rPr lang="tr-TR" sz="2800" b="1" dirty="0" err="1" smtClean="0">
                <a:solidFill>
                  <a:srgbClr val="7030A0"/>
                </a:solidFill>
              </a:rPr>
              <a:t>polimeraz</a:t>
            </a:r>
            <a:r>
              <a:rPr lang="tr-TR" sz="2800" b="1" dirty="0" smtClean="0">
                <a:solidFill>
                  <a:srgbClr val="7030A0"/>
                </a:solidFill>
              </a:rPr>
              <a:t>: </a:t>
            </a:r>
            <a:r>
              <a:rPr lang="tr-TR" sz="2800" b="1" dirty="0" smtClean="0"/>
              <a:t>RNA’yı,   m-RNA’ya çevirir</a:t>
            </a:r>
          </a:p>
          <a:p>
            <a:pPr>
              <a:buNone/>
            </a:pPr>
            <a:endParaRPr lang="tr-TR" sz="2800" b="1" dirty="0" smtClean="0"/>
          </a:p>
          <a:p>
            <a:r>
              <a:rPr lang="tr-TR" sz="2800" b="1" dirty="0" smtClean="0">
                <a:solidFill>
                  <a:schemeClr val="accent6">
                    <a:lumMod val="50000"/>
                  </a:schemeClr>
                </a:solidFill>
              </a:rPr>
              <a:t>DNA </a:t>
            </a:r>
            <a:r>
              <a:rPr lang="tr-TR" sz="2800" b="1" dirty="0" err="1" smtClean="0">
                <a:solidFill>
                  <a:schemeClr val="accent6">
                    <a:lumMod val="50000"/>
                  </a:schemeClr>
                </a:solidFill>
              </a:rPr>
              <a:t>polimeraz</a:t>
            </a:r>
            <a:r>
              <a:rPr lang="tr-TR" sz="2800" b="1" dirty="0" smtClean="0"/>
              <a:t>: DNA’dan DNA sentezler</a:t>
            </a:r>
          </a:p>
          <a:p>
            <a:pPr>
              <a:buNone/>
            </a:pPr>
            <a:endParaRPr lang="tr-TR" sz="2800" b="1" dirty="0" smtClean="0"/>
          </a:p>
          <a:p>
            <a:r>
              <a:rPr lang="tr-TR" sz="2800" b="1" dirty="0" err="1" smtClean="0">
                <a:solidFill>
                  <a:srgbClr val="00B050"/>
                </a:solidFill>
              </a:rPr>
              <a:t>Reverstranskriptaz</a:t>
            </a:r>
            <a:r>
              <a:rPr lang="tr-TR" sz="2800" b="1" dirty="0" smtClean="0">
                <a:solidFill>
                  <a:srgbClr val="00B050"/>
                </a:solidFill>
              </a:rPr>
              <a:t>: </a:t>
            </a:r>
            <a:r>
              <a:rPr lang="tr-TR" sz="2800" b="1" dirty="0" smtClean="0"/>
              <a:t>RNA’dan,  DNA sentezini yöneten bir enzimdir</a:t>
            </a:r>
          </a:p>
          <a:p>
            <a:pPr>
              <a:buNone/>
            </a:pPr>
            <a:endParaRPr lang="tr-TR" sz="2800" b="1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VİRUSLAR YARARLI OLABİLİR Mİ?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b="1" dirty="0" err="1" smtClean="0"/>
              <a:t>Bakteriyofajlar</a:t>
            </a:r>
            <a:endParaRPr lang="tr-TR" b="1" dirty="0" smtClean="0"/>
          </a:p>
          <a:p>
            <a:r>
              <a:rPr lang="tr-TR" b="1" dirty="0" err="1" smtClean="0"/>
              <a:t>Virus</a:t>
            </a:r>
            <a:r>
              <a:rPr lang="tr-TR" b="1" dirty="0" smtClean="0"/>
              <a:t> enzimleri (Moleküler Çalışmalarda kullanılır)</a:t>
            </a:r>
          </a:p>
          <a:p>
            <a:r>
              <a:rPr lang="tr-TR" b="1" dirty="0" err="1" smtClean="0"/>
              <a:t>Baculovirus</a:t>
            </a:r>
            <a:r>
              <a:rPr lang="tr-TR" b="1" dirty="0" smtClean="0"/>
              <a:t> ve </a:t>
            </a:r>
            <a:r>
              <a:rPr lang="tr-TR" b="1" dirty="0" err="1" smtClean="0"/>
              <a:t>myxomavirus</a:t>
            </a:r>
            <a:r>
              <a:rPr lang="tr-TR" b="1" dirty="0" smtClean="0"/>
              <a:t> (</a:t>
            </a:r>
            <a:r>
              <a:rPr lang="tr-TR" b="1" dirty="0" err="1" smtClean="0"/>
              <a:t>Pestisid</a:t>
            </a:r>
            <a:r>
              <a:rPr lang="tr-TR" b="1" dirty="0" smtClean="0"/>
              <a:t> kontrollerinde) </a:t>
            </a:r>
          </a:p>
          <a:p>
            <a:r>
              <a:rPr lang="tr-TR" b="1" dirty="0" err="1" smtClean="0"/>
              <a:t>Baculovirusve</a:t>
            </a:r>
            <a:r>
              <a:rPr lang="tr-TR" b="1" dirty="0" smtClean="0"/>
              <a:t> </a:t>
            </a:r>
            <a:r>
              <a:rPr lang="tr-TR" b="1" dirty="0" err="1" smtClean="0"/>
              <a:t>Adenovirus</a:t>
            </a:r>
            <a:r>
              <a:rPr lang="tr-TR" b="1" dirty="0" smtClean="0"/>
              <a:t> (Genetik hastalıklarda gen vektörü olarak kullanılırlar)</a:t>
            </a:r>
          </a:p>
          <a:p>
            <a:r>
              <a:rPr lang="tr-TR" b="1" dirty="0" smtClean="0"/>
              <a:t>HSV ve </a:t>
            </a:r>
            <a:r>
              <a:rPr lang="tr-TR" b="1" dirty="0" err="1" smtClean="0"/>
              <a:t>vaccinia</a:t>
            </a:r>
            <a:r>
              <a:rPr lang="tr-TR" b="1" dirty="0" smtClean="0"/>
              <a:t> </a:t>
            </a:r>
            <a:r>
              <a:rPr lang="tr-TR" b="1" dirty="0" err="1" smtClean="0"/>
              <a:t>virus</a:t>
            </a:r>
            <a:r>
              <a:rPr lang="tr-TR" b="1" dirty="0" smtClean="0"/>
              <a:t>(Anti-Kanser Ajanı olarak kullanılırlar)</a:t>
            </a:r>
          </a:p>
          <a:p>
            <a:endParaRPr lang="tr-TR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200" b="1" dirty="0" err="1" smtClean="0">
                <a:solidFill>
                  <a:srgbClr val="FF0000"/>
                </a:solidFill>
              </a:rPr>
              <a:t>İnfluenza</a:t>
            </a:r>
            <a:r>
              <a:rPr lang="tr-TR" sz="3200" b="1" dirty="0" smtClean="0">
                <a:solidFill>
                  <a:srgbClr val="FF0000"/>
                </a:solidFill>
              </a:rPr>
              <a:t> virüsünün elektron </a:t>
            </a:r>
            <a:r>
              <a:rPr lang="tr-TR" sz="3200" b="1" dirty="0" err="1" smtClean="0">
                <a:solidFill>
                  <a:srgbClr val="FF0000"/>
                </a:solidFill>
              </a:rPr>
              <a:t>mikroskopisindeki</a:t>
            </a:r>
            <a:r>
              <a:rPr lang="tr-TR" sz="3200" b="1" dirty="0" smtClean="0">
                <a:solidFill>
                  <a:srgbClr val="FF0000"/>
                </a:solidFill>
              </a:rPr>
              <a:t> görüntüsü</a:t>
            </a:r>
            <a:endParaRPr lang="tr-TR" sz="3200" b="1" dirty="0">
              <a:solidFill>
                <a:srgbClr val="FF0000"/>
              </a:solidFill>
            </a:endParaRPr>
          </a:p>
        </p:txBody>
      </p:sp>
      <p:pic>
        <p:nvPicPr>
          <p:cNvPr id="1027" name="Picture 3" descr="C:\Users\tijen\Desktop\H1N1_influenza_virus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60032" y="1628800"/>
            <a:ext cx="3845066" cy="4525963"/>
          </a:xfrm>
          <a:prstGeom prst="rect">
            <a:avLst/>
          </a:prstGeom>
          <a:noFill/>
        </p:spPr>
      </p:pic>
      <p:pic>
        <p:nvPicPr>
          <p:cNvPr id="1028" name="Picture 4" descr="C:\Users\tijen\Desktop\influenza-a-h1n1-virus-CT66F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5576" y="1772816"/>
            <a:ext cx="3312368" cy="423703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VİRUSLAR NEDEN ÜRETİLİR?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800" b="1" dirty="0" err="1" smtClean="0"/>
              <a:t>Virusları</a:t>
            </a:r>
            <a:r>
              <a:rPr lang="tr-TR" sz="2800" b="1" dirty="0" smtClean="0"/>
              <a:t> izole ve </a:t>
            </a:r>
            <a:r>
              <a:rPr lang="tr-TR" sz="2800" b="1" dirty="0" err="1" smtClean="0"/>
              <a:t>identifiye</a:t>
            </a:r>
            <a:r>
              <a:rPr lang="tr-TR" sz="2800" b="1" dirty="0" smtClean="0"/>
              <a:t> etmek için</a:t>
            </a:r>
          </a:p>
          <a:p>
            <a:r>
              <a:rPr lang="tr-TR" sz="2800" b="1" dirty="0" err="1" smtClean="0"/>
              <a:t>Viruslar</a:t>
            </a:r>
            <a:r>
              <a:rPr lang="tr-TR" sz="2800" b="1" dirty="0" smtClean="0"/>
              <a:t> arası ilişkilerin ortaya konması için</a:t>
            </a:r>
          </a:p>
          <a:p>
            <a:r>
              <a:rPr lang="tr-TR" sz="2800" b="1" dirty="0" err="1" smtClean="0"/>
              <a:t>Profilaktik</a:t>
            </a:r>
            <a:r>
              <a:rPr lang="tr-TR" sz="2800" b="1" dirty="0" smtClean="0"/>
              <a:t> ürünler elde etmek ve 	standardizasyonunu yapmak için</a:t>
            </a:r>
          </a:p>
          <a:p>
            <a:r>
              <a:rPr lang="tr-TR" sz="2800" b="1" dirty="0" err="1" smtClean="0"/>
              <a:t>Serolojik</a:t>
            </a:r>
            <a:r>
              <a:rPr lang="tr-TR" sz="2800" b="1" dirty="0" smtClean="0"/>
              <a:t> testlerde kullanmak için</a:t>
            </a:r>
          </a:p>
          <a:p>
            <a:r>
              <a:rPr lang="tr-TR" sz="2800" b="1" dirty="0" err="1" smtClean="0"/>
              <a:t>Hiperimmun</a:t>
            </a:r>
            <a:r>
              <a:rPr lang="tr-TR" sz="2800" b="1" dirty="0" smtClean="0"/>
              <a:t> veya tip spesifik serum elde etmek için</a:t>
            </a:r>
          </a:p>
          <a:p>
            <a:r>
              <a:rPr lang="tr-TR" sz="2800" b="1" dirty="0" smtClean="0"/>
              <a:t>Epidemiyolojik ve </a:t>
            </a:r>
            <a:r>
              <a:rPr lang="tr-TR" sz="2800" b="1" dirty="0" err="1" smtClean="0"/>
              <a:t>patogenetik</a:t>
            </a:r>
            <a:r>
              <a:rPr lang="tr-TR" sz="2800" b="1" dirty="0" smtClean="0"/>
              <a:t> özelliklerini ortaya koymak için </a:t>
            </a:r>
          </a:p>
          <a:p>
            <a:endParaRPr lang="tr-TR" sz="2800" b="1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/>
              <a:t/>
            </a:r>
            <a:br>
              <a:rPr lang="tr-TR" b="1" dirty="0" smtClean="0"/>
            </a:br>
            <a:r>
              <a:rPr lang="tr-TR" b="1" dirty="0" smtClean="0">
                <a:solidFill>
                  <a:srgbClr val="FF3399"/>
                </a:solidFill>
              </a:rPr>
              <a:t>VİRUSLAR SADECE CANLI SİSTEMLERDE ÜRETİLİR</a:t>
            </a:r>
            <a:r>
              <a:rPr lang="tr-TR" b="1" dirty="0" smtClean="0"/>
              <a:t/>
            </a:r>
            <a:br>
              <a:rPr lang="tr-TR" b="1" dirty="0" smtClean="0"/>
            </a:b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tr-TR" sz="2800" b="1" dirty="0" smtClean="0">
                <a:solidFill>
                  <a:srgbClr val="FF0000"/>
                </a:solidFill>
              </a:rPr>
              <a:t>		</a:t>
            </a:r>
            <a:r>
              <a:rPr lang="tr-TR" sz="2800" b="1" dirty="0" smtClean="0">
                <a:solidFill>
                  <a:srgbClr val="0070C0"/>
                </a:solidFill>
              </a:rPr>
              <a:t>KONAK NEDİR?</a:t>
            </a:r>
          </a:p>
          <a:p>
            <a:r>
              <a:rPr lang="tr-TR" sz="2800" b="1" dirty="0" err="1" smtClean="0"/>
              <a:t>Virusun</a:t>
            </a:r>
            <a:r>
              <a:rPr lang="tr-TR" sz="2800" b="1" dirty="0" smtClean="0"/>
              <a:t> </a:t>
            </a:r>
            <a:r>
              <a:rPr lang="tr-TR" sz="2800" b="1" dirty="0" smtClean="0"/>
              <a:t>üretildiği </a:t>
            </a:r>
            <a:r>
              <a:rPr lang="tr-TR" sz="2800" b="1" dirty="0" smtClean="0"/>
              <a:t>bu sisteme </a:t>
            </a:r>
            <a:r>
              <a:rPr lang="tr-TR" sz="2800" b="1" dirty="0" smtClean="0">
                <a:solidFill>
                  <a:schemeClr val="accent6">
                    <a:lumMod val="50000"/>
                  </a:schemeClr>
                </a:solidFill>
              </a:rPr>
              <a:t>KONAK </a:t>
            </a:r>
            <a:r>
              <a:rPr lang="tr-TR" sz="2800" b="1" dirty="0" smtClean="0"/>
              <a:t>adı verilir</a:t>
            </a:r>
          </a:p>
          <a:p>
            <a:pPr>
              <a:buNone/>
            </a:pPr>
            <a:endParaRPr lang="tr-TR" sz="2800" b="1" dirty="0" smtClean="0"/>
          </a:p>
          <a:p>
            <a:pPr>
              <a:buNone/>
            </a:pPr>
            <a:r>
              <a:rPr lang="tr-TR" sz="2800" b="1" dirty="0" smtClean="0"/>
              <a:t>		</a:t>
            </a:r>
            <a:r>
              <a:rPr lang="tr-TR" sz="2800" b="1" dirty="0" smtClean="0">
                <a:solidFill>
                  <a:srgbClr val="7030A0"/>
                </a:solidFill>
              </a:rPr>
              <a:t>Konak sistemler </a:t>
            </a:r>
          </a:p>
          <a:p>
            <a:r>
              <a:rPr lang="tr-TR" sz="2800" b="1" dirty="0" smtClean="0"/>
              <a:t>in </a:t>
            </a:r>
            <a:r>
              <a:rPr lang="tr-TR" sz="2800" b="1" dirty="0" err="1" smtClean="0"/>
              <a:t>vivo</a:t>
            </a:r>
            <a:endParaRPr lang="tr-TR" sz="2800" b="1" dirty="0" smtClean="0"/>
          </a:p>
          <a:p>
            <a:r>
              <a:rPr lang="tr-TR" sz="2800" b="1" dirty="0" smtClean="0"/>
              <a:t>in </a:t>
            </a:r>
            <a:r>
              <a:rPr lang="tr-TR" sz="2800" b="1" dirty="0" err="1" smtClean="0"/>
              <a:t>vitro</a:t>
            </a:r>
            <a:endParaRPr lang="tr-TR" sz="2800" b="1" dirty="0" smtClean="0"/>
          </a:p>
          <a:p>
            <a:pPr>
              <a:buNone/>
            </a:pPr>
            <a:r>
              <a:rPr lang="tr-TR" sz="2800" b="1" dirty="0" smtClean="0"/>
              <a:t> </a:t>
            </a:r>
          </a:p>
          <a:p>
            <a:pPr lvl="1"/>
            <a:r>
              <a:rPr lang="tr-TR" sz="2400" b="1" dirty="0" smtClean="0"/>
              <a:t>olarak iki temel grupta incelenir</a:t>
            </a:r>
          </a:p>
          <a:p>
            <a:endParaRPr lang="tr-TR" sz="2800" b="1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395536" y="332656"/>
            <a:ext cx="8280920" cy="5793507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tr-TR" b="1" dirty="0" smtClean="0">
                <a:solidFill>
                  <a:srgbClr val="FF0000"/>
                </a:solidFill>
              </a:rPr>
              <a:t>		</a:t>
            </a:r>
          </a:p>
          <a:p>
            <a:pPr>
              <a:buNone/>
            </a:pPr>
            <a:r>
              <a:rPr lang="tr-TR" sz="2800" b="1" dirty="0" smtClean="0">
                <a:solidFill>
                  <a:srgbClr val="FF0000"/>
                </a:solidFill>
              </a:rPr>
              <a:t>				IN VİVO SİSTEM</a:t>
            </a:r>
          </a:p>
          <a:p>
            <a:r>
              <a:rPr lang="tr-TR" sz="2800" b="1" dirty="0" smtClean="0"/>
              <a:t>Deney </a:t>
            </a:r>
            <a:r>
              <a:rPr lang="tr-TR" sz="2800" b="1" dirty="0" smtClean="0"/>
              <a:t>hayvanı, </a:t>
            </a:r>
            <a:endParaRPr lang="tr-TR" sz="2800" b="1" dirty="0" smtClean="0"/>
          </a:p>
          <a:p>
            <a:r>
              <a:rPr lang="tr-TR" sz="2800" b="1" dirty="0" smtClean="0"/>
              <a:t>Embriyolu Yumurtalar (</a:t>
            </a:r>
            <a:r>
              <a:rPr lang="tr-TR" sz="2800" b="1" dirty="0" smtClean="0"/>
              <a:t>Tavuk</a:t>
            </a:r>
            <a:r>
              <a:rPr lang="tr-TR" sz="2800" b="1" dirty="0" smtClean="0"/>
              <a:t> veya ördek yumurtası)</a:t>
            </a:r>
            <a:endParaRPr lang="tr-TR" sz="2800" b="1" dirty="0" smtClean="0"/>
          </a:p>
          <a:p>
            <a:pPr>
              <a:buNone/>
            </a:pPr>
            <a:endParaRPr lang="tr-TR" sz="2800" b="1" dirty="0" smtClean="0"/>
          </a:p>
          <a:p>
            <a:pPr>
              <a:buNone/>
            </a:pPr>
            <a:r>
              <a:rPr lang="tr-TR" sz="2800" b="1" dirty="0" smtClean="0">
                <a:solidFill>
                  <a:srgbClr val="FF0000"/>
                </a:solidFill>
              </a:rPr>
              <a:t>				</a:t>
            </a:r>
            <a:r>
              <a:rPr lang="it-IT" sz="2800" b="1" dirty="0" smtClean="0">
                <a:solidFill>
                  <a:srgbClr val="FF0000"/>
                </a:solidFill>
              </a:rPr>
              <a:t>IN VİTRO SİSTEM</a:t>
            </a:r>
            <a:endParaRPr lang="tr-TR" sz="2800" b="1" dirty="0" smtClean="0">
              <a:solidFill>
                <a:srgbClr val="FF0000"/>
              </a:solidFill>
            </a:endParaRPr>
          </a:p>
          <a:p>
            <a:r>
              <a:rPr lang="it-IT" sz="2800" b="1" dirty="0" smtClean="0"/>
              <a:t>Hücre kültürü</a:t>
            </a:r>
          </a:p>
          <a:p>
            <a:pPr>
              <a:buNone/>
            </a:pPr>
            <a:r>
              <a:rPr lang="tr-TR" sz="2800" b="1" dirty="0" err="1" smtClean="0"/>
              <a:t>Virusların</a:t>
            </a:r>
            <a:r>
              <a:rPr lang="tr-TR" sz="2800" b="1" dirty="0" smtClean="0"/>
              <a:t> üretilmesi için klinik </a:t>
            </a:r>
            <a:r>
              <a:rPr lang="tr-TR" sz="2800" b="1" dirty="0" err="1" smtClean="0"/>
              <a:t>laboratuvarlarda</a:t>
            </a:r>
            <a:r>
              <a:rPr lang="tr-TR" sz="2800" b="1" dirty="0" smtClean="0"/>
              <a:t> en sık hücre kültürleri kullanılır. </a:t>
            </a:r>
            <a:endParaRPr lang="tr-TR" sz="2800" b="1" dirty="0" smtClean="0"/>
          </a:p>
          <a:p>
            <a:pPr>
              <a:buNone/>
            </a:pPr>
            <a:endParaRPr lang="tr-TR" sz="2800" b="1" dirty="0" smtClean="0"/>
          </a:p>
          <a:p>
            <a:pPr>
              <a:buNone/>
            </a:pPr>
            <a:r>
              <a:rPr lang="tr-TR" sz="2800" b="1" dirty="0" smtClean="0"/>
              <a:t>Hücre kültürleri çeşitli dokulardan elde edilen hücrelerin in </a:t>
            </a:r>
            <a:r>
              <a:rPr lang="tr-TR" sz="2800" b="1" dirty="0" err="1" smtClean="0"/>
              <a:t>vitro</a:t>
            </a:r>
            <a:r>
              <a:rPr lang="tr-TR" sz="2800" b="1" dirty="0" smtClean="0"/>
              <a:t> koşullarda üretilmesidir. </a:t>
            </a:r>
          </a:p>
          <a:p>
            <a:pPr>
              <a:buNone/>
            </a:pPr>
            <a:endParaRPr lang="tr-TR" sz="28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81000" indent="-381000">
              <a:lnSpc>
                <a:spcPct val="80000"/>
              </a:lnSpc>
              <a:defRPr/>
            </a:pPr>
            <a:r>
              <a:rPr lang="tr-TR" b="1" dirty="0" smtClean="0"/>
              <a:t>Embriyonlu </a:t>
            </a:r>
            <a:r>
              <a:rPr lang="tr-TR" b="1" dirty="0" smtClean="0"/>
              <a:t>yumurtalar daha çok </a:t>
            </a:r>
            <a:r>
              <a:rPr lang="tr-TR" b="1" dirty="0" err="1" smtClean="0"/>
              <a:t>viral</a:t>
            </a:r>
            <a:r>
              <a:rPr lang="tr-TR" b="1" dirty="0" smtClean="0"/>
              <a:t> antijen elde edilmesinde işe </a:t>
            </a:r>
            <a:r>
              <a:rPr lang="tr-TR" b="1" dirty="0" smtClean="0"/>
              <a:t>yarar </a:t>
            </a:r>
          </a:p>
          <a:p>
            <a:pPr marL="381000" indent="-381000">
              <a:lnSpc>
                <a:spcPct val="80000"/>
              </a:lnSpc>
              <a:buNone/>
              <a:defRPr/>
            </a:pPr>
            <a:endParaRPr lang="tr-TR" b="1" dirty="0" smtClean="0"/>
          </a:p>
          <a:p>
            <a:pPr marL="381000" indent="-381000">
              <a:lnSpc>
                <a:spcPct val="80000"/>
              </a:lnSpc>
              <a:defRPr/>
            </a:pPr>
            <a:r>
              <a:rPr lang="tr-TR" b="1" dirty="0" smtClean="0"/>
              <a:t>Kullanılan </a:t>
            </a:r>
            <a:r>
              <a:rPr lang="tr-TR" b="1" dirty="0" err="1" smtClean="0"/>
              <a:t>viral</a:t>
            </a:r>
            <a:r>
              <a:rPr lang="tr-TR" b="1" dirty="0" smtClean="0"/>
              <a:t> aşılardan bazıları (örneğin, </a:t>
            </a:r>
            <a:r>
              <a:rPr lang="tr-TR" b="1" dirty="0" err="1" smtClean="0"/>
              <a:t>İnfluenza</a:t>
            </a:r>
            <a:r>
              <a:rPr lang="tr-TR" b="1" dirty="0" smtClean="0"/>
              <a:t>) </a:t>
            </a:r>
            <a:r>
              <a:rPr lang="tr-TR" b="1" dirty="0" smtClean="0"/>
              <a:t>embriyonlu </a:t>
            </a:r>
            <a:r>
              <a:rPr lang="tr-TR" b="1" dirty="0" smtClean="0"/>
              <a:t>yumurtalarda üretilen </a:t>
            </a:r>
            <a:r>
              <a:rPr lang="tr-TR" b="1" dirty="0" err="1" smtClean="0"/>
              <a:t>viruslardan</a:t>
            </a:r>
            <a:r>
              <a:rPr lang="tr-TR" b="1" dirty="0" smtClean="0"/>
              <a:t> elde </a:t>
            </a:r>
            <a:r>
              <a:rPr lang="tr-TR" b="1" dirty="0" smtClean="0"/>
              <a:t>edilmektedir</a:t>
            </a:r>
          </a:p>
          <a:p>
            <a:pPr marL="381000" indent="-381000">
              <a:lnSpc>
                <a:spcPct val="80000"/>
              </a:lnSpc>
              <a:buNone/>
              <a:defRPr/>
            </a:pPr>
            <a:endParaRPr lang="tr-TR" b="1" dirty="0" smtClean="0"/>
          </a:p>
          <a:p>
            <a:pPr marL="381000" indent="-381000">
              <a:lnSpc>
                <a:spcPct val="80000"/>
              </a:lnSpc>
              <a:defRPr/>
            </a:pPr>
            <a:r>
              <a:rPr lang="tr-TR" b="1" dirty="0" smtClean="0"/>
              <a:t>Deney hayvanları daha çok araştırmalarda kullanılmaktadır. Bu amaçla, fareler, şempanzeler gibi değişik hayvanlardan </a:t>
            </a:r>
            <a:r>
              <a:rPr lang="tr-TR" b="1" dirty="0" smtClean="0"/>
              <a:t>yararlanılmaktadır</a:t>
            </a:r>
            <a:endParaRPr lang="tr-TR" dirty="0" smtClean="0"/>
          </a:p>
          <a:p>
            <a:endParaRPr lang="tr-T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2837</TotalTime>
  <Words>1993</Words>
  <Application>Microsoft Office PowerPoint</Application>
  <PresentationFormat>Ekran Gösterisi (4:3)</PresentationFormat>
  <Paragraphs>539</Paragraphs>
  <Slides>107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107</vt:i4>
      </vt:variant>
    </vt:vector>
  </HeadingPairs>
  <TitlesOfParts>
    <vt:vector size="108" baseType="lpstr">
      <vt:lpstr>Ofis Teması</vt:lpstr>
      <vt:lpstr>Slayt 1</vt:lpstr>
      <vt:lpstr>Sığır vebası,ispanyol gribi, ebola,domates virüsü</vt:lpstr>
      <vt:lpstr>Slayt 3</vt:lpstr>
      <vt:lpstr> VİROLOJİ BİLİMİ NEDİR </vt:lpstr>
      <vt:lpstr>VİRUS TANIMI</vt:lpstr>
      <vt:lpstr> VİRUSLARIN BÜYÜKLÜKLERİ  </vt:lpstr>
      <vt:lpstr>    VİRUSLARIN  ŞEKLİ</vt:lpstr>
      <vt:lpstr>Slayt 8</vt:lpstr>
      <vt:lpstr>Slayt 9</vt:lpstr>
      <vt:lpstr>VİRUSLARIN ÖZELLİKLERİ</vt:lpstr>
      <vt:lpstr>VİRUSLARIN ÖZELLİKLERİ</vt:lpstr>
      <vt:lpstr>VİRUSLARIN ÖZELLİKLERİ</vt:lpstr>
      <vt:lpstr>VİRÜSLERİN FİZİKSEL VE KİMYASAL ETKENLERE KARŞI DUYARLILIKLARI</vt:lpstr>
      <vt:lpstr>Slayt 14</vt:lpstr>
      <vt:lpstr>İYONİK ÇEVRE VE PH</vt:lpstr>
      <vt:lpstr>Slayt 16</vt:lpstr>
      <vt:lpstr>RADYASYON</vt:lpstr>
      <vt:lpstr>LİPİT ERİTİCİ MADDELER</vt:lpstr>
      <vt:lpstr>ANTİSEPTİK VE DEZENFEKTANLAR</vt:lpstr>
      <vt:lpstr>FORMALDEHİDİN ETKİSİ</vt:lpstr>
      <vt:lpstr>DETERJANLAR</vt:lpstr>
      <vt:lpstr>BİLGİ</vt:lpstr>
      <vt:lpstr>VİRUSLER CANLI MIDIR?</vt:lpstr>
      <vt:lpstr> VİRÜSLERİN SINIFLANDIRILMASI </vt:lpstr>
      <vt:lpstr>ENFEKTE ETTİKLERİ KONAKLARA GÖRE  SINIFLANDIRABİLİRİZ</vt:lpstr>
      <vt:lpstr> ÖZELLİKLERİNE GÖRE SINIFLANDIRABİLİRİZ </vt:lpstr>
      <vt:lpstr>NÜKLEİK ASİT TİPİ</vt:lpstr>
      <vt:lpstr>Slayt 28</vt:lpstr>
      <vt:lpstr>Slayt 29</vt:lpstr>
      <vt:lpstr>Slayt 30</vt:lpstr>
      <vt:lpstr>KAPSİT YAPISINA GÖRE SINIFLANDIRMA</vt:lpstr>
      <vt:lpstr>KAPSİT YAPISINA GÖRE SINIFLANDIRMA</vt:lpstr>
      <vt:lpstr> 1 – İKOZAHEDRAL SİMETRİLİ VİRÜSLER </vt:lpstr>
      <vt:lpstr>İkosahedral Simetri Gösteren Bazı Viruslar</vt:lpstr>
      <vt:lpstr>2-HELİKAL SİMETRİLİ VİRÜSLER</vt:lpstr>
      <vt:lpstr>Helikal Simetri Gösteren Bazı Viruslar</vt:lpstr>
      <vt:lpstr>Slayt 37</vt:lpstr>
      <vt:lpstr> 3 – KOMPLEKS (karmaşık) SİMETRİLİ VİRÜSLER </vt:lpstr>
      <vt:lpstr>VİRUS İLE BAKTERİ  ARASINDAKİ FARKLILIKLAR </vt:lpstr>
      <vt:lpstr>Slayt 40</vt:lpstr>
      <vt:lpstr>Slayt 41</vt:lpstr>
      <vt:lpstr> 3-HÜCRE YAPISI  </vt:lpstr>
      <vt:lpstr>4-ÇOĞALMA</vt:lpstr>
      <vt:lpstr>Slayt 44</vt:lpstr>
      <vt:lpstr> 5-GENOMİK YAPI </vt:lpstr>
      <vt:lpstr>Slayt 46</vt:lpstr>
      <vt:lpstr>7-MİKROSKOPTA GÖRÜLEBİLME</vt:lpstr>
      <vt:lpstr> 8-FİLTRELERDEN GEÇEBİLME </vt:lpstr>
      <vt:lpstr>9-ANTİBİYOTİK DUYARLILIĞI</vt:lpstr>
      <vt:lpstr>10-İNTERFERON DUYARLILIĞI</vt:lpstr>
      <vt:lpstr>11-HÜCRE ORGANELLERİ AÇISINDAN</vt:lpstr>
      <vt:lpstr>VİRİON NEDİR?</vt:lpstr>
      <vt:lpstr>Slayt 53</vt:lpstr>
      <vt:lpstr>VİRUS YAPISI İLE İLGİLİ KAVRAMLAR</vt:lpstr>
      <vt:lpstr>Slayt 55</vt:lpstr>
      <vt:lpstr>NÜKLEOKAPSİD</vt:lpstr>
      <vt:lpstr>Slayt 57</vt:lpstr>
      <vt:lpstr>KAPSİDİN GÖREVİ NEDİR?</vt:lpstr>
      <vt:lpstr>KAPSOMER</vt:lpstr>
      <vt:lpstr>Slayt 60</vt:lpstr>
      <vt:lpstr>Slayt 61</vt:lpstr>
      <vt:lpstr>Slayt 62</vt:lpstr>
      <vt:lpstr>Slayt 63</vt:lpstr>
      <vt:lpstr>Slayt 64</vt:lpstr>
      <vt:lpstr>Slayt 65</vt:lpstr>
      <vt:lpstr>ZARF  (envelope) NEDİR</vt:lpstr>
      <vt:lpstr>ZARFLI VİRÜSLER</vt:lpstr>
      <vt:lpstr>Slayt 68</vt:lpstr>
      <vt:lpstr>Slayt 69</vt:lpstr>
      <vt:lpstr>Slayt 70</vt:lpstr>
      <vt:lpstr>Slayt 71</vt:lpstr>
      <vt:lpstr>ZARFLI  VE ZARFSIZ  VİRÜSLER</vt:lpstr>
      <vt:lpstr>VİRAL ZARF</vt:lpstr>
      <vt:lpstr>ZARF  YAPISI=LİPİT MEMBRAN</vt:lpstr>
      <vt:lpstr>ZARF  YAPISI AÇIKLAYALIM-TEKRAR EDELİM</vt:lpstr>
      <vt:lpstr> ZARFIN FONKSİYONLARI VİRAL ZARF NE İŞE YARAR? </vt:lpstr>
      <vt:lpstr>VİRAL ZARF  DUYARLI OLDUĞU KİMYASALLAR</vt:lpstr>
      <vt:lpstr>ZARFLI VİRUSLARIN ÖZELLİKLERİ</vt:lpstr>
      <vt:lpstr>ZARFLI VİRUSLAR ÖRNEKLER</vt:lpstr>
      <vt:lpstr>Slayt 80</vt:lpstr>
      <vt:lpstr>VİRAL ZARF ÜZERİNDE BULUNAN PROTEİNLER BAŞLICA ÜÇ GRUP ALTINDA İNCELENİRLER</vt:lpstr>
      <vt:lpstr>Slayt 82</vt:lpstr>
      <vt:lpstr>Slayt 83</vt:lpstr>
      <vt:lpstr>Slayt 84</vt:lpstr>
      <vt:lpstr>GLİKOPROTEİNLER  (peplomer)</vt:lpstr>
      <vt:lpstr>Slayt 86</vt:lpstr>
      <vt:lpstr>Slayt 87</vt:lpstr>
      <vt:lpstr>Slayt 88</vt:lpstr>
      <vt:lpstr>Slayt 89</vt:lpstr>
      <vt:lpstr>ZARFSIZ VİRUSLARIN ÖZELLİKLERİ</vt:lpstr>
      <vt:lpstr>ZARFSIZ VİRUSLAR ÖRNEKLER</vt:lpstr>
      <vt:lpstr>Slayt 92</vt:lpstr>
      <vt:lpstr>Slayt 93</vt:lpstr>
      <vt:lpstr>Slayt 94</vt:lpstr>
      <vt:lpstr>TEGUMENT</vt:lpstr>
      <vt:lpstr>TEGUMENT</vt:lpstr>
      <vt:lpstr>Slayt 97</vt:lpstr>
      <vt:lpstr>NÜKLEİK ASİD (Genom) YAPISI VE ÇEŞİTLERİ</vt:lpstr>
      <vt:lpstr>Slayt 99</vt:lpstr>
      <vt:lpstr>VİRAL ENZİM NEDİR?</vt:lpstr>
      <vt:lpstr>VİRİON ENZİMLERİ</vt:lpstr>
      <vt:lpstr>VİRUSLAR YARARLI OLABİLİR Mİ?</vt:lpstr>
      <vt:lpstr>İnfluenza virüsünün elektron mikroskopisindeki görüntüsü</vt:lpstr>
      <vt:lpstr>VİRUSLAR NEDEN ÜRETİLİR?</vt:lpstr>
      <vt:lpstr> VİRUSLAR SADECE CANLI SİSTEMLERDE ÜRETİLİR </vt:lpstr>
      <vt:lpstr>Slayt 106</vt:lpstr>
      <vt:lpstr>Slayt 107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VİRÜSLERİN ŞEKİLLERİ</dc:title>
  <dc:creator>user</dc:creator>
  <cp:lastModifiedBy>tijen</cp:lastModifiedBy>
  <cp:revision>405</cp:revision>
  <dcterms:created xsi:type="dcterms:W3CDTF">2021-02-27T08:32:12Z</dcterms:created>
  <dcterms:modified xsi:type="dcterms:W3CDTF">2026-08-07T14:45:39Z</dcterms:modified>
</cp:coreProperties>
</file>