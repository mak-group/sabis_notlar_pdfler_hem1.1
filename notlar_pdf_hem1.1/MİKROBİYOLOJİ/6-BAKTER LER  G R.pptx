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sldIdLst>
    <p:sldId id="344" r:id="rId2"/>
    <p:sldId id="377" r:id="rId3"/>
    <p:sldId id="343" r:id="rId4"/>
    <p:sldId id="378" r:id="rId5"/>
    <p:sldId id="428" r:id="rId6"/>
    <p:sldId id="379" r:id="rId7"/>
    <p:sldId id="459" r:id="rId8"/>
    <p:sldId id="454" r:id="rId9"/>
    <p:sldId id="461" r:id="rId10"/>
    <p:sldId id="380" r:id="rId11"/>
    <p:sldId id="446" r:id="rId12"/>
    <p:sldId id="447" r:id="rId13"/>
    <p:sldId id="448" r:id="rId14"/>
    <p:sldId id="449" r:id="rId15"/>
    <p:sldId id="450" r:id="rId16"/>
    <p:sldId id="276" r:id="rId17"/>
    <p:sldId id="367" r:id="rId18"/>
    <p:sldId id="282" r:id="rId19"/>
    <p:sldId id="281" r:id="rId20"/>
    <p:sldId id="369" r:id="rId21"/>
    <p:sldId id="396" r:id="rId22"/>
    <p:sldId id="436" r:id="rId23"/>
    <p:sldId id="470" r:id="rId24"/>
    <p:sldId id="402" r:id="rId25"/>
    <p:sldId id="403" r:id="rId26"/>
    <p:sldId id="483" r:id="rId27"/>
    <p:sldId id="482" r:id="rId28"/>
    <p:sldId id="413" r:id="rId29"/>
    <p:sldId id="410" r:id="rId30"/>
    <p:sldId id="409" r:id="rId31"/>
    <p:sldId id="411" r:id="rId32"/>
    <p:sldId id="412" r:id="rId33"/>
    <p:sldId id="414" r:id="rId34"/>
    <p:sldId id="417" r:id="rId35"/>
    <p:sldId id="416" r:id="rId36"/>
    <p:sldId id="415" r:id="rId37"/>
    <p:sldId id="418" r:id="rId38"/>
    <p:sldId id="419" r:id="rId39"/>
    <p:sldId id="473" r:id="rId40"/>
    <p:sldId id="424" r:id="rId41"/>
    <p:sldId id="465" r:id="rId42"/>
    <p:sldId id="464" r:id="rId43"/>
    <p:sldId id="466" r:id="rId44"/>
    <p:sldId id="426" r:id="rId45"/>
    <p:sldId id="484" r:id="rId46"/>
    <p:sldId id="485" r:id="rId47"/>
    <p:sldId id="486" r:id="rId48"/>
    <p:sldId id="388" r:id="rId49"/>
    <p:sldId id="389" r:id="rId50"/>
    <p:sldId id="390" r:id="rId51"/>
    <p:sldId id="437" r:id="rId52"/>
    <p:sldId id="472" r:id="rId53"/>
    <p:sldId id="477" r:id="rId54"/>
    <p:sldId id="474" r:id="rId55"/>
    <p:sldId id="441" r:id="rId56"/>
    <p:sldId id="481" r:id="rId57"/>
    <p:sldId id="393" r:id="rId58"/>
    <p:sldId id="394" r:id="rId59"/>
    <p:sldId id="375" r:id="rId60"/>
    <p:sldId id="275" r:id="rId61"/>
    <p:sldId id="274" r:id="rId62"/>
    <p:sldId id="345" r:id="rId63"/>
    <p:sldId id="347" r:id="rId64"/>
    <p:sldId id="346" r:id="rId65"/>
    <p:sldId id="359" r:id="rId66"/>
    <p:sldId id="358" r:id="rId67"/>
    <p:sldId id="349" r:id="rId68"/>
    <p:sldId id="361" r:id="rId69"/>
    <p:sldId id="351" r:id="rId70"/>
    <p:sldId id="350" r:id="rId71"/>
    <p:sldId id="352" r:id="rId72"/>
    <p:sldId id="353" r:id="rId73"/>
    <p:sldId id="354" r:id="rId74"/>
    <p:sldId id="364" r:id="rId75"/>
    <p:sldId id="363" r:id="rId76"/>
    <p:sldId id="355" r:id="rId7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CC"/>
    <a:srgbClr val="FF00FF"/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8826" autoAdjust="0"/>
  </p:normalViewPr>
  <p:slideViewPr>
    <p:cSldViewPr>
      <p:cViewPr>
        <p:scale>
          <a:sx n="75" d="100"/>
          <a:sy n="75" d="100"/>
        </p:scale>
        <p:origin x="-1236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F7C57-0598-404C-B76F-B27F622B2230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CCD4A-F942-4B1A-9FD8-44C32637B83C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1ADB0-2CF1-4089-B7E9-17EC68F67EE1}" type="slidenum">
              <a:rPr lang="tr-TR" smtClean="0"/>
              <a:pPr/>
              <a:t>17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081E9-17EA-4012-9D57-A5EAC98EDFB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412FE-8C3F-44EB-A0F3-EC240FEAAE7A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MİKROBİYOLOJİ\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620688"/>
            <a:ext cx="8064500" cy="5576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4" y="404664"/>
            <a:ext cx="4838700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7" y="2060848"/>
            <a:ext cx="3666755" cy="4374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2019-2020-BULAŞICI HASTALIKLAR\66666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332656"/>
            <a:ext cx="5832475" cy="6048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0" y="1600200"/>
            <a:ext cx="3743325" cy="4525963"/>
          </a:xfrm>
        </p:spPr>
        <p:txBody>
          <a:bodyPr/>
          <a:lstStyle/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b="1" dirty="0" smtClean="0"/>
              <a:t>		</a:t>
            </a:r>
          </a:p>
          <a:p>
            <a:pPr>
              <a:buNone/>
            </a:pPr>
            <a:r>
              <a:rPr lang="tr-TR" b="1" dirty="0"/>
              <a:t>	</a:t>
            </a:r>
            <a:r>
              <a:rPr lang="tr-TR" sz="4000" b="1" dirty="0" err="1" smtClean="0">
                <a:solidFill>
                  <a:srgbClr val="7030A0"/>
                </a:solidFill>
              </a:rPr>
              <a:t>Mikros</a:t>
            </a:r>
            <a:r>
              <a:rPr lang="tr-TR" sz="4000" b="1" dirty="0">
                <a:solidFill>
                  <a:srgbClr val="7030A0"/>
                </a:solidFill>
              </a:rPr>
              <a:t>: küçük</a:t>
            </a:r>
          </a:p>
          <a:p>
            <a:pPr>
              <a:buNone/>
            </a:pPr>
            <a:r>
              <a:rPr lang="tr-TR" sz="4000" b="1" dirty="0" smtClean="0">
                <a:solidFill>
                  <a:srgbClr val="7030A0"/>
                </a:solidFill>
              </a:rPr>
              <a:t>	</a:t>
            </a:r>
            <a:r>
              <a:rPr lang="tr-TR" sz="4000" b="1" dirty="0" err="1" smtClean="0">
                <a:solidFill>
                  <a:srgbClr val="7030A0"/>
                </a:solidFill>
              </a:rPr>
              <a:t>Bios</a:t>
            </a:r>
            <a:r>
              <a:rPr lang="tr-TR" sz="4000" b="1" dirty="0">
                <a:solidFill>
                  <a:srgbClr val="7030A0"/>
                </a:solidFill>
              </a:rPr>
              <a:t>: yaşam</a:t>
            </a:r>
          </a:p>
          <a:p>
            <a:pPr>
              <a:buNone/>
            </a:pPr>
            <a:r>
              <a:rPr lang="tr-TR" sz="4000" b="1" dirty="0" smtClean="0">
                <a:solidFill>
                  <a:srgbClr val="7030A0"/>
                </a:solidFill>
              </a:rPr>
              <a:t>	Logos</a:t>
            </a:r>
            <a:r>
              <a:rPr lang="tr-TR" sz="4000" b="1" dirty="0">
                <a:solidFill>
                  <a:srgbClr val="7030A0"/>
                </a:solidFill>
              </a:rPr>
              <a:t>: bilim</a:t>
            </a:r>
          </a:p>
          <a:p>
            <a:pPr>
              <a:buNone/>
            </a:pPr>
            <a:endParaRPr lang="tr-TR" sz="6000" dirty="0">
              <a:solidFill>
                <a:srgbClr val="7030A0"/>
              </a:solidFill>
            </a:endParaRPr>
          </a:p>
        </p:txBody>
      </p:sp>
      <p:pic>
        <p:nvPicPr>
          <p:cNvPr id="4" name="Picture 2" descr="C:\Users\user\Desktop\Bakteriler,+mikroskobik,+gözle+görülemeyen+organizmalardır.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332656"/>
            <a:ext cx="3931636" cy="2808312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429000"/>
            <a:ext cx="3949849" cy="2964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MİKROBİYOLOJİ  NEDİR?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Mikroorganizma adı verilen, gözle göremediğimiz bakteri, virüs, mantar ve parazit gibi küçük canlıları inceleyen bilim dalıdır</a:t>
            </a:r>
          </a:p>
          <a:p>
            <a:r>
              <a:rPr lang="tr-TR" b="1" dirty="0" smtClean="0"/>
              <a:t>Mikrobiyoloji, mikroorganizmaların özelliklerini, yüksek canlılarla ve birbirleriyle olan ilişkilerini inceler </a:t>
            </a:r>
          </a:p>
          <a:p>
            <a:endParaRPr lang="tr-TR" dirty="0" smtClean="0"/>
          </a:p>
          <a:p>
            <a:endParaRPr lang="tr-TR" dirty="0" smtClean="0"/>
          </a:p>
          <a:p>
            <a:endParaRPr lang="tr-TR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4941168"/>
            <a:ext cx="292417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b="1" dirty="0" smtClean="0">
                <a:solidFill>
                  <a:srgbClr val="FF0000"/>
                </a:solidFill>
              </a:rPr>
              <a:t>Mikroorganizmaların özelliklerini, yüksek canlılarla ve birbirleriyle ilişkilerini inceleyen bir bilim dalıdır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smtClean="0"/>
              <a:t>Mikroorganizmaların morfolojisi</a:t>
            </a:r>
          </a:p>
          <a:p>
            <a:r>
              <a:rPr lang="tr-TR" b="1" dirty="0" smtClean="0"/>
              <a:t>Genetiği </a:t>
            </a:r>
          </a:p>
          <a:p>
            <a:r>
              <a:rPr lang="tr-TR" b="1" dirty="0" smtClean="0"/>
              <a:t>Fizyolojisi ve bulaşma yolları</a:t>
            </a:r>
          </a:p>
          <a:p>
            <a:r>
              <a:rPr lang="tr-TR" b="1" dirty="0" smtClean="0"/>
              <a:t>Konak savunma sistemleriyle mikroorganizma ilişkisi</a:t>
            </a:r>
          </a:p>
          <a:p>
            <a:endParaRPr lang="tr-TR" b="1" dirty="0" smtClean="0"/>
          </a:p>
          <a:p>
            <a:r>
              <a:rPr lang="tr-TR" b="1" dirty="0" smtClean="0"/>
              <a:t>Mikroorganizmaların </a:t>
            </a:r>
            <a:r>
              <a:rPr lang="tr-TR" b="1" dirty="0" err="1" smtClean="0"/>
              <a:t>laboratuvarda</a:t>
            </a:r>
            <a:r>
              <a:rPr lang="tr-TR" b="1" dirty="0" smtClean="0"/>
              <a:t> tanımlanmasını sağlar</a:t>
            </a:r>
          </a:p>
          <a:p>
            <a:endParaRPr lang="tr-TR" b="1" dirty="0" smtClean="0"/>
          </a:p>
          <a:p>
            <a:r>
              <a:rPr lang="tr-TR" b="1" dirty="0" smtClean="0"/>
              <a:t>Mikroorganizmayı saptar, izole eder, tanımlar (</a:t>
            </a:r>
            <a:r>
              <a:rPr lang="tr-TR" b="1" dirty="0" err="1" smtClean="0"/>
              <a:t>identifikasyon</a:t>
            </a:r>
            <a:r>
              <a:rPr lang="tr-TR" b="1" dirty="0" smtClean="0"/>
              <a:t>)</a:t>
            </a:r>
          </a:p>
          <a:p>
            <a:pPr>
              <a:buNone/>
            </a:pPr>
            <a:r>
              <a:rPr lang="tr-TR" b="1" dirty="0" smtClean="0"/>
              <a:t>      	yok edilmesinde (</a:t>
            </a:r>
            <a:r>
              <a:rPr lang="tr-TR" b="1" dirty="0" err="1" smtClean="0"/>
              <a:t>eradike</a:t>
            </a:r>
            <a:r>
              <a:rPr lang="tr-TR" b="1" dirty="0" smtClean="0"/>
              <a:t>) rol alır….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568952" cy="626469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BAKTERİYOLOJİ NEDİR?</a:t>
            </a:r>
            <a:r>
              <a:rPr lang="tr-TR" b="1" dirty="0" smtClean="0"/>
              <a:t>	</a:t>
            </a:r>
          </a:p>
          <a:p>
            <a:pPr>
              <a:buNone/>
            </a:pPr>
            <a:r>
              <a:rPr lang="tr-TR" b="1" dirty="0" smtClean="0"/>
              <a:t>Bakterileri inceleyen bilim dalı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HÜCRE NEDİR?</a:t>
            </a:r>
          </a:p>
          <a:p>
            <a:pPr>
              <a:buNone/>
            </a:pPr>
            <a:r>
              <a:rPr lang="tr-TR" b="1" dirty="0" smtClean="0"/>
              <a:t>Hücre, yaşayan organizmaların temel yapıtaşıdır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PATOJEN MİKROORGANİZMALAR</a:t>
            </a:r>
          </a:p>
          <a:p>
            <a:r>
              <a:rPr lang="tr-TR" b="1" dirty="0" smtClean="0"/>
              <a:t>1. Bakteriler </a:t>
            </a:r>
          </a:p>
          <a:p>
            <a:r>
              <a:rPr lang="tr-TR" b="1" dirty="0" smtClean="0"/>
              <a:t>2. Virüsler </a:t>
            </a:r>
          </a:p>
          <a:p>
            <a:r>
              <a:rPr lang="tr-TR" b="1" dirty="0" smtClean="0"/>
              <a:t>3. </a:t>
            </a:r>
            <a:r>
              <a:rPr lang="tr-TR" b="1" dirty="0" err="1" smtClean="0"/>
              <a:t>Protozoanlar</a:t>
            </a:r>
            <a:r>
              <a:rPr lang="tr-TR" b="1" dirty="0" smtClean="0"/>
              <a:t> </a:t>
            </a:r>
          </a:p>
          <a:p>
            <a:r>
              <a:rPr lang="tr-TR" b="1" dirty="0" smtClean="0"/>
              <a:t>4. Mantarlar </a:t>
            </a:r>
          </a:p>
          <a:p>
            <a:r>
              <a:rPr lang="tr-TR" b="1" dirty="0" smtClean="0"/>
              <a:t>5. </a:t>
            </a:r>
            <a:r>
              <a:rPr lang="tr-TR" b="1" dirty="0" err="1" smtClean="0"/>
              <a:t>Helmintler</a:t>
            </a:r>
            <a:r>
              <a:rPr lang="tr-TR" b="1" dirty="0" smtClean="0"/>
              <a:t> </a:t>
            </a:r>
          </a:p>
          <a:p>
            <a:pPr>
              <a:buNone/>
            </a:pPr>
            <a:endParaRPr lang="tr-TR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HÜCRE YAPISI NASIL OLUR 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800" b="1" dirty="0" smtClean="0"/>
              <a:t>Hücreler, bir çekirdeğe </a:t>
            </a:r>
            <a:r>
              <a:rPr lang="tr-TR" sz="2800" b="1" dirty="0" smtClean="0">
                <a:solidFill>
                  <a:srgbClr val="FF0000"/>
                </a:solidFill>
              </a:rPr>
              <a:t>(genetik materyal ve onu saran bir zar)</a:t>
            </a:r>
            <a:r>
              <a:rPr lang="tr-TR" sz="2800" b="1" dirty="0" smtClean="0"/>
              <a:t> </a:t>
            </a:r>
            <a:r>
              <a:rPr lang="tr-TR" sz="2800" b="1" dirty="0" smtClean="0">
                <a:solidFill>
                  <a:srgbClr val="7030A0"/>
                </a:solidFill>
              </a:rPr>
              <a:t>sahip olup olmamalarına göre iki büyük gruba ayrılır</a:t>
            </a:r>
          </a:p>
          <a:p>
            <a:pPr>
              <a:buNone/>
            </a:pPr>
            <a:r>
              <a:rPr lang="tr-TR" sz="2800" b="1" dirty="0" smtClean="0"/>
              <a:t> </a:t>
            </a:r>
          </a:p>
          <a:p>
            <a:r>
              <a:rPr lang="tr-TR" sz="2800" b="1" dirty="0" smtClean="0">
                <a:solidFill>
                  <a:srgbClr val="0070C0"/>
                </a:solidFill>
              </a:rPr>
              <a:t>Belirgin bir çekirdeğe (</a:t>
            </a:r>
            <a:r>
              <a:rPr lang="tr-TR" sz="2800" b="1" dirty="0" err="1" smtClean="0">
                <a:solidFill>
                  <a:srgbClr val="0070C0"/>
                </a:solidFill>
              </a:rPr>
              <a:t>nukleus</a:t>
            </a:r>
            <a:r>
              <a:rPr lang="tr-TR" sz="2800" b="1" dirty="0" smtClean="0">
                <a:solidFill>
                  <a:srgbClr val="0070C0"/>
                </a:solidFill>
              </a:rPr>
              <a:t>) sahip olan hücreler </a:t>
            </a:r>
            <a:r>
              <a:rPr lang="tr-TR" sz="2800" b="1" dirty="0" err="1" smtClean="0">
                <a:solidFill>
                  <a:srgbClr val="0070C0"/>
                </a:solidFill>
              </a:rPr>
              <a:t>ökaryot</a:t>
            </a:r>
            <a:r>
              <a:rPr lang="tr-TR" sz="2800" b="1" dirty="0" smtClean="0">
                <a:solidFill>
                  <a:srgbClr val="0070C0"/>
                </a:solidFill>
              </a:rPr>
              <a:t> (Yunanca gerçek çekirdek)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00B050"/>
                </a:solidFill>
              </a:rPr>
              <a:t>Çekirdeğe sahip olmayan hücreler ise </a:t>
            </a:r>
            <a:r>
              <a:rPr lang="tr-TR" sz="2800" b="1" dirty="0" err="1" smtClean="0">
                <a:solidFill>
                  <a:srgbClr val="00B050"/>
                </a:solidFill>
              </a:rPr>
              <a:t>prokaryot</a:t>
            </a:r>
            <a:r>
              <a:rPr lang="tr-TR" sz="2800" b="1" dirty="0" smtClean="0">
                <a:solidFill>
                  <a:srgbClr val="00B050"/>
                </a:solidFill>
              </a:rPr>
              <a:t> (Yunanca primitif çekirdek) olarak isimlendirilir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827584" y="476250"/>
            <a:ext cx="7776864" cy="59055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			ÖKARYOTLAR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Hayvan, insan, bitki ve mantarlara ait hücrelerdir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 </a:t>
            </a:r>
          </a:p>
          <a:p>
            <a:pPr>
              <a:buNone/>
            </a:pP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			PROKARYOT</a:t>
            </a:r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Bakteriler ve mavi-yeşil algler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err="1" smtClean="0">
                <a:solidFill>
                  <a:srgbClr val="0070C0"/>
                </a:solidFill>
              </a:rPr>
              <a:t>Prokaryot</a:t>
            </a:r>
            <a:r>
              <a:rPr lang="tr-TR" sz="2800" b="1" dirty="0" smtClean="0">
                <a:solidFill>
                  <a:srgbClr val="0070C0"/>
                </a:solidFill>
              </a:rPr>
              <a:t> hücreleri, </a:t>
            </a:r>
            <a:r>
              <a:rPr lang="tr-TR" sz="2800" b="1" dirty="0" err="1" smtClean="0">
                <a:solidFill>
                  <a:srgbClr val="0070C0"/>
                </a:solidFill>
              </a:rPr>
              <a:t>ökaryot</a:t>
            </a:r>
            <a:r>
              <a:rPr lang="tr-TR" sz="2800" b="1" dirty="0" smtClean="0">
                <a:solidFill>
                  <a:srgbClr val="0070C0"/>
                </a:solidFill>
              </a:rPr>
              <a:t> hücrelerden ayıran en önemli fark bir ÇEKİRDEK ZARINA sahip olmamalarıdır 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MİKROORGANİZMALAR NERELERDE BULUNUR?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Havada,toprakta ve su gibi dış ortamlarda</a:t>
            </a:r>
          </a:p>
          <a:p>
            <a:r>
              <a:rPr lang="tr-TR" sz="2800" b="1" dirty="0" smtClean="0"/>
              <a:t>Veya insanlar,hayvanlar ve bitkilerle birlikte onların yaşadıkları</a:t>
            </a:r>
            <a:r>
              <a:rPr lang="tr-TR" sz="2800" b="1" dirty="0"/>
              <a:t> </a:t>
            </a:r>
            <a:r>
              <a:rPr lang="tr-TR" sz="2800" b="1" dirty="0" smtClean="0"/>
              <a:t>çevrede bulunur</a:t>
            </a:r>
          </a:p>
          <a:p>
            <a:r>
              <a:rPr lang="tr-TR" sz="2800" b="1" dirty="0" smtClean="0"/>
              <a:t>Deri,boğaz,burun,bağırsak gibi vücudumuzun çeşitli bölgelerinde yer alır</a:t>
            </a:r>
          </a:p>
          <a:p>
            <a:r>
              <a:rPr lang="tr-TR" sz="2800" b="1" dirty="0" smtClean="0"/>
              <a:t>Çoğu ancak mikroskopta görülebilecek kadar küçük</a:t>
            </a:r>
          </a:p>
          <a:p>
            <a:r>
              <a:rPr lang="tr-TR" sz="2800" b="1" dirty="0" smtClean="0"/>
              <a:t>Değişik ortamlarda yaşamlarını sürdürür</a:t>
            </a:r>
          </a:p>
          <a:p>
            <a:endParaRPr lang="tr-TR" sz="2800" b="1" dirty="0" smtClean="0"/>
          </a:p>
          <a:p>
            <a:endParaRPr lang="tr-T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7030A0"/>
                </a:solidFill>
              </a:rPr>
              <a:t>Onlar  her yerdeler!!!</a:t>
            </a:r>
            <a:endParaRPr lang="tr-TR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2800" b="1" dirty="0" smtClean="0"/>
              <a:t>Bakteriler, çoğu zaman bağımsız olarak veya canlıların vücudunu konak olarak kullanarak yaşayabilen tek hücreli canlılardır. </a:t>
            </a:r>
          </a:p>
          <a:p>
            <a:r>
              <a:rPr lang="tr-TR" sz="2800" b="1" dirty="0" smtClean="0"/>
              <a:t>Milyarlarca yıldır gezegenimizde var olan bakteriler, genellikle virüslere göre daha karmaşık yapılıdırlar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BUNA RAĞMEN, BAKTERİLER PROKARYOTİK CANLILARDIR; YANİ HÜCRELERİNDE ZARLI ORGANELLERİ BULUNMAZ. </a:t>
            </a:r>
          </a:p>
          <a:p>
            <a:r>
              <a:rPr lang="tr-TR" sz="2800" b="1" dirty="0" smtClean="0">
                <a:solidFill>
                  <a:srgbClr val="FF0000"/>
                </a:solidFill>
              </a:rPr>
              <a:t>ORGANELLERİ VE DNA'LARI, HÜCRE DUVARININ İÇİNE DAĞILMIŞ HALDEDİR</a:t>
            </a:r>
            <a:endParaRPr lang="tr-TR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7030A0"/>
                </a:solidFill>
              </a:rPr>
              <a:t>Bakteriler hemen hemen her yerde yaşarlar</a:t>
            </a:r>
            <a:br>
              <a:rPr lang="tr-TR" b="1" dirty="0" smtClean="0">
                <a:solidFill>
                  <a:srgbClr val="7030A0"/>
                </a:solidFill>
              </a:rPr>
            </a:br>
            <a:endParaRPr lang="tr-TR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smtClean="0"/>
              <a:t>Dağların tepelerinde, okyanusların dibinde, diğer canlıların ve cansız cisimlerin dış yüzeylerinde, vücudunuzun içinde...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Üstelik birçok bakteri son derece ekstrem koşullarda da hayatta kalabilir: aşırı tuzlu, aşırı asidik, aşırı bazik, aşırı yüksek radyasyon olan, aşırı sıcak veya aşırı soğuk ortamlarda... </a:t>
            </a:r>
          </a:p>
          <a:p>
            <a:r>
              <a:rPr lang="tr-TR" b="1" dirty="0" smtClean="0"/>
              <a:t>Ve bakteriler, hemen hemen her canlıya bulaşabilirler: hayvanlara, bitkilere, </a:t>
            </a:r>
            <a:r>
              <a:rPr lang="tr-TR" b="1" dirty="0" err="1" smtClean="0"/>
              <a:t>protistalara</a:t>
            </a:r>
            <a:r>
              <a:rPr lang="tr-TR" b="1" dirty="0" smtClean="0"/>
              <a:t>, mantarlara ve </a:t>
            </a:r>
            <a:r>
              <a:rPr lang="tr-TR" b="1" dirty="0" smtClean="0">
                <a:solidFill>
                  <a:srgbClr val="FF0000"/>
                </a:solidFill>
              </a:rPr>
              <a:t>hatta diğer bakterilere de!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Buna rağmen, bakterilerin sebep olduğu çok sayıda hastalık vardır</a:t>
            </a:r>
            <a:endParaRPr lang="tr-TR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2800" b="1" dirty="0" smtClean="0"/>
              <a:t>İstenmeyen bir bakteri vücudunuza girdiğinde hemen bölünüp yayılmaya başlar ve bulunduğu bölgede enfeksiyon oluşturur</a:t>
            </a: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  <a:p>
            <a:r>
              <a:rPr lang="tr-TR" sz="2800" b="1" dirty="0" smtClean="0">
                <a:solidFill>
                  <a:srgbClr val="FF0000"/>
                </a:solidFill>
              </a:rPr>
              <a:t>Unutmayın, her bakteri zararlı değildir! 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Peynir ve yoğurt üretiminde</a:t>
            </a:r>
            <a:r>
              <a:rPr lang="tr-TR" sz="2800" b="1" dirty="0" smtClean="0"/>
              <a:t> </a:t>
            </a:r>
          </a:p>
          <a:p>
            <a:r>
              <a:rPr lang="tr-TR" sz="2800" b="1" dirty="0" smtClean="0">
                <a:solidFill>
                  <a:srgbClr val="00B050"/>
                </a:solidFill>
              </a:rPr>
              <a:t>Atık su arıtmasında </a:t>
            </a:r>
          </a:p>
          <a:p>
            <a:r>
              <a:rPr lang="tr-TR" sz="2800" b="1" dirty="0" smtClean="0">
                <a:solidFill>
                  <a:srgbClr val="FF33CC"/>
                </a:solidFill>
              </a:rPr>
              <a:t>Sindirimde de </a:t>
            </a:r>
          </a:p>
          <a:p>
            <a:pPr lvl="1"/>
            <a:r>
              <a:rPr lang="tr-TR" sz="2400" b="1" dirty="0" smtClean="0">
                <a:solidFill>
                  <a:srgbClr val="FF0000"/>
                </a:solidFill>
              </a:rPr>
              <a:t>bağırsaklarımızdaki bakterilerden yararlanırız</a:t>
            </a:r>
            <a:endParaRPr lang="tr-TR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Bakterileri öldürmek için antibiyotik kullanırız</a:t>
            </a:r>
            <a:endParaRPr lang="tr-TR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smtClean="0"/>
              <a:t>Bunlar, bakterilerin çeşitli yapısal özelliklerinden faydalanarak onların bölünme mekanizmalarını bozabilir veya doğrudan doğruya ölümlerine neden olabilir</a:t>
            </a:r>
          </a:p>
          <a:p>
            <a:r>
              <a:rPr lang="tr-TR" b="1" dirty="0" smtClean="0"/>
              <a:t>Antibiyotikler, bakterilere karşı çok güçlü bir silah olsa da, uzun süreli, abartılı veya doğru olmayan şekillerde kullanılması halinde </a:t>
            </a:r>
            <a:r>
              <a:rPr lang="tr-TR" b="1" dirty="0" smtClean="0">
                <a:solidFill>
                  <a:srgbClr val="FF0000"/>
                </a:solidFill>
              </a:rPr>
              <a:t>antibiyotik direnci</a:t>
            </a:r>
            <a:r>
              <a:rPr lang="tr-TR" b="1" dirty="0" smtClean="0"/>
              <a:t> adı verilen bir olguyla karşılaşılabilir</a:t>
            </a:r>
          </a:p>
          <a:p>
            <a:r>
              <a:rPr lang="tr-TR" b="1" dirty="0" smtClean="0"/>
              <a:t>Bu, </a:t>
            </a:r>
            <a:r>
              <a:rPr lang="tr-TR" b="1" dirty="0" smtClean="0">
                <a:solidFill>
                  <a:srgbClr val="FF0000"/>
                </a:solidFill>
              </a:rPr>
              <a:t>bakterilerin evrimleşerek</a:t>
            </a:r>
            <a:r>
              <a:rPr lang="tr-TR" b="1" dirty="0" smtClean="0"/>
              <a:t>, antibiyotiklere direnç kazanması olayıdır. Bu nedenle antibiyotiklerin hekim denetiminde ve doğru bir şekilde kullanılması gerekir</a:t>
            </a:r>
            <a:endParaRPr lang="tr-TR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Hızlı evrimleşebilirler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Bakteriler çoğunlukla eşeysiz olarak, amitoz bölünme denen bir yöntemle ürerler</a:t>
            </a:r>
          </a:p>
          <a:p>
            <a:r>
              <a:rPr lang="tr-TR" b="1" dirty="0" smtClean="0"/>
              <a:t>Bu, ilkel bir mitoz bölünme gibi düşünülebilir ve tek bir hücreden, birbirinin aynısı olan iki kopya üretilir</a:t>
            </a:r>
          </a:p>
          <a:p>
            <a:r>
              <a:rPr lang="tr-TR" b="1" dirty="0" smtClean="0"/>
              <a:t>Bazı bakteriler uygun şartlarda sadece 10 dakikada bir bölünebilirler; ancak çoğu bakterinin bölünmesi için birkaç saat geçmesi gerekir</a:t>
            </a:r>
          </a:p>
          <a:p>
            <a:r>
              <a:rPr lang="tr-TR" b="1" dirty="0" smtClean="0"/>
              <a:t>Bu üreme hızları nedeniyle bakteriler çok hızlı bir şekilde sayılarını arttırabilirler ve çok hızlı bir şekilde evrimleşebilirler</a:t>
            </a:r>
            <a:endParaRPr lang="tr-TR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b="1" dirty="0" smtClean="0"/>
              <a:t>1-5 μ</a:t>
            </a:r>
            <a:r>
              <a:rPr lang="tr-TR" b="1" dirty="0" smtClean="0"/>
              <a:t>m  boyutlarındadır</a:t>
            </a:r>
          </a:p>
          <a:p>
            <a:r>
              <a:rPr lang="tr-TR" b="1" dirty="0" smtClean="0"/>
              <a:t>Bağımsız olarak yaşayabilen en küçük hücrelerdir </a:t>
            </a:r>
          </a:p>
          <a:p>
            <a:r>
              <a:rPr lang="tr-TR" b="1" dirty="0" err="1" smtClean="0"/>
              <a:t>Prokaryotturlar</a:t>
            </a:r>
            <a:endParaRPr lang="tr-TR" b="1" dirty="0" smtClean="0"/>
          </a:p>
          <a:p>
            <a:r>
              <a:rPr lang="tr-TR" b="1" dirty="0" smtClean="0"/>
              <a:t>Çekirdek zarı yok</a:t>
            </a:r>
          </a:p>
          <a:p>
            <a:r>
              <a:rPr lang="tr-TR" b="1" dirty="0" smtClean="0"/>
              <a:t>Sadece mikroskopta görülebilirler 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TANIMLANMASI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tr-TR" b="1" dirty="0" smtClean="0"/>
              <a:t>	</a:t>
            </a:r>
            <a:r>
              <a:rPr lang="tr-TR" b="1" dirty="0" smtClean="0">
                <a:solidFill>
                  <a:srgbClr val="7030A0"/>
                </a:solidFill>
              </a:rPr>
              <a:t>Bakteri tanımlanmasında kullanılan yöntemler</a:t>
            </a:r>
          </a:p>
          <a:p>
            <a:r>
              <a:rPr lang="tr-TR" b="1" dirty="0" smtClean="0"/>
              <a:t>Çeşitli biyokimyasal özellikleri</a:t>
            </a:r>
          </a:p>
          <a:p>
            <a:r>
              <a:rPr lang="tr-TR" b="1" dirty="0" smtClean="0"/>
              <a:t>Karbonhidratları fermente etme yeteneği</a:t>
            </a:r>
          </a:p>
          <a:p>
            <a:r>
              <a:rPr lang="tr-TR" b="1" dirty="0" err="1" smtClean="0"/>
              <a:t>Katalaz</a:t>
            </a:r>
            <a:r>
              <a:rPr lang="tr-TR" b="1" dirty="0" smtClean="0"/>
              <a:t>, </a:t>
            </a:r>
            <a:r>
              <a:rPr lang="tr-TR" b="1" dirty="0" err="1" smtClean="0"/>
              <a:t>Koagülaz</a:t>
            </a:r>
            <a:r>
              <a:rPr lang="tr-TR" b="1" dirty="0" smtClean="0"/>
              <a:t>, </a:t>
            </a:r>
            <a:r>
              <a:rPr lang="tr-TR" b="1" dirty="0" err="1" smtClean="0"/>
              <a:t>Proteaz</a:t>
            </a:r>
            <a:r>
              <a:rPr lang="tr-TR" b="1" dirty="0" smtClean="0"/>
              <a:t>, </a:t>
            </a:r>
            <a:r>
              <a:rPr lang="tr-TR" b="1" dirty="0" err="1" smtClean="0"/>
              <a:t>Lipaz</a:t>
            </a:r>
            <a:r>
              <a:rPr lang="tr-TR" b="1" dirty="0" smtClean="0"/>
              <a:t> gibi enzimlerin varlığı gibi özelliklerinin tespit edilmesi</a:t>
            </a:r>
          </a:p>
          <a:p>
            <a:r>
              <a:rPr lang="tr-TR" b="1" dirty="0" smtClean="0"/>
              <a:t>Bakterilerin analitik özellikleri </a:t>
            </a:r>
          </a:p>
          <a:p>
            <a:pPr lvl="1"/>
            <a:r>
              <a:rPr lang="tr-TR" b="1" dirty="0" smtClean="0"/>
              <a:t>hücresel yağ asidi</a:t>
            </a:r>
          </a:p>
          <a:p>
            <a:pPr lvl="1"/>
            <a:r>
              <a:rPr lang="tr-TR" b="1" dirty="0" smtClean="0"/>
              <a:t>protein ve enzim analizleri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TANIMLANMASI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Fenotipik</a:t>
            </a:r>
            <a:r>
              <a:rPr lang="tr-TR" b="1" dirty="0" smtClean="0"/>
              <a:t> (Dış görünüş) olarak</a:t>
            </a:r>
          </a:p>
          <a:p>
            <a:pPr>
              <a:buNone/>
            </a:pPr>
            <a:r>
              <a:rPr lang="tr-TR" b="1" dirty="0" smtClean="0"/>
              <a:t>	        </a:t>
            </a:r>
            <a:r>
              <a:rPr lang="tr-TR" b="1" dirty="0" err="1" smtClean="0"/>
              <a:t>Makroskobik</a:t>
            </a:r>
            <a:endParaRPr lang="tr-TR" b="1" dirty="0" smtClean="0"/>
          </a:p>
          <a:p>
            <a:pPr>
              <a:buNone/>
            </a:pPr>
            <a:r>
              <a:rPr lang="tr-TR" b="1" dirty="0" smtClean="0"/>
              <a:t>	        Mikroskobik </a:t>
            </a:r>
          </a:p>
          <a:p>
            <a:pPr lvl="1">
              <a:buNone/>
            </a:pPr>
            <a:r>
              <a:rPr lang="tr-TR" b="1" dirty="0" smtClean="0"/>
              <a:t>      </a:t>
            </a:r>
            <a:endParaRPr lang="tr-TR" sz="3200" b="1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TANIMLANMASI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Bakteri kolonilerin rengi, şekli ve kokusu gibi özellikleri </a:t>
            </a:r>
            <a:r>
              <a:rPr lang="tr-TR" b="1" dirty="0" err="1" smtClean="0">
                <a:solidFill>
                  <a:srgbClr val="7030A0"/>
                </a:solidFill>
              </a:rPr>
              <a:t>makroskobik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smtClean="0"/>
              <a:t>tanımlamada kullanılır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Mikroskobik</a:t>
            </a:r>
            <a:r>
              <a:rPr lang="tr-TR" b="1" dirty="0" smtClean="0"/>
              <a:t> özelliklerin incelenmesinde ise en sık Gram boyama yöntemi kullanılır 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683568" y="765175"/>
            <a:ext cx="7523807" cy="5360988"/>
          </a:xfrm>
        </p:spPr>
        <p:txBody>
          <a:bodyPr/>
          <a:lstStyle/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Bakteri tanımlanmasında en doğru sonuç ise bakterilerin genetik yapısının incelenmesi sonucu elde edilir</a:t>
            </a:r>
          </a:p>
          <a:p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Genetik inceleme sonucu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Bakterilerin cins, tür ve alt tür düzeyinde sınıflandırılması yapılabilir</a:t>
            </a:r>
          </a:p>
          <a:p>
            <a:pPr>
              <a:buNone/>
            </a:pPr>
            <a:endParaRPr lang="tr-TR" dirty="0" smtClean="0">
              <a:solidFill>
                <a:srgbClr val="FF0000"/>
              </a:solidFill>
            </a:endParaRPr>
          </a:p>
          <a:p>
            <a:endParaRPr lang="tr-T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TAKSONOMİ ~ SİSTEMATİK</a:t>
            </a:r>
            <a:r>
              <a:rPr lang="tr-TR" b="1" dirty="0" smtClean="0"/>
              <a:t> </a:t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NEDİR?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Türk Dil Kurumuna göre</a:t>
            </a:r>
          </a:p>
          <a:p>
            <a:r>
              <a:rPr lang="tr-TR" b="1" dirty="0" smtClean="0"/>
              <a:t>Sınıflandırma ve bu sınıflandırmada kullanılan kurallar bütünü demektir</a:t>
            </a:r>
            <a:endParaRPr lang="tr-TR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TAKSONOMİ ~ SİSTEMATİK</a:t>
            </a:r>
            <a:r>
              <a:rPr lang="tr-TR" b="1" dirty="0" smtClean="0"/>
              <a:t> </a:t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NEDİR?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b="1" dirty="0" smtClean="0"/>
              <a:t>Canlıları belirli özelliklerine ve benzerliklerine göre sınıflandırarak inceleyen bilim dalıdır </a:t>
            </a:r>
          </a:p>
          <a:p>
            <a:r>
              <a:rPr lang="tr-TR" sz="2800" b="1" dirty="0" smtClean="0"/>
              <a:t>“Sistematik” olarak da </a:t>
            </a:r>
            <a:r>
              <a:rPr lang="tr-TR" sz="2800" b="1" dirty="0" err="1" smtClean="0"/>
              <a:t>adladırılan</a:t>
            </a:r>
            <a:r>
              <a:rPr lang="tr-TR" sz="2800" b="1" dirty="0" smtClean="0"/>
              <a:t> bu bilim dalı, doğadaki çeşitliliği ve canlılar arasındaki akrabalık ilişkilerini inceler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04664"/>
            <a:ext cx="8135938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BAKTERİLERİN İSİMLENDİRİLMESİNDEKİ KURALLAR 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1-</a:t>
            </a:r>
            <a:r>
              <a:rPr lang="tr-TR" b="1" dirty="0" smtClean="0"/>
              <a:t> Her mikroorganizma için tek isim vardır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2-</a:t>
            </a:r>
            <a:r>
              <a:rPr lang="tr-TR" b="1" dirty="0" smtClean="0"/>
              <a:t> Hataya veya karışıklığa neden olan isimler reddedilir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3-</a:t>
            </a:r>
            <a:r>
              <a:rPr lang="tr-TR" b="1" dirty="0" smtClean="0"/>
              <a:t> Tüm isimler orijinalinden bağımsız olarak Latince veya Latinceleştirilmiştir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4- </a:t>
            </a:r>
            <a:r>
              <a:rPr lang="tr-TR" b="1" dirty="0" smtClean="0"/>
              <a:t>İsmin ilk kelimesi (cins-</a:t>
            </a:r>
            <a:r>
              <a:rPr lang="tr-TR" b="1" dirty="0" err="1" smtClean="0"/>
              <a:t>genus</a:t>
            </a:r>
            <a:r>
              <a:rPr lang="tr-TR" b="1" dirty="0" smtClean="0"/>
              <a:t>) ismi daima büyük harfle başlar</a:t>
            </a:r>
            <a:endParaRPr lang="tr-TR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7030A0"/>
                </a:solidFill>
              </a:rPr>
              <a:t>BAKTERİLERİN İSİMLENDİRİLMESİNDEKİ KURALLAR 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5-</a:t>
            </a:r>
            <a:r>
              <a:rPr lang="tr-TR" b="1" dirty="0" smtClean="0"/>
              <a:t> İkinci kelime (tür-</a:t>
            </a:r>
            <a:r>
              <a:rPr lang="tr-TR" b="1" dirty="0" err="1" smtClean="0"/>
              <a:t>species</a:t>
            </a:r>
            <a:r>
              <a:rPr lang="tr-TR" b="1" dirty="0" smtClean="0"/>
              <a:t>) küçük harfle başlar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6-</a:t>
            </a:r>
            <a:r>
              <a:rPr lang="tr-TR" b="1" dirty="0" smtClean="0"/>
              <a:t> Metin içinde hem cins hem de tür ismi italik veya </a:t>
            </a:r>
            <a:r>
              <a:rPr lang="tr-TR" b="1" u="sng" dirty="0" smtClean="0"/>
              <a:t>altı çizili </a:t>
            </a:r>
            <a:r>
              <a:rPr lang="tr-TR" b="1" dirty="0" smtClean="0"/>
              <a:t>olarak yazılır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i="1" dirty="0" err="1" smtClean="0"/>
              <a:t>Escherichia</a:t>
            </a:r>
            <a:r>
              <a:rPr lang="tr-TR" b="1" i="1" dirty="0" smtClean="0"/>
              <a:t> </a:t>
            </a:r>
            <a:r>
              <a:rPr lang="tr-TR" b="1" i="1" dirty="0" err="1" smtClean="0"/>
              <a:t>coli</a:t>
            </a:r>
            <a:endParaRPr lang="tr-TR" b="1" i="1" dirty="0" smtClean="0"/>
          </a:p>
          <a:p>
            <a:r>
              <a:rPr lang="tr-TR" b="1" i="1" dirty="0" err="1" smtClean="0"/>
              <a:t>Klebsiella</a:t>
            </a:r>
            <a:r>
              <a:rPr lang="tr-TR" b="1" i="1" dirty="0" smtClean="0"/>
              <a:t> </a:t>
            </a:r>
            <a:r>
              <a:rPr lang="tr-TR" b="1" i="1" dirty="0" err="1" smtClean="0"/>
              <a:t>pneumoniae</a:t>
            </a:r>
            <a:r>
              <a:rPr lang="tr-TR" b="1" i="1" dirty="0" smtClean="0"/>
              <a:t> </a:t>
            </a:r>
          </a:p>
          <a:p>
            <a:r>
              <a:rPr lang="tr-TR" b="1" i="1" dirty="0" err="1" smtClean="0"/>
              <a:t>Staphylococcus</a:t>
            </a:r>
            <a:r>
              <a:rPr lang="tr-TR" b="1" i="1" dirty="0" smtClean="0"/>
              <a:t> </a:t>
            </a:r>
            <a:r>
              <a:rPr lang="tr-TR" b="1" i="1" dirty="0" err="1" smtClean="0"/>
              <a:t>aureus</a:t>
            </a:r>
            <a:endParaRPr lang="tr-TR" b="1" i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İDENTİFİKASYON  NEDİR?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Bir bilinmeyenin, tanımlanmış birimlerden birine ait olduğunun belirlenmesi</a:t>
            </a:r>
          </a:p>
          <a:p>
            <a:endParaRPr lang="tr-TR" b="1" dirty="0" smtClean="0"/>
          </a:p>
          <a:p>
            <a:endParaRPr lang="tr-TR" b="1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 </a:t>
            </a:r>
            <a:r>
              <a:rPr lang="tr-TR" b="1" dirty="0" smtClean="0">
                <a:solidFill>
                  <a:srgbClr val="FF0000"/>
                </a:solidFill>
              </a:rPr>
              <a:t>TANIMLANMASI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NE DEMEK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 TANIMLANMASI,</a:t>
            </a:r>
            <a:r>
              <a:rPr lang="tr-TR" b="1" dirty="0" smtClean="0"/>
              <a:t> bir hastalık veya ortam örneğindeki bilinmeyen bir bakterinin türünü ve cinsini bulma işlemidir. </a:t>
            </a:r>
          </a:p>
          <a:p>
            <a:r>
              <a:rPr lang="tr-TR" b="1" dirty="0" smtClean="0"/>
              <a:t>Bu işlem, morfolojik inceleme, biyokimyasal testler ve moleküler yöntemler kullanılarak gerçekleştirilir. </a:t>
            </a:r>
            <a:br>
              <a:rPr lang="tr-TR" b="1" dirty="0" smtClean="0"/>
            </a:br>
            <a:endParaRPr lang="tr-TR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ÖZELLİKLERİ NELERDİR?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1-Morfolojik özellikler</a:t>
            </a:r>
          </a:p>
          <a:p>
            <a:r>
              <a:rPr lang="tr-TR" b="1" dirty="0" smtClean="0"/>
              <a:t>2 Fizyolojik ve biyokimyasal özellikler</a:t>
            </a:r>
          </a:p>
          <a:p>
            <a:r>
              <a:rPr lang="tr-TR" b="1" dirty="0" smtClean="0"/>
              <a:t>3-Büyüme özellikleri</a:t>
            </a:r>
          </a:p>
          <a:p>
            <a:r>
              <a:rPr lang="tr-TR" b="1" dirty="0" smtClean="0"/>
              <a:t>4-</a:t>
            </a:r>
            <a:r>
              <a:rPr lang="tr-TR" b="1" dirty="0" err="1" smtClean="0"/>
              <a:t>Serolojik</a:t>
            </a:r>
            <a:r>
              <a:rPr lang="tr-TR" b="1" dirty="0" smtClean="0"/>
              <a:t> özellikleri</a:t>
            </a:r>
            <a:endParaRPr lang="tr-TR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ÖZELLİKLERİ NELERDİR? 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MORFOLOJİK ÖZELLİKLER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Hücresel Özellikler</a:t>
            </a:r>
          </a:p>
          <a:p>
            <a:pPr lvl="1"/>
            <a:r>
              <a:rPr lang="tr-TR" b="1" dirty="0" smtClean="0"/>
              <a:t>Şekli </a:t>
            </a:r>
          </a:p>
          <a:p>
            <a:pPr lvl="1"/>
            <a:r>
              <a:rPr lang="tr-TR" b="1" dirty="0" err="1" smtClean="0"/>
              <a:t>Endospor</a:t>
            </a:r>
            <a:r>
              <a:rPr lang="tr-TR" b="1" dirty="0" smtClean="0"/>
              <a:t> varlığı </a:t>
            </a:r>
          </a:p>
          <a:p>
            <a:pPr lvl="1"/>
            <a:r>
              <a:rPr lang="tr-TR" b="1" dirty="0" err="1" smtClean="0"/>
              <a:t>Flagella</a:t>
            </a:r>
            <a:r>
              <a:rPr lang="tr-TR" b="1" dirty="0" smtClean="0"/>
              <a:t> ,</a:t>
            </a:r>
            <a:r>
              <a:rPr lang="tr-TR" b="1" dirty="0" err="1" smtClean="0"/>
              <a:t>Fimbria</a:t>
            </a:r>
            <a:r>
              <a:rPr lang="tr-TR" b="1" dirty="0" smtClean="0"/>
              <a:t> varlığı</a:t>
            </a:r>
          </a:p>
          <a:p>
            <a:pPr lvl="1"/>
            <a:r>
              <a:rPr lang="tr-TR" b="1" dirty="0" err="1" smtClean="0"/>
              <a:t>İnklüzyon</a:t>
            </a:r>
            <a:r>
              <a:rPr lang="tr-TR" b="1" dirty="0" smtClean="0"/>
              <a:t> cisimcikleri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Gram boyama özellikleri</a:t>
            </a:r>
          </a:p>
          <a:p>
            <a:pPr lvl="1"/>
            <a:r>
              <a:rPr lang="tr-TR" b="1" dirty="0" smtClean="0"/>
              <a:t>Gram Pozitif</a:t>
            </a:r>
          </a:p>
          <a:p>
            <a:pPr lvl="1"/>
            <a:r>
              <a:rPr lang="tr-TR" b="1" dirty="0" smtClean="0"/>
              <a:t>Gram Negatif</a:t>
            </a:r>
            <a:endParaRPr lang="tr-TR" dirty="0" smtClean="0">
              <a:solidFill>
                <a:srgbClr val="FF0000"/>
              </a:solidFill>
            </a:endParaRPr>
          </a:p>
          <a:p>
            <a:pPr lvl="1"/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ÖZELLİKLERİ NELERDİR? 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			MORFOLOJİK ÖZELLİKLER</a:t>
            </a:r>
            <a:endParaRPr lang="tr-TR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ARB boyama özellikleri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Hareket yetenekleri</a:t>
            </a:r>
          </a:p>
          <a:p>
            <a:pPr lvl="1"/>
            <a:r>
              <a:rPr lang="tr-TR" b="1" dirty="0" smtClean="0"/>
              <a:t>Hareket besi yerinde </a:t>
            </a:r>
          </a:p>
          <a:p>
            <a:pPr lvl="1"/>
            <a:r>
              <a:rPr lang="tr-TR" b="1" dirty="0" smtClean="0"/>
              <a:t>Islak lam-lamel arasında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Koloni oluşturma özellikleri</a:t>
            </a:r>
          </a:p>
          <a:p>
            <a:pPr lvl="1"/>
            <a:r>
              <a:rPr lang="tr-TR" b="1" dirty="0" smtClean="0"/>
              <a:t>Renk </a:t>
            </a:r>
          </a:p>
          <a:p>
            <a:pPr lvl="1"/>
            <a:r>
              <a:rPr lang="tr-TR" b="1" dirty="0" smtClean="0"/>
              <a:t>Büyüklük </a:t>
            </a:r>
          </a:p>
          <a:p>
            <a:pPr lvl="1"/>
            <a:r>
              <a:rPr lang="tr-TR" b="1" dirty="0" smtClean="0"/>
              <a:t>Şekil</a:t>
            </a:r>
            <a:endParaRPr lang="tr-TR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ÖZELLİKLERİ NELERDİR? 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		FİZYOLOJİK VE BİYOKİMYASAL ÖZELLİKLER</a:t>
            </a:r>
          </a:p>
          <a:p>
            <a:r>
              <a:rPr lang="tr-TR" b="1" dirty="0" smtClean="0"/>
              <a:t>Değişik </a:t>
            </a:r>
            <a:r>
              <a:rPr lang="tr-TR" b="1" dirty="0" err="1" smtClean="0"/>
              <a:t>pH</a:t>
            </a:r>
            <a:r>
              <a:rPr lang="tr-TR" b="1" dirty="0" smtClean="0"/>
              <a:t>, atmosfer ve tuz konsantrasyonlarında üreme</a:t>
            </a:r>
          </a:p>
          <a:p>
            <a:r>
              <a:rPr lang="tr-TR" b="1" dirty="0" err="1" smtClean="0"/>
              <a:t>Antimikrobiyal’ler</a:t>
            </a:r>
            <a:r>
              <a:rPr lang="tr-TR" b="1" dirty="0" smtClean="0"/>
              <a:t> varlığında üreme</a:t>
            </a:r>
          </a:p>
          <a:p>
            <a:r>
              <a:rPr lang="tr-TR" b="1" dirty="0" smtClean="0"/>
              <a:t>Enzim varlığında aktivitesi</a:t>
            </a:r>
            <a:endParaRPr lang="tr-TR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ÖZELLİKLERİ NELERDİR? 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7030A0"/>
                </a:solidFill>
              </a:rPr>
              <a:t>Büyüme özellikleri</a:t>
            </a:r>
          </a:p>
          <a:p>
            <a:pPr lvl="1"/>
            <a:r>
              <a:rPr lang="tr-TR" b="1" dirty="0" smtClean="0"/>
              <a:t>Büyüme hızına göre</a:t>
            </a:r>
          </a:p>
          <a:p>
            <a:pPr lvl="1"/>
            <a:r>
              <a:rPr lang="tr-TR" b="1" dirty="0" smtClean="0"/>
              <a:t>Oksijen ihtiyacına göre</a:t>
            </a:r>
          </a:p>
          <a:p>
            <a:pPr lvl="1"/>
            <a:r>
              <a:rPr lang="tr-TR" b="1" dirty="0" smtClean="0"/>
              <a:t>Büyümek için ihtiyaç olan optimal ısıya göre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Serolojik</a:t>
            </a:r>
            <a:r>
              <a:rPr lang="tr-TR" b="1" dirty="0" smtClean="0">
                <a:solidFill>
                  <a:srgbClr val="7030A0"/>
                </a:solidFill>
              </a:rPr>
              <a:t> özellikleri</a:t>
            </a:r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76250"/>
            <a:ext cx="8424936" cy="564991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dirty="0" smtClean="0"/>
              <a:t>		</a:t>
            </a:r>
            <a:r>
              <a:rPr lang="tr-TR" dirty="0" smtClean="0">
                <a:solidFill>
                  <a:srgbClr val="FF0000"/>
                </a:solidFill>
              </a:rPr>
              <a:t>	</a:t>
            </a:r>
            <a:r>
              <a:rPr lang="tr-TR" b="1" dirty="0" smtClean="0">
                <a:solidFill>
                  <a:srgbClr val="FF0000"/>
                </a:solidFill>
              </a:rPr>
              <a:t>ATMOSFER (OKSİJEN) İHTİYACINA GÖRE</a:t>
            </a:r>
          </a:p>
          <a:p>
            <a:pPr lvl="1"/>
            <a:r>
              <a:rPr lang="tr-TR" b="1" dirty="0" smtClean="0"/>
              <a:t>Zorunlu </a:t>
            </a:r>
            <a:r>
              <a:rPr lang="tr-TR" b="1" dirty="0" err="1" smtClean="0"/>
              <a:t>aeroblar</a:t>
            </a:r>
            <a:endParaRPr lang="tr-TR" b="1" dirty="0" smtClean="0"/>
          </a:p>
          <a:p>
            <a:pPr lvl="1"/>
            <a:r>
              <a:rPr lang="tr-TR" b="1" dirty="0" err="1" smtClean="0"/>
              <a:t>Kapnofil</a:t>
            </a:r>
            <a:endParaRPr lang="tr-TR" b="1" dirty="0" smtClean="0"/>
          </a:p>
          <a:p>
            <a:pPr lvl="1"/>
            <a:r>
              <a:rPr lang="tr-TR" b="1" dirty="0" err="1" smtClean="0"/>
              <a:t>Fakültatif</a:t>
            </a:r>
            <a:r>
              <a:rPr lang="tr-TR" b="1" dirty="0" smtClean="0"/>
              <a:t> </a:t>
            </a:r>
            <a:r>
              <a:rPr lang="tr-TR" b="1" dirty="0" err="1" smtClean="0"/>
              <a:t>anaeroblar</a:t>
            </a:r>
            <a:endParaRPr lang="tr-TR" b="1" dirty="0" smtClean="0"/>
          </a:p>
          <a:p>
            <a:pPr lvl="1"/>
            <a:r>
              <a:rPr lang="tr-TR" b="1" dirty="0" smtClean="0"/>
              <a:t>Zorunlu </a:t>
            </a:r>
            <a:r>
              <a:rPr lang="tr-TR" b="1" dirty="0" err="1" smtClean="0"/>
              <a:t>anaeroblar</a:t>
            </a:r>
            <a:endParaRPr lang="tr-TR" b="1" dirty="0" smtClean="0"/>
          </a:p>
          <a:p>
            <a:pPr lvl="1">
              <a:buNone/>
            </a:pPr>
            <a:r>
              <a:rPr lang="tr-TR" sz="3000" b="1" dirty="0" smtClean="0">
                <a:solidFill>
                  <a:srgbClr val="00B050"/>
                </a:solidFill>
              </a:rPr>
              <a:t>			</a:t>
            </a:r>
            <a:r>
              <a:rPr lang="tr-TR" sz="3000" b="1" dirty="0" smtClean="0">
                <a:solidFill>
                  <a:srgbClr val="FF0000"/>
                </a:solidFill>
              </a:rPr>
              <a:t>ANAEROB BAKTERİLERİN SINIFLAMASI</a:t>
            </a:r>
          </a:p>
          <a:p>
            <a:pPr lvl="1"/>
            <a:r>
              <a:rPr lang="tr-TR" b="1" dirty="0" err="1" smtClean="0"/>
              <a:t>Anaerob</a:t>
            </a:r>
            <a:r>
              <a:rPr lang="tr-TR" b="1" dirty="0" smtClean="0"/>
              <a:t> gram negatif basiller </a:t>
            </a:r>
          </a:p>
          <a:p>
            <a:pPr lvl="1"/>
            <a:r>
              <a:rPr lang="tr-TR" b="1" dirty="0" err="1" smtClean="0"/>
              <a:t>Anaerob</a:t>
            </a:r>
            <a:r>
              <a:rPr lang="tr-TR" b="1" dirty="0" smtClean="0"/>
              <a:t> gram negatif koklar</a:t>
            </a:r>
          </a:p>
          <a:p>
            <a:pPr lvl="1"/>
            <a:r>
              <a:rPr lang="tr-TR" b="1" dirty="0" err="1" smtClean="0"/>
              <a:t>Anaerob</a:t>
            </a:r>
            <a:r>
              <a:rPr lang="tr-TR" b="1" dirty="0" smtClean="0"/>
              <a:t> gram pozitif koklar</a:t>
            </a:r>
          </a:p>
          <a:p>
            <a:pPr lvl="1"/>
            <a:r>
              <a:rPr lang="tr-TR" b="1" dirty="0" err="1" smtClean="0"/>
              <a:t>Anaerob</a:t>
            </a:r>
            <a:r>
              <a:rPr lang="tr-TR" b="1" dirty="0" smtClean="0"/>
              <a:t> gram pozitif basiller </a:t>
            </a:r>
          </a:p>
          <a:p>
            <a:pPr lvl="1"/>
            <a:r>
              <a:rPr lang="tr-TR" b="1" dirty="0" err="1" smtClean="0"/>
              <a:t>Anaerob</a:t>
            </a:r>
            <a:r>
              <a:rPr lang="tr-TR" b="1" dirty="0" smtClean="0"/>
              <a:t> spor oluşturan gram pozitif basiller </a:t>
            </a:r>
          </a:p>
          <a:p>
            <a:pPr lvl="1"/>
            <a:r>
              <a:rPr lang="tr-TR" b="1" dirty="0" err="1" smtClean="0"/>
              <a:t>Anaerob</a:t>
            </a:r>
            <a:r>
              <a:rPr lang="tr-TR" b="1" dirty="0" smtClean="0"/>
              <a:t> spor oluşturmayan gram pozitif basiller</a:t>
            </a:r>
            <a:endParaRPr lang="tr-TR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813"/>
            <a:ext cx="8208912" cy="5903912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OPTİMAL BÜYÜME ISISINA GÖRE</a:t>
            </a:r>
          </a:p>
          <a:p>
            <a:pPr>
              <a:buNone/>
            </a:pPr>
            <a:r>
              <a:rPr lang="tr-TR" b="1" dirty="0" smtClean="0"/>
              <a:t>		Sıcaklık </a:t>
            </a:r>
          </a:p>
          <a:p>
            <a:r>
              <a:rPr lang="tr-TR" b="1" dirty="0" smtClean="0"/>
              <a:t>Bakteriler -5 ile ~100°C arasında büyüyebilirler </a:t>
            </a:r>
          </a:p>
          <a:p>
            <a:pPr lvl="1"/>
            <a:r>
              <a:rPr lang="tr-TR" b="1" dirty="0" err="1" smtClean="0">
                <a:solidFill>
                  <a:srgbClr val="FF0000"/>
                </a:solidFill>
              </a:rPr>
              <a:t>termofil</a:t>
            </a:r>
            <a:r>
              <a:rPr lang="tr-TR" b="1" dirty="0" smtClean="0">
                <a:solidFill>
                  <a:srgbClr val="FF0000"/>
                </a:solidFill>
              </a:rPr>
              <a:t> - &gt;50 °C </a:t>
            </a:r>
          </a:p>
          <a:p>
            <a:pPr lvl="1"/>
            <a:r>
              <a:rPr lang="tr-TR" b="1" dirty="0" err="1" smtClean="0">
                <a:solidFill>
                  <a:srgbClr val="FF0000"/>
                </a:solidFill>
              </a:rPr>
              <a:t>psikrofil</a:t>
            </a:r>
            <a:r>
              <a:rPr lang="tr-TR" b="1" dirty="0" smtClean="0">
                <a:solidFill>
                  <a:srgbClr val="FF0000"/>
                </a:solidFill>
              </a:rPr>
              <a:t> - 4 ° </a:t>
            </a:r>
            <a:r>
              <a:rPr lang="tr-TR" b="1" dirty="0" err="1" smtClean="0">
                <a:solidFill>
                  <a:srgbClr val="FF0000"/>
                </a:solidFill>
              </a:rPr>
              <a:t>to</a:t>
            </a:r>
            <a:r>
              <a:rPr lang="tr-TR" b="1" dirty="0" smtClean="0">
                <a:solidFill>
                  <a:srgbClr val="FF0000"/>
                </a:solidFill>
              </a:rPr>
              <a:t> 20 °C </a:t>
            </a:r>
          </a:p>
          <a:p>
            <a:pPr lvl="1"/>
            <a:r>
              <a:rPr lang="tr-TR" b="1" dirty="0" err="1" smtClean="0">
                <a:solidFill>
                  <a:srgbClr val="FF0000"/>
                </a:solidFill>
              </a:rPr>
              <a:t>mezofil</a:t>
            </a:r>
            <a:r>
              <a:rPr lang="tr-TR" b="1" dirty="0" smtClean="0">
                <a:solidFill>
                  <a:srgbClr val="FF0000"/>
                </a:solidFill>
              </a:rPr>
              <a:t> - 20 ° </a:t>
            </a:r>
            <a:r>
              <a:rPr lang="tr-TR" b="1" dirty="0" err="1" smtClean="0">
                <a:solidFill>
                  <a:srgbClr val="FF0000"/>
                </a:solidFill>
              </a:rPr>
              <a:t>to</a:t>
            </a:r>
            <a:r>
              <a:rPr lang="tr-TR" b="1" dirty="0" smtClean="0">
                <a:solidFill>
                  <a:srgbClr val="FF0000"/>
                </a:solidFill>
              </a:rPr>
              <a:t> 45 °C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0" y="908050"/>
            <a:ext cx="8280400" cy="521811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sz="4800" b="1" dirty="0" smtClean="0">
                <a:solidFill>
                  <a:srgbClr val="FF0000"/>
                </a:solidFill>
              </a:rPr>
              <a:t>   BAKTERİLERİN SINIFLANDIRILMASINDA “RESMİ” BİR SINIFLANDIRMA YOKTUR!!!</a:t>
            </a:r>
            <a:endParaRPr lang="tr-TR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755576" y="476250"/>
            <a:ext cx="7669287" cy="564991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4000" b="1" dirty="0" smtClean="0">
                <a:solidFill>
                  <a:srgbClr val="7030A0"/>
                </a:solidFill>
              </a:rPr>
              <a:t>   Daha rahat ifade etmek amacıyla günlük kullanılan en kabul görmüş, standart sınıflama </a:t>
            </a:r>
          </a:p>
          <a:p>
            <a:pPr>
              <a:buNone/>
            </a:pPr>
            <a:r>
              <a:rPr lang="tr-TR" sz="4000" b="1" dirty="0" smtClean="0">
                <a:solidFill>
                  <a:srgbClr val="7030A0"/>
                </a:solidFill>
              </a:rPr>
              <a:t>	</a:t>
            </a:r>
            <a:r>
              <a:rPr lang="tr-TR" sz="4400" b="1" dirty="0" err="1" smtClean="0">
                <a:solidFill>
                  <a:srgbClr val="FF0000"/>
                </a:solidFill>
              </a:rPr>
              <a:t>Bergey's</a:t>
            </a:r>
            <a:r>
              <a:rPr lang="tr-TR" sz="4400" b="1" dirty="0" smtClean="0">
                <a:solidFill>
                  <a:srgbClr val="FF0000"/>
                </a:solidFill>
              </a:rPr>
              <a:t> </a:t>
            </a:r>
            <a:r>
              <a:rPr lang="tr-TR" sz="4400" b="1" dirty="0" err="1" smtClean="0">
                <a:solidFill>
                  <a:srgbClr val="FF0000"/>
                </a:solidFill>
              </a:rPr>
              <a:t>Manual</a:t>
            </a:r>
            <a:r>
              <a:rPr lang="tr-TR" sz="4400" b="1" dirty="0" smtClean="0">
                <a:solidFill>
                  <a:srgbClr val="FF0000"/>
                </a:solidFill>
              </a:rPr>
              <a:t> of </a:t>
            </a:r>
            <a:r>
              <a:rPr lang="tr-TR" sz="4400" b="1" dirty="0" err="1" smtClean="0">
                <a:solidFill>
                  <a:srgbClr val="FF0000"/>
                </a:solidFill>
              </a:rPr>
              <a:t>Systematic</a:t>
            </a:r>
            <a:r>
              <a:rPr lang="tr-TR" sz="4400" b="1" dirty="0" smtClean="0">
                <a:solidFill>
                  <a:srgbClr val="FF0000"/>
                </a:solidFill>
              </a:rPr>
              <a:t> 			</a:t>
            </a:r>
            <a:r>
              <a:rPr lang="tr-TR" sz="4400" b="1" dirty="0" err="1" smtClean="0">
                <a:solidFill>
                  <a:srgbClr val="FF0000"/>
                </a:solidFill>
              </a:rPr>
              <a:t>Bacteriology</a:t>
            </a:r>
            <a:endParaRPr lang="tr-TR" sz="4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135938" cy="1143000"/>
          </a:xfrm>
        </p:spPr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1923’ten günümüze….. 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412776"/>
            <a:ext cx="72009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ProductImag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97525" y="765175"/>
            <a:ext cx="3546475" cy="5143500"/>
          </a:xfrm>
          <a:prstGeom prst="rect">
            <a:avLst/>
          </a:prstGeom>
          <a:noFill/>
        </p:spPr>
      </p:pic>
      <p:pic>
        <p:nvPicPr>
          <p:cNvPr id="2051" name="Picture 3" descr="C:\Users\user\Desktop\Bergeys-Manual-of-Systematic-Bacteriology-and-Determinative-Bacteriolog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548680"/>
            <a:ext cx="4968552" cy="59046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467544" y="260350"/>
            <a:ext cx="8280920" cy="619283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tr-TR" sz="4800" b="1" dirty="0" smtClean="0">
                <a:solidFill>
                  <a:srgbClr val="FF0000"/>
                </a:solidFill>
              </a:rPr>
              <a:t>SINIFLANDIRMADA NEDEN LATİNCE KULLANILIR?</a:t>
            </a:r>
          </a:p>
          <a:p>
            <a:r>
              <a:rPr lang="tr-TR" sz="4000" b="1" dirty="0" smtClean="0"/>
              <a:t>Sınıflandırma (taksonomi) bilimi alemden türe doğru gidildikçe canlı sayısının azaldığı ve canlıların daha yakın akraba olduğunu söylemektedir. En son tür ile birlikte tek bir canlı türü kast edilmektedir.</a:t>
            </a:r>
          </a:p>
          <a:p>
            <a:r>
              <a:rPr lang="tr-TR" sz="4000" b="1" dirty="0" smtClean="0">
                <a:solidFill>
                  <a:srgbClr val="FF0000"/>
                </a:solidFill>
              </a:rPr>
              <a:t>Bilimsel sınıflandırmayı kuran </a:t>
            </a:r>
            <a:r>
              <a:rPr lang="tr-TR" sz="4000" b="1" dirty="0" err="1" smtClean="0">
                <a:solidFill>
                  <a:srgbClr val="FF0000"/>
                </a:solidFill>
              </a:rPr>
              <a:t>Linnaeus</a:t>
            </a:r>
            <a:r>
              <a:rPr lang="tr-TR" sz="4000" b="1" dirty="0" smtClean="0">
                <a:solidFill>
                  <a:srgbClr val="FF0000"/>
                </a:solidFill>
              </a:rPr>
              <a:t>, </a:t>
            </a:r>
            <a:r>
              <a:rPr lang="tr-TR" sz="4000" b="1" dirty="0" smtClean="0"/>
              <a:t>her türe iki kelimeden oluşan Latince bir ad vermiştir. </a:t>
            </a:r>
          </a:p>
          <a:p>
            <a:r>
              <a:rPr lang="tr-TR" sz="4000" b="1" dirty="0" smtClean="0"/>
              <a:t>Buna </a:t>
            </a:r>
            <a:r>
              <a:rPr lang="tr-TR" sz="4000" b="1" dirty="0" err="1" smtClean="0">
                <a:solidFill>
                  <a:srgbClr val="FF0000"/>
                </a:solidFill>
              </a:rPr>
              <a:t>binomial</a:t>
            </a:r>
            <a:r>
              <a:rPr lang="tr-TR" sz="4000" b="1" dirty="0" smtClean="0">
                <a:solidFill>
                  <a:srgbClr val="FF0000"/>
                </a:solidFill>
              </a:rPr>
              <a:t> adlandırma (ikili adlandırma)</a:t>
            </a:r>
            <a:r>
              <a:rPr lang="tr-TR" sz="4000" b="1" dirty="0" smtClean="0"/>
              <a:t> yöntemi denmektedir. </a:t>
            </a:r>
          </a:p>
          <a:p>
            <a:r>
              <a:rPr lang="tr-TR" sz="4000" b="1" dirty="0" smtClean="0"/>
              <a:t>Bunlardan ilk isim büyük harfle başlar ve cins (</a:t>
            </a:r>
            <a:r>
              <a:rPr lang="tr-TR" sz="4000" b="1" dirty="0" err="1" smtClean="0"/>
              <a:t>genus</a:t>
            </a:r>
            <a:r>
              <a:rPr lang="tr-TR" sz="4000" b="1" dirty="0" smtClean="0"/>
              <a:t>) adını temsil etmektedir. İkinci isim tür-</a:t>
            </a:r>
            <a:r>
              <a:rPr lang="tr-TR" sz="4000" b="1" dirty="0" err="1" smtClean="0"/>
              <a:t>species</a:t>
            </a:r>
            <a:r>
              <a:rPr lang="tr-TR" sz="4000" b="1" dirty="0" smtClean="0"/>
              <a:t> de tamamlayıcıdır.</a:t>
            </a:r>
          </a:p>
          <a:p>
            <a:r>
              <a:rPr lang="tr-TR" sz="4000" b="1" dirty="0" smtClean="0"/>
              <a:t>İki kelime birden bir tür tanımlamaktadır.</a:t>
            </a:r>
          </a:p>
          <a:p>
            <a:r>
              <a:rPr lang="tr-TR" sz="4000" b="1" dirty="0" err="1" smtClean="0"/>
              <a:t>Linnaeus</a:t>
            </a:r>
            <a:r>
              <a:rPr lang="tr-TR" sz="4000" b="1" dirty="0" smtClean="0"/>
              <a:t> dil olarak Latinceyi kullanmıştır. Bunun nedeni bilimin ortak dili olmasıdır. Herhangi bir dil kullanıldığında diğer dili konuşan insanların anlamaması söz konusudur. </a:t>
            </a:r>
          </a:p>
          <a:p>
            <a:r>
              <a:rPr lang="tr-TR" sz="4000" b="1" dirty="0" smtClean="0">
                <a:solidFill>
                  <a:srgbClr val="FF0000"/>
                </a:solidFill>
              </a:rPr>
              <a:t>Latince güncel kullanılmayan bir dil olduğu için dilin değişikliğe uğraması da daha zordur.</a:t>
            </a:r>
          </a:p>
          <a:p>
            <a:pPr>
              <a:buNone/>
            </a:pPr>
            <a:endParaRPr lang="tr-TR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TÜR NEDİR?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Bilimsel olarak yapılan sınıflandırmaların temeli “tür” dür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Aynı kökenden gelen, aynı özelliklere sahip, kromozom sayıları aynı olan birbirleriyle çiftleştiğinde verimli döller verebilen canlılara AYNI TÜRDEN denir</a:t>
            </a:r>
          </a:p>
          <a:p>
            <a:r>
              <a:rPr lang="tr-TR" b="1" dirty="0" smtClean="0"/>
              <a:t>Ortak özellikler taşıyan, aynı veya yakın gen havuzunda bulunan biyolojik gruptur</a:t>
            </a:r>
          </a:p>
          <a:p>
            <a:r>
              <a:rPr lang="tr-TR" b="1" dirty="0" smtClean="0"/>
              <a:t>Ortak özellikleri olan bireylerin tümünü içine alan grup</a:t>
            </a:r>
          </a:p>
          <a:p>
            <a:pPr>
              <a:buNone/>
            </a:pPr>
            <a:endParaRPr lang="tr-TR" b="1" dirty="0" smtClean="0"/>
          </a:p>
          <a:p>
            <a:endParaRPr lang="tr-TR" dirty="0" smtClean="0"/>
          </a:p>
          <a:p>
            <a:endParaRPr lang="tr-TR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b="1" i="1" dirty="0" smtClean="0">
                <a:solidFill>
                  <a:srgbClr val="FF0000"/>
                </a:solidFill>
              </a:rPr>
              <a:t>TÜR</a:t>
            </a:r>
            <a:br>
              <a:rPr lang="tr-TR" sz="2800" b="1" i="1" dirty="0" smtClean="0">
                <a:solidFill>
                  <a:srgbClr val="FF0000"/>
                </a:solidFill>
              </a:rPr>
            </a:br>
            <a:r>
              <a:rPr lang="tr-TR" sz="2800" b="1" i="1" dirty="0" smtClean="0">
                <a:solidFill>
                  <a:srgbClr val="FF0000"/>
                </a:solidFill>
              </a:rPr>
              <a:t>BİLİMSEL ANLAMDA BİZİM İÇİN ÖNEMLİ OLANDIR</a:t>
            </a:r>
            <a:endParaRPr lang="tr-TR" sz="28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tr-TR" b="1" i="1" dirty="0" smtClean="0"/>
              <a:t>Canlılar tanımlayıcı adları ile bilinir </a:t>
            </a:r>
          </a:p>
          <a:p>
            <a:pPr>
              <a:lnSpc>
                <a:spcPct val="90000"/>
              </a:lnSpc>
              <a:defRPr/>
            </a:pPr>
            <a:r>
              <a:rPr lang="tr-TR" b="1" i="1" dirty="0" smtClean="0"/>
              <a:t>Tanımlayıcı ad = Cins + Tür</a:t>
            </a:r>
          </a:p>
          <a:p>
            <a:pPr>
              <a:lnSpc>
                <a:spcPct val="90000"/>
              </a:lnSpc>
              <a:defRPr/>
            </a:pPr>
            <a:r>
              <a:rPr lang="tr-TR" b="1" i="1" dirty="0" smtClean="0"/>
              <a:t>Türler sabittir </a:t>
            </a:r>
          </a:p>
          <a:p>
            <a:pPr>
              <a:lnSpc>
                <a:spcPct val="90000"/>
              </a:lnSpc>
              <a:defRPr/>
            </a:pPr>
            <a:r>
              <a:rPr lang="tr-TR" b="1" i="1" dirty="0" smtClean="0"/>
              <a:t>Türler arasında geçiş olmaz</a:t>
            </a:r>
          </a:p>
          <a:p>
            <a:pPr>
              <a:lnSpc>
                <a:spcPct val="90000"/>
              </a:lnSpc>
              <a:defRPr/>
            </a:pPr>
            <a:r>
              <a:rPr lang="tr-TR" b="1" i="1" dirty="0" smtClean="0">
                <a:solidFill>
                  <a:srgbClr val="FF0000"/>
                </a:solidFill>
              </a:rPr>
              <a:t>Akrabalık ilişkileri cins isimlerinin benzerliğine göre yapılır 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Dikdörtgen"/>
          <p:cNvSpPr/>
          <p:nvPr/>
        </p:nvSpPr>
        <p:spPr>
          <a:xfrm>
            <a:off x="539552" y="332657"/>
            <a:ext cx="7920880" cy="611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tr-T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lang="tr-T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   </a:t>
            </a:r>
            <a:r>
              <a:rPr lang="tr-TR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İki canlının aynı tür olması için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Ortak özelliklerinin en çok olması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Aynı atadan gelmesi ve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Çiftleşerek verimli nesiller oluşturması gerekir</a:t>
            </a:r>
            <a:br>
              <a:rPr lang="tr-TR" sz="3000" b="1" i="1" dirty="0" smtClean="0"/>
            </a:br>
            <a:r>
              <a:rPr lang="tr-TR" sz="3000" b="1" i="1" dirty="0" smtClean="0"/>
              <a:t>		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>
                <a:solidFill>
                  <a:srgbClr val="0070C0"/>
                </a:solidFill>
              </a:rPr>
              <a:t>		</a:t>
            </a:r>
            <a:r>
              <a:rPr lang="tr-TR" sz="3000" b="1" dirty="0" smtClean="0">
                <a:solidFill>
                  <a:srgbClr val="FF0000"/>
                </a:solidFill>
              </a:rPr>
              <a:t>Aynı tür canlıların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Kromozom sayıları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Beslenme şekilleri   ve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Üreme şekilleri   </a:t>
            </a:r>
            <a:r>
              <a:rPr lang="tr-TR" sz="3000" b="1" i="1" dirty="0" smtClean="0">
                <a:solidFill>
                  <a:srgbClr val="FF0000"/>
                </a:solidFill>
              </a:rPr>
              <a:t>aynıdır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tr-TR" sz="3000" b="1" dirty="0" smtClean="0">
                <a:solidFill>
                  <a:srgbClr val="0070C0"/>
                </a:solidFill>
              </a:rPr>
              <a:t>	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tr-TR" sz="3000" b="1" dirty="0" smtClean="0">
                <a:solidFill>
                  <a:srgbClr val="0070C0"/>
                </a:solidFill>
              </a:rPr>
              <a:t>		</a:t>
            </a:r>
            <a:r>
              <a:rPr lang="tr-TR" sz="3000" b="1" dirty="0" smtClean="0">
                <a:solidFill>
                  <a:srgbClr val="FF0000"/>
                </a:solidFill>
              </a:rPr>
              <a:t>Aynı tür canlıların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DNA dizilişleri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Protein yapıları   ve</a:t>
            </a:r>
          </a:p>
          <a:p>
            <a:pPr lvl="1">
              <a:lnSpc>
                <a:spcPct val="80000"/>
              </a:lnSpc>
              <a:defRPr/>
            </a:pPr>
            <a:r>
              <a:rPr lang="tr-TR" sz="3000" b="1" i="1" dirty="0" smtClean="0"/>
              <a:t>Enzim çeşitleri    </a:t>
            </a:r>
            <a:r>
              <a:rPr lang="tr-TR" sz="3000" b="1" i="1" dirty="0" smtClean="0">
                <a:solidFill>
                  <a:srgbClr val="FF0000"/>
                </a:solidFill>
              </a:rPr>
              <a:t>farklı olabilir</a:t>
            </a:r>
            <a:r>
              <a:rPr lang="tr-TR" sz="3000" b="1" i="1" dirty="0" smtClean="0"/>
              <a:t/>
            </a:r>
            <a:br>
              <a:rPr lang="tr-TR" sz="3000" b="1" i="1" dirty="0" smtClean="0"/>
            </a:br>
            <a:endParaRPr lang="tr-TR" sz="3000" b="1" i="1" dirty="0" smtClean="0"/>
          </a:p>
          <a:p>
            <a:pPr>
              <a:buNone/>
            </a:pPr>
            <a:endParaRPr lang="tr-TR" sz="3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BİNOMİNAL (İKİLİ) ADLANDIRMA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r>
              <a:rPr lang="tr-TR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GENUS (CİNS)     TÜR</a:t>
            </a:r>
            <a:endParaRPr lang="tr-TR" dirty="0">
              <a:solidFill>
                <a:srgbClr val="FF33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None/>
              <a:defRPr/>
            </a:pP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defRPr/>
            </a:pP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Ev kedisi  :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Felis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domesticus</a:t>
            </a: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defRPr/>
            </a:pP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Ev köpeği :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Canis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domesticus</a:t>
            </a: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defRPr/>
            </a:pP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Kara çam  : 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Pinus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nigra</a:t>
            </a: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defRPr/>
            </a:pP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Fıstık çamı : 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Pinus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pinea</a:t>
            </a: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defRPr/>
            </a:pP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Kara dut     :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Morus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nigra</a:t>
            </a: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defRPr/>
            </a:pP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Beyaz dut   :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Morus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alba</a:t>
            </a: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buNone/>
              <a:defRPr/>
            </a:pPr>
            <a:endParaRPr lang="tr-TR" b="1" i="1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90000"/>
              </a:lnSpc>
              <a:defRPr/>
            </a:pPr>
            <a:r>
              <a:rPr lang="tr-TR" b="1" i="1" dirty="0" err="1" smtClean="0"/>
              <a:t>Staphylococcus</a:t>
            </a:r>
            <a:r>
              <a:rPr lang="tr-TR" b="1" i="1" dirty="0" smtClean="0"/>
              <a:t> </a:t>
            </a:r>
            <a:r>
              <a:rPr lang="tr-TR" b="1" i="1" dirty="0" err="1" smtClean="0"/>
              <a:t>aureus</a:t>
            </a:r>
            <a:endParaRPr lang="tr-TR" b="1" i="1" dirty="0" smtClean="0"/>
          </a:p>
          <a:p>
            <a:pPr>
              <a:lnSpc>
                <a:spcPct val="90000"/>
              </a:lnSpc>
              <a:defRPr/>
            </a:pPr>
            <a:r>
              <a:rPr lang="tr-TR" b="1" i="1" dirty="0" err="1" smtClean="0"/>
              <a:t>Escherichia</a:t>
            </a:r>
            <a:r>
              <a:rPr lang="tr-TR" b="1" i="1" dirty="0" smtClean="0"/>
              <a:t> </a:t>
            </a:r>
            <a:r>
              <a:rPr lang="tr-TR" b="1" i="1" dirty="0" err="1" smtClean="0"/>
              <a:t>coli</a:t>
            </a:r>
            <a:endParaRPr lang="tr-TR" b="1" i="1" dirty="0" smtClean="0"/>
          </a:p>
          <a:p>
            <a:pPr>
              <a:lnSpc>
                <a:spcPct val="90000"/>
              </a:lnSpc>
              <a:defRPr/>
            </a:pPr>
            <a:r>
              <a:rPr lang="tr-TR" b="1" i="1" dirty="0" err="1" smtClean="0"/>
              <a:t>Streptoccus</a:t>
            </a:r>
            <a:r>
              <a:rPr lang="tr-TR" b="1" i="1" dirty="0" smtClean="0"/>
              <a:t> </a:t>
            </a:r>
            <a:r>
              <a:rPr lang="tr-TR" b="1" i="1" dirty="0" err="1" smtClean="0"/>
              <a:t>pneumoniae</a:t>
            </a:r>
            <a:endParaRPr lang="tr-TR" b="1" i="1" dirty="0" smtClean="0"/>
          </a:p>
          <a:p>
            <a:pPr>
              <a:lnSpc>
                <a:spcPct val="90000"/>
              </a:lnSpc>
              <a:defRPr/>
            </a:pPr>
            <a:r>
              <a:rPr lang="tr-TR" b="1" i="1" dirty="0" err="1" smtClean="0"/>
              <a:t>Cryptococcus</a:t>
            </a:r>
            <a:r>
              <a:rPr lang="tr-TR" b="1" i="1" dirty="0" smtClean="0"/>
              <a:t> </a:t>
            </a:r>
            <a:r>
              <a:rPr lang="tr-TR" b="1" i="1" dirty="0" err="1" smtClean="0"/>
              <a:t>neoformans</a:t>
            </a:r>
            <a:endParaRPr lang="tr-TR" b="1" i="1" dirty="0" smtClean="0"/>
          </a:p>
          <a:p>
            <a:pPr>
              <a:lnSpc>
                <a:spcPct val="90000"/>
              </a:lnSpc>
              <a:defRPr/>
            </a:pPr>
            <a:r>
              <a:rPr lang="tr-TR" b="1" i="1" dirty="0" err="1" smtClean="0"/>
              <a:t>Aspergillus</a:t>
            </a:r>
            <a:r>
              <a:rPr lang="tr-TR" b="1" i="1" dirty="0" smtClean="0"/>
              <a:t> </a:t>
            </a:r>
            <a:r>
              <a:rPr lang="tr-TR" b="1" i="1" dirty="0" err="1" smtClean="0"/>
              <a:t>fumigatus</a:t>
            </a:r>
            <a:endParaRPr lang="tr-TR" b="1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SUŞ NEDİR? 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TÜRÜN ÖZGÜL İZOLATIDIR 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Türün altında “</a:t>
            </a:r>
            <a:r>
              <a:rPr lang="tr-TR" b="1" dirty="0" err="1" smtClean="0">
                <a:solidFill>
                  <a:srgbClr val="7030A0"/>
                </a:solidFill>
              </a:rPr>
              <a:t>suş</a:t>
            </a:r>
            <a:r>
              <a:rPr lang="tr-TR" b="1" dirty="0" smtClean="0">
                <a:solidFill>
                  <a:srgbClr val="7030A0"/>
                </a:solidFill>
              </a:rPr>
              <a:t>” yer almaktadır</a:t>
            </a:r>
          </a:p>
          <a:p>
            <a:pPr>
              <a:buNone/>
            </a:pPr>
            <a:endParaRPr lang="tr-TR" b="1" dirty="0" smtClean="0">
              <a:solidFill>
                <a:srgbClr val="7030A0"/>
              </a:solidFill>
            </a:endParaRPr>
          </a:p>
          <a:p>
            <a:r>
              <a:rPr lang="tr-TR" b="1" dirty="0" smtClean="0">
                <a:solidFill>
                  <a:srgbClr val="00B050"/>
                </a:solidFill>
              </a:rPr>
              <a:t>TEK BİR HÜCREDEN TÜREYEN BAKTERİLER GRUBUNA “SUŞ” ADI VERİLMEKTEDİR</a:t>
            </a:r>
          </a:p>
          <a:p>
            <a:pPr>
              <a:buNone/>
            </a:pPr>
            <a:r>
              <a:rPr lang="tr-TR" b="1" dirty="0" err="1" smtClean="0">
                <a:solidFill>
                  <a:srgbClr val="FF0000"/>
                </a:solidFill>
              </a:rPr>
              <a:t>Suş</a:t>
            </a:r>
            <a:r>
              <a:rPr lang="tr-TR" dirty="0" smtClean="0">
                <a:solidFill>
                  <a:srgbClr val="FF0000"/>
                </a:solidFill>
              </a:rPr>
              <a:t>,</a:t>
            </a:r>
            <a:r>
              <a:rPr lang="tr-TR" dirty="0" smtClean="0"/>
              <a:t> </a:t>
            </a:r>
            <a:r>
              <a:rPr lang="tr-TR" b="1" dirty="0" smtClean="0"/>
              <a:t>mikrobiyolojide bir bakteri, virüs veya diğer mikroorganizmaların genetik olarak birbirinden farklı alt türlerini ve gruplarını ifade eder.</a:t>
            </a:r>
            <a:endParaRPr lang="tr-TR" b="1" dirty="0" smtClean="0">
              <a:solidFill>
                <a:srgbClr val="00B050"/>
              </a:solidFill>
            </a:endParaRPr>
          </a:p>
          <a:p>
            <a:r>
              <a:rPr lang="tr-TR" b="1" dirty="0" smtClean="0"/>
              <a:t>alt tür de denebilir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SUŞ NEDİR?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Genetik Alt Tür: </a:t>
            </a:r>
            <a:r>
              <a:rPr lang="tr-TR" b="1" dirty="0" smtClean="0"/>
              <a:t>Aynı türden olmalarına rağmen aralarında küçük genetik farklar bulunan varyasyonlardır.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Farklı Özellikler: </a:t>
            </a:r>
            <a:r>
              <a:rPr lang="tr-TR" b="1" dirty="0" smtClean="0"/>
              <a:t>Farklı </a:t>
            </a:r>
            <a:r>
              <a:rPr lang="tr-TR" b="1" dirty="0" err="1" smtClean="0"/>
              <a:t>suşlar</a:t>
            </a:r>
            <a:r>
              <a:rPr lang="tr-TR" b="1" dirty="0" smtClean="0"/>
              <a:t>, ilaçlara veya dış çevre koşullarına karşı farklı düzeylerde dayanıklılık gösterebilir.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Örnek verelim: </a:t>
            </a:r>
            <a:r>
              <a:rPr lang="tr-TR" b="1" dirty="0" smtClean="0"/>
              <a:t>Virüslerin mutasyona uğramış varyantları veya yararlı bakterilerin (</a:t>
            </a:r>
            <a:r>
              <a:rPr lang="tr-TR" b="1" dirty="0" err="1" smtClean="0"/>
              <a:t>probiyotiklerin</a:t>
            </a:r>
            <a:r>
              <a:rPr lang="tr-TR" b="1" dirty="0" smtClean="0"/>
              <a:t>) kimlikli alt tipleri birer </a:t>
            </a:r>
            <a:r>
              <a:rPr lang="tr-TR" b="1" dirty="0" err="1" smtClean="0"/>
              <a:t>suştur</a:t>
            </a:r>
            <a:endParaRPr lang="tr-TR" b="1" dirty="0" smtClean="0"/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SUŞ KAVRAMI TEMEL ÖZELLİKLER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Genetik Farklılık</a:t>
            </a:r>
            <a:r>
              <a:rPr lang="tr-TR" b="1" dirty="0" smtClean="0"/>
              <a:t>: Aynı bakteri veya virüs türüne ait olsalar bile, </a:t>
            </a:r>
            <a:r>
              <a:rPr lang="tr-TR" b="1" dirty="0" err="1" smtClean="0"/>
              <a:t>suşlar</a:t>
            </a:r>
            <a:r>
              <a:rPr lang="tr-TR" b="1" dirty="0" smtClean="0"/>
              <a:t> arasında küçük genetik ayrılıklar vardır.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İlaç Direnci: </a:t>
            </a:r>
            <a:r>
              <a:rPr lang="tr-TR" b="1" dirty="0" smtClean="0"/>
              <a:t>Bir </a:t>
            </a:r>
            <a:r>
              <a:rPr lang="tr-TR" b="1" dirty="0" err="1" smtClean="0"/>
              <a:t>suş</a:t>
            </a:r>
            <a:r>
              <a:rPr lang="tr-TR" b="1" dirty="0" smtClean="0"/>
              <a:t> antibiyotiklere veya ilaçlara kolayca yenilirken, başka bir </a:t>
            </a:r>
            <a:r>
              <a:rPr lang="tr-TR" b="1" dirty="0" err="1" smtClean="0"/>
              <a:t>suş</a:t>
            </a:r>
            <a:r>
              <a:rPr lang="tr-TR" b="1" dirty="0" smtClean="0"/>
              <a:t> aynı ilaca karşı güçlü bir direnç gösterebilir.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Hastalık Yapma Gücü:</a:t>
            </a:r>
            <a:r>
              <a:rPr lang="tr-TR" b="1" dirty="0" smtClean="0"/>
              <a:t> Bazı </a:t>
            </a:r>
            <a:r>
              <a:rPr lang="tr-TR" b="1" dirty="0" err="1" smtClean="0"/>
              <a:t>suşlar</a:t>
            </a:r>
            <a:r>
              <a:rPr lang="tr-TR" b="1" dirty="0" smtClean="0"/>
              <a:t> hafif belirtilere yol açarken, bazıları çok daha ağır veya tehlikeli hastalıklara sebep olabilir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TIPTAKİ ÖNEMİ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VİRÜS MUTASYONLARI:</a:t>
            </a:r>
            <a:r>
              <a:rPr lang="tr-TR" b="1" dirty="0" smtClean="0"/>
              <a:t> Grip (</a:t>
            </a:r>
            <a:r>
              <a:rPr lang="tr-TR" b="1" dirty="0" err="1" smtClean="0"/>
              <a:t>influenza</a:t>
            </a:r>
            <a:r>
              <a:rPr lang="tr-TR" b="1" dirty="0" smtClean="0"/>
              <a:t>) veya </a:t>
            </a:r>
            <a:r>
              <a:rPr lang="tr-TR" b="1" dirty="0" err="1" smtClean="0"/>
              <a:t>koronavirüs</a:t>
            </a:r>
            <a:r>
              <a:rPr lang="tr-TR" b="1" dirty="0" smtClean="0"/>
              <a:t> gibi virüslerin zamanla şekil değiştiren yeni </a:t>
            </a:r>
            <a:r>
              <a:rPr lang="tr-TR" b="1" dirty="0" err="1" smtClean="0"/>
              <a:t>suşları</a:t>
            </a:r>
            <a:r>
              <a:rPr lang="tr-TR" b="1" dirty="0" smtClean="0"/>
              <a:t> ortaya çıkar; aşılar bu değişimlere göre güncellenir.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PROBİYOTİKLER: </a:t>
            </a:r>
            <a:r>
              <a:rPr lang="tr-TR" b="1" dirty="0" smtClean="0"/>
              <a:t>Yararlı bakteriler (</a:t>
            </a:r>
            <a:r>
              <a:rPr lang="tr-TR" b="1" dirty="0" err="1" smtClean="0"/>
              <a:t>probiyotikler</a:t>
            </a:r>
            <a:r>
              <a:rPr lang="tr-TR" b="1" dirty="0" smtClean="0"/>
              <a:t>) seçilirken üzerindeki özel </a:t>
            </a:r>
            <a:r>
              <a:rPr lang="tr-TR" b="1" dirty="0" err="1" smtClean="0"/>
              <a:t>suş</a:t>
            </a:r>
            <a:r>
              <a:rPr lang="tr-TR" b="1" dirty="0" smtClean="0"/>
              <a:t> kodları (kimlikleri) incelenir, </a:t>
            </a:r>
            <a:r>
              <a:rPr lang="tr-TR" b="1" dirty="0" smtClean="0">
                <a:solidFill>
                  <a:srgbClr val="FF0000"/>
                </a:solidFill>
              </a:rPr>
              <a:t>çünkü fayda sağlayan etki doğrudan o alt banda aittir</a:t>
            </a:r>
          </a:p>
          <a:p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/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/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PROKARYOTLARIN SINIFLANDIRILMASI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TAKSONOMİK SIRA 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/>
            </a:r>
            <a:br>
              <a:rPr lang="tr-TR" sz="4000" b="1" dirty="0" smtClean="0">
                <a:solidFill>
                  <a:srgbClr val="FF0000"/>
                </a:solidFill>
              </a:rPr>
            </a:b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7-</a:t>
            </a:r>
            <a:r>
              <a:rPr lang="tr-TR" sz="2800" b="1" dirty="0" err="1" smtClean="0"/>
              <a:t>Regnum</a:t>
            </a:r>
            <a:r>
              <a:rPr lang="tr-TR" sz="2800" b="1" dirty="0" smtClean="0"/>
              <a:t>  ( </a:t>
            </a:r>
            <a:r>
              <a:rPr lang="tr-TR" sz="2800" b="1" dirty="0" err="1" smtClean="0"/>
              <a:t>Kingdom</a:t>
            </a:r>
            <a:r>
              <a:rPr lang="tr-TR" sz="2800" b="1" dirty="0" smtClean="0"/>
              <a:t>=Alem)</a:t>
            </a:r>
          </a:p>
          <a:p>
            <a:r>
              <a:rPr lang="tr-TR" sz="2800" b="1" dirty="0" smtClean="0"/>
              <a:t>6-</a:t>
            </a:r>
            <a:r>
              <a:rPr lang="tr-TR" sz="2800" b="1" dirty="0" err="1" smtClean="0"/>
              <a:t>Divisio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Division</a:t>
            </a:r>
            <a:r>
              <a:rPr lang="tr-TR" sz="2800" b="1" dirty="0" smtClean="0"/>
              <a:t>=Bölüm)</a:t>
            </a:r>
          </a:p>
          <a:p>
            <a:r>
              <a:rPr lang="tr-TR" sz="2800" b="1" dirty="0" smtClean="0"/>
              <a:t>5-</a:t>
            </a:r>
            <a:r>
              <a:rPr lang="tr-TR" sz="2800" b="1" dirty="0" err="1" smtClean="0"/>
              <a:t>Classis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Clas</a:t>
            </a:r>
            <a:r>
              <a:rPr lang="tr-TR" sz="2800" b="1" dirty="0" smtClean="0"/>
              <a:t>=Sınıf)</a:t>
            </a:r>
          </a:p>
          <a:p>
            <a:r>
              <a:rPr lang="tr-TR" sz="2800" b="1" dirty="0" smtClean="0"/>
              <a:t>4-</a:t>
            </a:r>
            <a:r>
              <a:rPr lang="tr-TR" sz="2800" b="1" dirty="0" err="1" smtClean="0"/>
              <a:t>Ordo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order</a:t>
            </a:r>
            <a:r>
              <a:rPr lang="tr-TR" sz="2800" b="1" dirty="0" smtClean="0"/>
              <a:t>=Takım)</a:t>
            </a:r>
          </a:p>
          <a:p>
            <a:r>
              <a:rPr lang="tr-TR" sz="2800" b="1" dirty="0" smtClean="0"/>
              <a:t>3-</a:t>
            </a:r>
            <a:r>
              <a:rPr lang="tr-TR" sz="2800" b="1" dirty="0" err="1" smtClean="0"/>
              <a:t>Familia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Family</a:t>
            </a:r>
            <a:r>
              <a:rPr lang="tr-TR" sz="2800" b="1" dirty="0" smtClean="0"/>
              <a:t>=Familya)</a:t>
            </a:r>
          </a:p>
          <a:p>
            <a:r>
              <a:rPr lang="tr-TR" sz="2800" b="1" dirty="0" smtClean="0"/>
              <a:t>2-</a:t>
            </a:r>
            <a:r>
              <a:rPr lang="tr-TR" sz="2800" b="1" dirty="0" err="1" smtClean="0"/>
              <a:t>Genus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Genus</a:t>
            </a:r>
            <a:r>
              <a:rPr lang="tr-TR" sz="2800" b="1" dirty="0" smtClean="0"/>
              <a:t>=Cins)</a:t>
            </a:r>
          </a:p>
          <a:p>
            <a:r>
              <a:rPr lang="tr-TR" sz="2800" b="1" dirty="0" smtClean="0"/>
              <a:t>1-</a:t>
            </a:r>
            <a:r>
              <a:rPr lang="tr-TR" sz="2800" b="1" dirty="0" err="1" smtClean="0"/>
              <a:t>Species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Species</a:t>
            </a:r>
            <a:r>
              <a:rPr lang="tr-TR" sz="2800" b="1" dirty="0" smtClean="0"/>
              <a:t>=Tür)</a:t>
            </a:r>
          </a:p>
          <a:p>
            <a:endParaRPr lang="tr-TR" sz="2800" b="1" dirty="0" smtClean="0"/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TAKSONOMİK SIRA 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ÖRNEK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sz="2800" b="1" dirty="0" smtClean="0"/>
          </a:p>
          <a:p>
            <a:r>
              <a:rPr lang="tr-TR" sz="2800" b="1" dirty="0" smtClean="0"/>
              <a:t>7-</a:t>
            </a:r>
            <a:r>
              <a:rPr lang="tr-TR" sz="2800" b="1" dirty="0" err="1" smtClean="0"/>
              <a:t>Regnum</a:t>
            </a:r>
            <a:r>
              <a:rPr lang="tr-TR" sz="2800" b="1" dirty="0" smtClean="0"/>
              <a:t> ( </a:t>
            </a:r>
            <a:r>
              <a:rPr lang="tr-TR" sz="2800" b="1" dirty="0" err="1" smtClean="0"/>
              <a:t>Kingdom</a:t>
            </a:r>
            <a:r>
              <a:rPr lang="tr-TR" sz="2800" b="1" dirty="0" smtClean="0"/>
              <a:t>=Alem)	</a:t>
            </a:r>
            <a:r>
              <a:rPr lang="tr-TR" sz="2800" b="1" dirty="0" smtClean="0">
                <a:solidFill>
                  <a:srgbClr val="7030A0"/>
                </a:solidFill>
              </a:rPr>
              <a:t> </a:t>
            </a:r>
            <a:r>
              <a:rPr lang="tr-TR" sz="2800" b="1" dirty="0" err="1" smtClean="0">
                <a:solidFill>
                  <a:srgbClr val="7030A0"/>
                </a:solidFill>
              </a:rPr>
              <a:t>Procaryotae</a:t>
            </a:r>
            <a:endParaRPr lang="tr-TR" sz="2800" b="1" dirty="0" smtClean="0"/>
          </a:p>
          <a:p>
            <a:r>
              <a:rPr lang="tr-TR" sz="2800" b="1" dirty="0" smtClean="0"/>
              <a:t>6-</a:t>
            </a:r>
            <a:r>
              <a:rPr lang="tr-TR" sz="2800" b="1" dirty="0" err="1" smtClean="0"/>
              <a:t>Divisio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Division</a:t>
            </a:r>
            <a:r>
              <a:rPr lang="tr-TR" sz="2800" b="1" dirty="0" smtClean="0"/>
              <a:t>=Bölüm)	</a:t>
            </a:r>
            <a:r>
              <a:rPr lang="tr-TR" sz="2800" b="1" dirty="0" err="1" smtClean="0">
                <a:solidFill>
                  <a:srgbClr val="7030A0"/>
                </a:solidFill>
              </a:rPr>
              <a:t>Gracilicutes</a:t>
            </a:r>
            <a:r>
              <a:rPr lang="tr-TR" sz="2800" b="1" dirty="0" smtClean="0">
                <a:solidFill>
                  <a:srgbClr val="7030A0"/>
                </a:solidFill>
              </a:rPr>
              <a:t>	</a:t>
            </a:r>
          </a:p>
          <a:p>
            <a:r>
              <a:rPr lang="tr-TR" sz="2800" b="1" dirty="0" smtClean="0"/>
              <a:t>5-</a:t>
            </a:r>
            <a:r>
              <a:rPr lang="tr-TR" sz="2800" b="1" dirty="0" err="1" smtClean="0"/>
              <a:t>Classis</a:t>
            </a:r>
            <a:r>
              <a:rPr lang="tr-TR" sz="2800" b="1" dirty="0" smtClean="0"/>
              <a:t> (</a:t>
            </a:r>
            <a:r>
              <a:rPr lang="tr-TR" sz="2800" b="1" dirty="0" err="1" smtClean="0"/>
              <a:t>Clas</a:t>
            </a:r>
            <a:r>
              <a:rPr lang="tr-TR" sz="2800" b="1" dirty="0" smtClean="0"/>
              <a:t>=sınıf)	</a:t>
            </a:r>
            <a:r>
              <a:rPr lang="tr-TR" sz="2800" b="1" dirty="0" err="1" smtClean="0">
                <a:solidFill>
                  <a:srgbClr val="7030A0"/>
                </a:solidFill>
              </a:rPr>
              <a:t>Scotobacteriae</a:t>
            </a:r>
            <a:r>
              <a:rPr lang="tr-TR" sz="2800" b="1" dirty="0" smtClean="0">
                <a:solidFill>
                  <a:srgbClr val="7030A0"/>
                </a:solidFill>
              </a:rPr>
              <a:t>	</a:t>
            </a:r>
          </a:p>
          <a:p>
            <a:r>
              <a:rPr lang="tr-TR" sz="2800" b="1" dirty="0" smtClean="0"/>
              <a:t>4-</a:t>
            </a:r>
            <a:r>
              <a:rPr lang="tr-TR" sz="2800" b="1" dirty="0" err="1" smtClean="0"/>
              <a:t>Ordo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order</a:t>
            </a:r>
            <a:r>
              <a:rPr lang="tr-TR" sz="2800" b="1" dirty="0" smtClean="0"/>
              <a:t>=Takım)  </a:t>
            </a:r>
            <a:r>
              <a:rPr lang="tr-TR" sz="2800" b="1" dirty="0" err="1" smtClean="0">
                <a:solidFill>
                  <a:srgbClr val="7030A0"/>
                </a:solidFill>
              </a:rPr>
              <a:t>Enterobacteriales</a:t>
            </a:r>
            <a:r>
              <a:rPr lang="tr-TR" sz="2800" b="1" dirty="0" smtClean="0">
                <a:solidFill>
                  <a:srgbClr val="7030A0"/>
                </a:solidFill>
              </a:rPr>
              <a:t>	</a:t>
            </a:r>
          </a:p>
          <a:p>
            <a:r>
              <a:rPr lang="tr-TR" sz="2800" b="1" dirty="0" smtClean="0"/>
              <a:t>3-</a:t>
            </a:r>
            <a:r>
              <a:rPr lang="tr-TR" sz="2800" b="1" dirty="0" err="1" smtClean="0"/>
              <a:t>Familia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Family</a:t>
            </a:r>
            <a:r>
              <a:rPr lang="tr-TR" sz="2800" b="1" dirty="0" smtClean="0"/>
              <a:t>=familya)	</a:t>
            </a:r>
            <a:r>
              <a:rPr lang="tr-TR" sz="2800" b="1" dirty="0" err="1" smtClean="0">
                <a:solidFill>
                  <a:srgbClr val="7030A0"/>
                </a:solidFill>
              </a:rPr>
              <a:t>Enterobactericeae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2-</a:t>
            </a:r>
            <a:r>
              <a:rPr lang="tr-TR" sz="2800" b="1" dirty="0" err="1" smtClean="0"/>
              <a:t>Genus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Genus</a:t>
            </a:r>
            <a:r>
              <a:rPr lang="tr-TR" sz="2800" b="1" dirty="0" smtClean="0"/>
              <a:t>=cins)	     </a:t>
            </a:r>
            <a:r>
              <a:rPr lang="tr-TR" sz="2800" b="1" dirty="0" err="1" smtClean="0">
                <a:solidFill>
                  <a:srgbClr val="7030A0"/>
                </a:solidFill>
              </a:rPr>
              <a:t>Shigella</a:t>
            </a:r>
            <a:r>
              <a:rPr lang="tr-TR" sz="2800" b="1" dirty="0" smtClean="0"/>
              <a:t>	</a:t>
            </a:r>
          </a:p>
          <a:p>
            <a:r>
              <a:rPr lang="tr-TR" sz="2800" b="1" dirty="0" smtClean="0"/>
              <a:t>1-</a:t>
            </a:r>
            <a:r>
              <a:rPr lang="tr-TR" sz="2800" b="1" dirty="0" err="1" smtClean="0"/>
              <a:t>Species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Species</a:t>
            </a:r>
            <a:r>
              <a:rPr lang="tr-TR" sz="2800" b="1" dirty="0" smtClean="0"/>
              <a:t>=tür)	</a:t>
            </a:r>
            <a:r>
              <a:rPr lang="tr-TR" sz="2800" b="1" i="1" dirty="0" smtClean="0">
                <a:solidFill>
                  <a:srgbClr val="7030A0"/>
                </a:solidFill>
              </a:rPr>
              <a:t>S. </a:t>
            </a:r>
            <a:r>
              <a:rPr lang="tr-TR" sz="2800" b="1" i="1" dirty="0" err="1" smtClean="0">
                <a:solidFill>
                  <a:srgbClr val="7030A0"/>
                </a:solidFill>
              </a:rPr>
              <a:t>dysanteriae</a:t>
            </a:r>
            <a:r>
              <a:rPr lang="tr-TR" sz="2800" b="1" i="1" dirty="0" smtClean="0"/>
              <a:t>	</a:t>
            </a:r>
          </a:p>
          <a:p>
            <a:endParaRPr lang="tr-TR" sz="2800" b="1" dirty="0" smtClean="0"/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TAKSONOMİK SIRA </a:t>
            </a:r>
            <a:br>
              <a:rPr lang="tr-TR" sz="36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ÖRNEK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sz="2800" b="1" dirty="0" smtClean="0"/>
          </a:p>
          <a:p>
            <a:r>
              <a:rPr lang="tr-TR" sz="2800" b="1" dirty="0" smtClean="0"/>
              <a:t>7-</a:t>
            </a:r>
            <a:r>
              <a:rPr lang="tr-TR" sz="2800" b="1" dirty="0" err="1" smtClean="0"/>
              <a:t>Regnum</a:t>
            </a:r>
            <a:r>
              <a:rPr lang="tr-TR" sz="2800" b="1" dirty="0" smtClean="0"/>
              <a:t> ( </a:t>
            </a:r>
            <a:r>
              <a:rPr lang="tr-TR" sz="2800" b="1" dirty="0" err="1" smtClean="0"/>
              <a:t>Kingdom</a:t>
            </a:r>
            <a:r>
              <a:rPr lang="tr-TR" sz="2800" b="1" dirty="0" smtClean="0"/>
              <a:t>=Alem)  </a:t>
            </a:r>
            <a:r>
              <a:rPr lang="tr-TR" sz="2800" b="1" dirty="0" smtClean="0">
                <a:solidFill>
                  <a:srgbClr val="7030A0"/>
                </a:solidFill>
              </a:rPr>
              <a:t>  </a:t>
            </a:r>
            <a:r>
              <a:rPr lang="tr-TR" sz="2800" b="1" dirty="0" err="1" smtClean="0">
                <a:solidFill>
                  <a:srgbClr val="7030A0"/>
                </a:solidFill>
              </a:rPr>
              <a:t>Procaryotae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6-</a:t>
            </a:r>
            <a:r>
              <a:rPr lang="tr-TR" sz="2800" b="1" dirty="0" err="1" smtClean="0"/>
              <a:t>Divisio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Division</a:t>
            </a:r>
            <a:r>
              <a:rPr lang="tr-TR" sz="2800" b="1" dirty="0" smtClean="0"/>
              <a:t>=Bölüm)  </a:t>
            </a:r>
            <a:r>
              <a:rPr lang="tr-TR" sz="2800" b="1" dirty="0" smtClean="0">
                <a:solidFill>
                  <a:srgbClr val="7030A0"/>
                </a:solidFill>
              </a:rPr>
              <a:t> </a:t>
            </a:r>
            <a:r>
              <a:rPr lang="tr-TR" sz="2800" b="1" dirty="0" err="1" smtClean="0">
                <a:solidFill>
                  <a:srgbClr val="7030A0"/>
                </a:solidFill>
              </a:rPr>
              <a:t>Tenericutes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5-</a:t>
            </a:r>
            <a:r>
              <a:rPr lang="tr-TR" sz="2800" b="1" dirty="0" err="1" smtClean="0"/>
              <a:t>Classis</a:t>
            </a:r>
            <a:r>
              <a:rPr lang="tr-TR" sz="2800" b="1" dirty="0" smtClean="0"/>
              <a:t> (</a:t>
            </a:r>
            <a:r>
              <a:rPr lang="tr-TR" sz="2800" b="1" dirty="0" err="1" smtClean="0"/>
              <a:t>Clas</a:t>
            </a:r>
            <a:r>
              <a:rPr lang="tr-TR" sz="2800" b="1" dirty="0" smtClean="0"/>
              <a:t>=sınıf)   </a:t>
            </a:r>
            <a:r>
              <a:rPr lang="tr-TR" sz="2800" b="1" dirty="0" smtClean="0">
                <a:solidFill>
                  <a:srgbClr val="7030A0"/>
                </a:solidFill>
              </a:rPr>
              <a:t> </a:t>
            </a:r>
            <a:r>
              <a:rPr lang="tr-TR" sz="2800" b="1" dirty="0" err="1" smtClean="0">
                <a:solidFill>
                  <a:srgbClr val="7030A0"/>
                </a:solidFill>
              </a:rPr>
              <a:t>Mollicutes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4-</a:t>
            </a:r>
            <a:r>
              <a:rPr lang="tr-TR" sz="2800" b="1" dirty="0" err="1" smtClean="0"/>
              <a:t>Ordo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order</a:t>
            </a:r>
            <a:r>
              <a:rPr lang="tr-TR" sz="2800" b="1" dirty="0" smtClean="0"/>
              <a:t>=Takım)  </a:t>
            </a:r>
            <a:r>
              <a:rPr lang="tr-TR" sz="2800" b="1" dirty="0" err="1" smtClean="0">
                <a:solidFill>
                  <a:srgbClr val="7030A0"/>
                </a:solidFill>
              </a:rPr>
              <a:t>Mycoplasmatales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3-</a:t>
            </a:r>
            <a:r>
              <a:rPr lang="tr-TR" sz="2800" b="1" dirty="0" err="1" smtClean="0"/>
              <a:t>Familia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Family</a:t>
            </a:r>
            <a:r>
              <a:rPr lang="tr-TR" sz="2800" b="1" dirty="0" smtClean="0"/>
              <a:t>=familya)    </a:t>
            </a:r>
            <a:r>
              <a:rPr lang="tr-TR" sz="2800" b="1" dirty="0" err="1" smtClean="0">
                <a:solidFill>
                  <a:srgbClr val="7030A0"/>
                </a:solidFill>
              </a:rPr>
              <a:t>Mycoplasmataceae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2-</a:t>
            </a:r>
            <a:r>
              <a:rPr lang="tr-TR" sz="2800" b="1" dirty="0" err="1" smtClean="0"/>
              <a:t>Genus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Genus</a:t>
            </a:r>
            <a:r>
              <a:rPr lang="tr-TR" sz="2800" b="1" dirty="0" smtClean="0"/>
              <a:t>=cins)	    </a:t>
            </a:r>
            <a:r>
              <a:rPr lang="tr-TR" sz="2800" b="1" dirty="0" err="1" smtClean="0">
                <a:solidFill>
                  <a:srgbClr val="7030A0"/>
                </a:solidFill>
              </a:rPr>
              <a:t>Mycoplasma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1-</a:t>
            </a:r>
            <a:r>
              <a:rPr lang="tr-TR" sz="2800" b="1" dirty="0" err="1" smtClean="0"/>
              <a:t>Species</a:t>
            </a:r>
            <a:r>
              <a:rPr lang="tr-TR" sz="2800" b="1" dirty="0" smtClean="0"/>
              <a:t>  (</a:t>
            </a:r>
            <a:r>
              <a:rPr lang="tr-TR" sz="2800" b="1" dirty="0" err="1" smtClean="0"/>
              <a:t>Species</a:t>
            </a:r>
            <a:r>
              <a:rPr lang="tr-TR" sz="2800" b="1" dirty="0" smtClean="0"/>
              <a:t>=tür)     </a:t>
            </a:r>
            <a:r>
              <a:rPr lang="tr-TR" sz="2800" b="1" i="1" dirty="0" err="1" smtClean="0">
                <a:solidFill>
                  <a:srgbClr val="7030A0"/>
                </a:solidFill>
              </a:rPr>
              <a:t>M.pneumoniae</a:t>
            </a:r>
            <a:endParaRPr lang="tr-TR" sz="2800" b="1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993062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tijen\Desktop\canli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8640"/>
            <a:ext cx="8569325" cy="633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o"/>
          <p:cNvGraphicFramePr>
            <a:graphicFrameLocks noGrp="1"/>
          </p:cNvGraphicFramePr>
          <p:nvPr/>
        </p:nvGraphicFramePr>
        <p:xfrm>
          <a:off x="2555776" y="188640"/>
          <a:ext cx="6408712" cy="6424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5"/>
                <a:gridCol w="3024337"/>
              </a:tblGrid>
              <a:tr h="889113">
                <a:tc>
                  <a:txBody>
                    <a:bodyPr/>
                    <a:lstStyle/>
                    <a:p>
                      <a:r>
                        <a:rPr lang="tr-TR" dirty="0" smtClean="0"/>
                        <a:t>ALEMDEN TÜRE DOĞRU GİDİLDİKÇE GÖRÜLEN ÖZELLİKLER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TÜRDEN ALEME DOĞRU GİDİLDİKÇE GÖRÜLEN ÖZELLİKLER</a:t>
                      </a:r>
                      <a:endParaRPr lang="tr-TR" dirty="0"/>
                    </a:p>
                  </a:txBody>
                  <a:tcPr/>
                </a:tc>
              </a:tr>
              <a:tr h="54813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AKRABALIK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AKRABALIK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879438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GEN BENZERLİĞİ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GEN BENZERLİĞİ AZALIR</a:t>
                      </a:r>
                    </a:p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Ortak gen sayısı azalır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15606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PROTEİN</a:t>
                      </a:r>
                      <a:r>
                        <a:rPr lang="tr-TR" b="1" baseline="0" dirty="0" smtClean="0">
                          <a:solidFill>
                            <a:srgbClr val="7030A0"/>
                          </a:solidFill>
                        </a:rPr>
                        <a:t> BENZERLİĞİ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PROTEİN BENZERLİĞİ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2237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HOMOLOG ORGANLAR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HOMOLOG ORGANLAR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850937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EMBRİYONİK</a:t>
                      </a:r>
                      <a:r>
                        <a:rPr lang="tr-TR" b="1" baseline="0" dirty="0" smtClean="0">
                          <a:solidFill>
                            <a:srgbClr val="7030A0"/>
                          </a:solidFill>
                        </a:rPr>
                        <a:t> GELİŞİM BENZERLİĞİ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EMBRİYONİK</a:t>
                      </a:r>
                      <a:r>
                        <a:rPr lang="tr-TR" b="1" baseline="0" dirty="0" smtClean="0">
                          <a:solidFill>
                            <a:srgbClr val="FF0000"/>
                          </a:solidFill>
                        </a:rPr>
                        <a:t> GELİŞİM BENZERLİĞİ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879438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CANLI ÇEŞİTLİLİĞİ AZALIR</a:t>
                      </a:r>
                      <a:endParaRPr lang="tr-TR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b="1" baseline="0" dirty="0" smtClean="0">
                          <a:solidFill>
                            <a:schemeClr val="tx1"/>
                          </a:solidFill>
                        </a:rPr>
                        <a:t>CANLI ÇEŞİTLİLİĞİ ARTAR</a:t>
                      </a:r>
                      <a:endParaRPr lang="tr-TR" b="1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4813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TÜR SAYISI AZALIR</a:t>
                      </a:r>
                      <a:endParaRPr lang="tr-TR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tx1"/>
                          </a:solidFill>
                        </a:rPr>
                        <a:t>TÜR SAYISI ARTAR</a:t>
                      </a:r>
                      <a:endParaRPr lang="tr-T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4813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BİREY</a:t>
                      </a:r>
                      <a:r>
                        <a:rPr lang="tr-TR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SAYISI AZALIR</a:t>
                      </a:r>
                      <a:endParaRPr lang="tr-TR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tx1"/>
                          </a:solidFill>
                        </a:rPr>
                        <a:t>BİREY </a:t>
                      </a:r>
                      <a:r>
                        <a:rPr lang="tr-TR" b="1" baseline="0" dirty="0" smtClean="0">
                          <a:solidFill>
                            <a:schemeClr val="tx1"/>
                          </a:solidFill>
                        </a:rPr>
                        <a:t>SAYISI ARTAR</a:t>
                      </a:r>
                      <a:endParaRPr lang="tr-T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2 Yukarı Ok"/>
          <p:cNvSpPr/>
          <p:nvPr/>
        </p:nvSpPr>
        <p:spPr>
          <a:xfrm>
            <a:off x="1907704" y="1700808"/>
            <a:ext cx="432048" cy="3600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3 Aşağı Ok"/>
          <p:cNvSpPr/>
          <p:nvPr/>
        </p:nvSpPr>
        <p:spPr>
          <a:xfrm>
            <a:off x="0" y="1700808"/>
            <a:ext cx="395536" cy="3672408"/>
          </a:xfrm>
          <a:prstGeom prst="downArrow">
            <a:avLst>
              <a:gd name="adj1" fmla="val 6063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6" name="5 Tablo"/>
          <p:cNvGraphicFramePr>
            <a:graphicFrameLocks noGrp="1"/>
          </p:cNvGraphicFramePr>
          <p:nvPr/>
        </p:nvGraphicFramePr>
        <p:xfrm>
          <a:off x="539552" y="1052736"/>
          <a:ext cx="1368152" cy="4521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/>
              </a:tblGrid>
              <a:tr h="377793">
                <a:tc>
                  <a:txBody>
                    <a:bodyPr/>
                    <a:lstStyle/>
                    <a:p>
                      <a:r>
                        <a:rPr lang="tr-TR" dirty="0" smtClean="0"/>
                        <a:t>ALEM</a:t>
                      </a:r>
                      <a:endParaRPr lang="tr-TR" dirty="0"/>
                    </a:p>
                  </a:txBody>
                  <a:tcPr/>
                </a:tc>
              </a:tr>
              <a:tr h="690642">
                <a:tc>
                  <a:txBody>
                    <a:bodyPr/>
                    <a:lstStyle/>
                    <a:p>
                      <a:r>
                        <a:rPr lang="tr-TR" dirty="0" smtClean="0"/>
                        <a:t>ŞUBE</a:t>
                      </a:r>
                      <a:endParaRPr lang="tr-TR" dirty="0"/>
                    </a:p>
                  </a:txBody>
                  <a:tcPr/>
                </a:tc>
              </a:tr>
              <a:tr h="690642">
                <a:tc>
                  <a:txBody>
                    <a:bodyPr/>
                    <a:lstStyle/>
                    <a:p>
                      <a:r>
                        <a:rPr lang="tr-TR" dirty="0" smtClean="0"/>
                        <a:t>SINIF</a:t>
                      </a:r>
                      <a:endParaRPr lang="tr-TR" dirty="0"/>
                    </a:p>
                  </a:txBody>
                  <a:tcPr/>
                </a:tc>
              </a:tr>
              <a:tr h="690642">
                <a:tc>
                  <a:txBody>
                    <a:bodyPr/>
                    <a:lstStyle/>
                    <a:p>
                      <a:r>
                        <a:rPr lang="tr-TR" dirty="0" smtClean="0"/>
                        <a:t>TAKIM</a:t>
                      </a:r>
                      <a:endParaRPr lang="tr-TR" dirty="0"/>
                    </a:p>
                  </a:txBody>
                  <a:tcPr/>
                </a:tc>
              </a:tr>
              <a:tr h="690642">
                <a:tc>
                  <a:txBody>
                    <a:bodyPr/>
                    <a:lstStyle/>
                    <a:p>
                      <a:r>
                        <a:rPr lang="tr-TR" dirty="0" smtClean="0"/>
                        <a:t>AİLE</a:t>
                      </a:r>
                      <a:endParaRPr lang="tr-TR" dirty="0"/>
                    </a:p>
                  </a:txBody>
                  <a:tcPr/>
                </a:tc>
              </a:tr>
              <a:tr h="690642">
                <a:tc>
                  <a:txBody>
                    <a:bodyPr/>
                    <a:lstStyle/>
                    <a:p>
                      <a:r>
                        <a:rPr lang="tr-TR" dirty="0" smtClean="0"/>
                        <a:t>CİNS</a:t>
                      </a:r>
                      <a:endParaRPr lang="tr-TR" dirty="0"/>
                    </a:p>
                  </a:txBody>
                  <a:tcPr/>
                </a:tc>
              </a:tr>
              <a:tr h="690642">
                <a:tc>
                  <a:txBody>
                    <a:bodyPr/>
                    <a:lstStyle/>
                    <a:p>
                      <a:r>
                        <a:rPr lang="tr-TR" dirty="0" smtClean="0"/>
                        <a:t>TÜR</a:t>
                      </a:r>
                      <a:endParaRPr lang="tr-T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7 Yuvarlatılmış Dikdörtgen"/>
          <p:cNvSpPr/>
          <p:nvPr/>
        </p:nvSpPr>
        <p:spPr>
          <a:xfrm>
            <a:off x="179512" y="188640"/>
            <a:ext cx="1944216" cy="6480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 smtClean="0">
                <a:solidFill>
                  <a:schemeClr val="tx1"/>
                </a:solidFill>
              </a:rPr>
              <a:t>Birey  sayısı artar</a:t>
            </a:r>
          </a:p>
          <a:p>
            <a:pPr algn="ctr"/>
            <a:r>
              <a:rPr lang="tr-TR" sz="1600" b="1" dirty="0" smtClean="0">
                <a:solidFill>
                  <a:schemeClr val="tx1"/>
                </a:solidFill>
              </a:rPr>
              <a:t>Ortak öz..azalır</a:t>
            </a:r>
            <a:endParaRPr lang="tr-TR" sz="1600" b="1" dirty="0">
              <a:solidFill>
                <a:schemeClr val="tx1"/>
              </a:solidFill>
            </a:endParaRPr>
          </a:p>
        </p:txBody>
      </p:sp>
      <p:sp>
        <p:nvSpPr>
          <p:cNvPr id="10" name="9 Yuvarlatılmış Dikdörtgen"/>
          <p:cNvSpPr/>
          <p:nvPr/>
        </p:nvSpPr>
        <p:spPr>
          <a:xfrm>
            <a:off x="179512" y="5589240"/>
            <a:ext cx="1584176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 smtClean="0">
                <a:solidFill>
                  <a:schemeClr val="tx1"/>
                </a:solidFill>
              </a:rPr>
              <a:t>Birey  sayısı azalır</a:t>
            </a:r>
          </a:p>
          <a:p>
            <a:pPr algn="ctr"/>
            <a:r>
              <a:rPr lang="tr-TR" sz="1600" b="1" dirty="0" smtClean="0">
                <a:solidFill>
                  <a:schemeClr val="tx1"/>
                </a:solidFill>
              </a:rPr>
              <a:t>Ortak öz..artar</a:t>
            </a:r>
            <a:endParaRPr lang="tr-TR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o"/>
          <p:cNvGraphicFramePr>
            <a:graphicFrameLocks noGrp="1"/>
          </p:cNvGraphicFramePr>
          <p:nvPr/>
        </p:nvGraphicFramePr>
        <p:xfrm>
          <a:off x="755576" y="332655"/>
          <a:ext cx="7704856" cy="619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428"/>
                <a:gridCol w="3852428"/>
              </a:tblGrid>
              <a:tr h="1000410">
                <a:tc>
                  <a:txBody>
                    <a:bodyPr/>
                    <a:lstStyle/>
                    <a:p>
                      <a:r>
                        <a:rPr lang="tr-TR" dirty="0" smtClean="0"/>
                        <a:t>ALEMDEN TÜRE DOĞRU GİDİLDİKÇE GÖRÜLEN ÖZELLİKLER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TÜRDEN ALEME DOĞRU GİDİLDİKÇE GÖRÜLEN ÖZELLİKLER</a:t>
                      </a:r>
                      <a:endParaRPr lang="tr-TR" dirty="0"/>
                    </a:p>
                  </a:txBody>
                  <a:tcPr/>
                </a:tc>
              </a:tr>
              <a:tr h="61184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AKRABALIK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AKRABALIK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711011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GEN BENZERLİĞİ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GEN BENZERLİĞİ AZALIR</a:t>
                      </a:r>
                    </a:p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                  Ortak gen sayısı azalır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1184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PROTEİN</a:t>
                      </a:r>
                      <a:r>
                        <a:rPr lang="tr-TR" b="1" baseline="0" dirty="0" smtClean="0">
                          <a:solidFill>
                            <a:srgbClr val="7030A0"/>
                          </a:solidFill>
                        </a:rPr>
                        <a:t> BENZERLİĞİ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PROTEİN BENZERLİĞİ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1184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HOMOLOG ORGANLAR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HOMOLOG ORGANLAR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711011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7030A0"/>
                          </a:solidFill>
                        </a:rPr>
                        <a:t>EMBRİYONİK</a:t>
                      </a:r>
                      <a:r>
                        <a:rPr lang="tr-TR" b="1" baseline="0" dirty="0" smtClean="0">
                          <a:solidFill>
                            <a:srgbClr val="7030A0"/>
                          </a:solidFill>
                        </a:rPr>
                        <a:t> GELİŞİM BENZERLİĞİ ARTAR</a:t>
                      </a:r>
                      <a:endParaRPr lang="tr-TR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rgbClr val="FF0000"/>
                          </a:solidFill>
                        </a:rPr>
                        <a:t>EMBRİYONİK</a:t>
                      </a:r>
                      <a:r>
                        <a:rPr lang="tr-TR" b="1" baseline="0" dirty="0" smtClean="0">
                          <a:solidFill>
                            <a:srgbClr val="FF0000"/>
                          </a:solidFill>
                        </a:rPr>
                        <a:t> GELİŞİM BENZERLİĞİ AZALIR</a:t>
                      </a:r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711011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CANLI ÇEŞİTLİLİĞİ AZALIR</a:t>
                      </a:r>
                      <a:endParaRPr lang="tr-TR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b="1" baseline="0" dirty="0" smtClean="0">
                          <a:solidFill>
                            <a:schemeClr val="tx1"/>
                          </a:solidFill>
                        </a:rPr>
                        <a:t>CANLI ÇEŞİTLİLİĞİ ARTAR</a:t>
                      </a:r>
                      <a:endParaRPr lang="tr-TR" b="1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1184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TÜR SAYISI AZALIR</a:t>
                      </a:r>
                      <a:endParaRPr lang="tr-TR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tx1"/>
                          </a:solidFill>
                        </a:rPr>
                        <a:t>TÜR SAYISI ARTAR</a:t>
                      </a:r>
                      <a:endParaRPr lang="tr-T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11849"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BİREY</a:t>
                      </a:r>
                      <a:r>
                        <a:rPr lang="tr-TR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SAYISI AZALIR</a:t>
                      </a:r>
                      <a:endParaRPr lang="tr-TR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>
                          <a:solidFill>
                            <a:schemeClr val="tx1"/>
                          </a:solidFill>
                        </a:rPr>
                        <a:t>BİREY </a:t>
                      </a:r>
                      <a:r>
                        <a:rPr lang="tr-TR" b="1" baseline="0" dirty="0" smtClean="0">
                          <a:solidFill>
                            <a:schemeClr val="tx1"/>
                          </a:solidFill>
                        </a:rPr>
                        <a:t>SAYISI ARTAR</a:t>
                      </a:r>
                      <a:endParaRPr lang="tr-T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60648"/>
            <a:ext cx="7416800" cy="619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88640"/>
            <a:ext cx="5473774" cy="64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TANIMLANMASI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Fenotipik</a:t>
            </a:r>
            <a:r>
              <a:rPr lang="tr-TR" b="1" dirty="0" smtClean="0"/>
              <a:t> (Dış görünüş) olarak</a:t>
            </a:r>
          </a:p>
          <a:p>
            <a:pPr>
              <a:buNone/>
            </a:pPr>
            <a:r>
              <a:rPr lang="tr-TR" b="1" dirty="0" smtClean="0"/>
              <a:t>	       </a:t>
            </a:r>
            <a:r>
              <a:rPr lang="tr-TR" b="1" dirty="0" err="1" smtClean="0"/>
              <a:t>Makroskobik</a:t>
            </a:r>
            <a:endParaRPr lang="tr-TR" b="1" dirty="0" smtClean="0"/>
          </a:p>
          <a:p>
            <a:pPr>
              <a:buNone/>
            </a:pPr>
            <a:r>
              <a:rPr lang="tr-TR" b="1" dirty="0" smtClean="0"/>
              <a:t>	       Mikroskobik </a:t>
            </a:r>
          </a:p>
          <a:p>
            <a:pPr lvl="1">
              <a:buNone/>
            </a:pPr>
            <a:r>
              <a:rPr lang="tr-TR" b="1" dirty="0" smtClean="0"/>
              <a:t>      </a:t>
            </a:r>
            <a:endParaRPr lang="tr-TR" sz="3200" b="1" dirty="0" smtClean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TANIMLANMASI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Bakteri kolonilerin rengi, şekli ve kokusu gibi özellikleri </a:t>
            </a:r>
            <a:r>
              <a:rPr lang="tr-TR" b="1" dirty="0" err="1" smtClean="0">
                <a:solidFill>
                  <a:srgbClr val="7030A0"/>
                </a:solidFill>
              </a:rPr>
              <a:t>makroskobik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smtClean="0"/>
              <a:t>tanımlamada kullanılır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Mikroskobik</a:t>
            </a:r>
            <a:r>
              <a:rPr lang="tr-TR" b="1" dirty="0" smtClean="0"/>
              <a:t> özelliklerin incelenmesinde ise en sık Gram boyama yöntemi kullanılır 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76672"/>
            <a:ext cx="7959725" cy="572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GRAM BOYAMA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smtClean="0"/>
              <a:t>Bakterileri başlıca iki ana sınıfa ayırır </a:t>
            </a:r>
          </a:p>
          <a:p>
            <a:pPr>
              <a:buNone/>
            </a:pPr>
            <a:r>
              <a:rPr lang="tr-TR" b="1" dirty="0" smtClean="0"/>
              <a:t>           	1- Gram pozitif     </a:t>
            </a:r>
          </a:p>
          <a:p>
            <a:pPr>
              <a:buNone/>
            </a:pPr>
            <a:r>
              <a:rPr lang="tr-TR" b="1" dirty="0" smtClean="0"/>
              <a:t>            	2- Gram negatif</a:t>
            </a:r>
          </a:p>
          <a:p>
            <a:endParaRPr lang="tr-TR" b="1" dirty="0" smtClean="0"/>
          </a:p>
          <a:p>
            <a:r>
              <a:rPr lang="tr-TR" b="1" dirty="0" smtClean="0"/>
              <a:t>Bu yöntem ile, duvar yapılarının farklı olmasından dolayı</a:t>
            </a:r>
          </a:p>
          <a:p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Gram pozitif bakteriler mor</a:t>
            </a:r>
          </a:p>
          <a:p>
            <a:pPr>
              <a:buNone/>
            </a:pPr>
            <a:r>
              <a:rPr lang="tr-TR" b="1" dirty="0" smtClean="0"/>
              <a:t>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Gram negatif bakteriler pembe-kırmızı  boyanır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GRAM BOYAMA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Bu boyama tekniği ile bakteriler ayrıca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Yuvarlak (kok) 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Çomak (basil) </a:t>
            </a:r>
            <a:r>
              <a:rPr lang="tr-TR" b="1" dirty="0" smtClean="0"/>
              <a:t>ve </a:t>
            </a:r>
          </a:p>
          <a:p>
            <a:r>
              <a:rPr lang="tr-TR" b="1" dirty="0" smtClean="0">
                <a:solidFill>
                  <a:srgbClr val="0070C0"/>
                </a:solidFill>
              </a:rPr>
              <a:t>Kıvrık (spiral) </a:t>
            </a:r>
            <a:r>
              <a:rPr lang="tr-TR" b="1" dirty="0" smtClean="0"/>
              <a:t>şekilli olarak sınıflandırılabilir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188640"/>
            <a:ext cx="8712968" cy="633670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4300" b="1" dirty="0" smtClean="0">
                <a:solidFill>
                  <a:srgbClr val="FF0000"/>
                </a:solidFill>
              </a:rPr>
              <a:t>	</a:t>
            </a:r>
            <a:r>
              <a:rPr lang="tr-TR" sz="4000" b="1" dirty="0" smtClean="0">
                <a:solidFill>
                  <a:srgbClr val="FF0000"/>
                </a:solidFill>
              </a:rPr>
              <a:t>   KOKLAR</a:t>
            </a:r>
            <a:endParaRPr lang="tr-TR" sz="4000" b="1" dirty="0" smtClean="0">
              <a:solidFill>
                <a:srgbClr val="7030A0"/>
              </a:solidFill>
            </a:endParaRPr>
          </a:p>
          <a:p>
            <a:r>
              <a:rPr lang="tr-TR" b="1" dirty="0" smtClean="0">
                <a:solidFill>
                  <a:srgbClr val="7030A0"/>
                </a:solidFill>
              </a:rPr>
              <a:t>Yuvarlak, </a:t>
            </a:r>
            <a:r>
              <a:rPr lang="tr-TR" b="1" dirty="0" err="1" smtClean="0">
                <a:solidFill>
                  <a:srgbClr val="7030A0"/>
                </a:solidFill>
              </a:rPr>
              <a:t>sferik</a:t>
            </a:r>
            <a:r>
              <a:rPr lang="tr-TR" b="1" dirty="0" smtClean="0">
                <a:solidFill>
                  <a:srgbClr val="7030A0"/>
                </a:solidFill>
              </a:rPr>
              <a:t> biçimli ortalama 0.6-1.5 µm boyutlarındadır</a:t>
            </a:r>
          </a:p>
          <a:p>
            <a:r>
              <a:rPr lang="tr-TR" b="1" dirty="0" smtClean="0">
                <a:solidFill>
                  <a:srgbClr val="0070C0"/>
                </a:solidFill>
              </a:rPr>
              <a:t>STAFİLOKOK: </a:t>
            </a:r>
            <a:r>
              <a:rPr lang="tr-TR" b="1" dirty="0" smtClean="0"/>
              <a:t>Üzüm salkımı şeklinde kümeler 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STREPTOKOK:</a:t>
            </a:r>
            <a:r>
              <a:rPr lang="tr-TR" b="1" dirty="0" smtClean="0"/>
              <a:t>Uzun zincirler oluşturan koklar </a:t>
            </a:r>
          </a:p>
          <a:p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DİPLOKOK:</a:t>
            </a:r>
            <a:r>
              <a:rPr lang="tr-TR" b="1" dirty="0" smtClean="0"/>
              <a:t>Birbirlerinden ayrılmayarak ikişer ikişer bir arada </a:t>
            </a:r>
          </a:p>
          <a:p>
            <a:endParaRPr lang="tr-TR" b="1" dirty="0" smtClean="0"/>
          </a:p>
          <a:p>
            <a:r>
              <a:rPr lang="tr-TR" b="1" dirty="0" err="1" smtClean="0"/>
              <a:t>Diplokoklar</a:t>
            </a:r>
            <a:r>
              <a:rPr lang="tr-TR" b="1" dirty="0" smtClean="0"/>
              <a:t> tür özelliğine göre </a:t>
            </a:r>
          </a:p>
          <a:p>
            <a:pPr lvl="1"/>
            <a:r>
              <a:rPr lang="tr-TR" b="1" dirty="0" smtClean="0"/>
              <a:t>kısa eksenleri (</a:t>
            </a:r>
            <a:r>
              <a:rPr lang="tr-TR" b="1" dirty="0" err="1" smtClean="0"/>
              <a:t>Neisseria</a:t>
            </a:r>
            <a:r>
              <a:rPr lang="tr-TR" b="1" dirty="0" smtClean="0"/>
              <a:t> </a:t>
            </a:r>
            <a:r>
              <a:rPr lang="tr-TR" b="1" dirty="0" err="1" smtClean="0"/>
              <a:t>genusu</a:t>
            </a:r>
            <a:r>
              <a:rPr lang="tr-TR" b="1" dirty="0" smtClean="0"/>
              <a:t>) </a:t>
            </a:r>
          </a:p>
          <a:p>
            <a:pPr lvl="1"/>
            <a:r>
              <a:rPr lang="tr-TR" b="1" dirty="0" smtClean="0"/>
              <a:t>veya uzun eksenleri ile (</a:t>
            </a:r>
            <a:r>
              <a:rPr lang="tr-TR" b="1" i="1" dirty="0" err="1" smtClean="0"/>
              <a:t>Streptococcus</a:t>
            </a:r>
            <a:r>
              <a:rPr lang="tr-TR" b="1" i="1" dirty="0" smtClean="0"/>
              <a:t> </a:t>
            </a:r>
            <a:r>
              <a:rPr lang="tr-TR" b="1" i="1" dirty="0" err="1" smtClean="0"/>
              <a:t>pneumoniae</a:t>
            </a:r>
            <a:r>
              <a:rPr lang="tr-TR" b="1" i="1" dirty="0" smtClean="0"/>
              <a:t>) yan yana gelecek şekilde durabilirler</a:t>
            </a:r>
            <a:endParaRPr lang="tr-TR" b="1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268760"/>
            <a:ext cx="7704138" cy="5184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Dikdörtgen"/>
          <p:cNvSpPr/>
          <p:nvPr/>
        </p:nvSpPr>
        <p:spPr>
          <a:xfrm>
            <a:off x="1835696" y="476672"/>
            <a:ext cx="2448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STAFİLOKOK</a:t>
            </a:r>
            <a:r>
              <a:rPr lang="tr-TR" b="1" dirty="0" smtClean="0">
                <a:solidFill>
                  <a:srgbClr val="0070C0"/>
                </a:solidFill>
              </a:rPr>
              <a:t> </a:t>
            </a:r>
            <a:endParaRPr lang="tr-TR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188640"/>
            <a:ext cx="4975225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Pc\Desktop\Staphylococcus_aureus_VISA_2Copy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23528" y="2847595"/>
            <a:ext cx="3960440" cy="35734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Çift şekilde yan yana görülenler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Örnek  </a:t>
            </a:r>
            <a:r>
              <a:rPr lang="tr-TR" sz="3200" b="1" dirty="0" err="1" smtClean="0">
                <a:solidFill>
                  <a:srgbClr val="FF0000"/>
                </a:solidFill>
              </a:rPr>
              <a:t>Neisseria</a:t>
            </a:r>
            <a:r>
              <a:rPr lang="tr-TR" sz="3200" b="1" dirty="0" smtClean="0">
                <a:solidFill>
                  <a:srgbClr val="FF0000"/>
                </a:solidFill>
              </a:rPr>
              <a:t> </a:t>
            </a:r>
            <a:r>
              <a:rPr lang="tr-TR" sz="3200" b="1" dirty="0" err="1" smtClean="0">
                <a:solidFill>
                  <a:srgbClr val="FF0000"/>
                </a:solidFill>
              </a:rPr>
              <a:t>gonorrhoeae</a:t>
            </a:r>
            <a:r>
              <a:rPr lang="tr-TR" sz="3200" b="1" dirty="0" smtClean="0">
                <a:solidFill>
                  <a:srgbClr val="FF0000"/>
                </a:solidFill>
              </a:rPr>
              <a:t> 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Pc\Desktop\gty_gonorrhea_tk_130609_wmain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24000" y="2148681"/>
            <a:ext cx="6096000" cy="3429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 Zincir şeklinde görülenler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Örnek       </a:t>
            </a:r>
            <a:r>
              <a:rPr lang="tr-TR" sz="3200" b="1" dirty="0" err="1" smtClean="0">
                <a:solidFill>
                  <a:srgbClr val="FF0000"/>
                </a:solidFill>
              </a:rPr>
              <a:t>Streptococcus</a:t>
            </a:r>
            <a:r>
              <a:rPr lang="tr-TR" sz="3200" b="1" dirty="0" smtClean="0">
                <a:solidFill>
                  <a:srgbClr val="FF0000"/>
                </a:solidFill>
              </a:rPr>
              <a:t> </a:t>
            </a:r>
            <a:r>
              <a:rPr lang="tr-TR" sz="3200" b="1" dirty="0" err="1" smtClean="0">
                <a:solidFill>
                  <a:srgbClr val="FF0000"/>
                </a:solidFill>
              </a:rPr>
              <a:t>pneumoniae</a:t>
            </a:r>
            <a:r>
              <a:rPr lang="tr-TR" sz="3200" b="1" dirty="0" smtClean="0">
                <a:solidFill>
                  <a:srgbClr val="FF0000"/>
                </a:solidFill>
              </a:rPr>
              <a:t> 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4098" name="Picture 2" descr="C:\Users\Pc\Desktop\streptococ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403648" y="1628800"/>
            <a:ext cx="6480720" cy="4392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BASİLLER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Çomak biçiminde bakteriler olup uçları yuvarlak,</a:t>
            </a:r>
            <a:r>
              <a:rPr lang="tr-TR" sz="2800" b="1" dirty="0" err="1" smtClean="0"/>
              <a:t>künt</a:t>
            </a:r>
            <a:r>
              <a:rPr lang="tr-TR" sz="2800" b="1" dirty="0" smtClean="0"/>
              <a:t> ve ince olabilir</a:t>
            </a:r>
          </a:p>
          <a:p>
            <a:r>
              <a:rPr lang="tr-TR" sz="2800" b="1" dirty="0" smtClean="0">
                <a:solidFill>
                  <a:srgbClr val="FF0000"/>
                </a:solidFill>
              </a:rPr>
              <a:t>Ortalama boyları1-8 </a:t>
            </a:r>
            <a:r>
              <a:rPr lang="tr-TR" sz="2800" b="1" i="1" dirty="0" smtClean="0">
                <a:solidFill>
                  <a:srgbClr val="FF0000"/>
                </a:solidFill>
              </a:rPr>
              <a:t>µ</a:t>
            </a:r>
            <a:r>
              <a:rPr lang="tr-TR" sz="2800" b="1" i="1" dirty="0" err="1" smtClean="0">
                <a:solidFill>
                  <a:srgbClr val="FF0000"/>
                </a:solidFill>
              </a:rPr>
              <a:t>m'dir</a:t>
            </a:r>
            <a:endParaRPr lang="tr-TR" sz="2800" b="1" i="1" dirty="0" smtClean="0">
              <a:solidFill>
                <a:srgbClr val="FF0000"/>
              </a:solidFill>
            </a:endParaRPr>
          </a:p>
          <a:p>
            <a:r>
              <a:rPr lang="tr-TR" sz="2800" b="1" dirty="0" smtClean="0"/>
              <a:t>Basiller kısa eksenleri boyunca bölünerek tek hücreden,uzun zincirler yapmış hücrelere kadar herhangi bir düzende görülebilirler</a:t>
            </a:r>
          </a:p>
          <a:p>
            <a:r>
              <a:rPr lang="tr-TR" sz="2800" b="1" dirty="0" smtClean="0"/>
              <a:t>Kokların tersine basil zincirlerinin biçimi,onları tanımlayan karakteristik özelliklerini oluşturmaz</a:t>
            </a:r>
          </a:p>
          <a:p>
            <a:pPr lvl="1"/>
            <a:r>
              <a:rPr lang="tr-TR" b="1" dirty="0" smtClean="0"/>
              <a:t>Bazı basiller çok kısa olup </a:t>
            </a:r>
            <a:r>
              <a:rPr lang="tr-TR" b="1" dirty="0" err="1" smtClean="0">
                <a:solidFill>
                  <a:srgbClr val="FF0000"/>
                </a:solidFill>
              </a:rPr>
              <a:t>kokobasil</a:t>
            </a:r>
            <a:r>
              <a:rPr lang="tr-TR" b="1" dirty="0" smtClean="0"/>
              <a:t> adını alır</a:t>
            </a:r>
          </a:p>
          <a:p>
            <a:endParaRPr lang="tr-TR" sz="2800" b="1" dirty="0" smtClean="0"/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 smtClean="0">
                <a:solidFill>
                  <a:srgbClr val="FF0000"/>
                </a:solidFill>
              </a:rPr>
              <a:t>kokobasil</a:t>
            </a:r>
            <a:r>
              <a:rPr lang="tr-TR" sz="3200" b="1" dirty="0" smtClean="0">
                <a:solidFill>
                  <a:srgbClr val="FF0000"/>
                </a:solidFill>
              </a:rPr>
              <a:t>-</a:t>
            </a:r>
            <a:r>
              <a:rPr lang="tr-TR" sz="3200" b="1" dirty="0" err="1" smtClean="0">
                <a:solidFill>
                  <a:srgbClr val="FF0000"/>
                </a:solidFill>
              </a:rPr>
              <a:t>diplobasil</a:t>
            </a:r>
            <a:r>
              <a:rPr lang="tr-TR" sz="3200" b="1" dirty="0" smtClean="0">
                <a:solidFill>
                  <a:srgbClr val="FF0000"/>
                </a:solidFill>
              </a:rPr>
              <a:t>  şeklinde görülenler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Örnek  </a:t>
            </a:r>
            <a:r>
              <a:rPr lang="tr-TR" sz="3200" b="1" dirty="0" err="1" smtClean="0">
                <a:solidFill>
                  <a:srgbClr val="FF0000"/>
                </a:solidFill>
              </a:rPr>
              <a:t>Brucella</a:t>
            </a:r>
            <a:r>
              <a:rPr lang="tr-TR" sz="3200" b="1" dirty="0" smtClean="0">
                <a:solidFill>
                  <a:srgbClr val="FF0000"/>
                </a:solidFill>
              </a:rPr>
              <a:t> cinsi bakteriler</a:t>
            </a:r>
          </a:p>
        </p:txBody>
      </p:sp>
      <p:pic>
        <p:nvPicPr>
          <p:cNvPr id="1026" name="Picture 2" descr="C:\Users\Pc\Desktop\kokobasil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187624" y="1772816"/>
            <a:ext cx="6408712" cy="45658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548680"/>
            <a:ext cx="7343775" cy="572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620688"/>
            <a:ext cx="7200900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548680"/>
            <a:ext cx="7200900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SPİRAL BAKTERİLER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>
                <a:solidFill>
                  <a:srgbClr val="7030A0"/>
                </a:solidFill>
              </a:rPr>
              <a:t>VİBRİOLAR: </a:t>
            </a:r>
            <a:r>
              <a:rPr lang="tr-TR" sz="2800" b="1" dirty="0" smtClean="0"/>
              <a:t>Vücutları sert ve kıvrık olup, virgüle benzerler ve </a:t>
            </a:r>
            <a:r>
              <a:rPr lang="tr-TR" sz="2800" b="1" dirty="0" err="1" smtClean="0"/>
              <a:t>flajella</a:t>
            </a:r>
            <a:r>
              <a:rPr lang="tr-TR" sz="2800" b="1" dirty="0" smtClean="0"/>
              <a:t> ile hareket ederler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0070C0"/>
                </a:solidFill>
              </a:rPr>
              <a:t>SPİRİLLER: </a:t>
            </a:r>
            <a:r>
              <a:rPr lang="tr-TR" sz="2800" b="1" dirty="0" smtClean="0"/>
              <a:t>Tek kıvrımlı, sarmal şekilli bakterilerdir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00B050"/>
                </a:solidFill>
              </a:rPr>
              <a:t>SPİROKETLER: </a:t>
            </a:r>
            <a:r>
              <a:rPr lang="tr-TR" sz="2800" b="1" dirty="0" smtClean="0"/>
              <a:t>Spiral şekilli (birden fazla kıvrımlı) kendi üzerine katlanabilen mikroorganizmalardır</a:t>
            </a:r>
          </a:p>
          <a:p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4" y="188640"/>
            <a:ext cx="47625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708920"/>
            <a:ext cx="4509192" cy="3790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Pc\Desktop\1024px-Borrelia_burgdorferi_(CDC-PHIL_-6631)_lore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699792" y="260648"/>
            <a:ext cx="6161087" cy="4052888"/>
          </a:xfrm>
          <a:prstGeom prst="rect">
            <a:avLst/>
          </a:prstGeom>
          <a:noFill/>
        </p:spPr>
      </p:pic>
      <p:pic>
        <p:nvPicPr>
          <p:cNvPr id="5" name="Picture 2" descr="C:\Users\Pc\Desktop\imagesXDPC9K34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95536" y="3501008"/>
            <a:ext cx="4626818" cy="30677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2400" b="1" dirty="0" smtClean="0"/>
              <a:t> </a:t>
            </a:r>
            <a:br>
              <a:rPr lang="tr-TR" sz="2400" b="1" dirty="0" smtClean="0"/>
            </a:br>
            <a:r>
              <a:rPr lang="tr-TR" sz="3600" b="1" dirty="0" err="1" smtClean="0">
                <a:solidFill>
                  <a:srgbClr val="FF0000"/>
                </a:solidFill>
              </a:rPr>
              <a:t>fusiform</a:t>
            </a:r>
            <a:r>
              <a:rPr lang="tr-TR" sz="3600" b="1" dirty="0" smtClean="0">
                <a:solidFill>
                  <a:srgbClr val="FF0000"/>
                </a:solidFill>
              </a:rPr>
              <a:t> basil - mekik şeklinde görülenler</a:t>
            </a:r>
            <a:br>
              <a:rPr lang="tr-TR" sz="36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Örnek    </a:t>
            </a:r>
            <a:r>
              <a:rPr lang="tr-TR" sz="3600" b="1" dirty="0" err="1" smtClean="0">
                <a:solidFill>
                  <a:srgbClr val="FF0000"/>
                </a:solidFill>
              </a:rPr>
              <a:t>Fusobacterium</a:t>
            </a:r>
            <a:r>
              <a:rPr lang="tr-TR" sz="3600" b="1" dirty="0" smtClean="0">
                <a:solidFill>
                  <a:srgbClr val="FF0000"/>
                </a:solidFill>
              </a:rPr>
              <a:t> </a:t>
            </a:r>
            <a:r>
              <a:rPr lang="tr-TR" sz="3600" b="1" dirty="0" err="1" smtClean="0">
                <a:solidFill>
                  <a:srgbClr val="FF0000"/>
                </a:solidFill>
              </a:rPr>
              <a:t>fusiformis</a:t>
            </a:r>
            <a:r>
              <a:rPr lang="tr-TR" sz="3600" dirty="0" smtClean="0">
                <a:solidFill>
                  <a:srgbClr val="FF0000"/>
                </a:solidFill>
              </a:rPr>
              <a:t> </a:t>
            </a:r>
            <a:br>
              <a:rPr lang="tr-TR" sz="3600" dirty="0" smtClean="0">
                <a:solidFill>
                  <a:srgbClr val="FF0000"/>
                </a:solidFill>
              </a:rPr>
            </a:br>
            <a:endParaRPr lang="tr-TR" sz="3600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Pc\Desktop\fusiform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784571"/>
            <a:ext cx="8229600" cy="41572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548680"/>
            <a:ext cx="6927850" cy="576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2313</TotalTime>
  <Words>1273</Words>
  <Application>Microsoft Office PowerPoint</Application>
  <PresentationFormat>Ekran Gösterisi (4:3)</PresentationFormat>
  <Paragraphs>385</Paragraphs>
  <Slides>76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76</vt:i4>
      </vt:variant>
    </vt:vector>
  </HeadingPairs>
  <TitlesOfParts>
    <vt:vector size="77" baseType="lpstr">
      <vt:lpstr>Ofis Teması</vt:lpstr>
      <vt:lpstr>Slayt 1</vt:lpstr>
      <vt:lpstr>Slayt 2</vt:lpstr>
      <vt:lpstr>Slayt 3</vt:lpstr>
      <vt:lpstr>Slayt 4</vt:lpstr>
      <vt:lpstr>MİKROBİYOLOJİ  NEDİR?</vt:lpstr>
      <vt:lpstr> Mikroorganizmaların özelliklerini, yüksek canlılarla ve birbirleriyle ilişkilerini inceleyen bir bilim dalıdır </vt:lpstr>
      <vt:lpstr>Slayt 7</vt:lpstr>
      <vt:lpstr>HÜCRE YAPISI NASIL OLUR </vt:lpstr>
      <vt:lpstr>Slayt 9</vt:lpstr>
      <vt:lpstr>MİKROORGANİZMALAR NERELERDE BULUNUR?</vt:lpstr>
      <vt:lpstr>Onlar  her yerdeler!!!</vt:lpstr>
      <vt:lpstr> Bakteriler hemen hemen her yerde yaşarlar </vt:lpstr>
      <vt:lpstr>Buna rağmen, bakterilerin sebep olduğu çok sayıda hastalık vardır</vt:lpstr>
      <vt:lpstr>Bakterileri öldürmek için antibiyotik kullanırız</vt:lpstr>
      <vt:lpstr>Hızlı evrimleşebilirler</vt:lpstr>
      <vt:lpstr>BAKTERİLER</vt:lpstr>
      <vt:lpstr>BAKTERİLERİN TANIMLANMASI</vt:lpstr>
      <vt:lpstr>BAKTERİLERİN TANIMLANMASI</vt:lpstr>
      <vt:lpstr>BAKTERİLERİN TANIMLANMASI</vt:lpstr>
      <vt:lpstr>Slayt 20</vt:lpstr>
      <vt:lpstr>TAKSONOMİ ~ SİSTEMATİK  NEDİR?</vt:lpstr>
      <vt:lpstr>TAKSONOMİ ~ SİSTEMATİK  NEDİR?</vt:lpstr>
      <vt:lpstr>Slayt 23</vt:lpstr>
      <vt:lpstr>BAKTERİLERİN İSİMLENDİRİLMESİNDEKİ KURALLAR </vt:lpstr>
      <vt:lpstr>BAKTERİLERİN İSİMLENDİRİLMESİNDEKİ KURALLAR </vt:lpstr>
      <vt:lpstr> İDENTİFİKASYON  NEDİR? </vt:lpstr>
      <vt:lpstr>BAKTERİ TANIMLANMASI NE DEMEK</vt:lpstr>
      <vt:lpstr>BAKTERİLERİN ÖZELLİKLERİ NELERDİR?</vt:lpstr>
      <vt:lpstr>BAKTERİLERİN ÖZELLİKLERİ NELERDİR? </vt:lpstr>
      <vt:lpstr>BAKTERİLERİN ÖZELLİKLERİ NELERDİR? </vt:lpstr>
      <vt:lpstr>BAKTERİLERİN ÖZELLİKLERİ NELERDİR? </vt:lpstr>
      <vt:lpstr>BAKTERİLERİN ÖZELLİKLERİ NELERDİR? </vt:lpstr>
      <vt:lpstr>Slayt 33</vt:lpstr>
      <vt:lpstr>Slayt 34</vt:lpstr>
      <vt:lpstr>Slayt 35</vt:lpstr>
      <vt:lpstr>Slayt 36</vt:lpstr>
      <vt:lpstr>1923’ten günümüze….. </vt:lpstr>
      <vt:lpstr>Slayt 38</vt:lpstr>
      <vt:lpstr>Slayt 39</vt:lpstr>
      <vt:lpstr>TÜR NEDİR?</vt:lpstr>
      <vt:lpstr>TÜR BİLİMSEL ANLAMDA BİZİM İÇİN ÖNEMLİ OLANDIR</vt:lpstr>
      <vt:lpstr>Slayt 42</vt:lpstr>
      <vt:lpstr>BİNOMİNAL (İKİLİ) ADLANDIRMA GENUS (CİNS)     TÜR</vt:lpstr>
      <vt:lpstr> SUŞ NEDİR?   TÜRÜN ÖZGÜL İZOLATIDIR  </vt:lpstr>
      <vt:lpstr>SUŞ NEDİR?</vt:lpstr>
      <vt:lpstr> SUŞ KAVRAMI TEMEL ÖZELLİKLER </vt:lpstr>
      <vt:lpstr>TIPTAKİ ÖNEMİ</vt:lpstr>
      <vt:lpstr>  PROKARYOTLARIN SINIFLANDIRILMASI TAKSONOMİK SIRA   </vt:lpstr>
      <vt:lpstr>TAKSONOMİK SIRA  ÖRNEK</vt:lpstr>
      <vt:lpstr>TAKSONOMİK SIRA  ÖRNEK</vt:lpstr>
      <vt:lpstr>Slayt 51</vt:lpstr>
      <vt:lpstr>Slayt 52</vt:lpstr>
      <vt:lpstr>Slayt 53</vt:lpstr>
      <vt:lpstr>Slayt 54</vt:lpstr>
      <vt:lpstr>Slayt 55</vt:lpstr>
      <vt:lpstr>Slayt 56</vt:lpstr>
      <vt:lpstr>BAKTERİLERİN TANIMLANMASI</vt:lpstr>
      <vt:lpstr>BAKTERİLERİN TANIMLANMASI</vt:lpstr>
      <vt:lpstr>Slayt 59</vt:lpstr>
      <vt:lpstr>GRAM BOYAMA</vt:lpstr>
      <vt:lpstr>GRAM BOYAMA</vt:lpstr>
      <vt:lpstr>Slayt 62</vt:lpstr>
      <vt:lpstr>Slayt 63</vt:lpstr>
      <vt:lpstr>Slayt 64</vt:lpstr>
      <vt:lpstr>Çift şekilde yan yana görülenler Örnek  Neisseria gonorrhoeae </vt:lpstr>
      <vt:lpstr> Zincir şeklinde görülenler Örnek       Streptococcus pneumoniae </vt:lpstr>
      <vt:lpstr>BASİLLER</vt:lpstr>
      <vt:lpstr>kokobasil-diplobasil  şeklinde görülenler Örnek  Brucella cinsi bakteriler</vt:lpstr>
      <vt:lpstr>Slayt 69</vt:lpstr>
      <vt:lpstr>Slayt 70</vt:lpstr>
      <vt:lpstr>Slayt 71</vt:lpstr>
      <vt:lpstr>SPİRAL BAKTERİLER</vt:lpstr>
      <vt:lpstr>Slayt 73</vt:lpstr>
      <vt:lpstr>Slayt 74</vt:lpstr>
      <vt:lpstr>  fusiform basil - mekik şeklinde görülenler Örnek    Fusobacterium fusiformis  </vt:lpstr>
      <vt:lpstr>Slayt 76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BAKTERİ GENETİĞİ</dc:title>
  <dc:creator>user</dc:creator>
  <cp:lastModifiedBy>tijen</cp:lastModifiedBy>
  <cp:revision>419</cp:revision>
  <dcterms:created xsi:type="dcterms:W3CDTF">2018-11-21T13:31:52Z</dcterms:created>
  <dcterms:modified xsi:type="dcterms:W3CDTF">2026-08-19T08:35:28Z</dcterms:modified>
</cp:coreProperties>
</file>