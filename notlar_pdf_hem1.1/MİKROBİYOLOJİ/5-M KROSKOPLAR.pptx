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00"/>
  </p:notesMasterIdLst>
  <p:sldIdLst>
    <p:sldId id="256" r:id="rId2"/>
    <p:sldId id="323" r:id="rId3"/>
    <p:sldId id="258" r:id="rId4"/>
    <p:sldId id="260" r:id="rId5"/>
    <p:sldId id="261" r:id="rId6"/>
    <p:sldId id="262" r:id="rId7"/>
    <p:sldId id="263" r:id="rId8"/>
    <p:sldId id="264" r:id="rId9"/>
    <p:sldId id="265" r:id="rId10"/>
    <p:sldId id="266" r:id="rId11"/>
    <p:sldId id="267" r:id="rId12"/>
    <p:sldId id="268" r:id="rId13"/>
    <p:sldId id="269" r:id="rId14"/>
    <p:sldId id="271" r:id="rId15"/>
    <p:sldId id="272" r:id="rId16"/>
    <p:sldId id="273" r:id="rId17"/>
    <p:sldId id="276" r:id="rId18"/>
    <p:sldId id="277" r:id="rId19"/>
    <p:sldId id="278" r:id="rId20"/>
    <p:sldId id="279" r:id="rId21"/>
    <p:sldId id="280" r:id="rId22"/>
    <p:sldId id="328" r:id="rId23"/>
    <p:sldId id="282" r:id="rId24"/>
    <p:sldId id="283" r:id="rId25"/>
    <p:sldId id="368" r:id="rId26"/>
    <p:sldId id="365" r:id="rId27"/>
    <p:sldId id="369" r:id="rId28"/>
    <p:sldId id="355" r:id="rId29"/>
    <p:sldId id="357" r:id="rId30"/>
    <p:sldId id="366" r:id="rId31"/>
    <p:sldId id="287" r:id="rId32"/>
    <p:sldId id="352" r:id="rId33"/>
    <p:sldId id="353" r:id="rId34"/>
    <p:sldId id="375" r:id="rId35"/>
    <p:sldId id="372" r:id="rId36"/>
    <p:sldId id="379" r:id="rId37"/>
    <p:sldId id="370" r:id="rId38"/>
    <p:sldId id="389" r:id="rId39"/>
    <p:sldId id="373" r:id="rId40"/>
    <p:sldId id="377" r:id="rId41"/>
    <p:sldId id="385" r:id="rId42"/>
    <p:sldId id="386" r:id="rId43"/>
    <p:sldId id="388" r:id="rId44"/>
    <p:sldId id="390" r:id="rId45"/>
    <p:sldId id="387" r:id="rId46"/>
    <p:sldId id="392" r:id="rId47"/>
    <p:sldId id="393" r:id="rId48"/>
    <p:sldId id="394" r:id="rId49"/>
    <p:sldId id="354" r:id="rId50"/>
    <p:sldId id="358" r:id="rId51"/>
    <p:sldId id="359" r:id="rId52"/>
    <p:sldId id="325" r:id="rId53"/>
    <p:sldId id="327" r:id="rId54"/>
    <p:sldId id="360" r:id="rId55"/>
    <p:sldId id="361" r:id="rId56"/>
    <p:sldId id="346" r:id="rId57"/>
    <p:sldId id="363" r:id="rId58"/>
    <p:sldId id="345" r:id="rId59"/>
    <p:sldId id="384" r:id="rId60"/>
    <p:sldId id="395" r:id="rId61"/>
    <p:sldId id="351" r:id="rId62"/>
    <p:sldId id="396" r:id="rId63"/>
    <p:sldId id="307" r:id="rId64"/>
    <p:sldId id="308" r:id="rId65"/>
    <p:sldId id="309" r:id="rId66"/>
    <p:sldId id="310" r:id="rId67"/>
    <p:sldId id="349" r:id="rId68"/>
    <p:sldId id="311" r:id="rId69"/>
    <p:sldId id="401" r:id="rId70"/>
    <p:sldId id="399" r:id="rId71"/>
    <p:sldId id="404" r:id="rId72"/>
    <p:sldId id="400" r:id="rId73"/>
    <p:sldId id="397" r:id="rId74"/>
    <p:sldId id="315" r:id="rId75"/>
    <p:sldId id="403" r:id="rId76"/>
    <p:sldId id="319" r:id="rId77"/>
    <p:sldId id="317" r:id="rId78"/>
    <p:sldId id="406" r:id="rId79"/>
    <p:sldId id="405" r:id="rId80"/>
    <p:sldId id="407" r:id="rId81"/>
    <p:sldId id="408" r:id="rId82"/>
    <p:sldId id="409" r:id="rId83"/>
    <p:sldId id="410" r:id="rId84"/>
    <p:sldId id="411" r:id="rId85"/>
    <p:sldId id="320" r:id="rId86"/>
    <p:sldId id="322" r:id="rId87"/>
    <p:sldId id="321" r:id="rId88"/>
    <p:sldId id="331" r:id="rId89"/>
    <p:sldId id="332" r:id="rId90"/>
    <p:sldId id="333" r:id="rId91"/>
    <p:sldId id="334" r:id="rId92"/>
    <p:sldId id="335" r:id="rId93"/>
    <p:sldId id="336" r:id="rId94"/>
    <p:sldId id="338" r:id="rId95"/>
    <p:sldId id="337" r:id="rId96"/>
    <p:sldId id="339" r:id="rId97"/>
    <p:sldId id="341" r:id="rId98"/>
    <p:sldId id="343" r:id="rId99"/>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709440-739C-4716-B5D7-C81FE0240A2E}" type="datetimeFigureOut">
              <a:rPr lang="tr-TR" smtClean="0"/>
              <a:pPr/>
              <a:t>19.08.2026</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9105D6-0E3B-4E43-882A-9EE74CDAF67C}"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miter lim="800000"/>
            <a:headEnd/>
            <a:tailEnd/>
          </a:ln>
        </p:spPr>
        <p:txBody>
          <a:bodyPr/>
          <a:lstStyle/>
          <a:p>
            <a:fld id="{60092E0D-ECB7-440B-B50E-BECAEFF4579D}" type="slidenum">
              <a:rPr lang="tr-TR" altLang="tr-TR" smtClean="0"/>
              <a:pPr/>
              <a:t>3</a:t>
            </a:fld>
            <a:endParaRPr lang="tr-TR" altLang="tr-TR"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miter lim="800000"/>
            <a:headEnd/>
            <a:tailEnd/>
          </a:ln>
        </p:spPr>
        <p:txBody>
          <a:bodyPr/>
          <a:lstStyle/>
          <a:p>
            <a:fld id="{1A9C4286-D762-46BB-B50A-4240BF5D43F4}" type="slidenum">
              <a:rPr lang="tr-TR" altLang="tr-TR" smtClean="0"/>
              <a:pPr/>
              <a:t>4</a:t>
            </a:fld>
            <a:endParaRPr lang="tr-TR" altLang="tr-TR"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miter lim="800000"/>
            <a:headEnd/>
            <a:tailEnd/>
          </a:ln>
        </p:spPr>
        <p:txBody>
          <a:bodyPr/>
          <a:lstStyle/>
          <a:p>
            <a:fld id="{45668984-2FFF-46C9-ABC5-4E29F14EAF5B}" type="slidenum">
              <a:rPr lang="tr-TR" altLang="tr-TR" smtClean="0"/>
              <a:pPr/>
              <a:t>5</a:t>
            </a:fld>
            <a:endParaRPr lang="tr-TR" altLang="tr-TR" smtClean="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miter lim="800000"/>
            <a:headEnd/>
            <a:tailEnd/>
          </a:ln>
        </p:spPr>
        <p:txBody>
          <a:bodyPr/>
          <a:lstStyle/>
          <a:p>
            <a:fld id="{132C6509-CC9F-4581-8E2B-D73F7771E8FB}" type="slidenum">
              <a:rPr lang="tr-TR" altLang="tr-TR" smtClean="0"/>
              <a:pPr/>
              <a:t>6</a:t>
            </a:fld>
            <a:endParaRPr lang="tr-TR" altLang="tr-TR"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endParaRPr lang="tr-TR" altLang="tr-TR"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miter lim="800000"/>
            <a:headEnd/>
            <a:tailEnd/>
          </a:ln>
        </p:spPr>
        <p:txBody>
          <a:bodyPr/>
          <a:lstStyle/>
          <a:p>
            <a:fld id="{647341CD-5C5F-461D-862A-190D0C46BD15}" type="slidenum">
              <a:rPr lang="tr-TR" altLang="tr-TR" smtClean="0"/>
              <a:pPr/>
              <a:t>7</a:t>
            </a:fld>
            <a:endParaRPr lang="tr-TR" altLang="tr-TR"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miter lim="800000"/>
            <a:headEnd/>
            <a:tailEnd/>
          </a:ln>
        </p:spPr>
        <p:txBody>
          <a:bodyPr/>
          <a:lstStyle/>
          <a:p>
            <a:fld id="{5CE9303D-3526-4B09-88A2-DC5CB937B124}" type="slidenum">
              <a:rPr lang="tr-TR" altLang="tr-TR" smtClean="0"/>
              <a:pPr/>
              <a:t>8</a:t>
            </a:fld>
            <a:endParaRPr lang="tr-TR" altLang="tr-TR"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miter lim="800000"/>
            <a:headEnd/>
            <a:tailEnd/>
          </a:ln>
        </p:spPr>
        <p:txBody>
          <a:bodyPr/>
          <a:lstStyle/>
          <a:p>
            <a:fld id="{62D1FAD9-208A-41E5-9CA4-3A7F6A3BC551}" type="slidenum">
              <a:rPr lang="tr-TR" altLang="tr-TR" smtClean="0"/>
              <a:pPr/>
              <a:t>9</a:t>
            </a:fld>
            <a:endParaRPr lang="tr-TR" altLang="tr-TR" smtClean="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miter lim="800000"/>
            <a:headEnd/>
            <a:tailEnd/>
          </a:ln>
        </p:spPr>
        <p:txBody>
          <a:bodyPr/>
          <a:lstStyle/>
          <a:p>
            <a:fld id="{BD941D5B-43D6-47B4-B8D1-469EDF7CF8C2}" type="slidenum">
              <a:rPr lang="tr-TR" altLang="tr-TR" smtClean="0"/>
              <a:pPr/>
              <a:t>10</a:t>
            </a:fld>
            <a:endParaRPr lang="tr-TR" altLang="tr-TR" smtClean="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miter lim="800000"/>
            <a:headEnd/>
            <a:tailEnd/>
          </a:ln>
        </p:spPr>
        <p:txBody>
          <a:bodyPr/>
          <a:lstStyle/>
          <a:p>
            <a:fld id="{9CA8AC2C-49AB-493F-889F-59091658FFAC}" type="slidenum">
              <a:rPr lang="tr-TR" altLang="tr-TR" smtClean="0"/>
              <a:pPr/>
              <a:t>11</a:t>
            </a:fld>
            <a:endParaRPr lang="tr-TR" altLang="tr-TR" smtClean="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miter lim="800000"/>
            <a:headEnd/>
            <a:tailEnd/>
          </a:ln>
        </p:spPr>
        <p:txBody>
          <a:bodyPr/>
          <a:lstStyle/>
          <a:p>
            <a:fld id="{B6BFB0A1-048B-4609-B8BC-58C9A7935BE8}" type="slidenum">
              <a:rPr lang="tr-TR" altLang="tr-TR" smtClean="0"/>
              <a:pPr/>
              <a:t>12</a:t>
            </a:fld>
            <a:endParaRPr lang="tr-TR" altLang="tr-TR" smtClean="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miter lim="800000"/>
            <a:headEnd/>
            <a:tailEnd/>
          </a:ln>
        </p:spPr>
        <p:txBody>
          <a:bodyPr/>
          <a:lstStyle/>
          <a:p>
            <a:fld id="{5B6FCE1A-995D-40BB-9F68-5BCF3183B939}" type="slidenum">
              <a:rPr lang="tr-TR" altLang="tr-TR" smtClean="0"/>
              <a:pPr/>
              <a:t>13</a:t>
            </a:fld>
            <a:endParaRPr lang="tr-TR" altLang="tr-TR"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miter lim="800000"/>
            <a:headEnd/>
            <a:tailEnd/>
          </a:ln>
        </p:spPr>
        <p:txBody>
          <a:bodyPr/>
          <a:lstStyle/>
          <a:p>
            <a:fld id="{44792E91-D86E-46C9-8BC3-F3794321DE2B}" type="slidenum">
              <a:rPr lang="tr-TR" altLang="tr-TR" smtClean="0"/>
              <a:pPr/>
              <a:t>14</a:t>
            </a:fld>
            <a:endParaRPr lang="tr-TR" altLang="tr-TR" smtClean="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miter lim="800000"/>
            <a:headEnd/>
            <a:tailEnd/>
          </a:ln>
        </p:spPr>
        <p:txBody>
          <a:bodyPr/>
          <a:lstStyle/>
          <a:p>
            <a:fld id="{9A01F5B4-FCF3-428A-9527-E848D18DFBD9}" type="slidenum">
              <a:rPr lang="tr-TR" altLang="tr-TR" smtClean="0"/>
              <a:pPr/>
              <a:t>15</a:t>
            </a:fld>
            <a:endParaRPr lang="tr-TR" altLang="tr-TR" smtClean="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miter lim="800000"/>
            <a:headEnd/>
            <a:tailEnd/>
          </a:ln>
        </p:spPr>
        <p:txBody>
          <a:bodyPr/>
          <a:lstStyle/>
          <a:p>
            <a:fld id="{4819DB41-EF00-49D1-AA8A-0C5223E07824}" type="slidenum">
              <a:rPr lang="tr-TR" altLang="tr-TR" smtClean="0"/>
              <a:pPr/>
              <a:t>16</a:t>
            </a:fld>
            <a:endParaRPr lang="tr-TR" altLang="tr-TR"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miter lim="800000"/>
            <a:headEnd/>
            <a:tailEnd/>
          </a:ln>
        </p:spPr>
        <p:txBody>
          <a:bodyPr/>
          <a:lstStyle/>
          <a:p>
            <a:fld id="{25742D19-D80F-4880-A23D-D1CC475298E0}" type="slidenum">
              <a:rPr lang="tr-TR" altLang="tr-TR" smtClean="0"/>
              <a:pPr/>
              <a:t>17</a:t>
            </a:fld>
            <a:endParaRPr lang="tr-TR" altLang="tr-TR" smtClean="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miter lim="800000"/>
            <a:headEnd/>
            <a:tailEnd/>
          </a:ln>
        </p:spPr>
        <p:txBody>
          <a:bodyPr/>
          <a:lstStyle/>
          <a:p>
            <a:fld id="{1F2FD58B-26D2-4116-B65D-12F5E5D25568}" type="slidenum">
              <a:rPr lang="tr-TR" altLang="tr-TR" smtClean="0"/>
              <a:pPr/>
              <a:t>18</a:t>
            </a:fld>
            <a:endParaRPr lang="tr-TR" altLang="tr-TR" smtClean="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miter lim="800000"/>
            <a:headEnd/>
            <a:tailEnd/>
          </a:ln>
        </p:spPr>
        <p:txBody>
          <a:bodyPr/>
          <a:lstStyle/>
          <a:p>
            <a:fld id="{68E47249-A732-433C-A670-BCB88C6BD958}" type="slidenum">
              <a:rPr lang="tr-TR" altLang="tr-TR" smtClean="0"/>
              <a:pPr/>
              <a:t>19</a:t>
            </a:fld>
            <a:endParaRPr lang="tr-TR" altLang="tr-TR" smtClean="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miter lim="800000"/>
            <a:headEnd/>
            <a:tailEnd/>
          </a:ln>
        </p:spPr>
        <p:txBody>
          <a:bodyPr/>
          <a:lstStyle/>
          <a:p>
            <a:fld id="{15A8D593-1A7F-4FB1-B020-9DB7FE28F802}" type="slidenum">
              <a:rPr lang="tr-TR" altLang="tr-TR" smtClean="0"/>
              <a:pPr/>
              <a:t>20</a:t>
            </a:fld>
            <a:endParaRPr lang="tr-TR" altLang="tr-TR" smtClean="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miter lim="800000"/>
            <a:headEnd/>
            <a:tailEnd/>
          </a:ln>
        </p:spPr>
        <p:txBody>
          <a:bodyPr/>
          <a:lstStyle/>
          <a:p>
            <a:fld id="{641C68D1-EF01-42BA-A3B2-C917C8FBE0F2}" type="slidenum">
              <a:rPr lang="tr-TR" altLang="tr-TR" smtClean="0"/>
              <a:pPr/>
              <a:t>21</a:t>
            </a:fld>
            <a:endParaRPr lang="tr-TR" altLang="tr-TR" smtClean="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miter lim="800000"/>
            <a:headEnd/>
            <a:tailEnd/>
          </a:ln>
        </p:spPr>
        <p:txBody>
          <a:bodyPr/>
          <a:lstStyle/>
          <a:p>
            <a:fld id="{11621DBA-AB7E-4207-9FA3-5699ED4D335B}" type="slidenum">
              <a:rPr lang="tr-TR" altLang="tr-TR" smtClean="0"/>
              <a:pPr/>
              <a:t>23</a:t>
            </a:fld>
            <a:endParaRPr lang="tr-TR" altLang="tr-TR" smtClean="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miter lim="800000"/>
            <a:headEnd/>
            <a:tailEnd/>
          </a:ln>
        </p:spPr>
        <p:txBody>
          <a:bodyPr/>
          <a:lstStyle/>
          <a:p>
            <a:fld id="{D336A897-966D-4690-88AA-7E58AD6D5054}" type="slidenum">
              <a:rPr lang="tr-TR" altLang="tr-TR" smtClean="0"/>
              <a:pPr/>
              <a:t>24</a:t>
            </a:fld>
            <a:endParaRPr lang="tr-TR" altLang="tr-TR" smtClean="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miter lim="800000"/>
            <a:headEnd/>
            <a:tailEnd/>
          </a:ln>
        </p:spPr>
        <p:txBody>
          <a:bodyPr/>
          <a:lstStyle/>
          <a:p>
            <a:fld id="{FA2485DD-04F9-4922-9D74-4787C0E3F693}" type="slidenum">
              <a:rPr lang="tr-TR" altLang="tr-TR" smtClean="0"/>
              <a:pPr/>
              <a:t>26</a:t>
            </a:fld>
            <a:endParaRPr lang="tr-TR" altLang="tr-TR" smtClean="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miter lim="800000"/>
            <a:headEnd/>
            <a:tailEnd/>
          </a:ln>
        </p:spPr>
        <p:txBody>
          <a:bodyPr/>
          <a:lstStyle/>
          <a:p>
            <a:fld id="{F4CD0F44-4986-48BA-89AD-7EF69455D8DC}" type="slidenum">
              <a:rPr lang="tr-TR" altLang="tr-TR" smtClean="0"/>
              <a:pPr/>
              <a:t>31</a:t>
            </a:fld>
            <a:endParaRPr lang="tr-TR" altLang="tr-TR" smtClean="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miter lim="800000"/>
            <a:headEnd/>
            <a:tailEnd/>
          </a:ln>
        </p:spPr>
        <p:txBody>
          <a:bodyPr/>
          <a:lstStyle/>
          <a:p>
            <a:fld id="{0D673007-9FF8-4DBF-A17B-F2483FD8E591}" type="slidenum">
              <a:rPr lang="tr-TR" altLang="tr-TR" smtClean="0"/>
              <a:pPr/>
              <a:t>36</a:t>
            </a:fld>
            <a:endParaRPr lang="tr-TR" altLang="tr-TR" smtClean="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miter lim="800000"/>
            <a:headEnd/>
            <a:tailEnd/>
          </a:ln>
        </p:spPr>
        <p:txBody>
          <a:bodyPr/>
          <a:lstStyle/>
          <a:p>
            <a:fld id="{A62E629A-0F13-403E-BF3F-86A7E5F263B7}" type="slidenum">
              <a:rPr lang="tr-TR" altLang="tr-TR" smtClean="0"/>
              <a:pPr/>
              <a:t>37</a:t>
            </a:fld>
            <a:endParaRPr lang="tr-TR" altLang="tr-TR" smtClean="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miter lim="800000"/>
            <a:headEnd/>
            <a:tailEnd/>
          </a:ln>
        </p:spPr>
        <p:txBody>
          <a:bodyPr/>
          <a:lstStyle/>
          <a:p>
            <a:fld id="{F62BBE39-F041-4354-BC44-9E6D0D0028BE}" type="slidenum">
              <a:rPr lang="tr-TR" altLang="tr-TR" smtClean="0"/>
              <a:pPr/>
              <a:t>40</a:t>
            </a:fld>
            <a:endParaRPr lang="tr-TR" altLang="tr-TR" smtClean="0"/>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miter lim="800000"/>
            <a:headEnd/>
            <a:tailEnd/>
          </a:ln>
        </p:spPr>
        <p:txBody>
          <a:bodyPr/>
          <a:lstStyle/>
          <a:p>
            <a:fld id="{5CE47E42-1521-4582-954C-CC82BF570557}" type="slidenum">
              <a:rPr lang="tr-TR" altLang="tr-TR" smtClean="0"/>
              <a:pPr/>
              <a:t>46</a:t>
            </a:fld>
            <a:endParaRPr lang="tr-TR" altLang="tr-TR" smtClean="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miter lim="800000"/>
            <a:headEnd/>
            <a:tailEnd/>
          </a:ln>
        </p:spPr>
        <p:txBody>
          <a:bodyPr/>
          <a:lstStyle/>
          <a:p>
            <a:fld id="{ED18D288-4F64-4219-9598-172BCF7032AC}" type="slidenum">
              <a:rPr lang="tr-TR" altLang="tr-TR" smtClean="0"/>
              <a:pPr/>
              <a:t>48</a:t>
            </a:fld>
            <a:endParaRPr lang="tr-TR" altLang="tr-TR" smtClean="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miter lim="800000"/>
            <a:headEnd/>
            <a:tailEnd/>
          </a:ln>
        </p:spPr>
        <p:txBody>
          <a:bodyPr/>
          <a:lstStyle/>
          <a:p>
            <a:fld id="{C58602B6-B58E-4734-B569-17DC8337D6A6}" type="slidenum">
              <a:rPr lang="tr-TR" altLang="tr-TR" smtClean="0"/>
              <a:pPr/>
              <a:t>57</a:t>
            </a:fld>
            <a:endParaRPr lang="tr-TR" altLang="tr-TR" smtClean="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miter lim="800000"/>
            <a:headEnd/>
            <a:tailEnd/>
          </a:ln>
        </p:spPr>
        <p:txBody>
          <a:bodyPr/>
          <a:lstStyle/>
          <a:p>
            <a:fld id="{41B58DBF-31B3-4528-AE02-19519CAFB5DD}" type="slidenum">
              <a:rPr lang="tr-TR" altLang="tr-TR" smtClean="0"/>
              <a:pPr/>
              <a:t>59</a:t>
            </a:fld>
            <a:endParaRPr lang="tr-TR" altLang="tr-TR" smtClean="0"/>
          </a:p>
        </p:txBody>
      </p:sp>
      <p:sp>
        <p:nvSpPr>
          <p:cNvPr id="165891" name="Rectangle 2"/>
          <p:cNvSpPr>
            <a:spLocks noGrp="1" noRot="1" noChangeAspect="1" noChangeArrowheads="1" noTextEdit="1"/>
          </p:cNvSpPr>
          <p:nvPr>
            <p:ph type="sldImg"/>
          </p:nvPr>
        </p:nvSpPr>
        <p:spPr>
          <a:xfrm>
            <a:off x="1143000" y="685800"/>
            <a:ext cx="4573588" cy="3429000"/>
          </a:xfrm>
          <a:ln/>
        </p:spPr>
      </p:sp>
      <p:sp>
        <p:nvSpPr>
          <p:cNvPr id="165892" name="Rectangle 3"/>
          <p:cNvSpPr>
            <a:spLocks noGrp="1" noChangeArrowheads="1"/>
          </p:cNvSpPr>
          <p:nvPr>
            <p:ph type="body" idx="1"/>
          </p:nvPr>
        </p:nvSpPr>
        <p:spPr>
          <a:xfrm>
            <a:off x="685800" y="4343363"/>
            <a:ext cx="5486400" cy="4115483"/>
          </a:xfrm>
          <a:noFill/>
        </p:spPr>
        <p:txBody>
          <a:bodyPr/>
          <a:lstStyle/>
          <a:p>
            <a:pPr eaLnBrk="1" hangingPunct="1"/>
            <a:endParaRPr lang="tr-TR" altLang="tr-TR"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miter lim="800000"/>
            <a:headEnd/>
            <a:tailEnd/>
          </a:ln>
        </p:spPr>
        <p:txBody>
          <a:bodyPr/>
          <a:lstStyle/>
          <a:p>
            <a:fld id="{7C8EC548-9465-4D08-A1A8-39DB70B0210C}" type="slidenum">
              <a:rPr lang="tr-TR" altLang="tr-TR" smtClean="0"/>
              <a:pPr/>
              <a:t>63</a:t>
            </a:fld>
            <a:endParaRPr lang="tr-TR" altLang="tr-TR" smtClean="0"/>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miter lim="800000"/>
            <a:headEnd/>
            <a:tailEnd/>
          </a:ln>
        </p:spPr>
        <p:txBody>
          <a:bodyPr/>
          <a:lstStyle/>
          <a:p>
            <a:fld id="{F1130188-4991-4E96-9F3E-9E13FD6397E8}" type="slidenum">
              <a:rPr lang="tr-TR" altLang="tr-TR" smtClean="0"/>
              <a:pPr/>
              <a:t>64</a:t>
            </a:fld>
            <a:endParaRPr lang="tr-TR" altLang="tr-TR" smtClean="0"/>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miter lim="800000"/>
            <a:headEnd/>
            <a:tailEnd/>
          </a:ln>
        </p:spPr>
        <p:txBody>
          <a:bodyPr/>
          <a:lstStyle/>
          <a:p>
            <a:fld id="{F92D0385-FCCE-4477-A631-B400D94BE5BA}" type="slidenum">
              <a:rPr lang="tr-TR" altLang="tr-TR" smtClean="0"/>
              <a:pPr/>
              <a:t>65</a:t>
            </a:fld>
            <a:endParaRPr lang="tr-TR" altLang="tr-TR" smtClean="0"/>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miter lim="800000"/>
            <a:headEnd/>
            <a:tailEnd/>
          </a:ln>
        </p:spPr>
        <p:txBody>
          <a:bodyPr/>
          <a:lstStyle/>
          <a:p>
            <a:fld id="{16C3B310-801F-4D6C-B306-D98D8038AC10}" type="slidenum">
              <a:rPr lang="tr-TR" altLang="tr-TR" smtClean="0"/>
              <a:pPr/>
              <a:t>66</a:t>
            </a:fld>
            <a:endParaRPr lang="tr-TR" altLang="tr-TR" smtClean="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miter lim="800000"/>
            <a:headEnd/>
            <a:tailEnd/>
          </a:ln>
        </p:spPr>
        <p:txBody>
          <a:bodyPr/>
          <a:lstStyle/>
          <a:p>
            <a:fld id="{989D0E39-975A-47C8-9E1C-09BEC7847F1C}" type="slidenum">
              <a:rPr lang="tr-TR" altLang="tr-TR" smtClean="0"/>
              <a:pPr/>
              <a:t>68</a:t>
            </a:fld>
            <a:endParaRPr lang="tr-TR" altLang="tr-TR" smtClean="0"/>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p:spPr>
        <p:txBody>
          <a:bodyPr/>
          <a:lstStyle/>
          <a:p>
            <a:pPr eaLnBrk="1" hangingPunct="1"/>
            <a:endParaRPr lang="tr-TR" altLang="tr-T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B928FFA-C736-4EFC-A1EA-A8AE1BF96330}" type="datetimeFigureOut">
              <a:rPr lang="tr-TR" smtClean="0"/>
              <a:pPr/>
              <a:t>19.08.2026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E8F575E7-FE8F-4F31-B36F-5AAA16A96D2C}" type="slidenum">
              <a:rPr lang="tr-TR" smtClean="0"/>
              <a:pPr/>
              <a:t>‹#›</a:t>
            </a:fld>
            <a:endParaRPr lang="tr-T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Başlık, İçerik ve Metin">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495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648200" y="1600200"/>
            <a:ext cx="4038600" cy="4495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Rectangle 7"/>
          <p:cNvSpPr>
            <a:spLocks noGrp="1" noChangeArrowheads="1"/>
          </p:cNvSpPr>
          <p:nvPr>
            <p:ph type="dt" sz="half" idx="10"/>
          </p:nvPr>
        </p:nvSpPr>
        <p:spPr>
          <a:ln/>
        </p:spPr>
        <p:txBody>
          <a:bodyPr/>
          <a:lstStyle>
            <a:lvl1pPr>
              <a:defRPr/>
            </a:lvl1pPr>
          </a:lstStyle>
          <a:p>
            <a:pPr>
              <a:defRPr/>
            </a:pPr>
            <a:endParaRPr lang="tr-TR"/>
          </a:p>
        </p:txBody>
      </p:sp>
      <p:sp>
        <p:nvSpPr>
          <p:cNvPr id="6" name="Rectangle 8"/>
          <p:cNvSpPr>
            <a:spLocks noGrp="1" noChangeArrowheads="1"/>
          </p:cNvSpPr>
          <p:nvPr>
            <p:ph type="ftr" sz="quarter" idx="11"/>
          </p:nvPr>
        </p:nvSpPr>
        <p:spPr>
          <a:ln/>
        </p:spPr>
        <p:txBody>
          <a:bodyPr/>
          <a:lstStyle>
            <a:lvl1pPr>
              <a:defRPr/>
            </a:lvl1pPr>
          </a:lstStyle>
          <a:p>
            <a:pPr>
              <a:defRPr/>
            </a:pPr>
            <a:endParaRPr lang="tr-TR"/>
          </a:p>
        </p:txBody>
      </p:sp>
      <p:sp>
        <p:nvSpPr>
          <p:cNvPr id="7" name="Rectangle 9"/>
          <p:cNvSpPr>
            <a:spLocks noGrp="1" noChangeArrowheads="1"/>
          </p:cNvSpPr>
          <p:nvPr>
            <p:ph type="sldNum" sz="quarter" idx="12"/>
          </p:nvPr>
        </p:nvSpPr>
        <p:spPr>
          <a:ln/>
        </p:spPr>
        <p:txBody>
          <a:bodyPr/>
          <a:lstStyle>
            <a:lvl1pPr>
              <a:defRPr/>
            </a:lvl1pPr>
          </a:lstStyle>
          <a:p>
            <a:pPr>
              <a:defRPr/>
            </a:pPr>
            <a:fld id="{8CC29E85-1FD6-4824-85F5-DD3A12CF83AD}" type="slidenum">
              <a:rPr lang="tr-TR"/>
              <a:pPr>
                <a:defRPr/>
              </a:pPr>
              <a:t>‹#›</a:t>
            </a:fld>
            <a:endParaRPr lang="tr-T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p:spPr>
        <p:txBody>
          <a:bodyPr/>
          <a:lstStyle/>
          <a:p>
            <a:r>
              <a:rPr lang="tr-TR" smtClean="0"/>
              <a:t>Asıl başlık stili için tıklatın</a:t>
            </a:r>
            <a:endParaRPr lang="tr-TR"/>
          </a:p>
        </p:txBody>
      </p:sp>
      <p:sp>
        <p:nvSpPr>
          <p:cNvPr id="3" name="Metin Yer Tutucusu 2"/>
          <p:cNvSpPr>
            <a:spLocks noGrp="1"/>
          </p:cNvSpPr>
          <p:nvPr>
            <p:ph type="body" sz="half" idx="1"/>
          </p:nvPr>
        </p:nvSpPr>
        <p:spPr>
          <a:xfrm>
            <a:off x="457200" y="1600200"/>
            <a:ext cx="4038600" cy="4495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495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Rectangle 7"/>
          <p:cNvSpPr>
            <a:spLocks noGrp="1" noChangeArrowheads="1"/>
          </p:cNvSpPr>
          <p:nvPr>
            <p:ph type="dt" sz="half" idx="10"/>
          </p:nvPr>
        </p:nvSpPr>
        <p:spPr>
          <a:ln/>
        </p:spPr>
        <p:txBody>
          <a:bodyPr/>
          <a:lstStyle>
            <a:lvl1pPr>
              <a:defRPr/>
            </a:lvl1pPr>
          </a:lstStyle>
          <a:p>
            <a:pPr>
              <a:defRPr/>
            </a:pPr>
            <a:endParaRPr lang="tr-TR"/>
          </a:p>
        </p:txBody>
      </p:sp>
      <p:sp>
        <p:nvSpPr>
          <p:cNvPr id="6" name="Rectangle 8"/>
          <p:cNvSpPr>
            <a:spLocks noGrp="1" noChangeArrowheads="1"/>
          </p:cNvSpPr>
          <p:nvPr>
            <p:ph type="ftr" sz="quarter" idx="11"/>
          </p:nvPr>
        </p:nvSpPr>
        <p:spPr>
          <a:ln/>
        </p:spPr>
        <p:txBody>
          <a:bodyPr/>
          <a:lstStyle>
            <a:lvl1pPr>
              <a:defRPr/>
            </a:lvl1pPr>
          </a:lstStyle>
          <a:p>
            <a:pPr>
              <a:defRPr/>
            </a:pPr>
            <a:endParaRPr lang="tr-TR"/>
          </a:p>
        </p:txBody>
      </p:sp>
      <p:sp>
        <p:nvSpPr>
          <p:cNvPr id="7" name="Rectangle 9"/>
          <p:cNvSpPr>
            <a:spLocks noGrp="1" noChangeArrowheads="1"/>
          </p:cNvSpPr>
          <p:nvPr>
            <p:ph type="sldNum" sz="quarter" idx="12"/>
          </p:nvPr>
        </p:nvSpPr>
        <p:spPr>
          <a:ln/>
        </p:spPr>
        <p:txBody>
          <a:bodyPr/>
          <a:lstStyle>
            <a:lvl1pPr>
              <a:defRPr/>
            </a:lvl1pPr>
          </a:lstStyle>
          <a:p>
            <a:pPr>
              <a:defRPr/>
            </a:pPr>
            <a:fld id="{B8F44ECE-3A2A-4405-A079-76F7A8ECA0B1}" type="slidenum">
              <a:rPr lang="tr-TR"/>
              <a:pPr>
                <a:defRPr/>
              </a:pPr>
              <a:t>‹#›</a:t>
            </a:fld>
            <a:endParaRPr lang="tr-T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Başlık, Metin ve 2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p:spPr>
        <p:txBody>
          <a:bodyPr/>
          <a:lstStyle/>
          <a:p>
            <a:r>
              <a:rPr lang="tr-TR" smtClean="0"/>
              <a:t>Asıl başlık stili için tıklatın</a:t>
            </a:r>
            <a:endParaRPr lang="tr-TR"/>
          </a:p>
        </p:txBody>
      </p:sp>
      <p:sp>
        <p:nvSpPr>
          <p:cNvPr id="3" name="Metin Yer Tutucusu 2"/>
          <p:cNvSpPr>
            <a:spLocks noGrp="1"/>
          </p:cNvSpPr>
          <p:nvPr>
            <p:ph type="body" sz="half" idx="1"/>
          </p:nvPr>
        </p:nvSpPr>
        <p:spPr>
          <a:xfrm>
            <a:off x="457200" y="1600200"/>
            <a:ext cx="4038600" cy="4495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quarter" idx="2"/>
          </p:nvPr>
        </p:nvSpPr>
        <p:spPr>
          <a:xfrm>
            <a:off x="4648200" y="1600200"/>
            <a:ext cx="4038600" cy="21717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İçerik Yer Tutucusu 4"/>
          <p:cNvSpPr>
            <a:spLocks noGrp="1"/>
          </p:cNvSpPr>
          <p:nvPr>
            <p:ph sz="quarter" idx="3"/>
          </p:nvPr>
        </p:nvSpPr>
        <p:spPr>
          <a:xfrm>
            <a:off x="4648200" y="3924300"/>
            <a:ext cx="4038600" cy="21717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Rectangle 7"/>
          <p:cNvSpPr>
            <a:spLocks noGrp="1" noChangeArrowheads="1"/>
          </p:cNvSpPr>
          <p:nvPr>
            <p:ph type="dt" sz="half" idx="10"/>
          </p:nvPr>
        </p:nvSpPr>
        <p:spPr>
          <a:ln/>
        </p:spPr>
        <p:txBody>
          <a:bodyPr/>
          <a:lstStyle>
            <a:lvl1pPr>
              <a:defRPr/>
            </a:lvl1pPr>
          </a:lstStyle>
          <a:p>
            <a:pPr>
              <a:defRPr/>
            </a:pPr>
            <a:endParaRPr lang="tr-TR"/>
          </a:p>
        </p:txBody>
      </p:sp>
      <p:sp>
        <p:nvSpPr>
          <p:cNvPr id="7" name="Rectangle 8"/>
          <p:cNvSpPr>
            <a:spLocks noGrp="1" noChangeArrowheads="1"/>
          </p:cNvSpPr>
          <p:nvPr>
            <p:ph type="ftr" sz="quarter" idx="11"/>
          </p:nvPr>
        </p:nvSpPr>
        <p:spPr>
          <a:ln/>
        </p:spPr>
        <p:txBody>
          <a:bodyPr/>
          <a:lstStyle>
            <a:lvl1pPr>
              <a:defRPr/>
            </a:lvl1pPr>
          </a:lstStyle>
          <a:p>
            <a:pPr>
              <a:defRPr/>
            </a:pPr>
            <a:endParaRPr lang="tr-TR"/>
          </a:p>
        </p:txBody>
      </p:sp>
      <p:sp>
        <p:nvSpPr>
          <p:cNvPr id="8" name="Rectangle 9"/>
          <p:cNvSpPr>
            <a:spLocks noGrp="1" noChangeArrowheads="1"/>
          </p:cNvSpPr>
          <p:nvPr>
            <p:ph type="sldNum" sz="quarter" idx="12"/>
          </p:nvPr>
        </p:nvSpPr>
        <p:spPr>
          <a:ln/>
        </p:spPr>
        <p:txBody>
          <a:bodyPr/>
          <a:lstStyle>
            <a:lvl1pPr>
              <a:defRPr/>
            </a:lvl1pPr>
          </a:lstStyle>
          <a:p>
            <a:pPr>
              <a:defRPr/>
            </a:pPr>
            <a:fld id="{749ECF54-3F67-42D1-8AAD-36A024025D2E}" type="slidenum">
              <a:rPr lang="tr-TR"/>
              <a:pPr>
                <a:defRPr/>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928FFA-C736-4EFC-A1EA-A8AE1BF96330}" type="datetimeFigureOut">
              <a:rPr lang="tr-TR" smtClean="0"/>
              <a:pPr/>
              <a:t>19.08.2026</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F575E7-FE8F-4F31-B36F-5AAA16A96D2C}"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5" r:id="rId12"/>
    <p:sldLayoutId id="2147483727" r:id="rId13"/>
    <p:sldLayoutId id="2147483728"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wmf"/><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hyperlink" Target="http://en.wikipedia.org/wiki/Image:Compound_microscope_john_cuff_1750.jp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5.jpeg"/><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9.jpeg"/><Relationship Id="rId4" Type="http://schemas.openxmlformats.org/officeDocument/2006/relationships/image" Target="../media/image25.jpeg"/></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5.jpeg"/></Relationships>
</file>

<file path=ppt/slides/_rels/slide3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50.jpeg"/><Relationship Id="rId5" Type="http://schemas.openxmlformats.org/officeDocument/2006/relationships/image" Target="../media/image49.wmf"/><Relationship Id="rId4" Type="http://schemas.openxmlformats.org/officeDocument/2006/relationships/image" Target="../media/image2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 Id="rId4" Type="http://schemas.openxmlformats.org/officeDocument/2006/relationships/image" Target="../media/image56.jpeg"/></Relationships>
</file>

<file path=ppt/slides/_rels/slide4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70.jpeg"/></Relationships>
</file>

<file path=ppt/slides/_rels/slide6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73.jpeg"/><Relationship Id="rId4" Type="http://schemas.openxmlformats.org/officeDocument/2006/relationships/image" Target="../media/image72.jpeg"/></Relationships>
</file>

<file path=ppt/slides/_rels/slide6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76.jpeg"/><Relationship Id="rId4" Type="http://schemas.openxmlformats.org/officeDocument/2006/relationships/image" Target="../media/image75.jpeg"/></Relationships>
</file>

<file path=ppt/slides/_rels/slide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image" Target="../media/image78.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1.jpeg"/><Relationship Id="rId7" Type="http://schemas.openxmlformats.org/officeDocument/2006/relationships/image" Target="../media/image85.jpe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82.jpeg"/></Relationships>
</file>

<file path=ppt/slides/_rels/slide6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hyperlink" Target="https://tr.wikipedia.org/wiki/Mercek" TargetMode="External"/><Relationship Id="rId3" Type="http://schemas.openxmlformats.org/officeDocument/2006/relationships/hyperlink" Target="https://tr.wikipedia.org/wiki/I%C5%9F%C4%B1k_mikroskobu" TargetMode="External"/><Relationship Id="rId7" Type="http://schemas.openxmlformats.org/officeDocument/2006/relationships/hyperlink" Target="https://tr.wikipedia.org/wiki/Elektromanyetik" TargetMode="External"/><Relationship Id="rId2" Type="http://schemas.openxmlformats.org/officeDocument/2006/relationships/hyperlink" Target="https://tr.wikipedia.org/wiki/Elektron" TargetMode="External"/><Relationship Id="rId1" Type="http://schemas.openxmlformats.org/officeDocument/2006/relationships/slideLayout" Target="../slideLayouts/slideLayout7.xml"/><Relationship Id="rId6" Type="http://schemas.openxmlformats.org/officeDocument/2006/relationships/hyperlink" Target="https://tr.wikipedia.org/wiki/Mikroorganizma" TargetMode="External"/><Relationship Id="rId5" Type="http://schemas.openxmlformats.org/officeDocument/2006/relationships/hyperlink" Target="https://tr.wikipedia.org/wiki/Vir%C3%BCsler" TargetMode="External"/><Relationship Id="rId10" Type="http://schemas.openxmlformats.org/officeDocument/2006/relationships/hyperlink" Target="https://tr.wikipedia.org/wiki/Nanometre" TargetMode="External"/><Relationship Id="rId4" Type="http://schemas.openxmlformats.org/officeDocument/2006/relationships/hyperlink" Target="https://tr.wikipedia.org/wiki/Mikroskop" TargetMode="External"/><Relationship Id="rId9" Type="http://schemas.openxmlformats.org/officeDocument/2006/relationships/hyperlink" Target="https://tr.wikipedia.org/wiki/Mikrometre" TargetMode="External"/></Relationships>
</file>

<file path=ppt/slides/_rels/slide7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idx="4294967295"/>
          </p:nvPr>
        </p:nvSpPr>
        <p:spPr>
          <a:xfrm>
            <a:off x="1475656" y="1557338"/>
            <a:ext cx="5976664" cy="2043112"/>
          </a:xfrm>
        </p:spPr>
        <p:txBody>
          <a:bodyPr>
            <a:normAutofit/>
          </a:bodyPr>
          <a:lstStyle/>
          <a:p>
            <a:r>
              <a:rPr lang="tr-TR" sz="6000" b="1" dirty="0" smtClean="0">
                <a:solidFill>
                  <a:srgbClr val="FF0000"/>
                </a:solidFill>
              </a:rPr>
              <a:t>MİKROSKOPLAR</a:t>
            </a:r>
            <a:endParaRPr lang="tr-TR" sz="6000" b="1"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C:\Users\user\Desktop\5201000.jpg"/>
          <p:cNvPicPr>
            <a:picLocks noGrp="1" noChangeAspect="1" noChangeArrowheads="1"/>
          </p:cNvPicPr>
          <p:nvPr>
            <p:ph idx="4294967295"/>
          </p:nvPr>
        </p:nvPicPr>
        <p:blipFill>
          <a:blip r:embed="rId2" cstate="print"/>
          <a:srcRect/>
          <a:stretch>
            <a:fillRect/>
          </a:stretch>
        </p:blipFill>
        <p:spPr bwMode="auto">
          <a:xfrm>
            <a:off x="4067944" y="692696"/>
            <a:ext cx="4525962" cy="5505450"/>
          </a:xfrm>
          <a:prstGeom prst="rect">
            <a:avLst/>
          </a:prstGeom>
          <a:noFill/>
        </p:spPr>
      </p:pic>
      <p:pic>
        <p:nvPicPr>
          <p:cNvPr id="110595" name="Picture 3" descr="C:\Users\user\Desktop\hd-digital-mikroskop-600x-zoom-43-tommer-hd-display.jpg"/>
          <p:cNvPicPr>
            <a:picLocks noChangeAspect="1" noChangeArrowheads="1"/>
          </p:cNvPicPr>
          <p:nvPr/>
        </p:nvPicPr>
        <p:blipFill>
          <a:blip r:embed="rId3" cstate="print"/>
          <a:srcRect/>
          <a:stretch>
            <a:fillRect/>
          </a:stretch>
        </p:blipFill>
        <p:spPr bwMode="auto">
          <a:xfrm>
            <a:off x="467544" y="404664"/>
            <a:ext cx="3672408" cy="576064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6" name="Rectangle 8"/>
          <p:cNvSpPr>
            <a:spLocks noChangeArrowheads="1"/>
          </p:cNvSpPr>
          <p:nvPr/>
        </p:nvSpPr>
        <p:spPr bwMode="auto">
          <a:xfrm>
            <a:off x="611560" y="620713"/>
            <a:ext cx="8208912" cy="649287"/>
          </a:xfrm>
          <a:prstGeom prst="rect">
            <a:avLst/>
          </a:prstGeom>
          <a:solidFill>
            <a:schemeClr val="hlink"/>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493570" name="Rectangle 2"/>
          <p:cNvSpPr>
            <a:spLocks noGrp="1" noChangeArrowheads="1"/>
          </p:cNvSpPr>
          <p:nvPr>
            <p:ph type="title" idx="4294967295"/>
          </p:nvPr>
        </p:nvSpPr>
        <p:spPr>
          <a:xfrm>
            <a:off x="914400" y="404813"/>
            <a:ext cx="7546032" cy="1143000"/>
          </a:xfrm>
        </p:spPr>
        <p:txBody>
          <a:bodyPr>
            <a:normAutofit/>
          </a:bodyPr>
          <a:lstStyle/>
          <a:p>
            <a:pPr eaLnBrk="1" hangingPunct="1">
              <a:defRPr/>
            </a:pPr>
            <a:r>
              <a:rPr lang="tr-TR" sz="4000" dirty="0" smtClean="0">
                <a:solidFill>
                  <a:srgbClr val="FFFF00"/>
                </a:solidFill>
                <a:effectLst>
                  <a:outerShdw blurRad="38100" dist="38100" dir="2700000" algn="tl">
                    <a:srgbClr val="000000"/>
                  </a:outerShdw>
                </a:effectLst>
              </a:rPr>
              <a:t>Niçin Mikroskop  Kullanıyoruz?</a:t>
            </a:r>
            <a:endParaRPr lang="tr-TR" sz="4000" dirty="0" smtClean="0">
              <a:solidFill>
                <a:srgbClr val="FFFF00"/>
              </a:solidFill>
              <a:effectLst>
                <a:outerShdw blurRad="38100" dist="38100" dir="2700000" algn="tl">
                  <a:srgbClr val="000000"/>
                </a:outerShdw>
              </a:effectLst>
              <a:latin typeface="Tempus Sans ITC" pitchFamily="82" charset="0"/>
            </a:endParaRPr>
          </a:p>
        </p:txBody>
      </p:sp>
      <p:sp>
        <p:nvSpPr>
          <p:cNvPr id="493571" name="Rectangle 3"/>
          <p:cNvSpPr>
            <a:spLocks noGrp="1" noChangeArrowheads="1"/>
          </p:cNvSpPr>
          <p:nvPr>
            <p:ph type="body" sz="half" idx="4294967295"/>
          </p:nvPr>
        </p:nvSpPr>
        <p:spPr>
          <a:xfrm>
            <a:off x="539552" y="1600200"/>
            <a:ext cx="3575248" cy="4495800"/>
          </a:xfrm>
        </p:spPr>
        <p:txBody>
          <a:bodyPr>
            <a:normAutofit/>
          </a:bodyPr>
          <a:lstStyle/>
          <a:p>
            <a:pPr eaLnBrk="1" hangingPunct="1">
              <a:defRPr/>
            </a:pPr>
            <a:r>
              <a:rPr lang="tr-TR" sz="2800" b="1" dirty="0" smtClean="0">
                <a:latin typeface="Tempus Sans ITC" pitchFamily="82" charset="0"/>
              </a:rPr>
              <a:t>Çıplak insan gözü;</a:t>
            </a:r>
          </a:p>
          <a:p>
            <a:pPr eaLnBrk="1" hangingPunct="1">
              <a:defRPr/>
            </a:pPr>
            <a:r>
              <a:rPr lang="tr-TR" sz="2800" b="1" dirty="0" smtClean="0">
                <a:latin typeface="Tempus Sans ITC" pitchFamily="82" charset="0"/>
              </a:rPr>
              <a:t>Cisimlere ancak ~25cm yaklaşabilir ve</a:t>
            </a:r>
          </a:p>
          <a:p>
            <a:pPr eaLnBrk="1" hangingPunct="1">
              <a:defRPr/>
            </a:pPr>
            <a:r>
              <a:rPr lang="tr-TR" sz="2800" b="1" dirty="0" smtClean="0">
                <a:latin typeface="Tempus Sans ITC" pitchFamily="82" charset="0"/>
              </a:rPr>
              <a:t>0.2 mm’den daha küçük cisimleri göremez.</a:t>
            </a:r>
          </a:p>
        </p:txBody>
      </p:sp>
      <p:pic>
        <p:nvPicPr>
          <p:cNvPr id="9221" name="Picture 4" descr="parmak"/>
          <p:cNvPicPr>
            <a:picLocks noGrp="1" noChangeAspect="1" noChangeArrowheads="1"/>
          </p:cNvPicPr>
          <p:nvPr>
            <p:ph sz="quarter" idx="4294967295"/>
          </p:nvPr>
        </p:nvPicPr>
        <p:blipFill>
          <a:blip r:embed="rId3" cstate="print"/>
          <a:stretch>
            <a:fillRect/>
          </a:stretch>
        </p:blipFill>
        <p:spPr>
          <a:xfrm>
            <a:off x="6516216" y="1412776"/>
            <a:ext cx="1460500" cy="2171700"/>
          </a:xfrm>
          <a:noFill/>
        </p:spPr>
      </p:pic>
      <p:pic>
        <p:nvPicPr>
          <p:cNvPr id="9223" name="Picture 6" descr="parmak5qc4"/>
          <p:cNvPicPr>
            <a:picLocks noGrp="1" noChangeAspect="1" noChangeArrowheads="1"/>
          </p:cNvPicPr>
          <p:nvPr>
            <p:ph sz="quarter" idx="4294967295"/>
          </p:nvPr>
        </p:nvPicPr>
        <p:blipFill>
          <a:blip r:embed="rId4" cstate="print"/>
          <a:stretch>
            <a:fillRect/>
          </a:stretch>
        </p:blipFill>
        <p:spPr>
          <a:xfrm>
            <a:off x="7524328" y="4509120"/>
            <a:ext cx="977900" cy="730250"/>
          </a:xfrm>
          <a:noFill/>
        </p:spPr>
      </p:pic>
      <p:pic>
        <p:nvPicPr>
          <p:cNvPr id="9222" name="Picture 5"/>
          <p:cNvPicPr>
            <a:picLocks noChangeAspect="1" noChangeArrowheads="1"/>
          </p:cNvPicPr>
          <p:nvPr/>
        </p:nvPicPr>
        <p:blipFill>
          <a:blip r:embed="rId5" cstate="print"/>
          <a:srcRect l="9087" t="8847" r="9140" b="69278"/>
          <a:stretch>
            <a:fillRect/>
          </a:stretch>
        </p:blipFill>
        <p:spPr bwMode="auto">
          <a:xfrm>
            <a:off x="468313" y="5360988"/>
            <a:ext cx="6191250" cy="1236662"/>
          </a:xfrm>
          <a:prstGeom prst="rect">
            <a:avLst/>
          </a:prstGeom>
          <a:noFill/>
          <a:ln w="9525">
            <a:noFill/>
            <a:miter lim="800000"/>
            <a:headEnd/>
            <a:tailEnd/>
          </a:ln>
          <a:effectLst/>
        </p:spPr>
      </p:pic>
      <p:pic>
        <p:nvPicPr>
          <p:cNvPr id="9224" name="Picture 7" descr="topluigne_avrupa_gumus_basli"/>
          <p:cNvPicPr>
            <a:picLocks noChangeAspect="1" noChangeArrowheads="1"/>
          </p:cNvPicPr>
          <p:nvPr/>
        </p:nvPicPr>
        <p:blipFill>
          <a:blip r:embed="rId6" cstate="print">
            <a:clrChange>
              <a:clrFrom>
                <a:srgbClr val="C36D22"/>
              </a:clrFrom>
              <a:clrTo>
                <a:srgbClr val="C36D22">
                  <a:alpha val="0"/>
                </a:srgbClr>
              </a:clrTo>
            </a:clrChange>
          </a:blip>
          <a:srcRect/>
          <a:stretch>
            <a:fillRect/>
          </a:stretch>
        </p:blipFill>
        <p:spPr bwMode="auto">
          <a:xfrm>
            <a:off x="4500563" y="3070225"/>
            <a:ext cx="2116137" cy="2159000"/>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p:cNvPicPr>
            <a:picLocks noChangeAspect="1" noChangeArrowheads="1"/>
          </p:cNvPicPr>
          <p:nvPr/>
        </p:nvPicPr>
        <p:blipFill>
          <a:blip r:embed="rId3" cstate="print"/>
          <a:srcRect l="21637" t="37776" r="20398" b="11552"/>
          <a:stretch>
            <a:fillRect/>
          </a:stretch>
        </p:blipFill>
        <p:spPr bwMode="auto">
          <a:xfrm>
            <a:off x="1331913" y="1341438"/>
            <a:ext cx="6481762" cy="4365625"/>
          </a:xfrm>
          <a:prstGeom prst="rect">
            <a:avLst/>
          </a:prstGeom>
          <a:noFill/>
          <a:ln w="9525">
            <a:noFill/>
            <a:miter lim="800000"/>
            <a:headEnd/>
            <a:tailEnd/>
          </a:ln>
          <a:effectLst/>
        </p:spPr>
      </p:pic>
      <p:pic>
        <p:nvPicPr>
          <p:cNvPr id="10243" name="Picture 5" descr="parmak5qc4"/>
          <p:cNvPicPr>
            <a:picLocks noChangeAspect="1" noChangeArrowheads="1"/>
          </p:cNvPicPr>
          <p:nvPr/>
        </p:nvPicPr>
        <p:blipFill>
          <a:blip r:embed="rId4" cstate="print"/>
          <a:srcRect l="3120"/>
          <a:stretch>
            <a:fillRect/>
          </a:stretch>
        </p:blipFill>
        <p:spPr bwMode="auto">
          <a:xfrm>
            <a:off x="395288" y="404813"/>
            <a:ext cx="2266950" cy="1757362"/>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 name="Rectangle 10"/>
          <p:cNvSpPr>
            <a:spLocks noChangeArrowheads="1"/>
          </p:cNvSpPr>
          <p:nvPr/>
        </p:nvSpPr>
        <p:spPr bwMode="auto">
          <a:xfrm>
            <a:off x="251520" y="692696"/>
            <a:ext cx="8461448" cy="649288"/>
          </a:xfrm>
          <a:prstGeom prst="rect">
            <a:avLst/>
          </a:prstGeom>
          <a:solidFill>
            <a:schemeClr val="hlink"/>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5122" name="Rectangle 2"/>
          <p:cNvSpPr>
            <a:spLocks noGrp="1" noChangeArrowheads="1"/>
          </p:cNvSpPr>
          <p:nvPr>
            <p:ph type="title"/>
          </p:nvPr>
        </p:nvSpPr>
        <p:spPr>
          <a:xfrm>
            <a:off x="179512" y="332656"/>
            <a:ext cx="4823644" cy="1216149"/>
          </a:xfrm>
        </p:spPr>
        <p:txBody>
          <a:bodyPr/>
          <a:lstStyle/>
          <a:p>
            <a:pPr algn="l" eaLnBrk="1" hangingPunct="1">
              <a:defRPr/>
            </a:pPr>
            <a:r>
              <a:rPr lang="tr-TR" sz="3600" dirty="0" smtClean="0">
                <a:solidFill>
                  <a:srgbClr val="FAFA2C"/>
                </a:solidFill>
                <a:effectLst>
                  <a:outerShdw blurRad="38100" dist="38100" dir="2700000" algn="tl">
                    <a:srgbClr val="000000">
                      <a:alpha val="43137"/>
                    </a:srgbClr>
                  </a:outerShdw>
                </a:effectLst>
              </a:rPr>
              <a:t>TARİHÇE</a:t>
            </a:r>
          </a:p>
        </p:txBody>
      </p:sp>
      <p:sp>
        <p:nvSpPr>
          <p:cNvPr id="5123" name="Rectangle 3"/>
          <p:cNvSpPr>
            <a:spLocks noGrp="1" noChangeArrowheads="1"/>
          </p:cNvSpPr>
          <p:nvPr>
            <p:ph idx="1"/>
          </p:nvPr>
        </p:nvSpPr>
        <p:spPr>
          <a:xfrm>
            <a:off x="251520" y="1412776"/>
            <a:ext cx="4472880" cy="5445224"/>
          </a:xfrm>
        </p:spPr>
        <p:txBody>
          <a:bodyPr>
            <a:noAutofit/>
          </a:bodyPr>
          <a:lstStyle/>
          <a:p>
            <a:pPr eaLnBrk="1" hangingPunct="1">
              <a:lnSpc>
                <a:spcPct val="80000"/>
              </a:lnSpc>
              <a:defRPr/>
            </a:pPr>
            <a:r>
              <a:rPr lang="tr-TR" sz="2200" b="1" dirty="0" smtClean="0">
                <a:latin typeface="Arial" charset="0"/>
              </a:rPr>
              <a:t>Teknolojik ilerlemeler, özellikle optik cihazların  hızlı bir şekilde gelişmesi tıbbi cihazlara da etki etmekte ve yeni tekniklere yol açmaktadır.</a:t>
            </a:r>
          </a:p>
          <a:p>
            <a:pPr eaLnBrk="1" hangingPunct="1">
              <a:lnSpc>
                <a:spcPct val="80000"/>
              </a:lnSpc>
              <a:defRPr/>
            </a:pPr>
            <a:r>
              <a:rPr lang="tr-TR" sz="2200" b="1" dirty="0" smtClean="0">
                <a:solidFill>
                  <a:srgbClr val="FF0000"/>
                </a:solidFill>
                <a:latin typeface="Arial" charset="0"/>
              </a:rPr>
              <a:t>İlk basit mikroskop; </a:t>
            </a:r>
            <a:r>
              <a:rPr lang="en-US" sz="2200" b="1" dirty="0" smtClean="0">
                <a:solidFill>
                  <a:srgbClr val="FF0000"/>
                </a:solidFill>
                <a:latin typeface="Arial" charset="0"/>
              </a:rPr>
              <a:t>1590</a:t>
            </a:r>
            <a:r>
              <a:rPr lang="tr-TR" sz="2200" b="1" dirty="0" smtClean="0">
                <a:solidFill>
                  <a:srgbClr val="FF0000"/>
                </a:solidFill>
                <a:latin typeface="Arial" charset="0"/>
              </a:rPr>
              <a:t> yılında </a:t>
            </a:r>
            <a:r>
              <a:rPr lang="en-US" sz="2200" b="1" dirty="0" smtClean="0">
                <a:solidFill>
                  <a:srgbClr val="FF0000"/>
                </a:solidFill>
                <a:latin typeface="Arial" charset="0"/>
              </a:rPr>
              <a:t>Holland</a:t>
            </a:r>
            <a:r>
              <a:rPr lang="tr-TR" sz="2200" b="1" dirty="0" smtClean="0">
                <a:solidFill>
                  <a:srgbClr val="FF0000"/>
                </a:solidFill>
                <a:latin typeface="Arial" charset="0"/>
              </a:rPr>
              <a:t>alı </a:t>
            </a:r>
            <a:r>
              <a:rPr lang="en-US" sz="2200" b="1" dirty="0" smtClean="0">
                <a:latin typeface="Arial" charset="0"/>
              </a:rPr>
              <a:t>Hans </a:t>
            </a:r>
            <a:r>
              <a:rPr lang="tr-TR" sz="2200" b="1" dirty="0" smtClean="0">
                <a:latin typeface="Arial" charset="0"/>
              </a:rPr>
              <a:t>ve oğlu </a:t>
            </a:r>
            <a:r>
              <a:rPr lang="en-US" sz="2200" b="1" dirty="0" smtClean="0">
                <a:latin typeface="Arial" charset="0"/>
              </a:rPr>
              <a:t>Zacharias Janssen</a:t>
            </a:r>
            <a:r>
              <a:rPr lang="tr-TR" sz="2200" b="1" dirty="0" smtClean="0">
                <a:latin typeface="Arial" charset="0"/>
              </a:rPr>
              <a:t> tarafından yapıldı.</a:t>
            </a:r>
          </a:p>
          <a:p>
            <a:pPr eaLnBrk="1" hangingPunct="1">
              <a:lnSpc>
                <a:spcPct val="80000"/>
              </a:lnSpc>
              <a:defRPr/>
            </a:pPr>
            <a:r>
              <a:rPr lang="tr-TR" sz="2200" b="1" dirty="0" smtClean="0">
                <a:solidFill>
                  <a:srgbClr val="FF0000"/>
                </a:solidFill>
                <a:latin typeface="Arial" charset="0"/>
              </a:rPr>
              <a:t>1665</a:t>
            </a:r>
            <a:r>
              <a:rPr lang="tr-TR" sz="2200" b="1" dirty="0" smtClean="0">
                <a:latin typeface="Arial" charset="0"/>
              </a:rPr>
              <a:t>’de </a:t>
            </a:r>
            <a:r>
              <a:rPr lang="tr-TR" sz="2200" b="1" dirty="0" smtClean="0">
                <a:solidFill>
                  <a:srgbClr val="FF0000"/>
                </a:solidFill>
                <a:latin typeface="Arial" charset="0"/>
              </a:rPr>
              <a:t>Robert </a:t>
            </a:r>
            <a:r>
              <a:rPr lang="tr-TR" sz="2200" b="1" dirty="0" err="1" smtClean="0">
                <a:solidFill>
                  <a:srgbClr val="FF0000"/>
                </a:solidFill>
                <a:latin typeface="Arial" charset="0"/>
              </a:rPr>
              <a:t>Hook</a:t>
            </a:r>
            <a:r>
              <a:rPr lang="tr-TR" sz="2200" b="1" dirty="0" smtClean="0">
                <a:solidFill>
                  <a:srgbClr val="FF0000"/>
                </a:solidFill>
                <a:latin typeface="Arial" charset="0"/>
              </a:rPr>
              <a:t> </a:t>
            </a:r>
            <a:r>
              <a:rPr lang="tr-TR" sz="2200" b="1" dirty="0" smtClean="0">
                <a:latin typeface="Arial" charset="0"/>
              </a:rPr>
              <a:t>ve </a:t>
            </a:r>
            <a:r>
              <a:rPr lang="tr-TR" sz="2200" b="1" dirty="0" smtClean="0">
                <a:solidFill>
                  <a:srgbClr val="FF0000"/>
                </a:solidFill>
                <a:latin typeface="Arial" charset="0"/>
              </a:rPr>
              <a:t>1673</a:t>
            </a:r>
            <a:r>
              <a:rPr lang="tr-TR" sz="2200" b="1" dirty="0" smtClean="0">
                <a:latin typeface="Arial" charset="0"/>
              </a:rPr>
              <a:t>’de </a:t>
            </a:r>
            <a:r>
              <a:rPr lang="tr-TR" sz="2200" b="1" dirty="0" err="1" smtClean="0">
                <a:latin typeface="Arial" charset="0"/>
              </a:rPr>
              <a:t>Leuwenhook</a:t>
            </a:r>
            <a:r>
              <a:rPr lang="tr-TR" sz="2200" b="1" dirty="0" smtClean="0">
                <a:latin typeface="Arial" charset="0"/>
              </a:rPr>
              <a:t>, Şişe mantarını “</a:t>
            </a:r>
            <a:r>
              <a:rPr lang="tr-TR" sz="2200" b="1" dirty="0" err="1" smtClean="0">
                <a:solidFill>
                  <a:srgbClr val="FF0000"/>
                </a:solidFill>
                <a:effectLst>
                  <a:outerShdw blurRad="38100" dist="38100" dir="2700000" algn="tl">
                    <a:srgbClr val="000000"/>
                  </a:outerShdw>
                </a:effectLst>
                <a:latin typeface="Arial" charset="0"/>
              </a:rPr>
              <a:t>Animalculus</a:t>
            </a:r>
            <a:r>
              <a:rPr lang="tr-TR" sz="2200" b="1" dirty="0" smtClean="0">
                <a:latin typeface="Arial" charset="0"/>
              </a:rPr>
              <a:t>” olarak isimlendirdiği mikroskopla inceliyor. </a:t>
            </a:r>
          </a:p>
          <a:p>
            <a:pPr eaLnBrk="1" hangingPunct="1">
              <a:lnSpc>
                <a:spcPct val="80000"/>
              </a:lnSpc>
              <a:defRPr/>
            </a:pPr>
            <a:r>
              <a:rPr lang="tr-TR" sz="2200" b="1" dirty="0" smtClean="0">
                <a:latin typeface="Arial" charset="0"/>
              </a:rPr>
              <a:t>Şişe mantarındaki küçük odacıklara </a:t>
            </a:r>
            <a:r>
              <a:rPr lang="tr-TR" sz="2200" b="1" dirty="0" err="1" smtClean="0">
                <a:solidFill>
                  <a:srgbClr val="FF0000"/>
                </a:solidFill>
                <a:effectLst>
                  <a:outerShdw blurRad="38100" dist="38100" dir="2700000" algn="tl">
                    <a:srgbClr val="000000"/>
                  </a:outerShdw>
                </a:effectLst>
                <a:latin typeface="Arial" charset="0"/>
              </a:rPr>
              <a:t>Cellula</a:t>
            </a:r>
            <a:r>
              <a:rPr lang="tr-TR" sz="2200" b="1" dirty="0" smtClean="0">
                <a:latin typeface="Arial" charset="0"/>
              </a:rPr>
              <a:t>= hücre’ adını veriyor. İlk biyolojik materyal inceleniyor.</a:t>
            </a:r>
          </a:p>
        </p:txBody>
      </p:sp>
      <p:pic>
        <p:nvPicPr>
          <p:cNvPr id="11269" name="Picture 8" descr="h53"/>
          <p:cNvPicPr>
            <a:picLocks noChangeAspect="1" noChangeArrowheads="1"/>
          </p:cNvPicPr>
          <p:nvPr/>
        </p:nvPicPr>
        <p:blipFill>
          <a:blip r:embed="rId3" cstate="print">
            <a:lum bright="20000" contrast="20000"/>
          </a:blip>
          <a:srcRect l="6389" t="10953" r="7169" b="14723"/>
          <a:stretch>
            <a:fillRect/>
          </a:stretch>
        </p:blipFill>
        <p:spPr bwMode="auto">
          <a:xfrm>
            <a:off x="4716463" y="3256630"/>
            <a:ext cx="4176017" cy="3115917"/>
          </a:xfrm>
          <a:prstGeom prst="rect">
            <a:avLst/>
          </a:prstGeom>
          <a:noFill/>
          <a:ln w="9525">
            <a:noFill/>
            <a:miter lim="800000"/>
            <a:headEnd/>
            <a:tailEnd/>
          </a:ln>
        </p:spPr>
      </p:pic>
      <p:pic>
        <p:nvPicPr>
          <p:cNvPr id="11270" name="Picture 9" descr="janssen"/>
          <p:cNvPicPr>
            <a:picLocks noChangeAspect="1" noChangeArrowheads="1"/>
          </p:cNvPicPr>
          <p:nvPr/>
        </p:nvPicPr>
        <p:blipFill>
          <a:blip r:embed="rId4" cstate="print"/>
          <a:srcRect/>
          <a:stretch>
            <a:fillRect/>
          </a:stretch>
        </p:blipFill>
        <p:spPr bwMode="auto">
          <a:xfrm>
            <a:off x="4716463" y="544513"/>
            <a:ext cx="4176017" cy="2452687"/>
          </a:xfrm>
          <a:prstGeom prst="rect">
            <a:avLst/>
          </a:prstGeom>
          <a:noFill/>
          <a:ln w="9525">
            <a:noFill/>
            <a:miter lim="800000"/>
            <a:headEnd/>
            <a:tailEnd/>
          </a:ln>
        </p:spPr>
      </p:pic>
      <p:sp>
        <p:nvSpPr>
          <p:cNvPr id="5131" name="Text Box 11"/>
          <p:cNvSpPr txBox="1">
            <a:spLocks noChangeArrowheads="1"/>
          </p:cNvSpPr>
          <p:nvPr/>
        </p:nvSpPr>
        <p:spPr bwMode="auto">
          <a:xfrm>
            <a:off x="4932363" y="5734050"/>
            <a:ext cx="1638300" cy="396875"/>
          </a:xfrm>
          <a:prstGeom prst="rect">
            <a:avLst/>
          </a:prstGeom>
          <a:solidFill>
            <a:srgbClr val="E0C1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tr-TR" sz="2000" u="none" dirty="0">
                <a:solidFill>
                  <a:schemeClr val="bg1"/>
                </a:solidFill>
                <a:effectLst>
                  <a:outerShdw blurRad="38100" dist="38100" dir="2700000" algn="tl">
                    <a:srgbClr val="FFFFFF"/>
                  </a:outerShdw>
                </a:effectLst>
                <a:latin typeface="Comic Sans MS" pitchFamily="80" charset="0"/>
                <a:cs typeface="Arial" charset="0"/>
              </a:rPr>
              <a:t>A</a:t>
            </a:r>
            <a:r>
              <a:rPr lang="en-GB" sz="2000" u="none" dirty="0" err="1">
                <a:solidFill>
                  <a:schemeClr val="bg1"/>
                </a:solidFill>
                <a:effectLst>
                  <a:outerShdw blurRad="38100" dist="38100" dir="2700000" algn="tl">
                    <a:srgbClr val="FFFFFF"/>
                  </a:outerShdw>
                </a:effectLst>
                <a:latin typeface="Comic Sans MS" pitchFamily="80" charset="0"/>
                <a:cs typeface="Arial" charset="0"/>
              </a:rPr>
              <a:t>nimalculus</a:t>
            </a:r>
            <a:r>
              <a:rPr lang="en-US" sz="2000" u="none" dirty="0">
                <a:solidFill>
                  <a:schemeClr val="bg1"/>
                </a:solidFill>
                <a:effectLst>
                  <a:outerShdw blurRad="38100" dist="38100" dir="2700000" algn="tl">
                    <a:srgbClr val="FFFFFF"/>
                  </a:outerShdw>
                </a:effectLst>
                <a:latin typeface="Tahoma" pitchFamily="80" charset="0"/>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iterate type="lt">
                                    <p:tmPct val="100000"/>
                                  </p:iterate>
                                  <p:childTnLst>
                                    <p:set>
                                      <p:cBhvr>
                                        <p:cTn id="6" dur="1" fill="hold">
                                          <p:stCondLst>
                                            <p:cond delay="0"/>
                                          </p:stCondLst>
                                        </p:cTn>
                                        <p:tgtEl>
                                          <p:spTgt spid="5131"/>
                                        </p:tgtEl>
                                        <p:attrNameLst>
                                          <p:attrName>style.visibility</p:attrName>
                                        </p:attrNameLst>
                                      </p:cBhvr>
                                      <p:to>
                                        <p:strVal val="visible"/>
                                      </p:to>
                                    </p:set>
                                    <p:anim calcmode="lin" valueType="num">
                                      <p:cBhvr additive="base">
                                        <p:cTn id="7" dur="75" fill="hold"/>
                                        <p:tgtEl>
                                          <p:spTgt spid="5131"/>
                                        </p:tgtEl>
                                        <p:attrNameLst>
                                          <p:attrName>ppt_x</p:attrName>
                                        </p:attrNameLst>
                                      </p:cBhvr>
                                      <p:tavLst>
                                        <p:tav tm="0">
                                          <p:val>
                                            <p:strVal val="1+#ppt_w/2"/>
                                          </p:val>
                                        </p:tav>
                                        <p:tav tm="100000">
                                          <p:val>
                                            <p:strVal val="#ppt_x"/>
                                          </p:val>
                                        </p:tav>
                                      </p:tavLst>
                                    </p:anim>
                                    <p:anim calcmode="lin" valueType="num">
                                      <p:cBhvr additive="base">
                                        <p:cTn id="8" dur="75" fill="hold"/>
                                        <p:tgtEl>
                                          <p:spTgt spid="51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Line 2"/>
          <p:cNvSpPr>
            <a:spLocks noChangeShapeType="1"/>
          </p:cNvSpPr>
          <p:nvPr/>
        </p:nvSpPr>
        <p:spPr bwMode="auto">
          <a:xfrm>
            <a:off x="0" y="914400"/>
            <a:ext cx="9144000" cy="0"/>
          </a:xfrm>
          <a:prstGeom prst="line">
            <a:avLst/>
          </a:prstGeom>
          <a:noFill/>
          <a:ln w="38100">
            <a:solidFill>
              <a:schemeClr val="hlink"/>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defRPr/>
            </a:pPr>
            <a:endParaRPr lang="tr-TR">
              <a:effectLst>
                <a:outerShdw blurRad="38100" dist="38100" dir="2700000" algn="tl">
                  <a:srgbClr val="000000">
                    <a:alpha val="43137"/>
                  </a:srgbClr>
                </a:outerShdw>
              </a:effectLst>
            </a:endParaRPr>
          </a:p>
        </p:txBody>
      </p:sp>
      <p:sp>
        <p:nvSpPr>
          <p:cNvPr id="330756" name="Text Box 4"/>
          <p:cNvSpPr txBox="1">
            <a:spLocks noChangeArrowheads="1"/>
          </p:cNvSpPr>
          <p:nvPr/>
        </p:nvSpPr>
        <p:spPr bwMode="auto">
          <a:xfrm>
            <a:off x="250825" y="981075"/>
            <a:ext cx="2520950" cy="1569660"/>
          </a:xfrm>
          <a:prstGeom prst="rect">
            <a:avLst/>
          </a:prstGeom>
          <a:noFill/>
          <a:ln w="9525">
            <a:noFill/>
            <a:miter lim="800000"/>
            <a:headEnd/>
            <a:tailEnd/>
          </a:ln>
          <a:effectLst/>
        </p:spPr>
        <p:txBody>
          <a:bodyPr>
            <a:spAutoFit/>
          </a:bodyPr>
          <a:lstStyle/>
          <a:p>
            <a:pPr eaLnBrk="1" hangingPunct="1"/>
            <a:r>
              <a:rPr lang="en-GB" altLang="tr-TR" sz="2400" b="1" u="none" dirty="0">
                <a:solidFill>
                  <a:srgbClr val="FF0000"/>
                </a:solidFill>
                <a:latin typeface="Freestyle Script" pitchFamily="66" charset="0"/>
                <a:cs typeface="Arial" charset="0"/>
              </a:rPr>
              <a:t>Antony van </a:t>
            </a:r>
            <a:r>
              <a:rPr lang="en-GB" altLang="tr-TR" sz="2400" b="1" u="none" dirty="0" err="1">
                <a:solidFill>
                  <a:srgbClr val="FF0000"/>
                </a:solidFill>
                <a:latin typeface="Freestyle Script" pitchFamily="66" charset="0"/>
                <a:cs typeface="Arial" charset="0"/>
              </a:rPr>
              <a:t>Leuwen</a:t>
            </a:r>
            <a:r>
              <a:rPr lang="tr-TR" altLang="tr-TR" sz="2400" b="1" u="none" dirty="0">
                <a:solidFill>
                  <a:srgbClr val="FF0000"/>
                </a:solidFill>
                <a:latin typeface="Freestyle Script" pitchFamily="66" charset="0"/>
              </a:rPr>
              <a:t>h</a:t>
            </a:r>
            <a:r>
              <a:rPr lang="en-GB" altLang="tr-TR" sz="2400" b="1" u="none" dirty="0" err="1">
                <a:solidFill>
                  <a:srgbClr val="FF0000"/>
                </a:solidFill>
                <a:latin typeface="Freestyle Script" pitchFamily="66" charset="0"/>
                <a:cs typeface="Arial" charset="0"/>
              </a:rPr>
              <a:t>ook</a:t>
            </a:r>
            <a:endParaRPr lang="tr-TR" altLang="tr-TR" sz="2400" b="1" u="none" dirty="0">
              <a:solidFill>
                <a:srgbClr val="FF0000"/>
              </a:solidFill>
              <a:latin typeface="Arial" charset="0"/>
              <a:cs typeface="Arial" charset="0"/>
            </a:endParaRPr>
          </a:p>
          <a:p>
            <a:pPr eaLnBrk="1" hangingPunct="1"/>
            <a:r>
              <a:rPr lang="en-GB" altLang="tr-TR" sz="2400" b="1" u="none" dirty="0">
                <a:solidFill>
                  <a:srgbClr val="FF0000"/>
                </a:solidFill>
                <a:latin typeface="Freestyle Script" pitchFamily="66" charset="0"/>
                <a:cs typeface="Arial" charset="0"/>
              </a:rPr>
              <a:t>(1632–1723)</a:t>
            </a:r>
            <a:endParaRPr lang="tr-TR" altLang="tr-TR" sz="2400" b="1" u="none" dirty="0">
              <a:solidFill>
                <a:srgbClr val="FF0000"/>
              </a:solidFill>
              <a:latin typeface="Freestyle Script" pitchFamily="66" charset="0"/>
              <a:cs typeface="Arial" charset="0"/>
            </a:endParaRPr>
          </a:p>
          <a:p>
            <a:pPr eaLnBrk="1" hangingPunct="1"/>
            <a:r>
              <a:rPr lang="en-GB" altLang="tr-TR" sz="2400" b="1" u="none" dirty="0">
                <a:solidFill>
                  <a:srgbClr val="FF0000"/>
                </a:solidFill>
                <a:latin typeface="Freestyle Script" pitchFamily="66" charset="0"/>
              </a:rPr>
              <a:t>Robert Hooke </a:t>
            </a:r>
            <a:endParaRPr lang="tr-TR" altLang="tr-TR" sz="2400" b="1" u="none" dirty="0">
              <a:solidFill>
                <a:srgbClr val="FF0000"/>
              </a:solidFill>
              <a:latin typeface="Arial" charset="0"/>
            </a:endParaRPr>
          </a:p>
          <a:p>
            <a:pPr eaLnBrk="1" hangingPunct="1"/>
            <a:r>
              <a:rPr lang="en-GB" altLang="tr-TR" sz="2400" b="1" u="none" dirty="0">
                <a:solidFill>
                  <a:srgbClr val="FF0000"/>
                </a:solidFill>
                <a:latin typeface="Freestyle Script" pitchFamily="66" charset="0"/>
              </a:rPr>
              <a:t>(1635–1703)</a:t>
            </a:r>
            <a:endParaRPr lang="en-US" altLang="tr-TR" sz="2400" b="1" u="none" dirty="0">
              <a:solidFill>
                <a:srgbClr val="FF0000"/>
              </a:solidFill>
              <a:latin typeface="Freestyle Script" pitchFamily="66" charset="0"/>
            </a:endParaRPr>
          </a:p>
        </p:txBody>
      </p:sp>
      <p:pic>
        <p:nvPicPr>
          <p:cNvPr id="330757" name="Picture 5" descr="leeuwenhoek"/>
          <p:cNvPicPr>
            <a:picLocks noChangeAspect="1" noChangeArrowheads="1"/>
          </p:cNvPicPr>
          <p:nvPr/>
        </p:nvPicPr>
        <p:blipFill>
          <a:blip r:embed="rId3" cstate="print"/>
          <a:srcRect/>
          <a:stretch>
            <a:fillRect/>
          </a:stretch>
        </p:blipFill>
        <p:spPr bwMode="auto">
          <a:xfrm>
            <a:off x="3059113" y="93620"/>
            <a:ext cx="5905375" cy="3079793"/>
          </a:xfrm>
          <a:prstGeom prst="rect">
            <a:avLst/>
          </a:prstGeom>
          <a:noFill/>
          <a:ln w="9525">
            <a:noFill/>
            <a:miter lim="800000"/>
            <a:headEnd/>
            <a:tailEnd/>
          </a:ln>
        </p:spPr>
      </p:pic>
      <p:pic>
        <p:nvPicPr>
          <p:cNvPr id="12293" name="Picture 7" descr="710"/>
          <p:cNvPicPr>
            <a:picLocks noChangeAspect="1" noChangeArrowheads="1"/>
          </p:cNvPicPr>
          <p:nvPr/>
        </p:nvPicPr>
        <p:blipFill>
          <a:blip r:embed="rId4" cstate="print"/>
          <a:srcRect t="3148" b="5902"/>
          <a:stretch>
            <a:fillRect/>
          </a:stretch>
        </p:blipFill>
        <p:spPr bwMode="auto">
          <a:xfrm>
            <a:off x="3779838" y="3198814"/>
            <a:ext cx="5112642" cy="3487612"/>
          </a:xfrm>
          <a:prstGeom prst="rect">
            <a:avLst/>
          </a:prstGeom>
          <a:noFill/>
          <a:ln w="9525">
            <a:noFill/>
            <a:miter lim="800000"/>
            <a:headEnd/>
            <a:tailEnd/>
          </a:ln>
        </p:spPr>
      </p:pic>
      <p:pic>
        <p:nvPicPr>
          <p:cNvPr id="330760" name="Picture 8" descr="hookemicro"/>
          <p:cNvPicPr>
            <a:picLocks noChangeAspect="1" noChangeArrowheads="1"/>
          </p:cNvPicPr>
          <p:nvPr/>
        </p:nvPicPr>
        <p:blipFill>
          <a:blip r:embed="rId5" cstate="print"/>
          <a:srcRect/>
          <a:stretch>
            <a:fillRect/>
          </a:stretch>
        </p:blipFill>
        <p:spPr bwMode="auto">
          <a:xfrm>
            <a:off x="233068" y="3157538"/>
            <a:ext cx="4338931" cy="3511822"/>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withEffect">
                                  <p:stCondLst>
                                    <p:cond delay="0"/>
                                  </p:stCondLst>
                                  <p:childTnLst>
                                    <p:set>
                                      <p:cBhvr>
                                        <p:cTn id="6" dur="1" fill="hold">
                                          <p:stCondLst>
                                            <p:cond delay="0"/>
                                          </p:stCondLst>
                                        </p:cTn>
                                        <p:tgtEl>
                                          <p:spTgt spid="330754"/>
                                        </p:tgtEl>
                                        <p:attrNameLst>
                                          <p:attrName>style.visibility</p:attrName>
                                        </p:attrNameLst>
                                      </p:cBhvr>
                                      <p:to>
                                        <p:strVal val="visible"/>
                                      </p:to>
                                    </p:set>
                                    <p:animEffect transition="in" filter="wipe(right)">
                                      <p:cBhvr>
                                        <p:cTn id="7" dur="500"/>
                                        <p:tgtEl>
                                          <p:spTgt spid="33075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0756"/>
                                        </p:tgtEl>
                                        <p:attrNameLst>
                                          <p:attrName>style.visibility</p:attrName>
                                        </p:attrNameLst>
                                      </p:cBhvr>
                                      <p:to>
                                        <p:strVal val="visible"/>
                                      </p:to>
                                    </p:set>
                                    <p:animEffect transition="in" filter="wipe(left)">
                                      <p:cBhvr>
                                        <p:cTn id="11" dur="500"/>
                                        <p:tgtEl>
                                          <p:spTgt spid="330756"/>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330757"/>
                                        </p:tgtEl>
                                        <p:attrNameLst>
                                          <p:attrName>style.visibility</p:attrName>
                                        </p:attrNameLst>
                                      </p:cBhvr>
                                      <p:to>
                                        <p:strVal val="visible"/>
                                      </p:to>
                                    </p:set>
                                    <p:animEffect transition="in" filter="dissolve">
                                      <p:cBhvr>
                                        <p:cTn id="15" dur="500"/>
                                        <p:tgtEl>
                                          <p:spTgt spid="330757"/>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330760"/>
                                        </p:tgtEl>
                                        <p:attrNameLst>
                                          <p:attrName>style.visibility</p:attrName>
                                        </p:attrNameLst>
                                      </p:cBhvr>
                                      <p:to>
                                        <p:strVal val="visible"/>
                                      </p:to>
                                    </p:set>
                                    <p:animEffect transition="in" filter="dissolve">
                                      <p:cBhvr>
                                        <p:cTn id="19" dur="500"/>
                                        <p:tgtEl>
                                          <p:spTgt spid="330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ooke01"/>
          <p:cNvPicPr>
            <a:picLocks noChangeAspect="1" noChangeArrowheads="1"/>
          </p:cNvPicPr>
          <p:nvPr/>
        </p:nvPicPr>
        <p:blipFill>
          <a:blip r:embed="rId3" cstate="print"/>
          <a:srcRect/>
          <a:stretch>
            <a:fillRect/>
          </a:stretch>
        </p:blipFill>
        <p:spPr bwMode="auto">
          <a:xfrm>
            <a:off x="251520" y="134198"/>
            <a:ext cx="8712968" cy="6513548"/>
          </a:xfrm>
          <a:prstGeom prst="rect">
            <a:avLst/>
          </a:prstGeom>
          <a:noFill/>
          <a:ln w="9525">
            <a:noFill/>
            <a:miter lim="800000"/>
            <a:headEnd/>
            <a:tailEnd/>
          </a:ln>
        </p:spPr>
      </p:pic>
      <p:sp>
        <p:nvSpPr>
          <p:cNvPr id="13315" name="Text Box 3"/>
          <p:cNvSpPr txBox="1">
            <a:spLocks noChangeArrowheads="1"/>
          </p:cNvSpPr>
          <p:nvPr/>
        </p:nvSpPr>
        <p:spPr bwMode="auto">
          <a:xfrm>
            <a:off x="1187450" y="6583363"/>
            <a:ext cx="7750175" cy="274637"/>
          </a:xfrm>
          <a:prstGeom prst="rect">
            <a:avLst/>
          </a:prstGeom>
          <a:noFill/>
          <a:ln w="12699">
            <a:noFill/>
            <a:miter lim="800000"/>
            <a:headEnd/>
            <a:tailEnd/>
          </a:ln>
          <a:effectLst/>
        </p:spPr>
        <p:txBody>
          <a:bodyPr>
            <a:spAutoFit/>
          </a:bodyPr>
          <a:lstStyle/>
          <a:p>
            <a:pPr>
              <a:spcBef>
                <a:spcPct val="50000"/>
              </a:spcBef>
            </a:pPr>
            <a:r>
              <a:rPr lang="en-US" altLang="tr-TR" sz="1200" i="1" u="none">
                <a:solidFill>
                  <a:schemeClr val="bg1"/>
                </a:solidFill>
                <a:latin typeface="Verdana" pitchFamily="80" charset="0"/>
              </a:rPr>
              <a:t>The Royal Society of London was founded in 1616 during the reign of King James I</a:t>
            </a:r>
            <a:endParaRPr lang="en-US" altLang="tr-TR" sz="1200" i="1" u="none">
              <a:solidFill>
                <a:schemeClr val="bg1"/>
              </a:solidFill>
            </a:endParaRPr>
          </a:p>
        </p:txBody>
      </p:sp>
    </p:spTree>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ignejilet"/>
          <p:cNvPicPr>
            <a:picLocks noChangeAspect="1" noChangeArrowheads="1"/>
          </p:cNvPicPr>
          <p:nvPr/>
        </p:nvPicPr>
        <p:blipFill>
          <a:blip r:embed="rId3" cstate="print"/>
          <a:srcRect/>
          <a:stretch>
            <a:fillRect/>
          </a:stretch>
        </p:blipFill>
        <p:spPr bwMode="auto">
          <a:xfrm>
            <a:off x="251520" y="146956"/>
            <a:ext cx="8642522" cy="6522404"/>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yosunsunger"/>
          <p:cNvPicPr>
            <a:picLocks noChangeAspect="1" noChangeArrowheads="1"/>
          </p:cNvPicPr>
          <p:nvPr/>
        </p:nvPicPr>
        <p:blipFill>
          <a:blip r:embed="rId3" cstate="print"/>
          <a:srcRect/>
          <a:stretch>
            <a:fillRect/>
          </a:stretch>
        </p:blipFill>
        <p:spPr bwMode="auto">
          <a:xfrm>
            <a:off x="323528" y="404664"/>
            <a:ext cx="8568951" cy="6216646"/>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idx="1"/>
          </p:nvPr>
        </p:nvSpPr>
        <p:spPr>
          <a:xfrm>
            <a:off x="251520" y="3886200"/>
            <a:ext cx="8568952" cy="2783160"/>
          </a:xfrm>
          <a:solidFill>
            <a:srgbClr val="FFFF00"/>
          </a:solidFill>
        </p:spPr>
        <p:txBody>
          <a:bodyPr>
            <a:normAutofit fontScale="92500" lnSpcReduction="20000"/>
          </a:bodyPr>
          <a:lstStyle/>
          <a:p>
            <a:pPr marL="990600" lvl="1" indent="-533400" eaLnBrk="1" hangingPunct="1">
              <a:lnSpc>
                <a:spcPct val="90000"/>
              </a:lnSpc>
              <a:buFont typeface="Wingdings" pitchFamily="80" charset="2"/>
              <a:buNone/>
            </a:pPr>
            <a:r>
              <a:rPr lang="tr-TR" altLang="tr-TR" sz="1800" i="1" u="sng" dirty="0" smtClean="0">
                <a:solidFill>
                  <a:srgbClr val="0000FF"/>
                </a:solidFill>
                <a:effectLst/>
                <a:latin typeface="Benguiat Frisky" pitchFamily="66" charset="0"/>
              </a:rPr>
              <a:t>Mikroskobun gelişimi:</a:t>
            </a:r>
          </a:p>
          <a:p>
            <a:pPr marL="990600" lvl="1" indent="-533400" eaLnBrk="1" hangingPunct="1">
              <a:lnSpc>
                <a:spcPct val="90000"/>
              </a:lnSpc>
              <a:buFont typeface="Wingdings" pitchFamily="80" charset="2"/>
              <a:buChar char="ü"/>
            </a:pPr>
            <a:r>
              <a:rPr lang="tr-TR" altLang="tr-TR" sz="1800" dirty="0" smtClean="0">
                <a:solidFill>
                  <a:srgbClr val="0000FF"/>
                </a:solidFill>
                <a:effectLst/>
                <a:latin typeface="Benguiat Frisky" pitchFamily="66" charset="0"/>
              </a:rPr>
              <a:t>1831; Robert Brown bitki hücrelerinde çekirdek (</a:t>
            </a:r>
            <a:r>
              <a:rPr lang="tr-TR" altLang="tr-TR" sz="1800" dirty="0" err="1" smtClean="0">
                <a:solidFill>
                  <a:srgbClr val="0000FF"/>
                </a:solidFill>
                <a:effectLst/>
                <a:latin typeface="Benguiat Frisky" pitchFamily="66" charset="0"/>
              </a:rPr>
              <a:t>Nukleus</a:t>
            </a:r>
            <a:r>
              <a:rPr lang="tr-TR" altLang="tr-TR" sz="1800" dirty="0" smtClean="0">
                <a:solidFill>
                  <a:srgbClr val="0000FF"/>
                </a:solidFill>
                <a:effectLst/>
                <a:latin typeface="Benguiat Frisky" pitchFamily="66" charset="0"/>
              </a:rPr>
              <a:t>) tanımını yapıyor.</a:t>
            </a:r>
          </a:p>
          <a:p>
            <a:pPr marL="990600" lvl="1" indent="-533400" eaLnBrk="1" hangingPunct="1">
              <a:lnSpc>
                <a:spcPct val="90000"/>
              </a:lnSpc>
              <a:buFont typeface="Wingdings" pitchFamily="80" charset="2"/>
              <a:buChar char="ü"/>
            </a:pPr>
            <a:r>
              <a:rPr lang="tr-TR" altLang="tr-TR" sz="1800" dirty="0" smtClean="0">
                <a:solidFill>
                  <a:srgbClr val="0000FF"/>
                </a:solidFill>
                <a:effectLst/>
                <a:latin typeface="Benguiat Frisky" pitchFamily="66" charset="0"/>
              </a:rPr>
              <a:t>1839; ilk </a:t>
            </a:r>
            <a:r>
              <a:rPr lang="tr-TR" altLang="tr-TR" sz="1800" dirty="0" smtClean="0">
                <a:solidFill>
                  <a:srgbClr val="FF0000"/>
                </a:solidFill>
                <a:effectLst/>
                <a:latin typeface="Benguiat Frisky" pitchFamily="66" charset="0"/>
              </a:rPr>
              <a:t>Hücre Teorisi</a:t>
            </a:r>
            <a:r>
              <a:rPr lang="tr-TR" altLang="tr-TR" sz="1800" dirty="0" smtClean="0">
                <a:solidFill>
                  <a:srgbClr val="0000FF"/>
                </a:solidFill>
                <a:effectLst/>
                <a:latin typeface="Benguiat Frisky" pitchFamily="66" charset="0"/>
              </a:rPr>
              <a:t> ortaya atılıyor (</a:t>
            </a:r>
            <a:r>
              <a:rPr lang="tr-TR" altLang="tr-TR" sz="1800" dirty="0" err="1" smtClean="0">
                <a:solidFill>
                  <a:srgbClr val="0000FF"/>
                </a:solidFill>
                <a:effectLst/>
                <a:latin typeface="Benguiat Frisky" pitchFamily="66" charset="0"/>
              </a:rPr>
              <a:t>Schwann</a:t>
            </a:r>
            <a:r>
              <a:rPr lang="tr-TR" altLang="tr-TR" sz="1800" dirty="0" smtClean="0">
                <a:solidFill>
                  <a:srgbClr val="0000FF"/>
                </a:solidFill>
                <a:effectLst/>
                <a:latin typeface="Benguiat Frisky" pitchFamily="66" charset="0"/>
              </a:rPr>
              <a:t>&amp;</a:t>
            </a:r>
            <a:r>
              <a:rPr lang="tr-TR" altLang="tr-TR" sz="1800" dirty="0" err="1" smtClean="0">
                <a:solidFill>
                  <a:srgbClr val="0000FF"/>
                </a:solidFill>
                <a:effectLst/>
                <a:latin typeface="Benguiat Frisky" pitchFamily="66" charset="0"/>
              </a:rPr>
              <a:t>Schleiden</a:t>
            </a:r>
            <a:r>
              <a:rPr lang="tr-TR" altLang="tr-TR" sz="1800" dirty="0" smtClean="0">
                <a:solidFill>
                  <a:srgbClr val="0000FF"/>
                </a:solidFill>
                <a:effectLst/>
                <a:latin typeface="Benguiat Frisky" pitchFamily="66" charset="0"/>
              </a:rPr>
              <a:t>); Tüm organizmalar hücrelerden meydana gelmiştir. Çekirdek ve </a:t>
            </a:r>
            <a:r>
              <a:rPr lang="tr-TR" altLang="tr-TR" sz="1800" dirty="0" err="1" smtClean="0">
                <a:solidFill>
                  <a:srgbClr val="0000FF"/>
                </a:solidFill>
                <a:effectLst/>
                <a:latin typeface="Benguiat Frisky" pitchFamily="66" charset="0"/>
              </a:rPr>
              <a:t>Stoplazmaya</a:t>
            </a:r>
            <a:r>
              <a:rPr lang="tr-TR" altLang="tr-TR" sz="1800" dirty="0" smtClean="0">
                <a:solidFill>
                  <a:srgbClr val="0000FF"/>
                </a:solidFill>
                <a:effectLst/>
                <a:latin typeface="Benguiat Frisky" pitchFamily="66" charset="0"/>
              </a:rPr>
              <a:t>; </a:t>
            </a:r>
            <a:r>
              <a:rPr lang="tr-TR" altLang="tr-TR" sz="1800" dirty="0" smtClean="0">
                <a:solidFill>
                  <a:srgbClr val="FF0000"/>
                </a:solidFill>
                <a:effectLst/>
                <a:latin typeface="Benguiat Frisky" pitchFamily="66" charset="0"/>
              </a:rPr>
              <a:t>Protoplazma</a:t>
            </a:r>
            <a:r>
              <a:rPr lang="tr-TR" altLang="tr-TR" sz="1800" dirty="0" smtClean="0">
                <a:solidFill>
                  <a:srgbClr val="0000FF"/>
                </a:solidFill>
                <a:effectLst/>
                <a:latin typeface="Benguiat Frisky" pitchFamily="66" charset="0"/>
              </a:rPr>
              <a:t> adı veriliyor.</a:t>
            </a:r>
          </a:p>
          <a:p>
            <a:pPr marL="990600" lvl="1" indent="-533400" eaLnBrk="1" hangingPunct="1">
              <a:lnSpc>
                <a:spcPct val="90000"/>
              </a:lnSpc>
              <a:buFont typeface="Wingdings" pitchFamily="80" charset="2"/>
              <a:buChar char="ü"/>
            </a:pPr>
            <a:r>
              <a:rPr lang="tr-TR" altLang="tr-TR" sz="1800" dirty="0" smtClean="0">
                <a:solidFill>
                  <a:srgbClr val="0000FF"/>
                </a:solidFill>
                <a:effectLst/>
                <a:latin typeface="Benguiat Frisky" pitchFamily="66" charset="0"/>
              </a:rPr>
              <a:t>1861; hayvan hücresi inceleniyor. İlk canlı hücre </a:t>
            </a:r>
            <a:r>
              <a:rPr lang="tr-TR" altLang="tr-TR" sz="1800" dirty="0" err="1" smtClean="0">
                <a:solidFill>
                  <a:srgbClr val="0000FF"/>
                </a:solidFill>
                <a:effectLst/>
                <a:latin typeface="Benguiat Frisky" pitchFamily="66" charset="0"/>
              </a:rPr>
              <a:t>Zernik</a:t>
            </a:r>
            <a:r>
              <a:rPr lang="tr-TR" altLang="tr-TR" sz="1800" dirty="0" smtClean="0">
                <a:solidFill>
                  <a:srgbClr val="0000FF"/>
                </a:solidFill>
                <a:effectLst/>
                <a:latin typeface="Benguiat Frisky" pitchFamily="66" charset="0"/>
              </a:rPr>
              <a:t> tarafından Faz Kontrast mikroskobunda inceleniyor.</a:t>
            </a:r>
          </a:p>
          <a:p>
            <a:pPr marL="990600" lvl="1" indent="-533400" eaLnBrk="1" hangingPunct="1">
              <a:lnSpc>
                <a:spcPct val="90000"/>
              </a:lnSpc>
              <a:buFont typeface="Wingdings" pitchFamily="80" charset="2"/>
              <a:buChar char="ü"/>
            </a:pPr>
            <a:r>
              <a:rPr lang="tr-TR" altLang="tr-TR" sz="1800" dirty="0" smtClean="0">
                <a:solidFill>
                  <a:srgbClr val="0000FF"/>
                </a:solidFill>
                <a:effectLst/>
                <a:latin typeface="Benguiat Frisky" pitchFamily="66" charset="0"/>
              </a:rPr>
              <a:t>1933; ilk Elektron mikroskobu yapıldı. </a:t>
            </a:r>
          </a:p>
          <a:p>
            <a:pPr marL="990600" lvl="1" indent="-533400" eaLnBrk="1" hangingPunct="1">
              <a:lnSpc>
                <a:spcPct val="90000"/>
              </a:lnSpc>
              <a:buFont typeface="Wingdings" pitchFamily="80" charset="2"/>
              <a:buChar char="ü"/>
            </a:pPr>
            <a:r>
              <a:rPr lang="tr-TR" altLang="tr-TR" sz="1800" dirty="0" smtClean="0">
                <a:solidFill>
                  <a:srgbClr val="0000FF"/>
                </a:solidFill>
                <a:effectLst/>
                <a:latin typeface="Benguiat Frisky" pitchFamily="66" charset="0"/>
              </a:rPr>
              <a:t>1938’de EM yardımı ile ince ayrıntılara girildi. EM ile gözlenen yapılara ince yapı (</a:t>
            </a:r>
            <a:r>
              <a:rPr lang="tr-TR" altLang="tr-TR" sz="1800" dirty="0" err="1" smtClean="0">
                <a:solidFill>
                  <a:srgbClr val="0000FF"/>
                </a:solidFill>
                <a:effectLst/>
                <a:latin typeface="Benguiat Frisky" pitchFamily="66" charset="0"/>
              </a:rPr>
              <a:t>Fine</a:t>
            </a:r>
            <a:r>
              <a:rPr lang="tr-TR" altLang="tr-TR" sz="1800" dirty="0" smtClean="0">
                <a:solidFill>
                  <a:srgbClr val="0000FF"/>
                </a:solidFill>
                <a:effectLst/>
                <a:latin typeface="Benguiat Frisky" pitchFamily="66" charset="0"/>
              </a:rPr>
              <a:t> </a:t>
            </a:r>
            <a:r>
              <a:rPr lang="tr-TR" altLang="tr-TR" sz="1800" dirty="0" err="1" smtClean="0">
                <a:solidFill>
                  <a:srgbClr val="0000FF"/>
                </a:solidFill>
                <a:effectLst/>
                <a:latin typeface="Benguiat Frisky" pitchFamily="66" charset="0"/>
              </a:rPr>
              <a:t>structure</a:t>
            </a:r>
            <a:r>
              <a:rPr lang="tr-TR" altLang="tr-TR" sz="1800" dirty="0" smtClean="0">
                <a:solidFill>
                  <a:srgbClr val="0000FF"/>
                </a:solidFill>
                <a:effectLst/>
                <a:latin typeface="Benguiat Frisky" pitchFamily="66" charset="0"/>
              </a:rPr>
              <a:t> ya da </a:t>
            </a:r>
            <a:r>
              <a:rPr lang="tr-TR" altLang="tr-TR" sz="1800" dirty="0" err="1" smtClean="0">
                <a:solidFill>
                  <a:srgbClr val="FF0000"/>
                </a:solidFill>
                <a:effectLst/>
                <a:latin typeface="Benguiat Frisky" pitchFamily="66" charset="0"/>
              </a:rPr>
              <a:t>Ultrastructure</a:t>
            </a:r>
            <a:r>
              <a:rPr lang="tr-TR" altLang="tr-TR" sz="1800" dirty="0" smtClean="0">
                <a:solidFill>
                  <a:srgbClr val="0000FF"/>
                </a:solidFill>
                <a:effectLst/>
                <a:latin typeface="Benguiat Frisky" pitchFamily="66" charset="0"/>
              </a:rPr>
              <a:t>) terimi kullanılmaya başlandı.</a:t>
            </a:r>
          </a:p>
        </p:txBody>
      </p:sp>
      <p:pic>
        <p:nvPicPr>
          <p:cNvPr id="16387" name="Picture 8" descr="h59"/>
          <p:cNvPicPr>
            <a:picLocks noChangeAspect="1" noChangeArrowheads="1"/>
          </p:cNvPicPr>
          <p:nvPr/>
        </p:nvPicPr>
        <p:blipFill>
          <a:blip r:embed="rId3" cstate="print"/>
          <a:srcRect l="3145" t="27037" r="4944" b="13858"/>
          <a:stretch>
            <a:fillRect/>
          </a:stretch>
        </p:blipFill>
        <p:spPr bwMode="auto">
          <a:xfrm>
            <a:off x="395536" y="332656"/>
            <a:ext cx="8352928" cy="3434044"/>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Line 2"/>
          <p:cNvSpPr>
            <a:spLocks noChangeShapeType="1"/>
          </p:cNvSpPr>
          <p:nvPr/>
        </p:nvSpPr>
        <p:spPr bwMode="auto">
          <a:xfrm>
            <a:off x="0" y="914400"/>
            <a:ext cx="9144000" cy="0"/>
          </a:xfrm>
          <a:prstGeom prst="line">
            <a:avLst/>
          </a:prstGeom>
          <a:noFill/>
          <a:ln w="38100">
            <a:solidFill>
              <a:schemeClr val="hlink"/>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defRPr/>
            </a:pPr>
            <a:endParaRPr lang="tr-TR">
              <a:effectLst>
                <a:outerShdw blurRad="38100" dist="38100" dir="2700000" algn="tl">
                  <a:srgbClr val="000000">
                    <a:alpha val="43137"/>
                  </a:srgbClr>
                </a:outerShdw>
              </a:effectLst>
            </a:endParaRPr>
          </a:p>
        </p:txBody>
      </p:sp>
      <p:pic>
        <p:nvPicPr>
          <p:cNvPr id="17411" name="Picture 3" descr="3pot"/>
          <p:cNvPicPr>
            <a:picLocks noChangeAspect="1" noChangeArrowheads="1"/>
          </p:cNvPicPr>
          <p:nvPr/>
        </p:nvPicPr>
        <p:blipFill>
          <a:blip r:embed="rId3" cstate="print"/>
          <a:srcRect/>
          <a:stretch>
            <a:fillRect/>
          </a:stretch>
        </p:blipFill>
        <p:spPr bwMode="auto">
          <a:xfrm>
            <a:off x="1115616" y="980728"/>
            <a:ext cx="2549525" cy="5635625"/>
          </a:xfrm>
          <a:prstGeom prst="rect">
            <a:avLst/>
          </a:prstGeom>
          <a:noFill/>
          <a:ln w="9525">
            <a:noFill/>
            <a:miter lim="800000"/>
            <a:headEnd/>
            <a:tailEnd/>
          </a:ln>
        </p:spPr>
      </p:pic>
      <p:sp>
        <p:nvSpPr>
          <p:cNvPr id="344070" name="Text Box 6"/>
          <p:cNvSpPr txBox="1">
            <a:spLocks noChangeArrowheads="1"/>
          </p:cNvSpPr>
          <p:nvPr/>
        </p:nvSpPr>
        <p:spPr bwMode="auto">
          <a:xfrm>
            <a:off x="304800" y="234950"/>
            <a:ext cx="6459538" cy="641350"/>
          </a:xfrm>
          <a:prstGeom prst="rect">
            <a:avLst/>
          </a:prstGeom>
          <a:noFill/>
          <a:ln w="9525">
            <a:noFill/>
            <a:miter lim="800000"/>
            <a:headEnd/>
            <a:tailEnd/>
          </a:ln>
          <a:effectLst/>
        </p:spPr>
        <p:txBody>
          <a:bodyPr wrap="none">
            <a:spAutoFit/>
          </a:bodyPr>
          <a:lstStyle/>
          <a:p>
            <a:pPr eaLnBrk="1" hangingPunct="1"/>
            <a:r>
              <a:rPr lang="tr-TR" altLang="tr-TR" sz="3600" b="1" u="none">
                <a:solidFill>
                  <a:srgbClr val="000066"/>
                </a:solidFill>
                <a:latin typeface="Freestyle Script" pitchFamily="66" charset="0"/>
              </a:rPr>
              <a:t>Nuremberg, John Cuff (1750)</a:t>
            </a:r>
          </a:p>
        </p:txBody>
      </p:sp>
      <p:pic>
        <p:nvPicPr>
          <p:cNvPr id="17413" name="Picture 7" descr="Compound microscope made by John Cuff in 1750">
            <a:hlinkClick r:id="rId4" tooltip="Compound microscope made by John Cuff in 1750"/>
          </p:cNvPr>
          <p:cNvPicPr>
            <a:picLocks noChangeAspect="1" noChangeArrowheads="1"/>
          </p:cNvPicPr>
          <p:nvPr/>
        </p:nvPicPr>
        <p:blipFill>
          <a:blip r:embed="rId5" cstate="print"/>
          <a:srcRect/>
          <a:stretch>
            <a:fillRect/>
          </a:stretch>
        </p:blipFill>
        <p:spPr bwMode="auto">
          <a:xfrm>
            <a:off x="4860032" y="980728"/>
            <a:ext cx="2473325" cy="5632450"/>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withEffect">
                                  <p:stCondLst>
                                    <p:cond delay="0"/>
                                  </p:stCondLst>
                                  <p:childTnLst>
                                    <p:set>
                                      <p:cBhvr>
                                        <p:cTn id="6" dur="1" fill="hold">
                                          <p:stCondLst>
                                            <p:cond delay="0"/>
                                          </p:stCondLst>
                                        </p:cTn>
                                        <p:tgtEl>
                                          <p:spTgt spid="344066"/>
                                        </p:tgtEl>
                                        <p:attrNameLst>
                                          <p:attrName>style.visibility</p:attrName>
                                        </p:attrNameLst>
                                      </p:cBhvr>
                                      <p:to>
                                        <p:strVal val="visible"/>
                                      </p:to>
                                    </p:set>
                                    <p:animEffect transition="in" filter="wipe(right)">
                                      <p:cBhvr>
                                        <p:cTn id="7" dur="500"/>
                                        <p:tgtEl>
                                          <p:spTgt spid="34406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4070"/>
                                        </p:tgtEl>
                                        <p:attrNameLst>
                                          <p:attrName>style.visibility</p:attrName>
                                        </p:attrNameLst>
                                      </p:cBhvr>
                                      <p:to>
                                        <p:strVal val="visible"/>
                                      </p:to>
                                    </p:set>
                                    <p:animEffect transition="in" filter="wipe(left)">
                                      <p:cBhvr>
                                        <p:cTn id="11" dur="500"/>
                                        <p:tgtEl>
                                          <p:spTgt spid="344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9" descr="screwbarell scope 1720"/>
          <p:cNvPicPr>
            <a:picLocks noChangeAspect="1" noChangeArrowheads="1"/>
          </p:cNvPicPr>
          <p:nvPr/>
        </p:nvPicPr>
        <p:blipFill>
          <a:blip r:embed="rId3" cstate="print"/>
          <a:srcRect l="58664" r="4323"/>
          <a:stretch>
            <a:fillRect/>
          </a:stretch>
        </p:blipFill>
        <p:spPr bwMode="auto">
          <a:xfrm>
            <a:off x="5580112" y="188640"/>
            <a:ext cx="3348037" cy="3656013"/>
          </a:xfrm>
          <a:prstGeom prst="rect">
            <a:avLst/>
          </a:prstGeom>
          <a:noFill/>
          <a:ln w="9525">
            <a:noFill/>
            <a:miter lim="800000"/>
            <a:headEnd/>
            <a:tailEnd/>
          </a:ln>
        </p:spPr>
      </p:pic>
      <p:grpSp>
        <p:nvGrpSpPr>
          <p:cNvPr id="2" name="Group 11"/>
          <p:cNvGrpSpPr>
            <a:grpSpLocks/>
          </p:cNvGrpSpPr>
          <p:nvPr/>
        </p:nvGrpSpPr>
        <p:grpSpPr bwMode="auto">
          <a:xfrm>
            <a:off x="323528" y="188640"/>
            <a:ext cx="2951163" cy="3692525"/>
            <a:chOff x="500" y="1531"/>
            <a:chExt cx="2090" cy="2501"/>
          </a:xfrm>
        </p:grpSpPr>
        <p:pic>
          <p:nvPicPr>
            <p:cNvPr id="18439" name="Picture 12" descr="scope1"/>
            <p:cNvPicPr>
              <a:picLocks noChangeAspect="1" noChangeArrowheads="1"/>
            </p:cNvPicPr>
            <p:nvPr/>
          </p:nvPicPr>
          <p:blipFill>
            <a:blip r:embed="rId4" cstate="print"/>
            <a:srcRect/>
            <a:stretch>
              <a:fillRect/>
            </a:stretch>
          </p:blipFill>
          <p:spPr bwMode="auto">
            <a:xfrm>
              <a:off x="500" y="1531"/>
              <a:ext cx="2090" cy="2501"/>
            </a:xfrm>
            <a:prstGeom prst="rect">
              <a:avLst/>
            </a:prstGeom>
            <a:noFill/>
            <a:ln w="9525">
              <a:noFill/>
              <a:miter lim="800000"/>
              <a:headEnd/>
              <a:tailEnd/>
            </a:ln>
          </p:spPr>
        </p:pic>
        <p:sp>
          <p:nvSpPr>
            <p:cNvPr id="18440" name="Rectangle 13"/>
            <p:cNvSpPr>
              <a:spLocks noChangeArrowheads="1"/>
            </p:cNvSpPr>
            <p:nvPr/>
          </p:nvSpPr>
          <p:spPr bwMode="auto">
            <a:xfrm>
              <a:off x="624" y="3848"/>
              <a:ext cx="725" cy="166"/>
            </a:xfrm>
            <a:prstGeom prst="rect">
              <a:avLst/>
            </a:prstGeom>
            <a:noFill/>
            <a:ln w="12699">
              <a:noFill/>
              <a:miter lim="800000"/>
              <a:headEnd/>
              <a:tailEnd/>
            </a:ln>
            <a:effectLst/>
          </p:spPr>
          <p:txBody>
            <a:bodyPr wrap="none">
              <a:spAutoFit/>
            </a:bodyPr>
            <a:lstStyle/>
            <a:p>
              <a:r>
                <a:rPr lang="en-US" altLang="tr-TR" sz="1000" i="1" u="none">
                  <a:solidFill>
                    <a:schemeClr val="bg1"/>
                  </a:solidFill>
                </a:rPr>
                <a:t>J.Paul Robinson</a:t>
              </a:r>
            </a:p>
          </p:txBody>
        </p:sp>
      </p:grpSp>
      <p:grpSp>
        <p:nvGrpSpPr>
          <p:cNvPr id="3" name="Group 6"/>
          <p:cNvGrpSpPr>
            <a:grpSpLocks/>
          </p:cNvGrpSpPr>
          <p:nvPr/>
        </p:nvGrpSpPr>
        <p:grpSpPr bwMode="auto">
          <a:xfrm>
            <a:off x="2700338" y="2924175"/>
            <a:ext cx="3995737" cy="3673177"/>
            <a:chOff x="197" y="1594"/>
            <a:chExt cx="1591" cy="2121"/>
          </a:xfrm>
        </p:grpSpPr>
        <p:pic>
          <p:nvPicPr>
            <p:cNvPr id="18437" name="Picture 7" descr="IMG_2448"/>
            <p:cNvPicPr>
              <a:picLocks noChangeAspect="1" noChangeArrowheads="1"/>
            </p:cNvPicPr>
            <p:nvPr/>
          </p:nvPicPr>
          <p:blipFill>
            <a:blip r:embed="rId5" cstate="print"/>
            <a:srcRect/>
            <a:stretch>
              <a:fillRect/>
            </a:stretch>
          </p:blipFill>
          <p:spPr bwMode="auto">
            <a:xfrm>
              <a:off x="197" y="1594"/>
              <a:ext cx="1591" cy="2121"/>
            </a:xfrm>
            <a:prstGeom prst="rect">
              <a:avLst/>
            </a:prstGeom>
            <a:noFill/>
            <a:ln w="9525">
              <a:noFill/>
              <a:miter lim="800000"/>
              <a:headEnd/>
              <a:tailEnd/>
            </a:ln>
          </p:spPr>
        </p:pic>
        <p:sp>
          <p:nvSpPr>
            <p:cNvPr id="18438" name="Text Box 8"/>
            <p:cNvSpPr txBox="1">
              <a:spLocks noChangeArrowheads="1"/>
            </p:cNvSpPr>
            <p:nvPr/>
          </p:nvSpPr>
          <p:spPr bwMode="auto">
            <a:xfrm>
              <a:off x="673" y="3523"/>
              <a:ext cx="73" cy="182"/>
            </a:xfrm>
            <a:prstGeom prst="rect">
              <a:avLst/>
            </a:prstGeom>
            <a:noFill/>
            <a:ln w="12699">
              <a:noFill/>
              <a:miter lim="800000"/>
              <a:headEnd/>
              <a:tailEnd/>
            </a:ln>
            <a:effectLst/>
          </p:spPr>
          <p:txBody>
            <a:bodyPr wrap="none">
              <a:spAutoFit/>
            </a:bodyPr>
            <a:lstStyle/>
            <a:p>
              <a:endParaRPr lang="tr-TR" altLang="tr-TR" sz="1600" i="1" u="none">
                <a:solidFill>
                  <a:schemeClr val="bg1"/>
                </a:solidFill>
              </a:endParaRPr>
            </a:p>
          </p:txBody>
        </p:sp>
      </p:grpSp>
    </p:spTree>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ext Box 2"/>
          <p:cNvSpPr txBox="1">
            <a:spLocks noChangeArrowheads="1"/>
          </p:cNvSpPr>
          <p:nvPr/>
        </p:nvSpPr>
        <p:spPr bwMode="auto">
          <a:xfrm>
            <a:off x="0" y="115888"/>
            <a:ext cx="9144000" cy="641350"/>
          </a:xfrm>
          <a:prstGeom prst="rect">
            <a:avLst/>
          </a:prstGeom>
          <a:solidFill>
            <a:schemeClr val="hlink"/>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tr-TR" sz="3600" b="1" u="none" dirty="0">
                <a:solidFill>
                  <a:srgbClr val="E8E072"/>
                </a:solidFill>
                <a:effectLst>
                  <a:outerShdw blurRad="38100" dist="38100" dir="2700000" algn="tl">
                    <a:srgbClr val="000000"/>
                  </a:outerShdw>
                </a:effectLst>
                <a:latin typeface="Comic Sans MS" pitchFamily="80" charset="0"/>
              </a:rPr>
              <a:t> 19. yy sonu ve 20. yy.da mikroskoplar</a:t>
            </a:r>
          </a:p>
        </p:txBody>
      </p:sp>
      <p:sp>
        <p:nvSpPr>
          <p:cNvPr id="346115" name="Line 3"/>
          <p:cNvSpPr>
            <a:spLocks noChangeShapeType="1"/>
          </p:cNvSpPr>
          <p:nvPr/>
        </p:nvSpPr>
        <p:spPr bwMode="auto">
          <a:xfrm>
            <a:off x="0" y="914400"/>
            <a:ext cx="9144000" cy="0"/>
          </a:xfrm>
          <a:prstGeom prst="line">
            <a:avLst/>
          </a:prstGeom>
          <a:noFill/>
          <a:ln w="38100">
            <a:solidFill>
              <a:schemeClr val="hlink"/>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defRPr/>
            </a:pPr>
            <a:endParaRPr lang="tr-TR">
              <a:effectLst>
                <a:outerShdw blurRad="38100" dist="38100" dir="2700000" algn="tl">
                  <a:srgbClr val="000000">
                    <a:alpha val="43137"/>
                  </a:srgbClr>
                </a:outerShdw>
              </a:effectLst>
            </a:endParaRPr>
          </a:p>
        </p:txBody>
      </p:sp>
      <p:pic>
        <p:nvPicPr>
          <p:cNvPr id="19460" name="Picture 4" descr="powell"/>
          <p:cNvPicPr>
            <a:picLocks noChangeAspect="1" noChangeArrowheads="1"/>
          </p:cNvPicPr>
          <p:nvPr/>
        </p:nvPicPr>
        <p:blipFill>
          <a:blip r:embed="rId3" cstate="print"/>
          <a:srcRect/>
          <a:stretch>
            <a:fillRect/>
          </a:stretch>
        </p:blipFill>
        <p:spPr bwMode="auto">
          <a:xfrm>
            <a:off x="323528" y="1341438"/>
            <a:ext cx="2999110" cy="4319587"/>
          </a:xfrm>
          <a:prstGeom prst="rect">
            <a:avLst/>
          </a:prstGeom>
          <a:noFill/>
          <a:ln w="9525">
            <a:noFill/>
            <a:miter lim="800000"/>
            <a:headEnd/>
            <a:tailEnd/>
          </a:ln>
        </p:spPr>
      </p:pic>
      <p:pic>
        <p:nvPicPr>
          <p:cNvPr id="19461" name="Picture 6" descr="firstnikon"/>
          <p:cNvPicPr>
            <a:picLocks noChangeAspect="1" noChangeArrowheads="1"/>
          </p:cNvPicPr>
          <p:nvPr/>
        </p:nvPicPr>
        <p:blipFill>
          <a:blip r:embed="rId4" cstate="print"/>
          <a:srcRect/>
          <a:stretch>
            <a:fillRect/>
          </a:stretch>
        </p:blipFill>
        <p:spPr bwMode="auto">
          <a:xfrm>
            <a:off x="3348038" y="1341438"/>
            <a:ext cx="2397125" cy="4319587"/>
          </a:xfrm>
          <a:prstGeom prst="rect">
            <a:avLst/>
          </a:prstGeom>
          <a:noFill/>
          <a:ln w="9525">
            <a:noFill/>
            <a:miter lim="800000"/>
            <a:headEnd/>
            <a:tailEnd/>
          </a:ln>
        </p:spPr>
      </p:pic>
      <p:pic>
        <p:nvPicPr>
          <p:cNvPr id="19462" name="Picture 7" descr="modelg"/>
          <p:cNvPicPr>
            <a:picLocks noChangeAspect="1" noChangeArrowheads="1"/>
          </p:cNvPicPr>
          <p:nvPr/>
        </p:nvPicPr>
        <p:blipFill>
          <a:blip r:embed="rId5" cstate="print"/>
          <a:srcRect/>
          <a:stretch>
            <a:fillRect/>
          </a:stretch>
        </p:blipFill>
        <p:spPr bwMode="auto">
          <a:xfrm>
            <a:off x="5792788" y="1341438"/>
            <a:ext cx="3099692" cy="4319587"/>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withEffect">
                                  <p:stCondLst>
                                    <p:cond delay="0"/>
                                  </p:stCondLst>
                                  <p:childTnLst>
                                    <p:set>
                                      <p:cBhvr>
                                        <p:cTn id="6" dur="1" fill="hold">
                                          <p:stCondLst>
                                            <p:cond delay="0"/>
                                          </p:stCondLst>
                                        </p:cTn>
                                        <p:tgtEl>
                                          <p:spTgt spid="346115"/>
                                        </p:tgtEl>
                                        <p:attrNameLst>
                                          <p:attrName>style.visibility</p:attrName>
                                        </p:attrNameLst>
                                      </p:cBhvr>
                                      <p:to>
                                        <p:strVal val="visible"/>
                                      </p:to>
                                    </p:set>
                                    <p:animEffect transition="in" filter="wipe(right)">
                                      <p:cBhvr>
                                        <p:cTn id="7" dur="500"/>
                                        <p:tgtEl>
                                          <p:spTgt spid="346115"/>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6114"/>
                                        </p:tgtEl>
                                        <p:attrNameLst>
                                          <p:attrName>style.visibility</p:attrName>
                                        </p:attrNameLst>
                                      </p:cBhvr>
                                      <p:to>
                                        <p:strVal val="visible"/>
                                      </p:to>
                                    </p:set>
                                    <p:animEffect transition="in" filter="wipe(left)">
                                      <p:cBhvr>
                                        <p:cTn id="11" dur="500"/>
                                        <p:tgtEl>
                                          <p:spTgt spid="346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4"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Line 2"/>
          <p:cNvSpPr>
            <a:spLocks noChangeShapeType="1"/>
          </p:cNvSpPr>
          <p:nvPr/>
        </p:nvSpPr>
        <p:spPr bwMode="auto">
          <a:xfrm>
            <a:off x="0" y="914400"/>
            <a:ext cx="9144000" cy="0"/>
          </a:xfrm>
          <a:prstGeom prst="line">
            <a:avLst/>
          </a:prstGeom>
          <a:noFill/>
          <a:ln w="38100">
            <a:solidFill>
              <a:schemeClr val="hlink"/>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defRPr/>
            </a:pPr>
            <a:endParaRPr lang="tr-TR">
              <a:effectLst>
                <a:outerShdw blurRad="38100" dist="38100" dir="2700000" algn="tl">
                  <a:srgbClr val="000000">
                    <a:alpha val="43137"/>
                  </a:srgbClr>
                </a:outerShdw>
              </a:effectLst>
            </a:endParaRPr>
          </a:p>
        </p:txBody>
      </p:sp>
      <p:pic>
        <p:nvPicPr>
          <p:cNvPr id="21507" name="Picture 3" descr="isikli"/>
          <p:cNvPicPr>
            <a:picLocks noChangeAspect="1" noChangeArrowheads="1"/>
          </p:cNvPicPr>
          <p:nvPr/>
        </p:nvPicPr>
        <p:blipFill>
          <a:blip r:embed="rId3" cstate="print"/>
          <a:srcRect/>
          <a:stretch>
            <a:fillRect/>
          </a:stretch>
        </p:blipFill>
        <p:spPr bwMode="auto">
          <a:xfrm>
            <a:off x="4800600" y="1055688"/>
            <a:ext cx="3136900" cy="5181600"/>
          </a:xfrm>
          <a:prstGeom prst="rect">
            <a:avLst/>
          </a:prstGeom>
          <a:noFill/>
          <a:ln w="9525">
            <a:noFill/>
            <a:miter lim="800000"/>
            <a:headEnd/>
            <a:tailEnd/>
          </a:ln>
        </p:spPr>
      </p:pic>
      <p:pic>
        <p:nvPicPr>
          <p:cNvPr id="21508" name="Picture 4" descr="aynali"/>
          <p:cNvPicPr>
            <a:picLocks noChangeAspect="1" noChangeArrowheads="1"/>
          </p:cNvPicPr>
          <p:nvPr/>
        </p:nvPicPr>
        <p:blipFill>
          <a:blip r:embed="rId4" cstate="print"/>
          <a:srcRect/>
          <a:stretch>
            <a:fillRect/>
          </a:stretch>
        </p:blipFill>
        <p:spPr bwMode="auto">
          <a:xfrm>
            <a:off x="963613" y="1055688"/>
            <a:ext cx="2838450" cy="5181600"/>
          </a:xfrm>
          <a:prstGeom prst="rect">
            <a:avLst/>
          </a:prstGeom>
          <a:noFill/>
          <a:ln w="9525">
            <a:noFill/>
            <a:miter lim="800000"/>
            <a:headEnd/>
            <a:tailEnd/>
          </a:ln>
        </p:spPr>
      </p:pic>
      <p:sp>
        <p:nvSpPr>
          <p:cNvPr id="353286" name="Text Box 6"/>
          <p:cNvSpPr txBox="1">
            <a:spLocks noChangeArrowheads="1"/>
          </p:cNvSpPr>
          <p:nvPr/>
        </p:nvSpPr>
        <p:spPr bwMode="auto">
          <a:xfrm>
            <a:off x="1820863" y="6284913"/>
            <a:ext cx="1073150" cy="457200"/>
          </a:xfrm>
          <a:prstGeom prst="rect">
            <a:avLst/>
          </a:prstGeom>
          <a:noFill/>
          <a:ln w="9525">
            <a:noFill/>
            <a:miter lim="800000"/>
            <a:headEnd/>
            <a:tailEnd/>
          </a:ln>
          <a:effectLst/>
        </p:spPr>
        <p:txBody>
          <a:bodyPr wrap="none">
            <a:spAutoFit/>
          </a:bodyPr>
          <a:lstStyle/>
          <a:p>
            <a:pPr eaLnBrk="1" hangingPunct="1"/>
            <a:r>
              <a:rPr lang="tr-TR" altLang="tr-TR" b="1" u="none">
                <a:solidFill>
                  <a:srgbClr val="0000FF"/>
                </a:solidFill>
                <a:latin typeface="Comic Sans MS" pitchFamily="80" charset="0"/>
              </a:rPr>
              <a:t>Aynalı</a:t>
            </a:r>
          </a:p>
        </p:txBody>
      </p:sp>
      <p:sp>
        <p:nvSpPr>
          <p:cNvPr id="353287" name="Text Box 7"/>
          <p:cNvSpPr txBox="1">
            <a:spLocks noChangeArrowheads="1"/>
          </p:cNvSpPr>
          <p:nvPr/>
        </p:nvSpPr>
        <p:spPr bwMode="auto">
          <a:xfrm>
            <a:off x="5807075" y="6284913"/>
            <a:ext cx="1277938" cy="457200"/>
          </a:xfrm>
          <a:prstGeom prst="rect">
            <a:avLst/>
          </a:prstGeom>
          <a:noFill/>
          <a:ln w="9525">
            <a:noFill/>
            <a:miter lim="800000"/>
            <a:headEnd/>
            <a:tailEnd/>
          </a:ln>
          <a:effectLst/>
        </p:spPr>
        <p:txBody>
          <a:bodyPr wrap="none">
            <a:spAutoFit/>
          </a:bodyPr>
          <a:lstStyle/>
          <a:p>
            <a:pPr eaLnBrk="1" hangingPunct="1"/>
            <a:r>
              <a:rPr lang="tr-TR" altLang="tr-TR" b="1" u="none">
                <a:solidFill>
                  <a:srgbClr val="0000FF"/>
                </a:solidFill>
                <a:latin typeface="Comic Sans MS" pitchFamily="80" charset="0"/>
              </a:rPr>
              <a:t>Lambalı</a:t>
            </a:r>
          </a:p>
        </p:txBody>
      </p:sp>
      <p:sp>
        <p:nvSpPr>
          <p:cNvPr id="353289" name="Text Box 9" descr="%90"/>
          <p:cNvSpPr txBox="1">
            <a:spLocks noChangeArrowheads="1"/>
          </p:cNvSpPr>
          <p:nvPr/>
        </p:nvSpPr>
        <p:spPr bwMode="auto">
          <a:xfrm>
            <a:off x="467544" y="220663"/>
            <a:ext cx="8424936" cy="588962"/>
          </a:xfrm>
          <a:prstGeom prst="rect">
            <a:avLst/>
          </a:prstGeom>
          <a:pattFill prst="pct90">
            <a:fgClr>
              <a:srgbClr val="FFFF00">
                <a:alpha val="17000"/>
              </a:srgbClr>
            </a:fgClr>
            <a:bgClr>
              <a:srgbClr val="0000FF">
                <a:alpha val="17000"/>
              </a:srgbClr>
            </a:bgClr>
          </a:pattFill>
          <a:ln w="9525" cap="rnd">
            <a:pattFill prst="lgCheck">
              <a:fgClr>
                <a:srgbClr val="0000FF"/>
              </a:fgClr>
              <a:bgClr>
                <a:srgbClr val="FFFF00"/>
              </a:bgClr>
            </a:patt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tr-TR" sz="3200" b="1" u="none" dirty="0">
                <a:solidFill>
                  <a:srgbClr val="0000FF"/>
                </a:solidFill>
                <a:effectLst>
                  <a:outerShdw blurRad="38100" dist="38100" dir="2700000" algn="tl">
                    <a:srgbClr val="000000"/>
                  </a:outerShdw>
                </a:effectLst>
                <a:latin typeface="Tahoma" pitchFamily="80" charset="0"/>
              </a:rPr>
              <a:t>                </a:t>
            </a:r>
            <a:r>
              <a:rPr lang="tr-TR" sz="3200" b="1" u="none" dirty="0" smtClean="0">
                <a:solidFill>
                  <a:srgbClr val="0000FF"/>
                </a:solidFill>
                <a:effectLst>
                  <a:outerShdw blurRad="38100" dist="38100" dir="2700000" algn="tl">
                    <a:srgbClr val="000000"/>
                  </a:outerShdw>
                </a:effectLst>
                <a:latin typeface="Tahoma" pitchFamily="80" charset="0"/>
              </a:rPr>
              <a:t>MONOKÜLER MİKROSKOPLAR                  </a:t>
            </a:r>
            <a:endParaRPr lang="tr-TR" sz="3200" b="1" u="none" dirty="0">
              <a:solidFill>
                <a:srgbClr val="0000FF"/>
              </a:solidFill>
              <a:effectLst>
                <a:outerShdw blurRad="38100" dist="38100" dir="2700000" algn="tl">
                  <a:srgbClr val="000000"/>
                </a:outerShdw>
              </a:effectLst>
              <a:latin typeface="Tahoma" pitchFamily="80"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withEffect">
                                  <p:stCondLst>
                                    <p:cond delay="0"/>
                                  </p:stCondLst>
                                  <p:childTnLst>
                                    <p:set>
                                      <p:cBhvr>
                                        <p:cTn id="6" dur="1" fill="hold">
                                          <p:stCondLst>
                                            <p:cond delay="0"/>
                                          </p:stCondLst>
                                        </p:cTn>
                                        <p:tgtEl>
                                          <p:spTgt spid="353282"/>
                                        </p:tgtEl>
                                        <p:attrNameLst>
                                          <p:attrName>style.visibility</p:attrName>
                                        </p:attrNameLst>
                                      </p:cBhvr>
                                      <p:to>
                                        <p:strVal val="visible"/>
                                      </p:to>
                                    </p:set>
                                    <p:animEffect transition="in" filter="wipe(right)">
                                      <p:cBhvr>
                                        <p:cTn id="7" dur="500"/>
                                        <p:tgtEl>
                                          <p:spTgt spid="35328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53286"/>
                                        </p:tgtEl>
                                        <p:attrNameLst>
                                          <p:attrName>style.visibility</p:attrName>
                                        </p:attrNameLst>
                                      </p:cBhvr>
                                      <p:to>
                                        <p:strVal val="visible"/>
                                      </p:to>
                                    </p:set>
                                    <p:animEffect transition="in" filter="dissolve">
                                      <p:cBhvr>
                                        <p:cTn id="11" dur="500"/>
                                        <p:tgtEl>
                                          <p:spTgt spid="353286"/>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53287"/>
                                        </p:tgtEl>
                                        <p:attrNameLst>
                                          <p:attrName>style.visibility</p:attrName>
                                        </p:attrNameLst>
                                      </p:cBhvr>
                                      <p:to>
                                        <p:strVal val="visible"/>
                                      </p:to>
                                    </p:set>
                                    <p:animEffect transition="in" filter="dissolve">
                                      <p:cBhvr>
                                        <p:cTn id="15" dur="500"/>
                                        <p:tgtEl>
                                          <p:spTgt spid="353287"/>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53289"/>
                                        </p:tgtEl>
                                        <p:attrNameLst>
                                          <p:attrName>style.visibility</p:attrName>
                                        </p:attrNameLst>
                                      </p:cBhvr>
                                      <p:to>
                                        <p:strVal val="visible"/>
                                      </p:to>
                                    </p:set>
                                    <p:animEffect transition="in" filter="wipe(left)">
                                      <p:cBhvr>
                                        <p:cTn id="19" dur="500"/>
                                        <p:tgtEl>
                                          <p:spTgt spid="353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6" grpId="0"/>
      <p:bldP spid="353287" grpId="0"/>
      <p:bldP spid="353289"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Line 2"/>
          <p:cNvSpPr>
            <a:spLocks noChangeShapeType="1"/>
          </p:cNvSpPr>
          <p:nvPr/>
        </p:nvSpPr>
        <p:spPr bwMode="auto">
          <a:xfrm>
            <a:off x="0" y="914400"/>
            <a:ext cx="9144000" cy="0"/>
          </a:xfrm>
          <a:prstGeom prst="line">
            <a:avLst/>
          </a:prstGeom>
          <a:noFill/>
          <a:ln w="38100">
            <a:solidFill>
              <a:schemeClr val="hlink"/>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defRPr/>
            </a:pPr>
            <a:endParaRPr lang="tr-TR">
              <a:effectLst>
                <a:outerShdw blurRad="38100" dist="38100" dir="2700000" algn="tl">
                  <a:srgbClr val="000000">
                    <a:alpha val="43137"/>
                  </a:srgbClr>
                </a:outerShdw>
              </a:effectLst>
            </a:endParaRPr>
          </a:p>
        </p:txBody>
      </p:sp>
      <p:pic>
        <p:nvPicPr>
          <p:cNvPr id="22531" name="Picture 3" descr="dual"/>
          <p:cNvPicPr>
            <a:picLocks noChangeAspect="1" noChangeArrowheads="1"/>
          </p:cNvPicPr>
          <p:nvPr/>
        </p:nvPicPr>
        <p:blipFill>
          <a:blip r:embed="rId3" cstate="print"/>
          <a:srcRect/>
          <a:stretch>
            <a:fillRect/>
          </a:stretch>
        </p:blipFill>
        <p:spPr bwMode="auto">
          <a:xfrm>
            <a:off x="827088" y="981075"/>
            <a:ext cx="3816350" cy="5543550"/>
          </a:xfrm>
          <a:prstGeom prst="rect">
            <a:avLst/>
          </a:prstGeom>
          <a:noFill/>
          <a:ln w="9525">
            <a:noFill/>
            <a:miter lim="800000"/>
            <a:headEnd/>
            <a:tailEnd/>
          </a:ln>
        </p:spPr>
      </p:pic>
      <p:sp>
        <p:nvSpPr>
          <p:cNvPr id="354308" name="Text Box 4" descr="%90"/>
          <p:cNvSpPr txBox="1">
            <a:spLocks noChangeArrowheads="1"/>
          </p:cNvSpPr>
          <p:nvPr/>
        </p:nvSpPr>
        <p:spPr bwMode="auto">
          <a:xfrm>
            <a:off x="251520" y="220663"/>
            <a:ext cx="8712968" cy="461665"/>
          </a:xfrm>
          <a:prstGeom prst="rect">
            <a:avLst/>
          </a:prstGeom>
          <a:pattFill prst="pct90">
            <a:fgClr>
              <a:srgbClr val="FFFF00">
                <a:alpha val="17000"/>
              </a:srgbClr>
            </a:fgClr>
            <a:bgClr>
              <a:srgbClr val="0000FF">
                <a:alpha val="17000"/>
              </a:srgbClr>
            </a:bgClr>
          </a:pattFill>
          <a:ln w="9525" cap="rnd">
            <a:pattFill prst="lgCheck">
              <a:fgClr>
                <a:srgbClr val="0000FF"/>
              </a:fgClr>
              <a:bgClr>
                <a:srgbClr val="FFFF00"/>
              </a:bgClr>
            </a:patt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tr-TR" sz="2400" b="1" u="none" dirty="0" smtClean="0">
                <a:solidFill>
                  <a:srgbClr val="0000FF"/>
                </a:solidFill>
                <a:effectLst>
                  <a:outerShdw blurRad="38100" dist="38100" dir="2700000" algn="tl">
                    <a:srgbClr val="000000"/>
                  </a:outerShdw>
                </a:effectLst>
                <a:latin typeface="Tahoma" pitchFamily="80" charset="0"/>
              </a:rPr>
              <a:t>BİNOKÜLER MİKROSKOP - UNİLOKÜLER MİKROSKOP</a:t>
            </a:r>
            <a:endParaRPr lang="tr-TR" sz="2400" b="1" u="none" dirty="0">
              <a:solidFill>
                <a:srgbClr val="0000FF"/>
              </a:solidFill>
              <a:effectLst>
                <a:outerShdw blurRad="38100" dist="38100" dir="2700000" algn="tl">
                  <a:srgbClr val="000000"/>
                </a:outerShdw>
              </a:effectLst>
              <a:latin typeface="Tahoma" pitchFamily="80" charset="0"/>
            </a:endParaRPr>
          </a:p>
        </p:txBody>
      </p:sp>
      <p:pic>
        <p:nvPicPr>
          <p:cNvPr id="22533" name="Picture 5" descr="video"/>
          <p:cNvPicPr>
            <a:picLocks noChangeAspect="1" noChangeArrowheads="1"/>
          </p:cNvPicPr>
          <p:nvPr/>
        </p:nvPicPr>
        <p:blipFill>
          <a:blip r:embed="rId4" cstate="print"/>
          <a:srcRect/>
          <a:stretch>
            <a:fillRect/>
          </a:stretch>
        </p:blipFill>
        <p:spPr bwMode="auto">
          <a:xfrm>
            <a:off x="5076056" y="980728"/>
            <a:ext cx="3228975" cy="5534025"/>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354306"/>
                                        </p:tgtEl>
                                        <p:attrNameLst>
                                          <p:attrName>style.visibility</p:attrName>
                                        </p:attrNameLst>
                                      </p:cBhvr>
                                      <p:to>
                                        <p:strVal val="visible"/>
                                      </p:to>
                                    </p:set>
                                    <p:animEffect transition="in" filter="wipe(right)">
                                      <p:cBhvr>
                                        <p:cTn id="7" dur="500"/>
                                        <p:tgtEl>
                                          <p:spTgt spid="35430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4308"/>
                                        </p:tgtEl>
                                        <p:attrNameLst>
                                          <p:attrName>style.visibility</p:attrName>
                                        </p:attrNameLst>
                                      </p:cBhvr>
                                      <p:to>
                                        <p:strVal val="visible"/>
                                      </p:to>
                                    </p:set>
                                    <p:animEffect transition="in" filter="wipe(left)">
                                      <p:cBhvr>
                                        <p:cTn id="11" dur="500"/>
                                        <p:tgtEl>
                                          <p:spTgt spid="354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8"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Line 2"/>
          <p:cNvSpPr>
            <a:spLocks noChangeShapeType="1"/>
          </p:cNvSpPr>
          <p:nvPr/>
        </p:nvSpPr>
        <p:spPr bwMode="auto">
          <a:xfrm>
            <a:off x="0" y="914400"/>
            <a:ext cx="9144000" cy="0"/>
          </a:xfrm>
          <a:prstGeom prst="line">
            <a:avLst/>
          </a:prstGeom>
          <a:noFill/>
          <a:ln w="38100">
            <a:solidFill>
              <a:schemeClr val="hlink"/>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a:defRPr/>
            </a:pPr>
            <a:endParaRPr lang="tr-TR">
              <a:effectLst>
                <a:outerShdw blurRad="38100" dist="38100" dir="2700000" algn="tl">
                  <a:srgbClr val="000000">
                    <a:alpha val="43137"/>
                  </a:srgbClr>
                </a:outerShdw>
              </a:effectLst>
            </a:endParaRPr>
          </a:p>
        </p:txBody>
      </p:sp>
      <p:pic>
        <p:nvPicPr>
          <p:cNvPr id="23555" name="Picture 4" descr="stereo"/>
          <p:cNvPicPr>
            <a:picLocks noChangeAspect="1" noChangeArrowheads="1"/>
          </p:cNvPicPr>
          <p:nvPr/>
        </p:nvPicPr>
        <p:blipFill>
          <a:blip r:embed="rId3" cstate="print"/>
          <a:srcRect/>
          <a:stretch>
            <a:fillRect/>
          </a:stretch>
        </p:blipFill>
        <p:spPr bwMode="auto">
          <a:xfrm>
            <a:off x="251520" y="1124744"/>
            <a:ext cx="3556880" cy="5399806"/>
          </a:xfrm>
          <a:prstGeom prst="rect">
            <a:avLst/>
          </a:prstGeom>
          <a:noFill/>
          <a:ln w="9525">
            <a:noFill/>
            <a:miter lim="800000"/>
            <a:headEnd/>
            <a:tailEnd/>
          </a:ln>
        </p:spPr>
      </p:pic>
      <p:sp>
        <p:nvSpPr>
          <p:cNvPr id="355333" name="Text Box 5" descr="%90"/>
          <p:cNvSpPr txBox="1">
            <a:spLocks noChangeArrowheads="1"/>
          </p:cNvSpPr>
          <p:nvPr/>
        </p:nvSpPr>
        <p:spPr bwMode="auto">
          <a:xfrm>
            <a:off x="179512" y="220663"/>
            <a:ext cx="8352928" cy="461665"/>
          </a:xfrm>
          <a:prstGeom prst="rect">
            <a:avLst/>
          </a:prstGeom>
          <a:pattFill prst="pct90">
            <a:fgClr>
              <a:srgbClr val="FFFF00">
                <a:alpha val="17000"/>
              </a:srgbClr>
            </a:fgClr>
            <a:bgClr>
              <a:srgbClr val="0000FF">
                <a:alpha val="17000"/>
              </a:srgbClr>
            </a:bgClr>
          </a:pattFill>
          <a:ln w="9525" cap="rnd">
            <a:pattFill prst="lgCheck">
              <a:fgClr>
                <a:srgbClr val="0000FF"/>
              </a:fgClr>
              <a:bgClr>
                <a:srgbClr val="FFFF00"/>
              </a:bgClr>
            </a:patt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tr-TR" sz="2400" b="1" u="none" dirty="0" smtClean="0">
                <a:solidFill>
                  <a:srgbClr val="0000FF"/>
                </a:solidFill>
                <a:effectLst>
                  <a:outerShdw blurRad="38100" dist="38100" dir="2700000" algn="tl">
                    <a:srgbClr val="000000"/>
                  </a:outerShdw>
                </a:effectLst>
                <a:latin typeface="Tahoma" pitchFamily="80" charset="0"/>
              </a:rPr>
              <a:t>STEREO MİKROSKOP -  ARA</a:t>
            </a:r>
            <a:r>
              <a:rPr lang="tr-TR" sz="2400" b="1" u="none" dirty="0" smtClean="0">
                <a:solidFill>
                  <a:srgbClr val="0000FF"/>
                </a:solidFill>
                <a:effectLst>
                  <a:outerShdw blurRad="38100" dist="38100" dir="2700000" algn="tl">
                    <a:srgbClr val="000000"/>
                  </a:outerShdw>
                </a:effectLst>
                <a:latin typeface="Lucida Grande" pitchFamily="80" charset="0"/>
              </a:rPr>
              <a:t>Ş</a:t>
            </a:r>
            <a:r>
              <a:rPr lang="tr-TR" sz="2400" b="1" u="none" dirty="0" smtClean="0">
                <a:solidFill>
                  <a:srgbClr val="0000FF"/>
                </a:solidFill>
                <a:effectLst>
                  <a:outerShdw blurRad="38100" dist="38100" dir="2700000" algn="tl">
                    <a:srgbClr val="000000"/>
                  </a:outerShdw>
                </a:effectLst>
                <a:latin typeface="Tahoma" pitchFamily="80" charset="0"/>
              </a:rPr>
              <a:t>TIRMA MİKROSKOPU   </a:t>
            </a:r>
            <a:endParaRPr lang="tr-TR" sz="2400" b="1" u="none" dirty="0">
              <a:solidFill>
                <a:srgbClr val="0000FF"/>
              </a:solidFill>
              <a:effectLst>
                <a:outerShdw blurRad="38100" dist="38100" dir="2700000" algn="tl">
                  <a:srgbClr val="000000"/>
                </a:outerShdw>
              </a:effectLst>
              <a:latin typeface="Tahoma" pitchFamily="80" charset="0"/>
            </a:endParaRPr>
          </a:p>
        </p:txBody>
      </p:sp>
      <p:pic>
        <p:nvPicPr>
          <p:cNvPr id="23557" name="Picture 6" descr="provisa"/>
          <p:cNvPicPr>
            <a:picLocks noChangeAspect="1" noChangeArrowheads="1"/>
          </p:cNvPicPr>
          <p:nvPr/>
        </p:nvPicPr>
        <p:blipFill>
          <a:blip r:embed="rId4" cstate="print"/>
          <a:srcRect/>
          <a:stretch>
            <a:fillRect/>
          </a:stretch>
        </p:blipFill>
        <p:spPr bwMode="auto">
          <a:xfrm>
            <a:off x="3724275" y="1125538"/>
            <a:ext cx="5240213" cy="5516562"/>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withEffect">
                                  <p:stCondLst>
                                    <p:cond delay="0"/>
                                  </p:stCondLst>
                                  <p:childTnLst>
                                    <p:set>
                                      <p:cBhvr>
                                        <p:cTn id="6" dur="1" fill="hold">
                                          <p:stCondLst>
                                            <p:cond delay="0"/>
                                          </p:stCondLst>
                                        </p:cTn>
                                        <p:tgtEl>
                                          <p:spTgt spid="355330"/>
                                        </p:tgtEl>
                                        <p:attrNameLst>
                                          <p:attrName>style.visibility</p:attrName>
                                        </p:attrNameLst>
                                      </p:cBhvr>
                                      <p:to>
                                        <p:strVal val="visible"/>
                                      </p:to>
                                    </p:set>
                                    <p:animEffect transition="in" filter="wipe(right)">
                                      <p:cBhvr>
                                        <p:cTn id="7" dur="500"/>
                                        <p:tgtEl>
                                          <p:spTgt spid="35533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5333"/>
                                        </p:tgtEl>
                                        <p:attrNameLst>
                                          <p:attrName>style.visibility</p:attrName>
                                        </p:attrNameLst>
                                      </p:cBhvr>
                                      <p:to>
                                        <p:strVal val="visible"/>
                                      </p:to>
                                    </p:set>
                                    <p:animEffect transition="in" filter="wipe(left)">
                                      <p:cBhvr>
                                        <p:cTn id="11" dur="500"/>
                                        <p:tgtEl>
                                          <p:spTgt spid="355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3"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179512" y="685800"/>
            <a:ext cx="6145088" cy="2590800"/>
          </a:xfrm>
          <a:prstGeom prst="rect">
            <a:avLst/>
          </a:prstGeom>
          <a:noFill/>
          <a:ln w="12699">
            <a:noFill/>
            <a:miter lim="800000"/>
            <a:headEnd/>
            <a:tailEnd/>
          </a:ln>
          <a:effectLst/>
        </p:spPr>
        <p:txBody>
          <a:bodyPr lIns="90488" tIns="44450" rIns="90488" bIns="44450"/>
          <a:lstStyle/>
          <a:p>
            <a:pPr marL="342900" indent="-342900" eaLnBrk="1" hangingPunct="1">
              <a:spcBef>
                <a:spcPct val="20000"/>
              </a:spcBef>
              <a:buClr>
                <a:schemeClr val="hlink"/>
              </a:buClr>
              <a:buSzPct val="80000"/>
              <a:buFont typeface="Wingdings" pitchFamily="80" charset="2"/>
              <a:buChar char="n"/>
            </a:pPr>
            <a:r>
              <a:rPr lang="en-US" altLang="tr-TR" sz="2000" b="1" u="none" dirty="0" smtClean="0">
                <a:latin typeface="Tahoma" pitchFamily="80" charset="0"/>
              </a:rPr>
              <a:t>Absorb</a:t>
            </a:r>
            <a:r>
              <a:rPr lang="tr-TR" altLang="tr-TR" sz="2000" b="1" u="none" dirty="0">
                <a:latin typeface="Tahoma" pitchFamily="80" charset="0"/>
              </a:rPr>
              <a:t>s</a:t>
            </a:r>
            <a:r>
              <a:rPr lang="en-US" altLang="tr-TR" sz="2000" b="1" u="none" dirty="0" err="1">
                <a:latin typeface="Tahoma" pitchFamily="80" charset="0"/>
              </a:rPr>
              <a:t>i</a:t>
            </a:r>
            <a:r>
              <a:rPr lang="tr-TR" altLang="tr-TR" sz="2000" b="1" u="none" dirty="0">
                <a:latin typeface="Tahoma" pitchFamily="80" charset="0"/>
              </a:rPr>
              <a:t>y</a:t>
            </a:r>
            <a:r>
              <a:rPr lang="en-US" altLang="tr-TR" sz="2000" b="1" u="none" dirty="0">
                <a:latin typeface="Tahoma" pitchFamily="80" charset="0"/>
              </a:rPr>
              <a:t>on</a:t>
            </a:r>
            <a:r>
              <a:rPr lang="tr-TR" altLang="tr-TR" sz="2000" b="1" u="none" dirty="0">
                <a:latin typeface="Tahoma" pitchFamily="80" charset="0"/>
              </a:rPr>
              <a:t> (Emilme): </a:t>
            </a:r>
            <a:r>
              <a:rPr lang="tr-TR" altLang="tr-TR" sz="2000" b="1" u="none" dirty="0"/>
              <a:t>Işık bir cisimden geçerken, renk emilimine bağlı olarak yoğunluk azalır. Böylece beyaz ışığın seçici emilimi renkli ışığı </a:t>
            </a:r>
            <a:r>
              <a:rPr lang="tr-TR" altLang="tr-TR" sz="2000" b="1" u="none" dirty="0" smtClean="0"/>
              <a:t>oluşturur</a:t>
            </a:r>
            <a:endParaRPr lang="tr-TR" altLang="tr-TR" sz="2000" b="1" u="none" dirty="0"/>
          </a:p>
          <a:p>
            <a:pPr marL="342900" indent="-342900" eaLnBrk="1" hangingPunct="1">
              <a:spcBef>
                <a:spcPct val="20000"/>
              </a:spcBef>
              <a:buClr>
                <a:schemeClr val="hlink"/>
              </a:buClr>
              <a:buSzPct val="80000"/>
              <a:buFont typeface="Wingdings" pitchFamily="80" charset="2"/>
              <a:buChar char="n"/>
            </a:pPr>
            <a:r>
              <a:rPr lang="tr-TR" altLang="tr-TR" sz="2000" b="1" u="none" dirty="0"/>
              <a:t>Güneş ışığı çeşitli renklerden oluşur ancak denizin derinliklerine tüm renkler </a:t>
            </a:r>
            <a:r>
              <a:rPr lang="tr-TR" altLang="tr-TR" sz="2000" b="1" u="none" dirty="0" smtClean="0"/>
              <a:t>inemezler </a:t>
            </a:r>
            <a:endParaRPr lang="tr-TR" altLang="tr-TR" sz="2000" b="1" u="none" dirty="0"/>
          </a:p>
          <a:p>
            <a:pPr marL="342900" indent="-342900" eaLnBrk="1" hangingPunct="1">
              <a:spcBef>
                <a:spcPct val="20000"/>
              </a:spcBef>
              <a:buClr>
                <a:schemeClr val="hlink"/>
              </a:buClr>
              <a:buSzPct val="80000"/>
              <a:buFont typeface="Wingdings" pitchFamily="80" charset="2"/>
              <a:buChar char="n"/>
            </a:pPr>
            <a:r>
              <a:rPr lang="tr-TR" altLang="tr-TR" sz="2000" b="1" u="none" dirty="0">
                <a:solidFill>
                  <a:srgbClr val="FF0000"/>
                </a:solidFill>
              </a:rPr>
              <a:t>Derinlere indikçe renkler de giderek azalır ve en derinde sadece mavi renk </a:t>
            </a:r>
            <a:r>
              <a:rPr lang="tr-TR" altLang="tr-TR" sz="2000" b="1" u="none" dirty="0" smtClean="0">
                <a:solidFill>
                  <a:srgbClr val="FF0000"/>
                </a:solidFill>
              </a:rPr>
              <a:t>kalır </a:t>
            </a:r>
            <a:endParaRPr lang="en-US" altLang="tr-TR" sz="2000" b="1" u="none" dirty="0">
              <a:solidFill>
                <a:srgbClr val="FF0000"/>
              </a:solidFill>
            </a:endParaRPr>
          </a:p>
        </p:txBody>
      </p:sp>
      <p:sp>
        <p:nvSpPr>
          <p:cNvPr id="361476" name="Rectangle 4"/>
          <p:cNvSpPr>
            <a:spLocks noGrp="1" noChangeArrowheads="1"/>
          </p:cNvSpPr>
          <p:nvPr>
            <p:ph type="title"/>
          </p:nvPr>
        </p:nvSpPr>
        <p:spPr>
          <a:xfrm>
            <a:off x="179512" y="0"/>
            <a:ext cx="8712968" cy="762000"/>
          </a:xfrm>
          <a:solidFill>
            <a:schemeClr val="bg1"/>
          </a:solidFill>
        </p:spPr>
        <p:txBody>
          <a:bodyPr/>
          <a:lstStyle/>
          <a:p>
            <a:pPr eaLnBrk="1" hangingPunct="1">
              <a:defRPr/>
            </a:pPr>
            <a:r>
              <a:rPr lang="tr-TR" b="1" dirty="0" smtClean="0">
                <a:solidFill>
                  <a:srgbClr val="FF0000"/>
                </a:solidFill>
                <a:latin typeface="+mn-lt"/>
              </a:rPr>
              <a:t>OPTİK FİZİKLE İLGİLİ BAZI TERİMLER</a:t>
            </a:r>
            <a:endParaRPr lang="en-US" b="1" dirty="0" smtClean="0">
              <a:solidFill>
                <a:srgbClr val="FF0000"/>
              </a:solidFill>
              <a:latin typeface="+mn-lt"/>
            </a:endParaRPr>
          </a:p>
        </p:txBody>
      </p:sp>
      <p:grpSp>
        <p:nvGrpSpPr>
          <p:cNvPr id="2" name="Group 64"/>
          <p:cNvGrpSpPr>
            <a:grpSpLocks/>
          </p:cNvGrpSpPr>
          <p:nvPr/>
        </p:nvGrpSpPr>
        <p:grpSpPr bwMode="auto">
          <a:xfrm>
            <a:off x="6400800" y="609600"/>
            <a:ext cx="2667000" cy="2209800"/>
            <a:chOff x="1584" y="480"/>
            <a:chExt cx="2996" cy="3225"/>
          </a:xfrm>
        </p:grpSpPr>
        <p:grpSp>
          <p:nvGrpSpPr>
            <p:cNvPr id="3" name="Group 36"/>
            <p:cNvGrpSpPr>
              <a:grpSpLocks/>
            </p:cNvGrpSpPr>
            <p:nvPr/>
          </p:nvGrpSpPr>
          <p:grpSpPr bwMode="auto">
            <a:xfrm>
              <a:off x="1584" y="480"/>
              <a:ext cx="2996" cy="1537"/>
              <a:chOff x="1176" y="584"/>
              <a:chExt cx="3658" cy="2051"/>
            </a:xfrm>
          </p:grpSpPr>
          <p:grpSp>
            <p:nvGrpSpPr>
              <p:cNvPr id="4" name="Group 37"/>
              <p:cNvGrpSpPr>
                <a:grpSpLocks/>
              </p:cNvGrpSpPr>
              <p:nvPr/>
            </p:nvGrpSpPr>
            <p:grpSpPr bwMode="auto">
              <a:xfrm rot="-1506643">
                <a:off x="1176" y="1448"/>
                <a:ext cx="1407" cy="661"/>
                <a:chOff x="2436" y="2293"/>
                <a:chExt cx="1420" cy="737"/>
              </a:xfrm>
            </p:grpSpPr>
            <p:sp>
              <p:nvSpPr>
                <p:cNvPr id="361510" name="Freeform 38"/>
                <p:cNvSpPr>
                  <a:spLocks/>
                </p:cNvSpPr>
                <p:nvPr/>
              </p:nvSpPr>
              <p:spPr bwMode="auto">
                <a:xfrm>
                  <a:off x="2436" y="2443"/>
                  <a:ext cx="1110" cy="572"/>
                </a:xfrm>
                <a:custGeom>
                  <a:avLst/>
                  <a:gdLst>
                    <a:gd name="T0" fmla="*/ 2231 w 2231"/>
                    <a:gd name="T1" fmla="*/ 962 h 1142"/>
                    <a:gd name="T2" fmla="*/ 2077 w 2231"/>
                    <a:gd name="T3" fmla="*/ 1142 h 1142"/>
                    <a:gd name="T4" fmla="*/ 0 w 2231"/>
                    <a:gd name="T5" fmla="*/ 63 h 1142"/>
                    <a:gd name="T6" fmla="*/ 63 w 2231"/>
                    <a:gd name="T7" fmla="*/ 0 h 1142"/>
                    <a:gd name="T8" fmla="*/ 2231 w 2231"/>
                    <a:gd name="T9" fmla="*/ 962 h 1142"/>
                  </a:gdLst>
                  <a:ahLst/>
                  <a:cxnLst>
                    <a:cxn ang="0">
                      <a:pos x="T0" y="T1"/>
                    </a:cxn>
                    <a:cxn ang="0">
                      <a:pos x="T2" y="T3"/>
                    </a:cxn>
                    <a:cxn ang="0">
                      <a:pos x="T4" y="T5"/>
                    </a:cxn>
                    <a:cxn ang="0">
                      <a:pos x="T6" y="T7"/>
                    </a:cxn>
                    <a:cxn ang="0">
                      <a:pos x="T8" y="T9"/>
                    </a:cxn>
                  </a:cxnLst>
                  <a:rect l="0" t="0" r="r" b="b"/>
                  <a:pathLst>
                    <a:path w="2231" h="1142">
                      <a:moveTo>
                        <a:pt x="2231" y="962"/>
                      </a:moveTo>
                      <a:lnTo>
                        <a:pt x="2077" y="1142"/>
                      </a:lnTo>
                      <a:lnTo>
                        <a:pt x="0" y="63"/>
                      </a:lnTo>
                      <a:lnTo>
                        <a:pt x="63" y="0"/>
                      </a:lnTo>
                      <a:lnTo>
                        <a:pt x="2231" y="962"/>
                      </a:lnTo>
                      <a:close/>
                    </a:path>
                  </a:pathLst>
                </a:custGeom>
                <a:solidFill>
                  <a:srgbClr val="80008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80008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11" name="Freeform 39"/>
                <p:cNvSpPr>
                  <a:spLocks/>
                </p:cNvSpPr>
                <p:nvPr/>
              </p:nvSpPr>
              <p:spPr bwMode="auto">
                <a:xfrm>
                  <a:off x="2470" y="2409"/>
                  <a:ext cx="1143" cy="521"/>
                </a:xfrm>
                <a:custGeom>
                  <a:avLst/>
                  <a:gdLst>
                    <a:gd name="T0" fmla="*/ 2291 w 2291"/>
                    <a:gd name="T1" fmla="*/ 885 h 1031"/>
                    <a:gd name="T2" fmla="*/ 2166 w 2291"/>
                    <a:gd name="T3" fmla="*/ 1031 h 1031"/>
                    <a:gd name="T4" fmla="*/ 0 w 2291"/>
                    <a:gd name="T5" fmla="*/ 69 h 1031"/>
                    <a:gd name="T6" fmla="*/ 70 w 2291"/>
                    <a:gd name="T7" fmla="*/ 0 h 1031"/>
                    <a:gd name="T8" fmla="*/ 2291 w 2291"/>
                    <a:gd name="T9" fmla="*/ 885 h 1031"/>
                  </a:gdLst>
                  <a:ahLst/>
                  <a:cxnLst>
                    <a:cxn ang="0">
                      <a:pos x="T0" y="T1"/>
                    </a:cxn>
                    <a:cxn ang="0">
                      <a:pos x="T2" y="T3"/>
                    </a:cxn>
                    <a:cxn ang="0">
                      <a:pos x="T4" y="T5"/>
                    </a:cxn>
                    <a:cxn ang="0">
                      <a:pos x="T6" y="T7"/>
                    </a:cxn>
                    <a:cxn ang="0">
                      <a:pos x="T8" y="T9"/>
                    </a:cxn>
                  </a:cxnLst>
                  <a:rect l="0" t="0" r="r" b="b"/>
                  <a:pathLst>
                    <a:path w="2291" h="1031">
                      <a:moveTo>
                        <a:pt x="2291" y="885"/>
                      </a:moveTo>
                      <a:lnTo>
                        <a:pt x="2166" y="1031"/>
                      </a:lnTo>
                      <a:lnTo>
                        <a:pt x="0" y="69"/>
                      </a:lnTo>
                      <a:lnTo>
                        <a:pt x="70" y="0"/>
                      </a:lnTo>
                      <a:lnTo>
                        <a:pt x="2291" y="885"/>
                      </a:lnTo>
                      <a:close/>
                    </a:path>
                  </a:pathLst>
                </a:custGeom>
                <a:solidFill>
                  <a:srgbClr val="0000FF"/>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0000FF"/>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12" name="Freeform 40"/>
                <p:cNvSpPr>
                  <a:spLocks/>
                </p:cNvSpPr>
                <p:nvPr/>
              </p:nvSpPr>
              <p:spPr bwMode="auto">
                <a:xfrm>
                  <a:off x="2497" y="2377"/>
                  <a:ext cx="1176" cy="483"/>
                </a:xfrm>
                <a:custGeom>
                  <a:avLst/>
                  <a:gdLst>
                    <a:gd name="T0" fmla="*/ 2350 w 2350"/>
                    <a:gd name="T1" fmla="*/ 818 h 963"/>
                    <a:gd name="T2" fmla="*/ 2221 w 2350"/>
                    <a:gd name="T3" fmla="*/ 963 h 963"/>
                    <a:gd name="T4" fmla="*/ 0 w 2350"/>
                    <a:gd name="T5" fmla="*/ 72 h 963"/>
                    <a:gd name="T6" fmla="*/ 69 w 2350"/>
                    <a:gd name="T7" fmla="*/ 0 h 963"/>
                    <a:gd name="T8" fmla="*/ 2350 w 2350"/>
                    <a:gd name="T9" fmla="*/ 818 h 963"/>
                  </a:gdLst>
                  <a:ahLst/>
                  <a:cxnLst>
                    <a:cxn ang="0">
                      <a:pos x="T0" y="T1"/>
                    </a:cxn>
                    <a:cxn ang="0">
                      <a:pos x="T2" y="T3"/>
                    </a:cxn>
                    <a:cxn ang="0">
                      <a:pos x="T4" y="T5"/>
                    </a:cxn>
                    <a:cxn ang="0">
                      <a:pos x="T6" y="T7"/>
                    </a:cxn>
                    <a:cxn ang="0">
                      <a:pos x="T8" y="T9"/>
                    </a:cxn>
                  </a:cxnLst>
                  <a:rect l="0" t="0" r="r" b="b"/>
                  <a:pathLst>
                    <a:path w="2350" h="963">
                      <a:moveTo>
                        <a:pt x="2350" y="818"/>
                      </a:moveTo>
                      <a:lnTo>
                        <a:pt x="2221" y="963"/>
                      </a:lnTo>
                      <a:lnTo>
                        <a:pt x="0" y="72"/>
                      </a:lnTo>
                      <a:lnTo>
                        <a:pt x="69" y="0"/>
                      </a:lnTo>
                      <a:lnTo>
                        <a:pt x="2350" y="818"/>
                      </a:lnTo>
                      <a:close/>
                    </a:path>
                  </a:pathLst>
                </a:custGeom>
                <a:solidFill>
                  <a:srgbClr val="00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00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13" name="Freeform 41"/>
                <p:cNvSpPr>
                  <a:spLocks/>
                </p:cNvSpPr>
                <p:nvPr/>
              </p:nvSpPr>
              <p:spPr bwMode="auto">
                <a:xfrm>
                  <a:off x="2535" y="2344"/>
                  <a:ext cx="1191" cy="445"/>
                </a:xfrm>
                <a:custGeom>
                  <a:avLst/>
                  <a:gdLst>
                    <a:gd name="T0" fmla="*/ 2276 w 2392"/>
                    <a:gd name="T1" fmla="*/ 882 h 882"/>
                    <a:gd name="T2" fmla="*/ 0 w 2392"/>
                    <a:gd name="T3" fmla="*/ 70 h 882"/>
                    <a:gd name="T4" fmla="*/ 69 w 2392"/>
                    <a:gd name="T5" fmla="*/ 0 h 882"/>
                    <a:gd name="T6" fmla="*/ 2392 w 2392"/>
                    <a:gd name="T7" fmla="*/ 751 h 882"/>
                    <a:gd name="T8" fmla="*/ 2276 w 2392"/>
                    <a:gd name="T9" fmla="*/ 882 h 882"/>
                  </a:gdLst>
                  <a:ahLst/>
                  <a:cxnLst>
                    <a:cxn ang="0">
                      <a:pos x="T0" y="T1"/>
                    </a:cxn>
                    <a:cxn ang="0">
                      <a:pos x="T2" y="T3"/>
                    </a:cxn>
                    <a:cxn ang="0">
                      <a:pos x="T4" y="T5"/>
                    </a:cxn>
                    <a:cxn ang="0">
                      <a:pos x="T6" y="T7"/>
                    </a:cxn>
                    <a:cxn ang="0">
                      <a:pos x="T8" y="T9"/>
                    </a:cxn>
                  </a:cxnLst>
                  <a:rect l="0" t="0" r="r" b="b"/>
                  <a:pathLst>
                    <a:path w="2392" h="882">
                      <a:moveTo>
                        <a:pt x="2276" y="882"/>
                      </a:moveTo>
                      <a:lnTo>
                        <a:pt x="0" y="70"/>
                      </a:lnTo>
                      <a:lnTo>
                        <a:pt x="69" y="0"/>
                      </a:lnTo>
                      <a:lnTo>
                        <a:pt x="2392" y="751"/>
                      </a:lnTo>
                      <a:lnTo>
                        <a:pt x="2276" y="882"/>
                      </a:lnTo>
                      <a:close/>
                    </a:path>
                  </a:pathLst>
                </a:custGeom>
                <a:solidFill>
                  <a:srgbClr val="FF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14" name="Freeform 42"/>
                <p:cNvSpPr>
                  <a:spLocks/>
                </p:cNvSpPr>
                <p:nvPr/>
              </p:nvSpPr>
              <p:spPr bwMode="auto">
                <a:xfrm>
                  <a:off x="2571" y="2308"/>
                  <a:ext cx="1220" cy="417"/>
                </a:xfrm>
                <a:custGeom>
                  <a:avLst/>
                  <a:gdLst>
                    <a:gd name="T0" fmla="*/ 0 w 2447"/>
                    <a:gd name="T1" fmla="*/ 71 h 830"/>
                    <a:gd name="T2" fmla="*/ 2314 w 2447"/>
                    <a:gd name="T3" fmla="*/ 830 h 830"/>
                    <a:gd name="T4" fmla="*/ 2447 w 2447"/>
                    <a:gd name="T5" fmla="*/ 680 h 830"/>
                    <a:gd name="T6" fmla="*/ 69 w 2447"/>
                    <a:gd name="T7" fmla="*/ 0 h 830"/>
                    <a:gd name="T8" fmla="*/ 0 w 2447"/>
                    <a:gd name="T9" fmla="*/ 71 h 830"/>
                  </a:gdLst>
                  <a:ahLst/>
                  <a:cxnLst>
                    <a:cxn ang="0">
                      <a:pos x="T0" y="T1"/>
                    </a:cxn>
                    <a:cxn ang="0">
                      <a:pos x="T2" y="T3"/>
                    </a:cxn>
                    <a:cxn ang="0">
                      <a:pos x="T4" y="T5"/>
                    </a:cxn>
                    <a:cxn ang="0">
                      <a:pos x="T6" y="T7"/>
                    </a:cxn>
                    <a:cxn ang="0">
                      <a:pos x="T8" y="T9"/>
                    </a:cxn>
                  </a:cxnLst>
                  <a:rect l="0" t="0" r="r" b="b"/>
                  <a:pathLst>
                    <a:path w="2447" h="830">
                      <a:moveTo>
                        <a:pt x="0" y="71"/>
                      </a:moveTo>
                      <a:lnTo>
                        <a:pt x="2314" y="830"/>
                      </a:lnTo>
                      <a:lnTo>
                        <a:pt x="2447" y="680"/>
                      </a:lnTo>
                      <a:lnTo>
                        <a:pt x="69" y="0"/>
                      </a:lnTo>
                      <a:lnTo>
                        <a:pt x="0" y="71"/>
                      </a:lnTo>
                      <a:close/>
                    </a:path>
                  </a:pathLst>
                </a:custGeom>
                <a:solidFill>
                  <a:srgbClr val="FF8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8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15" name="Freeform 43"/>
                <p:cNvSpPr>
                  <a:spLocks/>
                </p:cNvSpPr>
                <p:nvPr/>
              </p:nvSpPr>
              <p:spPr bwMode="auto">
                <a:xfrm>
                  <a:off x="2603" y="2276"/>
                  <a:ext cx="1253" cy="372"/>
                </a:xfrm>
                <a:custGeom>
                  <a:avLst/>
                  <a:gdLst>
                    <a:gd name="T0" fmla="*/ 2371 w 2504"/>
                    <a:gd name="T1" fmla="*/ 747 h 747"/>
                    <a:gd name="T2" fmla="*/ 0 w 2504"/>
                    <a:gd name="T3" fmla="*/ 69 h 747"/>
                    <a:gd name="T4" fmla="*/ 64 w 2504"/>
                    <a:gd name="T5" fmla="*/ 0 h 747"/>
                    <a:gd name="T6" fmla="*/ 2504 w 2504"/>
                    <a:gd name="T7" fmla="*/ 588 h 747"/>
                    <a:gd name="T8" fmla="*/ 2371 w 2504"/>
                    <a:gd name="T9" fmla="*/ 747 h 747"/>
                  </a:gdLst>
                  <a:ahLst/>
                  <a:cxnLst>
                    <a:cxn ang="0">
                      <a:pos x="T0" y="T1"/>
                    </a:cxn>
                    <a:cxn ang="0">
                      <a:pos x="T2" y="T3"/>
                    </a:cxn>
                    <a:cxn ang="0">
                      <a:pos x="T4" y="T5"/>
                    </a:cxn>
                    <a:cxn ang="0">
                      <a:pos x="T6" y="T7"/>
                    </a:cxn>
                    <a:cxn ang="0">
                      <a:pos x="T8" y="T9"/>
                    </a:cxn>
                  </a:cxnLst>
                  <a:rect l="0" t="0" r="r" b="b"/>
                  <a:pathLst>
                    <a:path w="2504" h="747">
                      <a:moveTo>
                        <a:pt x="2371" y="747"/>
                      </a:moveTo>
                      <a:lnTo>
                        <a:pt x="0" y="69"/>
                      </a:lnTo>
                      <a:lnTo>
                        <a:pt x="64" y="0"/>
                      </a:lnTo>
                      <a:lnTo>
                        <a:pt x="2504" y="588"/>
                      </a:lnTo>
                      <a:lnTo>
                        <a:pt x="2371" y="747"/>
                      </a:lnTo>
                      <a:close/>
                    </a:path>
                  </a:pathLst>
                </a:custGeom>
                <a:solidFill>
                  <a:srgbClr val="FF0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0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grpSp>
          <p:sp>
            <p:nvSpPr>
              <p:cNvPr id="361516" name="Oval 44"/>
              <p:cNvSpPr>
                <a:spLocks noChangeArrowheads="1"/>
              </p:cNvSpPr>
              <p:nvPr/>
            </p:nvSpPr>
            <p:spPr bwMode="auto">
              <a:xfrm flipH="1">
                <a:off x="2360" y="584"/>
                <a:ext cx="640" cy="2050"/>
              </a:xfrm>
              <a:prstGeom prst="ellipse">
                <a:avLst/>
              </a:prstGeom>
              <a:gradFill rotWithShape="0">
                <a:gsLst>
                  <a:gs pos="0">
                    <a:schemeClr val="bg2">
                      <a:gamma/>
                      <a:tint val="3137"/>
                      <a:invGamma/>
                    </a:schemeClr>
                  </a:gs>
                  <a:gs pos="100000">
                    <a:schemeClr val="bg2"/>
                  </a:gs>
                </a:gsLst>
                <a:path path="shape">
                  <a:fillToRect l="50000" t="50000" r="50000" b="50000"/>
                </a:path>
              </a:gradFill>
              <a:ln w="12699">
                <a:round/>
                <a:headEnd/>
                <a:tailEnd/>
              </a:ln>
              <a:effectLst/>
              <a:scene3d>
                <a:camera prst="legacyPerspectiveFront">
                  <a:rot lat="300000" lon="19799999" rev="0"/>
                </a:camera>
                <a:lightRig rig="legacyFlat2" dir="t"/>
              </a:scene3d>
              <a:sp3d extrusionH="887400" prstMaterial="legacyMatte">
                <a:bevelT w="13500" h="13500" prst="angle"/>
                <a:bevelB w="13500" h="13500" prst="angle"/>
                <a:extrusionClr>
                  <a:schemeClr val="bg2"/>
                </a:extrusionClr>
              </a:sp3d>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flatTx/>
              </a:bodyPr>
              <a:lstStyle/>
              <a:p>
                <a:pPr>
                  <a:defRPr/>
                </a:pPr>
                <a:endParaRPr lang="tr-TR">
                  <a:effectLst>
                    <a:outerShdw blurRad="38100" dist="38100" dir="2700000" algn="tl">
                      <a:srgbClr val="000000">
                        <a:alpha val="43137"/>
                      </a:srgbClr>
                    </a:outerShdw>
                  </a:effectLst>
                </a:endParaRPr>
              </a:p>
            </p:txBody>
          </p:sp>
          <p:grpSp>
            <p:nvGrpSpPr>
              <p:cNvPr id="5" name="Group 45"/>
              <p:cNvGrpSpPr>
                <a:grpSpLocks/>
              </p:cNvGrpSpPr>
              <p:nvPr/>
            </p:nvGrpSpPr>
            <p:grpSpPr bwMode="auto">
              <a:xfrm rot="-1850369">
                <a:off x="2640" y="849"/>
                <a:ext cx="2194" cy="1598"/>
                <a:chOff x="2436" y="2293"/>
                <a:chExt cx="1420" cy="737"/>
              </a:xfrm>
            </p:grpSpPr>
            <p:sp>
              <p:nvSpPr>
                <p:cNvPr id="361518" name="Freeform 46"/>
                <p:cNvSpPr>
                  <a:spLocks/>
                </p:cNvSpPr>
                <p:nvPr/>
              </p:nvSpPr>
              <p:spPr bwMode="auto">
                <a:xfrm>
                  <a:off x="2435" y="2457"/>
                  <a:ext cx="1116" cy="565"/>
                </a:xfrm>
                <a:custGeom>
                  <a:avLst/>
                  <a:gdLst>
                    <a:gd name="T0" fmla="*/ 2231 w 2231"/>
                    <a:gd name="T1" fmla="*/ 962 h 1142"/>
                    <a:gd name="T2" fmla="*/ 2077 w 2231"/>
                    <a:gd name="T3" fmla="*/ 1142 h 1142"/>
                    <a:gd name="T4" fmla="*/ 0 w 2231"/>
                    <a:gd name="T5" fmla="*/ 63 h 1142"/>
                    <a:gd name="T6" fmla="*/ 63 w 2231"/>
                    <a:gd name="T7" fmla="*/ 0 h 1142"/>
                    <a:gd name="T8" fmla="*/ 2231 w 2231"/>
                    <a:gd name="T9" fmla="*/ 962 h 1142"/>
                  </a:gdLst>
                  <a:ahLst/>
                  <a:cxnLst>
                    <a:cxn ang="0">
                      <a:pos x="T0" y="T1"/>
                    </a:cxn>
                    <a:cxn ang="0">
                      <a:pos x="T2" y="T3"/>
                    </a:cxn>
                    <a:cxn ang="0">
                      <a:pos x="T4" y="T5"/>
                    </a:cxn>
                    <a:cxn ang="0">
                      <a:pos x="T6" y="T7"/>
                    </a:cxn>
                    <a:cxn ang="0">
                      <a:pos x="T8" y="T9"/>
                    </a:cxn>
                  </a:cxnLst>
                  <a:rect l="0" t="0" r="r" b="b"/>
                  <a:pathLst>
                    <a:path w="2231" h="1142">
                      <a:moveTo>
                        <a:pt x="2231" y="962"/>
                      </a:moveTo>
                      <a:lnTo>
                        <a:pt x="2077" y="1142"/>
                      </a:lnTo>
                      <a:lnTo>
                        <a:pt x="0" y="63"/>
                      </a:lnTo>
                      <a:lnTo>
                        <a:pt x="63" y="0"/>
                      </a:lnTo>
                      <a:lnTo>
                        <a:pt x="2231" y="962"/>
                      </a:lnTo>
                      <a:close/>
                    </a:path>
                  </a:pathLst>
                </a:custGeom>
                <a:solidFill>
                  <a:srgbClr val="80008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80008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19" name="Freeform 47"/>
                <p:cNvSpPr>
                  <a:spLocks/>
                </p:cNvSpPr>
                <p:nvPr/>
              </p:nvSpPr>
              <p:spPr bwMode="auto">
                <a:xfrm>
                  <a:off x="2465" y="2424"/>
                  <a:ext cx="1147" cy="510"/>
                </a:xfrm>
                <a:custGeom>
                  <a:avLst/>
                  <a:gdLst>
                    <a:gd name="T0" fmla="*/ 2291 w 2291"/>
                    <a:gd name="T1" fmla="*/ 885 h 1031"/>
                    <a:gd name="T2" fmla="*/ 2166 w 2291"/>
                    <a:gd name="T3" fmla="*/ 1031 h 1031"/>
                    <a:gd name="T4" fmla="*/ 0 w 2291"/>
                    <a:gd name="T5" fmla="*/ 69 h 1031"/>
                    <a:gd name="T6" fmla="*/ 70 w 2291"/>
                    <a:gd name="T7" fmla="*/ 0 h 1031"/>
                    <a:gd name="T8" fmla="*/ 2291 w 2291"/>
                    <a:gd name="T9" fmla="*/ 885 h 1031"/>
                  </a:gdLst>
                  <a:ahLst/>
                  <a:cxnLst>
                    <a:cxn ang="0">
                      <a:pos x="T0" y="T1"/>
                    </a:cxn>
                    <a:cxn ang="0">
                      <a:pos x="T2" y="T3"/>
                    </a:cxn>
                    <a:cxn ang="0">
                      <a:pos x="T4" y="T5"/>
                    </a:cxn>
                    <a:cxn ang="0">
                      <a:pos x="T6" y="T7"/>
                    </a:cxn>
                    <a:cxn ang="0">
                      <a:pos x="T8" y="T9"/>
                    </a:cxn>
                  </a:cxnLst>
                  <a:rect l="0" t="0" r="r" b="b"/>
                  <a:pathLst>
                    <a:path w="2291" h="1031">
                      <a:moveTo>
                        <a:pt x="2291" y="885"/>
                      </a:moveTo>
                      <a:lnTo>
                        <a:pt x="2166" y="1031"/>
                      </a:lnTo>
                      <a:lnTo>
                        <a:pt x="0" y="69"/>
                      </a:lnTo>
                      <a:lnTo>
                        <a:pt x="70" y="0"/>
                      </a:lnTo>
                      <a:lnTo>
                        <a:pt x="2291" y="885"/>
                      </a:lnTo>
                      <a:close/>
                    </a:path>
                  </a:pathLst>
                </a:custGeom>
                <a:solidFill>
                  <a:srgbClr val="0000FF"/>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0000FF"/>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0" name="Freeform 48"/>
                <p:cNvSpPr>
                  <a:spLocks/>
                </p:cNvSpPr>
                <p:nvPr/>
              </p:nvSpPr>
              <p:spPr bwMode="auto">
                <a:xfrm>
                  <a:off x="2497" y="2391"/>
                  <a:ext cx="1180" cy="478"/>
                </a:xfrm>
                <a:custGeom>
                  <a:avLst/>
                  <a:gdLst>
                    <a:gd name="T0" fmla="*/ 2350 w 2350"/>
                    <a:gd name="T1" fmla="*/ 818 h 963"/>
                    <a:gd name="T2" fmla="*/ 2221 w 2350"/>
                    <a:gd name="T3" fmla="*/ 963 h 963"/>
                    <a:gd name="T4" fmla="*/ 0 w 2350"/>
                    <a:gd name="T5" fmla="*/ 72 h 963"/>
                    <a:gd name="T6" fmla="*/ 69 w 2350"/>
                    <a:gd name="T7" fmla="*/ 0 h 963"/>
                    <a:gd name="T8" fmla="*/ 2350 w 2350"/>
                    <a:gd name="T9" fmla="*/ 818 h 963"/>
                  </a:gdLst>
                  <a:ahLst/>
                  <a:cxnLst>
                    <a:cxn ang="0">
                      <a:pos x="T0" y="T1"/>
                    </a:cxn>
                    <a:cxn ang="0">
                      <a:pos x="T2" y="T3"/>
                    </a:cxn>
                    <a:cxn ang="0">
                      <a:pos x="T4" y="T5"/>
                    </a:cxn>
                    <a:cxn ang="0">
                      <a:pos x="T6" y="T7"/>
                    </a:cxn>
                    <a:cxn ang="0">
                      <a:pos x="T8" y="T9"/>
                    </a:cxn>
                  </a:cxnLst>
                  <a:rect l="0" t="0" r="r" b="b"/>
                  <a:pathLst>
                    <a:path w="2350" h="963">
                      <a:moveTo>
                        <a:pt x="2350" y="818"/>
                      </a:moveTo>
                      <a:lnTo>
                        <a:pt x="2221" y="963"/>
                      </a:lnTo>
                      <a:lnTo>
                        <a:pt x="0" y="72"/>
                      </a:lnTo>
                      <a:lnTo>
                        <a:pt x="69" y="0"/>
                      </a:lnTo>
                      <a:lnTo>
                        <a:pt x="2350" y="818"/>
                      </a:lnTo>
                      <a:close/>
                    </a:path>
                  </a:pathLst>
                </a:custGeom>
                <a:solidFill>
                  <a:srgbClr val="00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00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1" name="Freeform 49"/>
                <p:cNvSpPr>
                  <a:spLocks/>
                </p:cNvSpPr>
                <p:nvPr/>
              </p:nvSpPr>
              <p:spPr bwMode="auto">
                <a:xfrm>
                  <a:off x="2532" y="2357"/>
                  <a:ext cx="1196" cy="438"/>
                </a:xfrm>
                <a:custGeom>
                  <a:avLst/>
                  <a:gdLst>
                    <a:gd name="T0" fmla="*/ 2276 w 2392"/>
                    <a:gd name="T1" fmla="*/ 882 h 882"/>
                    <a:gd name="T2" fmla="*/ 0 w 2392"/>
                    <a:gd name="T3" fmla="*/ 70 h 882"/>
                    <a:gd name="T4" fmla="*/ 69 w 2392"/>
                    <a:gd name="T5" fmla="*/ 0 h 882"/>
                    <a:gd name="T6" fmla="*/ 2392 w 2392"/>
                    <a:gd name="T7" fmla="*/ 751 h 882"/>
                    <a:gd name="T8" fmla="*/ 2276 w 2392"/>
                    <a:gd name="T9" fmla="*/ 882 h 882"/>
                  </a:gdLst>
                  <a:ahLst/>
                  <a:cxnLst>
                    <a:cxn ang="0">
                      <a:pos x="T0" y="T1"/>
                    </a:cxn>
                    <a:cxn ang="0">
                      <a:pos x="T2" y="T3"/>
                    </a:cxn>
                    <a:cxn ang="0">
                      <a:pos x="T4" y="T5"/>
                    </a:cxn>
                    <a:cxn ang="0">
                      <a:pos x="T6" y="T7"/>
                    </a:cxn>
                    <a:cxn ang="0">
                      <a:pos x="T8" y="T9"/>
                    </a:cxn>
                  </a:cxnLst>
                  <a:rect l="0" t="0" r="r" b="b"/>
                  <a:pathLst>
                    <a:path w="2392" h="882">
                      <a:moveTo>
                        <a:pt x="2276" y="882"/>
                      </a:moveTo>
                      <a:lnTo>
                        <a:pt x="0" y="70"/>
                      </a:lnTo>
                      <a:lnTo>
                        <a:pt x="69" y="0"/>
                      </a:lnTo>
                      <a:lnTo>
                        <a:pt x="2392" y="751"/>
                      </a:lnTo>
                      <a:lnTo>
                        <a:pt x="2276" y="882"/>
                      </a:lnTo>
                      <a:close/>
                    </a:path>
                  </a:pathLst>
                </a:custGeom>
                <a:solidFill>
                  <a:srgbClr val="FF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2" name="Freeform 50"/>
                <p:cNvSpPr>
                  <a:spLocks/>
                </p:cNvSpPr>
                <p:nvPr/>
              </p:nvSpPr>
              <p:spPr bwMode="auto">
                <a:xfrm>
                  <a:off x="2567" y="2323"/>
                  <a:ext cx="1223" cy="411"/>
                </a:xfrm>
                <a:custGeom>
                  <a:avLst/>
                  <a:gdLst>
                    <a:gd name="T0" fmla="*/ 0 w 2447"/>
                    <a:gd name="T1" fmla="*/ 71 h 830"/>
                    <a:gd name="T2" fmla="*/ 2314 w 2447"/>
                    <a:gd name="T3" fmla="*/ 830 h 830"/>
                    <a:gd name="T4" fmla="*/ 2447 w 2447"/>
                    <a:gd name="T5" fmla="*/ 680 h 830"/>
                    <a:gd name="T6" fmla="*/ 69 w 2447"/>
                    <a:gd name="T7" fmla="*/ 0 h 830"/>
                    <a:gd name="T8" fmla="*/ 0 w 2447"/>
                    <a:gd name="T9" fmla="*/ 71 h 830"/>
                  </a:gdLst>
                  <a:ahLst/>
                  <a:cxnLst>
                    <a:cxn ang="0">
                      <a:pos x="T0" y="T1"/>
                    </a:cxn>
                    <a:cxn ang="0">
                      <a:pos x="T2" y="T3"/>
                    </a:cxn>
                    <a:cxn ang="0">
                      <a:pos x="T4" y="T5"/>
                    </a:cxn>
                    <a:cxn ang="0">
                      <a:pos x="T6" y="T7"/>
                    </a:cxn>
                    <a:cxn ang="0">
                      <a:pos x="T8" y="T9"/>
                    </a:cxn>
                  </a:cxnLst>
                  <a:rect l="0" t="0" r="r" b="b"/>
                  <a:pathLst>
                    <a:path w="2447" h="830">
                      <a:moveTo>
                        <a:pt x="0" y="71"/>
                      </a:moveTo>
                      <a:lnTo>
                        <a:pt x="2314" y="830"/>
                      </a:lnTo>
                      <a:lnTo>
                        <a:pt x="2447" y="680"/>
                      </a:lnTo>
                      <a:lnTo>
                        <a:pt x="69" y="0"/>
                      </a:lnTo>
                      <a:lnTo>
                        <a:pt x="0" y="71"/>
                      </a:lnTo>
                      <a:close/>
                    </a:path>
                  </a:pathLst>
                </a:custGeom>
                <a:solidFill>
                  <a:srgbClr val="FF8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8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3" name="Freeform 51"/>
                <p:cNvSpPr>
                  <a:spLocks/>
                </p:cNvSpPr>
                <p:nvPr/>
              </p:nvSpPr>
              <p:spPr bwMode="auto">
                <a:xfrm>
                  <a:off x="2604" y="2291"/>
                  <a:ext cx="1253" cy="369"/>
                </a:xfrm>
                <a:custGeom>
                  <a:avLst/>
                  <a:gdLst>
                    <a:gd name="T0" fmla="*/ 2371 w 2504"/>
                    <a:gd name="T1" fmla="*/ 747 h 747"/>
                    <a:gd name="T2" fmla="*/ 0 w 2504"/>
                    <a:gd name="T3" fmla="*/ 69 h 747"/>
                    <a:gd name="T4" fmla="*/ 64 w 2504"/>
                    <a:gd name="T5" fmla="*/ 0 h 747"/>
                    <a:gd name="T6" fmla="*/ 2504 w 2504"/>
                    <a:gd name="T7" fmla="*/ 588 h 747"/>
                    <a:gd name="T8" fmla="*/ 2371 w 2504"/>
                    <a:gd name="T9" fmla="*/ 747 h 747"/>
                  </a:gdLst>
                  <a:ahLst/>
                  <a:cxnLst>
                    <a:cxn ang="0">
                      <a:pos x="T0" y="T1"/>
                    </a:cxn>
                    <a:cxn ang="0">
                      <a:pos x="T2" y="T3"/>
                    </a:cxn>
                    <a:cxn ang="0">
                      <a:pos x="T4" y="T5"/>
                    </a:cxn>
                    <a:cxn ang="0">
                      <a:pos x="T6" y="T7"/>
                    </a:cxn>
                    <a:cxn ang="0">
                      <a:pos x="T8" y="T9"/>
                    </a:cxn>
                  </a:cxnLst>
                  <a:rect l="0" t="0" r="r" b="b"/>
                  <a:pathLst>
                    <a:path w="2504" h="747">
                      <a:moveTo>
                        <a:pt x="2371" y="747"/>
                      </a:moveTo>
                      <a:lnTo>
                        <a:pt x="0" y="69"/>
                      </a:lnTo>
                      <a:lnTo>
                        <a:pt x="64" y="0"/>
                      </a:lnTo>
                      <a:lnTo>
                        <a:pt x="2504" y="588"/>
                      </a:lnTo>
                      <a:lnTo>
                        <a:pt x="2371" y="747"/>
                      </a:lnTo>
                      <a:close/>
                    </a:path>
                  </a:pathLst>
                </a:custGeom>
                <a:solidFill>
                  <a:srgbClr val="FF0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0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grpSp>
        </p:grpSp>
        <p:grpSp>
          <p:nvGrpSpPr>
            <p:cNvPr id="6" name="Group 52"/>
            <p:cNvGrpSpPr>
              <a:grpSpLocks/>
            </p:cNvGrpSpPr>
            <p:nvPr/>
          </p:nvGrpSpPr>
          <p:grpSpPr bwMode="auto">
            <a:xfrm rot="-1506643">
              <a:off x="1616" y="2815"/>
              <a:ext cx="1152" cy="496"/>
              <a:chOff x="2436" y="2293"/>
              <a:chExt cx="1420" cy="737"/>
            </a:xfrm>
          </p:grpSpPr>
          <p:sp>
            <p:nvSpPr>
              <p:cNvPr id="361525" name="Freeform 53"/>
              <p:cNvSpPr>
                <a:spLocks/>
              </p:cNvSpPr>
              <p:nvPr/>
            </p:nvSpPr>
            <p:spPr bwMode="auto">
              <a:xfrm>
                <a:off x="2435" y="2448"/>
                <a:ext cx="1110" cy="568"/>
              </a:xfrm>
              <a:custGeom>
                <a:avLst/>
                <a:gdLst>
                  <a:gd name="T0" fmla="*/ 2231 w 2231"/>
                  <a:gd name="T1" fmla="*/ 962 h 1142"/>
                  <a:gd name="T2" fmla="*/ 2077 w 2231"/>
                  <a:gd name="T3" fmla="*/ 1142 h 1142"/>
                  <a:gd name="T4" fmla="*/ 0 w 2231"/>
                  <a:gd name="T5" fmla="*/ 63 h 1142"/>
                  <a:gd name="T6" fmla="*/ 63 w 2231"/>
                  <a:gd name="T7" fmla="*/ 0 h 1142"/>
                  <a:gd name="T8" fmla="*/ 2231 w 2231"/>
                  <a:gd name="T9" fmla="*/ 962 h 1142"/>
                </a:gdLst>
                <a:ahLst/>
                <a:cxnLst>
                  <a:cxn ang="0">
                    <a:pos x="T0" y="T1"/>
                  </a:cxn>
                  <a:cxn ang="0">
                    <a:pos x="T2" y="T3"/>
                  </a:cxn>
                  <a:cxn ang="0">
                    <a:pos x="T4" y="T5"/>
                  </a:cxn>
                  <a:cxn ang="0">
                    <a:pos x="T6" y="T7"/>
                  </a:cxn>
                  <a:cxn ang="0">
                    <a:pos x="T8" y="T9"/>
                  </a:cxn>
                </a:cxnLst>
                <a:rect l="0" t="0" r="r" b="b"/>
                <a:pathLst>
                  <a:path w="2231" h="1142">
                    <a:moveTo>
                      <a:pt x="2231" y="962"/>
                    </a:moveTo>
                    <a:lnTo>
                      <a:pt x="2077" y="1142"/>
                    </a:lnTo>
                    <a:lnTo>
                      <a:pt x="0" y="63"/>
                    </a:lnTo>
                    <a:lnTo>
                      <a:pt x="63" y="0"/>
                    </a:lnTo>
                    <a:lnTo>
                      <a:pt x="2231" y="962"/>
                    </a:lnTo>
                    <a:close/>
                  </a:path>
                </a:pathLst>
              </a:custGeom>
              <a:solidFill>
                <a:srgbClr val="80008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80008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6" name="Freeform 54"/>
              <p:cNvSpPr>
                <a:spLocks/>
              </p:cNvSpPr>
              <p:nvPr/>
            </p:nvSpPr>
            <p:spPr bwMode="auto">
              <a:xfrm>
                <a:off x="2467" y="2413"/>
                <a:ext cx="1145" cy="516"/>
              </a:xfrm>
              <a:custGeom>
                <a:avLst/>
                <a:gdLst>
                  <a:gd name="T0" fmla="*/ 2291 w 2291"/>
                  <a:gd name="T1" fmla="*/ 885 h 1031"/>
                  <a:gd name="T2" fmla="*/ 2166 w 2291"/>
                  <a:gd name="T3" fmla="*/ 1031 h 1031"/>
                  <a:gd name="T4" fmla="*/ 0 w 2291"/>
                  <a:gd name="T5" fmla="*/ 69 h 1031"/>
                  <a:gd name="T6" fmla="*/ 70 w 2291"/>
                  <a:gd name="T7" fmla="*/ 0 h 1031"/>
                  <a:gd name="T8" fmla="*/ 2291 w 2291"/>
                  <a:gd name="T9" fmla="*/ 885 h 1031"/>
                </a:gdLst>
                <a:ahLst/>
                <a:cxnLst>
                  <a:cxn ang="0">
                    <a:pos x="T0" y="T1"/>
                  </a:cxn>
                  <a:cxn ang="0">
                    <a:pos x="T2" y="T3"/>
                  </a:cxn>
                  <a:cxn ang="0">
                    <a:pos x="T4" y="T5"/>
                  </a:cxn>
                  <a:cxn ang="0">
                    <a:pos x="T6" y="T7"/>
                  </a:cxn>
                  <a:cxn ang="0">
                    <a:pos x="T8" y="T9"/>
                  </a:cxn>
                </a:cxnLst>
                <a:rect l="0" t="0" r="r" b="b"/>
                <a:pathLst>
                  <a:path w="2291" h="1031">
                    <a:moveTo>
                      <a:pt x="2291" y="885"/>
                    </a:moveTo>
                    <a:lnTo>
                      <a:pt x="2166" y="1031"/>
                    </a:lnTo>
                    <a:lnTo>
                      <a:pt x="0" y="69"/>
                    </a:lnTo>
                    <a:lnTo>
                      <a:pt x="70" y="0"/>
                    </a:lnTo>
                    <a:lnTo>
                      <a:pt x="2291" y="885"/>
                    </a:lnTo>
                    <a:close/>
                  </a:path>
                </a:pathLst>
              </a:custGeom>
              <a:solidFill>
                <a:srgbClr val="0000FF"/>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0000FF"/>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7" name="Freeform 55"/>
              <p:cNvSpPr>
                <a:spLocks/>
              </p:cNvSpPr>
              <p:nvPr/>
            </p:nvSpPr>
            <p:spPr bwMode="auto">
              <a:xfrm>
                <a:off x="2498" y="2392"/>
                <a:ext cx="1176" cy="482"/>
              </a:xfrm>
              <a:custGeom>
                <a:avLst/>
                <a:gdLst>
                  <a:gd name="T0" fmla="*/ 2350 w 2350"/>
                  <a:gd name="T1" fmla="*/ 818 h 963"/>
                  <a:gd name="T2" fmla="*/ 2221 w 2350"/>
                  <a:gd name="T3" fmla="*/ 963 h 963"/>
                  <a:gd name="T4" fmla="*/ 0 w 2350"/>
                  <a:gd name="T5" fmla="*/ 72 h 963"/>
                  <a:gd name="T6" fmla="*/ 69 w 2350"/>
                  <a:gd name="T7" fmla="*/ 0 h 963"/>
                  <a:gd name="T8" fmla="*/ 2350 w 2350"/>
                  <a:gd name="T9" fmla="*/ 818 h 963"/>
                </a:gdLst>
                <a:ahLst/>
                <a:cxnLst>
                  <a:cxn ang="0">
                    <a:pos x="T0" y="T1"/>
                  </a:cxn>
                  <a:cxn ang="0">
                    <a:pos x="T2" y="T3"/>
                  </a:cxn>
                  <a:cxn ang="0">
                    <a:pos x="T4" y="T5"/>
                  </a:cxn>
                  <a:cxn ang="0">
                    <a:pos x="T6" y="T7"/>
                  </a:cxn>
                  <a:cxn ang="0">
                    <a:pos x="T8" y="T9"/>
                  </a:cxn>
                </a:cxnLst>
                <a:rect l="0" t="0" r="r" b="b"/>
                <a:pathLst>
                  <a:path w="2350" h="963">
                    <a:moveTo>
                      <a:pt x="2350" y="818"/>
                    </a:moveTo>
                    <a:lnTo>
                      <a:pt x="2221" y="963"/>
                    </a:lnTo>
                    <a:lnTo>
                      <a:pt x="0" y="72"/>
                    </a:lnTo>
                    <a:lnTo>
                      <a:pt x="69" y="0"/>
                    </a:lnTo>
                    <a:lnTo>
                      <a:pt x="2350" y="818"/>
                    </a:lnTo>
                    <a:close/>
                  </a:path>
                </a:pathLst>
              </a:custGeom>
              <a:solidFill>
                <a:srgbClr val="00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00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8" name="Freeform 56"/>
              <p:cNvSpPr>
                <a:spLocks/>
              </p:cNvSpPr>
              <p:nvPr/>
            </p:nvSpPr>
            <p:spPr bwMode="auto">
              <a:xfrm>
                <a:off x="2532" y="2357"/>
                <a:ext cx="1196" cy="444"/>
              </a:xfrm>
              <a:custGeom>
                <a:avLst/>
                <a:gdLst>
                  <a:gd name="T0" fmla="*/ 2276 w 2392"/>
                  <a:gd name="T1" fmla="*/ 882 h 882"/>
                  <a:gd name="T2" fmla="*/ 0 w 2392"/>
                  <a:gd name="T3" fmla="*/ 70 h 882"/>
                  <a:gd name="T4" fmla="*/ 69 w 2392"/>
                  <a:gd name="T5" fmla="*/ 0 h 882"/>
                  <a:gd name="T6" fmla="*/ 2392 w 2392"/>
                  <a:gd name="T7" fmla="*/ 751 h 882"/>
                  <a:gd name="T8" fmla="*/ 2276 w 2392"/>
                  <a:gd name="T9" fmla="*/ 882 h 882"/>
                </a:gdLst>
                <a:ahLst/>
                <a:cxnLst>
                  <a:cxn ang="0">
                    <a:pos x="T0" y="T1"/>
                  </a:cxn>
                  <a:cxn ang="0">
                    <a:pos x="T2" y="T3"/>
                  </a:cxn>
                  <a:cxn ang="0">
                    <a:pos x="T4" y="T5"/>
                  </a:cxn>
                  <a:cxn ang="0">
                    <a:pos x="T6" y="T7"/>
                  </a:cxn>
                  <a:cxn ang="0">
                    <a:pos x="T8" y="T9"/>
                  </a:cxn>
                </a:cxnLst>
                <a:rect l="0" t="0" r="r" b="b"/>
                <a:pathLst>
                  <a:path w="2392" h="882">
                    <a:moveTo>
                      <a:pt x="2276" y="882"/>
                    </a:moveTo>
                    <a:lnTo>
                      <a:pt x="0" y="70"/>
                    </a:lnTo>
                    <a:lnTo>
                      <a:pt x="69" y="0"/>
                    </a:lnTo>
                    <a:lnTo>
                      <a:pt x="2392" y="751"/>
                    </a:lnTo>
                    <a:lnTo>
                      <a:pt x="2276" y="882"/>
                    </a:lnTo>
                    <a:close/>
                  </a:path>
                </a:pathLst>
              </a:custGeom>
              <a:solidFill>
                <a:srgbClr val="FF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29" name="Freeform 57"/>
              <p:cNvSpPr>
                <a:spLocks/>
              </p:cNvSpPr>
              <p:nvPr/>
            </p:nvSpPr>
            <p:spPr bwMode="auto">
              <a:xfrm>
                <a:off x="2567" y="2323"/>
                <a:ext cx="1222" cy="417"/>
              </a:xfrm>
              <a:custGeom>
                <a:avLst/>
                <a:gdLst>
                  <a:gd name="T0" fmla="*/ 0 w 2447"/>
                  <a:gd name="T1" fmla="*/ 71 h 830"/>
                  <a:gd name="T2" fmla="*/ 2314 w 2447"/>
                  <a:gd name="T3" fmla="*/ 830 h 830"/>
                  <a:gd name="T4" fmla="*/ 2447 w 2447"/>
                  <a:gd name="T5" fmla="*/ 680 h 830"/>
                  <a:gd name="T6" fmla="*/ 69 w 2447"/>
                  <a:gd name="T7" fmla="*/ 0 h 830"/>
                  <a:gd name="T8" fmla="*/ 0 w 2447"/>
                  <a:gd name="T9" fmla="*/ 71 h 830"/>
                </a:gdLst>
                <a:ahLst/>
                <a:cxnLst>
                  <a:cxn ang="0">
                    <a:pos x="T0" y="T1"/>
                  </a:cxn>
                  <a:cxn ang="0">
                    <a:pos x="T2" y="T3"/>
                  </a:cxn>
                  <a:cxn ang="0">
                    <a:pos x="T4" y="T5"/>
                  </a:cxn>
                  <a:cxn ang="0">
                    <a:pos x="T6" y="T7"/>
                  </a:cxn>
                  <a:cxn ang="0">
                    <a:pos x="T8" y="T9"/>
                  </a:cxn>
                </a:cxnLst>
                <a:rect l="0" t="0" r="r" b="b"/>
                <a:pathLst>
                  <a:path w="2447" h="830">
                    <a:moveTo>
                      <a:pt x="0" y="71"/>
                    </a:moveTo>
                    <a:lnTo>
                      <a:pt x="2314" y="830"/>
                    </a:lnTo>
                    <a:lnTo>
                      <a:pt x="2447" y="680"/>
                    </a:lnTo>
                    <a:lnTo>
                      <a:pt x="69" y="0"/>
                    </a:lnTo>
                    <a:lnTo>
                      <a:pt x="0" y="71"/>
                    </a:lnTo>
                    <a:close/>
                  </a:path>
                </a:pathLst>
              </a:custGeom>
              <a:solidFill>
                <a:srgbClr val="FF8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8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30" name="Freeform 58"/>
              <p:cNvSpPr>
                <a:spLocks/>
              </p:cNvSpPr>
              <p:nvPr/>
            </p:nvSpPr>
            <p:spPr bwMode="auto">
              <a:xfrm>
                <a:off x="2603" y="2286"/>
                <a:ext cx="1253" cy="372"/>
              </a:xfrm>
              <a:custGeom>
                <a:avLst/>
                <a:gdLst>
                  <a:gd name="T0" fmla="*/ 2371 w 2504"/>
                  <a:gd name="T1" fmla="*/ 747 h 747"/>
                  <a:gd name="T2" fmla="*/ 0 w 2504"/>
                  <a:gd name="T3" fmla="*/ 69 h 747"/>
                  <a:gd name="T4" fmla="*/ 64 w 2504"/>
                  <a:gd name="T5" fmla="*/ 0 h 747"/>
                  <a:gd name="T6" fmla="*/ 2504 w 2504"/>
                  <a:gd name="T7" fmla="*/ 588 h 747"/>
                  <a:gd name="T8" fmla="*/ 2371 w 2504"/>
                  <a:gd name="T9" fmla="*/ 747 h 747"/>
                </a:gdLst>
                <a:ahLst/>
                <a:cxnLst>
                  <a:cxn ang="0">
                    <a:pos x="T0" y="T1"/>
                  </a:cxn>
                  <a:cxn ang="0">
                    <a:pos x="T2" y="T3"/>
                  </a:cxn>
                  <a:cxn ang="0">
                    <a:pos x="T4" y="T5"/>
                  </a:cxn>
                  <a:cxn ang="0">
                    <a:pos x="T6" y="T7"/>
                  </a:cxn>
                  <a:cxn ang="0">
                    <a:pos x="T8" y="T9"/>
                  </a:cxn>
                </a:cxnLst>
                <a:rect l="0" t="0" r="r" b="b"/>
                <a:pathLst>
                  <a:path w="2504" h="747">
                    <a:moveTo>
                      <a:pt x="2371" y="747"/>
                    </a:moveTo>
                    <a:lnTo>
                      <a:pt x="0" y="69"/>
                    </a:lnTo>
                    <a:lnTo>
                      <a:pt x="64" y="0"/>
                    </a:lnTo>
                    <a:lnTo>
                      <a:pt x="2504" y="588"/>
                    </a:lnTo>
                    <a:lnTo>
                      <a:pt x="2371" y="747"/>
                    </a:lnTo>
                    <a:close/>
                  </a:path>
                </a:pathLst>
              </a:custGeom>
              <a:solidFill>
                <a:srgbClr val="FF0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0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grpSp>
        <p:sp>
          <p:nvSpPr>
            <p:cNvPr id="361531" name="Oval 59"/>
            <p:cNvSpPr>
              <a:spLocks noChangeArrowheads="1"/>
            </p:cNvSpPr>
            <p:nvPr/>
          </p:nvSpPr>
          <p:spPr bwMode="auto">
            <a:xfrm flipH="1">
              <a:off x="2586" y="2169"/>
              <a:ext cx="524" cy="1536"/>
            </a:xfrm>
            <a:prstGeom prst="ellipse">
              <a:avLst/>
            </a:prstGeom>
            <a:gradFill rotWithShape="0">
              <a:gsLst>
                <a:gs pos="0">
                  <a:schemeClr val="bg2">
                    <a:gamma/>
                    <a:tint val="3137"/>
                    <a:invGamma/>
                  </a:schemeClr>
                </a:gs>
                <a:gs pos="100000">
                  <a:schemeClr val="bg2"/>
                </a:gs>
              </a:gsLst>
              <a:path path="shape">
                <a:fillToRect l="50000" t="50000" r="50000" b="50000"/>
              </a:path>
            </a:gradFill>
            <a:ln w="12699">
              <a:round/>
              <a:headEnd/>
              <a:tailEnd/>
            </a:ln>
            <a:effectLst/>
            <a:scene3d>
              <a:camera prst="legacyPerspectiveFront">
                <a:rot lat="300000" lon="19799999" rev="0"/>
              </a:camera>
              <a:lightRig rig="legacyFlat2" dir="t"/>
            </a:scene3d>
            <a:sp3d extrusionH="887400" prstMaterial="legacyMatte">
              <a:bevelT w="13500" h="13500" prst="angle"/>
              <a:bevelB w="13500" h="13500" prst="angle"/>
              <a:extrusionClr>
                <a:schemeClr val="bg2"/>
              </a:extrusionClr>
            </a:sp3d>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flatTx/>
            </a:bodyPr>
            <a:lstStyle/>
            <a:p>
              <a:pPr>
                <a:defRPr/>
              </a:pPr>
              <a:endParaRPr lang="tr-TR">
                <a:effectLst>
                  <a:outerShdw blurRad="38100" dist="38100" dir="2700000" algn="tl">
                    <a:srgbClr val="000000">
                      <a:alpha val="43137"/>
                    </a:srgbClr>
                  </a:outerShdw>
                </a:effectLst>
              </a:endParaRPr>
            </a:p>
          </p:txBody>
        </p:sp>
        <p:sp>
          <p:nvSpPr>
            <p:cNvPr id="361532" name="Oval 60"/>
            <p:cNvSpPr>
              <a:spLocks noChangeArrowheads="1"/>
            </p:cNvSpPr>
            <p:nvPr/>
          </p:nvSpPr>
          <p:spPr bwMode="auto">
            <a:xfrm>
              <a:off x="2611" y="2167"/>
              <a:ext cx="458" cy="1527"/>
            </a:xfrm>
            <a:prstGeom prst="ellipse">
              <a:avLst/>
            </a:prstGeom>
            <a:solidFill>
              <a:srgbClr val="FF0000"/>
            </a:solidFill>
            <a:ln w="12699">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361533" name="Freeform 61"/>
            <p:cNvSpPr>
              <a:spLocks/>
            </p:cNvSpPr>
            <p:nvPr/>
          </p:nvSpPr>
          <p:spPr bwMode="auto">
            <a:xfrm rot="-1850369">
              <a:off x="2873" y="2505"/>
              <a:ext cx="1512" cy="716"/>
            </a:xfrm>
            <a:custGeom>
              <a:avLst/>
              <a:gdLst>
                <a:gd name="T0" fmla="*/ 2276 w 2392"/>
                <a:gd name="T1" fmla="*/ 882 h 882"/>
                <a:gd name="T2" fmla="*/ 0 w 2392"/>
                <a:gd name="T3" fmla="*/ 70 h 882"/>
                <a:gd name="T4" fmla="*/ 69 w 2392"/>
                <a:gd name="T5" fmla="*/ 0 h 882"/>
                <a:gd name="T6" fmla="*/ 2392 w 2392"/>
                <a:gd name="T7" fmla="*/ 751 h 882"/>
                <a:gd name="T8" fmla="*/ 2276 w 2392"/>
                <a:gd name="T9" fmla="*/ 882 h 882"/>
              </a:gdLst>
              <a:ahLst/>
              <a:cxnLst>
                <a:cxn ang="0">
                  <a:pos x="T0" y="T1"/>
                </a:cxn>
                <a:cxn ang="0">
                  <a:pos x="T2" y="T3"/>
                </a:cxn>
                <a:cxn ang="0">
                  <a:pos x="T4" y="T5"/>
                </a:cxn>
                <a:cxn ang="0">
                  <a:pos x="T6" y="T7"/>
                </a:cxn>
                <a:cxn ang="0">
                  <a:pos x="T8" y="T9"/>
                </a:cxn>
              </a:cxnLst>
              <a:rect l="0" t="0" r="r" b="b"/>
              <a:pathLst>
                <a:path w="2392" h="882">
                  <a:moveTo>
                    <a:pt x="2276" y="882"/>
                  </a:moveTo>
                  <a:lnTo>
                    <a:pt x="0" y="70"/>
                  </a:lnTo>
                  <a:lnTo>
                    <a:pt x="69" y="0"/>
                  </a:lnTo>
                  <a:lnTo>
                    <a:pt x="2392" y="751"/>
                  </a:lnTo>
                  <a:lnTo>
                    <a:pt x="2276" y="882"/>
                  </a:lnTo>
                  <a:close/>
                </a:path>
              </a:pathLst>
            </a:custGeom>
            <a:solidFill>
              <a:srgbClr val="FFFF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FF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34" name="Freeform 62"/>
            <p:cNvSpPr>
              <a:spLocks/>
            </p:cNvSpPr>
            <p:nvPr/>
          </p:nvSpPr>
          <p:spPr bwMode="auto">
            <a:xfrm rot="-1850369">
              <a:off x="2866" y="2426"/>
              <a:ext cx="1548" cy="674"/>
            </a:xfrm>
            <a:custGeom>
              <a:avLst/>
              <a:gdLst>
                <a:gd name="T0" fmla="*/ 0 w 2447"/>
                <a:gd name="T1" fmla="*/ 71 h 830"/>
                <a:gd name="T2" fmla="*/ 2314 w 2447"/>
                <a:gd name="T3" fmla="*/ 830 h 830"/>
                <a:gd name="T4" fmla="*/ 2447 w 2447"/>
                <a:gd name="T5" fmla="*/ 680 h 830"/>
                <a:gd name="T6" fmla="*/ 69 w 2447"/>
                <a:gd name="T7" fmla="*/ 0 h 830"/>
                <a:gd name="T8" fmla="*/ 0 w 2447"/>
                <a:gd name="T9" fmla="*/ 71 h 830"/>
              </a:gdLst>
              <a:ahLst/>
              <a:cxnLst>
                <a:cxn ang="0">
                  <a:pos x="T0" y="T1"/>
                </a:cxn>
                <a:cxn ang="0">
                  <a:pos x="T2" y="T3"/>
                </a:cxn>
                <a:cxn ang="0">
                  <a:pos x="T4" y="T5"/>
                </a:cxn>
                <a:cxn ang="0">
                  <a:pos x="T6" y="T7"/>
                </a:cxn>
                <a:cxn ang="0">
                  <a:pos x="T8" y="T9"/>
                </a:cxn>
              </a:cxnLst>
              <a:rect l="0" t="0" r="r" b="b"/>
              <a:pathLst>
                <a:path w="2447" h="830">
                  <a:moveTo>
                    <a:pt x="0" y="71"/>
                  </a:moveTo>
                  <a:lnTo>
                    <a:pt x="2314" y="830"/>
                  </a:lnTo>
                  <a:lnTo>
                    <a:pt x="2447" y="680"/>
                  </a:lnTo>
                  <a:lnTo>
                    <a:pt x="69" y="0"/>
                  </a:lnTo>
                  <a:lnTo>
                    <a:pt x="0" y="71"/>
                  </a:lnTo>
                  <a:close/>
                </a:path>
              </a:pathLst>
            </a:custGeom>
            <a:solidFill>
              <a:srgbClr val="FF8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8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sp>
          <p:nvSpPr>
            <p:cNvPr id="361535" name="Freeform 63"/>
            <p:cNvSpPr>
              <a:spLocks/>
            </p:cNvSpPr>
            <p:nvPr/>
          </p:nvSpPr>
          <p:spPr bwMode="auto">
            <a:xfrm rot="-1850369">
              <a:off x="2861" y="2354"/>
              <a:ext cx="1584" cy="605"/>
            </a:xfrm>
            <a:custGeom>
              <a:avLst/>
              <a:gdLst>
                <a:gd name="T0" fmla="*/ 2371 w 2504"/>
                <a:gd name="T1" fmla="*/ 747 h 747"/>
                <a:gd name="T2" fmla="*/ 0 w 2504"/>
                <a:gd name="T3" fmla="*/ 69 h 747"/>
                <a:gd name="T4" fmla="*/ 64 w 2504"/>
                <a:gd name="T5" fmla="*/ 0 h 747"/>
                <a:gd name="T6" fmla="*/ 2504 w 2504"/>
                <a:gd name="T7" fmla="*/ 588 h 747"/>
                <a:gd name="T8" fmla="*/ 2371 w 2504"/>
                <a:gd name="T9" fmla="*/ 747 h 747"/>
              </a:gdLst>
              <a:ahLst/>
              <a:cxnLst>
                <a:cxn ang="0">
                  <a:pos x="T0" y="T1"/>
                </a:cxn>
                <a:cxn ang="0">
                  <a:pos x="T2" y="T3"/>
                </a:cxn>
                <a:cxn ang="0">
                  <a:pos x="T4" y="T5"/>
                </a:cxn>
                <a:cxn ang="0">
                  <a:pos x="T6" y="T7"/>
                </a:cxn>
                <a:cxn ang="0">
                  <a:pos x="T8" y="T9"/>
                </a:cxn>
              </a:cxnLst>
              <a:rect l="0" t="0" r="r" b="b"/>
              <a:pathLst>
                <a:path w="2504" h="747">
                  <a:moveTo>
                    <a:pt x="2371" y="747"/>
                  </a:moveTo>
                  <a:lnTo>
                    <a:pt x="0" y="69"/>
                  </a:lnTo>
                  <a:lnTo>
                    <a:pt x="64" y="0"/>
                  </a:lnTo>
                  <a:lnTo>
                    <a:pt x="2504" y="588"/>
                  </a:lnTo>
                  <a:lnTo>
                    <a:pt x="2371" y="747"/>
                  </a:lnTo>
                  <a:close/>
                </a:path>
              </a:pathLst>
            </a:custGeom>
            <a:solidFill>
              <a:srgbClr val="FF0000"/>
            </a:solidFill>
            <a:ln>
              <a:noFill/>
            </a:ln>
            <a:scene3d>
              <a:camera prst="legacyObliqueTopRight">
                <a:rot lat="20699999" lon="300000" rev="0"/>
              </a:camera>
              <a:lightRig rig="legacyFlat3" dir="b"/>
            </a:scene3d>
            <a:sp3d extrusionH="430200" prstMaterial="legacyMatte">
              <a:bevelT w="13500" h="13500" prst="angle"/>
              <a:bevelB w="13500" h="13500" prst="angle"/>
              <a:extrusionClr>
                <a:srgbClr val="FF0000"/>
              </a:extrusionClr>
            </a:sp3d>
            <a:extLst>
              <a:ext uri="{91240B29-F687-4F45-9708-019B960494DF}">
                <a14:hiddenLine xmlns="" xmlns:a14="http://schemas.microsoft.com/office/drawing/2010/main" w="9525">
                  <a:noFill/>
                  <a:round/>
                  <a:headEnd/>
                  <a:tailEnd/>
                </a14:hiddenLine>
              </a:ext>
            </a:extLst>
          </p:spPr>
          <p:txBody>
            <a:bodyPr>
              <a:flatTx/>
            </a:bodyPr>
            <a:lstStyle/>
            <a:p>
              <a:pPr>
                <a:defRPr/>
              </a:pPr>
              <a:endParaRPr lang="tr-TR">
                <a:effectLst>
                  <a:outerShdw blurRad="38100" dist="38100" dir="2700000" algn="tl">
                    <a:srgbClr val="000000">
                      <a:alpha val="43137"/>
                    </a:srgbClr>
                  </a:outerShdw>
                </a:effectLst>
              </a:endParaRPr>
            </a:p>
          </p:txBody>
        </p:sp>
      </p:grpSp>
      <p:pic>
        <p:nvPicPr>
          <p:cNvPr id="26629" name="Picture 65" descr="absorption selective GB"/>
          <p:cNvPicPr>
            <a:picLocks noChangeAspect="1" noChangeArrowheads="1"/>
          </p:cNvPicPr>
          <p:nvPr/>
        </p:nvPicPr>
        <p:blipFill>
          <a:blip r:embed="rId3" cstate="print"/>
          <a:srcRect/>
          <a:stretch>
            <a:fillRect/>
          </a:stretch>
        </p:blipFill>
        <p:spPr bwMode="auto">
          <a:xfrm>
            <a:off x="251520" y="3356992"/>
            <a:ext cx="4068236" cy="3284984"/>
          </a:xfrm>
          <a:prstGeom prst="rect">
            <a:avLst/>
          </a:prstGeom>
          <a:noFill/>
          <a:ln w="9525">
            <a:noFill/>
            <a:miter lim="800000"/>
            <a:headEnd/>
            <a:tailEnd/>
          </a:ln>
        </p:spPr>
      </p:pic>
      <p:pic>
        <p:nvPicPr>
          <p:cNvPr id="26630" name="Picture 66" descr="fish_no_flash"/>
          <p:cNvPicPr>
            <a:picLocks noChangeAspect="1" noChangeArrowheads="1"/>
          </p:cNvPicPr>
          <p:nvPr/>
        </p:nvPicPr>
        <p:blipFill>
          <a:blip r:embed="rId4" cstate="print"/>
          <a:srcRect/>
          <a:stretch>
            <a:fillRect/>
          </a:stretch>
        </p:blipFill>
        <p:spPr bwMode="auto">
          <a:xfrm>
            <a:off x="5940152" y="2852936"/>
            <a:ext cx="3025080" cy="1855500"/>
          </a:xfrm>
          <a:prstGeom prst="rect">
            <a:avLst/>
          </a:prstGeom>
          <a:noFill/>
          <a:ln w="9525">
            <a:noFill/>
            <a:miter lim="800000"/>
            <a:headEnd/>
            <a:tailEnd/>
          </a:ln>
        </p:spPr>
      </p:pic>
      <p:pic>
        <p:nvPicPr>
          <p:cNvPr id="26631" name="Picture 67" descr="fish_w_flash"/>
          <p:cNvPicPr>
            <a:picLocks noChangeAspect="1" noChangeArrowheads="1"/>
          </p:cNvPicPr>
          <p:nvPr/>
        </p:nvPicPr>
        <p:blipFill>
          <a:blip r:embed="rId5" cstate="print"/>
          <a:srcRect/>
          <a:stretch>
            <a:fillRect/>
          </a:stretch>
        </p:blipFill>
        <p:spPr bwMode="auto">
          <a:xfrm>
            <a:off x="5940152" y="4797152"/>
            <a:ext cx="3025080" cy="1856965"/>
          </a:xfrm>
          <a:prstGeom prst="rect">
            <a:avLst/>
          </a:prstGeom>
          <a:noFill/>
          <a:ln w="9525">
            <a:noFill/>
            <a:miter lim="800000"/>
            <a:headEnd/>
            <a:tailEnd/>
          </a:ln>
        </p:spPr>
      </p:pic>
      <p:sp>
        <p:nvSpPr>
          <p:cNvPr id="361540" name="Text Box 68"/>
          <p:cNvSpPr txBox="1">
            <a:spLocks noChangeArrowheads="1"/>
          </p:cNvSpPr>
          <p:nvPr/>
        </p:nvSpPr>
        <p:spPr bwMode="auto">
          <a:xfrm>
            <a:off x="4419600" y="3124200"/>
            <a:ext cx="1600200" cy="138499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1400" b="1" dirty="0" err="1"/>
              <a:t>Flaşsız</a:t>
            </a:r>
            <a:r>
              <a:rPr lang="en-US" sz="1400" b="1" dirty="0"/>
              <a:t> </a:t>
            </a:r>
            <a:r>
              <a:rPr lang="en-US" sz="1400" b="1" dirty="0" err="1"/>
              <a:t>doğal</a:t>
            </a:r>
            <a:r>
              <a:rPr lang="en-US" sz="1400" b="1" dirty="0"/>
              <a:t> </a:t>
            </a:r>
            <a:r>
              <a:rPr lang="en-US" sz="1400" b="1" dirty="0" err="1"/>
              <a:t>ışıkta</a:t>
            </a:r>
            <a:r>
              <a:rPr lang="en-US" sz="1400" b="1" dirty="0"/>
              <a:t>  </a:t>
            </a:r>
            <a:r>
              <a:rPr lang="en-US" sz="1400" b="1" dirty="0" err="1"/>
              <a:t>derindeki</a:t>
            </a:r>
            <a:r>
              <a:rPr lang="en-US" sz="1400" b="1" dirty="0"/>
              <a:t> </a:t>
            </a:r>
            <a:r>
              <a:rPr lang="en-US" sz="1400" b="1" dirty="0" err="1"/>
              <a:t>bir</a:t>
            </a:r>
            <a:r>
              <a:rPr lang="en-US" sz="1400" b="1" dirty="0"/>
              <a:t> </a:t>
            </a:r>
            <a:r>
              <a:rPr lang="en-US" sz="1400" b="1" dirty="0" err="1"/>
              <a:t>balığın</a:t>
            </a:r>
            <a:r>
              <a:rPr lang="en-US" sz="1400" b="1" dirty="0"/>
              <a:t> </a:t>
            </a:r>
            <a:r>
              <a:rPr lang="en-US" sz="1400" b="1" dirty="0" err="1"/>
              <a:t>görünümü</a:t>
            </a:r>
            <a:r>
              <a:rPr lang="en-US" sz="1400" b="1" dirty="0"/>
              <a:t>; </a:t>
            </a:r>
            <a:r>
              <a:rPr lang="en-US" sz="1400" b="1" dirty="0" err="1"/>
              <a:t>renkler</a:t>
            </a:r>
            <a:r>
              <a:rPr lang="en-US" sz="1400" b="1" dirty="0"/>
              <a:t> </a:t>
            </a:r>
            <a:r>
              <a:rPr lang="en-US" sz="1400" b="1" dirty="0" err="1"/>
              <a:t>derinlere</a:t>
            </a:r>
            <a:r>
              <a:rPr lang="en-US" sz="1400" b="1" dirty="0"/>
              <a:t> </a:t>
            </a:r>
            <a:r>
              <a:rPr lang="en-US" sz="1400" b="1" dirty="0" err="1"/>
              <a:t>gittikçe</a:t>
            </a:r>
            <a:r>
              <a:rPr lang="en-US" sz="1400" b="1" dirty="0"/>
              <a:t> </a:t>
            </a:r>
            <a:r>
              <a:rPr lang="en-US" sz="1400" b="1" dirty="0" err="1"/>
              <a:t>azaldığı</a:t>
            </a:r>
            <a:r>
              <a:rPr lang="en-US" sz="1400" b="1" dirty="0"/>
              <a:t> </a:t>
            </a:r>
            <a:r>
              <a:rPr lang="en-US" sz="1400" b="1" dirty="0" err="1"/>
              <a:t>için</a:t>
            </a:r>
            <a:r>
              <a:rPr lang="en-US" sz="1400" b="1" dirty="0"/>
              <a:t> </a:t>
            </a:r>
            <a:r>
              <a:rPr lang="en-US" sz="1400" b="1" dirty="0" err="1"/>
              <a:t>az</a:t>
            </a:r>
            <a:r>
              <a:rPr lang="en-US" sz="1400" b="1" dirty="0"/>
              <a:t> </a:t>
            </a:r>
            <a:r>
              <a:rPr lang="en-US" sz="1400" b="1" dirty="0" err="1"/>
              <a:t>renkli</a:t>
            </a:r>
            <a:endParaRPr lang="en-US" sz="1400" b="1" dirty="0"/>
          </a:p>
        </p:txBody>
      </p:sp>
      <p:sp>
        <p:nvSpPr>
          <p:cNvPr id="361541" name="Text Box 69"/>
          <p:cNvSpPr txBox="1">
            <a:spLocks noChangeArrowheads="1"/>
          </p:cNvSpPr>
          <p:nvPr/>
        </p:nvSpPr>
        <p:spPr bwMode="auto">
          <a:xfrm>
            <a:off x="4419600" y="4953000"/>
            <a:ext cx="1600200" cy="138499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1400" b="1" dirty="0" err="1"/>
              <a:t>Flaş</a:t>
            </a:r>
            <a:r>
              <a:rPr lang="en-US" sz="1400" b="1" dirty="0"/>
              <a:t> </a:t>
            </a:r>
            <a:r>
              <a:rPr lang="en-US" sz="1400" b="1" dirty="0" err="1"/>
              <a:t>kullanılarak</a:t>
            </a:r>
            <a:r>
              <a:rPr lang="en-US" sz="1400" b="1" dirty="0"/>
              <a:t> </a:t>
            </a:r>
            <a:r>
              <a:rPr lang="en-US" sz="1400" b="1" dirty="0" err="1"/>
              <a:t>aynı</a:t>
            </a:r>
            <a:r>
              <a:rPr lang="en-US" sz="1400" b="1" dirty="0"/>
              <a:t> </a:t>
            </a:r>
            <a:r>
              <a:rPr lang="en-US" sz="1400" b="1" dirty="0" err="1"/>
              <a:t>derinlikteki</a:t>
            </a:r>
            <a:r>
              <a:rPr lang="en-US" sz="1400" b="1" dirty="0"/>
              <a:t> </a:t>
            </a:r>
            <a:r>
              <a:rPr lang="en-US" sz="1400" b="1" dirty="0" err="1"/>
              <a:t>balığın</a:t>
            </a:r>
            <a:r>
              <a:rPr lang="en-US" sz="1400" b="1" dirty="0"/>
              <a:t> </a:t>
            </a:r>
            <a:r>
              <a:rPr lang="en-US" sz="1400" b="1" dirty="0" err="1"/>
              <a:t>görünümü</a:t>
            </a:r>
            <a:r>
              <a:rPr lang="en-US" sz="1400" b="1" dirty="0"/>
              <a:t>: </a:t>
            </a:r>
            <a:r>
              <a:rPr lang="en-US" sz="1400" b="1" dirty="0" err="1"/>
              <a:t>flaş</a:t>
            </a:r>
            <a:r>
              <a:rPr lang="en-US" sz="1400" b="1" dirty="0"/>
              <a:t> </a:t>
            </a:r>
            <a:r>
              <a:rPr lang="en-US" sz="1400" b="1" dirty="0" err="1"/>
              <a:t>ile</a:t>
            </a:r>
            <a:r>
              <a:rPr lang="en-US" sz="1400" b="1" dirty="0"/>
              <a:t> </a:t>
            </a:r>
            <a:r>
              <a:rPr lang="en-US" sz="1400" b="1" dirty="0" err="1"/>
              <a:t>renkler</a:t>
            </a:r>
            <a:r>
              <a:rPr lang="en-US" sz="1400" b="1" dirty="0"/>
              <a:t> </a:t>
            </a:r>
            <a:r>
              <a:rPr lang="en-US" sz="1400" b="1" dirty="0" err="1"/>
              <a:t>açığa</a:t>
            </a:r>
            <a:r>
              <a:rPr lang="en-US" sz="1400" b="1" dirty="0"/>
              <a:t> </a:t>
            </a:r>
            <a:r>
              <a:rPr lang="en-US" sz="1400" b="1" dirty="0" err="1"/>
              <a:t>çıktığından</a:t>
            </a:r>
            <a:r>
              <a:rPr lang="en-US" sz="1400" b="1" dirty="0"/>
              <a:t> </a:t>
            </a:r>
            <a:r>
              <a:rPr lang="en-US" sz="1400" b="1" dirty="0" err="1"/>
              <a:t>daha</a:t>
            </a:r>
            <a:r>
              <a:rPr lang="en-US" sz="1400" b="1" dirty="0"/>
              <a:t> </a:t>
            </a:r>
            <a:r>
              <a:rPr lang="en-US" sz="1400" b="1" dirty="0" err="1"/>
              <a:t>renkli</a:t>
            </a:r>
            <a:endParaRPr lang="en-US" sz="1400" b="1" dirty="0"/>
          </a:p>
        </p:txBody>
      </p:sp>
    </p:spTree>
  </p:cSld>
  <p:clrMapOvr>
    <a:masterClrMapping/>
  </p:clrMapOvr>
  <p:transition spd="med">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26"/>
          <p:cNvGraphicFramePr>
            <a:graphicFrameLocks noChangeAspect="1"/>
          </p:cNvGraphicFramePr>
          <p:nvPr/>
        </p:nvGraphicFramePr>
        <p:xfrm>
          <a:off x="2743200" y="5705475"/>
          <a:ext cx="819150" cy="619125"/>
        </p:xfrm>
        <a:graphic>
          <a:graphicData uri="http://schemas.openxmlformats.org/presentationml/2006/ole">
            <p:oleObj spid="_x0000_s1026" name="Clip" r:id="rId4" imgW="819397" imgH="620257" progId="">
              <p:embed/>
            </p:oleObj>
          </a:graphicData>
        </a:graphic>
      </p:graphicFrame>
      <p:grpSp>
        <p:nvGrpSpPr>
          <p:cNvPr id="2" name="Group 25"/>
          <p:cNvGrpSpPr>
            <a:grpSpLocks/>
          </p:cNvGrpSpPr>
          <p:nvPr/>
        </p:nvGrpSpPr>
        <p:grpSpPr bwMode="auto">
          <a:xfrm>
            <a:off x="1219200" y="1973263"/>
            <a:ext cx="7292975" cy="4579937"/>
            <a:chOff x="768" y="935"/>
            <a:chExt cx="4594" cy="2885"/>
          </a:xfrm>
        </p:grpSpPr>
        <p:sp>
          <p:nvSpPr>
            <p:cNvPr id="539663" name="Freeform 15" descr="Su damlaları"/>
            <p:cNvSpPr>
              <a:spLocks/>
            </p:cNvSpPr>
            <p:nvPr/>
          </p:nvSpPr>
          <p:spPr bwMode="auto">
            <a:xfrm>
              <a:off x="768" y="2352"/>
              <a:ext cx="4024" cy="1452"/>
            </a:xfrm>
            <a:custGeom>
              <a:avLst/>
              <a:gdLst>
                <a:gd name="T0" fmla="*/ 273 w 2847"/>
                <a:gd name="T1" fmla="*/ 53 h 1452"/>
                <a:gd name="T2" fmla="*/ 1182 w 2847"/>
                <a:gd name="T3" fmla="*/ 62 h 1452"/>
                <a:gd name="T4" fmla="*/ 1300 w 2847"/>
                <a:gd name="T5" fmla="*/ 53 h 1452"/>
                <a:gd name="T6" fmla="*/ 1728 w 2847"/>
                <a:gd name="T7" fmla="*/ 98 h 1452"/>
                <a:gd name="T8" fmla="*/ 2082 w 2847"/>
                <a:gd name="T9" fmla="*/ 71 h 1452"/>
                <a:gd name="T10" fmla="*/ 2500 w 2847"/>
                <a:gd name="T11" fmla="*/ 53 h 1452"/>
                <a:gd name="T12" fmla="*/ 2555 w 2847"/>
                <a:gd name="T13" fmla="*/ 71 h 1452"/>
                <a:gd name="T14" fmla="*/ 2600 w 2847"/>
                <a:gd name="T15" fmla="*/ 107 h 1452"/>
                <a:gd name="T16" fmla="*/ 2764 w 2847"/>
                <a:gd name="T17" fmla="*/ 117 h 1452"/>
                <a:gd name="T18" fmla="*/ 2828 w 2847"/>
                <a:gd name="T19" fmla="*/ 126 h 1452"/>
                <a:gd name="T20" fmla="*/ 2828 w 2847"/>
                <a:gd name="T21" fmla="*/ 198 h 1452"/>
                <a:gd name="T22" fmla="*/ 2773 w 2847"/>
                <a:gd name="T23" fmla="*/ 207 h 1452"/>
                <a:gd name="T24" fmla="*/ 2700 w 2847"/>
                <a:gd name="T25" fmla="*/ 317 h 1452"/>
                <a:gd name="T26" fmla="*/ 2709 w 2847"/>
                <a:gd name="T27" fmla="*/ 371 h 1452"/>
                <a:gd name="T28" fmla="*/ 2728 w 2847"/>
                <a:gd name="T29" fmla="*/ 426 h 1452"/>
                <a:gd name="T30" fmla="*/ 2664 w 2847"/>
                <a:gd name="T31" fmla="*/ 453 h 1452"/>
                <a:gd name="T32" fmla="*/ 2500 w 2847"/>
                <a:gd name="T33" fmla="*/ 489 h 1452"/>
                <a:gd name="T34" fmla="*/ 2464 w 2847"/>
                <a:gd name="T35" fmla="*/ 562 h 1452"/>
                <a:gd name="T36" fmla="*/ 2555 w 2847"/>
                <a:gd name="T37" fmla="*/ 826 h 1452"/>
                <a:gd name="T38" fmla="*/ 2564 w 2847"/>
                <a:gd name="T39" fmla="*/ 853 h 1452"/>
                <a:gd name="T40" fmla="*/ 2455 w 2847"/>
                <a:gd name="T41" fmla="*/ 889 h 1452"/>
                <a:gd name="T42" fmla="*/ 2428 w 2847"/>
                <a:gd name="T43" fmla="*/ 908 h 1452"/>
                <a:gd name="T44" fmla="*/ 2519 w 2847"/>
                <a:gd name="T45" fmla="*/ 1026 h 1452"/>
                <a:gd name="T46" fmla="*/ 2664 w 2847"/>
                <a:gd name="T47" fmla="*/ 1080 h 1452"/>
                <a:gd name="T48" fmla="*/ 2709 w 2847"/>
                <a:gd name="T49" fmla="*/ 1162 h 1452"/>
                <a:gd name="T50" fmla="*/ 2764 w 2847"/>
                <a:gd name="T51" fmla="*/ 1235 h 1452"/>
                <a:gd name="T52" fmla="*/ 2791 w 2847"/>
                <a:gd name="T53" fmla="*/ 1317 h 1452"/>
                <a:gd name="T54" fmla="*/ 2728 w 2847"/>
                <a:gd name="T55" fmla="*/ 1353 h 1452"/>
                <a:gd name="T56" fmla="*/ 2682 w 2847"/>
                <a:gd name="T57" fmla="*/ 1389 h 1452"/>
                <a:gd name="T58" fmla="*/ 2609 w 2847"/>
                <a:gd name="T59" fmla="*/ 1426 h 1452"/>
                <a:gd name="T60" fmla="*/ 2428 w 2847"/>
                <a:gd name="T61" fmla="*/ 1444 h 1452"/>
                <a:gd name="T62" fmla="*/ 1773 w 2847"/>
                <a:gd name="T63" fmla="*/ 1435 h 1452"/>
                <a:gd name="T64" fmla="*/ 1664 w 2847"/>
                <a:gd name="T65" fmla="*/ 1417 h 1452"/>
                <a:gd name="T66" fmla="*/ 1382 w 2847"/>
                <a:gd name="T67" fmla="*/ 1444 h 1452"/>
                <a:gd name="T68" fmla="*/ 710 w 2847"/>
                <a:gd name="T69" fmla="*/ 1417 h 1452"/>
                <a:gd name="T70" fmla="*/ 264 w 2847"/>
                <a:gd name="T71" fmla="*/ 1417 h 1452"/>
                <a:gd name="T72" fmla="*/ 201 w 2847"/>
                <a:gd name="T73" fmla="*/ 1380 h 1452"/>
                <a:gd name="T74" fmla="*/ 110 w 2847"/>
                <a:gd name="T75" fmla="*/ 1353 h 1452"/>
                <a:gd name="T76" fmla="*/ 55 w 2847"/>
                <a:gd name="T77" fmla="*/ 1317 h 1452"/>
                <a:gd name="T78" fmla="*/ 10 w 2847"/>
                <a:gd name="T79" fmla="*/ 1271 h 1452"/>
                <a:gd name="T80" fmla="*/ 1 w 2847"/>
                <a:gd name="T81" fmla="*/ 1244 h 1452"/>
                <a:gd name="T82" fmla="*/ 19 w 2847"/>
                <a:gd name="T83" fmla="*/ 1208 h 1452"/>
                <a:gd name="T84" fmla="*/ 37 w 2847"/>
                <a:gd name="T85" fmla="*/ 1153 h 1452"/>
                <a:gd name="T86" fmla="*/ 92 w 2847"/>
                <a:gd name="T87" fmla="*/ 1135 h 1452"/>
                <a:gd name="T88" fmla="*/ 110 w 2847"/>
                <a:gd name="T89" fmla="*/ 1026 h 1452"/>
                <a:gd name="T90" fmla="*/ 101 w 2847"/>
                <a:gd name="T91" fmla="*/ 789 h 1452"/>
                <a:gd name="T92" fmla="*/ 155 w 2847"/>
                <a:gd name="T93" fmla="*/ 771 h 1452"/>
                <a:gd name="T94" fmla="*/ 192 w 2847"/>
                <a:gd name="T95" fmla="*/ 671 h 1452"/>
                <a:gd name="T96" fmla="*/ 201 w 2847"/>
                <a:gd name="T97" fmla="*/ 617 h 1452"/>
                <a:gd name="T98" fmla="*/ 273 w 2847"/>
                <a:gd name="T99" fmla="*/ 607 h 1452"/>
                <a:gd name="T100" fmla="*/ 273 w 2847"/>
                <a:gd name="T101" fmla="*/ 553 h 1452"/>
                <a:gd name="T102" fmla="*/ 264 w 2847"/>
                <a:gd name="T103" fmla="*/ 517 h 1452"/>
                <a:gd name="T104" fmla="*/ 201 w 2847"/>
                <a:gd name="T105" fmla="*/ 380 h 1452"/>
                <a:gd name="T106" fmla="*/ 119 w 2847"/>
                <a:gd name="T107" fmla="*/ 262 h 1452"/>
                <a:gd name="T108" fmla="*/ 164 w 2847"/>
                <a:gd name="T109" fmla="*/ 171 h 1452"/>
                <a:gd name="T110" fmla="*/ 173 w 2847"/>
                <a:gd name="T111" fmla="*/ 144 h 1452"/>
                <a:gd name="T112" fmla="*/ 210 w 2847"/>
                <a:gd name="T113" fmla="*/ 126 h 1452"/>
                <a:gd name="T114" fmla="*/ 228 w 2847"/>
                <a:gd name="T115" fmla="*/ 107 h 1452"/>
                <a:gd name="T116" fmla="*/ 237 w 2847"/>
                <a:gd name="T117" fmla="*/ 80 h 1452"/>
                <a:gd name="T118" fmla="*/ 273 w 2847"/>
                <a:gd name="T119" fmla="*/ 53 h 1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847" h="1452">
                  <a:moveTo>
                    <a:pt x="273" y="53"/>
                  </a:moveTo>
                  <a:cubicBezTo>
                    <a:pt x="490" y="56"/>
                    <a:pt x="923" y="99"/>
                    <a:pt x="1182" y="62"/>
                  </a:cubicBezTo>
                  <a:cubicBezTo>
                    <a:pt x="1229" y="47"/>
                    <a:pt x="1249" y="44"/>
                    <a:pt x="1300" y="53"/>
                  </a:cubicBezTo>
                  <a:cubicBezTo>
                    <a:pt x="1459" y="157"/>
                    <a:pt x="1333" y="88"/>
                    <a:pt x="1728" y="98"/>
                  </a:cubicBezTo>
                  <a:cubicBezTo>
                    <a:pt x="1854" y="93"/>
                    <a:pt x="1960" y="83"/>
                    <a:pt x="2082" y="71"/>
                  </a:cubicBezTo>
                  <a:cubicBezTo>
                    <a:pt x="2227" y="0"/>
                    <a:pt x="2249" y="47"/>
                    <a:pt x="2500" y="53"/>
                  </a:cubicBezTo>
                  <a:cubicBezTo>
                    <a:pt x="2518" y="59"/>
                    <a:pt x="2537" y="65"/>
                    <a:pt x="2555" y="71"/>
                  </a:cubicBezTo>
                  <a:cubicBezTo>
                    <a:pt x="2654" y="104"/>
                    <a:pt x="2496" y="97"/>
                    <a:pt x="2600" y="107"/>
                  </a:cubicBezTo>
                  <a:cubicBezTo>
                    <a:pt x="2654" y="112"/>
                    <a:pt x="2709" y="114"/>
                    <a:pt x="2764" y="117"/>
                  </a:cubicBezTo>
                  <a:cubicBezTo>
                    <a:pt x="2785" y="120"/>
                    <a:pt x="2809" y="116"/>
                    <a:pt x="2828" y="126"/>
                  </a:cubicBezTo>
                  <a:cubicBezTo>
                    <a:pt x="2847" y="135"/>
                    <a:pt x="2831" y="196"/>
                    <a:pt x="2828" y="198"/>
                  </a:cubicBezTo>
                  <a:cubicBezTo>
                    <a:pt x="2814" y="210"/>
                    <a:pt x="2791" y="204"/>
                    <a:pt x="2773" y="207"/>
                  </a:cubicBezTo>
                  <a:cubicBezTo>
                    <a:pt x="2700" y="246"/>
                    <a:pt x="2712" y="223"/>
                    <a:pt x="2700" y="317"/>
                  </a:cubicBezTo>
                  <a:cubicBezTo>
                    <a:pt x="2703" y="335"/>
                    <a:pt x="2704" y="353"/>
                    <a:pt x="2709" y="371"/>
                  </a:cubicBezTo>
                  <a:cubicBezTo>
                    <a:pt x="2714" y="390"/>
                    <a:pt x="2737" y="409"/>
                    <a:pt x="2728" y="426"/>
                  </a:cubicBezTo>
                  <a:cubicBezTo>
                    <a:pt x="2717" y="446"/>
                    <a:pt x="2686" y="447"/>
                    <a:pt x="2664" y="453"/>
                  </a:cubicBezTo>
                  <a:cubicBezTo>
                    <a:pt x="2610" y="469"/>
                    <a:pt x="2554" y="476"/>
                    <a:pt x="2500" y="489"/>
                  </a:cubicBezTo>
                  <a:cubicBezTo>
                    <a:pt x="2488" y="513"/>
                    <a:pt x="2467" y="535"/>
                    <a:pt x="2464" y="562"/>
                  </a:cubicBezTo>
                  <a:cubicBezTo>
                    <a:pt x="2456" y="644"/>
                    <a:pt x="2500" y="769"/>
                    <a:pt x="2555" y="826"/>
                  </a:cubicBezTo>
                  <a:cubicBezTo>
                    <a:pt x="2558" y="835"/>
                    <a:pt x="2572" y="848"/>
                    <a:pt x="2564" y="853"/>
                  </a:cubicBezTo>
                  <a:cubicBezTo>
                    <a:pt x="2532" y="873"/>
                    <a:pt x="2455" y="889"/>
                    <a:pt x="2455" y="889"/>
                  </a:cubicBezTo>
                  <a:cubicBezTo>
                    <a:pt x="2446" y="895"/>
                    <a:pt x="2432" y="898"/>
                    <a:pt x="2428" y="908"/>
                  </a:cubicBezTo>
                  <a:cubicBezTo>
                    <a:pt x="2389" y="1006"/>
                    <a:pt x="2442" y="1009"/>
                    <a:pt x="2519" y="1026"/>
                  </a:cubicBezTo>
                  <a:cubicBezTo>
                    <a:pt x="2566" y="1061"/>
                    <a:pt x="2606" y="1071"/>
                    <a:pt x="2664" y="1080"/>
                  </a:cubicBezTo>
                  <a:cubicBezTo>
                    <a:pt x="2724" y="1100"/>
                    <a:pt x="2664" y="1071"/>
                    <a:pt x="2709" y="1162"/>
                  </a:cubicBezTo>
                  <a:cubicBezTo>
                    <a:pt x="2723" y="1189"/>
                    <a:pt x="2746" y="1211"/>
                    <a:pt x="2764" y="1235"/>
                  </a:cubicBezTo>
                  <a:cubicBezTo>
                    <a:pt x="2773" y="1262"/>
                    <a:pt x="2782" y="1290"/>
                    <a:pt x="2791" y="1317"/>
                  </a:cubicBezTo>
                  <a:cubicBezTo>
                    <a:pt x="2799" y="1340"/>
                    <a:pt x="2748" y="1340"/>
                    <a:pt x="2728" y="1353"/>
                  </a:cubicBezTo>
                  <a:cubicBezTo>
                    <a:pt x="2712" y="1364"/>
                    <a:pt x="2698" y="1378"/>
                    <a:pt x="2682" y="1389"/>
                  </a:cubicBezTo>
                  <a:cubicBezTo>
                    <a:pt x="2655" y="1431"/>
                    <a:pt x="2673" y="1419"/>
                    <a:pt x="2609" y="1426"/>
                  </a:cubicBezTo>
                  <a:cubicBezTo>
                    <a:pt x="2549" y="1433"/>
                    <a:pt x="2428" y="1444"/>
                    <a:pt x="2428" y="1444"/>
                  </a:cubicBezTo>
                  <a:cubicBezTo>
                    <a:pt x="2210" y="1441"/>
                    <a:pt x="1991" y="1443"/>
                    <a:pt x="1773" y="1435"/>
                  </a:cubicBezTo>
                  <a:cubicBezTo>
                    <a:pt x="1736" y="1434"/>
                    <a:pt x="1664" y="1417"/>
                    <a:pt x="1664" y="1417"/>
                  </a:cubicBezTo>
                  <a:cubicBezTo>
                    <a:pt x="1543" y="1423"/>
                    <a:pt x="1486" y="1427"/>
                    <a:pt x="1382" y="1444"/>
                  </a:cubicBezTo>
                  <a:cubicBezTo>
                    <a:pt x="1171" y="1439"/>
                    <a:pt x="921" y="1452"/>
                    <a:pt x="710" y="1417"/>
                  </a:cubicBezTo>
                  <a:cubicBezTo>
                    <a:pt x="614" y="1420"/>
                    <a:pt x="387" y="1436"/>
                    <a:pt x="264" y="1417"/>
                  </a:cubicBezTo>
                  <a:cubicBezTo>
                    <a:pt x="244" y="1414"/>
                    <a:pt x="219" y="1389"/>
                    <a:pt x="201" y="1380"/>
                  </a:cubicBezTo>
                  <a:cubicBezTo>
                    <a:pt x="173" y="1366"/>
                    <a:pt x="138" y="1368"/>
                    <a:pt x="110" y="1353"/>
                  </a:cubicBezTo>
                  <a:cubicBezTo>
                    <a:pt x="91" y="1342"/>
                    <a:pt x="73" y="1329"/>
                    <a:pt x="55" y="1317"/>
                  </a:cubicBezTo>
                  <a:cubicBezTo>
                    <a:pt x="37" y="1305"/>
                    <a:pt x="10" y="1271"/>
                    <a:pt x="10" y="1271"/>
                  </a:cubicBezTo>
                  <a:cubicBezTo>
                    <a:pt x="7" y="1262"/>
                    <a:pt x="0" y="1253"/>
                    <a:pt x="1" y="1244"/>
                  </a:cubicBezTo>
                  <a:cubicBezTo>
                    <a:pt x="3" y="1231"/>
                    <a:pt x="14" y="1220"/>
                    <a:pt x="19" y="1208"/>
                  </a:cubicBezTo>
                  <a:cubicBezTo>
                    <a:pt x="26" y="1190"/>
                    <a:pt x="23" y="1167"/>
                    <a:pt x="37" y="1153"/>
                  </a:cubicBezTo>
                  <a:cubicBezTo>
                    <a:pt x="51" y="1139"/>
                    <a:pt x="74" y="1141"/>
                    <a:pt x="92" y="1135"/>
                  </a:cubicBezTo>
                  <a:cubicBezTo>
                    <a:pt x="144" y="1101"/>
                    <a:pt x="135" y="1076"/>
                    <a:pt x="110" y="1026"/>
                  </a:cubicBezTo>
                  <a:cubicBezTo>
                    <a:pt x="93" y="958"/>
                    <a:pt x="57" y="855"/>
                    <a:pt x="101" y="789"/>
                  </a:cubicBezTo>
                  <a:cubicBezTo>
                    <a:pt x="112" y="773"/>
                    <a:pt x="137" y="777"/>
                    <a:pt x="155" y="771"/>
                  </a:cubicBezTo>
                  <a:cubicBezTo>
                    <a:pt x="200" y="726"/>
                    <a:pt x="179" y="758"/>
                    <a:pt x="192" y="671"/>
                  </a:cubicBezTo>
                  <a:cubicBezTo>
                    <a:pt x="195" y="653"/>
                    <a:pt x="187" y="628"/>
                    <a:pt x="201" y="617"/>
                  </a:cubicBezTo>
                  <a:cubicBezTo>
                    <a:pt x="220" y="602"/>
                    <a:pt x="249" y="610"/>
                    <a:pt x="273" y="607"/>
                  </a:cubicBezTo>
                  <a:cubicBezTo>
                    <a:pt x="304" y="563"/>
                    <a:pt x="293" y="597"/>
                    <a:pt x="273" y="553"/>
                  </a:cubicBezTo>
                  <a:cubicBezTo>
                    <a:pt x="268" y="542"/>
                    <a:pt x="267" y="529"/>
                    <a:pt x="264" y="517"/>
                  </a:cubicBezTo>
                  <a:cubicBezTo>
                    <a:pt x="254" y="419"/>
                    <a:pt x="266" y="429"/>
                    <a:pt x="201" y="380"/>
                  </a:cubicBezTo>
                  <a:cubicBezTo>
                    <a:pt x="184" y="305"/>
                    <a:pt x="188" y="285"/>
                    <a:pt x="119" y="262"/>
                  </a:cubicBezTo>
                  <a:cubicBezTo>
                    <a:pt x="131" y="200"/>
                    <a:pt x="140" y="220"/>
                    <a:pt x="164" y="171"/>
                  </a:cubicBezTo>
                  <a:cubicBezTo>
                    <a:pt x="168" y="163"/>
                    <a:pt x="166" y="151"/>
                    <a:pt x="173" y="144"/>
                  </a:cubicBezTo>
                  <a:cubicBezTo>
                    <a:pt x="183" y="134"/>
                    <a:pt x="198" y="132"/>
                    <a:pt x="210" y="126"/>
                  </a:cubicBezTo>
                  <a:cubicBezTo>
                    <a:pt x="216" y="120"/>
                    <a:pt x="224" y="115"/>
                    <a:pt x="228" y="107"/>
                  </a:cubicBezTo>
                  <a:cubicBezTo>
                    <a:pt x="233" y="99"/>
                    <a:pt x="230" y="87"/>
                    <a:pt x="237" y="80"/>
                  </a:cubicBezTo>
                  <a:cubicBezTo>
                    <a:pt x="293" y="24"/>
                    <a:pt x="244" y="111"/>
                    <a:pt x="273" y="53"/>
                  </a:cubicBezTo>
                  <a:close/>
                </a:path>
              </a:pathLst>
            </a:custGeom>
            <a:blipFill dpi="0" rotWithShape="1">
              <a:blip r:embed="rId5" cstate="print">
                <a:alphaModFix amt="50000"/>
              </a:blip>
              <a:srcRect/>
              <a:tile tx="0" ty="0" sx="100000" sy="100000" flip="none" algn="tl"/>
            </a:blipFill>
            <a:ln>
              <a:noFill/>
            </a:ln>
            <a:effectLst/>
            <a:extLst>
              <a:ext uri="{91240B29-F687-4F45-9708-019B960494DF}">
                <a14:hiddenLine xmlns="" xmlns:a14="http://schemas.microsoft.com/office/drawing/2010/main" w="12699"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539664" name="Rectangle 16" descr="Yatay tuğla"/>
            <p:cNvSpPr>
              <a:spLocks noChangeArrowheads="1"/>
            </p:cNvSpPr>
            <p:nvPr/>
          </p:nvSpPr>
          <p:spPr bwMode="auto">
            <a:xfrm>
              <a:off x="4245" y="2292"/>
              <a:ext cx="864" cy="1528"/>
            </a:xfrm>
            <a:prstGeom prst="rect">
              <a:avLst/>
            </a:prstGeom>
            <a:pattFill prst="horzBrick">
              <a:fgClr>
                <a:srgbClr val="996633"/>
              </a:fgClr>
              <a:bgClr>
                <a:srgbClr val="FFFFFF"/>
              </a:bgClr>
            </a:pattFill>
            <a:ln w="12699">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graphicFrame>
          <p:nvGraphicFramePr>
            <p:cNvPr id="27658" name="Object 17"/>
            <p:cNvGraphicFramePr>
              <a:graphicFrameLocks noChangeAspect="1"/>
            </p:cNvGraphicFramePr>
            <p:nvPr/>
          </p:nvGraphicFramePr>
          <p:xfrm>
            <a:off x="1465" y="2519"/>
            <a:ext cx="516" cy="390"/>
          </p:xfrm>
          <a:graphic>
            <a:graphicData uri="http://schemas.openxmlformats.org/presentationml/2006/ole">
              <p:oleObj spid="_x0000_s1027" name="Clip" r:id="rId6" imgW="819397" imgH="620257" progId="">
                <p:embed/>
              </p:oleObj>
            </a:graphicData>
          </a:graphic>
        </p:graphicFrame>
        <p:sp>
          <p:nvSpPr>
            <p:cNvPr id="539666" name="Freeform 18" descr="Büyük kılavuz"/>
            <p:cNvSpPr>
              <a:spLocks/>
            </p:cNvSpPr>
            <p:nvPr/>
          </p:nvSpPr>
          <p:spPr bwMode="auto">
            <a:xfrm>
              <a:off x="4132" y="969"/>
              <a:ext cx="842" cy="1323"/>
            </a:xfrm>
            <a:custGeom>
              <a:avLst/>
              <a:gdLst>
                <a:gd name="T0" fmla="*/ 39 w 842"/>
                <a:gd name="T1" fmla="*/ 64 h 1323"/>
                <a:gd name="T2" fmla="*/ 19 w 842"/>
                <a:gd name="T3" fmla="*/ 89 h 1323"/>
                <a:gd name="T4" fmla="*/ 98 w 842"/>
                <a:gd name="T5" fmla="*/ 109 h 1323"/>
                <a:gd name="T6" fmla="*/ 82 w 842"/>
                <a:gd name="T7" fmla="*/ 173 h 1323"/>
                <a:gd name="T8" fmla="*/ 79 w 842"/>
                <a:gd name="T9" fmla="*/ 188 h 1323"/>
                <a:gd name="T10" fmla="*/ 98 w 842"/>
                <a:gd name="T11" fmla="*/ 206 h 1323"/>
                <a:gd name="T12" fmla="*/ 97 w 842"/>
                <a:gd name="T13" fmla="*/ 251 h 1323"/>
                <a:gd name="T14" fmla="*/ 125 w 842"/>
                <a:gd name="T15" fmla="*/ 262 h 1323"/>
                <a:gd name="T16" fmla="*/ 128 w 842"/>
                <a:gd name="T17" fmla="*/ 285 h 1323"/>
                <a:gd name="T18" fmla="*/ 132 w 842"/>
                <a:gd name="T19" fmla="*/ 322 h 1323"/>
                <a:gd name="T20" fmla="*/ 167 w 842"/>
                <a:gd name="T21" fmla="*/ 312 h 1323"/>
                <a:gd name="T22" fmla="*/ 200 w 842"/>
                <a:gd name="T23" fmla="*/ 272 h 1323"/>
                <a:gd name="T24" fmla="*/ 215 w 842"/>
                <a:gd name="T25" fmla="*/ 295 h 1323"/>
                <a:gd name="T26" fmla="*/ 235 w 842"/>
                <a:gd name="T27" fmla="*/ 362 h 1323"/>
                <a:gd name="T28" fmla="*/ 322 w 842"/>
                <a:gd name="T29" fmla="*/ 457 h 1323"/>
                <a:gd name="T30" fmla="*/ 385 w 842"/>
                <a:gd name="T31" fmla="*/ 585 h 1323"/>
                <a:gd name="T32" fmla="*/ 338 w 842"/>
                <a:gd name="T33" fmla="*/ 616 h 1323"/>
                <a:gd name="T34" fmla="*/ 295 w 842"/>
                <a:gd name="T35" fmla="*/ 632 h 1323"/>
                <a:gd name="T36" fmla="*/ 274 w 842"/>
                <a:gd name="T37" fmla="*/ 687 h 1323"/>
                <a:gd name="T38" fmla="*/ 299 w 842"/>
                <a:gd name="T39" fmla="*/ 721 h 1323"/>
                <a:gd name="T40" fmla="*/ 346 w 842"/>
                <a:gd name="T41" fmla="*/ 726 h 1323"/>
                <a:gd name="T42" fmla="*/ 396 w 842"/>
                <a:gd name="T43" fmla="*/ 695 h 1323"/>
                <a:gd name="T44" fmla="*/ 428 w 842"/>
                <a:gd name="T45" fmla="*/ 714 h 1323"/>
                <a:gd name="T46" fmla="*/ 477 w 842"/>
                <a:gd name="T47" fmla="*/ 745 h 1323"/>
                <a:gd name="T48" fmla="*/ 456 w 842"/>
                <a:gd name="T49" fmla="*/ 833 h 1323"/>
                <a:gd name="T50" fmla="*/ 473 w 842"/>
                <a:gd name="T51" fmla="*/ 1038 h 1323"/>
                <a:gd name="T52" fmla="*/ 452 w 842"/>
                <a:gd name="T53" fmla="*/ 1104 h 1323"/>
                <a:gd name="T54" fmla="*/ 428 w 842"/>
                <a:gd name="T55" fmla="*/ 1178 h 1323"/>
                <a:gd name="T56" fmla="*/ 400 w 842"/>
                <a:gd name="T57" fmla="*/ 1230 h 1323"/>
                <a:gd name="T58" fmla="*/ 342 w 842"/>
                <a:gd name="T59" fmla="*/ 1267 h 1323"/>
                <a:gd name="T60" fmla="*/ 306 w 842"/>
                <a:gd name="T61" fmla="*/ 1310 h 1323"/>
                <a:gd name="T62" fmla="*/ 363 w 842"/>
                <a:gd name="T63" fmla="*/ 1317 h 1323"/>
                <a:gd name="T64" fmla="*/ 566 w 842"/>
                <a:gd name="T65" fmla="*/ 1317 h 1323"/>
                <a:gd name="T66" fmla="*/ 576 w 842"/>
                <a:gd name="T67" fmla="*/ 1265 h 1323"/>
                <a:gd name="T68" fmla="*/ 616 w 842"/>
                <a:gd name="T69" fmla="*/ 1224 h 1323"/>
                <a:gd name="T70" fmla="*/ 623 w 842"/>
                <a:gd name="T71" fmla="*/ 961 h 1323"/>
                <a:gd name="T72" fmla="*/ 647 w 842"/>
                <a:gd name="T73" fmla="*/ 936 h 1323"/>
                <a:gd name="T74" fmla="*/ 689 w 842"/>
                <a:gd name="T75" fmla="*/ 1050 h 1323"/>
                <a:gd name="T76" fmla="*/ 680 w 842"/>
                <a:gd name="T77" fmla="*/ 1175 h 1323"/>
                <a:gd name="T78" fmla="*/ 661 w 842"/>
                <a:gd name="T79" fmla="*/ 1237 h 1323"/>
                <a:gd name="T80" fmla="*/ 647 w 842"/>
                <a:gd name="T81" fmla="*/ 1284 h 1323"/>
                <a:gd name="T82" fmla="*/ 686 w 842"/>
                <a:gd name="T83" fmla="*/ 1323 h 1323"/>
                <a:gd name="T84" fmla="*/ 757 w 842"/>
                <a:gd name="T85" fmla="*/ 1322 h 1323"/>
                <a:gd name="T86" fmla="*/ 807 w 842"/>
                <a:gd name="T87" fmla="*/ 1305 h 1323"/>
                <a:gd name="T88" fmla="*/ 840 w 842"/>
                <a:gd name="T89" fmla="*/ 1277 h 1323"/>
                <a:gd name="T90" fmla="*/ 842 w 842"/>
                <a:gd name="T91" fmla="*/ 1210 h 1323"/>
                <a:gd name="T92" fmla="*/ 814 w 842"/>
                <a:gd name="T93" fmla="*/ 975 h 1323"/>
                <a:gd name="T94" fmla="*/ 760 w 842"/>
                <a:gd name="T95" fmla="*/ 717 h 1323"/>
                <a:gd name="T96" fmla="*/ 719 w 842"/>
                <a:gd name="T97" fmla="*/ 600 h 1323"/>
                <a:gd name="T98" fmla="*/ 675 w 842"/>
                <a:gd name="T99" fmla="*/ 447 h 1323"/>
                <a:gd name="T100" fmla="*/ 616 w 842"/>
                <a:gd name="T101" fmla="*/ 352 h 1323"/>
                <a:gd name="T102" fmla="*/ 506 w 842"/>
                <a:gd name="T103" fmla="*/ 242 h 1323"/>
                <a:gd name="T104" fmla="*/ 424 w 842"/>
                <a:gd name="T105" fmla="*/ 180 h 1323"/>
                <a:gd name="T106" fmla="*/ 339 w 842"/>
                <a:gd name="T107" fmla="*/ 162 h 1323"/>
                <a:gd name="T108" fmla="*/ 290 w 842"/>
                <a:gd name="T109" fmla="*/ 143 h 1323"/>
                <a:gd name="T110" fmla="*/ 296 w 842"/>
                <a:gd name="T111" fmla="*/ 124 h 1323"/>
                <a:gd name="T112" fmla="*/ 289 w 842"/>
                <a:gd name="T113" fmla="*/ 106 h 1323"/>
                <a:gd name="T114" fmla="*/ 282 w 842"/>
                <a:gd name="T115" fmla="*/ 40 h 1323"/>
                <a:gd name="T116" fmla="*/ 168 w 842"/>
                <a:gd name="T117" fmla="*/ 1 h 1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2" h="1323">
                  <a:moveTo>
                    <a:pt x="111" y="64"/>
                  </a:moveTo>
                  <a:lnTo>
                    <a:pt x="104" y="65"/>
                  </a:lnTo>
                  <a:lnTo>
                    <a:pt x="93" y="65"/>
                  </a:lnTo>
                  <a:lnTo>
                    <a:pt x="80" y="65"/>
                  </a:lnTo>
                  <a:lnTo>
                    <a:pt x="66" y="65"/>
                  </a:lnTo>
                  <a:lnTo>
                    <a:pt x="52" y="65"/>
                  </a:lnTo>
                  <a:lnTo>
                    <a:pt x="39" y="64"/>
                  </a:lnTo>
                  <a:lnTo>
                    <a:pt x="27" y="63"/>
                  </a:lnTo>
                  <a:lnTo>
                    <a:pt x="19" y="61"/>
                  </a:lnTo>
                  <a:lnTo>
                    <a:pt x="7" y="60"/>
                  </a:lnTo>
                  <a:lnTo>
                    <a:pt x="0" y="64"/>
                  </a:lnTo>
                  <a:lnTo>
                    <a:pt x="0" y="72"/>
                  </a:lnTo>
                  <a:lnTo>
                    <a:pt x="11" y="84"/>
                  </a:lnTo>
                  <a:lnTo>
                    <a:pt x="19" y="89"/>
                  </a:lnTo>
                  <a:lnTo>
                    <a:pt x="30" y="95"/>
                  </a:lnTo>
                  <a:lnTo>
                    <a:pt x="43" y="99"/>
                  </a:lnTo>
                  <a:lnTo>
                    <a:pt x="55" y="102"/>
                  </a:lnTo>
                  <a:lnTo>
                    <a:pt x="68" y="104"/>
                  </a:lnTo>
                  <a:lnTo>
                    <a:pt x="80" y="107"/>
                  </a:lnTo>
                  <a:lnTo>
                    <a:pt x="90" y="109"/>
                  </a:lnTo>
                  <a:lnTo>
                    <a:pt x="98" y="109"/>
                  </a:lnTo>
                  <a:lnTo>
                    <a:pt x="91" y="117"/>
                  </a:lnTo>
                  <a:lnTo>
                    <a:pt x="87" y="130"/>
                  </a:lnTo>
                  <a:lnTo>
                    <a:pt x="86" y="142"/>
                  </a:lnTo>
                  <a:lnTo>
                    <a:pt x="86" y="155"/>
                  </a:lnTo>
                  <a:lnTo>
                    <a:pt x="82" y="157"/>
                  </a:lnTo>
                  <a:lnTo>
                    <a:pt x="82" y="166"/>
                  </a:lnTo>
                  <a:lnTo>
                    <a:pt x="82" y="173"/>
                  </a:lnTo>
                  <a:lnTo>
                    <a:pt x="83" y="177"/>
                  </a:lnTo>
                  <a:lnTo>
                    <a:pt x="79" y="178"/>
                  </a:lnTo>
                  <a:lnTo>
                    <a:pt x="75" y="177"/>
                  </a:lnTo>
                  <a:lnTo>
                    <a:pt x="72" y="174"/>
                  </a:lnTo>
                  <a:lnTo>
                    <a:pt x="71" y="173"/>
                  </a:lnTo>
                  <a:lnTo>
                    <a:pt x="72" y="181"/>
                  </a:lnTo>
                  <a:lnTo>
                    <a:pt x="79" y="188"/>
                  </a:lnTo>
                  <a:lnTo>
                    <a:pt x="87" y="192"/>
                  </a:lnTo>
                  <a:lnTo>
                    <a:pt x="96" y="189"/>
                  </a:lnTo>
                  <a:lnTo>
                    <a:pt x="97" y="192"/>
                  </a:lnTo>
                  <a:lnTo>
                    <a:pt x="98" y="195"/>
                  </a:lnTo>
                  <a:lnTo>
                    <a:pt x="100" y="196"/>
                  </a:lnTo>
                  <a:lnTo>
                    <a:pt x="100" y="198"/>
                  </a:lnTo>
                  <a:lnTo>
                    <a:pt x="98" y="206"/>
                  </a:lnTo>
                  <a:lnTo>
                    <a:pt x="98" y="213"/>
                  </a:lnTo>
                  <a:lnTo>
                    <a:pt x="97" y="221"/>
                  </a:lnTo>
                  <a:lnTo>
                    <a:pt x="94" y="227"/>
                  </a:lnTo>
                  <a:lnTo>
                    <a:pt x="91" y="233"/>
                  </a:lnTo>
                  <a:lnTo>
                    <a:pt x="89" y="240"/>
                  </a:lnTo>
                  <a:lnTo>
                    <a:pt x="90" y="246"/>
                  </a:lnTo>
                  <a:lnTo>
                    <a:pt x="97" y="251"/>
                  </a:lnTo>
                  <a:lnTo>
                    <a:pt x="104" y="252"/>
                  </a:lnTo>
                  <a:lnTo>
                    <a:pt x="110" y="251"/>
                  </a:lnTo>
                  <a:lnTo>
                    <a:pt x="114" y="249"/>
                  </a:lnTo>
                  <a:lnTo>
                    <a:pt x="115" y="249"/>
                  </a:lnTo>
                  <a:lnTo>
                    <a:pt x="118" y="255"/>
                  </a:lnTo>
                  <a:lnTo>
                    <a:pt x="121" y="259"/>
                  </a:lnTo>
                  <a:lnTo>
                    <a:pt x="125" y="262"/>
                  </a:lnTo>
                  <a:lnTo>
                    <a:pt x="130" y="260"/>
                  </a:lnTo>
                  <a:lnTo>
                    <a:pt x="128" y="266"/>
                  </a:lnTo>
                  <a:lnTo>
                    <a:pt x="128" y="270"/>
                  </a:lnTo>
                  <a:lnTo>
                    <a:pt x="129" y="274"/>
                  </a:lnTo>
                  <a:lnTo>
                    <a:pt x="130" y="276"/>
                  </a:lnTo>
                  <a:lnTo>
                    <a:pt x="129" y="280"/>
                  </a:lnTo>
                  <a:lnTo>
                    <a:pt x="128" y="285"/>
                  </a:lnTo>
                  <a:lnTo>
                    <a:pt x="128" y="292"/>
                  </a:lnTo>
                  <a:lnTo>
                    <a:pt x="126" y="299"/>
                  </a:lnTo>
                  <a:lnTo>
                    <a:pt x="125" y="304"/>
                  </a:lnTo>
                  <a:lnTo>
                    <a:pt x="123" y="305"/>
                  </a:lnTo>
                  <a:lnTo>
                    <a:pt x="123" y="312"/>
                  </a:lnTo>
                  <a:lnTo>
                    <a:pt x="126" y="327"/>
                  </a:lnTo>
                  <a:lnTo>
                    <a:pt x="132" y="322"/>
                  </a:lnTo>
                  <a:lnTo>
                    <a:pt x="139" y="318"/>
                  </a:lnTo>
                  <a:lnTo>
                    <a:pt x="144" y="316"/>
                  </a:lnTo>
                  <a:lnTo>
                    <a:pt x="147" y="315"/>
                  </a:lnTo>
                  <a:lnTo>
                    <a:pt x="147" y="316"/>
                  </a:lnTo>
                  <a:lnTo>
                    <a:pt x="151" y="316"/>
                  </a:lnTo>
                  <a:lnTo>
                    <a:pt x="157" y="315"/>
                  </a:lnTo>
                  <a:lnTo>
                    <a:pt x="167" y="312"/>
                  </a:lnTo>
                  <a:lnTo>
                    <a:pt x="175" y="308"/>
                  </a:lnTo>
                  <a:lnTo>
                    <a:pt x="181" y="298"/>
                  </a:lnTo>
                  <a:lnTo>
                    <a:pt x="183" y="288"/>
                  </a:lnTo>
                  <a:lnTo>
                    <a:pt x="185" y="280"/>
                  </a:lnTo>
                  <a:lnTo>
                    <a:pt x="190" y="277"/>
                  </a:lnTo>
                  <a:lnTo>
                    <a:pt x="196" y="274"/>
                  </a:lnTo>
                  <a:lnTo>
                    <a:pt x="200" y="272"/>
                  </a:lnTo>
                  <a:lnTo>
                    <a:pt x="201" y="270"/>
                  </a:lnTo>
                  <a:lnTo>
                    <a:pt x="208" y="273"/>
                  </a:lnTo>
                  <a:lnTo>
                    <a:pt x="214" y="276"/>
                  </a:lnTo>
                  <a:lnTo>
                    <a:pt x="219" y="277"/>
                  </a:lnTo>
                  <a:lnTo>
                    <a:pt x="221" y="279"/>
                  </a:lnTo>
                  <a:lnTo>
                    <a:pt x="217" y="285"/>
                  </a:lnTo>
                  <a:lnTo>
                    <a:pt x="215" y="295"/>
                  </a:lnTo>
                  <a:lnTo>
                    <a:pt x="214" y="304"/>
                  </a:lnTo>
                  <a:lnTo>
                    <a:pt x="214" y="306"/>
                  </a:lnTo>
                  <a:lnTo>
                    <a:pt x="225" y="320"/>
                  </a:lnTo>
                  <a:lnTo>
                    <a:pt x="224" y="327"/>
                  </a:lnTo>
                  <a:lnTo>
                    <a:pt x="225" y="337"/>
                  </a:lnTo>
                  <a:lnTo>
                    <a:pt x="229" y="350"/>
                  </a:lnTo>
                  <a:lnTo>
                    <a:pt x="235" y="362"/>
                  </a:lnTo>
                  <a:lnTo>
                    <a:pt x="243" y="376"/>
                  </a:lnTo>
                  <a:lnTo>
                    <a:pt x="253" y="389"/>
                  </a:lnTo>
                  <a:lnTo>
                    <a:pt x="263" y="401"/>
                  </a:lnTo>
                  <a:lnTo>
                    <a:pt x="274" y="411"/>
                  </a:lnTo>
                  <a:lnTo>
                    <a:pt x="286" y="422"/>
                  </a:lnTo>
                  <a:lnTo>
                    <a:pt x="303" y="437"/>
                  </a:lnTo>
                  <a:lnTo>
                    <a:pt x="322" y="457"/>
                  </a:lnTo>
                  <a:lnTo>
                    <a:pt x="342" y="478"/>
                  </a:lnTo>
                  <a:lnTo>
                    <a:pt x="361" y="500"/>
                  </a:lnTo>
                  <a:lnTo>
                    <a:pt x="378" y="521"/>
                  </a:lnTo>
                  <a:lnTo>
                    <a:pt x="392" y="540"/>
                  </a:lnTo>
                  <a:lnTo>
                    <a:pt x="400" y="554"/>
                  </a:lnTo>
                  <a:lnTo>
                    <a:pt x="393" y="568"/>
                  </a:lnTo>
                  <a:lnTo>
                    <a:pt x="385" y="585"/>
                  </a:lnTo>
                  <a:lnTo>
                    <a:pt x="377" y="600"/>
                  </a:lnTo>
                  <a:lnTo>
                    <a:pt x="374" y="607"/>
                  </a:lnTo>
                  <a:lnTo>
                    <a:pt x="360" y="616"/>
                  </a:lnTo>
                  <a:lnTo>
                    <a:pt x="352" y="616"/>
                  </a:lnTo>
                  <a:lnTo>
                    <a:pt x="345" y="616"/>
                  </a:lnTo>
                  <a:lnTo>
                    <a:pt x="339" y="616"/>
                  </a:lnTo>
                  <a:lnTo>
                    <a:pt x="338" y="616"/>
                  </a:lnTo>
                  <a:lnTo>
                    <a:pt x="329" y="610"/>
                  </a:lnTo>
                  <a:lnTo>
                    <a:pt x="318" y="609"/>
                  </a:lnTo>
                  <a:lnTo>
                    <a:pt x="309" y="611"/>
                  </a:lnTo>
                  <a:lnTo>
                    <a:pt x="307" y="623"/>
                  </a:lnTo>
                  <a:lnTo>
                    <a:pt x="303" y="627"/>
                  </a:lnTo>
                  <a:lnTo>
                    <a:pt x="299" y="629"/>
                  </a:lnTo>
                  <a:lnTo>
                    <a:pt x="295" y="632"/>
                  </a:lnTo>
                  <a:lnTo>
                    <a:pt x="290" y="636"/>
                  </a:lnTo>
                  <a:lnTo>
                    <a:pt x="282" y="643"/>
                  </a:lnTo>
                  <a:lnTo>
                    <a:pt x="272" y="653"/>
                  </a:lnTo>
                  <a:lnTo>
                    <a:pt x="268" y="664"/>
                  </a:lnTo>
                  <a:lnTo>
                    <a:pt x="277" y="675"/>
                  </a:lnTo>
                  <a:lnTo>
                    <a:pt x="274" y="681"/>
                  </a:lnTo>
                  <a:lnTo>
                    <a:pt x="274" y="687"/>
                  </a:lnTo>
                  <a:lnTo>
                    <a:pt x="277" y="691"/>
                  </a:lnTo>
                  <a:lnTo>
                    <a:pt x="285" y="694"/>
                  </a:lnTo>
                  <a:lnTo>
                    <a:pt x="284" y="702"/>
                  </a:lnTo>
                  <a:lnTo>
                    <a:pt x="285" y="709"/>
                  </a:lnTo>
                  <a:lnTo>
                    <a:pt x="289" y="713"/>
                  </a:lnTo>
                  <a:lnTo>
                    <a:pt x="297" y="716"/>
                  </a:lnTo>
                  <a:lnTo>
                    <a:pt x="299" y="721"/>
                  </a:lnTo>
                  <a:lnTo>
                    <a:pt x="302" y="726"/>
                  </a:lnTo>
                  <a:lnTo>
                    <a:pt x="309" y="730"/>
                  </a:lnTo>
                  <a:lnTo>
                    <a:pt x="317" y="731"/>
                  </a:lnTo>
                  <a:lnTo>
                    <a:pt x="322" y="731"/>
                  </a:lnTo>
                  <a:lnTo>
                    <a:pt x="329" y="730"/>
                  </a:lnTo>
                  <a:lnTo>
                    <a:pt x="338" y="728"/>
                  </a:lnTo>
                  <a:lnTo>
                    <a:pt x="346" y="726"/>
                  </a:lnTo>
                  <a:lnTo>
                    <a:pt x="354" y="723"/>
                  </a:lnTo>
                  <a:lnTo>
                    <a:pt x="361" y="721"/>
                  </a:lnTo>
                  <a:lnTo>
                    <a:pt x="367" y="719"/>
                  </a:lnTo>
                  <a:lnTo>
                    <a:pt x="371" y="717"/>
                  </a:lnTo>
                  <a:lnTo>
                    <a:pt x="378" y="712"/>
                  </a:lnTo>
                  <a:lnTo>
                    <a:pt x="388" y="703"/>
                  </a:lnTo>
                  <a:lnTo>
                    <a:pt x="396" y="695"/>
                  </a:lnTo>
                  <a:lnTo>
                    <a:pt x="399" y="691"/>
                  </a:lnTo>
                  <a:lnTo>
                    <a:pt x="402" y="698"/>
                  </a:lnTo>
                  <a:lnTo>
                    <a:pt x="407" y="700"/>
                  </a:lnTo>
                  <a:lnTo>
                    <a:pt x="416" y="699"/>
                  </a:lnTo>
                  <a:lnTo>
                    <a:pt x="423" y="696"/>
                  </a:lnTo>
                  <a:lnTo>
                    <a:pt x="424" y="703"/>
                  </a:lnTo>
                  <a:lnTo>
                    <a:pt x="428" y="714"/>
                  </a:lnTo>
                  <a:lnTo>
                    <a:pt x="439" y="724"/>
                  </a:lnTo>
                  <a:lnTo>
                    <a:pt x="456" y="730"/>
                  </a:lnTo>
                  <a:lnTo>
                    <a:pt x="456" y="733"/>
                  </a:lnTo>
                  <a:lnTo>
                    <a:pt x="456" y="737"/>
                  </a:lnTo>
                  <a:lnTo>
                    <a:pt x="459" y="742"/>
                  </a:lnTo>
                  <a:lnTo>
                    <a:pt x="469" y="745"/>
                  </a:lnTo>
                  <a:lnTo>
                    <a:pt x="477" y="745"/>
                  </a:lnTo>
                  <a:lnTo>
                    <a:pt x="480" y="742"/>
                  </a:lnTo>
                  <a:lnTo>
                    <a:pt x="478" y="741"/>
                  </a:lnTo>
                  <a:lnTo>
                    <a:pt x="477" y="741"/>
                  </a:lnTo>
                  <a:lnTo>
                    <a:pt x="470" y="762"/>
                  </a:lnTo>
                  <a:lnTo>
                    <a:pt x="464" y="790"/>
                  </a:lnTo>
                  <a:lnTo>
                    <a:pt x="460" y="816"/>
                  </a:lnTo>
                  <a:lnTo>
                    <a:pt x="456" y="833"/>
                  </a:lnTo>
                  <a:lnTo>
                    <a:pt x="452" y="848"/>
                  </a:lnTo>
                  <a:lnTo>
                    <a:pt x="449" y="872"/>
                  </a:lnTo>
                  <a:lnTo>
                    <a:pt x="449" y="900"/>
                  </a:lnTo>
                  <a:lnTo>
                    <a:pt x="453" y="923"/>
                  </a:lnTo>
                  <a:lnTo>
                    <a:pt x="460" y="954"/>
                  </a:lnTo>
                  <a:lnTo>
                    <a:pt x="469" y="996"/>
                  </a:lnTo>
                  <a:lnTo>
                    <a:pt x="473" y="1038"/>
                  </a:lnTo>
                  <a:lnTo>
                    <a:pt x="476" y="1070"/>
                  </a:lnTo>
                  <a:lnTo>
                    <a:pt x="470" y="1071"/>
                  </a:lnTo>
                  <a:lnTo>
                    <a:pt x="466" y="1079"/>
                  </a:lnTo>
                  <a:lnTo>
                    <a:pt x="464" y="1089"/>
                  </a:lnTo>
                  <a:lnTo>
                    <a:pt x="464" y="1102"/>
                  </a:lnTo>
                  <a:lnTo>
                    <a:pt x="457" y="1102"/>
                  </a:lnTo>
                  <a:lnTo>
                    <a:pt x="452" y="1104"/>
                  </a:lnTo>
                  <a:lnTo>
                    <a:pt x="446" y="1110"/>
                  </a:lnTo>
                  <a:lnTo>
                    <a:pt x="446" y="1120"/>
                  </a:lnTo>
                  <a:lnTo>
                    <a:pt x="446" y="1131"/>
                  </a:lnTo>
                  <a:lnTo>
                    <a:pt x="445" y="1142"/>
                  </a:lnTo>
                  <a:lnTo>
                    <a:pt x="442" y="1154"/>
                  </a:lnTo>
                  <a:lnTo>
                    <a:pt x="435" y="1167"/>
                  </a:lnTo>
                  <a:lnTo>
                    <a:pt x="428" y="1178"/>
                  </a:lnTo>
                  <a:lnTo>
                    <a:pt x="427" y="1185"/>
                  </a:lnTo>
                  <a:lnTo>
                    <a:pt x="430" y="1191"/>
                  </a:lnTo>
                  <a:lnTo>
                    <a:pt x="438" y="1193"/>
                  </a:lnTo>
                  <a:lnTo>
                    <a:pt x="428" y="1199"/>
                  </a:lnTo>
                  <a:lnTo>
                    <a:pt x="420" y="1209"/>
                  </a:lnTo>
                  <a:lnTo>
                    <a:pt x="410" y="1220"/>
                  </a:lnTo>
                  <a:lnTo>
                    <a:pt x="400" y="1230"/>
                  </a:lnTo>
                  <a:lnTo>
                    <a:pt x="395" y="1234"/>
                  </a:lnTo>
                  <a:lnTo>
                    <a:pt x="387" y="1241"/>
                  </a:lnTo>
                  <a:lnTo>
                    <a:pt x="378" y="1246"/>
                  </a:lnTo>
                  <a:lnTo>
                    <a:pt x="368" y="1253"/>
                  </a:lnTo>
                  <a:lnTo>
                    <a:pt x="359" y="1259"/>
                  </a:lnTo>
                  <a:lnTo>
                    <a:pt x="350" y="1263"/>
                  </a:lnTo>
                  <a:lnTo>
                    <a:pt x="342" y="1267"/>
                  </a:lnTo>
                  <a:lnTo>
                    <a:pt x="335" y="1269"/>
                  </a:lnTo>
                  <a:lnTo>
                    <a:pt x="322" y="1271"/>
                  </a:lnTo>
                  <a:lnTo>
                    <a:pt x="311" y="1276"/>
                  </a:lnTo>
                  <a:lnTo>
                    <a:pt x="302" y="1285"/>
                  </a:lnTo>
                  <a:lnTo>
                    <a:pt x="299" y="1298"/>
                  </a:lnTo>
                  <a:lnTo>
                    <a:pt x="300" y="1305"/>
                  </a:lnTo>
                  <a:lnTo>
                    <a:pt x="306" y="1310"/>
                  </a:lnTo>
                  <a:lnTo>
                    <a:pt x="313" y="1313"/>
                  </a:lnTo>
                  <a:lnTo>
                    <a:pt x="322" y="1316"/>
                  </a:lnTo>
                  <a:lnTo>
                    <a:pt x="331" y="1317"/>
                  </a:lnTo>
                  <a:lnTo>
                    <a:pt x="341" y="1317"/>
                  </a:lnTo>
                  <a:lnTo>
                    <a:pt x="348" y="1317"/>
                  </a:lnTo>
                  <a:lnTo>
                    <a:pt x="352" y="1317"/>
                  </a:lnTo>
                  <a:lnTo>
                    <a:pt x="363" y="1317"/>
                  </a:lnTo>
                  <a:lnTo>
                    <a:pt x="388" y="1317"/>
                  </a:lnTo>
                  <a:lnTo>
                    <a:pt x="421" y="1317"/>
                  </a:lnTo>
                  <a:lnTo>
                    <a:pt x="459" y="1317"/>
                  </a:lnTo>
                  <a:lnTo>
                    <a:pt x="496" y="1317"/>
                  </a:lnTo>
                  <a:lnTo>
                    <a:pt x="530" y="1317"/>
                  </a:lnTo>
                  <a:lnTo>
                    <a:pt x="555" y="1317"/>
                  </a:lnTo>
                  <a:lnTo>
                    <a:pt x="566" y="1317"/>
                  </a:lnTo>
                  <a:lnTo>
                    <a:pt x="573" y="1316"/>
                  </a:lnTo>
                  <a:lnTo>
                    <a:pt x="577" y="1310"/>
                  </a:lnTo>
                  <a:lnTo>
                    <a:pt x="579" y="1305"/>
                  </a:lnTo>
                  <a:lnTo>
                    <a:pt x="579" y="1298"/>
                  </a:lnTo>
                  <a:lnTo>
                    <a:pt x="579" y="1288"/>
                  </a:lnTo>
                  <a:lnTo>
                    <a:pt x="577" y="1276"/>
                  </a:lnTo>
                  <a:lnTo>
                    <a:pt x="576" y="1265"/>
                  </a:lnTo>
                  <a:lnTo>
                    <a:pt x="576" y="1259"/>
                  </a:lnTo>
                  <a:lnTo>
                    <a:pt x="581" y="1263"/>
                  </a:lnTo>
                  <a:lnTo>
                    <a:pt x="588" y="1269"/>
                  </a:lnTo>
                  <a:lnTo>
                    <a:pt x="594" y="1274"/>
                  </a:lnTo>
                  <a:lnTo>
                    <a:pt x="597" y="1276"/>
                  </a:lnTo>
                  <a:lnTo>
                    <a:pt x="604" y="1258"/>
                  </a:lnTo>
                  <a:lnTo>
                    <a:pt x="616" y="1224"/>
                  </a:lnTo>
                  <a:lnTo>
                    <a:pt x="627" y="1189"/>
                  </a:lnTo>
                  <a:lnTo>
                    <a:pt x="633" y="1167"/>
                  </a:lnTo>
                  <a:lnTo>
                    <a:pt x="633" y="1136"/>
                  </a:lnTo>
                  <a:lnTo>
                    <a:pt x="631" y="1082"/>
                  </a:lnTo>
                  <a:lnTo>
                    <a:pt x="630" y="1025"/>
                  </a:lnTo>
                  <a:lnTo>
                    <a:pt x="626" y="990"/>
                  </a:lnTo>
                  <a:lnTo>
                    <a:pt x="623" y="961"/>
                  </a:lnTo>
                  <a:lnTo>
                    <a:pt x="620" y="919"/>
                  </a:lnTo>
                  <a:lnTo>
                    <a:pt x="619" y="880"/>
                  </a:lnTo>
                  <a:lnTo>
                    <a:pt x="619" y="863"/>
                  </a:lnTo>
                  <a:lnTo>
                    <a:pt x="626" y="880"/>
                  </a:lnTo>
                  <a:lnTo>
                    <a:pt x="634" y="900"/>
                  </a:lnTo>
                  <a:lnTo>
                    <a:pt x="643" y="919"/>
                  </a:lnTo>
                  <a:lnTo>
                    <a:pt x="647" y="936"/>
                  </a:lnTo>
                  <a:lnTo>
                    <a:pt x="651" y="950"/>
                  </a:lnTo>
                  <a:lnTo>
                    <a:pt x="658" y="964"/>
                  </a:lnTo>
                  <a:lnTo>
                    <a:pt x="665" y="976"/>
                  </a:lnTo>
                  <a:lnTo>
                    <a:pt x="668" y="986"/>
                  </a:lnTo>
                  <a:lnTo>
                    <a:pt x="673" y="1005"/>
                  </a:lnTo>
                  <a:lnTo>
                    <a:pt x="682" y="1028"/>
                  </a:lnTo>
                  <a:lnTo>
                    <a:pt x="689" y="1050"/>
                  </a:lnTo>
                  <a:lnTo>
                    <a:pt x="691" y="1074"/>
                  </a:lnTo>
                  <a:lnTo>
                    <a:pt x="691" y="1096"/>
                  </a:lnTo>
                  <a:lnTo>
                    <a:pt x="691" y="1127"/>
                  </a:lnTo>
                  <a:lnTo>
                    <a:pt x="693" y="1152"/>
                  </a:lnTo>
                  <a:lnTo>
                    <a:pt x="694" y="1163"/>
                  </a:lnTo>
                  <a:lnTo>
                    <a:pt x="689" y="1168"/>
                  </a:lnTo>
                  <a:lnTo>
                    <a:pt x="680" y="1175"/>
                  </a:lnTo>
                  <a:lnTo>
                    <a:pt x="673" y="1185"/>
                  </a:lnTo>
                  <a:lnTo>
                    <a:pt x="670" y="1200"/>
                  </a:lnTo>
                  <a:lnTo>
                    <a:pt x="664" y="1206"/>
                  </a:lnTo>
                  <a:lnTo>
                    <a:pt x="661" y="1212"/>
                  </a:lnTo>
                  <a:lnTo>
                    <a:pt x="659" y="1219"/>
                  </a:lnTo>
                  <a:lnTo>
                    <a:pt x="661" y="1227"/>
                  </a:lnTo>
                  <a:lnTo>
                    <a:pt x="661" y="1237"/>
                  </a:lnTo>
                  <a:lnTo>
                    <a:pt x="661" y="1246"/>
                  </a:lnTo>
                  <a:lnTo>
                    <a:pt x="662" y="1255"/>
                  </a:lnTo>
                  <a:lnTo>
                    <a:pt x="670" y="1259"/>
                  </a:lnTo>
                  <a:lnTo>
                    <a:pt x="665" y="1266"/>
                  </a:lnTo>
                  <a:lnTo>
                    <a:pt x="659" y="1273"/>
                  </a:lnTo>
                  <a:lnTo>
                    <a:pt x="652" y="1278"/>
                  </a:lnTo>
                  <a:lnTo>
                    <a:pt x="647" y="1284"/>
                  </a:lnTo>
                  <a:lnTo>
                    <a:pt x="640" y="1292"/>
                  </a:lnTo>
                  <a:lnTo>
                    <a:pt x="634" y="1305"/>
                  </a:lnTo>
                  <a:lnTo>
                    <a:pt x="636" y="1317"/>
                  </a:lnTo>
                  <a:lnTo>
                    <a:pt x="647" y="1323"/>
                  </a:lnTo>
                  <a:lnTo>
                    <a:pt x="658" y="1323"/>
                  </a:lnTo>
                  <a:lnTo>
                    <a:pt x="670" y="1323"/>
                  </a:lnTo>
                  <a:lnTo>
                    <a:pt x="686" y="1323"/>
                  </a:lnTo>
                  <a:lnTo>
                    <a:pt x="702" y="1323"/>
                  </a:lnTo>
                  <a:lnTo>
                    <a:pt x="716" y="1323"/>
                  </a:lnTo>
                  <a:lnTo>
                    <a:pt x="730" y="1323"/>
                  </a:lnTo>
                  <a:lnTo>
                    <a:pt x="740" y="1323"/>
                  </a:lnTo>
                  <a:lnTo>
                    <a:pt x="746" y="1323"/>
                  </a:lnTo>
                  <a:lnTo>
                    <a:pt x="750" y="1323"/>
                  </a:lnTo>
                  <a:lnTo>
                    <a:pt x="757" y="1322"/>
                  </a:lnTo>
                  <a:lnTo>
                    <a:pt x="765" y="1320"/>
                  </a:lnTo>
                  <a:lnTo>
                    <a:pt x="773" y="1317"/>
                  </a:lnTo>
                  <a:lnTo>
                    <a:pt x="782" y="1316"/>
                  </a:lnTo>
                  <a:lnTo>
                    <a:pt x="789" y="1313"/>
                  </a:lnTo>
                  <a:lnTo>
                    <a:pt x="796" y="1310"/>
                  </a:lnTo>
                  <a:lnTo>
                    <a:pt x="801" y="1308"/>
                  </a:lnTo>
                  <a:lnTo>
                    <a:pt x="807" y="1305"/>
                  </a:lnTo>
                  <a:lnTo>
                    <a:pt x="812" y="1304"/>
                  </a:lnTo>
                  <a:lnTo>
                    <a:pt x="819" y="1301"/>
                  </a:lnTo>
                  <a:lnTo>
                    <a:pt x="828" y="1298"/>
                  </a:lnTo>
                  <a:lnTo>
                    <a:pt x="833" y="1295"/>
                  </a:lnTo>
                  <a:lnTo>
                    <a:pt x="837" y="1291"/>
                  </a:lnTo>
                  <a:lnTo>
                    <a:pt x="840" y="1285"/>
                  </a:lnTo>
                  <a:lnTo>
                    <a:pt x="840" y="1277"/>
                  </a:lnTo>
                  <a:lnTo>
                    <a:pt x="836" y="1262"/>
                  </a:lnTo>
                  <a:lnTo>
                    <a:pt x="833" y="1255"/>
                  </a:lnTo>
                  <a:lnTo>
                    <a:pt x="832" y="1251"/>
                  </a:lnTo>
                  <a:lnTo>
                    <a:pt x="831" y="1251"/>
                  </a:lnTo>
                  <a:lnTo>
                    <a:pt x="837" y="1245"/>
                  </a:lnTo>
                  <a:lnTo>
                    <a:pt x="842" y="1231"/>
                  </a:lnTo>
                  <a:lnTo>
                    <a:pt x="842" y="1210"/>
                  </a:lnTo>
                  <a:lnTo>
                    <a:pt x="832" y="1185"/>
                  </a:lnTo>
                  <a:lnTo>
                    <a:pt x="833" y="1163"/>
                  </a:lnTo>
                  <a:lnTo>
                    <a:pt x="836" y="1128"/>
                  </a:lnTo>
                  <a:lnTo>
                    <a:pt x="836" y="1090"/>
                  </a:lnTo>
                  <a:lnTo>
                    <a:pt x="833" y="1058"/>
                  </a:lnTo>
                  <a:lnTo>
                    <a:pt x="825" y="1022"/>
                  </a:lnTo>
                  <a:lnTo>
                    <a:pt x="814" y="975"/>
                  </a:lnTo>
                  <a:lnTo>
                    <a:pt x="803" y="932"/>
                  </a:lnTo>
                  <a:lnTo>
                    <a:pt x="796" y="908"/>
                  </a:lnTo>
                  <a:lnTo>
                    <a:pt x="787" y="884"/>
                  </a:lnTo>
                  <a:lnTo>
                    <a:pt x="776" y="837"/>
                  </a:lnTo>
                  <a:lnTo>
                    <a:pt x="767" y="787"/>
                  </a:lnTo>
                  <a:lnTo>
                    <a:pt x="762" y="749"/>
                  </a:lnTo>
                  <a:lnTo>
                    <a:pt x="760" y="717"/>
                  </a:lnTo>
                  <a:lnTo>
                    <a:pt x="753" y="678"/>
                  </a:lnTo>
                  <a:lnTo>
                    <a:pt x="743" y="642"/>
                  </a:lnTo>
                  <a:lnTo>
                    <a:pt x="732" y="621"/>
                  </a:lnTo>
                  <a:lnTo>
                    <a:pt x="734" y="614"/>
                  </a:lnTo>
                  <a:lnTo>
                    <a:pt x="734" y="606"/>
                  </a:lnTo>
                  <a:lnTo>
                    <a:pt x="729" y="600"/>
                  </a:lnTo>
                  <a:lnTo>
                    <a:pt x="719" y="600"/>
                  </a:lnTo>
                  <a:lnTo>
                    <a:pt x="728" y="584"/>
                  </a:lnTo>
                  <a:lnTo>
                    <a:pt x="728" y="556"/>
                  </a:lnTo>
                  <a:lnTo>
                    <a:pt x="721" y="522"/>
                  </a:lnTo>
                  <a:lnTo>
                    <a:pt x="707" y="492"/>
                  </a:lnTo>
                  <a:lnTo>
                    <a:pt x="697" y="478"/>
                  </a:lnTo>
                  <a:lnTo>
                    <a:pt x="686" y="462"/>
                  </a:lnTo>
                  <a:lnTo>
                    <a:pt x="675" y="447"/>
                  </a:lnTo>
                  <a:lnTo>
                    <a:pt x="662" y="432"/>
                  </a:lnTo>
                  <a:lnTo>
                    <a:pt x="650" y="418"/>
                  </a:lnTo>
                  <a:lnTo>
                    <a:pt x="638" y="405"/>
                  </a:lnTo>
                  <a:lnTo>
                    <a:pt x="627" y="394"/>
                  </a:lnTo>
                  <a:lnTo>
                    <a:pt x="619" y="384"/>
                  </a:lnTo>
                  <a:lnTo>
                    <a:pt x="619" y="368"/>
                  </a:lnTo>
                  <a:lnTo>
                    <a:pt x="616" y="352"/>
                  </a:lnTo>
                  <a:lnTo>
                    <a:pt x="608" y="336"/>
                  </a:lnTo>
                  <a:lnTo>
                    <a:pt x="588" y="313"/>
                  </a:lnTo>
                  <a:lnTo>
                    <a:pt x="581" y="306"/>
                  </a:lnTo>
                  <a:lnTo>
                    <a:pt x="567" y="294"/>
                  </a:lnTo>
                  <a:lnTo>
                    <a:pt x="548" y="277"/>
                  </a:lnTo>
                  <a:lnTo>
                    <a:pt x="528" y="259"/>
                  </a:lnTo>
                  <a:lnTo>
                    <a:pt x="506" y="242"/>
                  </a:lnTo>
                  <a:lnTo>
                    <a:pt x="488" y="226"/>
                  </a:lnTo>
                  <a:lnTo>
                    <a:pt x="473" y="213"/>
                  </a:lnTo>
                  <a:lnTo>
                    <a:pt x="463" y="205"/>
                  </a:lnTo>
                  <a:lnTo>
                    <a:pt x="456" y="199"/>
                  </a:lnTo>
                  <a:lnTo>
                    <a:pt x="446" y="194"/>
                  </a:lnTo>
                  <a:lnTo>
                    <a:pt x="435" y="187"/>
                  </a:lnTo>
                  <a:lnTo>
                    <a:pt x="424" y="180"/>
                  </a:lnTo>
                  <a:lnTo>
                    <a:pt x="412" y="174"/>
                  </a:lnTo>
                  <a:lnTo>
                    <a:pt x="398" y="170"/>
                  </a:lnTo>
                  <a:lnTo>
                    <a:pt x="385" y="167"/>
                  </a:lnTo>
                  <a:lnTo>
                    <a:pt x="373" y="167"/>
                  </a:lnTo>
                  <a:lnTo>
                    <a:pt x="361" y="163"/>
                  </a:lnTo>
                  <a:lnTo>
                    <a:pt x="350" y="162"/>
                  </a:lnTo>
                  <a:lnTo>
                    <a:pt x="339" y="162"/>
                  </a:lnTo>
                  <a:lnTo>
                    <a:pt x="335" y="162"/>
                  </a:lnTo>
                  <a:lnTo>
                    <a:pt x="332" y="155"/>
                  </a:lnTo>
                  <a:lnTo>
                    <a:pt x="327" y="150"/>
                  </a:lnTo>
                  <a:lnTo>
                    <a:pt x="318" y="149"/>
                  </a:lnTo>
                  <a:lnTo>
                    <a:pt x="304" y="153"/>
                  </a:lnTo>
                  <a:lnTo>
                    <a:pt x="296" y="148"/>
                  </a:lnTo>
                  <a:lnTo>
                    <a:pt x="290" y="143"/>
                  </a:lnTo>
                  <a:lnTo>
                    <a:pt x="288" y="141"/>
                  </a:lnTo>
                  <a:lnTo>
                    <a:pt x="288" y="139"/>
                  </a:lnTo>
                  <a:lnTo>
                    <a:pt x="296" y="139"/>
                  </a:lnTo>
                  <a:lnTo>
                    <a:pt x="303" y="135"/>
                  </a:lnTo>
                  <a:lnTo>
                    <a:pt x="307" y="127"/>
                  </a:lnTo>
                  <a:lnTo>
                    <a:pt x="306" y="116"/>
                  </a:lnTo>
                  <a:lnTo>
                    <a:pt x="296" y="124"/>
                  </a:lnTo>
                  <a:lnTo>
                    <a:pt x="289" y="123"/>
                  </a:lnTo>
                  <a:lnTo>
                    <a:pt x="284" y="116"/>
                  </a:lnTo>
                  <a:lnTo>
                    <a:pt x="281" y="109"/>
                  </a:lnTo>
                  <a:lnTo>
                    <a:pt x="285" y="109"/>
                  </a:lnTo>
                  <a:lnTo>
                    <a:pt x="288" y="107"/>
                  </a:lnTo>
                  <a:lnTo>
                    <a:pt x="289" y="106"/>
                  </a:lnTo>
                  <a:lnTo>
                    <a:pt x="289" y="106"/>
                  </a:lnTo>
                  <a:lnTo>
                    <a:pt x="289" y="92"/>
                  </a:lnTo>
                  <a:lnTo>
                    <a:pt x="284" y="91"/>
                  </a:lnTo>
                  <a:lnTo>
                    <a:pt x="288" y="84"/>
                  </a:lnTo>
                  <a:lnTo>
                    <a:pt x="289" y="75"/>
                  </a:lnTo>
                  <a:lnTo>
                    <a:pt x="289" y="64"/>
                  </a:lnTo>
                  <a:lnTo>
                    <a:pt x="286" y="53"/>
                  </a:lnTo>
                  <a:lnTo>
                    <a:pt x="282" y="40"/>
                  </a:lnTo>
                  <a:lnTo>
                    <a:pt x="274" y="29"/>
                  </a:lnTo>
                  <a:lnTo>
                    <a:pt x="263" y="19"/>
                  </a:lnTo>
                  <a:lnTo>
                    <a:pt x="249" y="10"/>
                  </a:lnTo>
                  <a:lnTo>
                    <a:pt x="229" y="4"/>
                  </a:lnTo>
                  <a:lnTo>
                    <a:pt x="208" y="0"/>
                  </a:lnTo>
                  <a:lnTo>
                    <a:pt x="187" y="0"/>
                  </a:lnTo>
                  <a:lnTo>
                    <a:pt x="168" y="1"/>
                  </a:lnTo>
                  <a:lnTo>
                    <a:pt x="150" y="6"/>
                  </a:lnTo>
                  <a:lnTo>
                    <a:pt x="135" y="14"/>
                  </a:lnTo>
                  <a:lnTo>
                    <a:pt x="122" y="26"/>
                  </a:lnTo>
                  <a:lnTo>
                    <a:pt x="114" y="43"/>
                  </a:lnTo>
                  <a:lnTo>
                    <a:pt x="111" y="64"/>
                  </a:lnTo>
                  <a:close/>
                </a:path>
              </a:pathLst>
            </a:custGeom>
            <a:pattFill prst="lgGrid">
              <a:fgClr>
                <a:srgbClr val="666699"/>
              </a:fgClr>
              <a:bgClr>
                <a:srgbClr val="FFFFFF"/>
              </a:bgClr>
            </a:patt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tr-TR">
                <a:effectLst>
                  <a:outerShdw blurRad="38100" dist="38100" dir="2700000" algn="tl">
                    <a:srgbClr val="000000">
                      <a:alpha val="43137"/>
                    </a:srgbClr>
                  </a:outerShdw>
                </a:effectLst>
              </a:endParaRPr>
            </a:p>
          </p:txBody>
        </p:sp>
        <p:sp>
          <p:nvSpPr>
            <p:cNvPr id="539667" name="Freeform 19"/>
            <p:cNvSpPr>
              <a:spLocks/>
            </p:cNvSpPr>
            <p:nvPr/>
          </p:nvSpPr>
          <p:spPr bwMode="auto">
            <a:xfrm>
              <a:off x="2423" y="1478"/>
              <a:ext cx="280" cy="177"/>
            </a:xfrm>
            <a:custGeom>
              <a:avLst/>
              <a:gdLst>
                <a:gd name="T0" fmla="*/ 114 w 280"/>
                <a:gd name="T1" fmla="*/ 79 h 177"/>
                <a:gd name="T2" fmla="*/ 98 w 280"/>
                <a:gd name="T3" fmla="*/ 54 h 177"/>
                <a:gd name="T4" fmla="*/ 67 w 280"/>
                <a:gd name="T5" fmla="*/ 25 h 177"/>
                <a:gd name="T6" fmla="*/ 25 w 280"/>
                <a:gd name="T7" fmla="*/ 4 h 177"/>
                <a:gd name="T8" fmla="*/ 11 w 280"/>
                <a:gd name="T9" fmla="*/ 10 h 177"/>
                <a:gd name="T10" fmla="*/ 28 w 280"/>
                <a:gd name="T11" fmla="*/ 31 h 177"/>
                <a:gd name="T12" fmla="*/ 34 w 280"/>
                <a:gd name="T13" fmla="*/ 47 h 177"/>
                <a:gd name="T14" fmla="*/ 50 w 280"/>
                <a:gd name="T15" fmla="*/ 70 h 177"/>
                <a:gd name="T16" fmla="*/ 81 w 280"/>
                <a:gd name="T17" fmla="*/ 85 h 177"/>
                <a:gd name="T18" fmla="*/ 92 w 280"/>
                <a:gd name="T19" fmla="*/ 89 h 177"/>
                <a:gd name="T20" fmla="*/ 88 w 280"/>
                <a:gd name="T21" fmla="*/ 99 h 177"/>
                <a:gd name="T22" fmla="*/ 77 w 280"/>
                <a:gd name="T23" fmla="*/ 121 h 177"/>
                <a:gd name="T24" fmla="*/ 84 w 280"/>
                <a:gd name="T25" fmla="*/ 134 h 177"/>
                <a:gd name="T26" fmla="*/ 87 w 280"/>
                <a:gd name="T27" fmla="*/ 131 h 177"/>
                <a:gd name="T28" fmla="*/ 92 w 280"/>
                <a:gd name="T29" fmla="*/ 132 h 177"/>
                <a:gd name="T30" fmla="*/ 98 w 280"/>
                <a:gd name="T31" fmla="*/ 135 h 177"/>
                <a:gd name="T32" fmla="*/ 102 w 280"/>
                <a:gd name="T33" fmla="*/ 141 h 177"/>
                <a:gd name="T34" fmla="*/ 112 w 280"/>
                <a:gd name="T35" fmla="*/ 150 h 177"/>
                <a:gd name="T36" fmla="*/ 109 w 280"/>
                <a:gd name="T37" fmla="*/ 159 h 177"/>
                <a:gd name="T38" fmla="*/ 103 w 280"/>
                <a:gd name="T39" fmla="*/ 166 h 177"/>
                <a:gd name="T40" fmla="*/ 107 w 280"/>
                <a:gd name="T41" fmla="*/ 170 h 177"/>
                <a:gd name="T42" fmla="*/ 119 w 280"/>
                <a:gd name="T43" fmla="*/ 174 h 177"/>
                <a:gd name="T44" fmla="*/ 132 w 280"/>
                <a:gd name="T45" fmla="*/ 177 h 177"/>
                <a:gd name="T46" fmla="*/ 144 w 280"/>
                <a:gd name="T47" fmla="*/ 177 h 177"/>
                <a:gd name="T48" fmla="*/ 152 w 280"/>
                <a:gd name="T49" fmla="*/ 166 h 177"/>
                <a:gd name="T50" fmla="*/ 153 w 280"/>
                <a:gd name="T51" fmla="*/ 130 h 177"/>
                <a:gd name="T52" fmla="*/ 159 w 280"/>
                <a:gd name="T53" fmla="*/ 113 h 177"/>
                <a:gd name="T54" fmla="*/ 181 w 280"/>
                <a:gd name="T55" fmla="*/ 106 h 177"/>
                <a:gd name="T56" fmla="*/ 195 w 280"/>
                <a:gd name="T57" fmla="*/ 104 h 177"/>
                <a:gd name="T58" fmla="*/ 209 w 280"/>
                <a:gd name="T59" fmla="*/ 96 h 177"/>
                <a:gd name="T60" fmla="*/ 226 w 280"/>
                <a:gd name="T61" fmla="*/ 84 h 177"/>
                <a:gd name="T62" fmla="*/ 238 w 280"/>
                <a:gd name="T63" fmla="*/ 72 h 177"/>
                <a:gd name="T64" fmla="*/ 247 w 280"/>
                <a:gd name="T65" fmla="*/ 60 h 177"/>
                <a:gd name="T66" fmla="*/ 270 w 280"/>
                <a:gd name="T67" fmla="*/ 45 h 177"/>
                <a:gd name="T68" fmla="*/ 269 w 280"/>
                <a:gd name="T69" fmla="*/ 40 h 177"/>
                <a:gd name="T70" fmla="*/ 240 w 280"/>
                <a:gd name="T71" fmla="*/ 40 h 177"/>
                <a:gd name="T72" fmla="*/ 209 w 280"/>
                <a:gd name="T73" fmla="*/ 49 h 177"/>
                <a:gd name="T74" fmla="*/ 181 w 280"/>
                <a:gd name="T75" fmla="*/ 61 h 177"/>
                <a:gd name="T76" fmla="*/ 159 w 280"/>
                <a:gd name="T77" fmla="*/ 78 h 177"/>
                <a:gd name="T78" fmla="*/ 139 w 280"/>
                <a:gd name="T79" fmla="*/ 91 h 177"/>
                <a:gd name="T80" fmla="*/ 132 w 280"/>
                <a:gd name="T81" fmla="*/ 91 h 177"/>
                <a:gd name="T82" fmla="*/ 120 w 280"/>
                <a:gd name="T83" fmla="*/ 88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0" h="177">
                  <a:moveTo>
                    <a:pt x="117" y="88"/>
                  </a:moveTo>
                  <a:lnTo>
                    <a:pt x="114" y="79"/>
                  </a:lnTo>
                  <a:lnTo>
                    <a:pt x="107" y="68"/>
                  </a:lnTo>
                  <a:lnTo>
                    <a:pt x="98" y="54"/>
                  </a:lnTo>
                  <a:lnTo>
                    <a:pt x="84" y="39"/>
                  </a:lnTo>
                  <a:lnTo>
                    <a:pt x="67" y="25"/>
                  </a:lnTo>
                  <a:lnTo>
                    <a:pt x="48" y="14"/>
                  </a:lnTo>
                  <a:lnTo>
                    <a:pt x="25" y="4"/>
                  </a:lnTo>
                  <a:lnTo>
                    <a:pt x="0" y="0"/>
                  </a:lnTo>
                  <a:lnTo>
                    <a:pt x="11" y="10"/>
                  </a:lnTo>
                  <a:lnTo>
                    <a:pt x="21" y="21"/>
                  </a:lnTo>
                  <a:lnTo>
                    <a:pt x="28" y="31"/>
                  </a:lnTo>
                  <a:lnTo>
                    <a:pt x="31" y="39"/>
                  </a:lnTo>
                  <a:lnTo>
                    <a:pt x="34" y="47"/>
                  </a:lnTo>
                  <a:lnTo>
                    <a:pt x="41" y="58"/>
                  </a:lnTo>
                  <a:lnTo>
                    <a:pt x="50" y="70"/>
                  </a:lnTo>
                  <a:lnTo>
                    <a:pt x="67" y="79"/>
                  </a:lnTo>
                  <a:lnTo>
                    <a:pt x="81" y="85"/>
                  </a:lnTo>
                  <a:lnTo>
                    <a:pt x="88" y="86"/>
                  </a:lnTo>
                  <a:lnTo>
                    <a:pt x="92" y="89"/>
                  </a:lnTo>
                  <a:lnTo>
                    <a:pt x="96" y="95"/>
                  </a:lnTo>
                  <a:lnTo>
                    <a:pt x="88" y="99"/>
                  </a:lnTo>
                  <a:lnTo>
                    <a:pt x="81" y="109"/>
                  </a:lnTo>
                  <a:lnTo>
                    <a:pt x="77" y="121"/>
                  </a:lnTo>
                  <a:lnTo>
                    <a:pt x="82" y="136"/>
                  </a:lnTo>
                  <a:lnTo>
                    <a:pt x="84" y="134"/>
                  </a:lnTo>
                  <a:lnTo>
                    <a:pt x="85" y="132"/>
                  </a:lnTo>
                  <a:lnTo>
                    <a:pt x="87" y="131"/>
                  </a:lnTo>
                  <a:lnTo>
                    <a:pt x="87" y="131"/>
                  </a:lnTo>
                  <a:lnTo>
                    <a:pt x="92" y="132"/>
                  </a:lnTo>
                  <a:lnTo>
                    <a:pt x="95" y="134"/>
                  </a:lnTo>
                  <a:lnTo>
                    <a:pt x="98" y="135"/>
                  </a:lnTo>
                  <a:lnTo>
                    <a:pt x="98" y="135"/>
                  </a:lnTo>
                  <a:lnTo>
                    <a:pt x="102" y="141"/>
                  </a:lnTo>
                  <a:lnTo>
                    <a:pt x="107" y="146"/>
                  </a:lnTo>
                  <a:lnTo>
                    <a:pt x="112" y="150"/>
                  </a:lnTo>
                  <a:lnTo>
                    <a:pt x="113" y="152"/>
                  </a:lnTo>
                  <a:lnTo>
                    <a:pt x="109" y="159"/>
                  </a:lnTo>
                  <a:lnTo>
                    <a:pt x="106" y="163"/>
                  </a:lnTo>
                  <a:lnTo>
                    <a:pt x="103" y="166"/>
                  </a:lnTo>
                  <a:lnTo>
                    <a:pt x="103" y="167"/>
                  </a:lnTo>
                  <a:lnTo>
                    <a:pt x="107" y="170"/>
                  </a:lnTo>
                  <a:lnTo>
                    <a:pt x="113" y="171"/>
                  </a:lnTo>
                  <a:lnTo>
                    <a:pt x="119" y="174"/>
                  </a:lnTo>
                  <a:lnTo>
                    <a:pt x="125" y="175"/>
                  </a:lnTo>
                  <a:lnTo>
                    <a:pt x="132" y="177"/>
                  </a:lnTo>
                  <a:lnTo>
                    <a:pt x="138" y="177"/>
                  </a:lnTo>
                  <a:lnTo>
                    <a:pt x="144" y="177"/>
                  </a:lnTo>
                  <a:lnTo>
                    <a:pt x="148" y="177"/>
                  </a:lnTo>
                  <a:lnTo>
                    <a:pt x="152" y="166"/>
                  </a:lnTo>
                  <a:lnTo>
                    <a:pt x="153" y="148"/>
                  </a:lnTo>
                  <a:lnTo>
                    <a:pt x="153" y="130"/>
                  </a:lnTo>
                  <a:lnTo>
                    <a:pt x="149" y="116"/>
                  </a:lnTo>
                  <a:lnTo>
                    <a:pt x="159" y="113"/>
                  </a:lnTo>
                  <a:lnTo>
                    <a:pt x="170" y="109"/>
                  </a:lnTo>
                  <a:lnTo>
                    <a:pt x="181" y="106"/>
                  </a:lnTo>
                  <a:lnTo>
                    <a:pt x="190" y="104"/>
                  </a:lnTo>
                  <a:lnTo>
                    <a:pt x="195" y="104"/>
                  </a:lnTo>
                  <a:lnTo>
                    <a:pt x="202" y="102"/>
                  </a:lnTo>
                  <a:lnTo>
                    <a:pt x="209" y="96"/>
                  </a:lnTo>
                  <a:lnTo>
                    <a:pt x="217" y="91"/>
                  </a:lnTo>
                  <a:lnTo>
                    <a:pt x="226" y="84"/>
                  </a:lnTo>
                  <a:lnTo>
                    <a:pt x="233" y="78"/>
                  </a:lnTo>
                  <a:lnTo>
                    <a:pt x="238" y="72"/>
                  </a:lnTo>
                  <a:lnTo>
                    <a:pt x="241" y="68"/>
                  </a:lnTo>
                  <a:lnTo>
                    <a:pt x="247" y="60"/>
                  </a:lnTo>
                  <a:lnTo>
                    <a:pt x="258" y="52"/>
                  </a:lnTo>
                  <a:lnTo>
                    <a:pt x="270" y="45"/>
                  </a:lnTo>
                  <a:lnTo>
                    <a:pt x="280" y="42"/>
                  </a:lnTo>
                  <a:lnTo>
                    <a:pt x="269" y="40"/>
                  </a:lnTo>
                  <a:lnTo>
                    <a:pt x="255" y="39"/>
                  </a:lnTo>
                  <a:lnTo>
                    <a:pt x="240" y="40"/>
                  </a:lnTo>
                  <a:lnTo>
                    <a:pt x="224" y="43"/>
                  </a:lnTo>
                  <a:lnTo>
                    <a:pt x="209" y="49"/>
                  </a:lnTo>
                  <a:lnTo>
                    <a:pt x="195" y="54"/>
                  </a:lnTo>
                  <a:lnTo>
                    <a:pt x="181" y="61"/>
                  </a:lnTo>
                  <a:lnTo>
                    <a:pt x="169" y="71"/>
                  </a:lnTo>
                  <a:lnTo>
                    <a:pt x="159" y="78"/>
                  </a:lnTo>
                  <a:lnTo>
                    <a:pt x="149" y="86"/>
                  </a:lnTo>
                  <a:lnTo>
                    <a:pt x="139" y="91"/>
                  </a:lnTo>
                  <a:lnTo>
                    <a:pt x="137" y="93"/>
                  </a:lnTo>
                  <a:lnTo>
                    <a:pt x="132" y="91"/>
                  </a:lnTo>
                  <a:lnTo>
                    <a:pt x="125" y="89"/>
                  </a:lnTo>
                  <a:lnTo>
                    <a:pt x="120" y="88"/>
                  </a:lnTo>
                  <a:lnTo>
                    <a:pt x="117" y="8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tr-TR">
                <a:effectLst>
                  <a:outerShdw blurRad="38100" dist="38100" dir="2700000" algn="tl">
                    <a:srgbClr val="000000">
                      <a:alpha val="43137"/>
                    </a:srgbClr>
                  </a:outerShdw>
                </a:effectLst>
              </a:endParaRPr>
            </a:p>
          </p:txBody>
        </p:sp>
        <p:sp>
          <p:nvSpPr>
            <p:cNvPr id="539668" name="Freeform 20"/>
            <p:cNvSpPr>
              <a:spLocks/>
            </p:cNvSpPr>
            <p:nvPr/>
          </p:nvSpPr>
          <p:spPr bwMode="auto">
            <a:xfrm>
              <a:off x="1919" y="935"/>
              <a:ext cx="312" cy="181"/>
            </a:xfrm>
            <a:custGeom>
              <a:avLst/>
              <a:gdLst>
                <a:gd name="T0" fmla="*/ 152 w 312"/>
                <a:gd name="T1" fmla="*/ 65 h 181"/>
                <a:gd name="T2" fmla="*/ 137 w 312"/>
                <a:gd name="T3" fmla="*/ 54 h 181"/>
                <a:gd name="T4" fmla="*/ 117 w 312"/>
                <a:gd name="T5" fmla="*/ 47 h 181"/>
                <a:gd name="T6" fmla="*/ 92 w 312"/>
                <a:gd name="T7" fmla="*/ 50 h 181"/>
                <a:gd name="T8" fmla="*/ 61 w 312"/>
                <a:gd name="T9" fmla="*/ 65 h 181"/>
                <a:gd name="T10" fmla="*/ 39 w 312"/>
                <a:gd name="T11" fmla="*/ 80 h 181"/>
                <a:gd name="T12" fmla="*/ 24 w 312"/>
                <a:gd name="T13" fmla="*/ 91 h 181"/>
                <a:gd name="T14" fmla="*/ 9 w 312"/>
                <a:gd name="T15" fmla="*/ 98 h 181"/>
                <a:gd name="T16" fmla="*/ 10 w 312"/>
                <a:gd name="T17" fmla="*/ 104 h 181"/>
                <a:gd name="T18" fmla="*/ 39 w 312"/>
                <a:gd name="T19" fmla="*/ 111 h 181"/>
                <a:gd name="T20" fmla="*/ 73 w 312"/>
                <a:gd name="T21" fmla="*/ 115 h 181"/>
                <a:gd name="T22" fmla="*/ 99 w 312"/>
                <a:gd name="T23" fmla="*/ 115 h 181"/>
                <a:gd name="T24" fmla="*/ 113 w 312"/>
                <a:gd name="T25" fmla="*/ 111 h 181"/>
                <a:gd name="T26" fmla="*/ 127 w 312"/>
                <a:gd name="T27" fmla="*/ 101 h 181"/>
                <a:gd name="T28" fmla="*/ 141 w 312"/>
                <a:gd name="T29" fmla="*/ 91 h 181"/>
                <a:gd name="T30" fmla="*/ 151 w 312"/>
                <a:gd name="T31" fmla="*/ 84 h 181"/>
                <a:gd name="T32" fmla="*/ 148 w 312"/>
                <a:gd name="T33" fmla="*/ 104 h 181"/>
                <a:gd name="T34" fmla="*/ 144 w 312"/>
                <a:gd name="T35" fmla="*/ 151 h 181"/>
                <a:gd name="T36" fmla="*/ 151 w 312"/>
                <a:gd name="T37" fmla="*/ 172 h 181"/>
                <a:gd name="T38" fmla="*/ 164 w 312"/>
                <a:gd name="T39" fmla="*/ 179 h 181"/>
                <a:gd name="T40" fmla="*/ 178 w 312"/>
                <a:gd name="T41" fmla="*/ 181 h 181"/>
                <a:gd name="T42" fmla="*/ 194 w 312"/>
                <a:gd name="T43" fmla="*/ 172 h 181"/>
                <a:gd name="T44" fmla="*/ 191 w 312"/>
                <a:gd name="T45" fmla="*/ 151 h 181"/>
                <a:gd name="T46" fmla="*/ 180 w 312"/>
                <a:gd name="T47" fmla="*/ 126 h 181"/>
                <a:gd name="T48" fmla="*/ 190 w 312"/>
                <a:gd name="T49" fmla="*/ 116 h 181"/>
                <a:gd name="T50" fmla="*/ 209 w 312"/>
                <a:gd name="T51" fmla="*/ 100 h 181"/>
                <a:gd name="T52" fmla="*/ 215 w 312"/>
                <a:gd name="T53" fmla="*/ 83 h 181"/>
                <a:gd name="T54" fmla="*/ 226 w 312"/>
                <a:gd name="T55" fmla="*/ 90 h 181"/>
                <a:gd name="T56" fmla="*/ 231 w 312"/>
                <a:gd name="T57" fmla="*/ 90 h 181"/>
                <a:gd name="T58" fmla="*/ 235 w 312"/>
                <a:gd name="T59" fmla="*/ 79 h 181"/>
                <a:gd name="T60" fmla="*/ 244 w 312"/>
                <a:gd name="T61" fmla="*/ 76 h 181"/>
                <a:gd name="T62" fmla="*/ 258 w 312"/>
                <a:gd name="T63" fmla="*/ 69 h 181"/>
                <a:gd name="T64" fmla="*/ 270 w 312"/>
                <a:gd name="T65" fmla="*/ 57 h 181"/>
                <a:gd name="T66" fmla="*/ 279 w 312"/>
                <a:gd name="T67" fmla="*/ 44 h 181"/>
                <a:gd name="T68" fmla="*/ 290 w 312"/>
                <a:gd name="T69" fmla="*/ 25 h 181"/>
                <a:gd name="T70" fmla="*/ 308 w 312"/>
                <a:gd name="T71" fmla="*/ 8 h 181"/>
                <a:gd name="T72" fmla="*/ 301 w 312"/>
                <a:gd name="T73" fmla="*/ 4 h 181"/>
                <a:gd name="T74" fmla="*/ 272 w 312"/>
                <a:gd name="T75" fmla="*/ 0 h 181"/>
                <a:gd name="T76" fmla="*/ 242 w 312"/>
                <a:gd name="T77" fmla="*/ 1 h 181"/>
                <a:gd name="T78" fmla="*/ 217 w 312"/>
                <a:gd name="T79" fmla="*/ 11 h 181"/>
                <a:gd name="T80" fmla="*/ 201 w 312"/>
                <a:gd name="T81" fmla="*/ 40 h 181"/>
                <a:gd name="T82" fmla="*/ 188 w 312"/>
                <a:gd name="T83" fmla="*/ 61 h 181"/>
                <a:gd name="T84" fmla="*/ 178 w 312"/>
                <a:gd name="T85" fmla="*/ 65 h 181"/>
                <a:gd name="T86" fmla="*/ 162 w 312"/>
                <a:gd name="T87" fmla="*/ 69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2" h="181">
                  <a:moveTo>
                    <a:pt x="159" y="71"/>
                  </a:moveTo>
                  <a:lnTo>
                    <a:pt x="152" y="65"/>
                  </a:lnTo>
                  <a:lnTo>
                    <a:pt x="145" y="59"/>
                  </a:lnTo>
                  <a:lnTo>
                    <a:pt x="137" y="54"/>
                  </a:lnTo>
                  <a:lnTo>
                    <a:pt x="128" y="50"/>
                  </a:lnTo>
                  <a:lnTo>
                    <a:pt x="117" y="47"/>
                  </a:lnTo>
                  <a:lnTo>
                    <a:pt x="106" y="47"/>
                  </a:lnTo>
                  <a:lnTo>
                    <a:pt x="92" y="50"/>
                  </a:lnTo>
                  <a:lnTo>
                    <a:pt x="77" y="57"/>
                  </a:lnTo>
                  <a:lnTo>
                    <a:pt x="61" y="65"/>
                  </a:lnTo>
                  <a:lnTo>
                    <a:pt x="49" y="73"/>
                  </a:lnTo>
                  <a:lnTo>
                    <a:pt x="39" y="80"/>
                  </a:lnTo>
                  <a:lnTo>
                    <a:pt x="31" y="86"/>
                  </a:lnTo>
                  <a:lnTo>
                    <a:pt x="24" y="91"/>
                  </a:lnTo>
                  <a:lnTo>
                    <a:pt x="17" y="96"/>
                  </a:lnTo>
                  <a:lnTo>
                    <a:pt x="9" y="98"/>
                  </a:lnTo>
                  <a:lnTo>
                    <a:pt x="0" y="100"/>
                  </a:lnTo>
                  <a:lnTo>
                    <a:pt x="10" y="104"/>
                  </a:lnTo>
                  <a:lnTo>
                    <a:pt x="24" y="107"/>
                  </a:lnTo>
                  <a:lnTo>
                    <a:pt x="39" y="111"/>
                  </a:lnTo>
                  <a:lnTo>
                    <a:pt x="56" y="112"/>
                  </a:lnTo>
                  <a:lnTo>
                    <a:pt x="73" y="115"/>
                  </a:lnTo>
                  <a:lnTo>
                    <a:pt x="88" y="115"/>
                  </a:lnTo>
                  <a:lnTo>
                    <a:pt x="99" y="115"/>
                  </a:lnTo>
                  <a:lnTo>
                    <a:pt x="107" y="114"/>
                  </a:lnTo>
                  <a:lnTo>
                    <a:pt x="113" y="111"/>
                  </a:lnTo>
                  <a:lnTo>
                    <a:pt x="120" y="107"/>
                  </a:lnTo>
                  <a:lnTo>
                    <a:pt x="127" y="101"/>
                  </a:lnTo>
                  <a:lnTo>
                    <a:pt x="134" y="97"/>
                  </a:lnTo>
                  <a:lnTo>
                    <a:pt x="141" y="91"/>
                  </a:lnTo>
                  <a:lnTo>
                    <a:pt x="146" y="87"/>
                  </a:lnTo>
                  <a:lnTo>
                    <a:pt x="151" y="84"/>
                  </a:lnTo>
                  <a:lnTo>
                    <a:pt x="153" y="84"/>
                  </a:lnTo>
                  <a:lnTo>
                    <a:pt x="148" y="104"/>
                  </a:lnTo>
                  <a:lnTo>
                    <a:pt x="145" y="129"/>
                  </a:lnTo>
                  <a:lnTo>
                    <a:pt x="144" y="151"/>
                  </a:lnTo>
                  <a:lnTo>
                    <a:pt x="146" y="167"/>
                  </a:lnTo>
                  <a:lnTo>
                    <a:pt x="151" y="172"/>
                  </a:lnTo>
                  <a:lnTo>
                    <a:pt x="157" y="176"/>
                  </a:lnTo>
                  <a:lnTo>
                    <a:pt x="164" y="179"/>
                  </a:lnTo>
                  <a:lnTo>
                    <a:pt x="171" y="181"/>
                  </a:lnTo>
                  <a:lnTo>
                    <a:pt x="178" y="181"/>
                  </a:lnTo>
                  <a:lnTo>
                    <a:pt x="187" y="178"/>
                  </a:lnTo>
                  <a:lnTo>
                    <a:pt x="194" y="172"/>
                  </a:lnTo>
                  <a:lnTo>
                    <a:pt x="201" y="162"/>
                  </a:lnTo>
                  <a:lnTo>
                    <a:pt x="191" y="151"/>
                  </a:lnTo>
                  <a:lnTo>
                    <a:pt x="184" y="137"/>
                  </a:lnTo>
                  <a:lnTo>
                    <a:pt x="180" y="126"/>
                  </a:lnTo>
                  <a:lnTo>
                    <a:pt x="178" y="121"/>
                  </a:lnTo>
                  <a:lnTo>
                    <a:pt x="190" y="116"/>
                  </a:lnTo>
                  <a:lnTo>
                    <a:pt x="201" y="110"/>
                  </a:lnTo>
                  <a:lnTo>
                    <a:pt x="209" y="100"/>
                  </a:lnTo>
                  <a:lnTo>
                    <a:pt x="212" y="89"/>
                  </a:lnTo>
                  <a:lnTo>
                    <a:pt x="215" y="83"/>
                  </a:lnTo>
                  <a:lnTo>
                    <a:pt x="220" y="84"/>
                  </a:lnTo>
                  <a:lnTo>
                    <a:pt x="226" y="90"/>
                  </a:lnTo>
                  <a:lnTo>
                    <a:pt x="228" y="96"/>
                  </a:lnTo>
                  <a:lnTo>
                    <a:pt x="231" y="90"/>
                  </a:lnTo>
                  <a:lnTo>
                    <a:pt x="234" y="83"/>
                  </a:lnTo>
                  <a:lnTo>
                    <a:pt x="235" y="79"/>
                  </a:lnTo>
                  <a:lnTo>
                    <a:pt x="235" y="76"/>
                  </a:lnTo>
                  <a:lnTo>
                    <a:pt x="244" y="76"/>
                  </a:lnTo>
                  <a:lnTo>
                    <a:pt x="251" y="75"/>
                  </a:lnTo>
                  <a:lnTo>
                    <a:pt x="258" y="69"/>
                  </a:lnTo>
                  <a:lnTo>
                    <a:pt x="265" y="64"/>
                  </a:lnTo>
                  <a:lnTo>
                    <a:pt x="270" y="57"/>
                  </a:lnTo>
                  <a:lnTo>
                    <a:pt x="274" y="50"/>
                  </a:lnTo>
                  <a:lnTo>
                    <a:pt x="279" y="44"/>
                  </a:lnTo>
                  <a:lnTo>
                    <a:pt x="281" y="39"/>
                  </a:lnTo>
                  <a:lnTo>
                    <a:pt x="290" y="25"/>
                  </a:lnTo>
                  <a:lnTo>
                    <a:pt x="299" y="13"/>
                  </a:lnTo>
                  <a:lnTo>
                    <a:pt x="308" y="8"/>
                  </a:lnTo>
                  <a:lnTo>
                    <a:pt x="312" y="6"/>
                  </a:lnTo>
                  <a:lnTo>
                    <a:pt x="301" y="4"/>
                  </a:lnTo>
                  <a:lnTo>
                    <a:pt x="287" y="1"/>
                  </a:lnTo>
                  <a:lnTo>
                    <a:pt x="272" y="0"/>
                  </a:lnTo>
                  <a:lnTo>
                    <a:pt x="256" y="0"/>
                  </a:lnTo>
                  <a:lnTo>
                    <a:pt x="242" y="1"/>
                  </a:lnTo>
                  <a:lnTo>
                    <a:pt x="228" y="5"/>
                  </a:lnTo>
                  <a:lnTo>
                    <a:pt x="217" y="11"/>
                  </a:lnTo>
                  <a:lnTo>
                    <a:pt x="210" y="20"/>
                  </a:lnTo>
                  <a:lnTo>
                    <a:pt x="201" y="40"/>
                  </a:lnTo>
                  <a:lnTo>
                    <a:pt x="194" y="52"/>
                  </a:lnTo>
                  <a:lnTo>
                    <a:pt x="188" y="61"/>
                  </a:lnTo>
                  <a:lnTo>
                    <a:pt x="187" y="64"/>
                  </a:lnTo>
                  <a:lnTo>
                    <a:pt x="178" y="65"/>
                  </a:lnTo>
                  <a:lnTo>
                    <a:pt x="169" y="66"/>
                  </a:lnTo>
                  <a:lnTo>
                    <a:pt x="162" y="69"/>
                  </a:lnTo>
                  <a:lnTo>
                    <a:pt x="159" y="7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tr-TR">
                <a:effectLst>
                  <a:outerShdw blurRad="38100" dist="38100" dir="2700000" algn="tl">
                    <a:srgbClr val="000000">
                      <a:alpha val="43137"/>
                    </a:srgbClr>
                  </a:outerShdw>
                </a:effectLst>
              </a:endParaRPr>
            </a:p>
          </p:txBody>
        </p:sp>
        <p:sp>
          <p:nvSpPr>
            <p:cNvPr id="539669" name="Freeform 21"/>
            <p:cNvSpPr>
              <a:spLocks/>
            </p:cNvSpPr>
            <p:nvPr/>
          </p:nvSpPr>
          <p:spPr bwMode="auto">
            <a:xfrm>
              <a:off x="1604" y="1392"/>
              <a:ext cx="349" cy="223"/>
            </a:xfrm>
            <a:custGeom>
              <a:avLst/>
              <a:gdLst>
                <a:gd name="T0" fmla="*/ 185 w 349"/>
                <a:gd name="T1" fmla="*/ 68 h 223"/>
                <a:gd name="T2" fmla="*/ 167 w 349"/>
                <a:gd name="T3" fmla="*/ 73 h 223"/>
                <a:gd name="T4" fmla="*/ 145 w 349"/>
                <a:gd name="T5" fmla="*/ 92 h 223"/>
                <a:gd name="T6" fmla="*/ 142 w 349"/>
                <a:gd name="T7" fmla="*/ 119 h 223"/>
                <a:gd name="T8" fmla="*/ 128 w 349"/>
                <a:gd name="T9" fmla="*/ 109 h 223"/>
                <a:gd name="T10" fmla="*/ 128 w 349"/>
                <a:gd name="T11" fmla="*/ 84 h 223"/>
                <a:gd name="T12" fmla="*/ 121 w 349"/>
                <a:gd name="T13" fmla="*/ 57 h 223"/>
                <a:gd name="T14" fmla="*/ 95 w 349"/>
                <a:gd name="T15" fmla="*/ 34 h 223"/>
                <a:gd name="T16" fmla="*/ 54 w 349"/>
                <a:gd name="T17" fmla="*/ 25 h 223"/>
                <a:gd name="T18" fmla="*/ 21 w 349"/>
                <a:gd name="T19" fmla="*/ 21 h 223"/>
                <a:gd name="T20" fmla="*/ 0 w 349"/>
                <a:gd name="T21" fmla="*/ 13 h 223"/>
                <a:gd name="T22" fmla="*/ 11 w 349"/>
                <a:gd name="T23" fmla="*/ 43 h 223"/>
                <a:gd name="T24" fmla="*/ 29 w 349"/>
                <a:gd name="T25" fmla="*/ 80 h 223"/>
                <a:gd name="T26" fmla="*/ 40 w 349"/>
                <a:gd name="T27" fmla="*/ 94 h 223"/>
                <a:gd name="T28" fmla="*/ 52 w 349"/>
                <a:gd name="T29" fmla="*/ 112 h 223"/>
                <a:gd name="T30" fmla="*/ 81 w 349"/>
                <a:gd name="T31" fmla="*/ 127 h 223"/>
                <a:gd name="T32" fmla="*/ 95 w 349"/>
                <a:gd name="T33" fmla="*/ 135 h 223"/>
                <a:gd name="T34" fmla="*/ 113 w 349"/>
                <a:gd name="T35" fmla="*/ 149 h 223"/>
                <a:gd name="T36" fmla="*/ 136 w 349"/>
                <a:gd name="T37" fmla="*/ 148 h 223"/>
                <a:gd name="T38" fmla="*/ 142 w 349"/>
                <a:gd name="T39" fmla="*/ 165 h 223"/>
                <a:gd name="T40" fmla="*/ 157 w 349"/>
                <a:gd name="T41" fmla="*/ 178 h 223"/>
                <a:gd name="T42" fmla="*/ 182 w 349"/>
                <a:gd name="T43" fmla="*/ 187 h 223"/>
                <a:gd name="T44" fmla="*/ 195 w 349"/>
                <a:gd name="T45" fmla="*/ 188 h 223"/>
                <a:gd name="T46" fmla="*/ 214 w 349"/>
                <a:gd name="T47" fmla="*/ 183 h 223"/>
                <a:gd name="T48" fmla="*/ 224 w 349"/>
                <a:gd name="T49" fmla="*/ 194 h 223"/>
                <a:gd name="T50" fmla="*/ 228 w 349"/>
                <a:gd name="T51" fmla="*/ 223 h 223"/>
                <a:gd name="T52" fmla="*/ 260 w 349"/>
                <a:gd name="T53" fmla="*/ 213 h 223"/>
                <a:gd name="T54" fmla="*/ 283 w 349"/>
                <a:gd name="T55" fmla="*/ 199 h 223"/>
                <a:gd name="T56" fmla="*/ 264 w 349"/>
                <a:gd name="T57" fmla="*/ 180 h 223"/>
                <a:gd name="T58" fmla="*/ 239 w 349"/>
                <a:gd name="T59" fmla="*/ 160 h 223"/>
                <a:gd name="T60" fmla="*/ 213 w 349"/>
                <a:gd name="T61" fmla="*/ 142 h 223"/>
                <a:gd name="T62" fmla="*/ 234 w 349"/>
                <a:gd name="T63" fmla="*/ 130 h 223"/>
                <a:gd name="T64" fmla="*/ 249 w 349"/>
                <a:gd name="T65" fmla="*/ 119 h 223"/>
                <a:gd name="T66" fmla="*/ 274 w 349"/>
                <a:gd name="T67" fmla="*/ 98 h 223"/>
                <a:gd name="T68" fmla="*/ 280 w 349"/>
                <a:gd name="T69" fmla="*/ 78 h 223"/>
                <a:gd name="T70" fmla="*/ 306 w 349"/>
                <a:gd name="T71" fmla="*/ 64 h 223"/>
                <a:gd name="T72" fmla="*/ 338 w 349"/>
                <a:gd name="T73" fmla="*/ 28 h 223"/>
                <a:gd name="T74" fmla="*/ 341 w 349"/>
                <a:gd name="T75" fmla="*/ 4 h 223"/>
                <a:gd name="T76" fmla="*/ 302 w 349"/>
                <a:gd name="T77" fmla="*/ 16 h 223"/>
                <a:gd name="T78" fmla="*/ 263 w 349"/>
                <a:gd name="T79" fmla="*/ 22 h 223"/>
                <a:gd name="T80" fmla="*/ 241 w 349"/>
                <a:gd name="T81" fmla="*/ 32 h 223"/>
                <a:gd name="T82" fmla="*/ 223 w 349"/>
                <a:gd name="T83" fmla="*/ 56 h 223"/>
                <a:gd name="T84" fmla="*/ 213 w 349"/>
                <a:gd name="T85" fmla="*/ 78 h 223"/>
                <a:gd name="T86" fmla="*/ 192 w 349"/>
                <a:gd name="T87" fmla="*/ 109 h 223"/>
                <a:gd name="T88" fmla="*/ 180 w 349"/>
                <a:gd name="T89" fmla="*/ 9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9" h="223">
                  <a:moveTo>
                    <a:pt x="189" y="71"/>
                  </a:moveTo>
                  <a:lnTo>
                    <a:pt x="187" y="70"/>
                  </a:lnTo>
                  <a:lnTo>
                    <a:pt x="185" y="68"/>
                  </a:lnTo>
                  <a:lnTo>
                    <a:pt x="181" y="68"/>
                  </a:lnTo>
                  <a:lnTo>
                    <a:pt x="175" y="73"/>
                  </a:lnTo>
                  <a:lnTo>
                    <a:pt x="167" y="73"/>
                  </a:lnTo>
                  <a:lnTo>
                    <a:pt x="157" y="75"/>
                  </a:lnTo>
                  <a:lnTo>
                    <a:pt x="149" y="81"/>
                  </a:lnTo>
                  <a:lnTo>
                    <a:pt x="145" y="92"/>
                  </a:lnTo>
                  <a:lnTo>
                    <a:pt x="143" y="105"/>
                  </a:lnTo>
                  <a:lnTo>
                    <a:pt x="143" y="113"/>
                  </a:lnTo>
                  <a:lnTo>
                    <a:pt x="142" y="119"/>
                  </a:lnTo>
                  <a:lnTo>
                    <a:pt x="141" y="123"/>
                  </a:lnTo>
                  <a:lnTo>
                    <a:pt x="135" y="117"/>
                  </a:lnTo>
                  <a:lnTo>
                    <a:pt x="128" y="109"/>
                  </a:lnTo>
                  <a:lnTo>
                    <a:pt x="125" y="99"/>
                  </a:lnTo>
                  <a:lnTo>
                    <a:pt x="127" y="89"/>
                  </a:lnTo>
                  <a:lnTo>
                    <a:pt x="128" y="84"/>
                  </a:lnTo>
                  <a:lnTo>
                    <a:pt x="128" y="75"/>
                  </a:lnTo>
                  <a:lnTo>
                    <a:pt x="125" y="67"/>
                  </a:lnTo>
                  <a:lnTo>
                    <a:pt x="121" y="57"/>
                  </a:lnTo>
                  <a:lnTo>
                    <a:pt x="114" y="48"/>
                  </a:lnTo>
                  <a:lnTo>
                    <a:pt x="106" y="39"/>
                  </a:lnTo>
                  <a:lnTo>
                    <a:pt x="95" y="34"/>
                  </a:lnTo>
                  <a:lnTo>
                    <a:pt x="82" y="29"/>
                  </a:lnTo>
                  <a:lnTo>
                    <a:pt x="68" y="27"/>
                  </a:lnTo>
                  <a:lnTo>
                    <a:pt x="54" y="25"/>
                  </a:lnTo>
                  <a:lnTo>
                    <a:pt x="42" y="24"/>
                  </a:lnTo>
                  <a:lnTo>
                    <a:pt x="31" y="22"/>
                  </a:lnTo>
                  <a:lnTo>
                    <a:pt x="21" y="21"/>
                  </a:lnTo>
                  <a:lnTo>
                    <a:pt x="13" y="20"/>
                  </a:lnTo>
                  <a:lnTo>
                    <a:pt x="6" y="17"/>
                  </a:lnTo>
                  <a:lnTo>
                    <a:pt x="0" y="13"/>
                  </a:lnTo>
                  <a:lnTo>
                    <a:pt x="1" y="21"/>
                  </a:lnTo>
                  <a:lnTo>
                    <a:pt x="6" y="31"/>
                  </a:lnTo>
                  <a:lnTo>
                    <a:pt x="11" y="43"/>
                  </a:lnTo>
                  <a:lnTo>
                    <a:pt x="17" y="56"/>
                  </a:lnTo>
                  <a:lnTo>
                    <a:pt x="22" y="68"/>
                  </a:lnTo>
                  <a:lnTo>
                    <a:pt x="29" y="80"/>
                  </a:lnTo>
                  <a:lnTo>
                    <a:pt x="36" y="88"/>
                  </a:lnTo>
                  <a:lnTo>
                    <a:pt x="43" y="92"/>
                  </a:lnTo>
                  <a:lnTo>
                    <a:pt x="40" y="94"/>
                  </a:lnTo>
                  <a:lnTo>
                    <a:pt x="40" y="99"/>
                  </a:lnTo>
                  <a:lnTo>
                    <a:pt x="45" y="105"/>
                  </a:lnTo>
                  <a:lnTo>
                    <a:pt x="52" y="112"/>
                  </a:lnTo>
                  <a:lnTo>
                    <a:pt x="58" y="119"/>
                  </a:lnTo>
                  <a:lnTo>
                    <a:pt x="70" y="124"/>
                  </a:lnTo>
                  <a:lnTo>
                    <a:pt x="81" y="127"/>
                  </a:lnTo>
                  <a:lnTo>
                    <a:pt x="92" y="128"/>
                  </a:lnTo>
                  <a:lnTo>
                    <a:pt x="92" y="131"/>
                  </a:lnTo>
                  <a:lnTo>
                    <a:pt x="95" y="135"/>
                  </a:lnTo>
                  <a:lnTo>
                    <a:pt x="100" y="141"/>
                  </a:lnTo>
                  <a:lnTo>
                    <a:pt x="106" y="145"/>
                  </a:lnTo>
                  <a:lnTo>
                    <a:pt x="113" y="149"/>
                  </a:lnTo>
                  <a:lnTo>
                    <a:pt x="121" y="151"/>
                  </a:lnTo>
                  <a:lnTo>
                    <a:pt x="129" y="151"/>
                  </a:lnTo>
                  <a:lnTo>
                    <a:pt x="136" y="148"/>
                  </a:lnTo>
                  <a:lnTo>
                    <a:pt x="138" y="153"/>
                  </a:lnTo>
                  <a:lnTo>
                    <a:pt x="139" y="159"/>
                  </a:lnTo>
                  <a:lnTo>
                    <a:pt x="142" y="165"/>
                  </a:lnTo>
                  <a:lnTo>
                    <a:pt x="145" y="169"/>
                  </a:lnTo>
                  <a:lnTo>
                    <a:pt x="150" y="174"/>
                  </a:lnTo>
                  <a:lnTo>
                    <a:pt x="157" y="178"/>
                  </a:lnTo>
                  <a:lnTo>
                    <a:pt x="168" y="181"/>
                  </a:lnTo>
                  <a:lnTo>
                    <a:pt x="181" y="183"/>
                  </a:lnTo>
                  <a:lnTo>
                    <a:pt x="182" y="187"/>
                  </a:lnTo>
                  <a:lnTo>
                    <a:pt x="185" y="190"/>
                  </a:lnTo>
                  <a:lnTo>
                    <a:pt x="191" y="190"/>
                  </a:lnTo>
                  <a:lnTo>
                    <a:pt x="195" y="188"/>
                  </a:lnTo>
                  <a:lnTo>
                    <a:pt x="200" y="185"/>
                  </a:lnTo>
                  <a:lnTo>
                    <a:pt x="209" y="184"/>
                  </a:lnTo>
                  <a:lnTo>
                    <a:pt x="214" y="183"/>
                  </a:lnTo>
                  <a:lnTo>
                    <a:pt x="213" y="180"/>
                  </a:lnTo>
                  <a:lnTo>
                    <a:pt x="219" y="184"/>
                  </a:lnTo>
                  <a:lnTo>
                    <a:pt x="224" y="194"/>
                  </a:lnTo>
                  <a:lnTo>
                    <a:pt x="224" y="208"/>
                  </a:lnTo>
                  <a:lnTo>
                    <a:pt x="217" y="223"/>
                  </a:lnTo>
                  <a:lnTo>
                    <a:pt x="228" y="223"/>
                  </a:lnTo>
                  <a:lnTo>
                    <a:pt x="239" y="220"/>
                  </a:lnTo>
                  <a:lnTo>
                    <a:pt x="249" y="217"/>
                  </a:lnTo>
                  <a:lnTo>
                    <a:pt x="260" y="213"/>
                  </a:lnTo>
                  <a:lnTo>
                    <a:pt x="269" y="209"/>
                  </a:lnTo>
                  <a:lnTo>
                    <a:pt x="277" y="204"/>
                  </a:lnTo>
                  <a:lnTo>
                    <a:pt x="283" y="199"/>
                  </a:lnTo>
                  <a:lnTo>
                    <a:pt x="287" y="195"/>
                  </a:lnTo>
                  <a:lnTo>
                    <a:pt x="276" y="188"/>
                  </a:lnTo>
                  <a:lnTo>
                    <a:pt x="264" y="180"/>
                  </a:lnTo>
                  <a:lnTo>
                    <a:pt x="253" y="172"/>
                  </a:lnTo>
                  <a:lnTo>
                    <a:pt x="246" y="165"/>
                  </a:lnTo>
                  <a:lnTo>
                    <a:pt x="239" y="160"/>
                  </a:lnTo>
                  <a:lnTo>
                    <a:pt x="230" y="153"/>
                  </a:lnTo>
                  <a:lnTo>
                    <a:pt x="220" y="148"/>
                  </a:lnTo>
                  <a:lnTo>
                    <a:pt x="213" y="142"/>
                  </a:lnTo>
                  <a:lnTo>
                    <a:pt x="223" y="142"/>
                  </a:lnTo>
                  <a:lnTo>
                    <a:pt x="230" y="137"/>
                  </a:lnTo>
                  <a:lnTo>
                    <a:pt x="234" y="130"/>
                  </a:lnTo>
                  <a:lnTo>
                    <a:pt x="234" y="123"/>
                  </a:lnTo>
                  <a:lnTo>
                    <a:pt x="241" y="123"/>
                  </a:lnTo>
                  <a:lnTo>
                    <a:pt x="249" y="119"/>
                  </a:lnTo>
                  <a:lnTo>
                    <a:pt x="258" y="113"/>
                  </a:lnTo>
                  <a:lnTo>
                    <a:pt x="267" y="106"/>
                  </a:lnTo>
                  <a:lnTo>
                    <a:pt x="274" y="98"/>
                  </a:lnTo>
                  <a:lnTo>
                    <a:pt x="280" y="91"/>
                  </a:lnTo>
                  <a:lnTo>
                    <a:pt x="283" y="84"/>
                  </a:lnTo>
                  <a:lnTo>
                    <a:pt x="280" y="78"/>
                  </a:lnTo>
                  <a:lnTo>
                    <a:pt x="285" y="77"/>
                  </a:lnTo>
                  <a:lnTo>
                    <a:pt x="295" y="71"/>
                  </a:lnTo>
                  <a:lnTo>
                    <a:pt x="306" y="64"/>
                  </a:lnTo>
                  <a:lnTo>
                    <a:pt x="317" y="53"/>
                  </a:lnTo>
                  <a:lnTo>
                    <a:pt x="328" y="41"/>
                  </a:lnTo>
                  <a:lnTo>
                    <a:pt x="338" y="28"/>
                  </a:lnTo>
                  <a:lnTo>
                    <a:pt x="345" y="14"/>
                  </a:lnTo>
                  <a:lnTo>
                    <a:pt x="349" y="0"/>
                  </a:lnTo>
                  <a:lnTo>
                    <a:pt x="341" y="4"/>
                  </a:lnTo>
                  <a:lnTo>
                    <a:pt x="330" y="9"/>
                  </a:lnTo>
                  <a:lnTo>
                    <a:pt x="316" y="11"/>
                  </a:lnTo>
                  <a:lnTo>
                    <a:pt x="302" y="16"/>
                  </a:lnTo>
                  <a:lnTo>
                    <a:pt x="288" y="18"/>
                  </a:lnTo>
                  <a:lnTo>
                    <a:pt x="274" y="21"/>
                  </a:lnTo>
                  <a:lnTo>
                    <a:pt x="263" y="22"/>
                  </a:lnTo>
                  <a:lnTo>
                    <a:pt x="255" y="24"/>
                  </a:lnTo>
                  <a:lnTo>
                    <a:pt x="248" y="27"/>
                  </a:lnTo>
                  <a:lnTo>
                    <a:pt x="241" y="32"/>
                  </a:lnTo>
                  <a:lnTo>
                    <a:pt x="234" y="39"/>
                  </a:lnTo>
                  <a:lnTo>
                    <a:pt x="228" y="48"/>
                  </a:lnTo>
                  <a:lnTo>
                    <a:pt x="223" y="56"/>
                  </a:lnTo>
                  <a:lnTo>
                    <a:pt x="219" y="64"/>
                  </a:lnTo>
                  <a:lnTo>
                    <a:pt x="214" y="73"/>
                  </a:lnTo>
                  <a:lnTo>
                    <a:pt x="213" y="78"/>
                  </a:lnTo>
                  <a:lnTo>
                    <a:pt x="209" y="88"/>
                  </a:lnTo>
                  <a:lnTo>
                    <a:pt x="200" y="99"/>
                  </a:lnTo>
                  <a:lnTo>
                    <a:pt x="192" y="109"/>
                  </a:lnTo>
                  <a:lnTo>
                    <a:pt x="185" y="114"/>
                  </a:lnTo>
                  <a:lnTo>
                    <a:pt x="182" y="106"/>
                  </a:lnTo>
                  <a:lnTo>
                    <a:pt x="180" y="92"/>
                  </a:lnTo>
                  <a:lnTo>
                    <a:pt x="181" y="80"/>
                  </a:lnTo>
                  <a:lnTo>
                    <a:pt x="189" y="7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tr-TR">
                <a:effectLst>
                  <a:outerShdw blurRad="38100" dist="38100" dir="2700000" algn="tl">
                    <a:srgbClr val="000000">
                      <a:alpha val="43137"/>
                    </a:srgbClr>
                  </a:outerShdw>
                </a:effectLst>
              </a:endParaRPr>
            </a:p>
          </p:txBody>
        </p:sp>
        <p:sp>
          <p:nvSpPr>
            <p:cNvPr id="539670" name="Line 22"/>
            <p:cNvSpPr>
              <a:spLocks noChangeShapeType="1"/>
            </p:cNvSpPr>
            <p:nvPr/>
          </p:nvSpPr>
          <p:spPr bwMode="auto">
            <a:xfrm flipV="1">
              <a:off x="3054" y="949"/>
              <a:ext cx="2308" cy="1344"/>
            </a:xfrm>
            <a:prstGeom prst="line">
              <a:avLst/>
            </a:prstGeom>
            <a:noFill/>
            <a:ln w="2857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539671" name="Line 23"/>
            <p:cNvSpPr>
              <a:spLocks noChangeShapeType="1"/>
            </p:cNvSpPr>
            <p:nvPr/>
          </p:nvSpPr>
          <p:spPr bwMode="auto">
            <a:xfrm flipH="1">
              <a:off x="2173" y="2278"/>
              <a:ext cx="910" cy="1097"/>
            </a:xfrm>
            <a:prstGeom prst="line">
              <a:avLst/>
            </a:prstGeom>
            <a:noFill/>
            <a:ln w="28575">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539672" name="Line 24"/>
            <p:cNvSpPr>
              <a:spLocks noChangeShapeType="1"/>
            </p:cNvSpPr>
            <p:nvPr/>
          </p:nvSpPr>
          <p:spPr bwMode="auto">
            <a:xfrm flipH="1">
              <a:off x="1987" y="2297"/>
              <a:ext cx="1060" cy="320"/>
            </a:xfrm>
            <a:prstGeom prst="line">
              <a:avLst/>
            </a:prstGeom>
            <a:noFill/>
            <a:ln w="28575">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grpSp>
      <p:sp>
        <p:nvSpPr>
          <p:cNvPr id="27652" name="Text Box 27"/>
          <p:cNvSpPr txBox="1">
            <a:spLocks noChangeArrowheads="1"/>
          </p:cNvSpPr>
          <p:nvPr/>
        </p:nvSpPr>
        <p:spPr bwMode="auto">
          <a:xfrm>
            <a:off x="1905000" y="6172200"/>
            <a:ext cx="4289425" cy="457200"/>
          </a:xfrm>
          <a:prstGeom prst="rect">
            <a:avLst/>
          </a:prstGeom>
          <a:noFill/>
          <a:ln w="9525">
            <a:noFill/>
            <a:miter lim="800000"/>
            <a:headEnd/>
            <a:tailEnd/>
          </a:ln>
          <a:effectLst/>
        </p:spPr>
        <p:txBody>
          <a:bodyPr>
            <a:spAutoFit/>
          </a:bodyPr>
          <a:lstStyle/>
          <a:p>
            <a:pPr>
              <a:spcBef>
                <a:spcPct val="50000"/>
              </a:spcBef>
            </a:pPr>
            <a:r>
              <a:rPr lang="tr-TR" altLang="tr-TR" u="none"/>
              <a:t>Halbuki gerçekte buradadır</a:t>
            </a:r>
            <a:r>
              <a:rPr lang="en-US" altLang="tr-TR" u="none"/>
              <a:t>!!</a:t>
            </a:r>
          </a:p>
        </p:txBody>
      </p:sp>
      <p:sp>
        <p:nvSpPr>
          <p:cNvPr id="27653" name="Text Box 28"/>
          <p:cNvSpPr txBox="1">
            <a:spLocks noChangeArrowheads="1"/>
          </p:cNvSpPr>
          <p:nvPr/>
        </p:nvSpPr>
        <p:spPr bwMode="auto">
          <a:xfrm>
            <a:off x="504825" y="4435475"/>
            <a:ext cx="2619375" cy="822325"/>
          </a:xfrm>
          <a:prstGeom prst="rect">
            <a:avLst/>
          </a:prstGeom>
          <a:noFill/>
          <a:ln w="9525">
            <a:noFill/>
            <a:miter lim="800000"/>
            <a:headEnd/>
            <a:tailEnd/>
          </a:ln>
          <a:effectLst/>
        </p:spPr>
        <p:txBody>
          <a:bodyPr>
            <a:spAutoFit/>
          </a:bodyPr>
          <a:lstStyle/>
          <a:p>
            <a:pPr>
              <a:spcBef>
                <a:spcPct val="50000"/>
              </a:spcBef>
            </a:pPr>
            <a:r>
              <a:rPr lang="tr-TR" altLang="tr-TR" u="none"/>
              <a:t>Balıkçı balığı burada görür</a:t>
            </a:r>
            <a:r>
              <a:rPr lang="en-US" altLang="tr-TR" u="none"/>
              <a:t>….</a:t>
            </a:r>
          </a:p>
        </p:txBody>
      </p:sp>
      <p:sp>
        <p:nvSpPr>
          <p:cNvPr id="27654" name="Rectangle 3"/>
          <p:cNvSpPr>
            <a:spLocks noGrp="1" noChangeArrowheads="1"/>
          </p:cNvSpPr>
          <p:nvPr>
            <p:ph idx="1"/>
          </p:nvPr>
        </p:nvSpPr>
        <p:spPr>
          <a:xfrm>
            <a:off x="539552" y="332656"/>
            <a:ext cx="8208912" cy="3384376"/>
          </a:xfrm>
        </p:spPr>
        <p:txBody>
          <a:bodyPr/>
          <a:lstStyle/>
          <a:p>
            <a:pPr eaLnBrk="1" hangingPunct="1"/>
            <a:r>
              <a:rPr lang="en-US" altLang="tr-TR" sz="2800" b="1" dirty="0" smtClean="0">
                <a:solidFill>
                  <a:srgbClr val="FF0000"/>
                </a:solidFill>
                <a:effectLst/>
              </a:rPr>
              <a:t>REFRA</a:t>
            </a:r>
            <a:r>
              <a:rPr lang="tr-TR" altLang="tr-TR" sz="2800" b="1" dirty="0" smtClean="0">
                <a:solidFill>
                  <a:srgbClr val="FF0000"/>
                </a:solidFill>
                <a:effectLst/>
              </a:rPr>
              <a:t>KS</a:t>
            </a:r>
            <a:r>
              <a:rPr lang="en-US" altLang="tr-TR" sz="2800" b="1" dirty="0" smtClean="0">
                <a:solidFill>
                  <a:srgbClr val="FF0000"/>
                </a:solidFill>
                <a:effectLst/>
              </a:rPr>
              <a:t>İ</a:t>
            </a:r>
            <a:r>
              <a:rPr lang="tr-TR" altLang="tr-TR" sz="2800" b="1" dirty="0" smtClean="0">
                <a:solidFill>
                  <a:srgbClr val="FF0000"/>
                </a:solidFill>
                <a:effectLst/>
              </a:rPr>
              <a:t>Y</a:t>
            </a:r>
            <a:r>
              <a:rPr lang="en-US" altLang="tr-TR" sz="2800" b="1" dirty="0" smtClean="0">
                <a:solidFill>
                  <a:srgbClr val="FF0000"/>
                </a:solidFill>
                <a:effectLst/>
              </a:rPr>
              <a:t>ON</a:t>
            </a:r>
            <a:r>
              <a:rPr lang="tr-TR" altLang="tr-TR" sz="2800" b="1" dirty="0" smtClean="0">
                <a:solidFill>
                  <a:srgbClr val="FF0000"/>
                </a:solidFill>
                <a:effectLst/>
              </a:rPr>
              <a:t> (KIRILMA)</a:t>
            </a:r>
            <a:endParaRPr lang="en-US" altLang="tr-TR" sz="2800" dirty="0" smtClean="0">
              <a:solidFill>
                <a:srgbClr val="FF0000"/>
              </a:solidFill>
              <a:effectLst/>
            </a:endParaRPr>
          </a:p>
          <a:p>
            <a:pPr lvl="1" eaLnBrk="1" hangingPunct="1"/>
            <a:r>
              <a:rPr lang="tr-TR" altLang="tr-TR" b="1" dirty="0" smtClean="0">
                <a:effectLst/>
              </a:rPr>
              <a:t>Bir şeffaf ortamdan farklı bir optik yoğunluklu ortama geçerken ışığın geçiş istikametindeki değişiklik. </a:t>
            </a:r>
            <a:endParaRPr lang="tr-TR" altLang="tr-TR" b="1" dirty="0" smtClean="0">
              <a:effectLst/>
            </a:endParaRPr>
          </a:p>
          <a:p>
            <a:pPr lvl="1" eaLnBrk="1" hangingPunct="1"/>
            <a:r>
              <a:rPr lang="tr-TR" altLang="tr-TR" b="1" dirty="0" smtClean="0">
                <a:effectLst/>
              </a:rPr>
              <a:t>Daha </a:t>
            </a:r>
            <a:r>
              <a:rPr lang="tr-TR" altLang="tr-TR" b="1" dirty="0" smtClean="0">
                <a:effectLst/>
              </a:rPr>
              <a:t>yoğun bir ortama geçerken </a:t>
            </a:r>
            <a:r>
              <a:rPr lang="tr-TR" altLang="tr-TR" b="1" dirty="0" smtClean="0">
                <a:effectLst/>
              </a:rPr>
              <a:t>ışın demet</a:t>
            </a:r>
            <a:r>
              <a:rPr lang="tr-TR" altLang="tr-TR" b="1" dirty="0" smtClean="0">
                <a:effectLst/>
              </a:rPr>
              <a:t>, yüzeye daha dik bir eğim, daha büyük bir sapma ve daha kısa dalga boylu olur. </a:t>
            </a:r>
            <a:endParaRPr lang="en-US" altLang="tr-TR" b="1" dirty="0" smtClean="0">
              <a:effectLst/>
            </a:endParaRPr>
          </a:p>
        </p:txBody>
      </p:sp>
      <p:sp>
        <p:nvSpPr>
          <p:cNvPr id="539677" name="Freeform 29"/>
          <p:cNvSpPr>
            <a:spLocks/>
          </p:cNvSpPr>
          <p:nvPr/>
        </p:nvSpPr>
        <p:spPr bwMode="auto">
          <a:xfrm>
            <a:off x="6694488" y="3921125"/>
            <a:ext cx="349250" cy="193675"/>
          </a:xfrm>
          <a:custGeom>
            <a:avLst/>
            <a:gdLst>
              <a:gd name="T0" fmla="*/ 124 w 220"/>
              <a:gd name="T1" fmla="*/ 101 h 122"/>
              <a:gd name="T2" fmla="*/ 100 w 220"/>
              <a:gd name="T3" fmla="*/ 111 h 122"/>
              <a:gd name="T4" fmla="*/ 118 w 220"/>
              <a:gd name="T5" fmla="*/ 114 h 122"/>
              <a:gd name="T6" fmla="*/ 124 w 220"/>
              <a:gd name="T7" fmla="*/ 118 h 122"/>
              <a:gd name="T8" fmla="*/ 131 w 220"/>
              <a:gd name="T9" fmla="*/ 91 h 122"/>
              <a:gd name="T10" fmla="*/ 146 w 220"/>
              <a:gd name="T11" fmla="*/ 86 h 122"/>
              <a:gd name="T12" fmla="*/ 162 w 220"/>
              <a:gd name="T13" fmla="*/ 76 h 122"/>
              <a:gd name="T14" fmla="*/ 173 w 220"/>
              <a:gd name="T15" fmla="*/ 65 h 122"/>
              <a:gd name="T16" fmla="*/ 178 w 220"/>
              <a:gd name="T17" fmla="*/ 55 h 122"/>
              <a:gd name="T18" fmla="*/ 192 w 220"/>
              <a:gd name="T19" fmla="*/ 50 h 122"/>
              <a:gd name="T20" fmla="*/ 219 w 220"/>
              <a:gd name="T21" fmla="*/ 44 h 122"/>
              <a:gd name="T22" fmla="*/ 195 w 220"/>
              <a:gd name="T23" fmla="*/ 12 h 122"/>
              <a:gd name="T24" fmla="*/ 191 w 220"/>
              <a:gd name="T25" fmla="*/ 16 h 122"/>
              <a:gd name="T26" fmla="*/ 182 w 220"/>
              <a:gd name="T27" fmla="*/ 20 h 122"/>
              <a:gd name="T28" fmla="*/ 152 w 220"/>
              <a:gd name="T29" fmla="*/ 19 h 122"/>
              <a:gd name="T30" fmla="*/ 138 w 220"/>
              <a:gd name="T31" fmla="*/ 12 h 122"/>
              <a:gd name="T32" fmla="*/ 123 w 220"/>
              <a:gd name="T33" fmla="*/ 6 h 122"/>
              <a:gd name="T34" fmla="*/ 106 w 220"/>
              <a:gd name="T35" fmla="*/ 2 h 122"/>
              <a:gd name="T36" fmla="*/ 92 w 220"/>
              <a:gd name="T37" fmla="*/ 2 h 122"/>
              <a:gd name="T38" fmla="*/ 65 w 220"/>
              <a:gd name="T39" fmla="*/ 0 h 122"/>
              <a:gd name="T40" fmla="*/ 45 w 220"/>
              <a:gd name="T41" fmla="*/ 6 h 122"/>
              <a:gd name="T42" fmla="*/ 31 w 220"/>
              <a:gd name="T43" fmla="*/ 16 h 122"/>
              <a:gd name="T44" fmla="*/ 27 w 220"/>
              <a:gd name="T45" fmla="*/ 25 h 122"/>
              <a:gd name="T46" fmla="*/ 6 w 220"/>
              <a:gd name="T47" fmla="*/ 43 h 122"/>
              <a:gd name="T48" fmla="*/ 6 w 220"/>
              <a:gd name="T49" fmla="*/ 69 h 122"/>
              <a:gd name="T50" fmla="*/ 4 w 220"/>
              <a:gd name="T51" fmla="*/ 76 h 122"/>
              <a:gd name="T52" fmla="*/ 7 w 220"/>
              <a:gd name="T53" fmla="*/ 86 h 122"/>
              <a:gd name="T54" fmla="*/ 10 w 220"/>
              <a:gd name="T55" fmla="*/ 80 h 122"/>
              <a:gd name="T56" fmla="*/ 18 w 220"/>
              <a:gd name="T57" fmla="*/ 75 h 122"/>
              <a:gd name="T58" fmla="*/ 32 w 220"/>
              <a:gd name="T59" fmla="*/ 73 h 122"/>
              <a:gd name="T60" fmla="*/ 42 w 220"/>
              <a:gd name="T61" fmla="*/ 69 h 122"/>
              <a:gd name="T62" fmla="*/ 47 w 220"/>
              <a:gd name="T63" fmla="*/ 73 h 122"/>
              <a:gd name="T64" fmla="*/ 59 w 220"/>
              <a:gd name="T65" fmla="*/ 82 h 122"/>
              <a:gd name="T66" fmla="*/ 82 w 220"/>
              <a:gd name="T67" fmla="*/ 90 h 122"/>
              <a:gd name="T68" fmla="*/ 121 w 220"/>
              <a:gd name="T6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0" h="122">
                <a:moveTo>
                  <a:pt x="121" y="93"/>
                </a:moveTo>
                <a:lnTo>
                  <a:pt x="124" y="101"/>
                </a:lnTo>
                <a:lnTo>
                  <a:pt x="96" y="107"/>
                </a:lnTo>
                <a:lnTo>
                  <a:pt x="100" y="111"/>
                </a:lnTo>
                <a:lnTo>
                  <a:pt x="95" y="117"/>
                </a:lnTo>
                <a:lnTo>
                  <a:pt x="118" y="114"/>
                </a:lnTo>
                <a:lnTo>
                  <a:pt x="113" y="122"/>
                </a:lnTo>
                <a:lnTo>
                  <a:pt x="124" y="118"/>
                </a:lnTo>
                <a:lnTo>
                  <a:pt x="132" y="103"/>
                </a:lnTo>
                <a:lnTo>
                  <a:pt x="131" y="91"/>
                </a:lnTo>
                <a:lnTo>
                  <a:pt x="138" y="90"/>
                </a:lnTo>
                <a:lnTo>
                  <a:pt x="146" y="86"/>
                </a:lnTo>
                <a:lnTo>
                  <a:pt x="153" y="82"/>
                </a:lnTo>
                <a:lnTo>
                  <a:pt x="162" y="76"/>
                </a:lnTo>
                <a:lnTo>
                  <a:pt x="167" y="71"/>
                </a:lnTo>
                <a:lnTo>
                  <a:pt x="173" y="65"/>
                </a:lnTo>
                <a:lnTo>
                  <a:pt x="177" y="59"/>
                </a:lnTo>
                <a:lnTo>
                  <a:pt x="178" y="55"/>
                </a:lnTo>
                <a:lnTo>
                  <a:pt x="182" y="54"/>
                </a:lnTo>
                <a:lnTo>
                  <a:pt x="192" y="50"/>
                </a:lnTo>
                <a:lnTo>
                  <a:pt x="206" y="47"/>
                </a:lnTo>
                <a:lnTo>
                  <a:pt x="219" y="44"/>
                </a:lnTo>
                <a:lnTo>
                  <a:pt x="220" y="26"/>
                </a:lnTo>
                <a:lnTo>
                  <a:pt x="195" y="12"/>
                </a:lnTo>
                <a:lnTo>
                  <a:pt x="194" y="13"/>
                </a:lnTo>
                <a:lnTo>
                  <a:pt x="191" y="16"/>
                </a:lnTo>
                <a:lnTo>
                  <a:pt x="188" y="19"/>
                </a:lnTo>
                <a:lnTo>
                  <a:pt x="182" y="20"/>
                </a:lnTo>
                <a:lnTo>
                  <a:pt x="184" y="9"/>
                </a:lnTo>
                <a:lnTo>
                  <a:pt x="152" y="19"/>
                </a:lnTo>
                <a:lnTo>
                  <a:pt x="146" y="15"/>
                </a:lnTo>
                <a:lnTo>
                  <a:pt x="138" y="12"/>
                </a:lnTo>
                <a:lnTo>
                  <a:pt x="131" y="8"/>
                </a:lnTo>
                <a:lnTo>
                  <a:pt x="123" y="6"/>
                </a:lnTo>
                <a:lnTo>
                  <a:pt x="113" y="4"/>
                </a:lnTo>
                <a:lnTo>
                  <a:pt x="106" y="2"/>
                </a:lnTo>
                <a:lnTo>
                  <a:pt x="98" y="2"/>
                </a:lnTo>
                <a:lnTo>
                  <a:pt x="92" y="2"/>
                </a:lnTo>
                <a:lnTo>
                  <a:pt x="78" y="0"/>
                </a:lnTo>
                <a:lnTo>
                  <a:pt x="65" y="0"/>
                </a:lnTo>
                <a:lnTo>
                  <a:pt x="54" y="2"/>
                </a:lnTo>
                <a:lnTo>
                  <a:pt x="45" y="6"/>
                </a:lnTo>
                <a:lnTo>
                  <a:pt x="36" y="12"/>
                </a:lnTo>
                <a:lnTo>
                  <a:pt x="31" y="16"/>
                </a:lnTo>
                <a:lnTo>
                  <a:pt x="27" y="22"/>
                </a:lnTo>
                <a:lnTo>
                  <a:pt x="27" y="25"/>
                </a:lnTo>
                <a:lnTo>
                  <a:pt x="15" y="32"/>
                </a:lnTo>
                <a:lnTo>
                  <a:pt x="6" y="43"/>
                </a:lnTo>
                <a:lnTo>
                  <a:pt x="0" y="57"/>
                </a:lnTo>
                <a:lnTo>
                  <a:pt x="6" y="69"/>
                </a:lnTo>
                <a:lnTo>
                  <a:pt x="6" y="71"/>
                </a:lnTo>
                <a:lnTo>
                  <a:pt x="4" y="76"/>
                </a:lnTo>
                <a:lnTo>
                  <a:pt x="6" y="82"/>
                </a:lnTo>
                <a:lnTo>
                  <a:pt x="7" y="86"/>
                </a:lnTo>
                <a:lnTo>
                  <a:pt x="7" y="84"/>
                </a:lnTo>
                <a:lnTo>
                  <a:pt x="10" y="80"/>
                </a:lnTo>
                <a:lnTo>
                  <a:pt x="13" y="76"/>
                </a:lnTo>
                <a:lnTo>
                  <a:pt x="18" y="75"/>
                </a:lnTo>
                <a:lnTo>
                  <a:pt x="25" y="76"/>
                </a:lnTo>
                <a:lnTo>
                  <a:pt x="32" y="73"/>
                </a:lnTo>
                <a:lnTo>
                  <a:pt x="36" y="71"/>
                </a:lnTo>
                <a:lnTo>
                  <a:pt x="42" y="69"/>
                </a:lnTo>
                <a:lnTo>
                  <a:pt x="45" y="71"/>
                </a:lnTo>
                <a:lnTo>
                  <a:pt x="47" y="73"/>
                </a:lnTo>
                <a:lnTo>
                  <a:pt x="52" y="78"/>
                </a:lnTo>
                <a:lnTo>
                  <a:pt x="59" y="82"/>
                </a:lnTo>
                <a:lnTo>
                  <a:pt x="68" y="86"/>
                </a:lnTo>
                <a:lnTo>
                  <a:pt x="82" y="90"/>
                </a:lnTo>
                <a:lnTo>
                  <a:pt x="99" y="93"/>
                </a:lnTo>
                <a:lnTo>
                  <a:pt x="121" y="93"/>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defRPr/>
            </a:pPr>
            <a:endParaRPr lang="tr-TR">
              <a:effectLst>
                <a:outerShdw blurRad="38100" dist="38100" dir="2700000" algn="tl">
                  <a:srgbClr val="000000">
                    <a:alpha val="43137"/>
                  </a:srgbClr>
                </a:outerShdw>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5" name="Rectangle 3"/>
          <p:cNvSpPr>
            <a:spLocks noGrp="1" noChangeArrowheads="1"/>
          </p:cNvSpPr>
          <p:nvPr>
            <p:ph idx="1"/>
          </p:nvPr>
        </p:nvSpPr>
        <p:spPr>
          <a:xfrm>
            <a:off x="251520" y="260648"/>
            <a:ext cx="8496944" cy="2952328"/>
          </a:xfrm>
        </p:spPr>
        <p:txBody>
          <a:bodyPr/>
          <a:lstStyle/>
          <a:p>
            <a:pPr eaLnBrk="1" hangingPunct="1">
              <a:defRPr/>
            </a:pPr>
            <a:r>
              <a:rPr lang="en-US" sz="2800" b="1" dirty="0" smtClean="0">
                <a:solidFill>
                  <a:srgbClr val="FF0000"/>
                </a:solidFill>
                <a:effectLst/>
              </a:rPr>
              <a:t>DİSPERSİ</a:t>
            </a:r>
            <a:r>
              <a:rPr lang="tr-TR" sz="2800" b="1" dirty="0" smtClean="0">
                <a:solidFill>
                  <a:srgbClr val="FF0000"/>
                </a:solidFill>
                <a:effectLst/>
              </a:rPr>
              <a:t>Y</a:t>
            </a:r>
            <a:r>
              <a:rPr lang="en-US" sz="2800" b="1" dirty="0" smtClean="0">
                <a:solidFill>
                  <a:srgbClr val="FF0000"/>
                </a:solidFill>
                <a:effectLst/>
              </a:rPr>
              <a:t>ON</a:t>
            </a:r>
            <a:r>
              <a:rPr lang="tr-TR" sz="2800" b="1" dirty="0" smtClean="0">
                <a:solidFill>
                  <a:srgbClr val="FF0000"/>
                </a:solidFill>
                <a:effectLst/>
              </a:rPr>
              <a:t> (YAYILMA)</a:t>
            </a:r>
            <a:endParaRPr lang="en-US" sz="2800" dirty="0" smtClean="0">
              <a:solidFill>
                <a:srgbClr val="FF0000"/>
              </a:solidFill>
              <a:effectLst/>
            </a:endParaRPr>
          </a:p>
          <a:p>
            <a:pPr lvl="1" eaLnBrk="1" hangingPunct="1">
              <a:defRPr/>
            </a:pPr>
            <a:r>
              <a:rPr lang="tr-TR" b="1" dirty="0" smtClean="0">
                <a:effectLst/>
              </a:rPr>
              <a:t>Işığın dağılımı (S</a:t>
            </a:r>
            <a:r>
              <a:rPr lang="en-US" b="1" dirty="0" err="1" smtClean="0">
                <a:effectLst/>
              </a:rPr>
              <a:t>eparation</a:t>
            </a:r>
            <a:r>
              <a:rPr lang="tr-TR" b="1" dirty="0" smtClean="0">
                <a:effectLst/>
              </a:rPr>
              <a:t>) bir şeffaf ortama girdiğindeki dalga boyuna bağlıdır. </a:t>
            </a:r>
          </a:p>
          <a:p>
            <a:pPr lvl="1" eaLnBrk="1" hangingPunct="1">
              <a:defRPr/>
            </a:pPr>
            <a:r>
              <a:rPr lang="tr-TR" b="1" dirty="0" smtClean="0">
                <a:effectLst/>
              </a:rPr>
              <a:t>R</a:t>
            </a:r>
            <a:r>
              <a:rPr lang="en-US" b="1" dirty="0" err="1" smtClean="0">
                <a:effectLst/>
              </a:rPr>
              <a:t>efra</a:t>
            </a:r>
            <a:r>
              <a:rPr lang="tr-TR" b="1" dirty="0" smtClean="0">
                <a:effectLst/>
              </a:rPr>
              <a:t>k</a:t>
            </a:r>
            <a:r>
              <a:rPr lang="en-US" b="1" dirty="0" err="1" smtClean="0">
                <a:effectLst/>
              </a:rPr>
              <a:t>tive</a:t>
            </a:r>
            <a:r>
              <a:rPr lang="en-US" b="1" dirty="0" smtClean="0">
                <a:effectLst/>
              </a:rPr>
              <a:t> </a:t>
            </a:r>
            <a:r>
              <a:rPr lang="en-US" b="1" dirty="0" err="1" smtClean="0">
                <a:effectLst/>
              </a:rPr>
              <a:t>inde</a:t>
            </a:r>
            <a:r>
              <a:rPr lang="tr-TR" b="1" dirty="0" err="1" smtClean="0">
                <a:effectLst/>
              </a:rPr>
              <a:t>ks</a:t>
            </a:r>
            <a:r>
              <a:rPr lang="tr-TR" b="1" dirty="0" smtClean="0">
                <a:effectLst/>
              </a:rPr>
              <a:t> dalga boyuna bağlı olarak değişir. Bir prizmadaki tayf oluşumu gibi ...</a:t>
            </a:r>
            <a:endParaRPr lang="en-US" b="1" dirty="0" smtClean="0"/>
          </a:p>
        </p:txBody>
      </p:sp>
      <p:grpSp>
        <p:nvGrpSpPr>
          <p:cNvPr id="2" name="Group 4"/>
          <p:cNvGrpSpPr>
            <a:grpSpLocks/>
          </p:cNvGrpSpPr>
          <p:nvPr/>
        </p:nvGrpSpPr>
        <p:grpSpPr bwMode="auto">
          <a:xfrm>
            <a:off x="869950" y="3284538"/>
            <a:ext cx="7715250" cy="2963862"/>
            <a:chOff x="548" y="1355"/>
            <a:chExt cx="4860" cy="1867"/>
          </a:xfrm>
        </p:grpSpPr>
        <p:sp>
          <p:nvSpPr>
            <p:cNvPr id="540677" name="Freeform 5"/>
            <p:cNvSpPr>
              <a:spLocks/>
            </p:cNvSpPr>
            <p:nvPr/>
          </p:nvSpPr>
          <p:spPr bwMode="auto">
            <a:xfrm>
              <a:off x="1421" y="1361"/>
              <a:ext cx="1726" cy="1051"/>
            </a:xfrm>
            <a:custGeom>
              <a:avLst/>
              <a:gdLst>
                <a:gd name="T0" fmla="*/ 1214 w 1726"/>
                <a:gd name="T1" fmla="*/ 0 h 1051"/>
                <a:gd name="T2" fmla="*/ 563 w 1726"/>
                <a:gd name="T3" fmla="*/ 150 h 1051"/>
                <a:gd name="T4" fmla="*/ 0 w 1726"/>
                <a:gd name="T5" fmla="*/ 849 h 1051"/>
                <a:gd name="T6" fmla="*/ 1050 w 1726"/>
                <a:gd name="T7" fmla="*/ 1050 h 1051"/>
                <a:gd name="T8" fmla="*/ 1725 w 1726"/>
                <a:gd name="T9" fmla="*/ 863 h 1051"/>
                <a:gd name="T10" fmla="*/ 1214 w 1726"/>
                <a:gd name="T11" fmla="*/ 0 h 1051"/>
              </a:gdLst>
              <a:ahLst/>
              <a:cxnLst>
                <a:cxn ang="0">
                  <a:pos x="T0" y="T1"/>
                </a:cxn>
                <a:cxn ang="0">
                  <a:pos x="T2" y="T3"/>
                </a:cxn>
                <a:cxn ang="0">
                  <a:pos x="T4" y="T5"/>
                </a:cxn>
                <a:cxn ang="0">
                  <a:pos x="T6" y="T7"/>
                </a:cxn>
                <a:cxn ang="0">
                  <a:pos x="T8" y="T9"/>
                </a:cxn>
                <a:cxn ang="0">
                  <a:pos x="T10" y="T11"/>
                </a:cxn>
              </a:cxnLst>
              <a:rect l="0" t="0" r="r" b="b"/>
              <a:pathLst>
                <a:path w="1726" h="1051">
                  <a:moveTo>
                    <a:pt x="1214" y="0"/>
                  </a:moveTo>
                  <a:lnTo>
                    <a:pt x="563" y="150"/>
                  </a:lnTo>
                  <a:lnTo>
                    <a:pt x="0" y="849"/>
                  </a:lnTo>
                  <a:lnTo>
                    <a:pt x="1050" y="1050"/>
                  </a:lnTo>
                  <a:lnTo>
                    <a:pt x="1725" y="863"/>
                  </a:lnTo>
                  <a:lnTo>
                    <a:pt x="1214" y="0"/>
                  </a:lnTo>
                </a:path>
              </a:pathLst>
            </a:custGeom>
            <a:solidFill>
              <a:srgbClr val="FCFEB9"/>
            </a:solidFill>
            <a:ln w="12700" cap="rnd" cmpd="sng">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78" name="Freeform 6"/>
            <p:cNvSpPr>
              <a:spLocks/>
            </p:cNvSpPr>
            <p:nvPr/>
          </p:nvSpPr>
          <p:spPr bwMode="auto">
            <a:xfrm>
              <a:off x="1441" y="1355"/>
              <a:ext cx="1189" cy="839"/>
            </a:xfrm>
            <a:custGeom>
              <a:avLst/>
              <a:gdLst>
                <a:gd name="T0" fmla="*/ 0 w 1189"/>
                <a:gd name="T1" fmla="*/ 838 h 839"/>
                <a:gd name="T2" fmla="*/ 800 w 1189"/>
                <a:gd name="T3" fmla="*/ 712 h 839"/>
                <a:gd name="T4" fmla="*/ 1188 w 1189"/>
                <a:gd name="T5" fmla="*/ 0 h 839"/>
              </a:gdLst>
              <a:ahLst/>
              <a:cxnLst>
                <a:cxn ang="0">
                  <a:pos x="T0" y="T1"/>
                </a:cxn>
                <a:cxn ang="0">
                  <a:pos x="T2" y="T3"/>
                </a:cxn>
                <a:cxn ang="0">
                  <a:pos x="T4" y="T5"/>
                </a:cxn>
              </a:cxnLst>
              <a:rect l="0" t="0" r="r" b="b"/>
              <a:pathLst>
                <a:path w="1189" h="839">
                  <a:moveTo>
                    <a:pt x="0" y="838"/>
                  </a:moveTo>
                  <a:lnTo>
                    <a:pt x="800" y="712"/>
                  </a:lnTo>
                  <a:lnTo>
                    <a:pt x="1188" y="0"/>
                  </a:lnTo>
                </a:path>
              </a:pathLst>
            </a:custGeom>
            <a:noFill/>
            <a:ln w="12700" cap="rnd" cmpd="sng">
              <a:solidFill>
                <a:srgbClr val="DADADA"/>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79" name="Freeform 7"/>
            <p:cNvSpPr>
              <a:spLocks/>
            </p:cNvSpPr>
            <p:nvPr/>
          </p:nvSpPr>
          <p:spPr bwMode="auto">
            <a:xfrm rot="10800000" flipH="1">
              <a:off x="2578" y="1824"/>
              <a:ext cx="2822" cy="908"/>
            </a:xfrm>
            <a:custGeom>
              <a:avLst/>
              <a:gdLst>
                <a:gd name="T0" fmla="*/ 27 w 2822"/>
                <a:gd name="T1" fmla="*/ 870 h 908"/>
                <a:gd name="T2" fmla="*/ 0 w 2822"/>
                <a:gd name="T3" fmla="*/ 907 h 908"/>
                <a:gd name="T4" fmla="*/ 2821 w 2822"/>
                <a:gd name="T5" fmla="*/ 76 h 908"/>
                <a:gd name="T6" fmla="*/ 2799 w 2822"/>
                <a:gd name="T7" fmla="*/ 39 h 908"/>
                <a:gd name="T8" fmla="*/ 2776 w 2822"/>
                <a:gd name="T9" fmla="*/ 0 h 908"/>
                <a:gd name="T10" fmla="*/ 27 w 2822"/>
                <a:gd name="T11" fmla="*/ 870 h 908"/>
              </a:gdLst>
              <a:ahLst/>
              <a:cxnLst>
                <a:cxn ang="0">
                  <a:pos x="T0" y="T1"/>
                </a:cxn>
                <a:cxn ang="0">
                  <a:pos x="T2" y="T3"/>
                </a:cxn>
                <a:cxn ang="0">
                  <a:pos x="T4" y="T5"/>
                </a:cxn>
                <a:cxn ang="0">
                  <a:pos x="T6" y="T7"/>
                </a:cxn>
                <a:cxn ang="0">
                  <a:pos x="T8" y="T9"/>
                </a:cxn>
                <a:cxn ang="0">
                  <a:pos x="T10" y="T11"/>
                </a:cxn>
              </a:cxnLst>
              <a:rect l="0" t="0" r="r" b="b"/>
              <a:pathLst>
                <a:path w="2822" h="908">
                  <a:moveTo>
                    <a:pt x="27" y="870"/>
                  </a:moveTo>
                  <a:lnTo>
                    <a:pt x="0" y="907"/>
                  </a:lnTo>
                  <a:lnTo>
                    <a:pt x="2821" y="76"/>
                  </a:lnTo>
                  <a:lnTo>
                    <a:pt x="2799" y="39"/>
                  </a:lnTo>
                  <a:lnTo>
                    <a:pt x="2776" y="0"/>
                  </a:lnTo>
                  <a:lnTo>
                    <a:pt x="27" y="870"/>
                  </a:lnTo>
                </a:path>
              </a:pathLst>
            </a:custGeom>
            <a:solidFill>
              <a:srgbClr val="DCE103"/>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80" name="Freeform 8"/>
            <p:cNvSpPr>
              <a:spLocks/>
            </p:cNvSpPr>
            <p:nvPr/>
          </p:nvSpPr>
          <p:spPr bwMode="auto">
            <a:xfrm>
              <a:off x="2579" y="1829"/>
              <a:ext cx="2829" cy="998"/>
            </a:xfrm>
            <a:custGeom>
              <a:avLst/>
              <a:gdLst>
                <a:gd name="T0" fmla="*/ 0 w 2829"/>
                <a:gd name="T1" fmla="*/ 18 h 998"/>
                <a:gd name="T2" fmla="*/ 12 w 2829"/>
                <a:gd name="T3" fmla="*/ 0 h 998"/>
                <a:gd name="T4" fmla="*/ 2829 w 2829"/>
                <a:gd name="T5" fmla="*/ 923 h 998"/>
                <a:gd name="T6" fmla="*/ 2805 w 2829"/>
                <a:gd name="T7" fmla="*/ 960 h 998"/>
                <a:gd name="T8" fmla="*/ 2781 w 2829"/>
                <a:gd name="T9" fmla="*/ 998 h 998"/>
                <a:gd name="T10" fmla="*/ 63 w 2829"/>
                <a:gd name="T11" fmla="*/ 33 h 998"/>
              </a:gdLst>
              <a:ahLst/>
              <a:cxnLst>
                <a:cxn ang="0">
                  <a:pos x="T0" y="T1"/>
                </a:cxn>
                <a:cxn ang="0">
                  <a:pos x="T2" y="T3"/>
                </a:cxn>
                <a:cxn ang="0">
                  <a:pos x="T4" y="T5"/>
                </a:cxn>
                <a:cxn ang="0">
                  <a:pos x="T6" y="T7"/>
                </a:cxn>
                <a:cxn ang="0">
                  <a:pos x="T8" y="T9"/>
                </a:cxn>
                <a:cxn ang="0">
                  <a:pos x="T10" y="T11"/>
                </a:cxn>
              </a:cxnLst>
              <a:rect l="0" t="0" r="r" b="b"/>
              <a:pathLst>
                <a:path w="2829" h="998">
                  <a:moveTo>
                    <a:pt x="0" y="18"/>
                  </a:moveTo>
                  <a:lnTo>
                    <a:pt x="12" y="0"/>
                  </a:lnTo>
                  <a:lnTo>
                    <a:pt x="2829" y="923"/>
                  </a:lnTo>
                  <a:lnTo>
                    <a:pt x="2805" y="960"/>
                  </a:lnTo>
                  <a:lnTo>
                    <a:pt x="2781" y="998"/>
                  </a:lnTo>
                  <a:lnTo>
                    <a:pt x="63" y="33"/>
                  </a:lnTo>
                </a:path>
              </a:pathLst>
            </a:custGeom>
            <a:solidFill>
              <a:schemeClr val="accent2"/>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81" name="Freeform 9"/>
            <p:cNvSpPr>
              <a:spLocks/>
            </p:cNvSpPr>
            <p:nvPr/>
          </p:nvSpPr>
          <p:spPr bwMode="auto">
            <a:xfrm>
              <a:off x="2561" y="1845"/>
              <a:ext cx="2783" cy="1103"/>
            </a:xfrm>
            <a:custGeom>
              <a:avLst/>
              <a:gdLst>
                <a:gd name="T0" fmla="*/ 0 w 2783"/>
                <a:gd name="T1" fmla="*/ 8 h 1103"/>
                <a:gd name="T2" fmla="*/ 8 w 2783"/>
                <a:gd name="T3" fmla="*/ 0 h 1103"/>
                <a:gd name="T4" fmla="*/ 2783 w 2783"/>
                <a:gd name="T5" fmla="*/ 975 h 1103"/>
                <a:gd name="T6" fmla="*/ 2763 w 2783"/>
                <a:gd name="T7" fmla="*/ 1007 h 1103"/>
                <a:gd name="T8" fmla="*/ 2699 w 2783"/>
                <a:gd name="T9" fmla="*/ 1103 h 1103"/>
                <a:gd name="T10" fmla="*/ 18 w 2783"/>
                <a:gd name="T11" fmla="*/ 23 h 1103"/>
              </a:gdLst>
              <a:ahLst/>
              <a:cxnLst>
                <a:cxn ang="0">
                  <a:pos x="T0" y="T1"/>
                </a:cxn>
                <a:cxn ang="0">
                  <a:pos x="T2" y="T3"/>
                </a:cxn>
                <a:cxn ang="0">
                  <a:pos x="T4" y="T5"/>
                </a:cxn>
                <a:cxn ang="0">
                  <a:pos x="T6" y="T7"/>
                </a:cxn>
                <a:cxn ang="0">
                  <a:pos x="T8" y="T9"/>
                </a:cxn>
                <a:cxn ang="0">
                  <a:pos x="T10" y="T11"/>
                </a:cxn>
              </a:cxnLst>
              <a:rect l="0" t="0" r="r" b="b"/>
              <a:pathLst>
                <a:path w="2783" h="1103">
                  <a:moveTo>
                    <a:pt x="0" y="8"/>
                  </a:moveTo>
                  <a:lnTo>
                    <a:pt x="8" y="0"/>
                  </a:lnTo>
                  <a:lnTo>
                    <a:pt x="2783" y="975"/>
                  </a:lnTo>
                  <a:lnTo>
                    <a:pt x="2763" y="1007"/>
                  </a:lnTo>
                  <a:lnTo>
                    <a:pt x="2699" y="1103"/>
                  </a:lnTo>
                  <a:lnTo>
                    <a:pt x="18" y="23"/>
                  </a:lnTo>
                </a:path>
              </a:pathLst>
            </a:custGeom>
            <a:solidFill>
              <a:schemeClr val="accent1"/>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82" name="Freeform 10"/>
            <p:cNvSpPr>
              <a:spLocks/>
            </p:cNvSpPr>
            <p:nvPr/>
          </p:nvSpPr>
          <p:spPr bwMode="auto">
            <a:xfrm rot="10800000" flipH="1">
              <a:off x="2551" y="1785"/>
              <a:ext cx="2833" cy="859"/>
            </a:xfrm>
            <a:custGeom>
              <a:avLst/>
              <a:gdLst>
                <a:gd name="T0" fmla="*/ 29 w 2833"/>
                <a:gd name="T1" fmla="*/ 822 h 859"/>
                <a:gd name="T2" fmla="*/ 0 w 2833"/>
                <a:gd name="T3" fmla="*/ 858 h 859"/>
                <a:gd name="T4" fmla="*/ 2832 w 2833"/>
                <a:gd name="T5" fmla="*/ 78 h 859"/>
                <a:gd name="T6" fmla="*/ 2810 w 2833"/>
                <a:gd name="T7" fmla="*/ 39 h 859"/>
                <a:gd name="T8" fmla="*/ 2789 w 2833"/>
                <a:gd name="T9" fmla="*/ 0 h 859"/>
                <a:gd name="T10" fmla="*/ 29 w 2833"/>
                <a:gd name="T11" fmla="*/ 822 h 859"/>
              </a:gdLst>
              <a:ahLst/>
              <a:cxnLst>
                <a:cxn ang="0">
                  <a:pos x="T0" y="T1"/>
                </a:cxn>
                <a:cxn ang="0">
                  <a:pos x="T2" y="T3"/>
                </a:cxn>
                <a:cxn ang="0">
                  <a:pos x="T4" y="T5"/>
                </a:cxn>
                <a:cxn ang="0">
                  <a:pos x="T6" y="T7"/>
                </a:cxn>
                <a:cxn ang="0">
                  <a:pos x="T8" y="T9"/>
                </a:cxn>
                <a:cxn ang="0">
                  <a:pos x="T10" y="T11"/>
                </a:cxn>
              </a:cxnLst>
              <a:rect l="0" t="0" r="r" b="b"/>
              <a:pathLst>
                <a:path w="2833" h="859">
                  <a:moveTo>
                    <a:pt x="29" y="822"/>
                  </a:moveTo>
                  <a:lnTo>
                    <a:pt x="0" y="858"/>
                  </a:lnTo>
                  <a:lnTo>
                    <a:pt x="2832" y="78"/>
                  </a:lnTo>
                  <a:lnTo>
                    <a:pt x="2810" y="39"/>
                  </a:lnTo>
                  <a:lnTo>
                    <a:pt x="2789" y="0"/>
                  </a:lnTo>
                  <a:lnTo>
                    <a:pt x="29" y="822"/>
                  </a:lnTo>
                </a:path>
              </a:pathLst>
            </a:custGeom>
            <a:solidFill>
              <a:schemeClr val="hlink"/>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83" name="Freeform 11"/>
            <p:cNvSpPr>
              <a:spLocks/>
            </p:cNvSpPr>
            <p:nvPr/>
          </p:nvSpPr>
          <p:spPr bwMode="auto">
            <a:xfrm>
              <a:off x="2585" y="1856"/>
              <a:ext cx="2716" cy="1366"/>
            </a:xfrm>
            <a:custGeom>
              <a:avLst/>
              <a:gdLst>
                <a:gd name="T0" fmla="*/ 0 w 2716"/>
                <a:gd name="T1" fmla="*/ 15 h 1366"/>
                <a:gd name="T2" fmla="*/ 3 w 2716"/>
                <a:gd name="T3" fmla="*/ 15 h 1366"/>
                <a:gd name="T4" fmla="*/ 3 w 2716"/>
                <a:gd name="T5" fmla="*/ 0 h 1366"/>
                <a:gd name="T6" fmla="*/ 2716 w 2716"/>
                <a:gd name="T7" fmla="*/ 1116 h 1366"/>
                <a:gd name="T8" fmla="*/ 2679 w 2716"/>
                <a:gd name="T9" fmla="*/ 1204 h 1366"/>
                <a:gd name="T10" fmla="*/ 2621 w 2716"/>
                <a:gd name="T11" fmla="*/ 1366 h 1366"/>
                <a:gd name="T12" fmla="*/ 0 w 2716"/>
                <a:gd name="T13" fmla="*/ 12 h 1366"/>
              </a:gdLst>
              <a:ahLst/>
              <a:cxnLst>
                <a:cxn ang="0">
                  <a:pos x="T0" y="T1"/>
                </a:cxn>
                <a:cxn ang="0">
                  <a:pos x="T2" y="T3"/>
                </a:cxn>
                <a:cxn ang="0">
                  <a:pos x="T4" y="T5"/>
                </a:cxn>
                <a:cxn ang="0">
                  <a:pos x="T6" y="T7"/>
                </a:cxn>
                <a:cxn ang="0">
                  <a:pos x="T8" y="T9"/>
                </a:cxn>
                <a:cxn ang="0">
                  <a:pos x="T10" y="T11"/>
                </a:cxn>
                <a:cxn ang="0">
                  <a:pos x="T12" y="T13"/>
                </a:cxn>
              </a:cxnLst>
              <a:rect l="0" t="0" r="r" b="b"/>
              <a:pathLst>
                <a:path w="2716" h="1366">
                  <a:moveTo>
                    <a:pt x="0" y="15"/>
                  </a:moveTo>
                  <a:lnTo>
                    <a:pt x="3" y="15"/>
                  </a:lnTo>
                  <a:lnTo>
                    <a:pt x="3" y="0"/>
                  </a:lnTo>
                  <a:lnTo>
                    <a:pt x="2716" y="1116"/>
                  </a:lnTo>
                  <a:lnTo>
                    <a:pt x="2679" y="1204"/>
                  </a:lnTo>
                  <a:lnTo>
                    <a:pt x="2621" y="1366"/>
                  </a:lnTo>
                  <a:lnTo>
                    <a:pt x="0" y="12"/>
                  </a:lnTo>
                </a:path>
              </a:pathLst>
            </a:custGeom>
            <a:solidFill>
              <a:srgbClr val="D49FFF"/>
            </a:solidFill>
            <a:ln>
              <a:noFill/>
            </a:ln>
            <a:effectLst/>
            <a:extLst>
              <a:ext uri="{91240B29-F687-4F45-9708-019B960494DF}">
                <a14:hiddenLine xmlns=""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84" name="Freeform 12"/>
            <p:cNvSpPr>
              <a:spLocks/>
            </p:cNvSpPr>
            <p:nvPr/>
          </p:nvSpPr>
          <p:spPr bwMode="auto">
            <a:xfrm>
              <a:off x="548" y="1976"/>
              <a:ext cx="1050" cy="570"/>
            </a:xfrm>
            <a:custGeom>
              <a:avLst/>
              <a:gdLst>
                <a:gd name="T0" fmla="*/ 1050 w 1050"/>
                <a:gd name="T1" fmla="*/ 0 h 570"/>
                <a:gd name="T2" fmla="*/ 924 w 1050"/>
                <a:gd name="T3" fmla="*/ 192 h 570"/>
                <a:gd name="T4" fmla="*/ 0 w 1050"/>
                <a:gd name="T5" fmla="*/ 570 h 570"/>
                <a:gd name="T6" fmla="*/ 30 w 1050"/>
                <a:gd name="T7" fmla="*/ 384 h 570"/>
              </a:gdLst>
              <a:ahLst/>
              <a:cxnLst>
                <a:cxn ang="0">
                  <a:pos x="T0" y="T1"/>
                </a:cxn>
                <a:cxn ang="0">
                  <a:pos x="T2" y="T3"/>
                </a:cxn>
                <a:cxn ang="0">
                  <a:pos x="T4" y="T5"/>
                </a:cxn>
                <a:cxn ang="0">
                  <a:pos x="T6" y="T7"/>
                </a:cxn>
              </a:cxnLst>
              <a:rect l="0" t="0" r="r" b="b"/>
              <a:pathLst>
                <a:path w="1050" h="570">
                  <a:moveTo>
                    <a:pt x="1050" y="0"/>
                  </a:moveTo>
                  <a:lnTo>
                    <a:pt x="924" y="192"/>
                  </a:lnTo>
                  <a:lnTo>
                    <a:pt x="0" y="570"/>
                  </a:lnTo>
                  <a:lnTo>
                    <a:pt x="30" y="384"/>
                  </a:lnTo>
                </a:path>
              </a:pathLst>
            </a:custGeom>
            <a:solidFill>
              <a:srgbClr val="777777"/>
            </a:solidFill>
            <a:ln w="12700" cap="rnd" cmpd="sng">
              <a:solidFill>
                <a:srgbClr val="CECECE"/>
              </a:solidFill>
              <a:prstDash val="sysDot"/>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tr-TR">
                <a:effectLst>
                  <a:outerShdw blurRad="38100" dist="38100" dir="2700000" algn="tl">
                    <a:srgbClr val="000000">
                      <a:alpha val="43137"/>
                    </a:srgbClr>
                  </a:outerShdw>
                </a:effectLst>
              </a:endParaRPr>
            </a:p>
          </p:txBody>
        </p:sp>
        <p:sp>
          <p:nvSpPr>
            <p:cNvPr id="540685" name="Freeform 13"/>
            <p:cNvSpPr>
              <a:spLocks/>
            </p:cNvSpPr>
            <p:nvPr/>
          </p:nvSpPr>
          <p:spPr bwMode="auto">
            <a:xfrm>
              <a:off x="2060" y="1784"/>
              <a:ext cx="552" cy="144"/>
            </a:xfrm>
            <a:custGeom>
              <a:avLst/>
              <a:gdLst>
                <a:gd name="T0" fmla="*/ 6 w 552"/>
                <a:gd name="T1" fmla="*/ 30 h 144"/>
                <a:gd name="T2" fmla="*/ 552 w 552"/>
                <a:gd name="T3" fmla="*/ 0 h 144"/>
                <a:gd name="T4" fmla="*/ 540 w 552"/>
                <a:gd name="T5" fmla="*/ 114 h 144"/>
                <a:gd name="T6" fmla="*/ 0 w 552"/>
                <a:gd name="T7" fmla="*/ 144 h 144"/>
                <a:gd name="T8" fmla="*/ 6 w 552"/>
                <a:gd name="T9" fmla="*/ 30 h 144"/>
              </a:gdLst>
              <a:ahLst/>
              <a:cxnLst>
                <a:cxn ang="0">
                  <a:pos x="T0" y="T1"/>
                </a:cxn>
                <a:cxn ang="0">
                  <a:pos x="T2" y="T3"/>
                </a:cxn>
                <a:cxn ang="0">
                  <a:pos x="T4" y="T5"/>
                </a:cxn>
                <a:cxn ang="0">
                  <a:pos x="T6" y="T7"/>
                </a:cxn>
                <a:cxn ang="0">
                  <a:pos x="T8" y="T9"/>
                </a:cxn>
              </a:cxnLst>
              <a:rect l="0" t="0" r="r" b="b"/>
              <a:pathLst>
                <a:path w="552" h="144">
                  <a:moveTo>
                    <a:pt x="6" y="30"/>
                  </a:moveTo>
                  <a:lnTo>
                    <a:pt x="552" y="0"/>
                  </a:lnTo>
                  <a:lnTo>
                    <a:pt x="540" y="114"/>
                  </a:lnTo>
                  <a:lnTo>
                    <a:pt x="0" y="144"/>
                  </a:lnTo>
                  <a:lnTo>
                    <a:pt x="6" y="30"/>
                  </a:lnTo>
                  <a:close/>
                </a:path>
              </a:pathLst>
            </a:custGeom>
            <a:solidFill>
              <a:srgbClr val="B2B2B2">
                <a:alpha val="50000"/>
              </a:srgbClr>
            </a:solidFill>
            <a:ln>
              <a:noFill/>
            </a:ln>
            <a:effectLst/>
            <a:extLst>
              <a:ext uri="{91240B29-F687-4F45-9708-019B960494DF}">
                <a14:hiddenLine xmlns="" xmlns:a14="http://schemas.microsoft.com/office/drawing/2010/main" w="12700" cmpd="sng">
                  <a:solidFill>
                    <a:schemeClr val="tx1"/>
                  </a:solidFill>
                  <a:round/>
                  <a:headEnd type="none" w="sm" len="sm"/>
                  <a:tailEnd type="none" w="sm" len="sm"/>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540686" name="Freeform 14"/>
            <p:cNvSpPr>
              <a:spLocks/>
            </p:cNvSpPr>
            <p:nvPr/>
          </p:nvSpPr>
          <p:spPr bwMode="auto">
            <a:xfrm>
              <a:off x="1460" y="1830"/>
              <a:ext cx="612" cy="336"/>
            </a:xfrm>
            <a:custGeom>
              <a:avLst/>
              <a:gdLst>
                <a:gd name="T0" fmla="*/ 612 w 612"/>
                <a:gd name="T1" fmla="*/ 0 h 336"/>
                <a:gd name="T2" fmla="*/ 144 w 612"/>
                <a:gd name="T3" fmla="*/ 144 h 336"/>
                <a:gd name="T4" fmla="*/ 0 w 612"/>
                <a:gd name="T5" fmla="*/ 336 h 336"/>
                <a:gd name="T6" fmla="*/ 594 w 612"/>
                <a:gd name="T7" fmla="*/ 90 h 336"/>
                <a:gd name="T8" fmla="*/ 612 w 612"/>
                <a:gd name="T9" fmla="*/ 0 h 336"/>
              </a:gdLst>
              <a:ahLst/>
              <a:cxnLst>
                <a:cxn ang="0">
                  <a:pos x="T0" y="T1"/>
                </a:cxn>
                <a:cxn ang="0">
                  <a:pos x="T2" y="T3"/>
                </a:cxn>
                <a:cxn ang="0">
                  <a:pos x="T4" y="T5"/>
                </a:cxn>
                <a:cxn ang="0">
                  <a:pos x="T6" y="T7"/>
                </a:cxn>
                <a:cxn ang="0">
                  <a:pos x="T8" y="T9"/>
                </a:cxn>
              </a:cxnLst>
              <a:rect l="0" t="0" r="r" b="b"/>
              <a:pathLst>
                <a:path w="612" h="336">
                  <a:moveTo>
                    <a:pt x="612" y="0"/>
                  </a:moveTo>
                  <a:lnTo>
                    <a:pt x="144" y="144"/>
                  </a:lnTo>
                  <a:lnTo>
                    <a:pt x="0" y="336"/>
                  </a:lnTo>
                  <a:lnTo>
                    <a:pt x="594" y="90"/>
                  </a:lnTo>
                  <a:lnTo>
                    <a:pt x="612" y="0"/>
                  </a:lnTo>
                  <a:close/>
                </a:path>
              </a:pathLst>
            </a:custGeom>
            <a:solidFill>
              <a:schemeClr val="accent1">
                <a:alpha val="50000"/>
              </a:schemeClr>
            </a:solidFill>
            <a:ln>
              <a:noFill/>
            </a:ln>
            <a:effectLst/>
            <a:extLst>
              <a:ext uri="{91240B29-F687-4F45-9708-019B960494DF}">
                <a14:hiddenLine xmlns="" xmlns:a14="http://schemas.microsoft.com/office/drawing/2010/main" w="12700" cmpd="sng">
                  <a:solidFill>
                    <a:schemeClr val="tx1"/>
                  </a:solidFill>
                  <a:round/>
                  <a:headEnd type="none" w="sm" len="sm"/>
                  <a:tailEnd type="none" w="sm" len="sm"/>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grpSp>
      <p:sp>
        <p:nvSpPr>
          <p:cNvPr id="28676" name="Rectangle 15"/>
          <p:cNvSpPr>
            <a:spLocks noChangeArrowheads="1"/>
          </p:cNvSpPr>
          <p:nvPr/>
        </p:nvSpPr>
        <p:spPr bwMode="auto">
          <a:xfrm>
            <a:off x="76200" y="5886450"/>
            <a:ext cx="7586663" cy="819150"/>
          </a:xfrm>
          <a:prstGeom prst="rect">
            <a:avLst/>
          </a:prstGeom>
          <a:noFill/>
          <a:ln w="12700">
            <a:noFill/>
            <a:miter lim="800000"/>
            <a:headEnd/>
            <a:tailEnd/>
          </a:ln>
          <a:effectLst/>
        </p:spPr>
        <p:txBody>
          <a:bodyPr wrap="none" lIns="90488" tIns="44450" rIns="90488" bIns="44450">
            <a:spAutoFit/>
          </a:bodyPr>
          <a:lstStyle/>
          <a:p>
            <a:r>
              <a:rPr lang="en-US" altLang="tr-TR" u="none" dirty="0">
                <a:solidFill>
                  <a:srgbClr val="800080"/>
                </a:solidFill>
              </a:rPr>
              <a:t>Light is “bent” and the resultant colors separate (dispersion).</a:t>
            </a:r>
          </a:p>
          <a:p>
            <a:r>
              <a:rPr lang="en-US" altLang="tr-TR" u="none" dirty="0">
                <a:solidFill>
                  <a:srgbClr val="800080"/>
                </a:solidFill>
              </a:rPr>
              <a:t>Red is least refracted, violet most refracted.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4"/>
          <p:cNvPicPr>
            <a:picLocks noChangeAspect="1" noChangeArrowheads="1"/>
          </p:cNvPicPr>
          <p:nvPr/>
        </p:nvPicPr>
        <p:blipFill>
          <a:blip r:embed="rId3" cstate="print"/>
          <a:srcRect/>
          <a:stretch>
            <a:fillRect/>
          </a:stretch>
        </p:blipFill>
        <p:spPr bwMode="auto">
          <a:xfrm>
            <a:off x="212725" y="176213"/>
            <a:ext cx="8718550" cy="6513512"/>
          </a:xfrm>
          <a:prstGeom prst="rect">
            <a:avLst/>
          </a:prstGeom>
          <a:noFill/>
          <a:ln w="9525">
            <a:noFill/>
            <a:miter lim="800000"/>
            <a:headEnd/>
            <a:tailEnd/>
          </a:ln>
          <a:effectLst/>
        </p:spPr>
      </p:pic>
    </p:spTree>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4" name="Rectangle 6"/>
          <p:cNvSpPr>
            <a:spLocks noChangeArrowheads="1"/>
          </p:cNvSpPr>
          <p:nvPr/>
        </p:nvSpPr>
        <p:spPr bwMode="auto">
          <a:xfrm>
            <a:off x="251520" y="260648"/>
            <a:ext cx="8640960"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
        <p:nvSpPr>
          <p:cNvPr id="94210" name="Rectangle 2"/>
          <p:cNvSpPr>
            <a:spLocks noGrp="1" noChangeArrowheads="1"/>
          </p:cNvSpPr>
          <p:nvPr>
            <p:ph type="title"/>
          </p:nvPr>
        </p:nvSpPr>
        <p:spPr>
          <a:xfrm>
            <a:off x="251520" y="274638"/>
            <a:ext cx="8640960" cy="1143000"/>
          </a:xfrm>
        </p:spPr>
        <p:txBody>
          <a:bodyPr/>
          <a:lstStyle/>
          <a:p>
            <a:pPr eaLnBrk="1" hangingPunct="1">
              <a:defRPr/>
            </a:pPr>
            <a:r>
              <a:rPr lang="tr-TR" b="1" dirty="0" smtClean="0"/>
              <a:t>IŞIK MİKROSKOBU</a:t>
            </a:r>
          </a:p>
        </p:txBody>
      </p:sp>
      <p:sp>
        <p:nvSpPr>
          <p:cNvPr id="94211" name="Rectangle 3"/>
          <p:cNvSpPr>
            <a:spLocks noGrp="1" noChangeArrowheads="1"/>
          </p:cNvSpPr>
          <p:nvPr>
            <p:ph idx="1"/>
          </p:nvPr>
        </p:nvSpPr>
        <p:spPr/>
        <p:txBody>
          <a:bodyPr>
            <a:noAutofit/>
          </a:bodyPr>
          <a:lstStyle/>
          <a:p>
            <a:pPr lvl="1">
              <a:buFont typeface="Times New Roman" pitchFamily="80" charset="0"/>
              <a:buChar char="•"/>
              <a:defRPr/>
            </a:pPr>
            <a:r>
              <a:rPr lang="tr-TR" sz="2400" b="1" dirty="0" smtClean="0">
                <a:solidFill>
                  <a:srgbClr val="FF0000"/>
                </a:solidFill>
              </a:rPr>
              <a:t>Gerçek hayatta aydınlatma, kontrast ve göz kusurları nedeniyle iki nokta arasındaki sınır 0,2 </a:t>
            </a:r>
            <a:r>
              <a:rPr lang="tr-TR" sz="2400" b="1" dirty="0" err="1" smtClean="0">
                <a:solidFill>
                  <a:srgbClr val="FF0000"/>
                </a:solidFill>
              </a:rPr>
              <a:t>mm'den</a:t>
            </a:r>
            <a:r>
              <a:rPr lang="tr-TR" sz="2400" b="1" dirty="0" smtClean="0">
                <a:solidFill>
                  <a:srgbClr val="FF0000"/>
                </a:solidFill>
              </a:rPr>
              <a:t> büyük olmalıdır</a:t>
            </a:r>
            <a:r>
              <a:rPr lang="tr-TR" sz="2400" b="1" dirty="0" smtClean="0">
                <a:solidFill>
                  <a:srgbClr val="FF0000"/>
                </a:solidFill>
              </a:rPr>
              <a:t>.</a:t>
            </a:r>
            <a:endParaRPr lang="tr-TR" sz="2400" b="1" dirty="0" smtClean="0">
              <a:solidFill>
                <a:srgbClr val="FF0000"/>
              </a:solidFill>
            </a:endParaRPr>
          </a:p>
          <a:p>
            <a:pPr lvl="1" eaLnBrk="1" hangingPunct="1">
              <a:buFont typeface="Times New Roman" pitchFamily="80" charset="0"/>
              <a:buChar char="•"/>
              <a:defRPr/>
            </a:pPr>
            <a:r>
              <a:rPr lang="tr-TR" sz="2400" b="1" dirty="0" smtClean="0"/>
              <a:t>Hücreler </a:t>
            </a:r>
            <a:r>
              <a:rPr lang="tr-TR" sz="2400" b="1" dirty="0" smtClean="0"/>
              <a:t>çok daha küçük olduğundan mikroskoba ihtiyaç vardır</a:t>
            </a:r>
          </a:p>
          <a:p>
            <a:pPr lvl="1" eaLnBrk="1" hangingPunct="1">
              <a:buFont typeface="Times New Roman" pitchFamily="80" charset="0"/>
              <a:buChar char="•"/>
              <a:defRPr/>
            </a:pPr>
            <a:r>
              <a:rPr lang="tr-TR" sz="2400" b="1" dirty="0" smtClean="0"/>
              <a:t>Işık mikroskobu ile 100 -1276 defa yapıyı büyütebiliriz </a:t>
            </a:r>
          </a:p>
          <a:p>
            <a:pPr lvl="1" eaLnBrk="1" hangingPunct="1">
              <a:buFont typeface="Times New Roman" pitchFamily="80" charset="0"/>
              <a:buChar char="•"/>
              <a:defRPr/>
            </a:pPr>
            <a:r>
              <a:rPr lang="tr-TR" sz="2400" b="1" dirty="0" smtClean="0"/>
              <a:t>Bu da 0.2 µm kadar birbirine yakın iki noktayı ayırt etmek demektir</a:t>
            </a:r>
          </a:p>
          <a:p>
            <a:pPr lvl="1" eaLnBrk="1" hangingPunct="1">
              <a:buFont typeface="Times New Roman" pitchFamily="80" charset="0"/>
              <a:buChar char="•"/>
              <a:defRPr/>
            </a:pPr>
            <a:r>
              <a:rPr lang="tr-TR" sz="2400" b="1" dirty="0" smtClean="0"/>
              <a:t>Ancak 400 defa büyütmeden sonra </a:t>
            </a:r>
            <a:r>
              <a:rPr lang="tr-TR" sz="2400" b="1" dirty="0" err="1" smtClean="0"/>
              <a:t>immersiyon</a:t>
            </a:r>
            <a:r>
              <a:rPr lang="tr-TR" sz="2400" b="1" dirty="0" smtClean="0"/>
              <a:t> sıvısı devreye girer. Aksi taktirde ışık kırılmaları önlenemez ve görüntü elde edilemez</a:t>
            </a:r>
          </a:p>
        </p:txBody>
      </p:sp>
    </p:spTree>
  </p:cSld>
  <p:clrMapOvr>
    <a:masterClrMapping/>
  </p:clrMapOvr>
  <p:transition spd="med">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C:\Users\user\Desktop\mikroskop.jpg"/>
          <p:cNvPicPr>
            <a:picLocks noGrp="1" noChangeAspect="1" noChangeArrowheads="1"/>
          </p:cNvPicPr>
          <p:nvPr>
            <p:ph idx="4294967295"/>
          </p:nvPr>
        </p:nvPicPr>
        <p:blipFill>
          <a:blip r:embed="rId2" cstate="print"/>
          <a:srcRect/>
          <a:stretch>
            <a:fillRect/>
          </a:stretch>
        </p:blipFill>
        <p:spPr bwMode="auto">
          <a:xfrm>
            <a:off x="611560" y="260648"/>
            <a:ext cx="7632700" cy="626427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descr="%90"/>
          <p:cNvSpPr>
            <a:spLocks noGrp="1" noChangeArrowheads="1"/>
          </p:cNvSpPr>
          <p:nvPr>
            <p:ph type="title"/>
          </p:nvPr>
        </p:nvSpPr>
        <p:spPr>
          <a:xfrm>
            <a:off x="457200" y="260648"/>
            <a:ext cx="8229600" cy="936327"/>
          </a:xfrm>
          <a:pattFill prst="pct90">
            <a:fgClr>
              <a:srgbClr val="E0C1FF"/>
            </a:fgClr>
            <a:bgClr>
              <a:srgbClr val="800000"/>
            </a:bgClr>
          </a:pattFill>
        </p:spPr>
        <p:txBody>
          <a:bodyPr/>
          <a:lstStyle/>
          <a:p>
            <a:pPr eaLnBrk="1" hangingPunct="1">
              <a:defRPr/>
            </a:pPr>
            <a:r>
              <a:rPr lang="tr-TR" sz="5300" dirty="0" smtClean="0">
                <a:solidFill>
                  <a:srgbClr val="800080"/>
                </a:solidFill>
                <a:effectLst>
                  <a:outerShdw blurRad="38100" dist="38100" dir="2700000" algn="tl">
                    <a:srgbClr val="000000"/>
                  </a:outerShdw>
                </a:effectLst>
              </a:rPr>
              <a:t>Işık Mikroskobu</a:t>
            </a:r>
          </a:p>
        </p:txBody>
      </p:sp>
      <p:pic>
        <p:nvPicPr>
          <p:cNvPr id="35844" name="Picture 4" descr="isikli"/>
          <p:cNvPicPr>
            <a:picLocks noGrp="1" noChangeAspect="1" noChangeArrowheads="1"/>
          </p:cNvPicPr>
          <p:nvPr>
            <p:ph sz="half" idx="1"/>
          </p:nvPr>
        </p:nvPicPr>
        <p:blipFill>
          <a:blip r:embed="rId3" cstate="print"/>
          <a:srcRect/>
          <a:stretch>
            <a:fillRect/>
          </a:stretch>
        </p:blipFill>
        <p:spPr>
          <a:xfrm>
            <a:off x="1115616" y="1700808"/>
            <a:ext cx="2731918" cy="4392488"/>
          </a:xfrm>
          <a:noFill/>
        </p:spPr>
      </p:pic>
      <p:sp>
        <p:nvSpPr>
          <p:cNvPr id="379907" name="Rectangle 3"/>
          <p:cNvSpPr>
            <a:spLocks noGrp="1" noChangeArrowheads="1"/>
          </p:cNvSpPr>
          <p:nvPr>
            <p:ph type="body" sz="half" idx="2"/>
          </p:nvPr>
        </p:nvSpPr>
        <p:spPr>
          <a:xfrm>
            <a:off x="4211638" y="1752600"/>
            <a:ext cx="4681537" cy="4267200"/>
          </a:xfrm>
        </p:spPr>
        <p:txBody>
          <a:bodyPr/>
          <a:lstStyle/>
          <a:p>
            <a:pPr eaLnBrk="1" hangingPunct="1">
              <a:defRPr/>
            </a:pPr>
            <a:r>
              <a:rPr lang="tr-TR" sz="2400" b="1" dirty="0" smtClean="0">
                <a:solidFill>
                  <a:srgbClr val="FF0000"/>
                </a:solidFill>
              </a:rPr>
              <a:t>MEKANİK BÖLÜM</a:t>
            </a:r>
          </a:p>
          <a:p>
            <a:pPr lvl="1" eaLnBrk="1" hangingPunct="1">
              <a:defRPr/>
            </a:pPr>
            <a:r>
              <a:rPr lang="tr-TR" sz="2000" b="1" dirty="0" smtClean="0"/>
              <a:t>Mikroskop </a:t>
            </a:r>
            <a:r>
              <a:rPr lang="tr-TR" sz="2000" b="1" dirty="0" smtClean="0"/>
              <a:t>ayağı</a:t>
            </a:r>
          </a:p>
          <a:p>
            <a:pPr lvl="1" eaLnBrk="1" hangingPunct="1">
              <a:defRPr/>
            </a:pPr>
            <a:r>
              <a:rPr lang="tr-TR" sz="2000" b="1" dirty="0" smtClean="0"/>
              <a:t>Preparat tablası</a:t>
            </a:r>
          </a:p>
          <a:p>
            <a:pPr lvl="1" eaLnBrk="1" hangingPunct="1">
              <a:defRPr/>
            </a:pPr>
            <a:r>
              <a:rPr lang="tr-TR" sz="2000" b="1" dirty="0" smtClean="0"/>
              <a:t>Makro ve mikro vida</a:t>
            </a:r>
          </a:p>
          <a:p>
            <a:pPr lvl="1" eaLnBrk="1" hangingPunct="1">
              <a:defRPr/>
            </a:pPr>
            <a:r>
              <a:rPr lang="tr-TR" sz="2000" b="1" dirty="0" smtClean="0"/>
              <a:t>Objektif tablası (Revolver)</a:t>
            </a:r>
          </a:p>
          <a:p>
            <a:pPr lvl="1" eaLnBrk="1" hangingPunct="1">
              <a:defRPr/>
            </a:pPr>
            <a:r>
              <a:rPr lang="tr-TR" sz="2000" b="1" dirty="0" smtClean="0"/>
              <a:t>Tüp</a:t>
            </a:r>
          </a:p>
          <a:p>
            <a:pPr eaLnBrk="1" hangingPunct="1">
              <a:defRPr/>
            </a:pPr>
            <a:r>
              <a:rPr lang="tr-TR" sz="2400" b="1" dirty="0" smtClean="0">
                <a:solidFill>
                  <a:srgbClr val="FF0000"/>
                </a:solidFill>
              </a:rPr>
              <a:t>OPTİK BÖLÜM</a:t>
            </a:r>
          </a:p>
          <a:p>
            <a:pPr lvl="1" eaLnBrk="1" hangingPunct="1">
              <a:defRPr/>
            </a:pPr>
            <a:r>
              <a:rPr lang="tr-TR" sz="2000" b="1" dirty="0" smtClean="0"/>
              <a:t>Işık </a:t>
            </a:r>
            <a:r>
              <a:rPr lang="tr-TR" sz="2000" b="1" dirty="0" smtClean="0"/>
              <a:t>kaynağı</a:t>
            </a:r>
          </a:p>
          <a:p>
            <a:pPr lvl="1" eaLnBrk="1" hangingPunct="1">
              <a:defRPr/>
            </a:pPr>
            <a:r>
              <a:rPr lang="tr-TR" sz="2000" b="1" dirty="0" err="1" smtClean="0"/>
              <a:t>Kondansör</a:t>
            </a:r>
            <a:r>
              <a:rPr lang="tr-TR" sz="2000" b="1" dirty="0" smtClean="0"/>
              <a:t> ve Diyafram</a:t>
            </a:r>
          </a:p>
          <a:p>
            <a:pPr lvl="1" eaLnBrk="1" hangingPunct="1">
              <a:defRPr/>
            </a:pPr>
            <a:r>
              <a:rPr lang="tr-TR" sz="2000" b="1" dirty="0" smtClean="0"/>
              <a:t>Objektifler</a:t>
            </a:r>
          </a:p>
          <a:p>
            <a:pPr lvl="1" eaLnBrk="1" hangingPunct="1">
              <a:defRPr/>
            </a:pPr>
            <a:r>
              <a:rPr lang="tr-TR" sz="2000" b="1" dirty="0" smtClean="0"/>
              <a:t>Oküler</a:t>
            </a:r>
          </a:p>
          <a:p>
            <a:pPr lvl="1" eaLnBrk="1" hangingPunct="1">
              <a:defRPr/>
            </a:pPr>
            <a:endParaRPr lang="tr-TR" sz="2000" b="1" dirty="0" smtClean="0"/>
          </a:p>
        </p:txBody>
      </p:sp>
      <p:sp>
        <p:nvSpPr>
          <p:cNvPr id="379909" name="Rectangle 5"/>
          <p:cNvSpPr>
            <a:spLocks noChangeArrowheads="1"/>
          </p:cNvSpPr>
          <p:nvPr/>
        </p:nvSpPr>
        <p:spPr bwMode="auto">
          <a:xfrm>
            <a:off x="1187450" y="1700213"/>
            <a:ext cx="2592388" cy="4321175"/>
          </a:xfrm>
          <a:prstGeom prst="rect">
            <a:avLst/>
          </a:prstGeom>
          <a:noFill/>
          <a:ln w="38100">
            <a:solidFill>
              <a:schemeClr val="accent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defRPr/>
            </a:pPr>
            <a:endParaRPr lang="tr-TR">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79907">
                                            <p:txEl>
                                              <p:pRg st="0" end="0"/>
                                            </p:txEl>
                                          </p:spTgt>
                                        </p:tgtEl>
                                        <p:attrNameLst>
                                          <p:attrName>style.visibility</p:attrName>
                                        </p:attrNameLst>
                                      </p:cBhvr>
                                      <p:to>
                                        <p:strVal val="visible"/>
                                      </p:to>
                                    </p:set>
                                    <p:animEffect transition="in" filter="box(out)">
                                      <p:cBhvr>
                                        <p:cTn id="7" dur="500"/>
                                        <p:tgtEl>
                                          <p:spTgt spid="379907">
                                            <p:txEl>
                                              <p:pRg st="0" end="0"/>
                                            </p:txEl>
                                          </p:spTgt>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379907">
                                            <p:txEl>
                                              <p:pRg st="1" end="1"/>
                                            </p:txEl>
                                          </p:spTgt>
                                        </p:tgtEl>
                                        <p:attrNameLst>
                                          <p:attrName>style.visibility</p:attrName>
                                        </p:attrNameLst>
                                      </p:cBhvr>
                                      <p:to>
                                        <p:strVal val="visible"/>
                                      </p:to>
                                    </p:set>
                                    <p:animEffect transition="in" filter="box(out)">
                                      <p:cBhvr>
                                        <p:cTn id="10" dur="500"/>
                                        <p:tgtEl>
                                          <p:spTgt spid="379907">
                                            <p:txEl>
                                              <p:pRg st="1" end="1"/>
                                            </p:txEl>
                                          </p:spTgt>
                                        </p:tgtEl>
                                      </p:cBhvr>
                                    </p:animEffect>
                                  </p:childTnLst>
                                </p:cTn>
                              </p:par>
                            </p:childTnLst>
                          </p:cTn>
                        </p:par>
                        <p:par>
                          <p:cTn id="11" fill="hold" nodeType="afterGroup">
                            <p:stCondLst>
                              <p:cond delay="500"/>
                            </p:stCondLst>
                            <p:childTnLst>
                              <p:par>
                                <p:cTn id="12" presetID="4" presetClass="entr" presetSubtype="32" fill="hold" grpId="0" nodeType="afterEffect">
                                  <p:stCondLst>
                                    <p:cond delay="0"/>
                                  </p:stCondLst>
                                  <p:childTnLst>
                                    <p:set>
                                      <p:cBhvr>
                                        <p:cTn id="13" dur="1" fill="hold">
                                          <p:stCondLst>
                                            <p:cond delay="0"/>
                                          </p:stCondLst>
                                        </p:cTn>
                                        <p:tgtEl>
                                          <p:spTgt spid="379907">
                                            <p:txEl>
                                              <p:pRg st="2" end="2"/>
                                            </p:txEl>
                                          </p:spTgt>
                                        </p:tgtEl>
                                        <p:attrNameLst>
                                          <p:attrName>style.visibility</p:attrName>
                                        </p:attrNameLst>
                                      </p:cBhvr>
                                      <p:to>
                                        <p:strVal val="visible"/>
                                      </p:to>
                                    </p:set>
                                    <p:animEffect transition="in" filter="box(out)">
                                      <p:cBhvr>
                                        <p:cTn id="14" dur="500"/>
                                        <p:tgtEl>
                                          <p:spTgt spid="379907">
                                            <p:txEl>
                                              <p:pRg st="2" end="2"/>
                                            </p:txEl>
                                          </p:spTgt>
                                        </p:tgtEl>
                                      </p:cBhvr>
                                    </p:animEffect>
                                  </p:childTnLst>
                                </p:cTn>
                              </p:par>
                            </p:childTnLst>
                          </p:cTn>
                        </p:par>
                        <p:par>
                          <p:cTn id="15" fill="hold" nodeType="afterGroup">
                            <p:stCondLst>
                              <p:cond delay="1000"/>
                            </p:stCondLst>
                            <p:childTnLst>
                              <p:par>
                                <p:cTn id="16" presetID="4" presetClass="entr" presetSubtype="32" fill="hold" grpId="0" nodeType="afterEffect">
                                  <p:stCondLst>
                                    <p:cond delay="0"/>
                                  </p:stCondLst>
                                  <p:childTnLst>
                                    <p:set>
                                      <p:cBhvr>
                                        <p:cTn id="17" dur="1" fill="hold">
                                          <p:stCondLst>
                                            <p:cond delay="0"/>
                                          </p:stCondLst>
                                        </p:cTn>
                                        <p:tgtEl>
                                          <p:spTgt spid="379907">
                                            <p:txEl>
                                              <p:pRg st="3" end="3"/>
                                            </p:txEl>
                                          </p:spTgt>
                                        </p:tgtEl>
                                        <p:attrNameLst>
                                          <p:attrName>style.visibility</p:attrName>
                                        </p:attrNameLst>
                                      </p:cBhvr>
                                      <p:to>
                                        <p:strVal val="visible"/>
                                      </p:to>
                                    </p:set>
                                    <p:animEffect transition="in" filter="box(out)">
                                      <p:cBhvr>
                                        <p:cTn id="18" dur="500"/>
                                        <p:tgtEl>
                                          <p:spTgt spid="379907">
                                            <p:txEl>
                                              <p:pRg st="3" end="3"/>
                                            </p:txEl>
                                          </p:spTgt>
                                        </p:tgtEl>
                                      </p:cBhvr>
                                    </p:animEffect>
                                  </p:childTnLst>
                                </p:cTn>
                              </p:par>
                            </p:childTnLst>
                          </p:cTn>
                        </p:par>
                        <p:par>
                          <p:cTn id="19" fill="hold" nodeType="afterGroup">
                            <p:stCondLst>
                              <p:cond delay="1500"/>
                            </p:stCondLst>
                            <p:childTnLst>
                              <p:par>
                                <p:cTn id="20" presetID="4" presetClass="entr" presetSubtype="32" fill="hold" grpId="0" nodeType="afterEffect">
                                  <p:stCondLst>
                                    <p:cond delay="0"/>
                                  </p:stCondLst>
                                  <p:childTnLst>
                                    <p:set>
                                      <p:cBhvr>
                                        <p:cTn id="21" dur="1" fill="hold">
                                          <p:stCondLst>
                                            <p:cond delay="0"/>
                                          </p:stCondLst>
                                        </p:cTn>
                                        <p:tgtEl>
                                          <p:spTgt spid="379907">
                                            <p:txEl>
                                              <p:pRg st="4" end="4"/>
                                            </p:txEl>
                                          </p:spTgt>
                                        </p:tgtEl>
                                        <p:attrNameLst>
                                          <p:attrName>style.visibility</p:attrName>
                                        </p:attrNameLst>
                                      </p:cBhvr>
                                      <p:to>
                                        <p:strVal val="visible"/>
                                      </p:to>
                                    </p:set>
                                    <p:animEffect transition="in" filter="box(out)">
                                      <p:cBhvr>
                                        <p:cTn id="22" dur="500"/>
                                        <p:tgtEl>
                                          <p:spTgt spid="379907">
                                            <p:txEl>
                                              <p:pRg st="4" end="4"/>
                                            </p:txEl>
                                          </p:spTgt>
                                        </p:tgtEl>
                                      </p:cBhvr>
                                    </p:animEffect>
                                  </p:childTnLst>
                                </p:cTn>
                              </p:par>
                            </p:childTnLst>
                          </p:cTn>
                        </p:par>
                        <p:par>
                          <p:cTn id="23" fill="hold" nodeType="afterGroup">
                            <p:stCondLst>
                              <p:cond delay="2000"/>
                            </p:stCondLst>
                            <p:childTnLst>
                              <p:par>
                                <p:cTn id="24" presetID="4" presetClass="entr" presetSubtype="32" fill="hold" grpId="0" nodeType="afterEffect">
                                  <p:stCondLst>
                                    <p:cond delay="0"/>
                                  </p:stCondLst>
                                  <p:childTnLst>
                                    <p:set>
                                      <p:cBhvr>
                                        <p:cTn id="25" dur="1" fill="hold">
                                          <p:stCondLst>
                                            <p:cond delay="0"/>
                                          </p:stCondLst>
                                        </p:cTn>
                                        <p:tgtEl>
                                          <p:spTgt spid="379907">
                                            <p:txEl>
                                              <p:pRg st="5" end="5"/>
                                            </p:txEl>
                                          </p:spTgt>
                                        </p:tgtEl>
                                        <p:attrNameLst>
                                          <p:attrName>style.visibility</p:attrName>
                                        </p:attrNameLst>
                                      </p:cBhvr>
                                      <p:to>
                                        <p:strVal val="visible"/>
                                      </p:to>
                                    </p:set>
                                    <p:animEffect transition="in" filter="box(out)">
                                      <p:cBhvr>
                                        <p:cTn id="26" dur="500"/>
                                        <p:tgtEl>
                                          <p:spTgt spid="379907">
                                            <p:txEl>
                                              <p:pRg st="5" end="5"/>
                                            </p:txEl>
                                          </p:spTgt>
                                        </p:tgtEl>
                                      </p:cBhvr>
                                    </p:animEffect>
                                  </p:childTnLst>
                                </p:cTn>
                              </p:par>
                            </p:childTnLst>
                          </p:cTn>
                        </p:par>
                      </p:childTnLst>
                    </p:cTn>
                  </p:par>
                  <p:par>
                    <p:cTn id="27" fill="hold">
                      <p:stCondLst>
                        <p:cond delay="indefinite"/>
                      </p:stCondLst>
                      <p:childTnLst>
                        <p:par>
                          <p:cTn id="28" fill="hold" nodeType="afterGroup">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379907">
                                            <p:txEl>
                                              <p:pRg st="6" end="6"/>
                                            </p:txEl>
                                          </p:spTgt>
                                        </p:tgtEl>
                                        <p:attrNameLst>
                                          <p:attrName>style.visibility</p:attrName>
                                        </p:attrNameLst>
                                      </p:cBhvr>
                                      <p:to>
                                        <p:strVal val="visible"/>
                                      </p:to>
                                    </p:set>
                                    <p:animEffect transition="in" filter="box(out)">
                                      <p:cBhvr>
                                        <p:cTn id="31" dur="500"/>
                                        <p:tgtEl>
                                          <p:spTgt spid="379907">
                                            <p:txEl>
                                              <p:pRg st="6" end="6"/>
                                            </p:txEl>
                                          </p:spTgt>
                                        </p:tgtEl>
                                      </p:cBhvr>
                                    </p:animEffect>
                                  </p:childTnLst>
                                </p:cTn>
                              </p:par>
                            </p:childTnLst>
                          </p:cTn>
                        </p:par>
                        <p:par>
                          <p:cTn id="32" fill="hold">
                            <p:stCondLst>
                              <p:cond delay="500"/>
                            </p:stCondLst>
                            <p:childTnLst>
                              <p:par>
                                <p:cTn id="33" presetID="4" presetClass="entr" presetSubtype="32" fill="hold" grpId="0" nodeType="afterEffect">
                                  <p:stCondLst>
                                    <p:cond delay="0"/>
                                  </p:stCondLst>
                                  <p:childTnLst>
                                    <p:set>
                                      <p:cBhvr>
                                        <p:cTn id="34" dur="1" fill="hold">
                                          <p:stCondLst>
                                            <p:cond delay="0"/>
                                          </p:stCondLst>
                                        </p:cTn>
                                        <p:tgtEl>
                                          <p:spTgt spid="379907">
                                            <p:txEl>
                                              <p:pRg st="7" end="7"/>
                                            </p:txEl>
                                          </p:spTgt>
                                        </p:tgtEl>
                                        <p:attrNameLst>
                                          <p:attrName>style.visibility</p:attrName>
                                        </p:attrNameLst>
                                      </p:cBhvr>
                                      <p:to>
                                        <p:strVal val="visible"/>
                                      </p:to>
                                    </p:set>
                                    <p:animEffect transition="in" filter="box(out)">
                                      <p:cBhvr>
                                        <p:cTn id="35" dur="500"/>
                                        <p:tgtEl>
                                          <p:spTgt spid="379907">
                                            <p:txEl>
                                              <p:pRg st="7" end="7"/>
                                            </p:txEl>
                                          </p:spTgt>
                                        </p:tgtEl>
                                      </p:cBhvr>
                                    </p:animEffect>
                                  </p:childTnLst>
                                </p:cTn>
                              </p:par>
                            </p:childTnLst>
                          </p:cTn>
                        </p:par>
                        <p:par>
                          <p:cTn id="36" fill="hold" nodeType="afterGroup">
                            <p:stCondLst>
                              <p:cond delay="1000"/>
                            </p:stCondLst>
                            <p:childTnLst>
                              <p:par>
                                <p:cTn id="37" presetID="4" presetClass="entr" presetSubtype="32" fill="hold" grpId="0" nodeType="afterEffect">
                                  <p:stCondLst>
                                    <p:cond delay="0"/>
                                  </p:stCondLst>
                                  <p:childTnLst>
                                    <p:set>
                                      <p:cBhvr>
                                        <p:cTn id="38" dur="1" fill="hold">
                                          <p:stCondLst>
                                            <p:cond delay="0"/>
                                          </p:stCondLst>
                                        </p:cTn>
                                        <p:tgtEl>
                                          <p:spTgt spid="379907">
                                            <p:txEl>
                                              <p:pRg st="8" end="8"/>
                                            </p:txEl>
                                          </p:spTgt>
                                        </p:tgtEl>
                                        <p:attrNameLst>
                                          <p:attrName>style.visibility</p:attrName>
                                        </p:attrNameLst>
                                      </p:cBhvr>
                                      <p:to>
                                        <p:strVal val="visible"/>
                                      </p:to>
                                    </p:set>
                                    <p:animEffect transition="in" filter="box(out)">
                                      <p:cBhvr>
                                        <p:cTn id="39" dur="500"/>
                                        <p:tgtEl>
                                          <p:spTgt spid="379907">
                                            <p:txEl>
                                              <p:pRg st="8" end="8"/>
                                            </p:txEl>
                                          </p:spTgt>
                                        </p:tgtEl>
                                      </p:cBhvr>
                                    </p:animEffect>
                                  </p:childTnLst>
                                </p:cTn>
                              </p:par>
                            </p:childTnLst>
                          </p:cTn>
                        </p:par>
                        <p:par>
                          <p:cTn id="40" fill="hold" nodeType="afterGroup">
                            <p:stCondLst>
                              <p:cond delay="1500"/>
                            </p:stCondLst>
                            <p:childTnLst>
                              <p:par>
                                <p:cTn id="41" presetID="4" presetClass="entr" presetSubtype="32" fill="hold" grpId="0" nodeType="afterEffect">
                                  <p:stCondLst>
                                    <p:cond delay="0"/>
                                  </p:stCondLst>
                                  <p:childTnLst>
                                    <p:set>
                                      <p:cBhvr>
                                        <p:cTn id="42" dur="1" fill="hold">
                                          <p:stCondLst>
                                            <p:cond delay="0"/>
                                          </p:stCondLst>
                                        </p:cTn>
                                        <p:tgtEl>
                                          <p:spTgt spid="379907">
                                            <p:txEl>
                                              <p:pRg st="9" end="9"/>
                                            </p:txEl>
                                          </p:spTgt>
                                        </p:tgtEl>
                                        <p:attrNameLst>
                                          <p:attrName>style.visibility</p:attrName>
                                        </p:attrNameLst>
                                      </p:cBhvr>
                                      <p:to>
                                        <p:strVal val="visible"/>
                                      </p:to>
                                    </p:set>
                                    <p:animEffect transition="in" filter="box(out)">
                                      <p:cBhvr>
                                        <p:cTn id="43" dur="500"/>
                                        <p:tgtEl>
                                          <p:spTgt spid="379907">
                                            <p:txEl>
                                              <p:pRg st="9" end="9"/>
                                            </p:txEl>
                                          </p:spTgt>
                                        </p:tgtEl>
                                      </p:cBhvr>
                                    </p:animEffect>
                                  </p:childTnLst>
                                </p:cTn>
                              </p:par>
                            </p:childTnLst>
                          </p:cTn>
                        </p:par>
                        <p:par>
                          <p:cTn id="44" fill="hold" nodeType="afterGroup">
                            <p:stCondLst>
                              <p:cond delay="2000"/>
                            </p:stCondLst>
                            <p:childTnLst>
                              <p:par>
                                <p:cTn id="45" presetID="4" presetClass="entr" presetSubtype="32" fill="hold" grpId="0" nodeType="afterEffect">
                                  <p:stCondLst>
                                    <p:cond delay="0"/>
                                  </p:stCondLst>
                                  <p:childTnLst>
                                    <p:set>
                                      <p:cBhvr>
                                        <p:cTn id="46" dur="1" fill="hold">
                                          <p:stCondLst>
                                            <p:cond delay="0"/>
                                          </p:stCondLst>
                                        </p:cTn>
                                        <p:tgtEl>
                                          <p:spTgt spid="379907">
                                            <p:txEl>
                                              <p:pRg st="10" end="10"/>
                                            </p:txEl>
                                          </p:spTgt>
                                        </p:tgtEl>
                                        <p:attrNameLst>
                                          <p:attrName>style.visibility</p:attrName>
                                        </p:attrNameLst>
                                      </p:cBhvr>
                                      <p:to>
                                        <p:strVal val="visible"/>
                                      </p:to>
                                    </p:set>
                                    <p:animEffect transition="in" filter="box(out)">
                                      <p:cBhvr>
                                        <p:cTn id="47" dur="500"/>
                                        <p:tgtEl>
                                          <p:spTgt spid="37990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p:cNvPicPr>
            <a:picLocks noChangeAspect="1" noChangeArrowheads="1"/>
          </p:cNvPicPr>
          <p:nvPr/>
        </p:nvPicPr>
        <p:blipFill>
          <a:blip r:embed="rId3" cstate="print"/>
          <a:srcRect/>
          <a:stretch>
            <a:fillRect/>
          </a:stretch>
        </p:blipFill>
        <p:spPr bwMode="auto">
          <a:xfrm>
            <a:off x="212725" y="176213"/>
            <a:ext cx="8718550" cy="6513512"/>
          </a:xfrm>
          <a:prstGeom prst="rect">
            <a:avLst/>
          </a:prstGeom>
          <a:noFill/>
          <a:ln w="9525">
            <a:noFill/>
            <a:miter lim="800000"/>
            <a:headEnd/>
            <a:tailEnd/>
          </a:ln>
          <a:effectLst/>
        </p:spPr>
      </p:pic>
    </p:spTree>
  </p:cSld>
  <p:clrMapOvr>
    <a:masterClrMapping/>
  </p:clrMapOvr>
  <p:transition spd="med">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TÜP</a:t>
            </a:r>
            <a:endParaRPr lang="tr-TR" dirty="0"/>
          </a:p>
        </p:txBody>
      </p:sp>
      <p:sp>
        <p:nvSpPr>
          <p:cNvPr id="3" name="2 İçerik Yer Tutucusu"/>
          <p:cNvSpPr>
            <a:spLocks noGrp="1"/>
          </p:cNvSpPr>
          <p:nvPr>
            <p:ph idx="1"/>
          </p:nvPr>
        </p:nvSpPr>
        <p:spPr/>
        <p:txBody>
          <a:bodyPr/>
          <a:lstStyle/>
          <a:p>
            <a:r>
              <a:rPr lang="tr-TR" b="1" dirty="0" smtClean="0"/>
              <a:t>Mikroskopta, gözümüzü dayayıp gözlem yaptığımız,günümüzde daha kısalıp kalınlaşarak görülen,mekanik kısım oküler ve objektifleri taşıyan kısım</a:t>
            </a:r>
            <a:r>
              <a:rPr lang="tr-TR" dirty="0" smtClean="0"/>
              <a:t> </a:t>
            </a:r>
            <a:endParaRPr lang="tr-T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normAutofit/>
          </a:bodyPr>
          <a:lstStyle/>
          <a:p>
            <a:pPr eaLnBrk="1" hangingPunct="1">
              <a:defRPr/>
            </a:pPr>
            <a:r>
              <a:rPr lang="tr-TR" b="1" dirty="0" smtClean="0">
                <a:solidFill>
                  <a:srgbClr val="FF0000"/>
                </a:solidFill>
              </a:rPr>
              <a:t>TÜP</a:t>
            </a:r>
          </a:p>
        </p:txBody>
      </p:sp>
      <p:pic>
        <p:nvPicPr>
          <p:cNvPr id="46083" name="Picture 3" descr="dual"/>
          <p:cNvPicPr>
            <a:picLocks noGrp="1" noChangeAspect="1" noChangeArrowheads="1"/>
          </p:cNvPicPr>
          <p:nvPr>
            <p:ph sz="half" idx="1"/>
          </p:nvPr>
        </p:nvPicPr>
        <p:blipFill>
          <a:blip r:embed="rId3" cstate="print"/>
          <a:stretch>
            <a:fillRect/>
          </a:stretch>
        </p:blipFill>
        <p:spPr>
          <a:xfrm>
            <a:off x="2771800" y="2132856"/>
            <a:ext cx="2176272" cy="3163824"/>
          </a:xfrm>
          <a:noFill/>
        </p:spPr>
      </p:pic>
      <p:pic>
        <p:nvPicPr>
          <p:cNvPr id="46084" name="Picture 4" descr="isikli"/>
          <p:cNvPicPr>
            <a:picLocks noGrp="1" noChangeAspect="1" noChangeArrowheads="1"/>
          </p:cNvPicPr>
          <p:nvPr>
            <p:ph sz="half" idx="2"/>
          </p:nvPr>
        </p:nvPicPr>
        <p:blipFill>
          <a:blip r:embed="rId4" cstate="print"/>
          <a:srcRect/>
          <a:stretch>
            <a:fillRect/>
          </a:stretch>
        </p:blipFill>
        <p:spPr>
          <a:xfrm>
            <a:off x="395536" y="1844824"/>
            <a:ext cx="2336654" cy="3889226"/>
          </a:xfrm>
          <a:noFill/>
          <a:ln>
            <a:solidFill>
              <a:srgbClr val="800080"/>
            </a:solidFill>
            <a:miter lim="800000"/>
            <a:headEnd/>
            <a:tailEnd/>
          </a:ln>
        </p:spPr>
      </p:pic>
      <p:sp>
        <p:nvSpPr>
          <p:cNvPr id="386053" name="Rectangle 5"/>
          <p:cNvSpPr>
            <a:spLocks noChangeArrowheads="1"/>
          </p:cNvSpPr>
          <p:nvPr/>
        </p:nvSpPr>
        <p:spPr bwMode="auto">
          <a:xfrm>
            <a:off x="467544" y="1773238"/>
            <a:ext cx="2232248" cy="4032026"/>
          </a:xfrm>
          <a:prstGeom prst="rect">
            <a:avLst/>
          </a:prstGeom>
          <a:noFill/>
          <a:ln w="57150">
            <a:solidFill>
              <a:srgbClr val="800080"/>
            </a:solidFill>
            <a:miter lim="800000"/>
            <a:headEnd/>
            <a:tailEnd/>
          </a:ln>
          <a:effectLst/>
          <a:extLst>
            <a:ext uri="{909E8E84-426E-40DD-AFC4-6F175D3DCCD1}"/>
            <a:ext uri="{AF507438-7753-43E0-B8FC-AC1667EBCBE1}"/>
          </a:extLst>
        </p:spPr>
        <p:txBody>
          <a:bodyPr wrap="none" anchor="ctr"/>
          <a:lstStyle/>
          <a:p>
            <a:pPr>
              <a:defRPr/>
            </a:pPr>
            <a:endParaRPr lang="tr-TR">
              <a:effectLst>
                <a:outerShdw blurRad="38100" dist="38100" dir="2700000" algn="tl">
                  <a:srgbClr val="000000">
                    <a:alpha val="43137"/>
                  </a:srgbClr>
                </a:outerShdw>
              </a:effectLst>
            </a:endParaRPr>
          </a:p>
        </p:txBody>
      </p:sp>
      <p:sp>
        <p:nvSpPr>
          <p:cNvPr id="386054" name="Rectangle 6"/>
          <p:cNvSpPr>
            <a:spLocks noChangeArrowheads="1"/>
          </p:cNvSpPr>
          <p:nvPr/>
        </p:nvSpPr>
        <p:spPr bwMode="auto">
          <a:xfrm>
            <a:off x="2771799" y="1772816"/>
            <a:ext cx="2305025" cy="4032448"/>
          </a:xfrm>
          <a:prstGeom prst="rect">
            <a:avLst/>
          </a:prstGeom>
          <a:noFill/>
          <a:ln w="57150">
            <a:solidFill>
              <a:srgbClr val="800080"/>
            </a:solidFill>
            <a:miter lim="800000"/>
            <a:headEnd/>
            <a:tailEnd/>
          </a:ln>
          <a:effectLst/>
          <a:extLst>
            <a:ext uri="{909E8E84-426E-40DD-AFC4-6F175D3DCCD1}"/>
            <a:ext uri="{AF507438-7753-43E0-B8FC-AC1667EBCBE1}"/>
          </a:extLst>
        </p:spPr>
        <p:txBody>
          <a:bodyPr wrap="none" anchor="ctr"/>
          <a:lstStyle/>
          <a:p>
            <a:pPr>
              <a:defRPr/>
            </a:pPr>
            <a:endParaRPr lang="tr-TR">
              <a:effectLst>
                <a:outerShdw blurRad="38100" dist="38100" dir="2700000" algn="tl">
                  <a:srgbClr val="000000">
                    <a:alpha val="43137"/>
                  </a:srgbClr>
                </a:outerShdw>
              </a:effectLst>
            </a:endParaRPr>
          </a:p>
        </p:txBody>
      </p:sp>
      <p:pic>
        <p:nvPicPr>
          <p:cNvPr id="46087" name="Picture 7" descr="transtube"/>
          <p:cNvPicPr>
            <a:picLocks noChangeAspect="1" noChangeArrowheads="1"/>
          </p:cNvPicPr>
          <p:nvPr/>
        </p:nvPicPr>
        <p:blipFill>
          <a:blip r:embed="rId5" cstate="print"/>
          <a:srcRect/>
          <a:stretch>
            <a:fillRect/>
          </a:stretch>
        </p:blipFill>
        <p:spPr bwMode="auto">
          <a:xfrm>
            <a:off x="5148263" y="1772816"/>
            <a:ext cx="3705707" cy="3962822"/>
          </a:xfrm>
          <a:prstGeom prst="rect">
            <a:avLst/>
          </a:prstGeom>
          <a:noFill/>
          <a:ln w="57150">
            <a:solidFill>
              <a:srgbClr val="800080"/>
            </a:solidFill>
            <a:miter lim="800000"/>
            <a:headEnd/>
            <a:tailEnd/>
          </a:ln>
        </p:spPr>
      </p:pic>
    </p:spTree>
  </p:cSld>
  <p:clrMapOvr>
    <a:masterClrMapping/>
  </p:clrMapOvr>
  <p:transition spd="med">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Başlık"/>
          <p:cNvSpPr>
            <a:spLocks noGrp="1"/>
          </p:cNvSpPr>
          <p:nvPr>
            <p:ph type="title"/>
          </p:nvPr>
        </p:nvSpPr>
        <p:spPr/>
        <p:txBody>
          <a:bodyPr/>
          <a:lstStyle/>
          <a:p>
            <a:r>
              <a:rPr lang="tr-TR" b="1" dirty="0" smtClean="0">
                <a:solidFill>
                  <a:srgbClr val="FF0000"/>
                </a:solidFill>
              </a:rPr>
              <a:t>GÖVDE</a:t>
            </a:r>
            <a:endParaRPr lang="tr-TR" b="1" dirty="0">
              <a:solidFill>
                <a:srgbClr val="FF0000"/>
              </a:solidFill>
            </a:endParaRPr>
          </a:p>
        </p:txBody>
      </p:sp>
      <p:sp>
        <p:nvSpPr>
          <p:cNvPr id="6" name="5 İçerik Yer Tutucusu"/>
          <p:cNvSpPr>
            <a:spLocks noGrp="1"/>
          </p:cNvSpPr>
          <p:nvPr>
            <p:ph idx="1"/>
          </p:nvPr>
        </p:nvSpPr>
        <p:spPr/>
        <p:txBody>
          <a:bodyPr/>
          <a:lstStyle/>
          <a:p>
            <a:r>
              <a:rPr lang="tr-TR" b="1" dirty="0" smtClean="0"/>
              <a:t>Mikroskobu tutup taşımak için yapılan gövde</a:t>
            </a:r>
            <a:endParaRPr lang="tr-TR" b="1" dirty="0"/>
          </a:p>
        </p:txBody>
      </p:sp>
      <p:pic>
        <p:nvPicPr>
          <p:cNvPr id="128002" name="Picture 2" descr="C:\Users\tijen\Desktop\610mG66LfuL._AC_UF1000,1000_QL80_.jpg"/>
          <p:cNvPicPr>
            <a:picLocks noChangeAspect="1" noChangeArrowheads="1"/>
          </p:cNvPicPr>
          <p:nvPr/>
        </p:nvPicPr>
        <p:blipFill>
          <a:blip r:embed="rId2" cstate="print"/>
          <a:srcRect/>
          <a:stretch>
            <a:fillRect/>
          </a:stretch>
        </p:blipFill>
        <p:spPr bwMode="auto">
          <a:xfrm>
            <a:off x="467545" y="2708920"/>
            <a:ext cx="3744416" cy="3312368"/>
          </a:xfrm>
          <a:prstGeom prst="rect">
            <a:avLst/>
          </a:prstGeom>
          <a:noFill/>
        </p:spPr>
      </p:pic>
      <p:pic>
        <p:nvPicPr>
          <p:cNvPr id="128003" name="Picture 3" descr="C:\Users\tijen\Desktop\f670276f-1b0f-4645-9953-1103185773ab.jpg"/>
          <p:cNvPicPr>
            <a:picLocks noChangeAspect="1" noChangeArrowheads="1"/>
          </p:cNvPicPr>
          <p:nvPr/>
        </p:nvPicPr>
        <p:blipFill>
          <a:blip r:embed="rId3" cstate="print"/>
          <a:srcRect/>
          <a:stretch>
            <a:fillRect/>
          </a:stretch>
        </p:blipFill>
        <p:spPr bwMode="auto">
          <a:xfrm>
            <a:off x="4355976" y="2564904"/>
            <a:ext cx="4536504" cy="3744416"/>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568952" cy="6336704"/>
          </a:xfrm>
        </p:spPr>
        <p:txBody>
          <a:bodyPr/>
          <a:lstStyle/>
          <a:p>
            <a:pPr>
              <a:buNone/>
            </a:pPr>
            <a:r>
              <a:rPr lang="tr-TR" b="1" dirty="0" smtClean="0">
                <a:solidFill>
                  <a:srgbClr val="FF0000"/>
                </a:solidFill>
              </a:rPr>
              <a:t>			</a:t>
            </a:r>
            <a:r>
              <a:rPr lang="tr-TR" sz="4000" b="1" dirty="0" smtClean="0">
                <a:solidFill>
                  <a:srgbClr val="FF0000"/>
                </a:solidFill>
              </a:rPr>
              <a:t>KABA AYAR DÜĞMESİ</a:t>
            </a:r>
            <a:endParaRPr lang="tr-TR" sz="4000" b="1" dirty="0" smtClean="0"/>
          </a:p>
          <a:p>
            <a:r>
              <a:rPr lang="tr-TR" b="1" dirty="0" smtClean="0"/>
              <a:t>Görüntüyü ayarlamakta kullanılır.Gövde aşağı yukarı iner kalkar</a:t>
            </a:r>
          </a:p>
          <a:p>
            <a:endParaRPr lang="tr-TR" dirty="0" smtClean="0"/>
          </a:p>
          <a:p>
            <a:endParaRPr lang="tr-TR" dirty="0"/>
          </a:p>
        </p:txBody>
      </p:sp>
      <p:pic>
        <p:nvPicPr>
          <p:cNvPr id="124930" name="Picture 2" descr="C:\Users\tijen\Desktop\mikroskop.jpg"/>
          <p:cNvPicPr>
            <a:picLocks noChangeAspect="1" noChangeArrowheads="1"/>
          </p:cNvPicPr>
          <p:nvPr/>
        </p:nvPicPr>
        <p:blipFill>
          <a:blip r:embed="rId2" cstate="print"/>
          <a:srcRect/>
          <a:stretch>
            <a:fillRect/>
          </a:stretch>
        </p:blipFill>
        <p:spPr bwMode="auto">
          <a:xfrm>
            <a:off x="1691680" y="1916832"/>
            <a:ext cx="6336704" cy="4711987"/>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568952" cy="6336704"/>
          </a:xfrm>
        </p:spPr>
        <p:txBody>
          <a:bodyPr/>
          <a:lstStyle/>
          <a:p>
            <a:pPr>
              <a:buNone/>
            </a:pPr>
            <a:r>
              <a:rPr lang="tr-TR" b="1" dirty="0" smtClean="0">
                <a:solidFill>
                  <a:srgbClr val="FF0000"/>
                </a:solidFill>
              </a:rPr>
              <a:t>			</a:t>
            </a:r>
            <a:r>
              <a:rPr lang="tr-TR" sz="4000" b="1" dirty="0" smtClean="0">
                <a:solidFill>
                  <a:srgbClr val="FF0000"/>
                </a:solidFill>
              </a:rPr>
              <a:t>İNCE AYAR DÜĞMESİ</a:t>
            </a:r>
            <a:endParaRPr lang="tr-TR" sz="4000" b="1" dirty="0" smtClean="0"/>
          </a:p>
          <a:p>
            <a:r>
              <a:rPr lang="tr-TR" b="1" dirty="0" smtClean="0"/>
              <a:t>Görüntü araştırmacının gözüne göre ince ayarlamakta kullanılır</a:t>
            </a:r>
          </a:p>
          <a:p>
            <a:endParaRPr lang="tr-TR" dirty="0" smtClean="0"/>
          </a:p>
          <a:p>
            <a:endParaRPr lang="tr-TR" dirty="0"/>
          </a:p>
        </p:txBody>
      </p:sp>
      <p:pic>
        <p:nvPicPr>
          <p:cNvPr id="124930" name="Picture 2" descr="C:\Users\tijen\Desktop\mikroskop.jpg"/>
          <p:cNvPicPr>
            <a:picLocks noChangeAspect="1" noChangeArrowheads="1"/>
          </p:cNvPicPr>
          <p:nvPr/>
        </p:nvPicPr>
        <p:blipFill>
          <a:blip r:embed="rId2" cstate="print"/>
          <a:srcRect/>
          <a:stretch>
            <a:fillRect/>
          </a:stretch>
        </p:blipFill>
        <p:spPr bwMode="auto">
          <a:xfrm>
            <a:off x="1691680" y="2204864"/>
            <a:ext cx="6192688" cy="4423955"/>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PREPARAT TABLASI</a:t>
            </a:r>
            <a:endParaRPr lang="tr-TR" dirty="0"/>
          </a:p>
        </p:txBody>
      </p:sp>
      <p:sp>
        <p:nvSpPr>
          <p:cNvPr id="3" name="2 İçerik Yer Tutucusu"/>
          <p:cNvSpPr>
            <a:spLocks noGrp="1"/>
          </p:cNvSpPr>
          <p:nvPr>
            <p:ph idx="1"/>
          </p:nvPr>
        </p:nvSpPr>
        <p:spPr/>
        <p:txBody>
          <a:bodyPr/>
          <a:lstStyle/>
          <a:p>
            <a:r>
              <a:rPr lang="tr-TR" b="1" dirty="0" smtClean="0"/>
              <a:t>İncelenecek cisim bu tabla üstüne konulur</a:t>
            </a:r>
          </a:p>
          <a:p>
            <a:endParaRPr lang="tr-TR" dirty="0"/>
          </a:p>
        </p:txBody>
      </p:sp>
      <p:pic>
        <p:nvPicPr>
          <p:cNvPr id="129027" name="Picture 3" descr="C:\Users\tijen\Desktop\x5_1111222720xt1.jpg"/>
          <p:cNvPicPr>
            <a:picLocks noChangeAspect="1" noChangeArrowheads="1"/>
          </p:cNvPicPr>
          <p:nvPr/>
        </p:nvPicPr>
        <p:blipFill>
          <a:blip r:embed="rId2" cstate="print"/>
          <a:srcRect/>
          <a:stretch>
            <a:fillRect/>
          </a:stretch>
        </p:blipFill>
        <p:spPr bwMode="auto">
          <a:xfrm>
            <a:off x="1403648" y="2492896"/>
            <a:ext cx="5976664" cy="37719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468313" y="404813"/>
            <a:ext cx="8229600" cy="1079971"/>
          </a:xfrm>
        </p:spPr>
        <p:txBody>
          <a:bodyPr>
            <a:normAutofit/>
          </a:bodyPr>
          <a:lstStyle/>
          <a:p>
            <a:pPr eaLnBrk="1" hangingPunct="1">
              <a:defRPr/>
            </a:pPr>
            <a:r>
              <a:rPr lang="tr-TR" b="1" dirty="0" smtClean="0">
                <a:solidFill>
                  <a:srgbClr val="FF0000"/>
                </a:solidFill>
              </a:rPr>
              <a:t>PREPARAT TABLASI</a:t>
            </a:r>
          </a:p>
        </p:txBody>
      </p:sp>
      <p:pic>
        <p:nvPicPr>
          <p:cNvPr id="44035" name="Picture 3" descr="stage1"/>
          <p:cNvPicPr>
            <a:picLocks noGrp="1" noChangeAspect="1" noChangeArrowheads="1"/>
          </p:cNvPicPr>
          <p:nvPr>
            <p:ph sz="half" idx="1"/>
          </p:nvPr>
        </p:nvPicPr>
        <p:blipFill>
          <a:blip r:embed="rId3" cstate="print"/>
          <a:srcRect/>
          <a:stretch>
            <a:fillRect/>
          </a:stretch>
        </p:blipFill>
        <p:spPr>
          <a:xfrm>
            <a:off x="611188" y="1988840"/>
            <a:ext cx="3500437" cy="3888432"/>
          </a:xfrm>
          <a:noFill/>
        </p:spPr>
      </p:pic>
      <p:pic>
        <p:nvPicPr>
          <p:cNvPr id="44036" name="Picture 4" descr="circular"/>
          <p:cNvPicPr>
            <a:picLocks noGrp="1" noChangeAspect="1" noChangeArrowheads="1"/>
          </p:cNvPicPr>
          <p:nvPr>
            <p:ph sz="half" idx="2"/>
          </p:nvPr>
        </p:nvPicPr>
        <p:blipFill>
          <a:blip r:embed="rId4" cstate="print"/>
          <a:stretch>
            <a:fillRect/>
          </a:stretch>
        </p:blipFill>
        <p:spPr>
          <a:xfrm>
            <a:off x="4648200" y="2630084"/>
            <a:ext cx="4038600" cy="2466194"/>
          </a:xfrm>
          <a:noFill/>
        </p:spPr>
      </p:pic>
      <p:sp>
        <p:nvSpPr>
          <p:cNvPr id="384005" name="Rectangle 5"/>
          <p:cNvSpPr>
            <a:spLocks noChangeArrowheads="1"/>
          </p:cNvSpPr>
          <p:nvPr/>
        </p:nvSpPr>
        <p:spPr bwMode="auto">
          <a:xfrm>
            <a:off x="611188" y="1700808"/>
            <a:ext cx="3529012" cy="4392488"/>
          </a:xfrm>
          <a:prstGeom prst="rect">
            <a:avLst/>
          </a:prstGeom>
          <a:noFill/>
          <a:ln w="57150">
            <a:solidFill>
              <a:schemeClr val="accent2"/>
            </a:solidFill>
            <a:miter lim="800000"/>
            <a:headEnd/>
            <a:tailEnd/>
          </a:ln>
          <a:effectLst/>
          <a:extLst>
            <a:ext uri="{909E8E84-426E-40DD-AFC4-6F175D3DCCD1}"/>
            <a:ext uri="{AF507438-7753-43E0-B8FC-AC1667EBCBE1}"/>
          </a:extLst>
        </p:spPr>
        <p:txBody>
          <a:bodyPr wrap="none" anchor="ctr"/>
          <a:lstStyle/>
          <a:p>
            <a:pPr>
              <a:defRPr/>
            </a:pPr>
            <a:endParaRPr lang="tr-TR">
              <a:effectLst>
                <a:outerShdw blurRad="38100" dist="38100" dir="2700000" algn="tl">
                  <a:srgbClr val="000000">
                    <a:alpha val="43137"/>
                  </a:srgbClr>
                </a:outerShdw>
              </a:effectLst>
            </a:endParaRPr>
          </a:p>
        </p:txBody>
      </p:sp>
      <p:sp>
        <p:nvSpPr>
          <p:cNvPr id="384006" name="Rectangle 6"/>
          <p:cNvSpPr>
            <a:spLocks noChangeArrowheads="1"/>
          </p:cNvSpPr>
          <p:nvPr/>
        </p:nvSpPr>
        <p:spPr bwMode="auto">
          <a:xfrm>
            <a:off x="4572000" y="1700808"/>
            <a:ext cx="4103688" cy="4392488"/>
          </a:xfrm>
          <a:prstGeom prst="rect">
            <a:avLst/>
          </a:prstGeom>
          <a:noFill/>
          <a:ln w="57150">
            <a:solidFill>
              <a:schemeClr val="accent2"/>
            </a:solidFill>
            <a:miter lim="800000"/>
            <a:headEnd/>
            <a:tailEnd/>
          </a:ln>
          <a:effectLst/>
          <a:extLst>
            <a:ext uri="{909E8E84-426E-40DD-AFC4-6F175D3DCCD1}"/>
            <a:ext uri="{AF507438-7753-43E0-B8FC-AC1667EBCBE1}"/>
          </a:extLst>
        </p:spPr>
        <p:txBody>
          <a:bodyPr wrap="none" anchor="ctr"/>
          <a:lstStyle/>
          <a:p>
            <a:pPr>
              <a:defRPr/>
            </a:pPr>
            <a:endParaRPr lang="tr-TR">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Başlık"/>
          <p:cNvSpPr>
            <a:spLocks noGrp="1"/>
          </p:cNvSpPr>
          <p:nvPr>
            <p:ph type="title" idx="4294967295"/>
          </p:nvPr>
        </p:nvSpPr>
        <p:spPr>
          <a:xfrm>
            <a:off x="755576" y="274638"/>
            <a:ext cx="7474024" cy="1143000"/>
          </a:xfrm>
        </p:spPr>
        <p:txBody>
          <a:bodyPr/>
          <a:lstStyle/>
          <a:p>
            <a:r>
              <a:rPr lang="tr-TR" b="1" dirty="0" smtClean="0">
                <a:solidFill>
                  <a:srgbClr val="FF0000"/>
                </a:solidFill>
              </a:rPr>
              <a:t>ŞARYO</a:t>
            </a:r>
            <a:endParaRPr lang="tr-TR" b="1" dirty="0">
              <a:solidFill>
                <a:srgbClr val="FF0000"/>
              </a:solidFill>
            </a:endParaRPr>
          </a:p>
        </p:txBody>
      </p:sp>
      <p:pic>
        <p:nvPicPr>
          <p:cNvPr id="123906" name="Picture 2" descr="C:\Users\tijen\Desktop\mikroskobu-kisimlari.jpg"/>
          <p:cNvPicPr>
            <a:picLocks noGrp="1" noChangeAspect="1" noChangeArrowheads="1"/>
          </p:cNvPicPr>
          <p:nvPr>
            <p:ph idx="4294967295"/>
          </p:nvPr>
        </p:nvPicPr>
        <p:blipFill>
          <a:blip r:embed="rId2" cstate="print"/>
          <a:srcRect/>
          <a:stretch>
            <a:fillRect/>
          </a:stretch>
        </p:blipFill>
        <p:spPr bwMode="auto">
          <a:xfrm>
            <a:off x="611560" y="1844824"/>
            <a:ext cx="8045450" cy="4525963"/>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ŞARYO</a:t>
            </a:r>
            <a:endParaRPr lang="tr-TR" dirty="0"/>
          </a:p>
        </p:txBody>
      </p:sp>
      <p:sp>
        <p:nvSpPr>
          <p:cNvPr id="3" name="2 İçerik Yer Tutucusu"/>
          <p:cNvSpPr>
            <a:spLocks noGrp="1"/>
          </p:cNvSpPr>
          <p:nvPr>
            <p:ph idx="1"/>
          </p:nvPr>
        </p:nvSpPr>
        <p:spPr/>
        <p:txBody>
          <a:bodyPr/>
          <a:lstStyle/>
          <a:p>
            <a:r>
              <a:rPr lang="tr-TR" b="1" dirty="0" smtClean="0"/>
              <a:t>Preparat Tablası, yanlardaki düğmeler tarafından hareket ettirilmesine karşın bir kısmında da sabit olup objeyi hareket ettirmek için özel sürgü (şaryo) tertibatı bulunur</a:t>
            </a:r>
          </a:p>
          <a:p>
            <a:r>
              <a:rPr lang="tr-TR" b="1" dirty="0" smtClean="0"/>
              <a:t>Bir mikroskopta lamın üzerine konulduğu tablayı yatay eksende milimetrik olarak sağa sola arkaya öne hareket ettiren düzenektir</a:t>
            </a:r>
            <a:endParaRPr lang="tr-TR"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C:\Users\user\Desktop\isik-mikroskobu-kisimlari.jpg"/>
          <p:cNvPicPr>
            <a:picLocks noGrp="1" noChangeAspect="1" noChangeArrowheads="1"/>
          </p:cNvPicPr>
          <p:nvPr>
            <p:ph idx="4294967295"/>
          </p:nvPr>
        </p:nvPicPr>
        <p:blipFill>
          <a:blip r:embed="rId2" cstate="print"/>
          <a:srcRect/>
          <a:stretch>
            <a:fillRect/>
          </a:stretch>
        </p:blipFill>
        <p:spPr bwMode="auto">
          <a:xfrm>
            <a:off x="683568" y="332656"/>
            <a:ext cx="7705725" cy="6048375"/>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OPTİK BÖLÜM</a:t>
            </a:r>
            <a:endParaRPr lang="tr-TR" dirty="0"/>
          </a:p>
        </p:txBody>
      </p:sp>
      <p:sp>
        <p:nvSpPr>
          <p:cNvPr id="3" name="2 İçerik Yer Tutucusu"/>
          <p:cNvSpPr>
            <a:spLocks noGrp="1"/>
          </p:cNvSpPr>
          <p:nvPr>
            <p:ph idx="1"/>
          </p:nvPr>
        </p:nvSpPr>
        <p:spPr/>
        <p:txBody>
          <a:bodyPr>
            <a:normAutofit/>
          </a:bodyPr>
          <a:lstStyle/>
          <a:p>
            <a:pPr marL="342900" lvl="1" indent="-342900">
              <a:buFont typeface="Arial" pitchFamily="34" charset="0"/>
              <a:buChar char="•"/>
            </a:pPr>
            <a:r>
              <a:rPr lang="tr-TR" sz="3600" b="1" dirty="0" smtClean="0">
                <a:solidFill>
                  <a:srgbClr val="7030A0"/>
                </a:solidFill>
              </a:rPr>
              <a:t>Işık kaynağı</a:t>
            </a:r>
          </a:p>
          <a:p>
            <a:pPr marL="342900" lvl="1" indent="-342900">
              <a:buFont typeface="Arial" pitchFamily="34" charset="0"/>
              <a:buChar char="•"/>
            </a:pPr>
            <a:r>
              <a:rPr lang="tr-TR" sz="3600" b="1" dirty="0" err="1" smtClean="0">
                <a:solidFill>
                  <a:srgbClr val="7030A0"/>
                </a:solidFill>
              </a:rPr>
              <a:t>Kondansör</a:t>
            </a:r>
            <a:r>
              <a:rPr lang="tr-TR" sz="3600" b="1" dirty="0" smtClean="0">
                <a:solidFill>
                  <a:srgbClr val="7030A0"/>
                </a:solidFill>
              </a:rPr>
              <a:t> </a:t>
            </a:r>
          </a:p>
          <a:p>
            <a:pPr marL="342900" lvl="1" indent="-342900">
              <a:buFont typeface="Arial" pitchFamily="34" charset="0"/>
              <a:buChar char="•"/>
            </a:pPr>
            <a:r>
              <a:rPr lang="tr-TR" sz="3600" b="1" dirty="0" smtClean="0">
                <a:solidFill>
                  <a:srgbClr val="7030A0"/>
                </a:solidFill>
              </a:rPr>
              <a:t>Diyafram</a:t>
            </a:r>
          </a:p>
          <a:p>
            <a:pPr marL="342900" lvl="1" indent="-342900">
              <a:buFont typeface="Arial" pitchFamily="34" charset="0"/>
              <a:buChar char="•"/>
            </a:pPr>
            <a:r>
              <a:rPr lang="tr-TR" sz="3600" b="1" dirty="0" smtClean="0">
                <a:solidFill>
                  <a:srgbClr val="7030A0"/>
                </a:solidFill>
              </a:rPr>
              <a:t>Objektifler</a:t>
            </a:r>
          </a:p>
          <a:p>
            <a:pPr marL="342900" lvl="1" indent="-342900">
              <a:buFont typeface="Arial" pitchFamily="34" charset="0"/>
              <a:buChar char="•"/>
            </a:pPr>
            <a:r>
              <a:rPr lang="tr-TR" sz="3600" b="1" dirty="0" smtClean="0">
                <a:solidFill>
                  <a:srgbClr val="7030A0"/>
                </a:solidFill>
              </a:rPr>
              <a:t>Oküler</a:t>
            </a:r>
          </a:p>
          <a:p>
            <a:pPr marL="342900" lvl="1" indent="-342900">
              <a:buFont typeface="Arial" pitchFamily="34" charset="0"/>
              <a:buChar char="•"/>
            </a:pPr>
            <a:r>
              <a:rPr lang="tr-TR" sz="3600" b="1" dirty="0" smtClean="0">
                <a:solidFill>
                  <a:srgbClr val="7030A0"/>
                </a:solidFill>
              </a:rPr>
              <a:t>Revolver</a:t>
            </a:r>
          </a:p>
          <a:p>
            <a:pPr marL="342900" lvl="1" indent="-342900">
              <a:buNone/>
            </a:pPr>
            <a:endParaRPr lang="tr-TR" sz="3600" b="1" dirty="0" smtClean="0">
              <a:solidFill>
                <a:srgbClr val="7030A0"/>
              </a:solidFill>
            </a:endParaRPr>
          </a:p>
          <a:p>
            <a:pPr marL="342900" lvl="1" indent="-342900">
              <a:buFont typeface="Arial" pitchFamily="34" charset="0"/>
              <a:buChar char="•"/>
            </a:pPr>
            <a:endParaRPr lang="tr-TR" sz="3600" b="1" dirty="0" smtClean="0">
              <a:solidFill>
                <a:srgbClr val="7030A0"/>
              </a:solidFill>
            </a:endParaRPr>
          </a:p>
          <a:p>
            <a:endParaRPr lang="tr-TR" sz="3600" dirty="0">
              <a:solidFill>
                <a:srgbClr val="7030A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noChangeArrowheads="1"/>
          </p:cNvPicPr>
          <p:nvPr/>
        </p:nvPicPr>
        <p:blipFill>
          <a:blip r:embed="rId3" cstate="print"/>
          <a:srcRect/>
          <a:stretch>
            <a:fillRect/>
          </a:stretch>
        </p:blipFill>
        <p:spPr bwMode="auto">
          <a:xfrm>
            <a:off x="212725" y="176213"/>
            <a:ext cx="8718550" cy="6513512"/>
          </a:xfrm>
          <a:prstGeom prst="rect">
            <a:avLst/>
          </a:prstGeom>
          <a:noFill/>
          <a:ln w="9525">
            <a:noFill/>
            <a:miter lim="800000"/>
            <a:headEnd/>
            <a:tailEnd/>
          </a:ln>
          <a:effectLst/>
        </p:spPr>
      </p:pic>
    </p:spTree>
  </p:cSld>
  <p:clrMapOvr>
    <a:masterClrMapping/>
  </p:clrMapOvr>
  <p:transition spd="med">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395288" y="404665"/>
            <a:ext cx="2663825" cy="1728192"/>
          </a:xfrm>
          <a:solidFill>
            <a:schemeClr val="bg1"/>
          </a:solidFill>
        </p:spPr>
        <p:txBody>
          <a:bodyPr>
            <a:normAutofit/>
          </a:bodyPr>
          <a:lstStyle/>
          <a:p>
            <a:pPr eaLnBrk="1" hangingPunct="1">
              <a:defRPr/>
            </a:pPr>
            <a:r>
              <a:rPr lang="tr-TR" b="1" dirty="0" smtClean="0">
                <a:solidFill>
                  <a:srgbClr val="FF0000"/>
                </a:solidFill>
              </a:rPr>
              <a:t>IŞIK </a:t>
            </a:r>
            <a:br>
              <a:rPr lang="tr-TR" b="1" dirty="0" smtClean="0">
                <a:solidFill>
                  <a:srgbClr val="FF0000"/>
                </a:solidFill>
              </a:rPr>
            </a:br>
            <a:r>
              <a:rPr lang="tr-TR" b="1" dirty="0" smtClean="0">
                <a:solidFill>
                  <a:srgbClr val="FF0000"/>
                </a:solidFill>
              </a:rPr>
              <a:t>KAYNAĞI</a:t>
            </a:r>
          </a:p>
        </p:txBody>
      </p:sp>
      <p:sp>
        <p:nvSpPr>
          <p:cNvPr id="381955" name="Rectangle 3"/>
          <p:cNvSpPr>
            <a:spLocks noGrp="1" noChangeArrowheads="1"/>
          </p:cNvSpPr>
          <p:nvPr>
            <p:ph type="body" sz="half" idx="1"/>
          </p:nvPr>
        </p:nvSpPr>
        <p:spPr>
          <a:xfrm>
            <a:off x="323850" y="2060575"/>
            <a:ext cx="4037013" cy="4495800"/>
          </a:xfrm>
        </p:spPr>
        <p:txBody>
          <a:bodyPr>
            <a:normAutofit/>
          </a:bodyPr>
          <a:lstStyle/>
          <a:p>
            <a:pPr eaLnBrk="1" hangingPunct="1">
              <a:defRPr/>
            </a:pPr>
            <a:endParaRPr lang="tr-TR" sz="2800" dirty="0" smtClean="0"/>
          </a:p>
          <a:p>
            <a:pPr eaLnBrk="1" hangingPunct="1">
              <a:defRPr/>
            </a:pPr>
            <a:r>
              <a:rPr lang="tr-TR" sz="2800" b="1" dirty="0" smtClean="0"/>
              <a:t>Gün ışığı</a:t>
            </a:r>
          </a:p>
          <a:p>
            <a:pPr lvl="1" eaLnBrk="1" hangingPunct="1">
              <a:defRPr/>
            </a:pPr>
            <a:r>
              <a:rPr lang="tr-TR" sz="2400" b="1" dirty="0" smtClean="0"/>
              <a:t>Aynalı</a:t>
            </a:r>
          </a:p>
          <a:p>
            <a:pPr lvl="1" eaLnBrk="1" hangingPunct="1">
              <a:buFontTx/>
              <a:buNone/>
              <a:defRPr/>
            </a:pPr>
            <a:endParaRPr lang="tr-TR" sz="2400" b="1" dirty="0" smtClean="0"/>
          </a:p>
          <a:p>
            <a:pPr eaLnBrk="1" hangingPunct="1">
              <a:defRPr/>
            </a:pPr>
            <a:r>
              <a:rPr lang="tr-TR" sz="2800" b="1" dirty="0" smtClean="0"/>
              <a:t>Dü</a:t>
            </a:r>
            <a:r>
              <a:rPr lang="tr-TR" sz="2800" b="1" dirty="0" smtClean="0">
                <a:latin typeface="Lucida Grande" pitchFamily="80" charset="0"/>
              </a:rPr>
              <a:t>ş</a:t>
            </a:r>
            <a:r>
              <a:rPr lang="tr-TR" sz="2800" b="1" dirty="0" smtClean="0"/>
              <a:t>ük voltajlı elektrik lambaları (halojen)</a:t>
            </a:r>
          </a:p>
          <a:p>
            <a:pPr lvl="1" eaLnBrk="1" hangingPunct="1">
              <a:defRPr/>
            </a:pPr>
            <a:r>
              <a:rPr lang="tr-TR" sz="2400" b="1" dirty="0" smtClean="0"/>
              <a:t>Direkt / </a:t>
            </a:r>
            <a:r>
              <a:rPr lang="tr-TR" sz="2400" b="1" dirty="0" err="1" smtClean="0"/>
              <a:t>İndirekt</a:t>
            </a:r>
            <a:endParaRPr lang="tr-TR" sz="2400" b="1" dirty="0" smtClean="0"/>
          </a:p>
          <a:p>
            <a:pPr lvl="1" eaLnBrk="1" hangingPunct="1">
              <a:defRPr/>
            </a:pPr>
            <a:r>
              <a:rPr lang="tr-TR" sz="2400" b="1" dirty="0" smtClean="0"/>
              <a:t>Kritik / </a:t>
            </a:r>
            <a:r>
              <a:rPr lang="tr-TR" sz="2400" b="1" dirty="0" err="1" smtClean="0"/>
              <a:t>Köhler</a:t>
            </a:r>
            <a:r>
              <a:rPr lang="tr-TR" sz="2400" b="1" dirty="0" smtClean="0"/>
              <a:t> aydınlatmalı</a:t>
            </a:r>
          </a:p>
          <a:p>
            <a:pPr eaLnBrk="1" hangingPunct="1">
              <a:defRPr/>
            </a:pPr>
            <a:endParaRPr lang="tr-TR" sz="2800" dirty="0" smtClean="0"/>
          </a:p>
        </p:txBody>
      </p:sp>
      <p:pic>
        <p:nvPicPr>
          <p:cNvPr id="38916" name="Picture 4" descr="aynali"/>
          <p:cNvPicPr>
            <a:picLocks noGrp="1" noChangeAspect="1" noChangeArrowheads="1"/>
          </p:cNvPicPr>
          <p:nvPr>
            <p:ph sz="quarter" idx="2"/>
          </p:nvPr>
        </p:nvPicPr>
        <p:blipFill>
          <a:blip r:embed="rId3" cstate="print"/>
          <a:srcRect/>
          <a:stretch>
            <a:fillRect/>
          </a:stretch>
        </p:blipFill>
        <p:spPr>
          <a:xfrm>
            <a:off x="3348038" y="836613"/>
            <a:ext cx="1635125" cy="2814637"/>
          </a:xfrm>
          <a:noFill/>
        </p:spPr>
      </p:pic>
      <p:pic>
        <p:nvPicPr>
          <p:cNvPr id="38917" name="Picture 5" descr="isikli"/>
          <p:cNvPicPr>
            <a:picLocks noGrp="1" noChangeAspect="1" noChangeArrowheads="1"/>
          </p:cNvPicPr>
          <p:nvPr>
            <p:ph sz="quarter" idx="3"/>
          </p:nvPr>
        </p:nvPicPr>
        <p:blipFill>
          <a:blip r:embed="rId4" cstate="print"/>
          <a:srcRect/>
          <a:stretch>
            <a:fillRect/>
          </a:stretch>
        </p:blipFill>
        <p:spPr>
          <a:xfrm>
            <a:off x="4427538" y="3817938"/>
            <a:ext cx="1724025" cy="2924175"/>
          </a:xfrm>
          <a:noFill/>
        </p:spPr>
      </p:pic>
      <p:pic>
        <p:nvPicPr>
          <p:cNvPr id="38918" name="Picture 8"/>
          <p:cNvPicPr>
            <a:picLocks noChangeAspect="1" noChangeArrowheads="1"/>
          </p:cNvPicPr>
          <p:nvPr/>
        </p:nvPicPr>
        <p:blipFill>
          <a:blip r:embed="rId5" cstate="print"/>
          <a:srcRect l="52477" t="34462" r="1274" b="4729"/>
          <a:stretch>
            <a:fillRect/>
          </a:stretch>
        </p:blipFill>
        <p:spPr bwMode="auto">
          <a:xfrm>
            <a:off x="6156326" y="4005064"/>
            <a:ext cx="2785897" cy="2737048"/>
          </a:xfrm>
          <a:prstGeom prst="rect">
            <a:avLst/>
          </a:prstGeom>
          <a:noFill/>
          <a:ln w="9525">
            <a:noFill/>
            <a:miter lim="800000"/>
            <a:headEnd/>
            <a:tailEnd/>
          </a:ln>
          <a:effectLst/>
        </p:spPr>
      </p:pic>
      <p:pic>
        <p:nvPicPr>
          <p:cNvPr id="38919" name="Picture 10" descr="tungstenlampsfigure6"/>
          <p:cNvPicPr>
            <a:picLocks noChangeAspect="1" noChangeArrowheads="1"/>
          </p:cNvPicPr>
          <p:nvPr/>
        </p:nvPicPr>
        <p:blipFill>
          <a:blip r:embed="rId6" cstate="print"/>
          <a:srcRect/>
          <a:stretch>
            <a:fillRect/>
          </a:stretch>
        </p:blipFill>
        <p:spPr bwMode="auto">
          <a:xfrm>
            <a:off x="5133975" y="620688"/>
            <a:ext cx="3830513" cy="3073425"/>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Başlık"/>
          <p:cNvSpPr>
            <a:spLocks noGrp="1"/>
          </p:cNvSpPr>
          <p:nvPr>
            <p:ph type="title"/>
          </p:nvPr>
        </p:nvSpPr>
        <p:spPr/>
        <p:txBody>
          <a:bodyPr/>
          <a:lstStyle/>
          <a:p>
            <a:r>
              <a:rPr lang="tr-TR" b="1" dirty="0" smtClean="0">
                <a:solidFill>
                  <a:srgbClr val="FF0000"/>
                </a:solidFill>
              </a:rPr>
              <a:t>AYDINLATMA ÇEŞİTLERİ</a:t>
            </a:r>
            <a:endParaRPr lang="tr-TR" b="1" dirty="0">
              <a:solidFill>
                <a:srgbClr val="FF0000"/>
              </a:solidFill>
            </a:endParaRPr>
          </a:p>
        </p:txBody>
      </p:sp>
      <p:sp>
        <p:nvSpPr>
          <p:cNvPr id="7" name="6 İçerik Yer Tutucusu"/>
          <p:cNvSpPr>
            <a:spLocks noGrp="1"/>
          </p:cNvSpPr>
          <p:nvPr>
            <p:ph idx="1"/>
          </p:nvPr>
        </p:nvSpPr>
        <p:spPr/>
        <p:txBody>
          <a:bodyPr/>
          <a:lstStyle/>
          <a:p>
            <a:r>
              <a:rPr lang="tr-TR" b="1" dirty="0" smtClean="0"/>
              <a:t>Halojen lamba (</a:t>
            </a:r>
            <a:r>
              <a:rPr lang="tr-TR" b="1" dirty="0" err="1" smtClean="0"/>
              <a:t>quartz</a:t>
            </a:r>
            <a:r>
              <a:rPr lang="tr-TR" b="1" dirty="0" smtClean="0"/>
              <a:t> ışığı), ışık yoğunluğu fazladır ve renk sıcaklığı fazladır, dolayısıyla, halojen lamba beyaz ışık verir</a:t>
            </a:r>
          </a:p>
          <a:p>
            <a:r>
              <a:rPr lang="tr-TR" b="1" dirty="0" smtClean="0">
                <a:solidFill>
                  <a:srgbClr val="FF0000"/>
                </a:solidFill>
              </a:rPr>
              <a:t>Halojen lambalar mikroskoplarda sıklıkla kullanılır ve en iyi aydınlatma kaynaklarından biridir</a:t>
            </a:r>
          </a:p>
          <a:p>
            <a:r>
              <a:rPr lang="tr-TR" b="1" dirty="0" smtClean="0"/>
              <a:t>Tungsten lamba (akkor ışık), renk sıcaklığı düşüktür ve ışık sarımtırak renktedir</a:t>
            </a:r>
            <a:endParaRPr lang="tr-TR"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Başlık"/>
          <p:cNvSpPr>
            <a:spLocks noGrp="1"/>
          </p:cNvSpPr>
          <p:nvPr>
            <p:ph type="title"/>
          </p:nvPr>
        </p:nvSpPr>
        <p:spPr/>
        <p:txBody>
          <a:bodyPr>
            <a:noAutofit/>
          </a:bodyPr>
          <a:lstStyle/>
          <a:p>
            <a:r>
              <a:rPr lang="tr-TR" b="1" dirty="0" smtClean="0">
                <a:solidFill>
                  <a:srgbClr val="FF0000"/>
                </a:solidFill>
              </a:rPr>
              <a:t>IŞIK KAYNAĞI</a:t>
            </a:r>
            <a:endParaRPr lang="tr-TR" dirty="0"/>
          </a:p>
        </p:txBody>
      </p:sp>
      <p:sp>
        <p:nvSpPr>
          <p:cNvPr id="7" name="6 İçerik Yer Tutucusu"/>
          <p:cNvSpPr>
            <a:spLocks noGrp="1"/>
          </p:cNvSpPr>
          <p:nvPr>
            <p:ph idx="1"/>
          </p:nvPr>
        </p:nvSpPr>
        <p:spPr/>
        <p:txBody>
          <a:bodyPr/>
          <a:lstStyle/>
          <a:p>
            <a:r>
              <a:rPr lang="tr-TR" b="1" dirty="0" smtClean="0"/>
              <a:t>İncelenecek nesneyi aydınlatmak için ayna ya da lamba kullanılmaktadır</a:t>
            </a:r>
          </a:p>
          <a:p>
            <a:r>
              <a:rPr lang="tr-TR" b="1" dirty="0" smtClean="0">
                <a:solidFill>
                  <a:srgbClr val="FF0000"/>
                </a:solidFill>
              </a:rPr>
              <a:t>Günümüzde kullanılan mikroskoplara ışık kaynağı (lamba) ve ışığı incelenecek cisim üzerinde toplayan </a:t>
            </a:r>
            <a:r>
              <a:rPr lang="tr-TR" b="1" dirty="0" err="1" smtClean="0">
                <a:solidFill>
                  <a:srgbClr val="FF0000"/>
                </a:solidFill>
              </a:rPr>
              <a:t>kondansör</a:t>
            </a:r>
            <a:r>
              <a:rPr lang="tr-TR" b="1" dirty="0" smtClean="0">
                <a:solidFill>
                  <a:srgbClr val="FF0000"/>
                </a:solidFill>
              </a:rPr>
              <a:t> eklenmiştir</a:t>
            </a:r>
          </a:p>
          <a:p>
            <a:r>
              <a:rPr lang="tr-TR" b="1" dirty="0" err="1" smtClean="0"/>
              <a:t>Kondansör</a:t>
            </a:r>
            <a:r>
              <a:rPr lang="tr-TR" b="1" dirty="0" smtClean="0"/>
              <a:t>;  bir mercek ve diyafram' dan oluşur</a:t>
            </a:r>
            <a:endParaRPr lang="tr-TR"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4"/>
          <p:cNvPicPr>
            <a:picLocks noChangeAspect="1" noChangeArrowheads="1"/>
          </p:cNvPicPr>
          <p:nvPr/>
        </p:nvPicPr>
        <p:blipFill>
          <a:blip r:embed="rId3" cstate="print"/>
          <a:srcRect/>
          <a:stretch>
            <a:fillRect/>
          </a:stretch>
        </p:blipFill>
        <p:spPr bwMode="auto">
          <a:xfrm>
            <a:off x="212725" y="176213"/>
            <a:ext cx="8718550" cy="6513512"/>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KONDANSÖR GÖREVİ</a:t>
            </a:r>
            <a:endParaRPr lang="tr-TR" b="1"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t>Mercek sistemidir, ışık kaynağından veya aynadan gelen ışınları örnek üzerinde toplar, örneğin aydınlatılmasını sağlar</a:t>
            </a:r>
          </a:p>
          <a:p>
            <a:pPr marL="342900" lvl="1" indent="-342900">
              <a:buFont typeface="Arial" pitchFamily="34" charset="0"/>
              <a:buChar char="•"/>
            </a:pPr>
            <a:r>
              <a:rPr lang="tr-TR" sz="3200" b="1" dirty="0" smtClean="0"/>
              <a:t>Işığı obje üzerinde odaklar ve yoğunlaştırır</a:t>
            </a:r>
          </a:p>
          <a:p>
            <a:r>
              <a:rPr lang="tr-TR" b="1" dirty="0" err="1" smtClean="0"/>
              <a:t>Kondansör</a:t>
            </a:r>
            <a:r>
              <a:rPr lang="tr-TR" b="1" dirty="0" smtClean="0"/>
              <a:t>, çözünürlüğü, kontrastı, odak derinliğini ve aydınlığı etkiler</a:t>
            </a:r>
          </a:p>
          <a:p>
            <a:pPr marL="342900" lvl="1" indent="-342900">
              <a:buFont typeface="Arial" pitchFamily="34" charset="0"/>
              <a:buChar char="•"/>
            </a:pPr>
            <a:r>
              <a:rPr lang="tr-TR" sz="3200" b="1" dirty="0" smtClean="0"/>
              <a:t>Sıcak lambayı optik bölümlerden ve kullanıcıdan uzak tutar</a:t>
            </a:r>
          </a:p>
          <a:p>
            <a:pPr>
              <a:buNone/>
            </a:pPr>
            <a:endParaRPr lang="tr-TR"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descr="finished2"/>
          <p:cNvPicPr>
            <a:picLocks noGrp="1" noChangeAspect="1" noChangeArrowheads="1"/>
          </p:cNvPicPr>
          <p:nvPr>
            <p:ph idx="4294967295"/>
          </p:nvPr>
        </p:nvPicPr>
        <p:blipFill>
          <a:blip r:embed="rId2" cstate="print"/>
          <a:srcRect/>
          <a:stretch>
            <a:fillRect/>
          </a:stretch>
        </p:blipFill>
        <p:spPr bwMode="auto">
          <a:xfrm>
            <a:off x="971600" y="1628800"/>
            <a:ext cx="4968875" cy="4525962"/>
          </a:xfrm>
          <a:prstGeom prst="rect">
            <a:avLst/>
          </a:prstGeom>
          <a:noFill/>
          <a:ln w="9525">
            <a:noFill/>
            <a:miter lim="800000"/>
            <a:headEnd/>
            <a:tailEnd/>
          </a:ln>
        </p:spPr>
      </p:pic>
      <p:sp>
        <p:nvSpPr>
          <p:cNvPr id="2" name="1 Başlık"/>
          <p:cNvSpPr>
            <a:spLocks noGrp="1"/>
          </p:cNvSpPr>
          <p:nvPr>
            <p:ph type="title" idx="4294967295"/>
          </p:nvPr>
        </p:nvSpPr>
        <p:spPr>
          <a:xfrm>
            <a:off x="467544" y="274638"/>
            <a:ext cx="4942656" cy="1143000"/>
          </a:xfrm>
        </p:spPr>
        <p:txBody>
          <a:bodyPr/>
          <a:lstStyle/>
          <a:p>
            <a:r>
              <a:rPr lang="tr-TR" b="1" dirty="0" smtClean="0">
                <a:solidFill>
                  <a:srgbClr val="FF0000"/>
                </a:solidFill>
              </a:rPr>
              <a:t>KONDANSÖR</a:t>
            </a:r>
            <a:endParaRPr lang="tr-TR" b="1" dirty="0">
              <a:solidFill>
                <a:srgbClr val="FF0000"/>
              </a:solidFill>
            </a:endParaRPr>
          </a:p>
        </p:txBody>
      </p:sp>
      <p:pic>
        <p:nvPicPr>
          <p:cNvPr id="5" name="Picture 4" descr="abbecondenser"/>
          <p:cNvPicPr>
            <a:picLocks noChangeAspect="1" noChangeArrowheads="1"/>
          </p:cNvPicPr>
          <p:nvPr/>
        </p:nvPicPr>
        <p:blipFill>
          <a:blip r:embed="rId3" cstate="print"/>
          <a:srcRect/>
          <a:stretch>
            <a:fillRect/>
          </a:stretch>
        </p:blipFill>
        <p:spPr>
          <a:xfrm>
            <a:off x="6156176" y="260648"/>
            <a:ext cx="2717716" cy="3710136"/>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DİYAFRAM GÖREVİ </a:t>
            </a:r>
            <a:endParaRPr lang="tr-TR" dirty="0">
              <a:solidFill>
                <a:srgbClr val="FF0000"/>
              </a:solidFill>
            </a:endParaRPr>
          </a:p>
        </p:txBody>
      </p:sp>
      <p:sp>
        <p:nvSpPr>
          <p:cNvPr id="3" name="2 İçerik Yer Tutucusu"/>
          <p:cNvSpPr>
            <a:spLocks noGrp="1"/>
          </p:cNvSpPr>
          <p:nvPr>
            <p:ph idx="1"/>
          </p:nvPr>
        </p:nvSpPr>
        <p:spPr/>
        <p:txBody>
          <a:bodyPr/>
          <a:lstStyle/>
          <a:p>
            <a:r>
              <a:rPr lang="tr-TR" b="1" dirty="0" smtClean="0"/>
              <a:t>Işık kaynağından gelen ışık demetinin çapını kontrol etmek için kullanılır</a:t>
            </a:r>
          </a:p>
          <a:p>
            <a:r>
              <a:rPr lang="tr-TR" b="1" dirty="0" smtClean="0"/>
              <a:t>Işık kaynağının üstünde ve </a:t>
            </a:r>
            <a:r>
              <a:rPr lang="tr-TR" b="1" dirty="0" err="1" smtClean="0"/>
              <a:t>kondansörün</a:t>
            </a:r>
            <a:r>
              <a:rPr lang="tr-TR" b="1" dirty="0" smtClean="0"/>
              <a:t> altında yerleşiktir</a:t>
            </a:r>
          </a:p>
          <a:p>
            <a:r>
              <a:rPr lang="tr-TR" b="1" dirty="0" smtClean="0"/>
              <a:t>Işığın şiddetini azaltmak için değil, en iyi kontrast ve </a:t>
            </a:r>
            <a:r>
              <a:rPr lang="tr-TR" b="1" dirty="0" err="1" smtClean="0"/>
              <a:t>rezolüsyon</a:t>
            </a:r>
            <a:r>
              <a:rPr lang="tr-TR" b="1" dirty="0" smtClean="0"/>
              <a:t> elde edilecek ışık çapını ayarlamak için kullanılır</a:t>
            </a:r>
          </a:p>
          <a:p>
            <a:pPr>
              <a:buNone/>
            </a:pPr>
            <a:endParaRPr lang="tr-T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C:\Users\tijen\Desktop\indir.jpeg"/>
          <p:cNvPicPr>
            <a:picLocks noGrp="1" noChangeAspect="1" noChangeArrowheads="1"/>
          </p:cNvPicPr>
          <p:nvPr>
            <p:ph idx="4294967295"/>
          </p:nvPr>
        </p:nvPicPr>
        <p:blipFill>
          <a:blip r:embed="rId2" cstate="print"/>
          <a:srcRect/>
          <a:stretch>
            <a:fillRect/>
          </a:stretch>
        </p:blipFill>
        <p:spPr bwMode="auto">
          <a:xfrm>
            <a:off x="2555776" y="332656"/>
            <a:ext cx="6120680" cy="1727200"/>
          </a:xfrm>
          <a:prstGeom prst="rect">
            <a:avLst/>
          </a:prstGeom>
          <a:noFill/>
        </p:spPr>
      </p:pic>
      <p:pic>
        <p:nvPicPr>
          <p:cNvPr id="130051" name="Picture 3" descr="C:\Users\tijen\Desktop\51WU7ws6IWL._AC_UF1000,1000_QL80_.jpg"/>
          <p:cNvPicPr>
            <a:picLocks noChangeAspect="1" noChangeArrowheads="1"/>
          </p:cNvPicPr>
          <p:nvPr/>
        </p:nvPicPr>
        <p:blipFill>
          <a:blip r:embed="rId3" cstate="print"/>
          <a:srcRect/>
          <a:stretch>
            <a:fillRect/>
          </a:stretch>
        </p:blipFill>
        <p:spPr bwMode="auto">
          <a:xfrm>
            <a:off x="4499992" y="2276872"/>
            <a:ext cx="4464496" cy="4030018"/>
          </a:xfrm>
          <a:prstGeom prst="rect">
            <a:avLst/>
          </a:prstGeom>
          <a:noFill/>
        </p:spPr>
      </p:pic>
      <p:pic>
        <p:nvPicPr>
          <p:cNvPr id="130052" name="Picture 4" descr="C:\Users\tijen\Desktop\51AtXN6pvhL._AC_UF1000,1000_QL80_.jpg"/>
          <p:cNvPicPr>
            <a:picLocks noChangeAspect="1" noChangeArrowheads="1"/>
          </p:cNvPicPr>
          <p:nvPr/>
        </p:nvPicPr>
        <p:blipFill>
          <a:blip r:embed="rId4" cstate="print"/>
          <a:srcRect/>
          <a:stretch>
            <a:fillRect/>
          </a:stretch>
        </p:blipFill>
        <p:spPr bwMode="auto">
          <a:xfrm>
            <a:off x="467544" y="2708920"/>
            <a:ext cx="3906045" cy="3284984"/>
          </a:xfrm>
          <a:prstGeom prst="rect">
            <a:avLst/>
          </a:prstGeom>
          <a:noFill/>
        </p:spPr>
      </p:pic>
      <p:sp>
        <p:nvSpPr>
          <p:cNvPr id="7" name="6 Dikdörtgen"/>
          <p:cNvSpPr/>
          <p:nvPr/>
        </p:nvSpPr>
        <p:spPr>
          <a:xfrm>
            <a:off x="467544" y="476672"/>
            <a:ext cx="1872208" cy="523220"/>
          </a:xfrm>
          <a:prstGeom prst="rect">
            <a:avLst/>
          </a:prstGeom>
        </p:spPr>
        <p:txBody>
          <a:bodyPr wrap="square">
            <a:spAutoFit/>
          </a:bodyPr>
          <a:lstStyle/>
          <a:p>
            <a:r>
              <a:rPr lang="tr-TR" sz="2800" b="1" dirty="0" smtClean="0">
                <a:solidFill>
                  <a:srgbClr val="FF0000"/>
                </a:solidFill>
              </a:rPr>
              <a:t>DİYAFRAM</a:t>
            </a:r>
            <a:endParaRPr lang="tr-TR"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5724129" y="274638"/>
            <a:ext cx="3096343" cy="1143000"/>
          </a:xfrm>
        </p:spPr>
        <p:txBody>
          <a:bodyPr/>
          <a:lstStyle/>
          <a:p>
            <a:r>
              <a:rPr lang="tr-TR" b="1" dirty="0" smtClean="0">
                <a:solidFill>
                  <a:srgbClr val="FF0000"/>
                </a:solidFill>
              </a:rPr>
              <a:t>DİYAFRAM</a:t>
            </a:r>
            <a:endParaRPr lang="tr-TR" b="1" dirty="0">
              <a:solidFill>
                <a:srgbClr val="FF0000"/>
              </a:solidFill>
            </a:endParaRPr>
          </a:p>
        </p:txBody>
      </p:sp>
      <p:pic>
        <p:nvPicPr>
          <p:cNvPr id="4" name="Picture 5" descr="iris_diaphragm_PA083545"/>
          <p:cNvPicPr>
            <a:picLocks noGrp="1" noChangeAspect="1" noChangeArrowheads="1"/>
          </p:cNvPicPr>
          <p:nvPr>
            <p:ph idx="4294967295"/>
          </p:nvPr>
        </p:nvPicPr>
        <p:blipFill>
          <a:blip r:embed="rId2" cstate="print"/>
          <a:srcRect/>
          <a:stretch>
            <a:fillRect/>
          </a:stretch>
        </p:blipFill>
        <p:spPr bwMode="auto">
          <a:xfrm>
            <a:off x="323528" y="260648"/>
            <a:ext cx="5129213" cy="3775075"/>
          </a:xfrm>
          <a:prstGeom prst="rect">
            <a:avLst/>
          </a:prstGeom>
          <a:noFill/>
          <a:ln w="9525">
            <a:noFill/>
            <a:miter lim="800000"/>
            <a:headEnd/>
            <a:tailEnd/>
          </a:ln>
        </p:spPr>
      </p:pic>
      <p:pic>
        <p:nvPicPr>
          <p:cNvPr id="5" name="Picture 6" descr="condenser5"/>
          <p:cNvPicPr>
            <a:picLocks noChangeAspect="1" noChangeArrowheads="1"/>
          </p:cNvPicPr>
          <p:nvPr/>
        </p:nvPicPr>
        <p:blipFill>
          <a:blip r:embed="rId3" cstate="print"/>
          <a:srcRect/>
          <a:stretch>
            <a:fillRect/>
          </a:stretch>
        </p:blipFill>
        <p:spPr bwMode="auto">
          <a:xfrm>
            <a:off x="5539917" y="2924944"/>
            <a:ext cx="3604083" cy="3611066"/>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4"/>
          <p:cNvPicPr>
            <a:picLocks noChangeAspect="1" noChangeArrowheads="1"/>
          </p:cNvPicPr>
          <p:nvPr/>
        </p:nvPicPr>
        <p:blipFill>
          <a:blip r:embed="rId3" cstate="print"/>
          <a:srcRect/>
          <a:stretch>
            <a:fillRect/>
          </a:stretch>
        </p:blipFill>
        <p:spPr bwMode="auto">
          <a:xfrm>
            <a:off x="212725" y="176213"/>
            <a:ext cx="8718550" cy="6513512"/>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sz="4900" b="1" dirty="0" smtClean="0">
                <a:solidFill>
                  <a:srgbClr val="FF0000"/>
                </a:solidFill>
              </a:rPr>
              <a:t>OBJEKTİFLER</a:t>
            </a:r>
            <a:r>
              <a:rPr lang="tr-TR" b="1" dirty="0" smtClean="0"/>
              <a:t/>
            </a:r>
            <a:br>
              <a:rPr lang="tr-TR" b="1" dirty="0" smtClean="0"/>
            </a:br>
            <a:endParaRPr lang="tr-TR" dirty="0"/>
          </a:p>
        </p:txBody>
      </p:sp>
      <p:sp>
        <p:nvSpPr>
          <p:cNvPr id="3" name="2 İçerik Yer Tutucusu"/>
          <p:cNvSpPr>
            <a:spLocks noGrp="1"/>
          </p:cNvSpPr>
          <p:nvPr>
            <p:ph idx="1"/>
          </p:nvPr>
        </p:nvSpPr>
        <p:spPr/>
        <p:txBody>
          <a:bodyPr>
            <a:normAutofit fontScale="77500" lnSpcReduction="20000"/>
          </a:bodyPr>
          <a:lstStyle/>
          <a:p>
            <a:r>
              <a:rPr lang="tr-TR" b="1" dirty="0" smtClean="0"/>
              <a:t>Çeşitli büyütme kapasitelerine sahip olan objektifler birçok mercekten meydana gelmiş olup kapalı bir madeni sistem içinde bulunurlar</a:t>
            </a:r>
          </a:p>
          <a:p>
            <a:r>
              <a:rPr lang="tr-TR" b="1" dirty="0" smtClean="0"/>
              <a:t>Optik kısmın incelenmek istenen preparata en yakın bölümünü oluştururlar</a:t>
            </a:r>
          </a:p>
          <a:p>
            <a:pPr>
              <a:buNone/>
            </a:pPr>
            <a:endParaRPr lang="tr-TR" b="1" dirty="0" smtClean="0"/>
          </a:p>
          <a:p>
            <a:r>
              <a:rPr lang="tr-TR" b="1" dirty="0" smtClean="0"/>
              <a:t>1- İncelenmek istenen preparatın herhangi bir yerinden gelen ışınları birleştirmek</a:t>
            </a:r>
          </a:p>
          <a:p>
            <a:r>
              <a:rPr lang="tr-TR" b="1" dirty="0" smtClean="0"/>
              <a:t>2- Bu ışınları odak noktasında toplamak</a:t>
            </a:r>
          </a:p>
          <a:p>
            <a:r>
              <a:rPr lang="tr-TR" b="1" dirty="0" smtClean="0"/>
              <a:t>3- Odak noktasında oluşan materyalin büyük görüntüsünü vermek</a:t>
            </a:r>
          </a:p>
          <a:p>
            <a:r>
              <a:rPr lang="tr-TR" b="1" dirty="0" smtClean="0"/>
              <a:t>Objektifler üzerindeki numaralar (10 X, 20 x, v.s....) </a:t>
            </a:r>
          </a:p>
          <a:p>
            <a:pPr>
              <a:buNone/>
            </a:pPr>
            <a:endParaRPr lang="tr-TR"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normAutofit/>
          </a:bodyPr>
          <a:lstStyle/>
          <a:p>
            <a:pPr eaLnBrk="1" hangingPunct="1">
              <a:defRPr/>
            </a:pPr>
            <a:r>
              <a:rPr lang="tr-TR" b="1" dirty="0" smtClean="0">
                <a:solidFill>
                  <a:srgbClr val="FF0000"/>
                </a:solidFill>
              </a:rPr>
              <a:t>OBJEKTİFLERİN GÖREVİ</a:t>
            </a:r>
          </a:p>
        </p:txBody>
      </p:sp>
      <p:pic>
        <p:nvPicPr>
          <p:cNvPr id="50179" name="Picture 3" descr="compound"/>
          <p:cNvPicPr>
            <a:picLocks noGrp="1" noChangeAspect="1" noChangeArrowheads="1"/>
          </p:cNvPicPr>
          <p:nvPr>
            <p:ph idx="1"/>
          </p:nvPr>
        </p:nvPicPr>
        <p:blipFill>
          <a:blip r:embed="rId3" cstate="print"/>
          <a:srcRect/>
          <a:stretch>
            <a:fillRect/>
          </a:stretch>
        </p:blipFill>
        <p:spPr>
          <a:xfrm>
            <a:off x="285720" y="1571612"/>
            <a:ext cx="2370138" cy="4267200"/>
          </a:xfrm>
          <a:noFill/>
        </p:spPr>
      </p:pic>
      <p:sp>
        <p:nvSpPr>
          <p:cNvPr id="389124" name="Text Box 4"/>
          <p:cNvSpPr txBox="1">
            <a:spLocks noChangeArrowheads="1"/>
          </p:cNvSpPr>
          <p:nvPr/>
        </p:nvSpPr>
        <p:spPr bwMode="auto">
          <a:xfrm>
            <a:off x="3571867" y="1785927"/>
            <a:ext cx="4929223" cy="4401205"/>
          </a:xfrm>
          <a:prstGeom prst="rect">
            <a:avLst/>
          </a:prstGeom>
          <a:solidFill>
            <a:schemeClr val="bg2"/>
          </a:solidFill>
          <a:ln>
            <a:noFill/>
          </a:ln>
          <a:effectLst/>
          <a:extLst>
            <a:ext uri="{91240B29-F687-4F45-9708-019B960494DF}"/>
            <a:ext uri="{AF507438-7753-43E0-B8FC-AC1667EBCBE1}"/>
          </a:extLst>
        </p:spPr>
        <p:txBody>
          <a:bodyPr wrap="square">
            <a:spAutoFit/>
          </a:bodyPr>
          <a:lstStyle/>
          <a:p>
            <a:pPr eaLnBrk="1" hangingPunct="1">
              <a:lnSpc>
                <a:spcPct val="125000"/>
              </a:lnSpc>
              <a:defRPr/>
            </a:pPr>
            <a:endParaRPr lang="tr-TR" sz="3200" u="none" dirty="0">
              <a:effectLst>
                <a:outerShdw blurRad="38100" dist="38100" dir="2700000" algn="tl">
                  <a:srgbClr val="FFFFFF"/>
                </a:outerShdw>
              </a:effectLst>
              <a:latin typeface="Verdana" pitchFamily="80" charset="0"/>
            </a:endParaRPr>
          </a:p>
          <a:p>
            <a:pPr algn="ctr" eaLnBrk="1" hangingPunct="1">
              <a:lnSpc>
                <a:spcPct val="125000"/>
              </a:lnSpc>
              <a:defRPr/>
            </a:pPr>
            <a:r>
              <a:rPr lang="tr-TR" sz="3200" b="1" u="none" dirty="0" smtClean="0">
                <a:effectLst>
                  <a:outerShdw blurRad="38100" dist="38100" dir="2700000" algn="tl">
                    <a:srgbClr val="FFFFFF"/>
                  </a:outerShdw>
                </a:effectLst>
              </a:rPr>
              <a:t>İncelenmek istenen preparattan gelen </a:t>
            </a:r>
            <a:r>
              <a:rPr lang="tr-TR" sz="3200" b="1" u="none" dirty="0">
                <a:effectLst>
                  <a:outerShdw blurRad="38100" dist="38100" dir="2700000" algn="tl">
                    <a:srgbClr val="FFFFFF"/>
                  </a:outerShdw>
                </a:effectLst>
              </a:rPr>
              <a:t>ışık </a:t>
            </a:r>
          </a:p>
          <a:p>
            <a:pPr algn="ctr" eaLnBrk="1" hangingPunct="1">
              <a:lnSpc>
                <a:spcPct val="125000"/>
              </a:lnSpc>
              <a:defRPr/>
            </a:pPr>
            <a:r>
              <a:rPr lang="tr-TR" sz="3200" b="1" u="none" dirty="0">
                <a:effectLst>
                  <a:outerShdw blurRad="38100" dist="38100" dir="2700000" algn="tl">
                    <a:srgbClr val="FFFFFF"/>
                  </a:outerShdw>
                </a:effectLst>
              </a:rPr>
              <a:t>demetlerini toplamak </a:t>
            </a:r>
            <a:r>
              <a:rPr lang="tr-TR" sz="3200" b="1" u="none" dirty="0" smtClean="0">
                <a:effectLst>
                  <a:outerShdw blurRad="38100" dist="38100" dir="2700000" algn="tl">
                    <a:srgbClr val="FFFFFF"/>
                  </a:outerShdw>
                </a:effectLst>
              </a:rPr>
              <a:t>ve</a:t>
            </a:r>
            <a:endParaRPr lang="tr-TR" sz="3200" b="1" u="none" dirty="0">
              <a:effectLst>
                <a:outerShdw blurRad="38100" dist="38100" dir="2700000" algn="tl">
                  <a:srgbClr val="FFFFFF"/>
                </a:outerShdw>
              </a:effectLst>
            </a:endParaRPr>
          </a:p>
          <a:p>
            <a:pPr algn="ctr" eaLnBrk="1" hangingPunct="1">
              <a:lnSpc>
                <a:spcPct val="125000"/>
              </a:lnSpc>
              <a:defRPr/>
            </a:pPr>
            <a:r>
              <a:rPr lang="tr-TR" sz="3200" b="1" u="none" dirty="0">
                <a:effectLst>
                  <a:outerShdw blurRad="38100" dist="38100" dir="2700000" algn="tl">
                    <a:srgbClr val="FFFFFF"/>
                  </a:outerShdw>
                </a:effectLst>
              </a:rPr>
              <a:t>büyümüş gerçek görüntü </a:t>
            </a:r>
            <a:r>
              <a:rPr lang="tr-TR" sz="3200" b="1" u="none" dirty="0" smtClean="0">
                <a:effectLst>
                  <a:outerShdw blurRad="38100" dist="38100" dir="2700000" algn="tl">
                    <a:srgbClr val="FFFFFF"/>
                  </a:outerShdw>
                </a:effectLst>
              </a:rPr>
              <a:t>oluşturmaktır</a:t>
            </a:r>
            <a:endParaRPr lang="tr-TR" sz="3200" b="1" u="none" dirty="0">
              <a:effectLst>
                <a:outerShdw blurRad="38100" dist="38100" dir="2700000" algn="tl">
                  <a:srgbClr val="FFFFFF"/>
                </a:outerShdw>
              </a:effectLst>
            </a:endParaRPr>
          </a:p>
          <a:p>
            <a:pPr algn="ctr" eaLnBrk="1" hangingPunct="1">
              <a:lnSpc>
                <a:spcPct val="125000"/>
              </a:lnSpc>
              <a:defRPr/>
            </a:pPr>
            <a:endParaRPr lang="tr-TR" sz="3200" b="1" u="none" dirty="0">
              <a:effectLst>
                <a:outerShdw blurRad="38100" dist="38100" dir="2700000" algn="tl">
                  <a:srgbClr val="FFFFFF"/>
                </a:outerShdw>
              </a:effectLst>
            </a:endParaRPr>
          </a:p>
        </p:txBody>
      </p:sp>
      <p:sp>
        <p:nvSpPr>
          <p:cNvPr id="389125" name="Rectangle 5"/>
          <p:cNvSpPr>
            <a:spLocks noChangeArrowheads="1"/>
          </p:cNvSpPr>
          <p:nvPr/>
        </p:nvSpPr>
        <p:spPr bwMode="auto">
          <a:xfrm>
            <a:off x="357158" y="1571612"/>
            <a:ext cx="2376488" cy="4392612"/>
          </a:xfrm>
          <a:prstGeom prst="rect">
            <a:avLst/>
          </a:prstGeom>
          <a:noFill/>
          <a:ln w="57150">
            <a:solidFill>
              <a:schemeClr val="accent2"/>
            </a:solidFill>
            <a:miter lim="800000"/>
            <a:headEnd/>
            <a:tailEnd/>
          </a:ln>
          <a:effectLst/>
          <a:extLst>
            <a:ext uri="{909E8E84-426E-40DD-AFC4-6F175D3DCCD1}"/>
            <a:ext uri="{AF507438-7753-43E0-B8FC-AC1667EBCBE1}"/>
          </a:extLst>
        </p:spPr>
        <p:txBody>
          <a:bodyPr wrap="none" anchor="ctr"/>
          <a:lstStyle/>
          <a:p>
            <a:pPr>
              <a:defRPr/>
            </a:pPr>
            <a:endParaRPr lang="tr-TR">
              <a:effectLst>
                <a:outerShdw blurRad="38100" dist="38100" dir="2700000" algn="tl">
                  <a:srgbClr val="000000">
                    <a:alpha val="43137"/>
                  </a:srgbClr>
                </a:outerShdw>
              </a:effectLst>
            </a:endParaRPr>
          </a:p>
        </p:txBody>
      </p:sp>
      <p:sp>
        <p:nvSpPr>
          <p:cNvPr id="389126" name="Rectangle 6"/>
          <p:cNvSpPr>
            <a:spLocks noChangeArrowheads="1"/>
          </p:cNvSpPr>
          <p:nvPr/>
        </p:nvSpPr>
        <p:spPr bwMode="auto">
          <a:xfrm>
            <a:off x="3563888" y="1844824"/>
            <a:ext cx="5043485" cy="4247829"/>
          </a:xfrm>
          <a:prstGeom prst="rect">
            <a:avLst/>
          </a:prstGeom>
          <a:noFill/>
          <a:ln w="57150">
            <a:solidFill>
              <a:schemeClr val="accent2"/>
            </a:solidFill>
            <a:miter lim="800000"/>
            <a:headEnd/>
            <a:tailEnd/>
          </a:ln>
          <a:effectLst/>
          <a:extLst>
            <a:ext uri="{909E8E84-426E-40DD-AFC4-6F175D3DCCD1}"/>
            <a:ext uri="{AF507438-7753-43E0-B8FC-AC1667EBCBE1}"/>
          </a:extLst>
        </p:spPr>
        <p:txBody>
          <a:bodyPr wrap="none" anchor="ctr"/>
          <a:lstStyle/>
          <a:p>
            <a:pPr>
              <a:defRPr/>
            </a:pPr>
            <a:endParaRPr lang="tr-TR">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389124">
                                            <p:txEl>
                                              <p:pRg st="1" end="1"/>
                                            </p:txEl>
                                          </p:spTgt>
                                        </p:tgtEl>
                                        <p:attrNameLst>
                                          <p:attrName>style.visibility</p:attrName>
                                        </p:attrNameLst>
                                      </p:cBhvr>
                                      <p:to>
                                        <p:strVal val="visible"/>
                                      </p:to>
                                    </p:set>
                                    <p:anim calcmode="discrete" valueType="clr">
                                      <p:cBhvr override="childStyle">
                                        <p:cTn id="7" dur="80"/>
                                        <p:tgtEl>
                                          <p:spTgt spid="38912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89124">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389124">
                                            <p:txEl>
                                              <p:pRg st="1" end="1"/>
                                            </p:txEl>
                                          </p:spTgt>
                                        </p:tgtEl>
                                        <p:attrNameLst>
                                          <p:attrName>fill.type</p:attrName>
                                        </p:attrNameLst>
                                      </p:cBhvr>
                                      <p:to>
                                        <p:strVal val="solid"/>
                                      </p:to>
                                    </p:set>
                                  </p:childTnLst>
                                </p:cTn>
                              </p:par>
                              <p:par>
                                <p:cTn id="10" presetID="27" presetClass="entr" presetSubtype="0" fill="hold" nodeType="withEffect">
                                  <p:stCondLst>
                                    <p:cond delay="0"/>
                                  </p:stCondLst>
                                  <p:iterate type="lt">
                                    <p:tmPct val="50000"/>
                                  </p:iterate>
                                  <p:childTnLst>
                                    <p:set>
                                      <p:cBhvr>
                                        <p:cTn id="11" dur="1" fill="hold">
                                          <p:stCondLst>
                                            <p:cond delay="0"/>
                                          </p:stCondLst>
                                        </p:cTn>
                                        <p:tgtEl>
                                          <p:spTgt spid="389124">
                                            <p:txEl>
                                              <p:pRg st="2" end="2"/>
                                            </p:txEl>
                                          </p:spTgt>
                                        </p:tgtEl>
                                        <p:attrNameLst>
                                          <p:attrName>style.visibility</p:attrName>
                                        </p:attrNameLst>
                                      </p:cBhvr>
                                      <p:to>
                                        <p:strVal val="visible"/>
                                      </p:to>
                                    </p:set>
                                    <p:anim calcmode="discrete" valueType="clr">
                                      <p:cBhvr override="childStyle">
                                        <p:cTn id="12" dur="80"/>
                                        <p:tgtEl>
                                          <p:spTgt spid="38912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89124">
                                            <p:txEl>
                                              <p:pRg st="2" end="2"/>
                                            </p:txEl>
                                          </p:spTgt>
                                        </p:tgtEl>
                                        <p:attrNameLst>
                                          <p:attrName>fillcolor</p:attrName>
                                        </p:attrNameLst>
                                      </p:cBhvr>
                                      <p:tavLst>
                                        <p:tav tm="0">
                                          <p:val>
                                            <p:clrVal>
                                              <a:schemeClr val="accent2"/>
                                            </p:clrVal>
                                          </p:val>
                                        </p:tav>
                                        <p:tav tm="50000">
                                          <p:val>
                                            <p:clrVal>
                                              <a:schemeClr val="hlink"/>
                                            </p:clrVal>
                                          </p:val>
                                        </p:tav>
                                      </p:tavLst>
                                    </p:anim>
                                    <p:set>
                                      <p:cBhvr>
                                        <p:cTn id="14" dur="80"/>
                                        <p:tgtEl>
                                          <p:spTgt spid="389124">
                                            <p:txEl>
                                              <p:pRg st="2" end="2"/>
                                            </p:txEl>
                                          </p:spTgt>
                                        </p:tgtEl>
                                        <p:attrNameLst>
                                          <p:attrName>fill.type</p:attrName>
                                        </p:attrNameLst>
                                      </p:cBhvr>
                                      <p:to>
                                        <p:strVal val="solid"/>
                                      </p:to>
                                    </p:set>
                                  </p:childTnLst>
                                </p:cTn>
                              </p:par>
                              <p:par>
                                <p:cTn id="15" presetID="27" presetClass="entr" presetSubtype="0" fill="hold" nodeType="withEffect">
                                  <p:stCondLst>
                                    <p:cond delay="0"/>
                                  </p:stCondLst>
                                  <p:iterate type="lt">
                                    <p:tmPct val="50000"/>
                                  </p:iterate>
                                  <p:childTnLst>
                                    <p:set>
                                      <p:cBhvr>
                                        <p:cTn id="16" dur="1" fill="hold">
                                          <p:stCondLst>
                                            <p:cond delay="0"/>
                                          </p:stCondLst>
                                        </p:cTn>
                                        <p:tgtEl>
                                          <p:spTgt spid="389124">
                                            <p:txEl>
                                              <p:pRg st="3" end="3"/>
                                            </p:txEl>
                                          </p:spTgt>
                                        </p:tgtEl>
                                        <p:attrNameLst>
                                          <p:attrName>style.visibility</p:attrName>
                                        </p:attrNameLst>
                                      </p:cBhvr>
                                      <p:to>
                                        <p:strVal val="visible"/>
                                      </p:to>
                                    </p:set>
                                    <p:anim calcmode="discrete" valueType="clr">
                                      <p:cBhvr override="childStyle">
                                        <p:cTn id="17" dur="80"/>
                                        <p:tgtEl>
                                          <p:spTgt spid="38912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389124">
                                            <p:txEl>
                                              <p:pRg st="3" end="3"/>
                                            </p:txEl>
                                          </p:spTgt>
                                        </p:tgtEl>
                                        <p:attrNameLst>
                                          <p:attrName>fillcolor</p:attrName>
                                        </p:attrNameLst>
                                      </p:cBhvr>
                                      <p:tavLst>
                                        <p:tav tm="0">
                                          <p:val>
                                            <p:clrVal>
                                              <a:schemeClr val="accent2"/>
                                            </p:clrVal>
                                          </p:val>
                                        </p:tav>
                                        <p:tav tm="50000">
                                          <p:val>
                                            <p:clrVal>
                                              <a:schemeClr val="hlink"/>
                                            </p:clrVal>
                                          </p:val>
                                        </p:tav>
                                      </p:tavLst>
                                    </p:anim>
                                    <p:set>
                                      <p:cBhvr>
                                        <p:cTn id="19" dur="80"/>
                                        <p:tgtEl>
                                          <p:spTgt spid="389124">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
            </a:r>
            <a:br>
              <a:rPr lang="tr-TR" b="1" dirty="0" smtClean="0">
                <a:solidFill>
                  <a:srgbClr val="FF0000"/>
                </a:solidFill>
              </a:rPr>
            </a:br>
            <a:r>
              <a:rPr lang="tr-TR" sz="4900" b="1" dirty="0" smtClean="0">
                <a:solidFill>
                  <a:srgbClr val="FF0000"/>
                </a:solidFill>
              </a:rPr>
              <a:t>OBJEKTİF DÖNER MEKANİZMASI</a:t>
            </a:r>
            <a:br>
              <a:rPr lang="tr-TR" sz="4900" b="1" dirty="0" smtClean="0">
                <a:solidFill>
                  <a:srgbClr val="FF0000"/>
                </a:solidFill>
              </a:rPr>
            </a:br>
            <a:r>
              <a:rPr lang="tr-TR" sz="4900" b="1" dirty="0" smtClean="0">
                <a:solidFill>
                  <a:srgbClr val="FF0000"/>
                </a:solidFill>
              </a:rPr>
              <a:t>REVOLVER</a:t>
            </a:r>
            <a:r>
              <a:rPr lang="tr-TR" b="1" dirty="0" smtClean="0">
                <a:solidFill>
                  <a:srgbClr val="FF0000"/>
                </a:solidFill>
              </a:rPr>
              <a:t/>
            </a:r>
            <a:br>
              <a:rPr lang="tr-TR" b="1" dirty="0" smtClean="0">
                <a:solidFill>
                  <a:srgbClr val="FF0000"/>
                </a:solidFill>
              </a:rPr>
            </a:br>
            <a:endParaRPr lang="tr-TR" dirty="0"/>
          </a:p>
        </p:txBody>
      </p:sp>
      <p:sp>
        <p:nvSpPr>
          <p:cNvPr id="3" name="2 İçerik Yer Tutucusu"/>
          <p:cNvSpPr>
            <a:spLocks noGrp="1"/>
          </p:cNvSpPr>
          <p:nvPr>
            <p:ph idx="1"/>
          </p:nvPr>
        </p:nvSpPr>
        <p:spPr/>
        <p:txBody>
          <a:bodyPr/>
          <a:lstStyle/>
          <a:p>
            <a:r>
              <a:rPr lang="tr-TR" b="1" dirty="0" smtClean="0"/>
              <a:t>Objektifleri hareket ettirip objektifleri  kullanmamıza OLANAK SAĞLAR</a:t>
            </a:r>
          </a:p>
          <a:p>
            <a:pPr>
              <a:buNone/>
            </a:pPr>
            <a:endParaRPr lang="tr-TR" dirty="0"/>
          </a:p>
        </p:txBody>
      </p:sp>
      <p:pic>
        <p:nvPicPr>
          <p:cNvPr id="4" name="Picture 3" descr="lens"/>
          <p:cNvPicPr>
            <a:picLocks noChangeAspect="1" noChangeArrowheads="1"/>
          </p:cNvPicPr>
          <p:nvPr/>
        </p:nvPicPr>
        <p:blipFill>
          <a:blip r:embed="rId2" cstate="print"/>
          <a:srcRect/>
          <a:stretch>
            <a:fillRect/>
          </a:stretch>
        </p:blipFill>
        <p:spPr>
          <a:xfrm>
            <a:off x="2627784" y="2780928"/>
            <a:ext cx="3311947" cy="3846512"/>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C:\Users\tijen\Desktop\1000_F_11092668_mkMIV3gu0rD4gxQnlo5oY9izWOLICxLp.jpg"/>
          <p:cNvPicPr>
            <a:picLocks noGrp="1" noChangeAspect="1" noChangeArrowheads="1"/>
          </p:cNvPicPr>
          <p:nvPr>
            <p:ph idx="4294967295"/>
          </p:nvPr>
        </p:nvPicPr>
        <p:blipFill>
          <a:blip r:embed="rId2" cstate="print"/>
          <a:srcRect/>
          <a:stretch>
            <a:fillRect/>
          </a:stretch>
        </p:blipFill>
        <p:spPr bwMode="auto">
          <a:xfrm>
            <a:off x="1187624" y="764704"/>
            <a:ext cx="6624736" cy="5184576"/>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descr="C:\Users\tijen\Desktop\615dH9MgAkS._AC_UF1000,1000_QL80_.jpg"/>
          <p:cNvPicPr>
            <a:picLocks noGrp="1" noChangeAspect="1" noChangeArrowheads="1"/>
          </p:cNvPicPr>
          <p:nvPr>
            <p:ph idx="4294967295"/>
          </p:nvPr>
        </p:nvPicPr>
        <p:blipFill>
          <a:blip r:embed="rId2" cstate="print"/>
          <a:srcRect/>
          <a:stretch>
            <a:fillRect/>
          </a:stretch>
        </p:blipFill>
        <p:spPr bwMode="auto">
          <a:xfrm>
            <a:off x="1187624" y="548680"/>
            <a:ext cx="6946900" cy="5794375"/>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OKÜLER</a:t>
            </a:r>
            <a:endParaRPr lang="tr-TR"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solidFill>
                  <a:srgbClr val="FF0000"/>
                </a:solidFill>
              </a:rPr>
              <a:t>Optik kısmın gözle bakılan ve tüpün üst kısmına konulan parçasını oluşturur</a:t>
            </a:r>
            <a:endParaRPr lang="tr-TR" b="1" dirty="0" smtClean="0"/>
          </a:p>
          <a:p>
            <a:r>
              <a:rPr lang="tr-TR" b="1" dirty="0" smtClean="0"/>
              <a:t>Okülerde de, büyütmelerine göre numaralar      (5 x, 7 x, 10 x, 15 x, 20 x, 25 x ) bulunur</a:t>
            </a:r>
          </a:p>
          <a:p>
            <a:pPr>
              <a:buNone/>
            </a:pPr>
            <a:endParaRPr lang="tr-TR" b="1" dirty="0" smtClean="0"/>
          </a:p>
        </p:txBody>
      </p:sp>
      <p:pic>
        <p:nvPicPr>
          <p:cNvPr id="5" name="Picture 3" descr="eyepiecesfigure1"/>
          <p:cNvPicPr>
            <a:picLocks noChangeAspect="1" noChangeArrowheads="1"/>
          </p:cNvPicPr>
          <p:nvPr/>
        </p:nvPicPr>
        <p:blipFill>
          <a:blip r:embed="rId2" cstate="print"/>
          <a:stretch>
            <a:fillRect/>
          </a:stretch>
        </p:blipFill>
        <p:spPr>
          <a:xfrm>
            <a:off x="4644008" y="4077072"/>
            <a:ext cx="3857625" cy="2352675"/>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C:\Users\user\Desktop\6270-cifti-mikroskop-okueler-plan-wf10x-22mm-yueksek-goez-noktas-diyopterin-ayarlanabilir.jpg"/>
          <p:cNvPicPr>
            <a:picLocks noGrp="1" noChangeAspect="1" noChangeArrowheads="1"/>
          </p:cNvPicPr>
          <p:nvPr>
            <p:ph idx="4294967295"/>
          </p:nvPr>
        </p:nvPicPr>
        <p:blipFill>
          <a:blip r:embed="rId2" cstate="print"/>
          <a:srcRect/>
          <a:stretch>
            <a:fillRect/>
          </a:stretch>
        </p:blipFill>
        <p:spPr bwMode="auto">
          <a:xfrm>
            <a:off x="4355976" y="260648"/>
            <a:ext cx="4495800" cy="3455988"/>
          </a:xfrm>
          <a:prstGeom prst="rect">
            <a:avLst/>
          </a:prstGeom>
          <a:noFill/>
        </p:spPr>
      </p:pic>
      <p:pic>
        <p:nvPicPr>
          <p:cNvPr id="111619" name="Picture 3" descr="C:\Users\user\Desktop\Biyolojik-Mikroskop-Ok-ler-WF10X-WF16X-Ok-ler-Geni-A-Lens-Biyolojik-Mikroskop-Aksesuar-ve-Par.jpg"/>
          <p:cNvPicPr>
            <a:picLocks noChangeAspect="1" noChangeArrowheads="1"/>
          </p:cNvPicPr>
          <p:nvPr/>
        </p:nvPicPr>
        <p:blipFill>
          <a:blip r:embed="rId3" cstate="print"/>
          <a:srcRect/>
          <a:stretch>
            <a:fillRect/>
          </a:stretch>
        </p:blipFill>
        <p:spPr bwMode="auto">
          <a:xfrm>
            <a:off x="323528" y="2348880"/>
            <a:ext cx="4064000" cy="4064000"/>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OKÜLERLERİN GÖREVİ</a:t>
            </a:r>
            <a:endParaRPr lang="tr-TR" dirty="0"/>
          </a:p>
        </p:txBody>
      </p:sp>
      <p:sp>
        <p:nvSpPr>
          <p:cNvPr id="3" name="2 İçerik Yer Tutucusu"/>
          <p:cNvSpPr>
            <a:spLocks noGrp="1"/>
          </p:cNvSpPr>
          <p:nvPr>
            <p:ph idx="1"/>
          </p:nvPr>
        </p:nvSpPr>
        <p:spPr/>
        <p:txBody>
          <a:bodyPr/>
          <a:lstStyle/>
          <a:p>
            <a:r>
              <a:rPr lang="tr-TR" b="1" dirty="0" smtClean="0"/>
              <a:t>Okülerlerin görevi objektif tarafından oluşturulan obje (incelenmek istenen preparatın) imajını büyütmek ve objektifin bazı hatalarını düzeltmektir </a:t>
            </a:r>
          </a:p>
          <a:p>
            <a:r>
              <a:rPr lang="tr-TR" b="1" dirty="0" smtClean="0"/>
              <a:t>Objektifin ışık kusurlarını düzeltmek</a:t>
            </a:r>
          </a:p>
          <a:p>
            <a:r>
              <a:rPr lang="tr-TR" b="1" dirty="0" smtClean="0"/>
              <a:t>Zahiri(sanal) görüntüyü hazırlamak</a:t>
            </a:r>
          </a:p>
          <a:p>
            <a:endParaRPr lang="tr-TR" b="1" dirty="0" smtClean="0"/>
          </a:p>
          <a:p>
            <a:endParaRPr lang="tr-T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548680"/>
            <a:ext cx="8352928" cy="5976664"/>
          </a:xfrm>
        </p:spPr>
        <p:txBody>
          <a:bodyPr>
            <a:normAutofit/>
          </a:bodyPr>
          <a:lstStyle/>
          <a:p>
            <a:pPr>
              <a:lnSpc>
                <a:spcPct val="125000"/>
              </a:lnSpc>
              <a:defRPr/>
            </a:pPr>
            <a:r>
              <a:rPr lang="tr-TR" b="1" dirty="0" smtClean="0"/>
              <a:t>Genellikle okülerlerde büyütme oranı X10’dır</a:t>
            </a:r>
          </a:p>
          <a:p>
            <a:pPr>
              <a:lnSpc>
                <a:spcPct val="125000"/>
              </a:lnSpc>
              <a:defRPr/>
            </a:pPr>
            <a:r>
              <a:rPr lang="tr-TR" b="1" dirty="0" smtClean="0"/>
              <a:t>Büyütme oranını arttırmak için oküler büyütmesini arttırmak önerilmez</a:t>
            </a:r>
          </a:p>
          <a:p>
            <a:pPr>
              <a:lnSpc>
                <a:spcPct val="125000"/>
              </a:lnSpc>
              <a:defRPr/>
            </a:pPr>
            <a:r>
              <a:rPr lang="tr-TR" b="1" dirty="0" smtClean="0"/>
              <a:t>Genel kural olarak küçük büyütmeli objektiflerle büyük büyütmeli oküler,      büyük büyütmeli objektifle küçük büyütmeli oküler kullanılır</a:t>
            </a:r>
          </a:p>
          <a:p>
            <a:endParaRPr lang="tr-T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C:\Users\user\Desktop\isik-mikroskobu-kisimlari.jpg"/>
          <p:cNvPicPr>
            <a:picLocks noGrp="1" noChangeAspect="1" noChangeArrowheads="1"/>
          </p:cNvPicPr>
          <p:nvPr>
            <p:ph idx="4294967295"/>
          </p:nvPr>
        </p:nvPicPr>
        <p:blipFill>
          <a:blip r:embed="rId2" cstate="print"/>
          <a:srcRect/>
          <a:stretch>
            <a:fillRect/>
          </a:stretch>
        </p:blipFill>
        <p:spPr bwMode="auto">
          <a:xfrm>
            <a:off x="683568" y="332656"/>
            <a:ext cx="7705725" cy="6048375"/>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idx="1"/>
          </p:nvPr>
        </p:nvSpPr>
        <p:spPr>
          <a:xfrm>
            <a:off x="323850" y="1916832"/>
            <a:ext cx="8496300" cy="4752528"/>
          </a:xfrm>
        </p:spPr>
        <p:txBody>
          <a:bodyPr/>
          <a:lstStyle/>
          <a:p>
            <a:pPr algn="ctr" eaLnBrk="1" hangingPunct="1">
              <a:buFont typeface="Wingdings" pitchFamily="80" charset="2"/>
              <a:buNone/>
              <a:defRPr/>
            </a:pPr>
            <a:endParaRPr lang="tr-TR" sz="3000" dirty="0" smtClean="0"/>
          </a:p>
          <a:p>
            <a:pPr algn="ctr" eaLnBrk="1" hangingPunct="1">
              <a:buFont typeface="Wingdings" pitchFamily="80" charset="2"/>
              <a:buNone/>
              <a:defRPr/>
            </a:pPr>
            <a:r>
              <a:rPr lang="tr-TR" b="1" dirty="0" smtClean="0"/>
              <a:t>Objektif büyütmesi X Oküler büyütmesi</a:t>
            </a:r>
          </a:p>
          <a:p>
            <a:pPr eaLnBrk="1" hangingPunct="1">
              <a:buFont typeface="Wingdings" pitchFamily="80" charset="2"/>
              <a:buNone/>
              <a:defRPr/>
            </a:pPr>
            <a:r>
              <a:rPr lang="tr-TR" b="1" dirty="0" smtClean="0"/>
              <a:t>				Örnek: 40 X 10 = 400</a:t>
            </a:r>
          </a:p>
          <a:p>
            <a:pPr eaLnBrk="1" hangingPunct="1">
              <a:buFont typeface="Wingdings" pitchFamily="80" charset="2"/>
              <a:buNone/>
              <a:defRPr/>
            </a:pPr>
            <a:endParaRPr lang="tr-TR" sz="2200" dirty="0" smtClean="0"/>
          </a:p>
          <a:p>
            <a:pPr eaLnBrk="1" hangingPunct="1">
              <a:buFont typeface="Wingdings" pitchFamily="80" charset="2"/>
              <a:buNone/>
              <a:defRPr/>
            </a:pPr>
            <a:endParaRPr lang="tr-TR" sz="2200" dirty="0" smtClean="0"/>
          </a:p>
          <a:p>
            <a:pPr eaLnBrk="1" hangingPunct="1">
              <a:buFont typeface="Wingdings" pitchFamily="80" charset="2"/>
              <a:buNone/>
              <a:defRPr/>
            </a:pPr>
            <a:r>
              <a:rPr lang="tr-TR" sz="2600" dirty="0" smtClean="0"/>
              <a:t>	</a:t>
            </a:r>
            <a:endParaRPr lang="tr-TR" sz="2700" b="1" dirty="0" smtClean="0"/>
          </a:p>
        </p:txBody>
      </p:sp>
      <p:sp>
        <p:nvSpPr>
          <p:cNvPr id="400389" name="Rectangle 5"/>
          <p:cNvSpPr>
            <a:spLocks noChangeArrowheads="1"/>
          </p:cNvSpPr>
          <p:nvPr/>
        </p:nvSpPr>
        <p:spPr bwMode="auto">
          <a:xfrm>
            <a:off x="468313" y="188640"/>
            <a:ext cx="8229600" cy="1512168"/>
          </a:xfrm>
          <a:prstGeom prst="rect">
            <a:avLst/>
          </a:prstGeom>
          <a:solidFill>
            <a:schemeClr val="accent1"/>
          </a:solidFill>
          <a:ln>
            <a:noFill/>
          </a:ln>
          <a:effectLst/>
          <a:extLst>
            <a:ext uri="{91240B29-F687-4F45-9708-019B960494DF}"/>
            <a:ext uri="{AF507438-7753-43E0-B8FC-AC1667EBCBE1}"/>
          </a:extLst>
        </p:spPr>
        <p:txBody>
          <a:bodyPr anchor="ctr"/>
          <a:lstStyle/>
          <a:p>
            <a:pPr algn="ctr" eaLnBrk="1" hangingPunct="1">
              <a:defRPr/>
            </a:pPr>
            <a:r>
              <a:rPr lang="tr-TR" sz="4000" u="none" dirty="0" smtClean="0">
                <a:solidFill>
                  <a:srgbClr val="FFFF00"/>
                </a:solidFill>
                <a:effectLst>
                  <a:outerShdw blurRad="38100" dist="38100" dir="2700000" algn="tl">
                    <a:srgbClr val="000000"/>
                  </a:outerShdw>
                </a:effectLst>
                <a:latin typeface="Lucida Grande" pitchFamily="80" charset="0"/>
              </a:rPr>
              <a:t>MİKROSKOPLARDA  BÜYÜTME DEĞERİ HESAPLAMA</a:t>
            </a:r>
            <a:endParaRPr lang="tr-TR" sz="4000" u="none" dirty="0">
              <a:solidFill>
                <a:srgbClr val="FFFF00"/>
              </a:solidFill>
              <a:effectLst>
                <a:outerShdw blurRad="38100" dist="38100" dir="2700000" algn="tl">
                  <a:srgbClr val="000000"/>
                </a:outerShdw>
              </a:effectLst>
              <a:latin typeface="Lucida Grande" pitchFamily="80"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00387">
                                            <p:txEl>
                                              <p:pRg st="1" end="1"/>
                                            </p:txEl>
                                          </p:spTgt>
                                        </p:tgtEl>
                                        <p:attrNameLst>
                                          <p:attrName>style.visibility</p:attrName>
                                        </p:attrNameLst>
                                      </p:cBhvr>
                                      <p:to>
                                        <p:strVal val="visible"/>
                                      </p:to>
                                    </p:set>
                                    <p:anim calcmode="discrete" valueType="clr">
                                      <p:cBhvr override="childStyle">
                                        <p:cTn id="7" dur="80"/>
                                        <p:tgtEl>
                                          <p:spTgt spid="40038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00387">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400387">
                                            <p:txEl>
                                              <p:pRg st="1" end="1"/>
                                            </p:txEl>
                                          </p:spTgt>
                                        </p:tgtEl>
                                        <p:attrNameLst>
                                          <p:attrName>fill.type</p:attrName>
                                        </p:attrNameLst>
                                      </p:cBhvr>
                                      <p:to>
                                        <p:strVal val="solid"/>
                                      </p:to>
                                    </p:set>
                                  </p:childTnLst>
                                </p:cTn>
                              </p:par>
                            </p:childTnLst>
                          </p:cTn>
                        </p:par>
                        <p:par>
                          <p:cTn id="10" fill="hold" nodeType="afterGroup">
                            <p:stCondLst>
                              <p:cond delay="1360"/>
                            </p:stCondLst>
                            <p:childTnLst>
                              <p:par>
                                <p:cTn id="11" presetID="38" presetClass="entr" presetSubtype="0" accel="50000" fill="hold" nodeType="afterEffect">
                                  <p:stCondLst>
                                    <p:cond delay="0"/>
                                  </p:stCondLst>
                                  <p:iterate type="lt">
                                    <p:tmPct val="50000"/>
                                  </p:iterate>
                                  <p:childTnLst>
                                    <p:set>
                                      <p:cBhvr>
                                        <p:cTn id="12" dur="1" fill="hold">
                                          <p:stCondLst>
                                            <p:cond delay="0"/>
                                          </p:stCondLst>
                                        </p:cTn>
                                        <p:tgtEl>
                                          <p:spTgt spid="400387">
                                            <p:txEl>
                                              <p:pRg st="2" end="2"/>
                                            </p:txEl>
                                          </p:spTgt>
                                        </p:tgtEl>
                                        <p:attrNameLst>
                                          <p:attrName>style.visibility</p:attrName>
                                        </p:attrNameLst>
                                      </p:cBhvr>
                                      <p:to>
                                        <p:strVal val="visible"/>
                                      </p:to>
                                    </p:set>
                                    <p:set>
                                      <p:cBhvr>
                                        <p:cTn id="13" dur="228" fill="hold">
                                          <p:stCondLst>
                                            <p:cond delay="0"/>
                                          </p:stCondLst>
                                        </p:cTn>
                                        <p:tgtEl>
                                          <p:spTgt spid="400387">
                                            <p:txEl>
                                              <p:pRg st="2" end="2"/>
                                            </p:txEl>
                                          </p:spTgt>
                                        </p:tgtEl>
                                        <p:attrNameLst>
                                          <p:attrName>style.rotation</p:attrName>
                                        </p:attrNameLst>
                                      </p:cBhvr>
                                      <p:to>
                                        <p:strVal val="-45.0"/>
                                      </p:to>
                                    </p:set>
                                    <p:anim calcmode="lin" valueType="num">
                                      <p:cBhvr>
                                        <p:cTn id="14" dur="228" fill="hold">
                                          <p:stCondLst>
                                            <p:cond delay="228"/>
                                          </p:stCondLst>
                                        </p:cTn>
                                        <p:tgtEl>
                                          <p:spTgt spid="400387">
                                            <p:txEl>
                                              <p:pRg st="2" end="2"/>
                                            </p:txEl>
                                          </p:spTgt>
                                        </p:tgtEl>
                                        <p:attrNameLst>
                                          <p:attrName>style.rotation</p:attrName>
                                        </p:attrNameLst>
                                      </p:cBhvr>
                                      <p:tavLst>
                                        <p:tav tm="0">
                                          <p:val>
                                            <p:fltVal val="-45"/>
                                          </p:val>
                                        </p:tav>
                                        <p:tav tm="69900">
                                          <p:val>
                                            <p:fltVal val="45"/>
                                          </p:val>
                                        </p:tav>
                                        <p:tav tm="100000">
                                          <p:val>
                                            <p:fltVal val="0"/>
                                          </p:val>
                                        </p:tav>
                                      </p:tavLst>
                                    </p:anim>
                                    <p:anim calcmode="lin" valueType="num">
                                      <p:cBhvr>
                                        <p:cTn id="15" dur="228" fill="hold">
                                          <p:stCondLst>
                                            <p:cond delay="0"/>
                                          </p:stCondLst>
                                        </p:cTn>
                                        <p:tgtEl>
                                          <p:spTgt spid="400387">
                                            <p:txEl>
                                              <p:pRg st="2" end="2"/>
                                            </p:txEl>
                                          </p:spTgt>
                                        </p:tgtEl>
                                        <p:attrNameLst>
                                          <p:attrName>ppt_y</p:attrName>
                                        </p:attrNameLst>
                                      </p:cBhvr>
                                      <p:tavLst>
                                        <p:tav tm="0">
                                          <p:val>
                                            <p:strVal val="#ppt_y-1"/>
                                          </p:val>
                                        </p:tav>
                                        <p:tav tm="100000">
                                          <p:val>
                                            <p:strVal val="#ppt_y-(0.354*#ppt_w-0.172*#ppt_h)"/>
                                          </p:val>
                                        </p:tav>
                                      </p:tavLst>
                                    </p:anim>
                                    <p:anim calcmode="lin" valueType="num">
                                      <p:cBhvr>
                                        <p:cTn id="16" dur="78" decel="50000" autoRev="1" fill="hold">
                                          <p:stCondLst>
                                            <p:cond delay="228"/>
                                          </p:stCondLst>
                                        </p:cTn>
                                        <p:tgtEl>
                                          <p:spTgt spid="400387">
                                            <p:txEl>
                                              <p:pRg st="2" end="2"/>
                                            </p:txEl>
                                          </p:spTgt>
                                        </p:tgtEl>
                                        <p:attrNameLst>
                                          <p:attrName>ppt_y</p:attrName>
                                        </p:attrNameLst>
                                      </p:cBhvr>
                                      <p:tavLst>
                                        <p:tav tm="0">
                                          <p:val>
                                            <p:strVal val="#ppt_y-(0.354*#ppt_w-0.172*#ppt_h)"/>
                                          </p:val>
                                        </p:tav>
                                        <p:tav tm="100000">
                                          <p:val>
                                            <p:strVal val="#ppt_y-(0.354*#ppt_w-0.172*#ppt_h)-#ppt_h/2"/>
                                          </p:val>
                                        </p:tav>
                                      </p:tavLst>
                                    </p:anim>
                                    <p:anim calcmode="lin" valueType="num">
                                      <p:cBhvr>
                                        <p:cTn id="17" dur="68" fill="hold">
                                          <p:stCondLst>
                                            <p:cond delay="432"/>
                                          </p:stCondLst>
                                        </p:cTn>
                                        <p:tgtEl>
                                          <p:spTgt spid="400387">
                                            <p:txEl>
                                              <p:pRg st="2" end="2"/>
                                            </p:txEl>
                                          </p:spTgt>
                                        </p:tgtEl>
                                        <p:attrNameLst>
                                          <p:attrName>ppt_y</p:attrName>
                                        </p:attrNameLst>
                                      </p:cBhvr>
                                      <p:tavLst>
                                        <p:tav tm="0">
                                          <p:val>
                                            <p:strVal val="#ppt_y-(0.354*#ppt_w-0.172*#ppt_h)"/>
                                          </p:val>
                                        </p:tav>
                                        <p:tav tm="100000">
                                          <p:val>
                                            <p:strVal val="#ppt_y"/>
                                          </p:val>
                                        </p:tav>
                                      </p:tavLst>
                                    </p:anim>
                                  </p:childTnLst>
                                </p:cTn>
                              </p:par>
                            </p:childTnLst>
                          </p:cTn>
                        </p:par>
                        <p:par>
                          <p:cTn id="18" fill="hold" nodeType="afterGroup">
                            <p:stCondLst>
                              <p:cond delay="5360"/>
                            </p:stCondLst>
                            <p:childTnLst>
                              <p:par>
                                <p:cTn id="19" presetID="27" presetClass="entr" presetSubtype="0" fill="hold" grpId="0" nodeType="afterEffect">
                                  <p:stCondLst>
                                    <p:cond delay="0"/>
                                  </p:stCondLst>
                                  <p:iterate type="lt">
                                    <p:tmPct val="50000"/>
                                  </p:iterate>
                                  <p:childTnLst>
                                    <p:set>
                                      <p:cBhvr>
                                        <p:cTn id="20" dur="1" fill="hold">
                                          <p:stCondLst>
                                            <p:cond delay="0"/>
                                          </p:stCondLst>
                                        </p:cTn>
                                        <p:tgtEl>
                                          <p:spTgt spid="400387">
                                            <p:txEl>
                                              <p:pRg st="5" end="5"/>
                                            </p:txEl>
                                          </p:spTgt>
                                        </p:tgtEl>
                                        <p:attrNameLst>
                                          <p:attrName>style.visibility</p:attrName>
                                        </p:attrNameLst>
                                      </p:cBhvr>
                                      <p:to>
                                        <p:strVal val="visible"/>
                                      </p:to>
                                    </p:set>
                                    <p:anim calcmode="discrete" valueType="clr">
                                      <p:cBhvr override="childStyle">
                                        <p:cTn id="21" dur="80"/>
                                        <p:tgtEl>
                                          <p:spTgt spid="40038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00387">
                                            <p:txEl>
                                              <p:pRg st="5" end="5"/>
                                            </p:txEl>
                                          </p:spTgt>
                                        </p:tgtEl>
                                        <p:attrNameLst>
                                          <p:attrName>fillcolor</p:attrName>
                                        </p:attrNameLst>
                                      </p:cBhvr>
                                      <p:tavLst>
                                        <p:tav tm="0">
                                          <p:val>
                                            <p:clrVal>
                                              <a:schemeClr val="accent2"/>
                                            </p:clrVal>
                                          </p:val>
                                        </p:tav>
                                        <p:tav tm="50000">
                                          <p:val>
                                            <p:clrVal>
                                              <a:schemeClr val="hlink"/>
                                            </p:clrVal>
                                          </p:val>
                                        </p:tav>
                                      </p:tavLst>
                                    </p:anim>
                                    <p:set>
                                      <p:cBhvr>
                                        <p:cTn id="23" dur="80"/>
                                        <p:tgtEl>
                                          <p:spTgt spid="400387">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C:\Users\user\Desktop\mikroskop.jpg"/>
          <p:cNvPicPr>
            <a:picLocks noGrp="1" noChangeAspect="1" noChangeArrowheads="1"/>
          </p:cNvPicPr>
          <p:nvPr>
            <p:ph idx="4294967295"/>
          </p:nvPr>
        </p:nvPicPr>
        <p:blipFill>
          <a:blip r:embed="rId2" cstate="print"/>
          <a:srcRect/>
          <a:stretch>
            <a:fillRect/>
          </a:stretch>
        </p:blipFill>
        <p:spPr bwMode="auto">
          <a:xfrm>
            <a:off x="1259632" y="260648"/>
            <a:ext cx="6553200" cy="6192688"/>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3" cstate="print"/>
          <a:srcRect/>
          <a:stretch>
            <a:fillRect/>
          </a:stretch>
        </p:blipFill>
        <p:spPr bwMode="auto">
          <a:xfrm>
            <a:off x="395536" y="476672"/>
            <a:ext cx="8162504" cy="5717051"/>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MİKROSKOP ÇEŞİTLERİ</a:t>
            </a:r>
            <a:endParaRPr lang="tr-TR" b="1" dirty="0">
              <a:solidFill>
                <a:srgbClr val="FF0000"/>
              </a:solidFill>
            </a:endParaRPr>
          </a:p>
        </p:txBody>
      </p:sp>
      <p:sp>
        <p:nvSpPr>
          <p:cNvPr id="3" name="2 İçerik Yer Tutucusu"/>
          <p:cNvSpPr>
            <a:spLocks noGrp="1"/>
          </p:cNvSpPr>
          <p:nvPr>
            <p:ph idx="1"/>
          </p:nvPr>
        </p:nvSpPr>
        <p:spPr/>
        <p:txBody>
          <a:bodyPr>
            <a:normAutofit fontScale="92500" lnSpcReduction="20000"/>
          </a:bodyPr>
          <a:lstStyle/>
          <a:p>
            <a:r>
              <a:rPr lang="tr-TR" b="1" dirty="0" smtClean="0"/>
              <a:t>Aydınlık alan mikroskobu</a:t>
            </a:r>
          </a:p>
          <a:p>
            <a:r>
              <a:rPr lang="tr-TR" b="1" dirty="0" smtClean="0"/>
              <a:t>Karanlık alan mikroskobu</a:t>
            </a:r>
          </a:p>
          <a:p>
            <a:r>
              <a:rPr lang="tr-TR" b="1" dirty="0" smtClean="0"/>
              <a:t>Faz kontrast mikroskobu</a:t>
            </a:r>
          </a:p>
          <a:p>
            <a:r>
              <a:rPr lang="tr-TR" b="1" dirty="0" smtClean="0"/>
              <a:t>Polarizasyon mikroskobu</a:t>
            </a:r>
          </a:p>
          <a:p>
            <a:r>
              <a:rPr lang="tr-TR" b="1" dirty="0" err="1" smtClean="0"/>
              <a:t>İnterferens</a:t>
            </a:r>
            <a:r>
              <a:rPr lang="tr-TR" b="1" dirty="0" smtClean="0"/>
              <a:t> mikroskobu</a:t>
            </a:r>
          </a:p>
          <a:p>
            <a:r>
              <a:rPr lang="tr-TR" b="1" dirty="0" err="1" smtClean="0"/>
              <a:t>İnvert</a:t>
            </a:r>
            <a:r>
              <a:rPr lang="tr-TR" b="1" dirty="0" smtClean="0"/>
              <a:t> mikroskobu</a:t>
            </a:r>
          </a:p>
          <a:p>
            <a:r>
              <a:rPr lang="tr-TR" b="1" dirty="0" err="1" smtClean="0"/>
              <a:t>Ultraviole</a:t>
            </a:r>
            <a:r>
              <a:rPr lang="tr-TR" b="1" dirty="0" smtClean="0"/>
              <a:t> mikroskobu</a:t>
            </a:r>
          </a:p>
          <a:p>
            <a:r>
              <a:rPr lang="tr-TR" b="1" dirty="0" err="1" smtClean="0"/>
              <a:t>Fluoresan</a:t>
            </a:r>
            <a:r>
              <a:rPr lang="tr-TR" b="1" dirty="0" smtClean="0"/>
              <a:t> mikroskobu</a:t>
            </a:r>
          </a:p>
          <a:p>
            <a:r>
              <a:rPr lang="tr-TR" b="1" dirty="0" smtClean="0"/>
              <a:t>Elektron mikroskobu</a:t>
            </a:r>
            <a:endParaRPr lang="tr-TR"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0" y="274638"/>
            <a:ext cx="8229600" cy="1143000"/>
          </a:xfrm>
        </p:spPr>
        <p:txBody>
          <a:bodyPr>
            <a:normAutofit fontScale="90000"/>
          </a:bodyPr>
          <a:lstStyle/>
          <a:p>
            <a:r>
              <a:rPr lang="tr-TR" b="1" dirty="0" smtClean="0">
                <a:solidFill>
                  <a:srgbClr val="FF0000"/>
                </a:solidFill>
              </a:rPr>
              <a:t/>
            </a:r>
            <a:br>
              <a:rPr lang="tr-TR" b="1" dirty="0" smtClean="0">
                <a:solidFill>
                  <a:srgbClr val="FF0000"/>
                </a:solidFill>
              </a:rPr>
            </a:br>
            <a:r>
              <a:rPr lang="tr-TR" b="1" dirty="0" smtClean="0">
                <a:solidFill>
                  <a:srgbClr val="FF0000"/>
                </a:solidFill>
              </a:rPr>
              <a:t/>
            </a:r>
            <a:br>
              <a:rPr lang="tr-TR" b="1" dirty="0" smtClean="0">
                <a:solidFill>
                  <a:srgbClr val="FF0000"/>
                </a:solidFill>
              </a:rPr>
            </a:br>
            <a:endParaRPr lang="tr-TR" dirty="0"/>
          </a:p>
        </p:txBody>
      </p:sp>
      <p:sp>
        <p:nvSpPr>
          <p:cNvPr id="3" name="2 İçerik Yer Tutucusu"/>
          <p:cNvSpPr>
            <a:spLocks noGrp="1"/>
          </p:cNvSpPr>
          <p:nvPr>
            <p:ph idx="4294967295"/>
          </p:nvPr>
        </p:nvSpPr>
        <p:spPr>
          <a:xfrm>
            <a:off x="323528" y="332656"/>
            <a:ext cx="8640960" cy="6336704"/>
          </a:xfrm>
        </p:spPr>
        <p:txBody>
          <a:bodyPr/>
          <a:lstStyle/>
          <a:p>
            <a:pPr>
              <a:buNone/>
            </a:pPr>
            <a:r>
              <a:rPr lang="tr-TR" sz="2800" b="1" dirty="0" smtClean="0">
                <a:solidFill>
                  <a:srgbClr val="FF0000"/>
                </a:solidFill>
              </a:rPr>
              <a:t>		</a:t>
            </a:r>
            <a:r>
              <a:rPr lang="tr-TR" sz="4000" b="1" dirty="0" smtClean="0">
                <a:solidFill>
                  <a:srgbClr val="FF0000"/>
                </a:solidFill>
              </a:rPr>
              <a:t>KARANLIK ALAN MİKROSKOBU</a:t>
            </a:r>
            <a:endParaRPr lang="tr-TR" sz="4000" b="1" dirty="0" smtClean="0"/>
          </a:p>
          <a:p>
            <a:r>
              <a:rPr lang="tr-TR" sz="2800" b="1" dirty="0" smtClean="0"/>
              <a:t>Işık mikroskobunda görülmeyen bazı ince yapılı </a:t>
            </a:r>
            <a:r>
              <a:rPr lang="tr-TR" sz="2800" b="1" dirty="0" smtClean="0">
                <a:solidFill>
                  <a:srgbClr val="FF0000"/>
                </a:solidFill>
              </a:rPr>
              <a:t>mikroorganizmaları (</a:t>
            </a:r>
            <a:r>
              <a:rPr lang="tr-TR" sz="2800" b="1" dirty="0" err="1" smtClean="0">
                <a:solidFill>
                  <a:srgbClr val="FF0000"/>
                </a:solidFill>
              </a:rPr>
              <a:t>spiroketler</a:t>
            </a:r>
            <a:r>
              <a:rPr lang="tr-TR" sz="2800" b="1" dirty="0" smtClean="0">
                <a:solidFill>
                  <a:srgbClr val="FF0000"/>
                </a:solidFill>
              </a:rPr>
              <a:t> gibi) </a:t>
            </a:r>
            <a:r>
              <a:rPr lang="tr-TR" sz="2800" b="1" dirty="0" smtClean="0"/>
              <a:t>incelemek ve mikroorganizmaların hareket muayenelerini için kullanılır</a:t>
            </a:r>
          </a:p>
          <a:p>
            <a:r>
              <a:rPr lang="tr-TR" sz="2800" b="1" dirty="0" smtClean="0"/>
              <a:t>Bu mikroskopta mikroorganizmalar, karanlık zemin üzerinde parlak görüntü verirler </a:t>
            </a:r>
          </a:p>
          <a:p>
            <a:pPr>
              <a:buNone/>
            </a:pPr>
            <a:endParaRPr lang="tr-TR" dirty="0"/>
          </a:p>
        </p:txBody>
      </p:sp>
      <p:pic>
        <p:nvPicPr>
          <p:cNvPr id="4" name="Picture 1" descr="C:\Users\tijen\Desktop\ebbmCKzURT_s47_pXd.jpg"/>
          <p:cNvPicPr>
            <a:picLocks noChangeAspect="1" noChangeArrowheads="1"/>
          </p:cNvPicPr>
          <p:nvPr/>
        </p:nvPicPr>
        <p:blipFill>
          <a:blip r:embed="rId2" cstate="print"/>
          <a:srcRect/>
          <a:stretch>
            <a:fillRect/>
          </a:stretch>
        </p:blipFill>
        <p:spPr bwMode="auto">
          <a:xfrm>
            <a:off x="3203848" y="4005064"/>
            <a:ext cx="4211960" cy="2448272"/>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KARANLIK ALAN MİKROSKOBU</a:t>
            </a:r>
            <a:endParaRPr lang="tr-TR" dirty="0"/>
          </a:p>
        </p:txBody>
      </p:sp>
      <p:sp>
        <p:nvSpPr>
          <p:cNvPr id="3" name="2 İçerik Yer Tutucusu"/>
          <p:cNvSpPr>
            <a:spLocks noGrp="1"/>
          </p:cNvSpPr>
          <p:nvPr>
            <p:ph idx="1"/>
          </p:nvPr>
        </p:nvSpPr>
        <p:spPr/>
        <p:txBody>
          <a:bodyPr>
            <a:normAutofit lnSpcReduction="10000"/>
          </a:bodyPr>
          <a:lstStyle/>
          <a:p>
            <a:r>
              <a:rPr lang="tr-TR" b="1" dirty="0" smtClean="0"/>
              <a:t>Bakteri, maya, </a:t>
            </a:r>
            <a:r>
              <a:rPr lang="tr-TR" b="1" dirty="0" err="1" smtClean="0"/>
              <a:t>protozoa</a:t>
            </a:r>
            <a:r>
              <a:rPr lang="tr-TR" b="1" dirty="0" smtClean="0"/>
              <a:t> içeren süspansiyonlar ya da yanak </a:t>
            </a:r>
            <a:r>
              <a:rPr lang="tr-TR" b="1" dirty="0" err="1" smtClean="0"/>
              <a:t>epitel</a:t>
            </a:r>
            <a:r>
              <a:rPr lang="tr-TR" b="1" dirty="0" smtClean="0"/>
              <a:t> hücreleri, kan hücreleri gibi hücre ve doku ekstreleri bu yöntemle bir ön incelemeye alınabilirler</a:t>
            </a:r>
          </a:p>
          <a:p>
            <a:r>
              <a:rPr lang="tr-TR" b="1" dirty="0" smtClean="0"/>
              <a:t>Hücre kültürlerinin incelemesinde, kültürlerde hareketliliğin (</a:t>
            </a:r>
            <a:r>
              <a:rPr lang="tr-TR" b="1" dirty="0" err="1" smtClean="0"/>
              <a:t>spermatozoa</a:t>
            </a:r>
            <a:r>
              <a:rPr lang="tr-TR" b="1" dirty="0" smtClean="0"/>
              <a:t>) belirlenmesinde kullanılır</a:t>
            </a:r>
          </a:p>
          <a:p>
            <a:r>
              <a:rPr lang="tr-TR" b="1" dirty="0" err="1" smtClean="0"/>
              <a:t>Otoradyografi</a:t>
            </a:r>
            <a:r>
              <a:rPr lang="tr-TR" b="1" dirty="0" smtClean="0"/>
              <a:t> uygulanmış preparatların incelemesinde kullanılır</a:t>
            </a:r>
            <a:endParaRPr lang="tr-TR"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5" descr="darksamples"/>
          <p:cNvPicPr>
            <a:picLocks noChangeAspect="1" noChangeArrowheads="1"/>
          </p:cNvPicPr>
          <p:nvPr/>
        </p:nvPicPr>
        <p:blipFill>
          <a:blip r:embed="rId3" cstate="print"/>
          <a:srcRect/>
          <a:stretch>
            <a:fillRect/>
          </a:stretch>
        </p:blipFill>
        <p:spPr bwMode="auto">
          <a:xfrm>
            <a:off x="827088" y="3644900"/>
            <a:ext cx="7200900" cy="2944813"/>
          </a:xfrm>
          <a:prstGeom prst="rect">
            <a:avLst/>
          </a:prstGeom>
          <a:noFill/>
          <a:ln w="9525">
            <a:noFill/>
            <a:miter lim="800000"/>
            <a:headEnd/>
            <a:tailEnd/>
          </a:ln>
        </p:spPr>
      </p:pic>
      <p:pic>
        <p:nvPicPr>
          <p:cNvPr id="92163" name="Picture 6" descr="radiolarians"/>
          <p:cNvPicPr>
            <a:picLocks noChangeAspect="1" noChangeArrowheads="1"/>
          </p:cNvPicPr>
          <p:nvPr/>
        </p:nvPicPr>
        <p:blipFill>
          <a:blip r:embed="rId4" cstate="print"/>
          <a:srcRect/>
          <a:stretch>
            <a:fillRect/>
          </a:stretch>
        </p:blipFill>
        <p:spPr bwMode="auto">
          <a:xfrm>
            <a:off x="827088" y="333375"/>
            <a:ext cx="7200900" cy="3008313"/>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8" descr="178"/>
          <p:cNvPicPr>
            <a:picLocks noChangeAspect="1" noChangeArrowheads="1"/>
          </p:cNvPicPr>
          <p:nvPr/>
        </p:nvPicPr>
        <p:blipFill>
          <a:blip r:embed="rId3" cstate="print"/>
          <a:srcRect l="11333" r="11166"/>
          <a:stretch>
            <a:fillRect/>
          </a:stretch>
        </p:blipFill>
        <p:spPr bwMode="auto">
          <a:xfrm>
            <a:off x="3563888" y="980728"/>
            <a:ext cx="2809875" cy="4248150"/>
          </a:xfrm>
          <a:prstGeom prst="rect">
            <a:avLst/>
          </a:prstGeom>
          <a:noFill/>
          <a:ln w="9525">
            <a:noFill/>
            <a:miter lim="800000"/>
            <a:headEnd/>
            <a:tailEnd/>
          </a:ln>
        </p:spPr>
      </p:pic>
      <p:pic>
        <p:nvPicPr>
          <p:cNvPr id="93187" name="Picture 9" descr="phase"/>
          <p:cNvPicPr>
            <a:picLocks noChangeAspect="1" noChangeArrowheads="1"/>
          </p:cNvPicPr>
          <p:nvPr/>
        </p:nvPicPr>
        <p:blipFill>
          <a:blip r:embed="rId4" cstate="print"/>
          <a:srcRect b="706"/>
          <a:stretch>
            <a:fillRect/>
          </a:stretch>
        </p:blipFill>
        <p:spPr bwMode="auto">
          <a:xfrm>
            <a:off x="6453188" y="765175"/>
            <a:ext cx="2439292" cy="4319588"/>
          </a:xfrm>
          <a:prstGeom prst="rect">
            <a:avLst/>
          </a:prstGeom>
          <a:noFill/>
          <a:ln w="9525">
            <a:noFill/>
            <a:miter lim="800000"/>
            <a:headEnd/>
            <a:tailEnd/>
          </a:ln>
        </p:spPr>
      </p:pic>
      <p:sp>
        <p:nvSpPr>
          <p:cNvPr id="423947" name="Rectangle 11"/>
          <p:cNvSpPr>
            <a:spLocks noGrp="1" noChangeArrowheads="1"/>
          </p:cNvSpPr>
          <p:nvPr>
            <p:ph type="title"/>
          </p:nvPr>
        </p:nvSpPr>
        <p:spPr>
          <a:xfrm>
            <a:off x="827584" y="260648"/>
            <a:ext cx="7941766" cy="576064"/>
          </a:xfrm>
          <a:ln>
            <a:solidFill>
              <a:schemeClr val="accent1"/>
            </a:solidFill>
            <a:miter lim="800000"/>
            <a:headEnd/>
            <a:tailEnd/>
          </a:ln>
        </p:spPr>
        <p:txBody>
          <a:bodyPr>
            <a:normAutofit fontScale="90000"/>
          </a:bodyPr>
          <a:lstStyle/>
          <a:p>
            <a:pPr eaLnBrk="1" hangingPunct="1">
              <a:defRPr/>
            </a:pPr>
            <a:r>
              <a:rPr lang="tr-TR" sz="4000" b="1" dirty="0" smtClean="0">
                <a:solidFill>
                  <a:srgbClr val="FF0000"/>
                </a:solidFill>
              </a:rPr>
              <a:t>FAZ KONTRAST (PH) MİKROSKOP</a:t>
            </a:r>
          </a:p>
        </p:txBody>
      </p:sp>
      <p:sp>
        <p:nvSpPr>
          <p:cNvPr id="423939" name="Rectangle 3"/>
          <p:cNvSpPr>
            <a:spLocks noGrp="1" noChangeArrowheads="1"/>
          </p:cNvSpPr>
          <p:nvPr>
            <p:ph type="body" sz="half" idx="1"/>
          </p:nvPr>
        </p:nvSpPr>
        <p:spPr>
          <a:xfrm>
            <a:off x="179512" y="1052736"/>
            <a:ext cx="3401888" cy="5328592"/>
          </a:xfrm>
        </p:spPr>
        <p:txBody>
          <a:bodyPr>
            <a:normAutofit fontScale="85000" lnSpcReduction="20000"/>
          </a:bodyPr>
          <a:lstStyle/>
          <a:p>
            <a:pPr eaLnBrk="1" hangingPunct="1">
              <a:lnSpc>
                <a:spcPct val="90000"/>
              </a:lnSpc>
              <a:defRPr/>
            </a:pPr>
            <a:r>
              <a:rPr lang="tr-TR" sz="2800" b="1" dirty="0" smtClean="0"/>
              <a:t>1950’lerde geli</a:t>
            </a:r>
            <a:r>
              <a:rPr lang="tr-TR" sz="2800" b="1" dirty="0" smtClean="0">
                <a:latin typeface="Lucida Grande" pitchFamily="80" charset="0"/>
              </a:rPr>
              <a:t>ş</a:t>
            </a:r>
            <a:r>
              <a:rPr lang="tr-TR" sz="2800" b="1" dirty="0" smtClean="0"/>
              <a:t>tirildi</a:t>
            </a:r>
          </a:p>
          <a:p>
            <a:pPr>
              <a:lnSpc>
                <a:spcPct val="90000"/>
              </a:lnSpc>
              <a:defRPr/>
            </a:pPr>
            <a:r>
              <a:rPr lang="tr-TR" sz="2800" b="1" dirty="0" smtClean="0"/>
              <a:t>Faz kontrast </a:t>
            </a:r>
            <a:r>
              <a:rPr lang="tr-TR" sz="2800" b="1" dirty="0" smtClean="0">
                <a:solidFill>
                  <a:srgbClr val="FF0000"/>
                </a:solidFill>
              </a:rPr>
              <a:t>mikroskobu, materyallerin canlı ve hareketli olarak incelenmesini sağlayabilen bir mikroskoptur</a:t>
            </a:r>
          </a:p>
          <a:p>
            <a:pPr eaLnBrk="1" hangingPunct="1">
              <a:lnSpc>
                <a:spcPct val="90000"/>
              </a:lnSpc>
              <a:defRPr/>
            </a:pPr>
            <a:r>
              <a:rPr lang="tr-TR" sz="2800" b="1" dirty="0" smtClean="0"/>
              <a:t>Yaygın kullanılır</a:t>
            </a:r>
          </a:p>
          <a:p>
            <a:pPr>
              <a:lnSpc>
                <a:spcPct val="90000"/>
              </a:lnSpc>
              <a:defRPr/>
            </a:pPr>
            <a:r>
              <a:rPr lang="tr-TR" sz="2800" b="1" dirty="0" smtClean="0"/>
              <a:t>Bu tür mikroskoplarla </a:t>
            </a:r>
            <a:r>
              <a:rPr lang="tr-TR" sz="2800" b="1" dirty="0" smtClean="0">
                <a:solidFill>
                  <a:srgbClr val="FF0000"/>
                </a:solidFill>
              </a:rPr>
              <a:t>canlı mikroorganizma, hücre kültürü ve </a:t>
            </a:r>
            <a:r>
              <a:rPr lang="tr-TR" sz="2800" b="1" dirty="0" err="1" smtClean="0">
                <a:solidFill>
                  <a:srgbClr val="FF0000"/>
                </a:solidFill>
              </a:rPr>
              <a:t>spermatozoon</a:t>
            </a:r>
            <a:r>
              <a:rPr lang="tr-TR" sz="2800" b="1" dirty="0" smtClean="0">
                <a:solidFill>
                  <a:srgbClr val="FF0000"/>
                </a:solidFill>
              </a:rPr>
              <a:t> gibi.. yapılarda oluşturdukları ayrı </a:t>
            </a:r>
            <a:r>
              <a:rPr lang="tr-TR" sz="2800" b="1" dirty="0" err="1" smtClean="0">
                <a:solidFill>
                  <a:srgbClr val="FF0000"/>
                </a:solidFill>
              </a:rPr>
              <a:t>kontraslarından</a:t>
            </a:r>
            <a:r>
              <a:rPr lang="tr-TR" sz="2800" b="1" dirty="0" smtClean="0">
                <a:solidFill>
                  <a:srgbClr val="FF0000"/>
                </a:solidFill>
              </a:rPr>
              <a:t> </a:t>
            </a:r>
            <a:r>
              <a:rPr lang="tr-TR" sz="2800" b="1" dirty="0" smtClean="0"/>
              <a:t>yararlanılarak tanımlamak mümkün olabilmektedir</a:t>
            </a:r>
          </a:p>
        </p:txBody>
      </p:sp>
      <p:pic>
        <p:nvPicPr>
          <p:cNvPr id="93189" name="Picture 13" descr="phasemicroscopyfigure2"/>
          <p:cNvPicPr>
            <a:picLocks noChangeAspect="1" noChangeArrowheads="1"/>
          </p:cNvPicPr>
          <p:nvPr/>
        </p:nvPicPr>
        <p:blipFill>
          <a:blip r:embed="rId5" cstate="print"/>
          <a:srcRect/>
          <a:stretch>
            <a:fillRect/>
          </a:stretch>
        </p:blipFill>
        <p:spPr bwMode="auto">
          <a:xfrm>
            <a:off x="4932040" y="4941168"/>
            <a:ext cx="3562350" cy="1650404"/>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611560" y="332656"/>
            <a:ext cx="6192688" cy="810344"/>
          </a:xfrm>
          <a:ln>
            <a:solidFill>
              <a:schemeClr val="accent1"/>
            </a:solidFill>
            <a:miter lim="800000"/>
            <a:headEnd/>
            <a:tailEnd/>
          </a:ln>
        </p:spPr>
        <p:txBody>
          <a:bodyPr>
            <a:noAutofit/>
          </a:bodyPr>
          <a:lstStyle/>
          <a:p>
            <a:pPr algn="l" eaLnBrk="1" hangingPunct="1">
              <a:defRPr/>
            </a:pPr>
            <a:r>
              <a:rPr lang="tr-TR" sz="3600" b="1" dirty="0" smtClean="0">
                <a:solidFill>
                  <a:srgbClr val="FF0000"/>
                </a:solidFill>
              </a:rPr>
              <a:t/>
            </a:r>
            <a:br>
              <a:rPr lang="tr-TR" sz="3600" b="1" dirty="0" smtClean="0">
                <a:solidFill>
                  <a:srgbClr val="FF0000"/>
                </a:solidFill>
              </a:rPr>
            </a:br>
            <a:r>
              <a:rPr lang="tr-TR" sz="3600" b="1" dirty="0" smtClean="0">
                <a:solidFill>
                  <a:srgbClr val="FF0000"/>
                </a:solidFill>
              </a:rPr>
              <a:t>POLARİZASYON MİKROSKOBU 			   			</a:t>
            </a:r>
          </a:p>
        </p:txBody>
      </p:sp>
      <p:sp>
        <p:nvSpPr>
          <p:cNvPr id="425987" name="Rectangle 3"/>
          <p:cNvSpPr>
            <a:spLocks noGrp="1" noChangeArrowheads="1"/>
          </p:cNvSpPr>
          <p:nvPr>
            <p:ph idx="1"/>
          </p:nvPr>
        </p:nvSpPr>
        <p:spPr>
          <a:xfrm>
            <a:off x="179388" y="1219200"/>
            <a:ext cx="6221412" cy="3200400"/>
          </a:xfrm>
        </p:spPr>
        <p:txBody>
          <a:bodyPr/>
          <a:lstStyle/>
          <a:p>
            <a:pPr eaLnBrk="1" hangingPunct="1">
              <a:lnSpc>
                <a:spcPct val="80000"/>
              </a:lnSpc>
              <a:defRPr/>
            </a:pPr>
            <a:r>
              <a:rPr lang="tr-TR" sz="2400" b="1" dirty="0" smtClean="0">
                <a:solidFill>
                  <a:srgbClr val="FF0000"/>
                </a:solidFill>
              </a:rPr>
              <a:t>Daha çok mineralojide (kristal yapıları incelemede) kullanılır</a:t>
            </a:r>
          </a:p>
          <a:p>
            <a:pPr eaLnBrk="1" hangingPunct="1">
              <a:lnSpc>
                <a:spcPct val="80000"/>
              </a:lnSpc>
              <a:defRPr/>
            </a:pPr>
            <a:r>
              <a:rPr lang="tr-TR" sz="2400" b="1" dirty="0" smtClean="0"/>
              <a:t>Biyolojide </a:t>
            </a:r>
            <a:r>
              <a:rPr lang="tr-TR" sz="2400" b="1" dirty="0" smtClean="0">
                <a:solidFill>
                  <a:srgbClr val="FF0000"/>
                </a:solidFill>
              </a:rPr>
              <a:t>ışığı çift kıran (</a:t>
            </a:r>
            <a:r>
              <a:rPr lang="tr-TR" sz="2400" b="1" dirty="0" err="1" smtClean="0">
                <a:solidFill>
                  <a:srgbClr val="FF0000"/>
                </a:solidFill>
              </a:rPr>
              <a:t>bifraction</a:t>
            </a:r>
            <a:r>
              <a:rPr lang="tr-TR" sz="2400" b="1" dirty="0" smtClean="0"/>
              <a:t>) bazı yapılar (</a:t>
            </a:r>
            <a:r>
              <a:rPr lang="tr-TR" sz="2400" b="1" dirty="0" err="1" smtClean="0"/>
              <a:t>kollajen</a:t>
            </a:r>
            <a:r>
              <a:rPr lang="tr-TR" sz="2400" b="1" dirty="0" smtClean="0"/>
              <a:t>, kemik lamelleri gibi) yapılar ince ayrıntısına kadar incelenir</a:t>
            </a:r>
          </a:p>
          <a:p>
            <a:pPr eaLnBrk="1" hangingPunct="1">
              <a:lnSpc>
                <a:spcPct val="80000"/>
              </a:lnSpc>
              <a:defRPr/>
            </a:pPr>
            <a:r>
              <a:rPr lang="tr-TR" sz="2400" b="1" dirty="0" smtClean="0"/>
              <a:t>Bir </a:t>
            </a:r>
            <a:r>
              <a:rPr lang="tr-TR" sz="2400" b="1" dirty="0" err="1" smtClean="0"/>
              <a:t>polarizer</a:t>
            </a:r>
            <a:r>
              <a:rPr lang="tr-TR" sz="2400" b="1" dirty="0" smtClean="0"/>
              <a:t> ve </a:t>
            </a:r>
            <a:r>
              <a:rPr lang="tr-TR" sz="2400" b="1" dirty="0" err="1" smtClean="0"/>
              <a:t>analizer</a:t>
            </a:r>
            <a:r>
              <a:rPr lang="tr-TR" sz="2400" b="1" dirty="0" smtClean="0"/>
              <a:t> eklenmi</a:t>
            </a:r>
            <a:r>
              <a:rPr lang="tr-TR" sz="2400" b="1" dirty="0" smtClean="0">
                <a:latin typeface="Lucida Grande" pitchFamily="80" charset="0"/>
              </a:rPr>
              <a:t>ş</a:t>
            </a:r>
            <a:r>
              <a:rPr lang="tr-TR" sz="2400" b="1" dirty="0" smtClean="0"/>
              <a:t> özel bir ışık mikroskobudur</a:t>
            </a:r>
          </a:p>
        </p:txBody>
      </p:sp>
      <p:pic>
        <p:nvPicPr>
          <p:cNvPr id="96260" name="Picture 5" descr="polariz"/>
          <p:cNvPicPr>
            <a:picLocks noChangeAspect="1" noChangeArrowheads="1"/>
          </p:cNvPicPr>
          <p:nvPr/>
        </p:nvPicPr>
        <p:blipFill>
          <a:blip r:embed="rId3" cstate="print"/>
          <a:srcRect/>
          <a:stretch>
            <a:fillRect/>
          </a:stretch>
        </p:blipFill>
        <p:spPr bwMode="auto">
          <a:xfrm>
            <a:off x="6434138" y="476672"/>
            <a:ext cx="2427335" cy="4095328"/>
          </a:xfrm>
          <a:prstGeom prst="rect">
            <a:avLst/>
          </a:prstGeom>
          <a:noFill/>
          <a:ln w="9525">
            <a:noFill/>
            <a:miter lim="800000"/>
            <a:headEnd/>
            <a:tailEnd/>
          </a:ln>
        </p:spPr>
      </p:pic>
      <p:pic>
        <p:nvPicPr>
          <p:cNvPr id="96261" name="Picture 7" descr="polardna"/>
          <p:cNvPicPr>
            <a:picLocks noChangeAspect="1" noChangeArrowheads="1"/>
          </p:cNvPicPr>
          <p:nvPr/>
        </p:nvPicPr>
        <p:blipFill>
          <a:blip r:embed="rId4" cstate="print"/>
          <a:srcRect/>
          <a:stretch>
            <a:fillRect/>
          </a:stretch>
        </p:blipFill>
        <p:spPr bwMode="auto">
          <a:xfrm>
            <a:off x="2123728" y="4077072"/>
            <a:ext cx="2552700" cy="2552700"/>
          </a:xfrm>
          <a:prstGeom prst="rect">
            <a:avLst/>
          </a:prstGeom>
          <a:noFill/>
          <a:ln w="9525">
            <a:noFill/>
            <a:miter lim="800000"/>
            <a:headEnd/>
            <a:tailEnd/>
          </a:ln>
        </p:spPr>
      </p:pic>
      <p:pic>
        <p:nvPicPr>
          <p:cNvPr id="96262" name="Picture 9" descr="Polarization"/>
          <p:cNvPicPr>
            <a:picLocks noChangeAspect="1" noChangeArrowheads="1"/>
          </p:cNvPicPr>
          <p:nvPr/>
        </p:nvPicPr>
        <p:blipFill>
          <a:blip r:embed="rId5" cstate="print"/>
          <a:srcRect/>
          <a:stretch>
            <a:fillRect/>
          </a:stretch>
        </p:blipFill>
        <p:spPr bwMode="auto">
          <a:xfrm>
            <a:off x="4667250" y="4543426"/>
            <a:ext cx="4153222" cy="21473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a:xfrm>
            <a:off x="250825" y="144463"/>
            <a:ext cx="4475163" cy="620712"/>
          </a:xfrm>
          <a:ln>
            <a:solidFill>
              <a:schemeClr val="accent1"/>
            </a:solidFill>
            <a:miter lim="800000"/>
            <a:headEnd/>
            <a:tailEnd/>
          </a:ln>
        </p:spPr>
        <p:txBody>
          <a:bodyPr>
            <a:normAutofit/>
          </a:bodyPr>
          <a:lstStyle/>
          <a:p>
            <a:pPr eaLnBrk="1" hangingPunct="1">
              <a:defRPr/>
            </a:pPr>
            <a:r>
              <a:rPr lang="tr-TR" sz="3200" b="1" dirty="0" smtClean="0">
                <a:solidFill>
                  <a:srgbClr val="FF0000"/>
                </a:solidFill>
                <a:latin typeface="+mn-lt"/>
              </a:rPr>
              <a:t>FLÜORESAN MİKROSKOP</a:t>
            </a:r>
          </a:p>
        </p:txBody>
      </p:sp>
      <p:sp>
        <p:nvSpPr>
          <p:cNvPr id="428035" name="Rectangle 3"/>
          <p:cNvSpPr>
            <a:spLocks noGrp="1" noChangeArrowheads="1"/>
          </p:cNvSpPr>
          <p:nvPr>
            <p:ph idx="1"/>
          </p:nvPr>
        </p:nvSpPr>
        <p:spPr>
          <a:xfrm>
            <a:off x="395536" y="762000"/>
            <a:ext cx="4709864" cy="2514600"/>
          </a:xfrm>
        </p:spPr>
        <p:txBody>
          <a:bodyPr>
            <a:normAutofit/>
          </a:bodyPr>
          <a:lstStyle/>
          <a:p>
            <a:pPr>
              <a:lnSpc>
                <a:spcPct val="80000"/>
              </a:lnSpc>
              <a:defRPr/>
            </a:pPr>
            <a:r>
              <a:rPr lang="tr-TR" sz="2800" b="1" dirty="0" err="1" smtClean="0"/>
              <a:t>Floresan</a:t>
            </a:r>
            <a:r>
              <a:rPr lang="tr-TR" sz="2800" b="1" dirty="0" smtClean="0"/>
              <a:t> mikroskobu, ışık mikroskobunun büyütme özelliklerini bileşiklerin </a:t>
            </a:r>
            <a:r>
              <a:rPr lang="tr-TR" sz="2800" b="1" dirty="0" err="1" smtClean="0"/>
              <a:t>floresans</a:t>
            </a:r>
            <a:r>
              <a:rPr lang="tr-TR" sz="2800" b="1" dirty="0" smtClean="0"/>
              <a:t> yayan özellikleriyle birleştirerek çalışır</a:t>
            </a:r>
            <a:endParaRPr lang="tr-TR" sz="2800" b="1" dirty="0" smtClean="0">
              <a:solidFill>
                <a:srgbClr val="FF0000"/>
              </a:solidFill>
            </a:endParaRPr>
          </a:p>
        </p:txBody>
      </p:sp>
      <p:pic>
        <p:nvPicPr>
          <p:cNvPr id="97283" name="Picture 5" descr="fluordgm"/>
          <p:cNvPicPr>
            <a:picLocks noChangeAspect="1" noChangeArrowheads="1"/>
          </p:cNvPicPr>
          <p:nvPr/>
        </p:nvPicPr>
        <p:blipFill>
          <a:blip r:embed="rId3" cstate="print"/>
          <a:srcRect/>
          <a:stretch>
            <a:fillRect/>
          </a:stretch>
        </p:blipFill>
        <p:spPr bwMode="auto">
          <a:xfrm>
            <a:off x="3707904" y="3645024"/>
            <a:ext cx="5220072" cy="2963478"/>
          </a:xfrm>
          <a:prstGeom prst="rect">
            <a:avLst/>
          </a:prstGeom>
          <a:noFill/>
          <a:ln w="9525">
            <a:noFill/>
            <a:miter lim="800000"/>
            <a:headEnd/>
            <a:tailEnd/>
          </a:ln>
        </p:spPr>
      </p:pic>
      <p:pic>
        <p:nvPicPr>
          <p:cNvPr id="97284" name="Picture 7" descr="fluorointrofigure1"/>
          <p:cNvPicPr>
            <a:picLocks noChangeAspect="1" noChangeArrowheads="1"/>
          </p:cNvPicPr>
          <p:nvPr/>
        </p:nvPicPr>
        <p:blipFill>
          <a:blip r:embed="rId4" cstate="print"/>
          <a:srcRect/>
          <a:stretch>
            <a:fillRect/>
          </a:stretch>
        </p:blipFill>
        <p:spPr bwMode="auto">
          <a:xfrm>
            <a:off x="4932363" y="404664"/>
            <a:ext cx="3751271" cy="3297386"/>
          </a:xfrm>
          <a:prstGeom prst="rect">
            <a:avLst/>
          </a:prstGeom>
          <a:noFill/>
          <a:ln w="9525">
            <a:noFill/>
            <a:miter lim="800000"/>
            <a:headEnd/>
            <a:tailEnd/>
          </a:ln>
        </p:spPr>
      </p:pic>
      <p:pic>
        <p:nvPicPr>
          <p:cNvPr id="97285" name="Picture 9" descr="fluorointrofigure2"/>
          <p:cNvPicPr>
            <a:picLocks noChangeAspect="1" noChangeArrowheads="1"/>
          </p:cNvPicPr>
          <p:nvPr/>
        </p:nvPicPr>
        <p:blipFill>
          <a:blip r:embed="rId5" cstate="print"/>
          <a:srcRect/>
          <a:stretch>
            <a:fillRect/>
          </a:stretch>
        </p:blipFill>
        <p:spPr bwMode="auto">
          <a:xfrm>
            <a:off x="611559" y="4857750"/>
            <a:ext cx="3023815" cy="1787058"/>
          </a:xfrm>
          <a:prstGeom prst="rect">
            <a:avLst/>
          </a:prstGeom>
          <a:noFill/>
          <a:ln w="9525">
            <a:noFill/>
            <a:miter lim="800000"/>
            <a:headEnd/>
            <a:tailEnd/>
          </a:ln>
        </p:spPr>
      </p:pic>
      <p:pic>
        <p:nvPicPr>
          <p:cNvPr id="97286" name="Picture 10" descr="fluorointrofigure5"/>
          <p:cNvPicPr>
            <a:picLocks noChangeAspect="1" noChangeArrowheads="1"/>
          </p:cNvPicPr>
          <p:nvPr/>
        </p:nvPicPr>
        <p:blipFill>
          <a:blip r:embed="rId6" cstate="print"/>
          <a:srcRect/>
          <a:stretch>
            <a:fillRect/>
          </a:stretch>
        </p:blipFill>
        <p:spPr bwMode="auto">
          <a:xfrm>
            <a:off x="250825" y="3141663"/>
            <a:ext cx="3384550" cy="16811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FLÜORESAN MİKROSKOP</a:t>
            </a:r>
            <a:endParaRPr lang="tr-TR" dirty="0"/>
          </a:p>
        </p:txBody>
      </p:sp>
      <p:sp>
        <p:nvSpPr>
          <p:cNvPr id="3" name="2 İçerik Yer Tutucusu"/>
          <p:cNvSpPr>
            <a:spLocks noGrp="1"/>
          </p:cNvSpPr>
          <p:nvPr>
            <p:ph idx="1"/>
          </p:nvPr>
        </p:nvSpPr>
        <p:spPr/>
        <p:txBody>
          <a:bodyPr>
            <a:normAutofit lnSpcReduction="10000"/>
          </a:bodyPr>
          <a:lstStyle/>
          <a:p>
            <a:r>
              <a:rPr lang="tr-TR" sz="2800" b="1" dirty="0" smtClean="0">
                <a:solidFill>
                  <a:srgbClr val="FF0000"/>
                </a:solidFill>
              </a:rPr>
              <a:t>Bazı mikroorganizmalar </a:t>
            </a:r>
            <a:r>
              <a:rPr lang="tr-TR" sz="2800" b="1" dirty="0" err="1" smtClean="0">
                <a:solidFill>
                  <a:srgbClr val="FF0000"/>
                </a:solidFill>
              </a:rPr>
              <a:t>fluoresans</a:t>
            </a:r>
            <a:r>
              <a:rPr lang="tr-TR" sz="2800" b="1" dirty="0" smtClean="0">
                <a:solidFill>
                  <a:srgbClr val="FF0000"/>
                </a:solidFill>
              </a:rPr>
              <a:t> veren boyaları özel olarak alırlar ve </a:t>
            </a:r>
            <a:r>
              <a:rPr lang="tr-TR" sz="2800" b="1" dirty="0" err="1" smtClean="0">
                <a:solidFill>
                  <a:srgbClr val="FF0000"/>
                </a:solidFill>
              </a:rPr>
              <a:t>fluoresans</a:t>
            </a:r>
            <a:r>
              <a:rPr lang="tr-TR" sz="2800" b="1" dirty="0" smtClean="0">
                <a:solidFill>
                  <a:srgbClr val="FF0000"/>
                </a:solidFill>
              </a:rPr>
              <a:t> mikroskop ile incelendiğinde </a:t>
            </a:r>
            <a:r>
              <a:rPr lang="tr-TR" sz="2800" b="1" dirty="0" err="1" smtClean="0">
                <a:solidFill>
                  <a:srgbClr val="FF0000"/>
                </a:solidFill>
              </a:rPr>
              <a:t>fluoresans</a:t>
            </a:r>
            <a:r>
              <a:rPr lang="tr-TR" sz="2800" b="1" dirty="0" smtClean="0">
                <a:solidFill>
                  <a:srgbClr val="FF0000"/>
                </a:solidFill>
              </a:rPr>
              <a:t> görünüm  verirler</a:t>
            </a:r>
          </a:p>
          <a:p>
            <a:r>
              <a:rPr lang="tr-TR" sz="2800" b="1" dirty="0" err="1" smtClean="0"/>
              <a:t>Fluoresans</a:t>
            </a:r>
            <a:r>
              <a:rPr lang="tr-TR" sz="2800" b="1" dirty="0" smtClean="0"/>
              <a:t> veren boyalar antikor gibi bir aracıya bağlanarak da klinik örneklerde mikroorganizma aranır </a:t>
            </a:r>
          </a:p>
          <a:p>
            <a:r>
              <a:rPr lang="tr-TR" sz="2800" b="1" dirty="0" smtClean="0"/>
              <a:t>Kanser hücresinin DNA, Protein, </a:t>
            </a:r>
            <a:r>
              <a:rPr lang="tr-TR" sz="2800" b="1" dirty="0" err="1" smtClean="0"/>
              <a:t>mikrotübüller</a:t>
            </a:r>
            <a:r>
              <a:rPr lang="tr-TR" sz="2800" b="1" dirty="0" smtClean="0"/>
              <a:t> gibi bileşenlerini birbirinden kolaylıkla ayırt ederek görüntülemek için </a:t>
            </a:r>
            <a:r>
              <a:rPr lang="tr-TR" sz="2800" b="1" dirty="0" err="1" smtClean="0"/>
              <a:t>floresan</a:t>
            </a:r>
            <a:r>
              <a:rPr lang="tr-TR" sz="2800" b="1" dirty="0" smtClean="0"/>
              <a:t> mikroskobu kullanılarak görüntüler elde edilir</a:t>
            </a:r>
            <a:endParaRPr lang="tr-TR" sz="2800"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8" descr="NEUN S100 DAPI K5 X63 B"/>
          <p:cNvPicPr>
            <a:picLocks noChangeAspect="1" noChangeArrowheads="1"/>
          </p:cNvPicPr>
          <p:nvPr/>
        </p:nvPicPr>
        <p:blipFill>
          <a:blip r:embed="rId3" cstate="print"/>
          <a:srcRect/>
          <a:stretch>
            <a:fillRect/>
          </a:stretch>
        </p:blipFill>
        <p:spPr bwMode="auto">
          <a:xfrm>
            <a:off x="4499992" y="3212976"/>
            <a:ext cx="4320480" cy="3421880"/>
          </a:xfrm>
          <a:prstGeom prst="rect">
            <a:avLst/>
          </a:prstGeom>
          <a:noFill/>
          <a:ln w="9525">
            <a:noFill/>
            <a:miter lim="800000"/>
            <a:headEnd/>
            <a:tailEnd/>
          </a:ln>
        </p:spPr>
      </p:pic>
      <p:pic>
        <p:nvPicPr>
          <p:cNvPr id="98307" name="Picture 9" descr="R1"/>
          <p:cNvPicPr>
            <a:picLocks noChangeAspect="1" noChangeArrowheads="1"/>
          </p:cNvPicPr>
          <p:nvPr/>
        </p:nvPicPr>
        <p:blipFill>
          <a:blip r:embed="rId4" cstate="print"/>
          <a:srcRect/>
          <a:stretch>
            <a:fillRect/>
          </a:stretch>
        </p:blipFill>
        <p:spPr bwMode="auto">
          <a:xfrm>
            <a:off x="238072" y="3235325"/>
            <a:ext cx="4333927" cy="3434035"/>
          </a:xfrm>
          <a:prstGeom prst="rect">
            <a:avLst/>
          </a:prstGeom>
          <a:noFill/>
          <a:ln w="9525">
            <a:noFill/>
            <a:miter lim="800000"/>
            <a:headEnd/>
            <a:tailEnd/>
          </a:ln>
        </p:spPr>
      </p:pic>
      <p:pic>
        <p:nvPicPr>
          <p:cNvPr id="98308" name="Picture 12" descr="Copy of NEUN S100 DAPI K5 X63 C"/>
          <p:cNvPicPr>
            <a:picLocks noChangeAspect="1" noChangeArrowheads="1"/>
          </p:cNvPicPr>
          <p:nvPr/>
        </p:nvPicPr>
        <p:blipFill>
          <a:blip r:embed="rId5" cstate="print">
            <a:lum bright="12000" contrast="18000"/>
          </a:blip>
          <a:srcRect l="31383" t="39577" r="15044"/>
          <a:stretch>
            <a:fillRect/>
          </a:stretch>
        </p:blipFill>
        <p:spPr bwMode="auto">
          <a:xfrm>
            <a:off x="5940152" y="332656"/>
            <a:ext cx="2967129" cy="2589659"/>
          </a:xfrm>
          <a:prstGeom prst="rect">
            <a:avLst/>
          </a:prstGeom>
          <a:noFill/>
          <a:ln w="9525">
            <a:noFill/>
            <a:miter lim="800000"/>
            <a:headEnd/>
            <a:tailEnd/>
          </a:ln>
        </p:spPr>
      </p:pic>
      <p:pic>
        <p:nvPicPr>
          <p:cNvPr id="98309" name="Picture 13" descr="Copy of NEUN S100 DAPI K5 X63 C"/>
          <p:cNvPicPr>
            <a:picLocks noChangeAspect="1" noChangeArrowheads="1"/>
          </p:cNvPicPr>
          <p:nvPr/>
        </p:nvPicPr>
        <p:blipFill>
          <a:blip r:embed="rId6" cstate="print">
            <a:lum bright="12000" contrast="6000"/>
          </a:blip>
          <a:srcRect r="14659"/>
          <a:stretch>
            <a:fillRect/>
          </a:stretch>
        </p:blipFill>
        <p:spPr bwMode="auto">
          <a:xfrm>
            <a:off x="2993071" y="260351"/>
            <a:ext cx="2947353" cy="2736602"/>
          </a:xfrm>
          <a:prstGeom prst="rect">
            <a:avLst/>
          </a:prstGeom>
          <a:noFill/>
          <a:ln w="9525">
            <a:noFill/>
            <a:miter lim="800000"/>
            <a:headEnd/>
            <a:tailEnd/>
          </a:ln>
        </p:spPr>
      </p:pic>
      <p:pic>
        <p:nvPicPr>
          <p:cNvPr id="98310" name="Picture 14" descr="NEUN S100 DAPI K5 X63 C"/>
          <p:cNvPicPr>
            <a:picLocks noChangeAspect="1" noChangeArrowheads="1"/>
          </p:cNvPicPr>
          <p:nvPr/>
        </p:nvPicPr>
        <p:blipFill>
          <a:blip r:embed="rId7" cstate="print">
            <a:lum bright="12000" contrast="6000"/>
          </a:blip>
          <a:srcRect l="7315" r="8139"/>
          <a:stretch>
            <a:fillRect/>
          </a:stretch>
        </p:blipFill>
        <p:spPr bwMode="auto">
          <a:xfrm>
            <a:off x="179512" y="260648"/>
            <a:ext cx="2839103" cy="2661369"/>
          </a:xfrm>
          <a:prstGeom prst="rect">
            <a:avLst/>
          </a:prstGeom>
          <a:noFill/>
          <a:ln w="9525">
            <a:noFill/>
            <a:miter lim="800000"/>
            <a:headEnd/>
            <a:tailEnd/>
          </a:ln>
        </p:spPr>
      </p:pic>
      <p:sp>
        <p:nvSpPr>
          <p:cNvPr id="429071" name="Text Box 15"/>
          <p:cNvSpPr txBox="1">
            <a:spLocks noChangeArrowheads="1"/>
          </p:cNvSpPr>
          <p:nvPr/>
        </p:nvSpPr>
        <p:spPr bwMode="auto">
          <a:xfrm>
            <a:off x="6507163" y="6381750"/>
            <a:ext cx="2636837" cy="266700"/>
          </a:xfrm>
          <a:prstGeom prst="rect">
            <a:avLst/>
          </a:prstGeom>
          <a:noFill/>
          <a:ln>
            <a:noFill/>
          </a:ln>
          <a:effectLst/>
          <a:extLst>
            <a:ext uri="{909E8E84-426E-40DD-AFC4-6F175D3DCCD1}"/>
            <a:ext uri="{91240B29-F687-4F45-9708-019B960494DF}"/>
            <a:ext uri="{AF507438-7753-43E0-B8FC-AC1667EBCBE1}"/>
          </a:extLst>
        </p:spPr>
        <p:txBody>
          <a:bodyPr lIns="53950" tIns="26975" rIns="53950" bIns="26975">
            <a:spAutoFit/>
          </a:bodyPr>
          <a:lstStyle/>
          <a:p>
            <a:pPr>
              <a:defRPr/>
            </a:pPr>
            <a:r>
              <a:rPr lang="tr-TR" sz="1400" b="1" u="none">
                <a:solidFill>
                  <a:srgbClr val="FF0000"/>
                </a:solidFill>
                <a:latin typeface="Arial" charset="0"/>
              </a:rPr>
              <a:t>S100 </a:t>
            </a:r>
            <a:r>
              <a:rPr lang="tr-TR" sz="1400" b="1" u="none">
                <a:solidFill>
                  <a:srgbClr val="FFFFE1"/>
                </a:solidFill>
                <a:latin typeface="Arial" charset="0"/>
              </a:rPr>
              <a:t>+ </a:t>
            </a:r>
            <a:r>
              <a:rPr lang="tr-TR" sz="1400" b="1" u="none">
                <a:solidFill>
                  <a:srgbClr val="81D24A"/>
                </a:solidFill>
                <a:latin typeface="Arial" charset="0"/>
              </a:rPr>
              <a:t>NeuN </a:t>
            </a:r>
            <a:r>
              <a:rPr lang="tr-TR" sz="1400" b="1" u="none">
                <a:solidFill>
                  <a:srgbClr val="FFFFE1"/>
                </a:solidFill>
                <a:latin typeface="Arial" charset="0"/>
              </a:rPr>
              <a:t>+  </a:t>
            </a:r>
            <a:r>
              <a:rPr lang="tr-TR" sz="1400" b="1" u="none">
                <a:solidFill>
                  <a:srgbClr val="00CCFF"/>
                </a:solidFill>
                <a:latin typeface="Arial" charset="0"/>
              </a:rPr>
              <a:t>DAPI</a:t>
            </a:r>
            <a:endParaRPr lang="tr-TR" u="none">
              <a:effectLst>
                <a:outerShdw blurRad="38100" dist="38100" dir="2700000" algn="tl">
                  <a:srgbClr val="FFFFFF"/>
                </a:outerShdw>
              </a:effectLst>
            </a:endParaRPr>
          </a:p>
        </p:txBody>
      </p:sp>
    </p:spTree>
  </p:cSld>
  <p:clrMapOvr>
    <a:masterClrMapping/>
  </p:clrMapOvr>
  <p:transition spd="med">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C:\Users\tijen\Desktop\kon-2.jpg"/>
          <p:cNvPicPr>
            <a:picLocks noChangeAspect="1" noChangeArrowheads="1"/>
          </p:cNvPicPr>
          <p:nvPr/>
        </p:nvPicPr>
        <p:blipFill>
          <a:blip r:embed="rId2" cstate="print"/>
          <a:srcRect/>
          <a:stretch>
            <a:fillRect/>
          </a:stretch>
        </p:blipFill>
        <p:spPr bwMode="auto">
          <a:xfrm>
            <a:off x="3779912" y="260648"/>
            <a:ext cx="5076056" cy="3024336"/>
          </a:xfrm>
          <a:prstGeom prst="rect">
            <a:avLst/>
          </a:prstGeom>
          <a:noFill/>
        </p:spPr>
      </p:pic>
      <p:pic>
        <p:nvPicPr>
          <p:cNvPr id="134147" name="Picture 3" descr="C:\Users\tijen\Desktop\Lazer-Taramali-Konfokal-Mikroskop-scaled.jpg"/>
          <p:cNvPicPr>
            <a:picLocks noChangeAspect="1" noChangeArrowheads="1"/>
          </p:cNvPicPr>
          <p:nvPr/>
        </p:nvPicPr>
        <p:blipFill>
          <a:blip r:embed="rId3" cstate="print"/>
          <a:srcRect/>
          <a:stretch>
            <a:fillRect/>
          </a:stretch>
        </p:blipFill>
        <p:spPr bwMode="auto">
          <a:xfrm>
            <a:off x="611560" y="3429000"/>
            <a:ext cx="7344816" cy="3240360"/>
          </a:xfrm>
          <a:prstGeom prst="rect">
            <a:avLst/>
          </a:prstGeom>
          <a:noFill/>
        </p:spPr>
      </p:pic>
      <p:sp>
        <p:nvSpPr>
          <p:cNvPr id="4" name="3 Dikdörtgen"/>
          <p:cNvSpPr/>
          <p:nvPr/>
        </p:nvSpPr>
        <p:spPr>
          <a:xfrm>
            <a:off x="395537" y="1124744"/>
            <a:ext cx="2808312" cy="1323439"/>
          </a:xfrm>
          <a:prstGeom prst="rect">
            <a:avLst/>
          </a:prstGeom>
        </p:spPr>
        <p:txBody>
          <a:bodyPr wrap="square">
            <a:spAutoFit/>
          </a:bodyPr>
          <a:lstStyle/>
          <a:p>
            <a:r>
              <a:rPr lang="tr-TR" sz="4000" b="1" dirty="0" smtClean="0">
                <a:solidFill>
                  <a:srgbClr val="FF0000"/>
                </a:solidFill>
              </a:rPr>
              <a:t>  KONFOKAL   MİKROSKOP</a:t>
            </a:r>
            <a:endParaRPr lang="tr-TR" sz="4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LAZER TARAMALI KONFOKAL MİKROSKOPLAR</a:t>
            </a:r>
            <a:endParaRPr lang="tr-TR" b="1"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t>1-Lazer taramalı </a:t>
            </a:r>
            <a:r>
              <a:rPr lang="tr-TR" b="1" dirty="0" err="1" smtClean="0"/>
              <a:t>konfokal</a:t>
            </a:r>
            <a:r>
              <a:rPr lang="tr-TR" b="1" dirty="0" smtClean="0"/>
              <a:t> mikroskopları doku preparatlarında </a:t>
            </a:r>
            <a:r>
              <a:rPr lang="tr-TR" b="1" dirty="0" err="1" smtClean="0"/>
              <a:t>floresan</a:t>
            </a:r>
            <a:r>
              <a:rPr lang="tr-TR" b="1" dirty="0" smtClean="0"/>
              <a:t> boyalarla etiketlenmiş hücre içi yapıların veya proteinlerin yerlerini belirleyerek incelemek amacıyla kullanılır</a:t>
            </a:r>
          </a:p>
          <a:p>
            <a:r>
              <a:rPr lang="tr-TR" b="1" dirty="0" smtClean="0"/>
              <a:t>2- Dokuların ve </a:t>
            </a:r>
            <a:r>
              <a:rPr lang="tr-TR" b="1" dirty="0" err="1" smtClean="0"/>
              <a:t>organellerin</a:t>
            </a:r>
            <a:r>
              <a:rPr lang="tr-TR" b="1" dirty="0" smtClean="0"/>
              <a:t> dijital ortamda bilgisayar  destekli 3-D görüntüleri elde etmek mümkündür</a:t>
            </a:r>
          </a:p>
          <a:p>
            <a:pPr>
              <a:buNone/>
            </a:pPr>
            <a:endParaRPr lang="tr-TR"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LAZER TARAMALI KONFOKAL MİKROSKOPLAR</a:t>
            </a:r>
            <a:endParaRPr lang="tr-TR" dirty="0"/>
          </a:p>
        </p:txBody>
      </p:sp>
      <p:sp>
        <p:nvSpPr>
          <p:cNvPr id="3" name="2 İçerik Yer Tutucusu"/>
          <p:cNvSpPr>
            <a:spLocks noGrp="1"/>
          </p:cNvSpPr>
          <p:nvPr>
            <p:ph idx="1"/>
          </p:nvPr>
        </p:nvSpPr>
        <p:spPr/>
        <p:txBody>
          <a:bodyPr>
            <a:normAutofit lnSpcReduction="10000"/>
          </a:bodyPr>
          <a:lstStyle/>
          <a:p>
            <a:r>
              <a:rPr lang="tr-TR" b="1" dirty="0" smtClean="0"/>
              <a:t>3-Bunun yanı sıra canlı hücrelerde zamana bağlı moleküllerin hücre içindeki hareketleri de izlenebilmektedir</a:t>
            </a:r>
          </a:p>
          <a:p>
            <a:pPr>
              <a:buNone/>
            </a:pPr>
            <a:endParaRPr lang="tr-TR" b="1" dirty="0" smtClean="0"/>
          </a:p>
          <a:p>
            <a:pPr>
              <a:lnSpc>
                <a:spcPct val="80000"/>
              </a:lnSpc>
              <a:defRPr/>
            </a:pPr>
            <a:r>
              <a:rPr lang="tr-TR" b="1" dirty="0" smtClean="0">
                <a:solidFill>
                  <a:srgbClr val="FF0000"/>
                </a:solidFill>
              </a:rPr>
              <a:t>ÖRNEĞİN,</a:t>
            </a:r>
            <a:r>
              <a:rPr lang="tr-TR" dirty="0" smtClean="0">
                <a:solidFill>
                  <a:srgbClr val="FF0000"/>
                </a:solidFill>
              </a:rPr>
              <a:t> </a:t>
            </a:r>
            <a:r>
              <a:rPr lang="tr-TR" b="1" dirty="0" smtClean="0"/>
              <a:t>hücre içi serbest </a:t>
            </a:r>
            <a:r>
              <a:rPr lang="tr-TR" b="1" dirty="0" err="1" smtClean="0"/>
              <a:t>Ca</a:t>
            </a:r>
            <a:r>
              <a:rPr lang="tr-TR" b="1" dirty="0" smtClean="0"/>
              <a:t>⁺2 miktarını belirlemek için, </a:t>
            </a:r>
          </a:p>
          <a:p>
            <a:pPr>
              <a:lnSpc>
                <a:spcPct val="80000"/>
              </a:lnSpc>
              <a:buNone/>
              <a:defRPr/>
            </a:pPr>
            <a:r>
              <a:rPr lang="tr-TR" b="1" dirty="0" smtClean="0"/>
              <a:t>	değişik </a:t>
            </a:r>
            <a:r>
              <a:rPr lang="tr-TR" b="1" dirty="0" err="1" smtClean="0"/>
              <a:t>floresan</a:t>
            </a:r>
            <a:r>
              <a:rPr lang="tr-TR" b="1" dirty="0" smtClean="0"/>
              <a:t> boylar ile (</a:t>
            </a:r>
            <a:r>
              <a:rPr lang="tr-TR" b="1" dirty="0" err="1" smtClean="0"/>
              <a:t>Fura</a:t>
            </a:r>
            <a:r>
              <a:rPr lang="tr-TR" b="1" dirty="0" smtClean="0"/>
              <a:t>-2, </a:t>
            </a:r>
            <a:r>
              <a:rPr lang="tr-TR" b="1" dirty="0" err="1" smtClean="0"/>
              <a:t>Flo</a:t>
            </a:r>
            <a:r>
              <a:rPr lang="tr-TR" b="1" dirty="0" smtClean="0"/>
              <a:t>-3 ve </a:t>
            </a:r>
            <a:r>
              <a:rPr lang="tr-TR" b="1" dirty="0" err="1" smtClean="0"/>
              <a:t>Fluo</a:t>
            </a:r>
            <a:r>
              <a:rPr lang="tr-TR" b="1" dirty="0" smtClean="0"/>
              <a:t>-8)    </a:t>
            </a:r>
            <a:r>
              <a:rPr lang="tr-TR" b="1" dirty="0" err="1" smtClean="0"/>
              <a:t>inkübe</a:t>
            </a:r>
            <a:r>
              <a:rPr lang="tr-TR" b="1" dirty="0" smtClean="0"/>
              <a:t>  edilen hücreler, </a:t>
            </a:r>
            <a:r>
              <a:rPr lang="tr-TR" b="1" dirty="0" err="1" smtClean="0"/>
              <a:t>konfokal</a:t>
            </a:r>
            <a:r>
              <a:rPr lang="tr-TR" b="1" dirty="0" smtClean="0"/>
              <a:t> lazer taramalı mikroskop altına konulup görüntületilmektedir</a:t>
            </a:r>
          </a:p>
          <a:p>
            <a:endParaRPr lang="tr-T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LAZER TARAMALI KONFOKAL MİKROSKOP</a:t>
            </a:r>
            <a:endParaRPr lang="tr-TR" dirty="0"/>
          </a:p>
        </p:txBody>
      </p:sp>
      <p:pic>
        <p:nvPicPr>
          <p:cNvPr id="133122" name="Picture 2" descr="C:\Users\tijen\Desktop\Lazer-Taramali-Konfokal-Mikroskop-scaled.jpg"/>
          <p:cNvPicPr>
            <a:picLocks noGrp="1" noChangeAspect="1" noChangeArrowheads="1"/>
          </p:cNvPicPr>
          <p:nvPr>
            <p:ph idx="1"/>
          </p:nvPr>
        </p:nvPicPr>
        <p:blipFill>
          <a:blip r:embed="rId2" cstate="print"/>
          <a:srcRect/>
          <a:stretch>
            <a:fillRect/>
          </a:stretch>
        </p:blipFill>
        <p:spPr bwMode="auto">
          <a:xfrm>
            <a:off x="683568" y="1700808"/>
            <a:ext cx="7776864" cy="4525963"/>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84976" cy="6264696"/>
          </a:xfrm>
        </p:spPr>
        <p:txBody>
          <a:bodyPr>
            <a:normAutofit/>
          </a:bodyPr>
          <a:lstStyle/>
          <a:p>
            <a:pPr>
              <a:buNone/>
            </a:pPr>
            <a:r>
              <a:rPr lang="tr-TR" sz="2800" b="1" dirty="0" smtClean="0">
                <a:solidFill>
                  <a:srgbClr val="FF0000"/>
                </a:solidFill>
              </a:rPr>
              <a:t>		</a:t>
            </a:r>
            <a:r>
              <a:rPr lang="tr-TR" sz="4000" b="1" dirty="0" smtClean="0">
                <a:solidFill>
                  <a:srgbClr val="FF0000"/>
                </a:solidFill>
              </a:rPr>
              <a:t>	 İNVERT MİKROSKOP</a:t>
            </a:r>
            <a:endParaRPr lang="tr-TR" sz="4000" b="1" dirty="0" smtClean="0"/>
          </a:p>
          <a:p>
            <a:r>
              <a:rPr lang="tr-TR" sz="2800" b="1" dirty="0" smtClean="0"/>
              <a:t>Normal ışık mikroskobu yapısında, ancak objektifleri bir mikroskop tablası altına yerleştirilmiş, özellikle  </a:t>
            </a:r>
            <a:r>
              <a:rPr lang="tr-TR" sz="2800" b="1" dirty="0" smtClean="0">
                <a:solidFill>
                  <a:srgbClr val="FF0000"/>
                </a:solidFill>
              </a:rPr>
              <a:t>HÜCRE KÜLTÜRLERİNİ </a:t>
            </a:r>
            <a:r>
              <a:rPr lang="tr-TR" sz="2800" b="1" dirty="0" smtClean="0"/>
              <a:t>incelemeye elverişli bir mikroskoptur</a:t>
            </a:r>
            <a:endParaRPr lang="tr-TR" sz="2800" dirty="0"/>
          </a:p>
        </p:txBody>
      </p:sp>
      <p:pic>
        <p:nvPicPr>
          <p:cNvPr id="6" name="Picture 2"/>
          <p:cNvPicPr>
            <a:picLocks noChangeAspect="1" noChangeArrowheads="1"/>
          </p:cNvPicPr>
          <p:nvPr/>
        </p:nvPicPr>
        <p:blipFill>
          <a:blip r:embed="rId2" cstate="print"/>
          <a:srcRect/>
          <a:stretch>
            <a:fillRect/>
          </a:stretch>
        </p:blipFill>
        <p:spPr bwMode="auto">
          <a:xfrm>
            <a:off x="4572000" y="2636912"/>
            <a:ext cx="3981450" cy="3419475"/>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ELEKTRON MİKROSKOBU</a:t>
            </a:r>
            <a:endParaRPr lang="tr-TR" sz="4000" b="1" dirty="0">
              <a:solidFill>
                <a:srgbClr val="FF0000"/>
              </a:solidFill>
            </a:endParaRPr>
          </a:p>
        </p:txBody>
      </p:sp>
      <p:pic>
        <p:nvPicPr>
          <p:cNvPr id="4" name="Picture 2" descr="C:\Users\user\Desktop\elektron-mikroskobu.jpg"/>
          <p:cNvPicPr>
            <a:picLocks noGrp="1" noChangeAspect="1" noChangeArrowheads="1"/>
          </p:cNvPicPr>
          <p:nvPr>
            <p:ph idx="1"/>
          </p:nvPr>
        </p:nvPicPr>
        <p:blipFill>
          <a:blip r:embed="rId2" cstate="print"/>
          <a:srcRect/>
          <a:stretch>
            <a:fillRect/>
          </a:stretch>
        </p:blipFill>
        <p:spPr bwMode="auto">
          <a:xfrm>
            <a:off x="911294" y="1600200"/>
            <a:ext cx="7321411" cy="4525963"/>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476672"/>
            <a:ext cx="8568952" cy="6048672"/>
          </a:xfrm>
        </p:spPr>
        <p:txBody>
          <a:bodyPr>
            <a:normAutofit fontScale="92500" lnSpcReduction="10000"/>
          </a:bodyPr>
          <a:lstStyle/>
          <a:p>
            <a:pPr>
              <a:buNone/>
            </a:pPr>
            <a:r>
              <a:rPr lang="tr-TR" b="1" dirty="0" smtClean="0"/>
              <a:t>			</a:t>
            </a:r>
            <a:r>
              <a:rPr lang="tr-TR" sz="4000" b="1" dirty="0" smtClean="0">
                <a:solidFill>
                  <a:srgbClr val="FF0000"/>
                </a:solidFill>
              </a:rPr>
              <a:t>ELEKTRON MİKROSKOBU</a:t>
            </a:r>
          </a:p>
          <a:p>
            <a:r>
              <a:rPr lang="tr-TR" b="1" dirty="0" smtClean="0"/>
              <a:t>Elektron mikroskobu</a:t>
            </a:r>
            <a:r>
              <a:rPr lang="tr-TR" dirty="0" smtClean="0"/>
              <a:t>, </a:t>
            </a:r>
            <a:r>
              <a:rPr lang="tr-TR" b="1" dirty="0" smtClean="0">
                <a:hlinkClick r:id="rId2" tooltip="Elektron"/>
              </a:rPr>
              <a:t>elektron</a:t>
            </a:r>
            <a:r>
              <a:rPr lang="tr-TR" b="1" dirty="0" smtClean="0"/>
              <a:t> demetlerini görüntüleme sağlamak için kullanan ve </a:t>
            </a:r>
            <a:r>
              <a:rPr lang="tr-TR" b="1" dirty="0" smtClean="0">
                <a:hlinkClick r:id="rId3" tooltip="Işık mikroskobu"/>
              </a:rPr>
              <a:t>ışık mikroskobu</a:t>
            </a:r>
            <a:r>
              <a:rPr lang="tr-TR" b="1" dirty="0" smtClean="0"/>
              <a:t> ile görüntülenemeyen daha küçük objelerin imgelenmesine imkân veren bir </a:t>
            </a:r>
            <a:r>
              <a:rPr lang="tr-TR" b="1" dirty="0" smtClean="0">
                <a:hlinkClick r:id="rId4" tooltip="Mikroskop"/>
              </a:rPr>
              <a:t>mikroskoptur</a:t>
            </a:r>
            <a:endParaRPr lang="tr-TR" b="1" dirty="0" smtClean="0"/>
          </a:p>
          <a:p>
            <a:r>
              <a:rPr lang="tr-TR" b="1" dirty="0" smtClean="0">
                <a:hlinkClick r:id="rId5" tooltip="Virüsler"/>
              </a:rPr>
              <a:t>Virüslerin</a:t>
            </a:r>
            <a:r>
              <a:rPr lang="tr-TR" b="1" dirty="0" smtClean="0"/>
              <a:t> de dâhil olduğu pek çok yapı veya </a:t>
            </a:r>
            <a:r>
              <a:rPr lang="tr-TR" b="1" u="sng" dirty="0" smtClean="0">
                <a:hlinkClick r:id="rId6"/>
              </a:rPr>
              <a:t>mikroorganizmanın</a:t>
            </a:r>
            <a:r>
              <a:rPr lang="tr-TR" b="1" dirty="0" smtClean="0"/>
              <a:t> incelenmesine olanak sağlar</a:t>
            </a:r>
            <a:r>
              <a:rPr lang="tr-TR" b="1" dirty="0" smtClean="0">
                <a:solidFill>
                  <a:srgbClr val="FF0000"/>
                </a:solidFill>
              </a:rPr>
              <a:t>. Elektronların yaydıkları ışınlarla bir objeyi bir milyon kez büyütebilmektedir</a:t>
            </a:r>
          </a:p>
          <a:p>
            <a:r>
              <a:rPr lang="tr-TR" b="1" dirty="0" smtClean="0">
                <a:solidFill>
                  <a:srgbClr val="FF0000"/>
                </a:solidFill>
                <a:hlinkClick r:id="rId7" tooltip="Elektromanyetik"/>
              </a:rPr>
              <a:t>Elektromanyetik</a:t>
            </a:r>
            <a:r>
              <a:rPr lang="tr-TR" b="1" dirty="0" smtClean="0">
                <a:solidFill>
                  <a:srgbClr val="FF0000"/>
                </a:solidFill>
              </a:rPr>
              <a:t> çubuklar </a:t>
            </a:r>
            <a:r>
              <a:rPr lang="tr-TR" b="1" dirty="0" smtClean="0">
                <a:solidFill>
                  <a:srgbClr val="FF0000"/>
                </a:solidFill>
                <a:hlinkClick r:id="rId8" tooltip="Mercek"/>
              </a:rPr>
              <a:t>mercekler</a:t>
            </a:r>
            <a:r>
              <a:rPr lang="tr-TR" b="1" dirty="0" smtClean="0">
                <a:solidFill>
                  <a:srgbClr val="FF0000"/>
                </a:solidFill>
              </a:rPr>
              <a:t> yerine kullanılır, böylece 1 </a:t>
            </a:r>
            <a:r>
              <a:rPr lang="tr-TR" b="1" dirty="0" smtClean="0">
                <a:solidFill>
                  <a:srgbClr val="FF0000"/>
                </a:solidFill>
                <a:hlinkClick r:id="rId9" tooltip="Mikrometre"/>
              </a:rPr>
              <a:t>µm</a:t>
            </a:r>
            <a:r>
              <a:rPr lang="tr-TR" b="1" dirty="0" smtClean="0">
                <a:solidFill>
                  <a:srgbClr val="FF0000"/>
                </a:solidFill>
              </a:rPr>
              <a:t> ilâ 1 </a:t>
            </a:r>
            <a:r>
              <a:rPr lang="tr-TR" b="1" dirty="0" err="1" smtClean="0">
                <a:solidFill>
                  <a:srgbClr val="FF0000"/>
                </a:solidFill>
                <a:hlinkClick r:id="rId10" tooltip="Nanometre"/>
              </a:rPr>
              <a:t>nm</a:t>
            </a:r>
            <a:r>
              <a:rPr lang="tr-TR" b="1" dirty="0" smtClean="0">
                <a:solidFill>
                  <a:srgbClr val="FF0000"/>
                </a:solidFill>
              </a:rPr>
              <a:t> büyüklüğünde cisimler ayırt edilebilir</a:t>
            </a:r>
            <a:endParaRPr lang="tr-TR" b="1"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ELEKTRON MİKROSKOBU</a:t>
            </a:r>
            <a:endParaRPr lang="tr-TR" sz="4000" dirty="0">
              <a:solidFill>
                <a:srgbClr val="FF0000"/>
              </a:solidFill>
            </a:endParaRPr>
          </a:p>
        </p:txBody>
      </p:sp>
      <p:pic>
        <p:nvPicPr>
          <p:cNvPr id="123906" name="Picture 2" descr="C:\Users\user\Desktop\eb79d2810f9679d0c27d205858336622807e8f63"/>
          <p:cNvPicPr>
            <a:picLocks noGrp="1" noChangeAspect="1" noChangeArrowheads="1"/>
          </p:cNvPicPr>
          <p:nvPr>
            <p:ph idx="1"/>
          </p:nvPr>
        </p:nvPicPr>
        <p:blipFill>
          <a:blip r:embed="rId2" cstate="print"/>
          <a:srcRect/>
          <a:stretch>
            <a:fillRect/>
          </a:stretch>
        </p:blipFill>
        <p:spPr bwMode="auto">
          <a:xfrm>
            <a:off x="1164814" y="1600200"/>
            <a:ext cx="6814371" cy="4525963"/>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C:\Users\user\Desktop\elektron-mikroskobuna-genel-bak-8-638.jpg"/>
          <p:cNvPicPr>
            <a:picLocks noGrp="1" noChangeAspect="1" noChangeArrowheads="1"/>
          </p:cNvPicPr>
          <p:nvPr>
            <p:ph idx="4294967295"/>
          </p:nvPr>
        </p:nvPicPr>
        <p:blipFill>
          <a:blip r:embed="rId2" cstate="print"/>
          <a:srcRect/>
          <a:stretch>
            <a:fillRect/>
          </a:stretch>
        </p:blipFill>
        <p:spPr bwMode="auto">
          <a:xfrm>
            <a:off x="395536" y="332656"/>
            <a:ext cx="7993062" cy="6192837"/>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TRANSMİSSİON ELEKTRON MİKROSKOP</a:t>
            </a:r>
            <a:br>
              <a:rPr lang="tr-TR" sz="3600" b="1" dirty="0" smtClean="0">
                <a:solidFill>
                  <a:srgbClr val="FF0000"/>
                </a:solidFill>
              </a:rPr>
            </a:br>
            <a:r>
              <a:rPr lang="tr-TR" sz="3600" b="1" dirty="0" smtClean="0">
                <a:solidFill>
                  <a:srgbClr val="FF0000"/>
                </a:solidFill>
              </a:rPr>
              <a:t>(TEM)</a:t>
            </a:r>
            <a:endParaRPr lang="tr-TR" sz="3600" b="1" dirty="0">
              <a:solidFill>
                <a:srgbClr val="FF0000"/>
              </a:solidFill>
            </a:endParaRPr>
          </a:p>
        </p:txBody>
      </p:sp>
      <p:sp>
        <p:nvSpPr>
          <p:cNvPr id="3" name="2 İçerik Yer Tutucusu"/>
          <p:cNvSpPr>
            <a:spLocks noGrp="1"/>
          </p:cNvSpPr>
          <p:nvPr>
            <p:ph idx="1"/>
          </p:nvPr>
        </p:nvSpPr>
        <p:spPr/>
        <p:txBody>
          <a:bodyPr/>
          <a:lstStyle/>
          <a:p>
            <a:r>
              <a:rPr lang="tr-TR" b="1" dirty="0" err="1" smtClean="0"/>
              <a:t>TEM’in</a:t>
            </a:r>
            <a:r>
              <a:rPr lang="tr-TR" b="1" dirty="0" smtClean="0"/>
              <a:t> Kullanım Alanları </a:t>
            </a:r>
          </a:p>
          <a:p>
            <a:r>
              <a:rPr lang="tr-TR" b="1" dirty="0" smtClean="0"/>
              <a:t>Tıp alanında öneminin artması, patoloji ve mikrobiyoloji anabilim dallarında rutinde kullanıma girmesi ile olmuştur. </a:t>
            </a:r>
          </a:p>
          <a:p>
            <a:r>
              <a:rPr lang="tr-TR" b="1" dirty="0" smtClean="0"/>
              <a:t>TEM’ in sağladığı teknik destek ile patolojik biyopsilerde tanıya yardımcı olması, araştırma alanlarında kullanımını yaygınlaştırmıştır</a:t>
            </a:r>
            <a:endParaRPr lang="tr-TR" b="1"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12968" cy="6336704"/>
          </a:xfrm>
        </p:spPr>
        <p:txBody>
          <a:bodyPr>
            <a:normAutofit fontScale="85000" lnSpcReduction="20000"/>
          </a:bodyPr>
          <a:lstStyle/>
          <a:p>
            <a:r>
              <a:rPr lang="tr-TR" b="1" dirty="0" smtClean="0">
                <a:solidFill>
                  <a:srgbClr val="FF0000"/>
                </a:solidFill>
              </a:rPr>
              <a:t>1-  DOKU VE ORGAN ÖRNEKLERİ</a:t>
            </a:r>
          </a:p>
          <a:p>
            <a:r>
              <a:rPr lang="tr-TR" b="1" dirty="0" smtClean="0"/>
              <a:t>Beyin dokusu ve BOS örnekleri</a:t>
            </a:r>
          </a:p>
          <a:p>
            <a:r>
              <a:rPr lang="tr-TR" b="1" dirty="0" smtClean="0"/>
              <a:t>Lenf düğümü ve </a:t>
            </a:r>
            <a:r>
              <a:rPr lang="tr-TR" b="1" dirty="0" err="1" smtClean="0"/>
              <a:t>stromal</a:t>
            </a:r>
            <a:r>
              <a:rPr lang="tr-TR" b="1" dirty="0" smtClean="0"/>
              <a:t> hücre incelenmeleri  </a:t>
            </a:r>
            <a:r>
              <a:rPr lang="tr-TR" dirty="0" smtClean="0"/>
              <a:t>(</a:t>
            </a:r>
            <a:r>
              <a:rPr lang="tr-TR" dirty="0" err="1" smtClean="0"/>
              <a:t>Mezenkimal</a:t>
            </a:r>
            <a:r>
              <a:rPr lang="tr-TR" dirty="0" smtClean="0"/>
              <a:t> kök hücreler )</a:t>
            </a:r>
          </a:p>
          <a:p>
            <a:r>
              <a:rPr lang="tr-TR" b="1" dirty="0" err="1" smtClean="0"/>
              <a:t>Lenfoma</a:t>
            </a:r>
            <a:r>
              <a:rPr lang="tr-TR" b="1" dirty="0" smtClean="0"/>
              <a:t> tanılarında kemik iliği incelemesi, hasarlı ya da anormal yapıların değerlendirilmesi, </a:t>
            </a:r>
          </a:p>
          <a:p>
            <a:r>
              <a:rPr lang="tr-TR" b="1" dirty="0" smtClean="0"/>
              <a:t>Kan kültürlerinin </a:t>
            </a:r>
            <a:r>
              <a:rPr lang="tr-TR" b="1" dirty="0" err="1" smtClean="0"/>
              <a:t>incelemenmesi</a:t>
            </a:r>
            <a:endParaRPr lang="tr-TR" b="1" dirty="0" smtClean="0"/>
          </a:p>
          <a:p>
            <a:r>
              <a:rPr lang="tr-TR" b="1" dirty="0" smtClean="0"/>
              <a:t>Kemik dokusunun </a:t>
            </a:r>
            <a:r>
              <a:rPr lang="tr-TR" b="1" dirty="0" err="1" smtClean="0"/>
              <a:t>dekalsifikasyon</a:t>
            </a:r>
            <a:r>
              <a:rPr lang="tr-TR" b="1" dirty="0" smtClean="0"/>
              <a:t> işlemi yapıldıktan sonra incelenmesi</a:t>
            </a:r>
          </a:p>
          <a:p>
            <a:r>
              <a:rPr lang="tr-TR" b="1" dirty="0" smtClean="0">
                <a:solidFill>
                  <a:srgbClr val="FF0000"/>
                </a:solidFill>
              </a:rPr>
              <a:t>2-  HÜCRE VE DOKU KÜLTÜRÜNÜN YAPISAL İNCELEMELERİNDE</a:t>
            </a:r>
          </a:p>
          <a:p>
            <a:r>
              <a:rPr lang="tr-TR" b="1" dirty="0" smtClean="0">
                <a:solidFill>
                  <a:srgbClr val="FF0000"/>
                </a:solidFill>
              </a:rPr>
              <a:t>3-  EMBRİYONEL DOKULARIN</a:t>
            </a:r>
            <a:r>
              <a:rPr lang="tr-TR" b="1" dirty="0" smtClean="0"/>
              <a:t>, bakteriyel </a:t>
            </a:r>
            <a:r>
              <a:rPr lang="tr-TR" b="1" dirty="0" err="1" smtClean="0"/>
              <a:t>translokasyon</a:t>
            </a:r>
            <a:r>
              <a:rPr lang="tr-TR" b="1" dirty="0" smtClean="0"/>
              <a:t> içinde </a:t>
            </a:r>
            <a:r>
              <a:rPr lang="tr-TR" b="1" dirty="0" err="1" smtClean="0"/>
              <a:t>mezenter</a:t>
            </a:r>
            <a:r>
              <a:rPr lang="tr-TR" b="1" dirty="0" smtClean="0"/>
              <a:t> lenf </a:t>
            </a:r>
            <a:r>
              <a:rPr lang="tr-TR" b="1" dirty="0" err="1" smtClean="0"/>
              <a:t>nodu</a:t>
            </a:r>
            <a:r>
              <a:rPr lang="tr-TR" b="1" dirty="0" smtClean="0"/>
              <a:t>, dalak, karaciğerin incelenmesi</a:t>
            </a:r>
          </a:p>
          <a:p>
            <a:r>
              <a:rPr lang="tr-TR" b="1" dirty="0" smtClean="0">
                <a:solidFill>
                  <a:srgbClr val="FF0000"/>
                </a:solidFill>
              </a:rPr>
              <a:t>4-  TÜMÖR TANILARINDA</a:t>
            </a:r>
          </a:p>
          <a:p>
            <a:r>
              <a:rPr lang="tr-TR" b="1" dirty="0" smtClean="0">
                <a:solidFill>
                  <a:srgbClr val="FF0000"/>
                </a:solidFill>
              </a:rPr>
              <a:t>5-  KONJENİTAL METABOLİK HASTALIKLARIN </a:t>
            </a:r>
            <a:r>
              <a:rPr lang="tr-TR" b="1" dirty="0" smtClean="0"/>
              <a:t>tanısında</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TRANSMİSSİON  ELECTRON MİCROSCOPE</a:t>
            </a:r>
            <a:br>
              <a:rPr lang="tr-TR" sz="3600" b="1" dirty="0" smtClean="0">
                <a:solidFill>
                  <a:srgbClr val="FF0000"/>
                </a:solidFill>
              </a:rPr>
            </a:br>
            <a:r>
              <a:rPr lang="tr-TR" sz="3600" b="1" dirty="0" smtClean="0">
                <a:solidFill>
                  <a:srgbClr val="FF0000"/>
                </a:solidFill>
              </a:rPr>
              <a:t>(TEM)</a:t>
            </a:r>
            <a:endParaRPr lang="tr-TR" sz="3600" dirty="0"/>
          </a:p>
        </p:txBody>
      </p:sp>
      <p:sp>
        <p:nvSpPr>
          <p:cNvPr id="3" name="2 İçerik Yer Tutucusu"/>
          <p:cNvSpPr>
            <a:spLocks noGrp="1"/>
          </p:cNvSpPr>
          <p:nvPr>
            <p:ph idx="1"/>
          </p:nvPr>
        </p:nvSpPr>
        <p:spPr/>
        <p:txBody>
          <a:bodyPr/>
          <a:lstStyle/>
          <a:p>
            <a:r>
              <a:rPr lang="tr-TR" b="1" dirty="0" smtClean="0">
                <a:solidFill>
                  <a:srgbClr val="FF0000"/>
                </a:solidFill>
              </a:rPr>
              <a:t>6-  DOKU MÜHENDİSLİĞİUYGULAMALARINDA </a:t>
            </a:r>
          </a:p>
          <a:p>
            <a:r>
              <a:rPr lang="tr-TR" b="1" dirty="0" smtClean="0">
                <a:solidFill>
                  <a:srgbClr val="FF0000"/>
                </a:solidFill>
              </a:rPr>
              <a:t>7-  YÜKSEK ÇÖZÜNÜRLÜKLÜ </a:t>
            </a:r>
            <a:r>
              <a:rPr lang="tr-TR" b="1" dirty="0" smtClean="0"/>
              <a:t>TEM 0,089 ve 0,078 </a:t>
            </a:r>
            <a:r>
              <a:rPr lang="tr-TR" b="1" dirty="0" err="1" smtClean="0"/>
              <a:t>nm</a:t>
            </a:r>
            <a:r>
              <a:rPr lang="tr-TR" b="1" dirty="0" smtClean="0"/>
              <a:t> aralıklarla dizilmiş karbon ve silikon atomlarını çözümleyebilmekte ve malzeme kusurlarını bulabilmektedir. Bu özelliğinden dolayı </a:t>
            </a:r>
            <a:r>
              <a:rPr lang="tr-TR" b="1" dirty="0" smtClean="0">
                <a:solidFill>
                  <a:srgbClr val="FF0000"/>
                </a:solidFill>
              </a:rPr>
              <a:t>bilgisayar sanayinde de kullanılmaktadır.</a:t>
            </a:r>
          </a:p>
          <a:p>
            <a:endParaRPr lang="tr-T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SCANNING ELECTRON MİCROSCOPE</a:t>
            </a:r>
            <a:br>
              <a:rPr lang="tr-TR" b="1" dirty="0" smtClean="0">
                <a:solidFill>
                  <a:srgbClr val="FF0000"/>
                </a:solidFill>
              </a:rPr>
            </a:br>
            <a:r>
              <a:rPr lang="tr-TR" b="1" dirty="0" smtClean="0">
                <a:solidFill>
                  <a:srgbClr val="FF0000"/>
                </a:solidFill>
              </a:rPr>
              <a:t>(SEM)</a:t>
            </a:r>
            <a:endParaRPr lang="tr-TR" b="1"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solidFill>
                  <a:srgbClr val="FF0000"/>
                </a:solidFill>
              </a:rPr>
              <a:t>ADLİ TIP</a:t>
            </a:r>
          </a:p>
          <a:p>
            <a:r>
              <a:rPr lang="tr-TR" b="1" dirty="0" smtClean="0"/>
              <a:t>Metal parçaları, tahta parçaları, boya ve mürekkep gibi maddelerin karşılaştırılmasında ayrıca saç, deri parçaları, iplik gibi maddeleri inceleyerek polis laboratuarlarında delilleri incelemede kullanılır</a:t>
            </a:r>
            <a:endParaRPr lang="tr-TR"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SCANNING ELEKTRON MİKROSKOP (SEM) </a:t>
            </a:r>
            <a:endParaRPr lang="tr-TR" dirty="0"/>
          </a:p>
        </p:txBody>
      </p:sp>
      <p:sp>
        <p:nvSpPr>
          <p:cNvPr id="3" name="2 İçerik Yer Tutucusu"/>
          <p:cNvSpPr>
            <a:spLocks noGrp="1"/>
          </p:cNvSpPr>
          <p:nvPr>
            <p:ph idx="1"/>
          </p:nvPr>
        </p:nvSpPr>
        <p:spPr/>
        <p:txBody>
          <a:bodyPr>
            <a:normAutofit lnSpcReduction="10000"/>
          </a:bodyPr>
          <a:lstStyle/>
          <a:p>
            <a:r>
              <a:rPr lang="tr-TR" b="1" dirty="0" smtClean="0">
                <a:solidFill>
                  <a:srgbClr val="FF0000"/>
                </a:solidFill>
              </a:rPr>
              <a:t>METALLER</a:t>
            </a:r>
          </a:p>
          <a:p>
            <a:r>
              <a:rPr lang="tr-TR" b="1" dirty="0" smtClean="0"/>
              <a:t>Sıcak ve soğuk gibi farklı koşullarda metallerin dayanıklılığının belirlenmesinde kullanılır. </a:t>
            </a:r>
          </a:p>
          <a:p>
            <a:r>
              <a:rPr lang="tr-TR" b="1" dirty="0" smtClean="0"/>
              <a:t>Uçak, otomotiv, savunma sanayinde, güvenlik nedeniyle güçlü metal kullanımı gerektiren uçak, otomobil, tren, gemi gibi araçlarında yapımında kullanılan metallerin dayanıklılığının belirlenmesinde kullanılır. </a:t>
            </a:r>
            <a:endParaRPr lang="tr-TR"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SCANNING ELEKTRON MİKROSKOP (SEM) </a:t>
            </a:r>
            <a:endParaRPr lang="tr-TR" dirty="0"/>
          </a:p>
        </p:txBody>
      </p:sp>
      <p:sp>
        <p:nvSpPr>
          <p:cNvPr id="3" name="2 İçerik Yer Tutucusu"/>
          <p:cNvSpPr>
            <a:spLocks noGrp="1"/>
          </p:cNvSpPr>
          <p:nvPr>
            <p:ph idx="1"/>
          </p:nvPr>
        </p:nvSpPr>
        <p:spPr/>
        <p:txBody>
          <a:bodyPr>
            <a:normAutofit fontScale="77500" lnSpcReduction="20000"/>
          </a:bodyPr>
          <a:lstStyle/>
          <a:p>
            <a:r>
              <a:rPr lang="tr-TR" b="1" dirty="0" smtClean="0">
                <a:solidFill>
                  <a:srgbClr val="FF0000"/>
                </a:solidFill>
              </a:rPr>
              <a:t>BİLİMSEL ARAŞTIRMALAR</a:t>
            </a:r>
            <a:endParaRPr lang="tr-TR" dirty="0" smtClean="0"/>
          </a:p>
          <a:p>
            <a:r>
              <a:rPr lang="tr-TR" sz="3400" b="1" dirty="0" smtClean="0"/>
              <a:t>Biyologlar bitki ve hayvan dokularının incelenmesinde, kimyagerler ise mikroskobik kristalleri, metal, plastik, seramik vs. yapısını incelemede </a:t>
            </a:r>
            <a:r>
              <a:rPr lang="tr-TR" sz="3400" b="1" dirty="0" err="1" smtClean="0"/>
              <a:t>SEM’den</a:t>
            </a:r>
            <a:r>
              <a:rPr lang="tr-TR" sz="3400" b="1" dirty="0" smtClean="0"/>
              <a:t> yararlanırlar.</a:t>
            </a:r>
          </a:p>
          <a:p>
            <a:r>
              <a:rPr lang="tr-TR" sz="3400" b="1" dirty="0" smtClean="0"/>
              <a:t>Bunun yanı sıra, biyolojik botanik, hücre biyolojisi, tıp (anatomi, biyokimya, fizyoloji, mikrobiyoloji, patoloji, toksikoloji…), madde bilimleri (maddelerin içerik analizleri), malzeme araştırmaları, pürüzlü yüzeylerin incelenmesi, üç boyutlu cisim incelemesi ve yüzey topografyası, malzeme hasarlarının incelemesi, diş hekimliği, arkeoloji, tekstil, </a:t>
            </a:r>
            <a:r>
              <a:rPr lang="tr-TR" sz="3400" b="1" dirty="0" err="1" smtClean="0"/>
              <a:t>mikroelektronikte</a:t>
            </a:r>
            <a:r>
              <a:rPr lang="tr-TR" sz="3400" b="1" dirty="0" smtClean="0"/>
              <a:t> yonga (</a:t>
            </a:r>
            <a:r>
              <a:rPr lang="tr-TR" sz="3400" b="1" dirty="0" err="1" smtClean="0"/>
              <a:t>chip</a:t>
            </a:r>
            <a:r>
              <a:rPr lang="tr-TR" sz="3400" b="1" dirty="0" smtClean="0"/>
              <a:t>) üretimi, sanayide hata analizleri gibi pek çok alanda da </a:t>
            </a:r>
            <a:r>
              <a:rPr lang="tr-TR" sz="3400" b="1" dirty="0" err="1" smtClean="0"/>
              <a:t>SEM’den</a:t>
            </a:r>
            <a:r>
              <a:rPr lang="tr-TR" sz="3400" b="1" dirty="0" smtClean="0"/>
              <a:t> yararlanılır.</a:t>
            </a:r>
          </a:p>
          <a:p>
            <a:endParaRPr lang="tr-TR" sz="3400" b="1" dirty="0" smtClean="0"/>
          </a:p>
          <a:p>
            <a:endParaRPr lang="tr-TR" sz="34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SONUÇ OLARAK</a:t>
            </a:r>
            <a:endParaRPr lang="tr-TR" b="1"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solidFill>
                  <a:srgbClr val="FF0000"/>
                </a:solidFill>
              </a:rPr>
              <a:t>TEM </a:t>
            </a:r>
            <a:r>
              <a:rPr lang="tr-TR" b="1" dirty="0" smtClean="0"/>
              <a:t>Tıp alanında hücre ve doku araştırmalarında yapısal inceleme için ve patolojik biyopsilere ışık mikroskobun yetersiz kaldığı durumlarda tanı koymayı kolaylaştırmada ileri incelenme için kullanılır. </a:t>
            </a:r>
          </a:p>
          <a:p>
            <a:r>
              <a:rPr lang="tr-TR" b="1" dirty="0" smtClean="0">
                <a:solidFill>
                  <a:srgbClr val="FF0000"/>
                </a:solidFill>
              </a:rPr>
              <a:t>SEM</a:t>
            </a:r>
            <a:r>
              <a:rPr lang="tr-TR" b="1" dirty="0" smtClean="0"/>
              <a:t> ise daha çok sert ya da yumuşak dokularda yüzey araştırmalarında tercih edilen mikroskop tipidir. </a:t>
            </a:r>
            <a:endParaRPr lang="tr-TR"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C:\Users\user\Desktop\elektron-mikroskobuna-genel-bak-27-638.jpg"/>
          <p:cNvPicPr>
            <a:picLocks noGrp="1" noChangeAspect="1" noChangeArrowheads="1"/>
          </p:cNvPicPr>
          <p:nvPr>
            <p:ph idx="4294967295"/>
          </p:nvPr>
        </p:nvPicPr>
        <p:blipFill>
          <a:blip r:embed="rId2" cstate="print"/>
          <a:srcRect/>
          <a:stretch>
            <a:fillRect/>
          </a:stretch>
        </p:blipFill>
        <p:spPr bwMode="auto">
          <a:xfrm>
            <a:off x="683568" y="404664"/>
            <a:ext cx="7704138" cy="6119812"/>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descr="C:\Users\user\Desktop\elektron-mikroskobuna-genel-bak-30-638.jpg"/>
          <p:cNvPicPr>
            <a:picLocks noGrp="1" noChangeAspect="1" noChangeArrowheads="1"/>
          </p:cNvPicPr>
          <p:nvPr>
            <p:ph idx="4294967295"/>
          </p:nvPr>
        </p:nvPicPr>
        <p:blipFill>
          <a:blip r:embed="rId2" cstate="print"/>
          <a:srcRect/>
          <a:stretch>
            <a:fillRect/>
          </a:stretch>
        </p:blipFill>
        <p:spPr bwMode="auto">
          <a:xfrm>
            <a:off x="611560" y="476672"/>
            <a:ext cx="7848600" cy="5761038"/>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C:\Users\user\Desktop\elektron-mikroskobuna-genel-bak-26-638.jpg"/>
          <p:cNvPicPr>
            <a:picLocks noGrp="1" noChangeAspect="1" noChangeArrowheads="1"/>
          </p:cNvPicPr>
          <p:nvPr>
            <p:ph idx="4294967295"/>
          </p:nvPr>
        </p:nvPicPr>
        <p:blipFill>
          <a:blip r:embed="rId2" cstate="print"/>
          <a:srcRect/>
          <a:stretch>
            <a:fillRect/>
          </a:stretch>
        </p:blipFill>
        <p:spPr bwMode="auto">
          <a:xfrm>
            <a:off x="683568" y="476672"/>
            <a:ext cx="7848600" cy="5689600"/>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C:\Users\user\Desktop\elektron-mikroskobu-51.jpeg"/>
          <p:cNvPicPr>
            <a:picLocks noGrp="1" noChangeAspect="1" noChangeArrowheads="1"/>
          </p:cNvPicPr>
          <p:nvPr>
            <p:ph idx="4294967295"/>
          </p:nvPr>
        </p:nvPicPr>
        <p:blipFill>
          <a:blip r:embed="rId2" cstate="print"/>
          <a:srcRect/>
          <a:stretch>
            <a:fillRect/>
          </a:stretch>
        </p:blipFill>
        <p:spPr bwMode="auto">
          <a:xfrm>
            <a:off x="683568" y="1628800"/>
            <a:ext cx="8045450" cy="4525963"/>
          </a:xfrm>
          <a:prstGeom prst="rect">
            <a:avLst/>
          </a:prstGeom>
          <a:noFill/>
        </p:spPr>
      </p:pic>
      <p:sp>
        <p:nvSpPr>
          <p:cNvPr id="2" name="1 Başlık"/>
          <p:cNvSpPr>
            <a:spLocks noGrp="1"/>
          </p:cNvSpPr>
          <p:nvPr>
            <p:ph type="title" idx="4294967295"/>
          </p:nvPr>
        </p:nvSpPr>
        <p:spPr>
          <a:xfrm>
            <a:off x="755576" y="274638"/>
            <a:ext cx="7474024" cy="1143000"/>
          </a:xfrm>
        </p:spPr>
        <p:txBody>
          <a:bodyPr/>
          <a:lstStyle/>
          <a:p>
            <a:r>
              <a:rPr lang="tr-TR" b="1" dirty="0" smtClean="0">
                <a:solidFill>
                  <a:srgbClr val="FF0000"/>
                </a:solidFill>
              </a:rPr>
              <a:t>AKARLAR</a:t>
            </a:r>
            <a:endParaRPr lang="tr-TR" b="1" dirty="0">
              <a:solidFill>
                <a:srgbClr val="FF0000"/>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0" y="274638"/>
            <a:ext cx="8229600" cy="1143000"/>
          </a:xfrm>
        </p:spPr>
        <p:txBody>
          <a:bodyPr>
            <a:noAutofit/>
          </a:bodyPr>
          <a:lstStyle/>
          <a:p>
            <a:r>
              <a:rPr lang="tr-TR" sz="2800" b="1" dirty="0" smtClean="0">
                <a:solidFill>
                  <a:srgbClr val="FF0000"/>
                </a:solidFill>
              </a:rPr>
              <a:t>Örümceğin ağ yapan hortumları Taramalı elektron </a:t>
            </a:r>
            <a:r>
              <a:rPr lang="tr-TR" sz="2800" b="1" dirty="0" err="1" smtClean="0">
                <a:solidFill>
                  <a:srgbClr val="FF0000"/>
                </a:solidFill>
              </a:rPr>
              <a:t>mikroskopuyla</a:t>
            </a:r>
            <a:r>
              <a:rPr lang="tr-TR" sz="2800" b="1" dirty="0" smtClean="0">
                <a:solidFill>
                  <a:srgbClr val="FF0000"/>
                </a:solidFill>
              </a:rPr>
              <a:t> çekilmiş fotoğraf (</a:t>
            </a:r>
            <a:r>
              <a:rPr lang="tr-TR" sz="2800" b="1" dirty="0" err="1" smtClean="0">
                <a:solidFill>
                  <a:srgbClr val="FF0000"/>
                </a:solidFill>
              </a:rPr>
              <a:t>Dennis</a:t>
            </a:r>
            <a:r>
              <a:rPr lang="tr-TR" sz="2800" b="1" dirty="0" smtClean="0">
                <a:solidFill>
                  <a:srgbClr val="FF0000"/>
                </a:solidFill>
              </a:rPr>
              <a:t> </a:t>
            </a:r>
            <a:r>
              <a:rPr lang="tr-TR" sz="2800" b="1" dirty="0" err="1" smtClean="0">
                <a:solidFill>
                  <a:srgbClr val="FF0000"/>
                </a:solidFill>
              </a:rPr>
              <a:t>Kunkel</a:t>
            </a:r>
            <a:r>
              <a:rPr lang="tr-TR" sz="2800" b="1" dirty="0" smtClean="0">
                <a:solidFill>
                  <a:srgbClr val="FF0000"/>
                </a:solidFill>
              </a:rPr>
              <a:t> </a:t>
            </a:r>
            <a:r>
              <a:rPr lang="tr-TR" sz="2800" b="1" dirty="0" err="1" smtClean="0">
                <a:solidFill>
                  <a:srgbClr val="FF0000"/>
                </a:solidFill>
              </a:rPr>
              <a:t>Microscopy</a:t>
            </a:r>
            <a:r>
              <a:rPr lang="tr-TR" sz="2800" b="1" dirty="0" smtClean="0">
                <a:solidFill>
                  <a:srgbClr val="FF0000"/>
                </a:solidFill>
              </a:rPr>
              <a:t>)</a:t>
            </a:r>
            <a:endParaRPr lang="tr-TR" sz="2800" b="1" dirty="0">
              <a:solidFill>
                <a:srgbClr val="FF0000"/>
              </a:solidFill>
            </a:endParaRPr>
          </a:p>
        </p:txBody>
      </p:sp>
      <p:pic>
        <p:nvPicPr>
          <p:cNvPr id="114690" name="Picture 2" descr="C:\Users\user\Desktop\elektron-mikroskobu-44.jpg"/>
          <p:cNvPicPr>
            <a:picLocks noGrp="1" noChangeAspect="1" noChangeArrowheads="1"/>
          </p:cNvPicPr>
          <p:nvPr>
            <p:ph idx="4294967295"/>
          </p:nvPr>
        </p:nvPicPr>
        <p:blipFill>
          <a:blip r:embed="rId2" cstate="print"/>
          <a:srcRect/>
          <a:stretch>
            <a:fillRect/>
          </a:stretch>
        </p:blipFill>
        <p:spPr bwMode="auto">
          <a:xfrm>
            <a:off x="5004048" y="1844824"/>
            <a:ext cx="3565525" cy="4525962"/>
          </a:xfrm>
          <a:prstGeom prst="rect">
            <a:avLst/>
          </a:prstGeom>
          <a:noFill/>
        </p:spPr>
      </p:pic>
      <p:pic>
        <p:nvPicPr>
          <p:cNvPr id="114691" name="Picture 3" descr="C:\Users\user\Desktop\elektron-mikroskobu-43.jpg"/>
          <p:cNvPicPr>
            <a:picLocks noChangeAspect="1" noChangeArrowheads="1"/>
          </p:cNvPicPr>
          <p:nvPr/>
        </p:nvPicPr>
        <p:blipFill>
          <a:blip r:embed="rId3" cstate="print"/>
          <a:srcRect/>
          <a:stretch>
            <a:fillRect/>
          </a:stretch>
        </p:blipFill>
        <p:spPr bwMode="auto">
          <a:xfrm>
            <a:off x="467544" y="1844824"/>
            <a:ext cx="3888432" cy="4238625"/>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395536" y="274638"/>
            <a:ext cx="7834064" cy="1143000"/>
          </a:xfrm>
        </p:spPr>
        <p:txBody>
          <a:bodyPr/>
          <a:lstStyle/>
          <a:p>
            <a:r>
              <a:rPr lang="tr-TR" b="1" dirty="0" smtClean="0">
                <a:solidFill>
                  <a:srgbClr val="FF0000"/>
                </a:solidFill>
              </a:rPr>
              <a:t>ELBİSELERİMİZDEKİ CIRTCIRTLAR</a:t>
            </a:r>
            <a:endParaRPr lang="tr-TR" b="1" dirty="0">
              <a:solidFill>
                <a:srgbClr val="FF0000"/>
              </a:solidFill>
            </a:endParaRPr>
          </a:p>
        </p:txBody>
      </p:sp>
      <p:pic>
        <p:nvPicPr>
          <p:cNvPr id="115714" name="Picture 2" descr="C:\Users\user\Desktop\elektron-mikroskobu-35.jpg"/>
          <p:cNvPicPr>
            <a:picLocks noGrp="1" noChangeAspect="1" noChangeArrowheads="1"/>
          </p:cNvPicPr>
          <p:nvPr>
            <p:ph idx="4294967295"/>
          </p:nvPr>
        </p:nvPicPr>
        <p:blipFill>
          <a:blip r:embed="rId2" cstate="print"/>
          <a:srcRect/>
          <a:stretch>
            <a:fillRect/>
          </a:stretch>
        </p:blipFill>
        <p:spPr bwMode="auto">
          <a:xfrm>
            <a:off x="4283968" y="1268760"/>
            <a:ext cx="4321175" cy="3240087"/>
          </a:xfrm>
          <a:prstGeom prst="rect">
            <a:avLst/>
          </a:prstGeom>
          <a:noFill/>
        </p:spPr>
      </p:pic>
      <p:pic>
        <p:nvPicPr>
          <p:cNvPr id="115715" name="Picture 3" descr="C:\Users\user\Desktop\elektron-mikroskobu-15.jpeg"/>
          <p:cNvPicPr>
            <a:picLocks noChangeAspect="1" noChangeArrowheads="1"/>
          </p:cNvPicPr>
          <p:nvPr/>
        </p:nvPicPr>
        <p:blipFill>
          <a:blip r:embed="rId3" cstate="print"/>
          <a:srcRect/>
          <a:stretch>
            <a:fillRect/>
          </a:stretch>
        </p:blipFill>
        <p:spPr bwMode="auto">
          <a:xfrm>
            <a:off x="395536" y="3284984"/>
            <a:ext cx="4790791" cy="3078882"/>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ALYUVARLAR</a:t>
            </a:r>
            <a:endParaRPr lang="tr-TR" b="1" dirty="0">
              <a:solidFill>
                <a:srgbClr val="FF0000"/>
              </a:solidFill>
            </a:endParaRPr>
          </a:p>
        </p:txBody>
      </p:sp>
      <p:pic>
        <p:nvPicPr>
          <p:cNvPr id="116738" name="Picture 2" descr="C:\Users\user\Desktop\elektron-mikroskobu-30.jpg"/>
          <p:cNvPicPr>
            <a:picLocks noGrp="1" noChangeAspect="1" noChangeArrowheads="1"/>
          </p:cNvPicPr>
          <p:nvPr>
            <p:ph idx="1"/>
          </p:nvPr>
        </p:nvPicPr>
        <p:blipFill>
          <a:blip r:embed="rId2" cstate="print"/>
          <a:srcRect/>
          <a:stretch>
            <a:fillRect/>
          </a:stretch>
        </p:blipFill>
        <p:spPr bwMode="auto">
          <a:xfrm>
            <a:off x="1403648" y="1600200"/>
            <a:ext cx="6120680" cy="4525963"/>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323528" y="188640"/>
            <a:ext cx="8064896" cy="1368152"/>
          </a:xfrm>
        </p:spPr>
        <p:txBody>
          <a:bodyPr>
            <a:normAutofit fontScale="90000"/>
          </a:bodyPr>
          <a:lstStyle/>
          <a:p>
            <a:r>
              <a:rPr lang="tr-TR" sz="3100" b="1" dirty="0" smtClean="0">
                <a:solidFill>
                  <a:srgbClr val="FF0000"/>
                </a:solidFill>
              </a:rPr>
              <a:t>AKYUVARLAR BAKTERİLERE VE PATOJENLERE KARŞI HÜCRELERİ KORURKEN. ENZİMLERDEN YARDIM ALIYORLAR</a:t>
            </a:r>
            <a:endParaRPr lang="tr-TR" dirty="0">
              <a:solidFill>
                <a:srgbClr val="FF0000"/>
              </a:solidFill>
            </a:endParaRPr>
          </a:p>
        </p:txBody>
      </p:sp>
      <p:pic>
        <p:nvPicPr>
          <p:cNvPr id="117762" name="Picture 2" descr="C:\Users\user\Desktop\elektron-mikroskobu-29.jpg"/>
          <p:cNvPicPr>
            <a:picLocks noGrp="1" noChangeAspect="1" noChangeArrowheads="1"/>
          </p:cNvPicPr>
          <p:nvPr>
            <p:ph idx="4294967295"/>
          </p:nvPr>
        </p:nvPicPr>
        <p:blipFill>
          <a:blip r:embed="rId2" cstate="print"/>
          <a:srcRect/>
          <a:stretch>
            <a:fillRect/>
          </a:stretch>
        </p:blipFill>
        <p:spPr bwMode="auto">
          <a:xfrm>
            <a:off x="1187624" y="1772816"/>
            <a:ext cx="6696075" cy="4752975"/>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TUZ VE KARABİBER</a:t>
            </a:r>
            <a:endParaRPr lang="tr-TR" b="1" dirty="0">
              <a:solidFill>
                <a:srgbClr val="FF0000"/>
              </a:solidFill>
            </a:endParaRPr>
          </a:p>
        </p:txBody>
      </p:sp>
      <p:pic>
        <p:nvPicPr>
          <p:cNvPr id="118786" name="Picture 2" descr="C:\Users\user\Desktop\elektron-mikroskobu-26.jpeg"/>
          <p:cNvPicPr>
            <a:picLocks noGrp="1" noChangeAspect="1" noChangeArrowheads="1"/>
          </p:cNvPicPr>
          <p:nvPr>
            <p:ph idx="1"/>
          </p:nvPr>
        </p:nvPicPr>
        <p:blipFill>
          <a:blip r:embed="rId2" cstate="print"/>
          <a:srcRect/>
          <a:stretch>
            <a:fillRect/>
          </a:stretch>
        </p:blipFill>
        <p:spPr bwMode="auto">
          <a:xfrm>
            <a:off x="1026031" y="1600200"/>
            <a:ext cx="7091938" cy="4525963"/>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SİNEK LARVASI</a:t>
            </a:r>
            <a:endParaRPr lang="tr-TR" b="1" dirty="0">
              <a:solidFill>
                <a:srgbClr val="FF0000"/>
              </a:solidFill>
            </a:endParaRPr>
          </a:p>
        </p:txBody>
      </p:sp>
      <p:pic>
        <p:nvPicPr>
          <p:cNvPr id="119810" name="Picture 2" descr="C:\Users\user\Desktop\elektron-mikroskobu-24.jpeg"/>
          <p:cNvPicPr>
            <a:picLocks noGrp="1" noChangeAspect="1" noChangeArrowheads="1"/>
          </p:cNvPicPr>
          <p:nvPr>
            <p:ph idx="1"/>
          </p:nvPr>
        </p:nvPicPr>
        <p:blipFill>
          <a:blip r:embed="rId2" cstate="print"/>
          <a:srcRect/>
          <a:stretch>
            <a:fillRect/>
          </a:stretch>
        </p:blipFill>
        <p:spPr bwMode="auto">
          <a:xfrm>
            <a:off x="1907704" y="1600200"/>
            <a:ext cx="5472608" cy="4853136"/>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600" b="1" dirty="0" smtClean="0">
                <a:solidFill>
                  <a:srgbClr val="FF0000"/>
                </a:solidFill>
              </a:rPr>
              <a:t>İÇİNDEN KIRMIZI PAMUK İPİ GEÇEN İĞNE DELİĞİ</a:t>
            </a:r>
            <a:endParaRPr lang="tr-TR" sz="3600" b="1" dirty="0">
              <a:solidFill>
                <a:srgbClr val="FF0000"/>
              </a:solidFill>
            </a:endParaRPr>
          </a:p>
        </p:txBody>
      </p:sp>
      <p:pic>
        <p:nvPicPr>
          <p:cNvPr id="120834" name="Picture 2" descr="C:\Users\user\Desktop\elektron-mikroskobu-22.jpeg"/>
          <p:cNvPicPr>
            <a:picLocks noGrp="1" noChangeAspect="1" noChangeArrowheads="1"/>
          </p:cNvPicPr>
          <p:nvPr>
            <p:ph idx="1"/>
          </p:nvPr>
        </p:nvPicPr>
        <p:blipFill>
          <a:blip r:embed="rId2" cstate="print"/>
          <a:srcRect/>
          <a:stretch>
            <a:fillRect/>
          </a:stretch>
        </p:blipFill>
        <p:spPr bwMode="auto">
          <a:xfrm>
            <a:off x="2339752" y="1556792"/>
            <a:ext cx="4608512" cy="4997152"/>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KEDİ PİRESİ</a:t>
            </a:r>
            <a:endParaRPr lang="tr-TR" b="1" dirty="0">
              <a:solidFill>
                <a:srgbClr val="FF0000"/>
              </a:solidFill>
            </a:endParaRPr>
          </a:p>
        </p:txBody>
      </p:sp>
      <p:pic>
        <p:nvPicPr>
          <p:cNvPr id="121858" name="Picture 2" descr="C:\Users\user\Desktop\elektron-mikroskobu-20.jpeg"/>
          <p:cNvPicPr>
            <a:picLocks noGrp="1" noChangeAspect="1" noChangeArrowheads="1"/>
          </p:cNvPicPr>
          <p:nvPr>
            <p:ph idx="1"/>
          </p:nvPr>
        </p:nvPicPr>
        <p:blipFill>
          <a:blip r:embed="rId2" cstate="print"/>
          <a:srcRect/>
          <a:stretch>
            <a:fillRect/>
          </a:stretch>
        </p:blipFill>
        <p:spPr bwMode="auto">
          <a:xfrm>
            <a:off x="2309018" y="1600200"/>
            <a:ext cx="4525963" cy="4709120"/>
          </a:xfrm>
          <a:prstGeom prst="rect">
            <a:avLst/>
          </a:prstGeom>
          <a:noFill/>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İNSAN KAFASINDA GÖRÜLEN BİT</a:t>
            </a:r>
            <a:endParaRPr lang="tr-TR" b="1" dirty="0">
              <a:solidFill>
                <a:srgbClr val="FF0000"/>
              </a:solidFill>
            </a:endParaRPr>
          </a:p>
        </p:txBody>
      </p:sp>
      <p:pic>
        <p:nvPicPr>
          <p:cNvPr id="123906" name="Picture 2" descr="C:\Users\user\Desktop\elektron-mikroskobu-14 (1).jpeg"/>
          <p:cNvPicPr>
            <a:picLocks noGrp="1" noChangeAspect="1" noChangeArrowheads="1"/>
          </p:cNvPicPr>
          <p:nvPr>
            <p:ph idx="1"/>
          </p:nvPr>
        </p:nvPicPr>
        <p:blipFill>
          <a:blip r:embed="rId2" cstate="print"/>
          <a:srcRect/>
          <a:stretch>
            <a:fillRect/>
          </a:stretch>
        </p:blipFill>
        <p:spPr bwMode="auto">
          <a:xfrm>
            <a:off x="1723305" y="1600200"/>
            <a:ext cx="5697389" cy="4525963"/>
          </a:xfrm>
          <a:prstGeom prst="rect">
            <a:avLst/>
          </a:prstGeom>
          <a:noFill/>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DİŞ İPİ (KİRLİ)</a:t>
            </a:r>
            <a:endParaRPr lang="tr-TR" b="1" dirty="0">
              <a:solidFill>
                <a:srgbClr val="FF0000"/>
              </a:solidFill>
            </a:endParaRPr>
          </a:p>
        </p:txBody>
      </p:sp>
      <p:pic>
        <p:nvPicPr>
          <p:cNvPr id="125954" name="Picture 2" descr="C:\Users\user\Desktop\elektron-mikroskobu-11.jpeg"/>
          <p:cNvPicPr>
            <a:picLocks noGrp="1" noChangeAspect="1" noChangeArrowheads="1"/>
          </p:cNvPicPr>
          <p:nvPr>
            <p:ph idx="1"/>
          </p:nvPr>
        </p:nvPicPr>
        <p:blipFill>
          <a:blip r:embed="rId2" cstate="print"/>
          <a:srcRect/>
          <a:stretch>
            <a:fillRect/>
          </a:stretch>
        </p:blipFill>
        <p:spPr bwMode="auto">
          <a:xfrm>
            <a:off x="1619250" y="1958181"/>
            <a:ext cx="5905500" cy="3810000"/>
          </a:xfrm>
          <a:prstGeom prst="rect">
            <a:avLst/>
          </a:prstGeom>
          <a:noFill/>
        </p:spPr>
      </p:pic>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TotalTime>
  <Words>1648</Words>
  <Application>Microsoft Office PowerPoint</Application>
  <PresentationFormat>Ekran Gösterisi (4:3)</PresentationFormat>
  <Paragraphs>277</Paragraphs>
  <Slides>98</Slides>
  <Notes>35</Notes>
  <HiddenSlides>0</HiddenSlides>
  <MMClips>0</MMClips>
  <ScaleCrop>false</ScaleCrop>
  <HeadingPairs>
    <vt:vector size="6" baseType="variant">
      <vt:variant>
        <vt:lpstr>Tema</vt:lpstr>
      </vt:variant>
      <vt:variant>
        <vt:i4>1</vt:i4>
      </vt:variant>
      <vt:variant>
        <vt:lpstr>Katıştırılmış OLE Hizmet Programları</vt:lpstr>
      </vt:variant>
      <vt:variant>
        <vt:i4>1</vt:i4>
      </vt:variant>
      <vt:variant>
        <vt:lpstr>Slayt Başlıkları</vt:lpstr>
      </vt:variant>
      <vt:variant>
        <vt:i4>98</vt:i4>
      </vt:variant>
    </vt:vector>
  </HeadingPairs>
  <TitlesOfParts>
    <vt:vector size="100" baseType="lpstr">
      <vt:lpstr>Ofis Teması</vt:lpstr>
      <vt:lpstr>Clip</vt:lpstr>
      <vt:lpstr>MİKROSKOPLAR</vt:lpstr>
      <vt:lpstr>Slayt 2</vt:lpstr>
      <vt:lpstr>Niçin Mikroskop  Kullanıyoruz?</vt:lpstr>
      <vt:lpstr>Slayt 4</vt:lpstr>
      <vt:lpstr>TARİHÇE</vt:lpstr>
      <vt:lpstr>Slayt 6</vt:lpstr>
      <vt:lpstr>Slayt 7</vt:lpstr>
      <vt:lpstr>Slayt 8</vt:lpstr>
      <vt:lpstr>Slayt 9</vt:lpstr>
      <vt:lpstr>Slayt 10</vt:lpstr>
      <vt:lpstr>Slayt 11</vt:lpstr>
      <vt:lpstr>Slayt 12</vt:lpstr>
      <vt:lpstr>Slayt 13</vt:lpstr>
      <vt:lpstr>Slayt 14</vt:lpstr>
      <vt:lpstr>Slayt 15</vt:lpstr>
      <vt:lpstr>Slayt 16</vt:lpstr>
      <vt:lpstr>OPTİK FİZİKLE İLGİLİ BAZI TERİMLER</vt:lpstr>
      <vt:lpstr>Slayt 18</vt:lpstr>
      <vt:lpstr>Slayt 19</vt:lpstr>
      <vt:lpstr>Slayt 20</vt:lpstr>
      <vt:lpstr>IŞIK MİKROSKOBU</vt:lpstr>
      <vt:lpstr>Slayt 22</vt:lpstr>
      <vt:lpstr>Işık Mikroskobu</vt:lpstr>
      <vt:lpstr>Slayt 24</vt:lpstr>
      <vt:lpstr>TÜP</vt:lpstr>
      <vt:lpstr>TÜP</vt:lpstr>
      <vt:lpstr>GÖVDE</vt:lpstr>
      <vt:lpstr>Slayt 28</vt:lpstr>
      <vt:lpstr>Slayt 29</vt:lpstr>
      <vt:lpstr>PREPARAT TABLASI</vt:lpstr>
      <vt:lpstr>PREPARAT TABLASI</vt:lpstr>
      <vt:lpstr>ŞARYO</vt:lpstr>
      <vt:lpstr>ŞARYO</vt:lpstr>
      <vt:lpstr>Slayt 34</vt:lpstr>
      <vt:lpstr>OPTİK BÖLÜM</vt:lpstr>
      <vt:lpstr>Slayt 36</vt:lpstr>
      <vt:lpstr>IŞIK  KAYNAĞI</vt:lpstr>
      <vt:lpstr>AYDINLATMA ÇEŞİTLERİ</vt:lpstr>
      <vt:lpstr>IŞIK KAYNAĞI</vt:lpstr>
      <vt:lpstr>Slayt 40</vt:lpstr>
      <vt:lpstr>KONDANSÖR GÖREVİ</vt:lpstr>
      <vt:lpstr>KONDANSÖR</vt:lpstr>
      <vt:lpstr>DİYAFRAM GÖREVİ </vt:lpstr>
      <vt:lpstr>Slayt 44</vt:lpstr>
      <vt:lpstr>DİYAFRAM</vt:lpstr>
      <vt:lpstr>Slayt 46</vt:lpstr>
      <vt:lpstr> OBJEKTİFLER </vt:lpstr>
      <vt:lpstr>OBJEKTİFLERİN GÖREVİ</vt:lpstr>
      <vt:lpstr> OBJEKTİF DÖNER MEKANİZMASI REVOLVER </vt:lpstr>
      <vt:lpstr>Slayt 50</vt:lpstr>
      <vt:lpstr>Slayt 51</vt:lpstr>
      <vt:lpstr>OKÜLER</vt:lpstr>
      <vt:lpstr>Slayt 53</vt:lpstr>
      <vt:lpstr>OKÜLERLERİN GÖREVİ</vt:lpstr>
      <vt:lpstr>Slayt 55</vt:lpstr>
      <vt:lpstr>Slayt 56</vt:lpstr>
      <vt:lpstr>Slayt 57</vt:lpstr>
      <vt:lpstr>Slayt 58</vt:lpstr>
      <vt:lpstr>Slayt 59</vt:lpstr>
      <vt:lpstr>MİKROSKOP ÇEŞİTLERİ</vt:lpstr>
      <vt:lpstr>  </vt:lpstr>
      <vt:lpstr>KARANLIK ALAN MİKROSKOBU</vt:lpstr>
      <vt:lpstr>Slayt 63</vt:lpstr>
      <vt:lpstr>FAZ KONTRAST (PH) MİKROSKOP</vt:lpstr>
      <vt:lpstr> POLARİZASYON MİKROSKOBU          </vt:lpstr>
      <vt:lpstr>FLÜORESAN MİKROSKOP</vt:lpstr>
      <vt:lpstr>FLÜORESAN MİKROSKOP</vt:lpstr>
      <vt:lpstr>Slayt 68</vt:lpstr>
      <vt:lpstr>Slayt 69</vt:lpstr>
      <vt:lpstr>LAZER TARAMALI KONFOKAL MİKROSKOPLAR</vt:lpstr>
      <vt:lpstr>LAZER TARAMALI KONFOKAL MİKROSKOPLAR</vt:lpstr>
      <vt:lpstr>LAZER TARAMALI KONFOKAL MİKROSKOP</vt:lpstr>
      <vt:lpstr>Slayt 73</vt:lpstr>
      <vt:lpstr>ELEKTRON MİKROSKOBU</vt:lpstr>
      <vt:lpstr>Slayt 75</vt:lpstr>
      <vt:lpstr>ELEKTRON MİKROSKOBU</vt:lpstr>
      <vt:lpstr>Slayt 77</vt:lpstr>
      <vt:lpstr>TRANSMİSSİON ELEKTRON MİKROSKOP (TEM)</vt:lpstr>
      <vt:lpstr>Slayt 79</vt:lpstr>
      <vt:lpstr>TRANSMİSSİON  ELECTRON MİCROSCOPE (TEM)</vt:lpstr>
      <vt:lpstr>SCANNING ELECTRON MİCROSCOPE (SEM)</vt:lpstr>
      <vt:lpstr>SCANNING ELEKTRON MİKROSKOP (SEM) </vt:lpstr>
      <vt:lpstr>SCANNING ELEKTRON MİKROSKOP (SEM) </vt:lpstr>
      <vt:lpstr>SONUÇ OLARAK</vt:lpstr>
      <vt:lpstr>Slayt 85</vt:lpstr>
      <vt:lpstr>Slayt 86</vt:lpstr>
      <vt:lpstr>Slayt 87</vt:lpstr>
      <vt:lpstr>AKARLAR</vt:lpstr>
      <vt:lpstr>Örümceğin ağ yapan hortumları Taramalı elektron mikroskopuyla çekilmiş fotoğraf (Dennis Kunkel Microscopy)</vt:lpstr>
      <vt:lpstr>ELBİSELERİMİZDEKİ CIRTCIRTLAR</vt:lpstr>
      <vt:lpstr>ALYUVARLAR</vt:lpstr>
      <vt:lpstr>AKYUVARLAR BAKTERİLERE VE PATOJENLERE KARŞI HÜCRELERİ KORURKEN. ENZİMLERDEN YARDIM ALIYORLAR</vt:lpstr>
      <vt:lpstr>TUZ VE KARABİBER</vt:lpstr>
      <vt:lpstr>SİNEK LARVASI</vt:lpstr>
      <vt:lpstr>İÇİNDEN KIRMIZI PAMUK İPİ GEÇEN İĞNE DELİĞİ</vt:lpstr>
      <vt:lpstr>KEDİ PİRESİ</vt:lpstr>
      <vt:lpstr>İNSAN KAFASINDA GÖRÜLEN BİT</vt:lpstr>
      <vt:lpstr>DİŞ İPİ (KİRLİ)</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Pc</dc:creator>
  <cp:lastModifiedBy>tijen</cp:lastModifiedBy>
  <cp:revision>176</cp:revision>
  <dcterms:created xsi:type="dcterms:W3CDTF">2014-09-23T08:28:24Z</dcterms:created>
  <dcterms:modified xsi:type="dcterms:W3CDTF">2026-08-19T08:33:33Z</dcterms:modified>
</cp:coreProperties>
</file>