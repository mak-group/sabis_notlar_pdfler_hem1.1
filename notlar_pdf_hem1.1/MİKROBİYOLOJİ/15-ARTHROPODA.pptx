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64" r:id="rId2"/>
    <p:sldId id="259" r:id="rId3"/>
    <p:sldId id="265" r:id="rId4"/>
    <p:sldId id="266" r:id="rId5"/>
    <p:sldId id="267" r:id="rId6"/>
    <p:sldId id="268" r:id="rId7"/>
    <p:sldId id="269" r:id="rId8"/>
    <p:sldId id="271" r:id="rId9"/>
    <p:sldId id="272" r:id="rId10"/>
    <p:sldId id="368" r:id="rId11"/>
    <p:sldId id="372" r:id="rId12"/>
    <p:sldId id="375" r:id="rId13"/>
    <p:sldId id="374" r:id="rId14"/>
    <p:sldId id="273" r:id="rId15"/>
    <p:sldId id="274" r:id="rId16"/>
    <p:sldId id="277" r:id="rId17"/>
    <p:sldId id="281" r:id="rId18"/>
    <p:sldId id="400" r:id="rId19"/>
    <p:sldId id="284" r:id="rId20"/>
    <p:sldId id="285" r:id="rId21"/>
    <p:sldId id="287" r:id="rId22"/>
    <p:sldId id="291" r:id="rId23"/>
    <p:sldId id="293" r:id="rId24"/>
    <p:sldId id="377" r:id="rId25"/>
    <p:sldId id="261" r:id="rId26"/>
    <p:sldId id="378" r:id="rId27"/>
    <p:sldId id="381" r:id="rId28"/>
    <p:sldId id="303" r:id="rId29"/>
    <p:sldId id="304" r:id="rId30"/>
    <p:sldId id="307" r:id="rId31"/>
    <p:sldId id="308" r:id="rId32"/>
    <p:sldId id="258" r:id="rId33"/>
    <p:sldId id="384" r:id="rId34"/>
    <p:sldId id="385" r:id="rId35"/>
    <p:sldId id="313" r:id="rId36"/>
    <p:sldId id="387" r:id="rId37"/>
    <p:sldId id="317" r:id="rId38"/>
    <p:sldId id="318" r:id="rId39"/>
    <p:sldId id="323" r:id="rId40"/>
    <p:sldId id="324" r:id="rId41"/>
    <p:sldId id="401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7" r:id="rId52"/>
    <p:sldId id="402" r:id="rId53"/>
    <p:sldId id="339" r:id="rId54"/>
    <p:sldId id="391" r:id="rId55"/>
    <p:sldId id="341" r:id="rId56"/>
    <p:sldId id="342" r:id="rId57"/>
    <p:sldId id="393" r:id="rId58"/>
    <p:sldId id="392" r:id="rId59"/>
    <p:sldId id="343" r:id="rId60"/>
    <p:sldId id="403" r:id="rId61"/>
    <p:sldId id="344" r:id="rId62"/>
    <p:sldId id="345" r:id="rId63"/>
    <p:sldId id="349" r:id="rId64"/>
    <p:sldId id="396" r:id="rId65"/>
    <p:sldId id="350" r:id="rId66"/>
    <p:sldId id="405" r:id="rId67"/>
    <p:sldId id="351" r:id="rId68"/>
    <p:sldId id="352" r:id="rId69"/>
    <p:sldId id="355" r:id="rId70"/>
    <p:sldId id="357" r:id="rId71"/>
    <p:sldId id="359" r:id="rId72"/>
    <p:sldId id="397" r:id="rId73"/>
    <p:sldId id="361" r:id="rId74"/>
    <p:sldId id="363" r:id="rId75"/>
    <p:sldId id="367" r:id="rId76"/>
    <p:sldId id="398" r:id="rId77"/>
    <p:sldId id="399" r:id="rId78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AD029-BB50-4CA3-AE3C-0EE545129C25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1862A-B888-4136-9202-BDC90F05C1FB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926362-602C-4F81-82E8-25BB222B6B66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FBE66-2D2C-4C22-89A0-3D4B576ABC8E}" type="datetimeFigureOut">
              <a:rPr lang="tr-TR" smtClean="0"/>
              <a:pPr/>
              <a:t>15.11.2023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BE60B-9DD5-4C4F-A9C6-BACAA9DDA633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jpe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e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jpeg"/><Relationship Id="rId4" Type="http://schemas.openxmlformats.org/officeDocument/2006/relationships/image" Target="../media/image96.jpe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323528" y="404664"/>
            <a:ext cx="8352928" cy="6048672"/>
          </a:xfrm>
        </p:spPr>
        <p:txBody>
          <a:bodyPr/>
          <a:lstStyle/>
          <a:p>
            <a:pPr>
              <a:buNone/>
            </a:pPr>
            <a:r>
              <a:rPr lang="tr-TR" b="1" dirty="0"/>
              <a:t>	</a:t>
            </a:r>
            <a:endParaRPr lang="tr-TR" b="1" dirty="0" smtClean="0"/>
          </a:p>
          <a:p>
            <a:pPr>
              <a:buNone/>
            </a:pPr>
            <a:endParaRPr lang="tr-TR" b="1" dirty="0"/>
          </a:p>
          <a:p>
            <a:pPr>
              <a:buNone/>
            </a:pPr>
            <a:r>
              <a:rPr lang="tr-TR" b="1" dirty="0" smtClean="0"/>
              <a:t>		         </a:t>
            </a:r>
            <a:r>
              <a:rPr lang="tr-TR" sz="4000" b="1" dirty="0" smtClean="0">
                <a:solidFill>
                  <a:srgbClr val="FF0000"/>
                </a:solidFill>
              </a:rPr>
              <a:t>ARTHROPODA  NEDİR?</a:t>
            </a:r>
          </a:p>
          <a:p>
            <a:pPr>
              <a:buNone/>
            </a:pPr>
            <a:endParaRPr lang="tr-TR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 BUNLARLA OLUŞAN GÜNÜMÜZ HASTALIKLARI</a:t>
            </a:r>
          </a:p>
          <a:p>
            <a:endParaRPr lang="tr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899592" y="274638"/>
            <a:ext cx="7330008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ARTHROPODA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3315" name="Picture 3" descr="C:\Users\casper\Desktop\imagesCAWE0X2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1988840"/>
            <a:ext cx="4597240" cy="3443492"/>
          </a:xfrm>
          <a:prstGeom prst="rect">
            <a:avLst/>
          </a:prstGeom>
          <a:noFill/>
        </p:spPr>
      </p:pic>
      <p:pic>
        <p:nvPicPr>
          <p:cNvPr id="13316" name="Picture 4" descr="C:\Users\casper\Desktop\untitl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412776"/>
            <a:ext cx="3450100" cy="51845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ARTHROPODA  NEDİR?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Eklem bacaklılar</a:t>
            </a:r>
          </a:p>
          <a:p>
            <a:r>
              <a:rPr lang="tr-TR" sz="2800" b="1" dirty="0" smtClean="0"/>
              <a:t>Erkek ve dişi olarak ayırt edilirler</a:t>
            </a:r>
          </a:p>
          <a:p>
            <a:r>
              <a:rPr lang="tr-TR" sz="2800" b="1" dirty="0" smtClean="0"/>
              <a:t>İyi gelişmiş gözler,deri ,baş,göğüs,karın farklılaşmış organlarıdır</a:t>
            </a:r>
          </a:p>
          <a:p>
            <a:r>
              <a:rPr lang="tr-TR" sz="2800" b="1" dirty="0" smtClean="0"/>
              <a:t>Çene ve dişler gelişmiş</a:t>
            </a:r>
          </a:p>
          <a:p>
            <a:r>
              <a:rPr lang="tr-TR" altLang="tr-TR" sz="2800" b="1" dirty="0" smtClean="0"/>
              <a:t>Omurgası olmayan </a:t>
            </a:r>
            <a:r>
              <a:rPr lang="tr-TR" altLang="tr-TR" sz="2800" b="1" dirty="0" err="1" smtClean="0"/>
              <a:t>artropodların</a:t>
            </a:r>
            <a:r>
              <a:rPr lang="tr-TR" altLang="tr-TR" sz="2800" b="1" dirty="0" smtClean="0"/>
              <a:t> derisi kitin sayesinde sertleşmiş olup, dış iskelet görevi yapmaktadır</a:t>
            </a:r>
            <a:endParaRPr lang="tr-TR" sz="2800" b="1" dirty="0" smtClean="0"/>
          </a:p>
          <a:p>
            <a:r>
              <a:rPr lang="tr-TR" sz="2800" b="1" dirty="0" smtClean="0"/>
              <a:t>Enfeksiyon etkenlerini insanlara bulaştırabilirler</a:t>
            </a:r>
            <a:endParaRPr lang="tr-T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827584" y="274638"/>
            <a:ext cx="7402016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SCORPİON (AKREPLER)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5363" name="Picture 3" descr="C:\Users\casper\Desktop\scorpion01canders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556792"/>
            <a:ext cx="7286676" cy="490959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C:\Users\casper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54782"/>
            <a:ext cx="4852552" cy="2986186"/>
          </a:xfrm>
          <a:prstGeom prst="rect">
            <a:avLst/>
          </a:prstGeom>
          <a:noFill/>
        </p:spPr>
      </p:pic>
      <p:pic>
        <p:nvPicPr>
          <p:cNvPr id="12292" name="Picture 4" descr="C:\Users\casper\Desktop\untitled 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8081" y="1844824"/>
            <a:ext cx="3440383" cy="3744416"/>
          </a:xfrm>
          <a:prstGeom prst="rect">
            <a:avLst/>
          </a:prstGeom>
          <a:noFill/>
        </p:spPr>
      </p:pic>
      <p:pic>
        <p:nvPicPr>
          <p:cNvPr id="12293" name="Picture 5" descr="C:\Users\casper\Desktop\imagesCA9KMK2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3068960"/>
            <a:ext cx="4201210" cy="3501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casper\Desktop\siyah-akrep-boyutlar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32656"/>
            <a:ext cx="6061968" cy="4546476"/>
          </a:xfrm>
          <a:prstGeom prst="rect">
            <a:avLst/>
          </a:prstGeom>
          <a:noFill/>
        </p:spPr>
      </p:pic>
      <p:pic>
        <p:nvPicPr>
          <p:cNvPr id="14339" name="Picture 3" descr="C:\Users\casper\Desktop\rhondaspencergiantdeserthairyscorpion-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80112" y="3933056"/>
            <a:ext cx="3207058" cy="25649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tr-TR" sz="2400" b="1" dirty="0" smtClean="0">
                <a:solidFill>
                  <a:srgbClr val="FF0000"/>
                </a:solidFill>
              </a:rPr>
              <a:t>			       </a:t>
            </a:r>
            <a:r>
              <a:rPr lang="tr-TR" sz="3600" b="1" dirty="0" smtClean="0">
                <a:solidFill>
                  <a:srgbClr val="FF0000"/>
                </a:solidFill>
              </a:rPr>
              <a:t>SCORPİON (AKREPLER)</a:t>
            </a:r>
            <a:endParaRPr lang="tr-TR" sz="3600" b="1" dirty="0" smtClean="0"/>
          </a:p>
          <a:p>
            <a:r>
              <a:rPr lang="tr-TR" sz="2400" b="1" dirty="0" smtClean="0"/>
              <a:t>Çeşitli renklerde olabilir</a:t>
            </a:r>
          </a:p>
          <a:p>
            <a:r>
              <a:rPr lang="tr-TR" sz="2400" b="1" dirty="0" smtClean="0"/>
              <a:t>Böcekle beslenir</a:t>
            </a:r>
          </a:p>
          <a:p>
            <a:r>
              <a:rPr lang="tr-TR" sz="2400" b="1" dirty="0" smtClean="0"/>
              <a:t>Evlerde özellikle giriş katlarında,bodrum,çatı ahşap bina,taş duvar kovukları gibi serin ve nemli yerlerde yuvalanırlar</a:t>
            </a:r>
          </a:p>
          <a:p>
            <a:r>
              <a:rPr lang="tr-TR" sz="2400" b="1" dirty="0" smtClean="0"/>
              <a:t>Evlere girerlerse yatak altları,ayakkabı içlerine girerler</a:t>
            </a:r>
          </a:p>
          <a:p>
            <a:r>
              <a:rPr lang="tr-TR" sz="2400" b="1" dirty="0" smtClean="0"/>
              <a:t>Geceleri aktiftirler</a:t>
            </a:r>
          </a:p>
          <a:p>
            <a:r>
              <a:rPr lang="tr-TR" sz="2400" b="1" dirty="0" smtClean="0"/>
              <a:t>Gündüzleri karanlık ve serin yerlerde geçirirler </a:t>
            </a:r>
          </a:p>
          <a:p>
            <a:r>
              <a:rPr lang="tr-TR" sz="2400" b="1" dirty="0" smtClean="0"/>
              <a:t>İnsanları sokarlar</a:t>
            </a:r>
          </a:p>
          <a:p>
            <a:r>
              <a:rPr lang="tr-TR" sz="2400" b="1" dirty="0" smtClean="0"/>
              <a:t>NÖROTOKSİK </a:t>
            </a:r>
            <a:r>
              <a:rPr lang="tr-TR" sz="2400" b="1" dirty="0" err="1" smtClean="0"/>
              <a:t>zehire</a:t>
            </a:r>
            <a:r>
              <a:rPr lang="tr-TR" sz="2400" b="1" dirty="0" smtClean="0"/>
              <a:t> sahiptirler</a:t>
            </a:r>
          </a:p>
          <a:p>
            <a:r>
              <a:rPr lang="tr-TR" sz="2400" b="1" dirty="0" smtClean="0"/>
              <a:t>Solunum ve dolaşım sistemini etkilerler</a:t>
            </a:r>
          </a:p>
          <a:p>
            <a:r>
              <a:rPr lang="tr-TR" sz="2400" b="1" dirty="0" smtClean="0"/>
              <a:t>Akrep tarafından sokulan insanlara </a:t>
            </a:r>
            <a:r>
              <a:rPr lang="tr-TR" sz="2400" b="1" dirty="0" err="1" smtClean="0"/>
              <a:t>allerjik</a:t>
            </a:r>
            <a:r>
              <a:rPr lang="tr-TR" sz="2400" b="1" dirty="0" smtClean="0"/>
              <a:t> semptomlarını önlemek için hemen </a:t>
            </a:r>
            <a:r>
              <a:rPr lang="tr-TR" sz="2400" b="1" dirty="0" err="1" smtClean="0"/>
              <a:t>antihistaminik</a:t>
            </a:r>
            <a:r>
              <a:rPr lang="tr-TR" sz="2400" b="1" dirty="0" smtClean="0"/>
              <a:t> yapılması önerilir</a:t>
            </a:r>
          </a:p>
          <a:p>
            <a:endParaRPr lang="tr-TR" sz="2400" b="1" dirty="0" smtClean="0"/>
          </a:p>
          <a:p>
            <a:endParaRPr lang="tr-TR" sz="2400" b="1" dirty="0" smtClean="0"/>
          </a:p>
          <a:p>
            <a:endParaRPr lang="tr-T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SCORPİON (AKREPLER)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Özellikle yaz aylarında kamp ve açık arazide yatarken ve taşları kaldırırken son derece dikkatli olmak gerekir</a:t>
            </a:r>
            <a:endParaRPr lang="tr-TR" sz="2800" b="1" dirty="0"/>
          </a:p>
        </p:txBody>
      </p:sp>
      <p:pic>
        <p:nvPicPr>
          <p:cNvPr id="4101" name="Picture 5" descr="C:\Users\casper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9302" y="3212976"/>
            <a:ext cx="4725721" cy="3144753"/>
          </a:xfrm>
          <a:prstGeom prst="rect">
            <a:avLst/>
          </a:prstGeom>
          <a:noFill/>
        </p:spPr>
      </p:pic>
      <p:pic>
        <p:nvPicPr>
          <p:cNvPr id="5" name="Picture 2" descr="C:\Users\casper\Desktop\imagesCAXBDDN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3789040"/>
            <a:ext cx="1656184" cy="19442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SCORPİON (AKREPLER)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5" name="4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tr-TR" b="1" dirty="0" smtClean="0"/>
              <a:t>Akrep sokmalarında görülen semptomlar</a:t>
            </a:r>
          </a:p>
          <a:p>
            <a:r>
              <a:rPr lang="tr-TR" b="1" dirty="0" smtClean="0"/>
              <a:t>Zehirlenmelerde yapılacaklar</a:t>
            </a:r>
          </a:p>
          <a:p>
            <a:r>
              <a:rPr lang="tr-TR" b="1" dirty="0" smtClean="0"/>
              <a:t>Yapılması yanlış olanlar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>
                <a:solidFill>
                  <a:srgbClr val="7030A0"/>
                </a:solidFill>
              </a:rPr>
              <a:t>Zehirlenme belirti ve bulgularından akrep </a:t>
            </a:r>
            <a:r>
              <a:rPr lang="tr-TR" b="1" dirty="0" err="1" smtClean="0">
                <a:solidFill>
                  <a:srgbClr val="7030A0"/>
                </a:solidFill>
              </a:rPr>
              <a:t>venomunun</a:t>
            </a:r>
            <a:r>
              <a:rPr lang="tr-TR" b="1" dirty="0" smtClean="0">
                <a:solidFill>
                  <a:srgbClr val="7030A0"/>
                </a:solidFill>
              </a:rPr>
              <a:t> yapısındaki sindirim enzimleri ve </a:t>
            </a:r>
            <a:r>
              <a:rPr lang="tr-TR" b="1" dirty="0" err="1" smtClean="0">
                <a:solidFill>
                  <a:srgbClr val="7030A0"/>
                </a:solidFill>
              </a:rPr>
              <a:t>nörotoksinler</a:t>
            </a:r>
            <a:r>
              <a:rPr lang="tr-TR" b="1" dirty="0" smtClean="0">
                <a:solidFill>
                  <a:srgbClr val="7030A0"/>
                </a:solidFill>
              </a:rPr>
              <a:t> sorumludur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err="1" smtClean="0"/>
              <a:t>Nörotoksinler</a:t>
            </a:r>
            <a:r>
              <a:rPr lang="tr-TR" b="1" dirty="0" smtClean="0"/>
              <a:t>, sodyum ve potasyum kanal akımını değiştirerek sinir kas kavşağı ve otonom sinir sisteminin aşırı uyarılmasına neden olur</a:t>
            </a:r>
          </a:p>
          <a:p>
            <a:endParaRPr lang="tr-TR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2000" b="1" dirty="0" smtClean="0">
                <a:solidFill>
                  <a:srgbClr val="FF0000"/>
                </a:solidFill>
              </a:rPr>
              <a:t>Siirt 3. Sayfa, Güncel</a:t>
            </a:r>
            <a:br>
              <a:rPr lang="tr-TR" sz="2000" b="1" dirty="0" smtClean="0">
                <a:solidFill>
                  <a:srgbClr val="FF0000"/>
                </a:solidFill>
              </a:rPr>
            </a:br>
            <a:r>
              <a:rPr lang="tr-TR" sz="2000" b="1" dirty="0" smtClean="0">
                <a:solidFill>
                  <a:srgbClr val="FF0000"/>
                </a:solidFill>
              </a:rPr>
              <a:t>Haber Yayın Tarihi: 15.08.2019  Kaynak: İHA</a:t>
            </a:r>
            <a:br>
              <a:rPr lang="tr-TR" sz="2000" b="1" dirty="0" smtClean="0">
                <a:solidFill>
                  <a:srgbClr val="FF0000"/>
                </a:solidFill>
              </a:rPr>
            </a:br>
            <a:r>
              <a:rPr lang="tr-TR" sz="2000" b="1" dirty="0" smtClean="0">
                <a:solidFill>
                  <a:srgbClr val="FF0000"/>
                </a:solidFill>
              </a:rPr>
              <a:t>Herkesin korkulu rüyası! Ayakkabısını giymeye çalışan 15 yaşındaki genci akrep soktu</a:t>
            </a:r>
            <a:br>
              <a:rPr lang="tr-TR" sz="2000" b="1" dirty="0" smtClean="0">
                <a:solidFill>
                  <a:srgbClr val="FF0000"/>
                </a:solidFill>
              </a:rPr>
            </a:br>
            <a:endParaRPr lang="tr-TR" sz="2000" b="1" dirty="0">
              <a:solidFill>
                <a:srgbClr val="FF0000"/>
              </a:solidFill>
            </a:endParaRPr>
          </a:p>
        </p:txBody>
      </p:sp>
      <p:pic>
        <p:nvPicPr>
          <p:cNvPr id="4" name="3 İçerik Yer Tutucusu" descr="https://foto.sondakika.com/haber/2019/08/15/ayakkabisini-giymeye-calisan-15-yasindaki-genci-12330874_110_m.jp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988840"/>
            <a:ext cx="720080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SCORPİON (AKREPLER) ZEHİRLENMESİNDE BELİRTİLER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 smtClean="0"/>
              <a:t>– </a:t>
            </a:r>
            <a:r>
              <a:rPr lang="tr-TR" b="1" dirty="0" smtClean="0"/>
              <a:t>Şiddetli ağrı</a:t>
            </a:r>
            <a:br>
              <a:rPr lang="tr-TR" b="1" dirty="0" smtClean="0"/>
            </a:br>
            <a:r>
              <a:rPr lang="tr-TR" b="1" dirty="0" smtClean="0"/>
              <a:t>– Yanma</a:t>
            </a:r>
            <a:br>
              <a:rPr lang="tr-TR" b="1" dirty="0" smtClean="0"/>
            </a:br>
            <a:r>
              <a:rPr lang="tr-TR" b="1" dirty="0" smtClean="0"/>
              <a:t>– Acı duyulan yerde uyuşma, karıncalanma ve şişme</a:t>
            </a:r>
            <a:br>
              <a:rPr lang="tr-TR" b="1" dirty="0" smtClean="0"/>
            </a:br>
            <a:r>
              <a:rPr lang="tr-TR" b="1" dirty="0" smtClean="0"/>
              <a:t>– Kas seğirmesi</a:t>
            </a:r>
            <a:br>
              <a:rPr lang="tr-TR" b="1" dirty="0" smtClean="0"/>
            </a:br>
            <a:r>
              <a:rPr lang="tr-TR" b="1" dirty="0" smtClean="0"/>
              <a:t>– Olağandışı baş, boyun ve göz hareketleri</a:t>
            </a:r>
            <a:br>
              <a:rPr lang="tr-TR" b="1" dirty="0" smtClean="0"/>
            </a:br>
            <a:r>
              <a:rPr lang="tr-TR" b="1" dirty="0" smtClean="0"/>
              <a:t>– Ağızda köpüklenme</a:t>
            </a:r>
            <a:br>
              <a:rPr lang="tr-TR" b="1" dirty="0" smtClean="0"/>
            </a:br>
            <a:r>
              <a:rPr lang="tr-TR" b="1" dirty="0" smtClean="0"/>
              <a:t>– Çift görme</a:t>
            </a:r>
            <a:br>
              <a:rPr lang="tr-TR" b="1" dirty="0" smtClean="0"/>
            </a:br>
            <a:r>
              <a:rPr lang="tr-TR" b="1" dirty="0" smtClean="0"/>
              <a:t>– Nöbet</a:t>
            </a:r>
            <a:br>
              <a:rPr lang="tr-TR" b="1" dirty="0" smtClean="0"/>
            </a:br>
            <a:r>
              <a:rPr lang="tr-TR" b="1" dirty="0" smtClean="0"/>
              <a:t>– Terleme</a:t>
            </a:r>
            <a:br>
              <a:rPr lang="tr-TR" b="1" dirty="0" smtClean="0"/>
            </a:br>
            <a:r>
              <a:rPr lang="tr-TR" b="1" dirty="0" smtClean="0"/>
              <a:t>– Kusma</a:t>
            </a:r>
            <a:br>
              <a:rPr lang="tr-TR" b="1" dirty="0" smtClean="0"/>
            </a:br>
            <a:r>
              <a:rPr lang="tr-TR" b="1" dirty="0" smtClean="0"/>
              <a:t>– Yüksek veya düşük kan basıncı (her ikisi de olabilir)</a:t>
            </a:r>
            <a:br>
              <a:rPr lang="tr-TR" b="1" dirty="0" smtClean="0"/>
            </a:br>
            <a:r>
              <a:rPr lang="tr-TR" b="1" dirty="0" smtClean="0"/>
              <a:t>– Taşikardi ya da düzensiz kalp atışı</a:t>
            </a:r>
            <a:br>
              <a:rPr lang="tr-TR" b="1" dirty="0" smtClean="0"/>
            </a:br>
            <a:r>
              <a:rPr lang="tr-TR" b="1" dirty="0" smtClean="0"/>
              <a:t>– Huzursuzluk, sinirlilik, çocuklarda ağlama</a:t>
            </a:r>
            <a:br>
              <a:rPr lang="tr-TR" b="1" dirty="0" smtClean="0"/>
            </a:br>
            <a:r>
              <a:rPr lang="tr-TR" b="1" dirty="0" smtClean="0"/>
              <a:t>– Nefes darlığı</a:t>
            </a:r>
            <a:br>
              <a:rPr lang="tr-TR" b="1" dirty="0" smtClean="0"/>
            </a:br>
            <a:r>
              <a:rPr lang="tr-TR" b="1" dirty="0" smtClean="0"/>
              <a:t>– İstemsiz idrar atımı</a:t>
            </a:r>
            <a:br>
              <a:rPr lang="tr-TR" b="1" dirty="0" smtClean="0"/>
            </a:br>
            <a:r>
              <a:rPr lang="tr-TR" b="1" dirty="0" smtClean="0"/>
              <a:t>– Koma</a:t>
            </a:r>
            <a:endParaRPr lang="tr-TR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AKREP SOKMASINDA YAPILMASI GEREKENLER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Autofit/>
          </a:bodyPr>
          <a:lstStyle/>
          <a:p>
            <a:r>
              <a:rPr lang="tr-TR" sz="2300" b="1" dirty="0" smtClean="0"/>
              <a:t>Akrebin soktuğu fark edildiğinde yapılması gereken ilk müdahale, sokulan yerin sabunla ve suyla yıkanması olmalıdır</a:t>
            </a:r>
          </a:p>
          <a:p>
            <a:r>
              <a:rPr lang="tr-TR" sz="2300" b="1" dirty="0" smtClean="0"/>
              <a:t>Daha sonra yaranın üzerine buz konulmalıdır</a:t>
            </a:r>
          </a:p>
          <a:p>
            <a:r>
              <a:rPr lang="tr-TR" sz="2300" b="1" dirty="0" smtClean="0"/>
              <a:t>Isırılan bölgeyi kalp seviyesinin altında tutarsanız zehrin vücuda yayılma hızı yavaşlar</a:t>
            </a:r>
          </a:p>
          <a:p>
            <a:r>
              <a:rPr lang="tr-TR" sz="2300" b="1" dirty="0" smtClean="0"/>
              <a:t>Akrep sokması durumunda istemsiz kas hareketleri olabilir</a:t>
            </a:r>
          </a:p>
          <a:p>
            <a:r>
              <a:rPr lang="tr-TR" sz="2300" b="1" dirty="0" smtClean="0"/>
              <a:t>Bu yüzden bir yakınınızdan sizi hastaneye götürmesi için yardım istemelisiniz</a:t>
            </a:r>
          </a:p>
          <a:p>
            <a:r>
              <a:rPr lang="tr-TR" sz="2300" b="1" dirty="0" smtClean="0"/>
              <a:t>Hastaneye araba ile gidilmesi durumunda akrep tarafından sokulan kişi arabayı kesinlikle kullanmamalıdır</a:t>
            </a:r>
          </a:p>
          <a:p>
            <a:r>
              <a:rPr lang="tr-TR" sz="2300" b="1" dirty="0" smtClean="0"/>
              <a:t>Akrep sokmasında ağrı şiddetli olur</a:t>
            </a:r>
            <a:endParaRPr lang="tr-TR" sz="23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YAPILMAMASI GEREKENLER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Yarayı kesmek, kanatmak</a:t>
            </a:r>
          </a:p>
          <a:p>
            <a:r>
              <a:rPr lang="tr-TR" b="1" dirty="0" smtClean="0"/>
              <a:t>Isırılan bölgeyle oynamak (yara hareketsiz bırakılmalıdır)</a:t>
            </a:r>
          </a:p>
          <a:p>
            <a:r>
              <a:rPr lang="tr-TR" b="1" dirty="0" smtClean="0"/>
              <a:t>Yaraya amonyak sürmek</a:t>
            </a:r>
          </a:p>
          <a:p>
            <a:r>
              <a:rPr lang="tr-TR" b="1" dirty="0" smtClean="0"/>
              <a:t>Sokulan bölge kesilerek kanatılmaz</a:t>
            </a:r>
          </a:p>
          <a:p>
            <a:r>
              <a:rPr lang="tr-TR" b="1" dirty="0" smtClean="0"/>
              <a:t>Turnike uygulanmaz</a:t>
            </a:r>
          </a:p>
          <a:p>
            <a:endParaRPr lang="tr-TR" b="1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395536" y="274638"/>
            <a:ext cx="8280920" cy="994122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ARANEİDA (ÖRÜMCEKLER)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8434" name="Picture 2" descr="C:\Users\casper\Desktop\grossspider7yl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484784"/>
            <a:ext cx="7429552" cy="50006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ARANEİDA (ÖRÜMCEKLER)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tr-TR" b="1" dirty="0" smtClean="0"/>
              <a:t>Böcekle beslenirler,birbirlerine saldırırlar</a:t>
            </a:r>
          </a:p>
          <a:p>
            <a:r>
              <a:rPr lang="tr-TR" b="1" dirty="0" smtClean="0"/>
              <a:t>Avlarını ısırırlar ve eritici enzimlerini avlarının vücuduna akıtırlar,avın iç organları eriyince de bu sıvıyı emerler</a:t>
            </a:r>
          </a:p>
          <a:p>
            <a:r>
              <a:rPr lang="tr-TR" b="1" dirty="0" smtClean="0"/>
              <a:t>Zehirleri genellikle </a:t>
            </a:r>
            <a:r>
              <a:rPr lang="tr-TR" b="1" dirty="0" err="1" smtClean="0"/>
              <a:t>Nörotoksik</a:t>
            </a:r>
            <a:r>
              <a:rPr lang="tr-TR" b="1" dirty="0" smtClean="0"/>
              <a:t> özelliktedir</a:t>
            </a:r>
          </a:p>
          <a:p>
            <a:r>
              <a:rPr lang="tr-TR" b="1" dirty="0" smtClean="0"/>
              <a:t>Evlerde her yerlerde yaşarlar</a:t>
            </a:r>
          </a:p>
          <a:p>
            <a:r>
              <a:rPr lang="tr-TR" b="1" dirty="0" smtClean="0"/>
              <a:t>Tıpkı akreplerde olduğu gibi sokulan yerde</a:t>
            </a:r>
          </a:p>
          <a:p>
            <a:r>
              <a:rPr lang="tr-TR" b="1" dirty="0" smtClean="0"/>
              <a:t>Terleme,morarma,hipotansiyon,koma ve ölüm görülebilir</a:t>
            </a:r>
          </a:p>
          <a:p>
            <a:pPr>
              <a:buNone/>
            </a:pPr>
            <a:endParaRPr lang="tr-TR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casper\Desktop\imagesCAXH94G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8640"/>
            <a:ext cx="4470657" cy="3096344"/>
          </a:xfrm>
          <a:prstGeom prst="rect">
            <a:avLst/>
          </a:prstGeom>
          <a:noFill/>
        </p:spPr>
      </p:pic>
      <p:pic>
        <p:nvPicPr>
          <p:cNvPr id="19459" name="Picture 3" descr="C:\Users\casper\Desktop\orumcek_orumcekler_tarantula_orumcek_agi_orumcek_yumurtasi_orumcek_isirmasi_zehirli_orumcekler_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36096" y="3861048"/>
            <a:ext cx="3067640" cy="2297674"/>
          </a:xfrm>
          <a:prstGeom prst="rect">
            <a:avLst/>
          </a:prstGeom>
          <a:noFill/>
        </p:spPr>
      </p:pic>
      <p:pic>
        <p:nvPicPr>
          <p:cNvPr id="6" name="Picture 2" descr="C:\Users\casper\Desktop\untitl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44008" y="908720"/>
            <a:ext cx="4264384" cy="2776452"/>
          </a:xfrm>
          <a:prstGeom prst="rect">
            <a:avLst/>
          </a:prstGeom>
          <a:noFill/>
        </p:spPr>
      </p:pic>
      <p:pic>
        <p:nvPicPr>
          <p:cNvPr id="7" name="Picture 3" descr="C:\Users\casper\Desktop\zehirli-orumcek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3528" y="3573016"/>
            <a:ext cx="4402206" cy="30334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755576" y="274639"/>
            <a:ext cx="7474024" cy="1210146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KENELER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IXODOİDEA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0243" name="Picture 3" descr="C:\Users\casper\Desktop\kene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643050"/>
            <a:ext cx="8143932" cy="500066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sim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332656"/>
            <a:ext cx="702945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 descr="C:\Users\casper\Desktop\imagesCALKOEKQ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645024"/>
            <a:ext cx="4876872" cy="2897279"/>
          </a:xfrm>
          <a:prstGeom prst="rect">
            <a:avLst/>
          </a:prstGeom>
          <a:noFill/>
        </p:spPr>
      </p:pic>
      <p:pic>
        <p:nvPicPr>
          <p:cNvPr id="4" name="Picture 3" descr="C:\Users\casper\Desktop\imagesCAXWJ1A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9584" y="3356992"/>
            <a:ext cx="3744416" cy="28803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KENELER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IXODOİDEA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tr-TR" sz="2800" b="1" dirty="0" smtClean="0"/>
              <a:t>İnsan ve evcil hayvanlara hastalık etkenlerini bulaştırırlar</a:t>
            </a:r>
          </a:p>
          <a:p>
            <a:r>
              <a:rPr lang="tr-TR" sz="2800" b="1" dirty="0" smtClean="0"/>
              <a:t>KKKA,Kayalık Dağlar Humması, 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</a:t>
            </a:r>
            <a:r>
              <a:rPr lang="tr-TR" sz="2800" b="1" dirty="0" err="1" smtClean="0"/>
              <a:t>ensefalit</a:t>
            </a:r>
            <a:r>
              <a:rPr lang="tr-TR" sz="2800" b="1" dirty="0" smtClean="0"/>
              <a:t>,</a:t>
            </a:r>
            <a:r>
              <a:rPr lang="tr-TR" sz="2800" b="1" dirty="0" err="1" smtClean="0"/>
              <a:t>Lyme</a:t>
            </a:r>
            <a:r>
              <a:rPr lang="tr-TR" sz="2800" b="1" dirty="0" smtClean="0"/>
              <a:t> hastalığı, gibi </a:t>
            </a:r>
            <a:r>
              <a:rPr lang="tr-TR" sz="2800" b="1" dirty="0" err="1" smtClean="0"/>
              <a:t>viral</a:t>
            </a:r>
            <a:r>
              <a:rPr lang="tr-TR" sz="2800" b="1" dirty="0" smtClean="0"/>
              <a:t> hastalıklar</a:t>
            </a:r>
          </a:p>
          <a:p>
            <a:r>
              <a:rPr lang="tr-TR" sz="2800" b="1" dirty="0" smtClean="0"/>
              <a:t>Kene sokmasından sonra deride kaşıntı acı,ateş yükselmesi görülür</a:t>
            </a:r>
          </a:p>
          <a:p>
            <a:r>
              <a:rPr lang="tr-TR" sz="2800" b="1" dirty="0" smtClean="0"/>
              <a:t>Tükürüğünde bulunan </a:t>
            </a:r>
            <a:r>
              <a:rPr lang="tr-TR" sz="2800" b="1" dirty="0" err="1" smtClean="0"/>
              <a:t>nörotoksin</a:t>
            </a:r>
            <a:r>
              <a:rPr lang="tr-TR" sz="2800" b="1" dirty="0" smtClean="0"/>
              <a:t> kol ve bacaklarda felç yapar  </a:t>
            </a:r>
            <a:endParaRPr lang="tr-TR" sz="2800" dirty="0" smtClean="0"/>
          </a:p>
          <a:p>
            <a:r>
              <a:rPr lang="tr-TR" sz="2800" b="1" dirty="0" smtClean="0"/>
              <a:t>Kanama ve pıhtılaşma mekanizması bozulur </a:t>
            </a:r>
            <a:endParaRPr lang="tr-TR" sz="2800" dirty="0" smtClean="0"/>
          </a:p>
          <a:p>
            <a:r>
              <a:rPr lang="tr-TR" sz="2800" b="1" dirty="0" smtClean="0"/>
              <a:t>Gövde, kol ve bacaklarda </a:t>
            </a:r>
            <a:r>
              <a:rPr lang="tr-TR" sz="2800" b="1" dirty="0" err="1" smtClean="0"/>
              <a:t>ekimozlar</a:t>
            </a:r>
            <a:r>
              <a:rPr lang="tr-TR" sz="2800" b="1" dirty="0" smtClean="0"/>
              <a:t> oluşabilir </a:t>
            </a:r>
          </a:p>
          <a:p>
            <a:endParaRPr lang="tr-TR" sz="2800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user\Desktop\3742_kene-ve-kirim-kongo-kanamali-atesi-nedir-7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212976"/>
            <a:ext cx="4175125" cy="2843212"/>
          </a:xfrm>
          <a:prstGeom prst="rect">
            <a:avLst/>
          </a:prstGeom>
          <a:noFill/>
        </p:spPr>
      </p:pic>
      <p:pic>
        <p:nvPicPr>
          <p:cNvPr id="5122" name="Picture 2" descr="C:\Users\casper\Desktop\kene-goz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404664"/>
            <a:ext cx="4104456" cy="3075351"/>
          </a:xfrm>
          <a:prstGeom prst="rect">
            <a:avLst/>
          </a:prstGeom>
          <a:noFill/>
        </p:spPr>
      </p:pic>
      <p:pic>
        <p:nvPicPr>
          <p:cNvPr id="5" name="Picture 2" descr="C:\Users\user\Desktop\752x395-tum-turkiyeye-yayildi-3-kentte-olumcul-149640267651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620688"/>
            <a:ext cx="4013448" cy="20162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619672" y="274638"/>
            <a:ext cx="5904656" cy="1138138"/>
          </a:xfrm>
        </p:spPr>
        <p:txBody>
          <a:bodyPr>
            <a:normAutofit fontScale="90000"/>
          </a:bodyPr>
          <a:lstStyle/>
          <a:p>
            <a:r>
              <a:rPr lang="tr-TR" sz="3600" b="1" dirty="0" smtClean="0"/>
              <a:t/>
            </a:r>
            <a:br>
              <a:rPr lang="tr-TR" sz="3600" b="1" dirty="0" smtClean="0"/>
            </a:br>
            <a:r>
              <a:rPr lang="tr-TR" sz="3600" b="1" dirty="0" smtClean="0">
                <a:solidFill>
                  <a:srgbClr val="FF0000"/>
                </a:solidFill>
              </a:rPr>
              <a:t>KKKA gibi ölümcül bir hastalığa neden olur</a:t>
            </a:r>
            <a:r>
              <a:rPr lang="tr-TR" b="1" dirty="0" smtClean="0"/>
              <a:t/>
            </a:r>
            <a:br>
              <a:rPr lang="tr-TR" b="1" dirty="0" smtClean="0"/>
            </a:br>
            <a:endParaRPr lang="tr-TR" dirty="0"/>
          </a:p>
        </p:txBody>
      </p:sp>
      <p:pic>
        <p:nvPicPr>
          <p:cNvPr id="7170" name="Picture 2" descr="C:\Users\casper\Desktop\untitled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1772816"/>
            <a:ext cx="6798278" cy="45075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115616" y="274638"/>
            <a:ext cx="6984776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ARACHNİDA 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MİTE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casper\Desktop\imagesCAWFZT4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701380"/>
            <a:ext cx="7827013" cy="467994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tr-TR" b="1" dirty="0" smtClean="0">
                <a:solidFill>
                  <a:srgbClr val="FF0000"/>
                </a:solidFill>
              </a:rPr>
              <a:t>	   ARACHNİDA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		MİTE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tr-TR" b="1" dirty="0" smtClean="0"/>
              <a:t>Tıbbi adı mite.Çıplak gözle görülemezler</a:t>
            </a:r>
          </a:p>
          <a:p>
            <a:r>
              <a:rPr lang="tr-TR" b="1" dirty="0" smtClean="0"/>
              <a:t>Işığı az gören sıcak NEMLİ evler akarlar için ideal ortamlardır</a:t>
            </a:r>
          </a:p>
          <a:p>
            <a:r>
              <a:rPr lang="tr-TR" b="1" dirty="0" smtClean="0"/>
              <a:t>İnsan vücudundan dökülen deri parçaları ve tozlarla beslenirler</a:t>
            </a:r>
          </a:p>
          <a:p>
            <a:r>
              <a:rPr lang="tr-TR" b="1" dirty="0" smtClean="0"/>
              <a:t>En çok yatak,yorgan,yastık battaniye,halı gibi ortamlarda yaşarlar</a:t>
            </a:r>
          </a:p>
          <a:p>
            <a:r>
              <a:rPr lang="tr-TR" b="1" dirty="0" smtClean="0"/>
              <a:t>1 gr deri parçası 1.000.000  tane akarın beslenmesi için yeterlidir</a:t>
            </a:r>
          </a:p>
          <a:p>
            <a:r>
              <a:rPr lang="tr-TR" b="1" dirty="0" smtClean="0"/>
              <a:t>5 yıl kullanılan yatakta 8-10 milyon akarın  yaşadığı tahmin edilmektedir</a:t>
            </a:r>
          </a:p>
          <a:p>
            <a:r>
              <a:rPr lang="tr-TR" b="1" dirty="0" smtClean="0"/>
              <a:t>Dışkıları insanlar için tehlikeli</a:t>
            </a:r>
          </a:p>
          <a:p>
            <a:r>
              <a:rPr lang="tr-TR" b="1" dirty="0" smtClean="0"/>
              <a:t>Alerjik olaylara ve Astıma yol açarlar</a:t>
            </a:r>
          </a:p>
          <a:p>
            <a:endParaRPr lang="tr-TR" b="1" dirty="0" smtClean="0"/>
          </a:p>
          <a:p>
            <a:pPr>
              <a:buNone/>
            </a:pPr>
            <a:endParaRPr lang="tr-TR" b="1" dirty="0" smtClean="0"/>
          </a:p>
          <a:p>
            <a:endParaRPr lang="tr-TR" b="1" dirty="0"/>
          </a:p>
        </p:txBody>
      </p:sp>
      <p:pic>
        <p:nvPicPr>
          <p:cNvPr id="4" name="Picture 2" descr="C:\Users\casper\Desktop\Bed%20Bug%20Infestation%20-%20Bug%20bites_tcm63-1785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44208" y="260648"/>
            <a:ext cx="2520280" cy="14961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404664"/>
            <a:ext cx="8640960" cy="619268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	</a:t>
            </a:r>
            <a:r>
              <a:rPr lang="tr-TR" sz="4000" b="1" dirty="0" smtClean="0">
                <a:solidFill>
                  <a:srgbClr val="FF0000"/>
                </a:solidFill>
              </a:rPr>
              <a:t>ARACHNİDA </a:t>
            </a:r>
            <a:br>
              <a:rPr lang="tr-TR" sz="4000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			      MİTE</a:t>
            </a:r>
            <a:endParaRPr lang="tr-TR" sz="4000" b="1" dirty="0" smtClean="0"/>
          </a:p>
          <a:p>
            <a:r>
              <a:rPr lang="tr-TR" b="1" dirty="0" smtClean="0"/>
              <a:t>Yaşanılan yerlerde halı, kilim,battaniye gibi tüylü eşyalardan uzak durmalıyız</a:t>
            </a:r>
          </a:p>
          <a:p>
            <a:r>
              <a:rPr lang="tr-TR" b="1" dirty="0" smtClean="0"/>
              <a:t>Bu gibi eşyaları silkme hareketinden vazgeçmeliyiz.Çünkü bu gibi eşyalar akarların solunum yoluyla insanlar tarafından alınmasına neden olunacak hareketlerdir</a:t>
            </a:r>
          </a:p>
          <a:p>
            <a:r>
              <a:rPr lang="tr-TR" b="1" dirty="0" smtClean="0"/>
              <a:t>Evin havasını nemlendirmekten kaçınmak önemli</a:t>
            </a:r>
          </a:p>
          <a:p>
            <a:r>
              <a:rPr lang="tr-TR" b="1" dirty="0" smtClean="0"/>
              <a:t>Yatak takımı için bir alerji kılıfı kullanılmasının gerekliliği vurgulanmaktadır</a:t>
            </a:r>
          </a:p>
          <a:p>
            <a:pPr>
              <a:buNone/>
            </a:pPr>
            <a:endParaRPr lang="tr-TR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611560" y="274638"/>
            <a:ext cx="761804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SARCOPTES  SCABİEİ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(Uyuz böceği)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4" name="Picture 2" descr="C:\Users\Pc\Desktop\imagesDF1YI3YE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988840"/>
            <a:ext cx="7929562" cy="456088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user\Desktop\UYUZ+Sarcoptes+scabiei,+vücüt+teması+ile+bulaşabil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88640"/>
            <a:ext cx="5975623" cy="4568825"/>
          </a:xfrm>
          <a:prstGeom prst="rect">
            <a:avLst/>
          </a:prstGeom>
          <a:noFill/>
        </p:spPr>
      </p:pic>
      <p:pic>
        <p:nvPicPr>
          <p:cNvPr id="4" name="Picture 2" descr="C:\Users\user\Desktop\UYUZ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492896"/>
            <a:ext cx="4320480" cy="38164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640960" cy="633670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sz="6700" b="1" dirty="0" smtClean="0">
                <a:solidFill>
                  <a:srgbClr val="FF0000"/>
                </a:solidFill>
              </a:rPr>
              <a:t>SARCOPTES SCABİEİ   (UYUZ BÖCEĞİ)</a:t>
            </a:r>
            <a:endParaRPr lang="tr-TR" sz="6700" b="1" dirty="0" smtClean="0"/>
          </a:p>
          <a:p>
            <a:r>
              <a:rPr lang="tr-TR" sz="4400" b="1" dirty="0" smtClean="0"/>
              <a:t>Boyları ortalama 0.4 mm. genişlikleri 0.3 mm.</a:t>
            </a:r>
          </a:p>
          <a:p>
            <a:r>
              <a:rPr lang="tr-TR" sz="4400" b="1" dirty="0" smtClean="0"/>
              <a:t>Uyuz böcekleri; deri döküntüleri, doku artıkları, kan ve doku sıvısı ile beslenirler</a:t>
            </a:r>
          </a:p>
          <a:p>
            <a:r>
              <a:rPr lang="tr-TR" sz="4400" b="1" dirty="0" smtClean="0"/>
              <a:t>Deri altına yerleşerek yaşarlar ve yine deri altında yumurtlayarak çoğalırlar</a:t>
            </a:r>
          </a:p>
          <a:p>
            <a:r>
              <a:rPr lang="tr-TR" sz="4400" b="1" dirty="0" smtClean="0"/>
              <a:t>Uyuz Böceği'nin dişilerinin ömrü 28-35 gün kadardır</a:t>
            </a:r>
          </a:p>
          <a:p>
            <a:r>
              <a:rPr lang="tr-TR" sz="4400" b="1" dirty="0" smtClean="0"/>
              <a:t>Ancak soğuk yerlerde yada insan vücudu dışında sadece 1 hafta kadar hayatta kalabilirler ve </a:t>
            </a:r>
            <a:r>
              <a:rPr lang="tr-TR" sz="4400" b="1" dirty="0" err="1" smtClean="0"/>
              <a:t>yumurtlayabilirlerUyuz</a:t>
            </a:r>
            <a:r>
              <a:rPr lang="tr-TR" sz="4400" b="1" dirty="0" smtClean="0"/>
              <a:t> etkeni kişiden kişiye 15-20 dakikalık sürede bile yakın temas söz konusuysa bulaşabilir</a:t>
            </a:r>
          </a:p>
          <a:p>
            <a:r>
              <a:rPr lang="tr-TR" sz="4400" b="1" dirty="0" smtClean="0"/>
              <a:t>Parazit kişiye bulaştıktan yaklaşık 3-6 hafta sonra şikayetler oluşmaya başlar</a:t>
            </a:r>
          </a:p>
          <a:p>
            <a:r>
              <a:rPr lang="tr-TR" sz="4400" b="1" dirty="0" smtClean="0"/>
              <a:t>Özellikle gece örtününce ve sıcak ortamlarda artan kaşıntı en önemli belirtisidir</a:t>
            </a:r>
          </a:p>
          <a:p>
            <a:r>
              <a:rPr lang="tr-TR" sz="4400" b="1" dirty="0" smtClean="0"/>
              <a:t>El parmak araları, el bileği iç yüzü, koltuk altı, kadınlarda meme uçları, kasık ve </a:t>
            </a:r>
            <a:r>
              <a:rPr lang="tr-TR" sz="4400" b="1" dirty="0" err="1" smtClean="0"/>
              <a:t>genital</a:t>
            </a:r>
            <a:r>
              <a:rPr lang="tr-TR" sz="4400" b="1" dirty="0" smtClean="0"/>
              <a:t> bölge, göbek deliği, vücudun sıcak yerleri en sık tutulan bölgelerdir</a:t>
            </a:r>
          </a:p>
          <a:p>
            <a:pPr>
              <a:buNone/>
            </a:pPr>
            <a:endParaRPr lang="tr-TR" sz="4400" b="1" dirty="0" smtClean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SARCOPTES  SCABİEİ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2400" b="1" dirty="0" smtClean="0">
                <a:solidFill>
                  <a:srgbClr val="FF0000"/>
                </a:solidFill>
              </a:rPr>
              <a:t>UYUZ BÖCEĞİNİN YAPTIĞI HASTALIK BELİRTİLERİ</a:t>
            </a:r>
            <a:endParaRPr lang="tr-TR" sz="24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251520" y="1340768"/>
            <a:ext cx="8568952" cy="5256584"/>
          </a:xfrm>
        </p:spPr>
        <p:txBody>
          <a:bodyPr>
            <a:normAutofit fontScale="70000" lnSpcReduction="20000"/>
          </a:bodyPr>
          <a:lstStyle/>
          <a:p>
            <a:r>
              <a:rPr lang="tr-TR" b="1" dirty="0" smtClean="0"/>
              <a:t>Uyuz böceği; insan derisi içine girerek tüneller hâlinde</a:t>
            </a:r>
          </a:p>
          <a:p>
            <a:pPr>
              <a:buNone/>
            </a:pPr>
            <a:r>
              <a:rPr lang="tr-TR" b="1" dirty="0" smtClean="0"/>
              <a:t>	 0,3 -0,5 mm. boyutunda</a:t>
            </a:r>
          </a:p>
          <a:p>
            <a:r>
              <a:rPr lang="tr-TR" b="1" dirty="0" smtClean="0"/>
              <a:t>yerleşip ürer</a:t>
            </a:r>
          </a:p>
          <a:p>
            <a:r>
              <a:rPr lang="tr-TR" b="1" dirty="0" smtClean="0">
                <a:cs typeface="Arial" panose="020B0604020202020204" pitchFamily="34" charset="0"/>
              </a:rPr>
              <a:t>Konağın derisini delip, tünel açıp içinde yaşarlar</a:t>
            </a:r>
            <a:endParaRPr lang="tr-TR" b="1" dirty="0" smtClean="0"/>
          </a:p>
          <a:p>
            <a:r>
              <a:rPr lang="tr-TR" b="1" dirty="0" smtClean="0"/>
              <a:t>Deri üzerinde dikkatli muayenede etkenin açmış olduğu tüneller görülebilir</a:t>
            </a:r>
          </a:p>
          <a:p>
            <a:r>
              <a:rPr lang="tr-TR" b="1" dirty="0" smtClean="0"/>
              <a:t>Deride </a:t>
            </a:r>
            <a:r>
              <a:rPr lang="tr-TR" b="1" dirty="0"/>
              <a:t>kaşıntı</a:t>
            </a:r>
          </a:p>
          <a:p>
            <a:r>
              <a:rPr lang="tr-TR" b="1" dirty="0"/>
              <a:t>Kızarıklık</a:t>
            </a:r>
          </a:p>
          <a:p>
            <a:r>
              <a:rPr lang="tr-TR" b="1" dirty="0"/>
              <a:t>Deride veziküller</a:t>
            </a:r>
          </a:p>
          <a:p>
            <a:r>
              <a:rPr lang="tr-TR" b="1" dirty="0"/>
              <a:t>Vücutta yaygın yaralar</a:t>
            </a:r>
          </a:p>
          <a:p>
            <a:r>
              <a:rPr lang="tr-TR" b="1" dirty="0"/>
              <a:t>Tüy dökülmesi</a:t>
            </a:r>
          </a:p>
          <a:p>
            <a:r>
              <a:rPr lang="tr-TR" b="1" dirty="0"/>
              <a:t>Deride kalınlaşma</a:t>
            </a:r>
          </a:p>
          <a:p>
            <a:r>
              <a:rPr lang="tr-TR" b="1" dirty="0"/>
              <a:t>Deride kepeklenme ve kızarıklık</a:t>
            </a:r>
          </a:p>
          <a:p>
            <a:r>
              <a:rPr lang="tr-TR" b="1" dirty="0"/>
              <a:t>Derinin renginde koyulaşma</a:t>
            </a:r>
          </a:p>
          <a:p>
            <a:endParaRPr lang="tr-TR" b="1" dirty="0"/>
          </a:p>
        </p:txBody>
      </p:sp>
      <p:pic>
        <p:nvPicPr>
          <p:cNvPr id="4" name="Picture 2" descr="C:\Users\user\Desktop\Deri-Bocegi-Uyuz-Boceg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3353861"/>
            <a:ext cx="3414886" cy="25982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SARCOPTES  SCABİEİ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2400" b="1" dirty="0" smtClean="0">
                <a:solidFill>
                  <a:srgbClr val="FF0000"/>
                </a:solidFill>
              </a:rPr>
              <a:t>UYUZ BÖCEĞİNİN YAPTIĞI HASTALIK BELİRTİLERİ</a:t>
            </a:r>
            <a:endParaRPr lang="tr-TR" sz="2400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tr-TR" b="1" dirty="0" smtClean="0">
                <a:solidFill>
                  <a:srgbClr val="FF0000"/>
                </a:solidFill>
              </a:rPr>
              <a:t>Kabuklu uyuz ya da Norveç uyuzu olarak bilinen ve daha ağır seyreden </a:t>
            </a:r>
            <a:r>
              <a:rPr lang="tr-TR" b="1" dirty="0" smtClean="0"/>
              <a:t>türü, genellikle bağışık yetmezliği olan yaşlılarda görülür</a:t>
            </a:r>
          </a:p>
          <a:p>
            <a:r>
              <a:rPr lang="tr-TR" b="1" dirty="0" smtClean="0"/>
              <a:t>Bulaşma insandan insana olur</a:t>
            </a:r>
          </a:p>
          <a:p>
            <a:r>
              <a:rPr lang="tr-TR" b="1" dirty="0" smtClean="0"/>
              <a:t>Hayvanlardaki uyuz etkenleri insanlara nadiren bulaşır</a:t>
            </a:r>
          </a:p>
          <a:p>
            <a:r>
              <a:rPr lang="tr-TR" b="1" dirty="0" smtClean="0"/>
              <a:t>Bu etkenler insanlarda birkaç gün kalır ve kaynak hayvanın uzaklaştırılmasından sonra kısa sürede kendiliğinden iyileşir</a:t>
            </a:r>
            <a:br>
              <a:rPr lang="tr-TR" b="1" dirty="0" smtClean="0"/>
            </a:br>
            <a:endParaRPr lang="tr-TR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683568" y="274638"/>
            <a:ext cx="7546032" cy="1143000"/>
          </a:xfrm>
        </p:spPr>
        <p:txBody>
          <a:bodyPr>
            <a:norm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KULAĞINDAN UYUZ BÖCEĞİ ÇIKTI</a:t>
            </a:r>
            <a:endParaRPr lang="tr-TR" sz="3200" b="1" dirty="0">
              <a:solidFill>
                <a:srgbClr val="FF0000"/>
              </a:solidFill>
            </a:endParaRPr>
          </a:p>
        </p:txBody>
      </p:sp>
      <p:pic>
        <p:nvPicPr>
          <p:cNvPr id="4098" name="Picture 2" descr="C:\Users\Pc\Desktop\kulagindan_uyuz_bocegi_cikti_559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628800"/>
            <a:ext cx="8369300" cy="45005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Pc\Desktop\a_uyuz-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260648"/>
            <a:ext cx="3897312" cy="2571750"/>
          </a:xfrm>
          <a:prstGeom prst="rect">
            <a:avLst/>
          </a:prstGeom>
          <a:noFill/>
        </p:spPr>
      </p:pic>
      <p:pic>
        <p:nvPicPr>
          <p:cNvPr id="5123" name="Picture 3" descr="C:\Users\Pc\Desktop\a_uyuz-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332656"/>
            <a:ext cx="2857500" cy="1905000"/>
          </a:xfrm>
          <a:prstGeom prst="rect">
            <a:avLst/>
          </a:prstGeom>
          <a:noFill/>
        </p:spPr>
      </p:pic>
      <p:pic>
        <p:nvPicPr>
          <p:cNvPr id="5124" name="Picture 4" descr="C:\Users\Pc\Desktop\uyuz-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2571744"/>
            <a:ext cx="5072098" cy="3990990"/>
          </a:xfrm>
          <a:prstGeom prst="rect">
            <a:avLst/>
          </a:prstGeom>
          <a:noFill/>
        </p:spPr>
      </p:pic>
      <p:pic>
        <p:nvPicPr>
          <p:cNvPr id="6" name="Picture 2" descr="C:\Users\Pc\Desktop\deriböceği-ilaçlama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80112" y="3313362"/>
            <a:ext cx="3349606" cy="31160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Pc\Desktop\uyuz-bocegi4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072437" cy="56975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1043608" y="274638"/>
            <a:ext cx="7185992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SARCOPTES  SCABİEİ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 (Uyuz böceği)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556792"/>
            <a:ext cx="8229600" cy="238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861048"/>
            <a:ext cx="8208912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899592" y="274638"/>
            <a:ext cx="7330008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SARCOPTES  SCABİEİ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 (Uyuz böceği)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628800"/>
            <a:ext cx="8229600" cy="170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284984"/>
            <a:ext cx="828092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5013176"/>
            <a:ext cx="8280920" cy="1659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251520" y="188640"/>
            <a:ext cx="8712968" cy="633670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</a:t>
            </a:r>
            <a:r>
              <a:rPr lang="tr-TR" sz="4000" b="1" dirty="0" smtClean="0">
                <a:solidFill>
                  <a:srgbClr val="FF0000"/>
                </a:solidFill>
              </a:rPr>
              <a:t>PEDİCULOSİS (Bitler)</a:t>
            </a:r>
            <a:endParaRPr lang="tr-TR" sz="4000" b="1" dirty="0" smtClean="0"/>
          </a:p>
          <a:p>
            <a:r>
              <a:rPr lang="tr-TR" b="1" dirty="0" smtClean="0"/>
              <a:t>Yassı ve kanatsızlar</a:t>
            </a:r>
          </a:p>
          <a:p>
            <a:r>
              <a:rPr lang="tr-TR" b="1" dirty="0" smtClean="0"/>
              <a:t>Sivri tırnakları vardır.Kirli sarı renktedir</a:t>
            </a:r>
          </a:p>
          <a:p>
            <a:r>
              <a:rPr lang="tr-TR" b="1" dirty="0" smtClean="0"/>
              <a:t>Baş göğüsten dardır.Dişi bitler daha büyüktür</a:t>
            </a:r>
          </a:p>
          <a:p>
            <a:endParaRPr lang="tr-TR" b="1" dirty="0"/>
          </a:p>
        </p:txBody>
      </p:sp>
      <p:pic>
        <p:nvPicPr>
          <p:cNvPr id="5122" name="Picture 2" descr="C:\Users\casper\Desktop\sacla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188640"/>
            <a:ext cx="2051720" cy="1537294"/>
          </a:xfrm>
          <a:prstGeom prst="rect">
            <a:avLst/>
          </a:prstGeom>
          <a:noFill/>
        </p:spPr>
      </p:pic>
      <p:pic>
        <p:nvPicPr>
          <p:cNvPr id="6" name="Picture 2" descr="C:\Users\casper\Desktop\file_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2708920"/>
            <a:ext cx="7920880" cy="39330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user\Desktop\lice-living-in-hai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188640"/>
            <a:ext cx="5400254" cy="3637426"/>
          </a:xfrm>
          <a:prstGeom prst="rect">
            <a:avLst/>
          </a:prstGeom>
          <a:noFill/>
        </p:spPr>
      </p:pic>
      <p:pic>
        <p:nvPicPr>
          <p:cNvPr id="5" name="Picture 2" descr="C:\Users\Pc\Desktop\head-lice-on-head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284984"/>
            <a:ext cx="5005753" cy="3215280"/>
          </a:xfrm>
          <a:prstGeom prst="rect">
            <a:avLst/>
          </a:prstGeom>
          <a:noFill/>
        </p:spPr>
      </p:pic>
      <p:pic>
        <p:nvPicPr>
          <p:cNvPr id="6" name="Picture 2" descr="C:\Users\Pc\Desktop\head-lice-1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32656"/>
            <a:ext cx="3384376" cy="282054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C:\Users\casper\Desktop\nocanvas_sac-biti-ebeveynlerin-bilmesi-gerekenl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124744"/>
            <a:ext cx="7620000" cy="445313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PEDİCULOSİS (Bitler)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Günde 8-10 kez kan emerek beslenirler</a:t>
            </a:r>
          </a:p>
          <a:p>
            <a:r>
              <a:rPr lang="tr-TR" b="1" dirty="0" smtClean="0"/>
              <a:t>Sirke denilen yumurtaları görmek daha kolaydır</a:t>
            </a:r>
          </a:p>
          <a:p>
            <a:r>
              <a:rPr lang="tr-TR" b="1" dirty="0" smtClean="0"/>
              <a:t>Sirkeler kumaş ve battaniye üzerinde 10-15 gün canlı kalabilirler</a:t>
            </a:r>
          </a:p>
          <a:p>
            <a:r>
              <a:rPr lang="tr-TR" b="1" dirty="0" smtClean="0"/>
              <a:t>İnsanda baş,vücut ve kasık ta bulunabilir</a:t>
            </a:r>
          </a:p>
          <a:p>
            <a:r>
              <a:rPr lang="tr-TR" b="1" dirty="0" smtClean="0"/>
              <a:t>Tedavisi olan bir hastalıktır</a:t>
            </a:r>
          </a:p>
          <a:p>
            <a:pPr>
              <a:buNone/>
            </a:pPr>
            <a:r>
              <a:rPr lang="tr-TR" b="1" dirty="0" smtClean="0"/>
              <a:t>1-</a:t>
            </a:r>
            <a:r>
              <a:rPr lang="tr-TR" b="1" dirty="0" err="1" smtClean="0"/>
              <a:t>Pediculus</a:t>
            </a:r>
            <a:r>
              <a:rPr lang="tr-TR" b="1" dirty="0" smtClean="0"/>
              <a:t> </a:t>
            </a:r>
            <a:r>
              <a:rPr lang="tr-TR" b="1" dirty="0" err="1" smtClean="0"/>
              <a:t>humanus</a:t>
            </a:r>
            <a:r>
              <a:rPr lang="tr-TR" b="1" dirty="0" smtClean="0"/>
              <a:t> </a:t>
            </a:r>
            <a:r>
              <a:rPr lang="tr-TR" b="1" dirty="0" err="1" smtClean="0"/>
              <a:t>capitis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2-</a:t>
            </a:r>
            <a:r>
              <a:rPr lang="tr-TR" b="1" dirty="0" err="1" smtClean="0"/>
              <a:t>Pediculus</a:t>
            </a:r>
            <a:r>
              <a:rPr lang="tr-TR" b="1" dirty="0" smtClean="0"/>
              <a:t> </a:t>
            </a:r>
            <a:r>
              <a:rPr lang="tr-TR" b="1" dirty="0" err="1" smtClean="0"/>
              <a:t>humanus</a:t>
            </a:r>
            <a:r>
              <a:rPr lang="tr-TR" b="1" dirty="0" smtClean="0"/>
              <a:t> </a:t>
            </a:r>
            <a:r>
              <a:rPr lang="tr-TR" b="1" dirty="0" err="1" smtClean="0"/>
              <a:t>corporis</a:t>
            </a:r>
            <a:endParaRPr lang="tr-TR" b="1" dirty="0" smtClean="0"/>
          </a:p>
          <a:p>
            <a:pPr>
              <a:buNone/>
            </a:pPr>
            <a:r>
              <a:rPr lang="tr-TR" b="1" dirty="0" smtClean="0"/>
              <a:t>3-</a:t>
            </a:r>
            <a:r>
              <a:rPr lang="tr-TR" b="1" dirty="0" err="1" smtClean="0"/>
              <a:t>Phthirus</a:t>
            </a:r>
            <a:r>
              <a:rPr lang="tr-TR" b="1" dirty="0" smtClean="0"/>
              <a:t>  </a:t>
            </a:r>
            <a:r>
              <a:rPr lang="tr-TR" b="1" dirty="0" err="1" smtClean="0"/>
              <a:t>pubis</a:t>
            </a:r>
            <a:endParaRPr lang="tr-TR" b="1" dirty="0" smtClean="0"/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683568" y="274638"/>
            <a:ext cx="7546032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BLATTODEA (Hamamböceği)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6146" name="Picture 2" descr="C:\Users\casper\Desktop\Periplaneta_americanaSmal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6451650" cy="459507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BLATTODEA (Hamamböceği)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b="1" dirty="0" smtClean="0"/>
              <a:t>Evlerimizde her yerde yaşarlar</a:t>
            </a:r>
          </a:p>
          <a:p>
            <a:pPr>
              <a:buNone/>
            </a:pPr>
            <a:r>
              <a:rPr lang="tr-TR" b="1" dirty="0" smtClean="0"/>
              <a:t>Çok çabuk ürerler</a:t>
            </a:r>
          </a:p>
          <a:p>
            <a:r>
              <a:rPr lang="tr-TR" b="1" dirty="0" smtClean="0"/>
              <a:t>Sıcak ve rutubetli yerleri severler</a:t>
            </a:r>
          </a:p>
          <a:p>
            <a:r>
              <a:rPr lang="tr-TR" b="1" dirty="0" smtClean="0"/>
              <a:t>Nişastalı ve şekerli gıdalara bayılırlar</a:t>
            </a:r>
          </a:p>
          <a:p>
            <a:r>
              <a:rPr lang="tr-TR" b="1" dirty="0" smtClean="0"/>
              <a:t>Hastalık etkenlerini mekanik olarak taşırlar</a:t>
            </a:r>
          </a:p>
          <a:p>
            <a:pPr>
              <a:buNone/>
            </a:pPr>
            <a:endParaRPr lang="tr-TR" b="1" dirty="0" smtClean="0"/>
          </a:p>
          <a:p>
            <a:pPr>
              <a:buNone/>
            </a:pPr>
            <a:endParaRPr lang="tr-TR" dirty="0"/>
          </a:p>
        </p:txBody>
      </p:sp>
      <p:pic>
        <p:nvPicPr>
          <p:cNvPr id="1026" name="Picture 2" descr="C:\Users\casper\Desktop\fls5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581128"/>
            <a:ext cx="4320480" cy="1872208"/>
          </a:xfrm>
          <a:prstGeom prst="rect">
            <a:avLst/>
          </a:prstGeom>
          <a:noFill/>
        </p:spPr>
      </p:pic>
      <p:pic>
        <p:nvPicPr>
          <p:cNvPr id="1027" name="Picture 3" descr="C:\Users\casper\Desktop\cockroach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4509120"/>
            <a:ext cx="3642275" cy="214614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casper\Desktop\Gromphadorhina_grandidieri_Male_Copyright_George_Beccaloni_preview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476672"/>
            <a:ext cx="4656137" cy="3062288"/>
          </a:xfrm>
          <a:prstGeom prst="rect">
            <a:avLst/>
          </a:prstGeom>
          <a:noFill/>
        </p:spPr>
      </p:pic>
      <p:pic>
        <p:nvPicPr>
          <p:cNvPr id="5" name="Picture 2" descr="C:\Users\casper\Desktop\hamam_boceg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5" y="3573016"/>
            <a:ext cx="5167460" cy="2880320"/>
          </a:xfrm>
          <a:prstGeom prst="rect">
            <a:avLst/>
          </a:prstGeom>
          <a:noFill/>
        </p:spPr>
      </p:pic>
      <p:pic>
        <p:nvPicPr>
          <p:cNvPr id="6" name="Picture 2" descr="C:\Users\user\Desktop\Hamam-Bocegi-ilaclama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32656"/>
            <a:ext cx="4320480" cy="295232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BLATTODEA (Hamamböceği)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 smtClean="0"/>
              <a:t>Allerjik</a:t>
            </a:r>
            <a:r>
              <a:rPr lang="tr-TR" b="1" dirty="0" smtClean="0"/>
              <a:t> deri hastalıklarına neden olurlar</a:t>
            </a:r>
          </a:p>
          <a:p>
            <a:r>
              <a:rPr lang="tr-TR" b="1" dirty="0" smtClean="0"/>
              <a:t>Kolera,tifo,</a:t>
            </a:r>
            <a:r>
              <a:rPr lang="tr-TR" b="1" dirty="0" err="1" smtClean="0"/>
              <a:t>Entamoeba</a:t>
            </a:r>
            <a:r>
              <a:rPr lang="tr-TR" b="1" dirty="0" smtClean="0"/>
              <a:t> </a:t>
            </a:r>
            <a:r>
              <a:rPr lang="tr-TR" b="1" dirty="0" err="1" smtClean="0"/>
              <a:t>coli</a:t>
            </a:r>
            <a:r>
              <a:rPr lang="tr-TR" b="1" dirty="0" smtClean="0"/>
              <a:t>,</a:t>
            </a:r>
            <a:r>
              <a:rPr lang="tr-TR" b="1" dirty="0" err="1" smtClean="0"/>
              <a:t>Giardia</a:t>
            </a:r>
            <a:r>
              <a:rPr lang="tr-TR" b="1" dirty="0" smtClean="0"/>
              <a:t> </a:t>
            </a:r>
            <a:r>
              <a:rPr lang="tr-TR" b="1" dirty="0" err="1" smtClean="0"/>
              <a:t>intestinalis</a:t>
            </a:r>
            <a:r>
              <a:rPr lang="tr-TR" b="1" dirty="0" smtClean="0"/>
              <a:t>,Verem basili gibi hastalıkları mekanik olarak bulaştırırlar</a:t>
            </a:r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4100" name="Picture 4" descr="C:\Users\casper\Desktop\408569_10151227810817901_143890603_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3771900"/>
            <a:ext cx="4114800" cy="2825452"/>
          </a:xfrm>
          <a:prstGeom prst="rect">
            <a:avLst/>
          </a:prstGeom>
          <a:noFill/>
        </p:spPr>
      </p:pic>
      <p:pic>
        <p:nvPicPr>
          <p:cNvPr id="4102" name="Picture 6" descr="C:\Users\casper\Desktop\hamam_bocegi_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4077072"/>
            <a:ext cx="3697912" cy="244827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BLATTODEA (Hamamböceği)</a:t>
            </a:r>
            <a:endParaRPr lang="tr-TR" dirty="0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3074" name="Picture 2" descr="C:\Users\casper\Desktop\bocek-isirmas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772816"/>
            <a:ext cx="8255114" cy="472514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84976" cy="6336704"/>
          </a:xfrm>
        </p:spPr>
        <p:txBody>
          <a:bodyPr/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</a:t>
            </a:r>
            <a:r>
              <a:rPr lang="tr-TR" sz="4000" b="1" dirty="0" smtClean="0">
                <a:solidFill>
                  <a:srgbClr val="FF0000"/>
                </a:solidFill>
              </a:rPr>
              <a:t>     NASIL KORUNURUZ</a:t>
            </a:r>
            <a:endParaRPr lang="tr-TR" sz="4000" b="1" dirty="0" smtClean="0"/>
          </a:p>
          <a:p>
            <a:r>
              <a:rPr lang="tr-TR" b="1" dirty="0" smtClean="0"/>
              <a:t>Çok zordur.Profesyonel mücadele şarttır</a:t>
            </a:r>
          </a:p>
          <a:p>
            <a:r>
              <a:rPr lang="tr-TR" b="1" dirty="0" smtClean="0"/>
              <a:t>Çöp ve gıdaların açıkta bırakılmaması </a:t>
            </a:r>
          </a:p>
          <a:p>
            <a:r>
              <a:rPr lang="tr-TR" b="1" dirty="0" smtClean="0"/>
              <a:t>Ve ilaçlama yani İNSEKTİSİTLER şarttır</a:t>
            </a:r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5129" name="Picture 9" descr="C:\Users\casper\Desktop\timthum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3068960"/>
            <a:ext cx="4486300" cy="3143250"/>
          </a:xfrm>
          <a:prstGeom prst="rect">
            <a:avLst/>
          </a:prstGeom>
          <a:noFill/>
        </p:spPr>
      </p:pic>
      <p:pic>
        <p:nvPicPr>
          <p:cNvPr id="5" name="Picture 2" descr="C:\Users\casper\Desktop\bocek-isirmas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284984"/>
            <a:ext cx="3960440" cy="31409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casper\Desktop\ilaclama-sirketi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32656"/>
            <a:ext cx="7620000" cy="6264696"/>
          </a:xfrm>
          <a:prstGeom prst="rect">
            <a:avLst/>
          </a:prstGeom>
          <a:noFill/>
        </p:spPr>
      </p:pic>
      <p:pic>
        <p:nvPicPr>
          <p:cNvPr id="6147" name="Picture 3" descr="C:\Users\casper\Desktop\HAMAM-~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653136"/>
            <a:ext cx="2857501" cy="20288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082675"/>
          </a:xfrm>
        </p:spPr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CİMİCİDAE</a:t>
            </a:r>
            <a:r>
              <a:rPr lang="tr-TR" sz="4000" dirty="0" smtClean="0">
                <a:solidFill>
                  <a:srgbClr val="FF0000"/>
                </a:solidFill>
              </a:rPr>
              <a:t/>
            </a:r>
            <a:br>
              <a:rPr lang="tr-TR" sz="4000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(tahta kurusu)</a:t>
            </a:r>
            <a:endParaRPr lang="tr-TR" sz="4000" b="1" dirty="0">
              <a:solidFill>
                <a:srgbClr val="FF0000"/>
              </a:solidFill>
            </a:endParaRPr>
          </a:p>
        </p:txBody>
      </p:sp>
      <p:pic>
        <p:nvPicPr>
          <p:cNvPr id="15362" name="Picture 2" descr="C:\Users\Pc\Desktop\untitled.pn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772816"/>
            <a:ext cx="8123237" cy="46799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tr-TR" sz="4000" b="1" dirty="0" smtClean="0">
                <a:solidFill>
                  <a:srgbClr val="FF0000"/>
                </a:solidFill>
              </a:rPr>
              <a:t>CİMİCİDAE    </a:t>
            </a:r>
            <a:r>
              <a:rPr lang="tr-TR" sz="4000" dirty="0" smtClean="0">
                <a:solidFill>
                  <a:srgbClr val="FF0000"/>
                </a:solidFill>
              </a:rPr>
              <a:t/>
            </a:r>
            <a:br>
              <a:rPr lang="tr-TR" sz="4000" dirty="0" smtClean="0">
                <a:solidFill>
                  <a:srgbClr val="FF0000"/>
                </a:solidFill>
              </a:rPr>
            </a:br>
            <a:r>
              <a:rPr lang="tr-TR" sz="4000" b="1" dirty="0" smtClean="0">
                <a:solidFill>
                  <a:srgbClr val="FF0000"/>
                </a:solidFill>
              </a:rPr>
              <a:t>(TAHTA KURUSU)</a:t>
            </a:r>
            <a:endParaRPr lang="tr-TR" sz="4000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tr-TR" b="1" dirty="0" smtClean="0"/>
              <a:t>		</a:t>
            </a:r>
            <a:r>
              <a:rPr lang="tr-TR" sz="5100" b="1" dirty="0" smtClean="0">
                <a:solidFill>
                  <a:srgbClr val="7030A0"/>
                </a:solidFill>
              </a:rPr>
              <a:t>BED BUGS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sz="4500" b="1" dirty="0" smtClean="0"/>
              <a:t>Oval,yassı,çok ayaklı,pas kırmızısı renginde</a:t>
            </a:r>
          </a:p>
          <a:p>
            <a:pPr>
              <a:buNone/>
            </a:pPr>
            <a:endParaRPr lang="tr-TR" sz="4500" b="1" dirty="0" smtClean="0"/>
          </a:p>
          <a:p>
            <a:r>
              <a:rPr lang="tr-TR" sz="4500" b="1" dirty="0" smtClean="0"/>
              <a:t>Ezilince pis kokar,evlerde dolap içleri,duvar delikleri,tahta aksam ayrıklarında yuvalanırlar</a:t>
            </a:r>
          </a:p>
          <a:p>
            <a:pPr>
              <a:buNone/>
            </a:pPr>
            <a:endParaRPr lang="tr-TR" sz="4500" b="1" dirty="0" smtClean="0"/>
          </a:p>
          <a:p>
            <a:r>
              <a:rPr lang="tr-TR" sz="4500" b="1" dirty="0" smtClean="0"/>
              <a:t>Geceleri aktiftirler,insana uykuda hücum ederler</a:t>
            </a:r>
          </a:p>
          <a:p>
            <a:endParaRPr lang="tr-TR" sz="4500" b="1" dirty="0" smtClean="0"/>
          </a:p>
          <a:p>
            <a:r>
              <a:rPr lang="tr-TR" sz="4500" b="1" dirty="0" smtClean="0"/>
              <a:t>Evden eve eşya ile taşınırlar</a:t>
            </a:r>
          </a:p>
          <a:p>
            <a:pPr>
              <a:buNone/>
            </a:pPr>
            <a:endParaRPr lang="tr-TR" sz="4500" b="1" dirty="0" smtClean="0"/>
          </a:p>
          <a:p>
            <a:r>
              <a:rPr lang="tr-TR" sz="4500" b="1" dirty="0" smtClean="0"/>
              <a:t>Gündüzleri ışıktan korunmuş yerlerde saklanırlar</a:t>
            </a:r>
          </a:p>
          <a:p>
            <a:pPr>
              <a:buNone/>
            </a:pPr>
            <a:endParaRPr lang="tr-TR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CİMİCİDAE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(TAHTA KURUSU)</a:t>
            </a:r>
            <a:endParaRPr lang="tr-TR" dirty="0">
              <a:solidFill>
                <a:srgbClr val="FF0000"/>
              </a:solidFill>
            </a:endParaRPr>
          </a:p>
        </p:txBody>
      </p:sp>
      <p:pic>
        <p:nvPicPr>
          <p:cNvPr id="16386" name="Picture 2" descr="C:\Users\Pc\Desktop\bed-bug-isolated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4932040" y="1772816"/>
            <a:ext cx="3816424" cy="3058169"/>
          </a:xfrm>
          <a:prstGeom prst="rect">
            <a:avLst/>
          </a:prstGeom>
          <a:noFill/>
        </p:spPr>
      </p:pic>
      <p:pic>
        <p:nvPicPr>
          <p:cNvPr id="4" name="Picture 2" descr="C:\Users\Pc\Desktop\tahta_kurusu9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068960"/>
            <a:ext cx="4485848" cy="3240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CİMİCİDAE</a:t>
            </a:r>
            <a:r>
              <a:rPr lang="tr-TR" dirty="0" smtClean="0">
                <a:solidFill>
                  <a:srgbClr val="FF0000"/>
                </a:solidFill>
              </a:rPr>
              <a:t/>
            </a:r>
            <a:br>
              <a:rPr lang="tr-TR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(TAHTA KURUSU)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b="1" dirty="0" smtClean="0"/>
              <a:t>Isırıklar şiddetle kaşıntı hissi verdiğinden, aşırı kaşımayla cilt sorunu veya iyileşme sonrası iz kalması sorunları yaşanabilir </a:t>
            </a:r>
          </a:p>
          <a:p>
            <a:r>
              <a:rPr lang="tr-TR" b="1" dirty="0" smtClean="0"/>
              <a:t>Tahtakuruları, havanın sıcak veya kuru olmasından bağımsız her ortamda canlı kalmayı başarabilirler.</a:t>
            </a:r>
          </a:p>
          <a:p>
            <a:r>
              <a:rPr lang="tr-TR" b="1" dirty="0" smtClean="0"/>
              <a:t>Çok soğuk havalarda yarı uyku durumuna geçip hiç yemeden 1 yıl yaşayabilirler</a:t>
            </a:r>
          </a:p>
          <a:p>
            <a:r>
              <a:rPr lang="tr-TR" b="1" dirty="0" err="1" smtClean="0"/>
              <a:t>Pestisitlerin</a:t>
            </a:r>
            <a:r>
              <a:rPr lang="tr-TR" b="1" dirty="0" smtClean="0"/>
              <a:t> onları öldürücü olması için direkt vücutlarına temas etmesi gerekiyor</a:t>
            </a:r>
            <a:endParaRPr lang="tr-TR" b="1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tr-TR" sz="4000" b="1" dirty="0" smtClean="0">
                <a:solidFill>
                  <a:srgbClr val="FF0000"/>
                </a:solidFill>
              </a:rPr>
              <a:t>TAHTA KURUSU ISIRIĞI</a:t>
            </a:r>
            <a:endParaRPr lang="tr-TR" sz="4000" b="1" dirty="0">
              <a:solidFill>
                <a:srgbClr val="FF0000"/>
              </a:solidFill>
            </a:endParaRPr>
          </a:p>
        </p:txBody>
      </p:sp>
      <p:pic>
        <p:nvPicPr>
          <p:cNvPr id="17410" name="Picture 2" descr="C:\Users\Pc\Desktop\1024px-Tahtakurusuisirigi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23928" y="1268760"/>
            <a:ext cx="5009006" cy="3340968"/>
          </a:xfrm>
          <a:prstGeom prst="rect">
            <a:avLst/>
          </a:prstGeom>
          <a:noFill/>
        </p:spPr>
      </p:pic>
      <p:pic>
        <p:nvPicPr>
          <p:cNvPr id="4" name="Picture 2" descr="C:\Users\user\Desktop\tahta-kurusu-isirigi-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356992"/>
            <a:ext cx="4248472" cy="31902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11222"/>
          </a:xfrm>
        </p:spPr>
        <p:txBody>
          <a:bodyPr>
            <a:noAutofit/>
          </a:bodyPr>
          <a:lstStyle/>
          <a:p>
            <a:r>
              <a:rPr lang="tr-TR" sz="3200" b="1" dirty="0" smtClean="0">
                <a:solidFill>
                  <a:srgbClr val="FF0000"/>
                </a:solidFill>
              </a:rPr>
              <a:t>SİPHONAPTERA  (PİRELER) </a:t>
            </a:r>
            <a:br>
              <a:rPr lang="tr-TR" sz="3200" b="1" dirty="0" smtClean="0">
                <a:solidFill>
                  <a:srgbClr val="FF0000"/>
                </a:solidFill>
              </a:rPr>
            </a:br>
            <a:r>
              <a:rPr lang="tr-TR" sz="2400" b="1" dirty="0" smtClean="0">
                <a:solidFill>
                  <a:srgbClr val="FF0000"/>
                </a:solidFill>
              </a:rPr>
              <a:t>FLEA SCANNİNG ELECTRON MİCROGRAPH</a:t>
            </a:r>
            <a:endParaRPr lang="tr-TR" sz="2400" b="1" dirty="0">
              <a:solidFill>
                <a:srgbClr val="FF0000"/>
              </a:solidFill>
            </a:endParaRPr>
          </a:p>
        </p:txBody>
      </p:sp>
      <p:pic>
        <p:nvPicPr>
          <p:cNvPr id="18434" name="Picture 2" descr="C:\Users\Pc\Desktop\Flea_Scanning_Electron_Micrograph_False_Color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700808"/>
            <a:ext cx="7033414" cy="44393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evde-pire-var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7904" y="0"/>
            <a:ext cx="4860925" cy="3744913"/>
          </a:xfrm>
          <a:prstGeom prst="rect">
            <a:avLst/>
          </a:prstGeom>
          <a:noFill/>
        </p:spPr>
      </p:pic>
      <p:pic>
        <p:nvPicPr>
          <p:cNvPr id="5" name="Picture 2" descr="C:\Users\user\Desktop\151326380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2636912"/>
            <a:ext cx="4485783" cy="39498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b="1" dirty="0" smtClean="0"/>
              <a:t/>
            </a:r>
            <a:br>
              <a:rPr lang="tr-TR" b="1" dirty="0" smtClean="0"/>
            </a:b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4294967295"/>
          </p:nvPr>
        </p:nvSpPr>
        <p:spPr>
          <a:xfrm>
            <a:off x="179512" y="260648"/>
            <a:ext cx="8712968" cy="633670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       </a:t>
            </a:r>
            <a:r>
              <a:rPr lang="tr-TR" sz="4300" b="1" dirty="0" smtClean="0">
                <a:solidFill>
                  <a:srgbClr val="FF0000"/>
                </a:solidFill>
              </a:rPr>
              <a:t>SİPHONAPTERA  </a:t>
            </a:r>
            <a:r>
              <a:rPr lang="tr-TR" sz="4300" b="1" dirty="0" smtClean="0">
                <a:solidFill>
                  <a:srgbClr val="FF0000"/>
                </a:solidFill>
              </a:rPr>
              <a:t>(PİRELER) </a:t>
            </a:r>
            <a:endParaRPr lang="tr-TR" sz="4300" b="1" dirty="0" smtClean="0"/>
          </a:p>
          <a:p>
            <a:r>
              <a:rPr lang="tr-TR" b="1" dirty="0" smtClean="0"/>
              <a:t>Hızlı </a:t>
            </a:r>
            <a:r>
              <a:rPr lang="tr-TR" b="1" dirty="0" smtClean="0"/>
              <a:t>hareket edebilen genelde koyu renkli </a:t>
            </a:r>
            <a:r>
              <a:rPr lang="tr-TR" b="1" dirty="0" smtClean="0"/>
              <a:t>canlılardır</a:t>
            </a:r>
            <a:endParaRPr lang="tr-TR" b="1" dirty="0" smtClean="0"/>
          </a:p>
          <a:p>
            <a:r>
              <a:rPr lang="tr-TR" b="1" dirty="0" smtClean="0"/>
              <a:t>Genellikle köpek, kedi, insan, tavşan ve </a:t>
            </a:r>
            <a:r>
              <a:rPr lang="tr-TR" b="1" dirty="0" smtClean="0"/>
              <a:t>kümes </a:t>
            </a:r>
            <a:r>
              <a:rPr lang="tr-TR" b="1" dirty="0" smtClean="0"/>
              <a:t>hayvanlarının üzerinde beslenen </a:t>
            </a:r>
            <a:r>
              <a:rPr lang="tr-TR" b="1" dirty="0" smtClean="0"/>
              <a:t>pire, aynı zamanda bu tür canlılar üzerinde </a:t>
            </a:r>
            <a:r>
              <a:rPr lang="tr-TR" b="1" dirty="0" smtClean="0"/>
              <a:t>yaşar, </a:t>
            </a:r>
            <a:r>
              <a:rPr lang="tr-TR" b="1" dirty="0" smtClean="0"/>
              <a:t>ısırdıkları </a:t>
            </a:r>
            <a:r>
              <a:rPr lang="tr-TR" b="1" dirty="0" smtClean="0"/>
              <a:t>yerleri uyuşturmak için kullandıkları salgı kaşıntı </a:t>
            </a:r>
            <a:r>
              <a:rPr lang="tr-TR" b="1" dirty="0" smtClean="0"/>
              <a:t>yaratır</a:t>
            </a:r>
            <a:endParaRPr lang="tr-TR" b="1" dirty="0" smtClean="0"/>
          </a:p>
          <a:p>
            <a:r>
              <a:rPr lang="tr-TR" b="1" dirty="0" smtClean="0"/>
              <a:t>Alerjik </a:t>
            </a:r>
            <a:r>
              <a:rPr lang="tr-TR" b="1" dirty="0" smtClean="0"/>
              <a:t>reaksiyon gösterildiği takdirde deride kızarıklıklar </a:t>
            </a:r>
            <a:r>
              <a:rPr lang="tr-TR" b="1" dirty="0" smtClean="0"/>
              <a:t>oluşur </a:t>
            </a:r>
            <a:endParaRPr lang="tr-TR" b="1" dirty="0" smtClean="0"/>
          </a:p>
          <a:p>
            <a:r>
              <a:rPr lang="tr-TR" b="1" dirty="0" smtClean="0"/>
              <a:t>Pire </a:t>
            </a:r>
            <a:r>
              <a:rPr lang="tr-TR" b="1" dirty="0" smtClean="0"/>
              <a:t>sıçramasını vücudunun arka tarafında bulunan bacakları ile </a:t>
            </a:r>
            <a:r>
              <a:rPr lang="tr-TR" b="1" dirty="0" smtClean="0"/>
              <a:t>sağlar</a:t>
            </a:r>
            <a:endParaRPr lang="tr-TR" b="1" dirty="0" smtClean="0"/>
          </a:p>
          <a:p>
            <a:r>
              <a:rPr lang="tr-TR" b="1" dirty="0" smtClean="0"/>
              <a:t>Taşıdıkları </a:t>
            </a:r>
            <a:r>
              <a:rPr lang="tr-TR" b="1" dirty="0" err="1" smtClean="0"/>
              <a:t>Yersinia</a:t>
            </a:r>
            <a:r>
              <a:rPr lang="tr-TR" b="1" dirty="0" smtClean="0"/>
              <a:t> </a:t>
            </a:r>
            <a:r>
              <a:rPr lang="tr-TR" b="1" dirty="0" err="1" smtClean="0"/>
              <a:t>pestis</a:t>
            </a:r>
            <a:r>
              <a:rPr lang="tr-TR" b="1" dirty="0" smtClean="0"/>
              <a:t> adlı (bakteri) insanlara bulaştığında ölümcül  veba hastalığı meydana gelebilir</a:t>
            </a:r>
            <a:endParaRPr lang="tr-TR" b="1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HAYVANLARDA PİRE ISIRIĞI TANISI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Pire ısırığına bağlı </a:t>
            </a:r>
            <a:r>
              <a:rPr lang="tr-TR" b="1" dirty="0" err="1" smtClean="0"/>
              <a:t>irritasyon</a:t>
            </a:r>
            <a:r>
              <a:rPr lang="tr-TR" b="1" dirty="0" smtClean="0"/>
              <a:t> hayvanlarda aşırı hareketlilik, kaşınma, kendini ısırma ve kıllarda dökülmeye neden olur</a:t>
            </a:r>
          </a:p>
          <a:p>
            <a:r>
              <a:rPr lang="tr-TR" b="1" dirty="0" smtClean="0"/>
              <a:t>Pirelerin ısırdıkları yerlerde kabuklu </a:t>
            </a:r>
            <a:r>
              <a:rPr lang="tr-TR" b="1" dirty="0" err="1" smtClean="0"/>
              <a:t>papüller</a:t>
            </a:r>
            <a:r>
              <a:rPr lang="tr-TR" b="1" dirty="0" smtClean="0"/>
              <a:t> oluşur</a:t>
            </a:r>
          </a:p>
          <a:p>
            <a:r>
              <a:rPr lang="tr-TR" b="1" dirty="0" smtClean="0"/>
              <a:t>Köpeklerde sık gözlenir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755576" y="274638"/>
            <a:ext cx="7474024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APOİDEA (Arılar)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7171" name="Picture 3" descr="C:\Users\casper\Desktop\190720131628151925519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700808"/>
            <a:ext cx="7286676" cy="48560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C:\Users\casper\Desktop\45143805wb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620688"/>
            <a:ext cx="7632848" cy="564400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2" y="188640"/>
            <a:ext cx="4475162" cy="334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3068960"/>
            <a:ext cx="5827002" cy="362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476672"/>
            <a:ext cx="7561263" cy="5831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APOİDEA (ARILAR)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b="1" dirty="0" smtClean="0"/>
              <a:t>Petek şeklinde bir çift göz ve üç adet basit göz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Başta bulunan duyu organı 2km </a:t>
            </a:r>
            <a:r>
              <a:rPr lang="tr-TR" b="1" dirty="0" smtClean="0"/>
              <a:t>mesafedeki çiçekteki balın  </a:t>
            </a:r>
            <a:r>
              <a:rPr lang="tr-TR" b="1" dirty="0" smtClean="0"/>
              <a:t>kokusunu </a:t>
            </a:r>
            <a:r>
              <a:rPr lang="tr-TR" b="1" dirty="0" smtClean="0"/>
              <a:t>alır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Kendilerini tehlikede görürlerse önce sesle uyarırlar sonra toplu  halde gürültü yaparlar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Hala tehlikede hissederlerse iğneleri ile insanları sokarlar</a:t>
            </a:r>
          </a:p>
          <a:p>
            <a:pPr>
              <a:buNone/>
            </a:pPr>
            <a:endParaRPr lang="tr-TR" b="1" dirty="0" smtClean="0"/>
          </a:p>
          <a:p>
            <a:r>
              <a:rPr lang="tr-TR" b="1" dirty="0" smtClean="0"/>
              <a:t>Peteklerini altıgen biçiminde yapmalarının nedeni en fazla balın depolandığı faydanın en fazla sağlandığı biçimdir</a:t>
            </a:r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Pc\Desktop\fft99_mf5561032.Jpe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548680"/>
            <a:ext cx="7992888" cy="55446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casper\Desktop\1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924944"/>
            <a:ext cx="4438650" cy="3275013"/>
          </a:xfrm>
          <a:prstGeom prst="rect">
            <a:avLst/>
          </a:prstGeom>
          <a:noFill/>
        </p:spPr>
      </p:pic>
      <p:pic>
        <p:nvPicPr>
          <p:cNvPr id="11270" name="Picture 6" descr="C:\Users\casper\Desktop\ari-sokmas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3429000"/>
            <a:ext cx="4591815" cy="2880320"/>
          </a:xfrm>
          <a:prstGeom prst="rect">
            <a:avLst/>
          </a:prstGeom>
          <a:noFill/>
        </p:spPr>
      </p:pic>
      <p:pic>
        <p:nvPicPr>
          <p:cNvPr id="6" name="Picture 2" descr="C:\Users\casper\Desktop\ErkanDogan00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552" y="260648"/>
            <a:ext cx="4288359" cy="28709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APOİDEA (ARILAR)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800" b="1" dirty="0" smtClean="0"/>
              <a:t>Zehirlenmelere ve </a:t>
            </a:r>
            <a:r>
              <a:rPr lang="tr-TR" sz="2800" b="1" dirty="0" err="1" smtClean="0"/>
              <a:t>anafilaktik</a:t>
            </a:r>
            <a:r>
              <a:rPr lang="tr-TR" sz="2800" b="1" dirty="0" smtClean="0"/>
              <a:t> şoklara neden olurlar</a:t>
            </a:r>
          </a:p>
          <a:p>
            <a:r>
              <a:rPr lang="tr-TR" sz="2800" b="1" dirty="0" smtClean="0"/>
              <a:t>Sokma sonucu ağrı</a:t>
            </a:r>
            <a:r>
              <a:rPr lang="tr-TR" sz="2800" b="1" dirty="0" smtClean="0"/>
              <a:t>, ödem, şişme</a:t>
            </a:r>
            <a:endParaRPr lang="tr-TR" sz="2800" b="1" dirty="0" smtClean="0"/>
          </a:p>
          <a:p>
            <a:r>
              <a:rPr lang="tr-TR" sz="2800" b="1" dirty="0" smtClean="0"/>
              <a:t>Dil sokulursa ölüm meydana gelir</a:t>
            </a:r>
          </a:p>
          <a:p>
            <a:pPr>
              <a:buNone/>
            </a:pPr>
            <a:endParaRPr lang="tr-TR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tr-TR" b="1" dirty="0" smtClean="0">
                <a:solidFill>
                  <a:srgbClr val="FF0000"/>
                </a:solidFill>
              </a:rPr>
              <a:t>			DESANSİTİZASYON</a:t>
            </a:r>
            <a:endParaRPr lang="tr-TR" b="1" dirty="0" smtClean="0">
              <a:solidFill>
                <a:srgbClr val="FF0000"/>
              </a:solidFill>
            </a:endParaRPr>
          </a:p>
          <a:p>
            <a:r>
              <a:rPr lang="tr-TR" sz="2800" b="1" dirty="0" smtClean="0"/>
              <a:t>H</a:t>
            </a:r>
            <a:r>
              <a:rPr lang="tr-TR" sz="2800" b="1" dirty="0" smtClean="0"/>
              <a:t>assas </a:t>
            </a:r>
            <a:r>
              <a:rPr lang="tr-TR" sz="2800" b="1" dirty="0" smtClean="0"/>
              <a:t>kimselere arı özetlerinden hazırlanan antijenlerin yapılması İle korunma sağlanır</a:t>
            </a:r>
          </a:p>
          <a:p>
            <a:endParaRPr lang="tr-TR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ARILARDAN NASIL KORUNURUZ?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Duyarlı kişiler </a:t>
            </a:r>
            <a:r>
              <a:rPr lang="tr-TR" b="1" dirty="0" err="1" smtClean="0"/>
              <a:t>Desansibilize</a:t>
            </a:r>
            <a:r>
              <a:rPr lang="tr-TR" b="1" dirty="0" smtClean="0"/>
              <a:t> edilmelidir</a:t>
            </a:r>
          </a:p>
          <a:p>
            <a:r>
              <a:rPr lang="tr-TR" b="1" dirty="0" err="1" smtClean="0"/>
              <a:t>Antihistaminikler</a:t>
            </a:r>
            <a:r>
              <a:rPr lang="tr-TR" b="1" dirty="0" smtClean="0"/>
              <a:t>,  buz uygulama ve soğuk su muhakkak yapılmalıdır</a:t>
            </a:r>
          </a:p>
          <a:p>
            <a:r>
              <a:rPr lang="tr-TR" b="1" dirty="0" smtClean="0"/>
              <a:t>Arı iğnesi dokudan çıkartılmalıdır</a:t>
            </a:r>
            <a:endParaRPr lang="tr-TR" b="1" dirty="0"/>
          </a:p>
        </p:txBody>
      </p:sp>
      <p:pic>
        <p:nvPicPr>
          <p:cNvPr id="2051" name="Picture 3" descr="C:\Users\casper\Desktop\imagesCAPRCTW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2200" y="4365104"/>
            <a:ext cx="2466975" cy="1847850"/>
          </a:xfrm>
          <a:prstGeom prst="rect">
            <a:avLst/>
          </a:prstGeom>
          <a:noFill/>
        </p:spPr>
      </p:pic>
      <p:pic>
        <p:nvPicPr>
          <p:cNvPr id="2052" name="Picture 4" descr="C:\Users\casper\Desktop\avrasyaticaret_arilar2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3968" y="3910567"/>
            <a:ext cx="1944216" cy="2758793"/>
          </a:xfrm>
          <a:prstGeom prst="rect">
            <a:avLst/>
          </a:prstGeom>
          <a:noFill/>
        </p:spPr>
      </p:pic>
      <p:pic>
        <p:nvPicPr>
          <p:cNvPr id="2053" name="Picture 5" descr="C:\Users\casper\Desktop\Ari_ilaclama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149080"/>
            <a:ext cx="3952875" cy="2514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user\Desktop\images-16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4088" y="3933056"/>
            <a:ext cx="3260725" cy="2433638"/>
          </a:xfrm>
          <a:prstGeom prst="rect">
            <a:avLst/>
          </a:prstGeom>
          <a:noFill/>
        </p:spPr>
      </p:pic>
      <p:pic>
        <p:nvPicPr>
          <p:cNvPr id="16387" name="Picture 3" descr="C:\Users\user\Desktop\timthumb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3" y="3861048"/>
            <a:ext cx="4607941" cy="2585839"/>
          </a:xfrm>
          <a:prstGeom prst="rect">
            <a:avLst/>
          </a:prstGeom>
          <a:noFill/>
        </p:spPr>
      </p:pic>
      <p:pic>
        <p:nvPicPr>
          <p:cNvPr id="16388" name="Picture 4" descr="C:\Users\user\Desktop\i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188640"/>
            <a:ext cx="6057900" cy="35433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827584" y="274638"/>
            <a:ext cx="7402016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FORMİCİDAE(KARINCALAR)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3076" name="Picture 4" descr="C:\Users\casper\Desktop\marangozkarincala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556792"/>
            <a:ext cx="8382000" cy="508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FORMİCİDAE(KARINCALAR)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İnsanları ısırırlar</a:t>
            </a:r>
          </a:p>
          <a:p>
            <a:r>
              <a:rPr lang="tr-TR" b="1" dirty="0" smtClean="0"/>
              <a:t>Tropikal bölgelerdeki türlerden bazıları zehirlidirler</a:t>
            </a:r>
          </a:p>
          <a:p>
            <a:endParaRPr lang="tr-TR" b="1" dirty="0"/>
          </a:p>
        </p:txBody>
      </p:sp>
      <p:pic>
        <p:nvPicPr>
          <p:cNvPr id="9218" name="Picture 2" descr="C:\Users\casper\Desktop\karinca_ilaclam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2852936"/>
            <a:ext cx="5715000" cy="3571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casper\Desktop\YAPRAK~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76672"/>
            <a:ext cx="7956376" cy="59672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FORMİCİDAE(KARINCALAR)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tr-TR" b="1" dirty="0" smtClean="0"/>
              <a:t>Yeryüzünün en kalabalık nüfusa sahip canlıları</a:t>
            </a:r>
          </a:p>
          <a:p>
            <a:r>
              <a:rPr lang="tr-TR" b="1" dirty="0" smtClean="0"/>
              <a:t>Böcek </a:t>
            </a:r>
            <a:r>
              <a:rPr lang="tr-TR" b="1" dirty="0" smtClean="0"/>
              <a:t>türlerinin en sosyal alanlarıdır</a:t>
            </a:r>
          </a:p>
          <a:p>
            <a:r>
              <a:rPr lang="tr-TR" b="1" dirty="0" smtClean="0"/>
              <a:t>İyi örgütlenmiş bir düzen içinde koloniler halinde yaşarlar</a:t>
            </a:r>
          </a:p>
          <a:p>
            <a:r>
              <a:rPr lang="tr-TR" b="1" dirty="0" smtClean="0"/>
              <a:t>Kast sistemi denilen kraliçe, erkek, dişi bölümlerine ayrılmışlardır</a:t>
            </a:r>
          </a:p>
          <a:p>
            <a:r>
              <a:rPr lang="tr-TR" b="1" dirty="0" smtClean="0"/>
              <a:t>En önemli özellikleri yeşil yaprakları </a:t>
            </a:r>
            <a:r>
              <a:rPr lang="tr-TR" b="1" dirty="0" smtClean="0"/>
              <a:t>çiğneyip depolayıp </a:t>
            </a:r>
            <a:r>
              <a:rPr lang="tr-TR" b="1" dirty="0" smtClean="0"/>
              <a:t>biriktirmek ve onlardan mantar üretmektir</a:t>
            </a:r>
          </a:p>
          <a:p>
            <a:r>
              <a:rPr lang="tr-TR" b="1" dirty="0" smtClean="0"/>
              <a:t>Üreyen mantarları yiyerek protein ihtiyaçlarını karşılarlar</a:t>
            </a:r>
          </a:p>
          <a:p>
            <a:pPr>
              <a:buNone/>
            </a:pPr>
            <a:endParaRPr lang="tr-TR" b="1" dirty="0" smtClean="0"/>
          </a:p>
          <a:p>
            <a:endParaRPr lang="tr-TR" b="1" dirty="0" smtClean="0"/>
          </a:p>
          <a:p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C:\Users\casper\Desktop\karinca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260648"/>
            <a:ext cx="4762500" cy="3152775"/>
          </a:xfrm>
          <a:prstGeom prst="rect">
            <a:avLst/>
          </a:prstGeom>
          <a:noFill/>
        </p:spPr>
      </p:pic>
      <p:pic>
        <p:nvPicPr>
          <p:cNvPr id="7173" name="Picture 5" descr="C:\Users\casper\Desktop\karinca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836712"/>
            <a:ext cx="3810000" cy="2543175"/>
          </a:xfrm>
          <a:prstGeom prst="rect">
            <a:avLst/>
          </a:prstGeom>
          <a:noFill/>
        </p:spPr>
      </p:pic>
      <p:pic>
        <p:nvPicPr>
          <p:cNvPr id="7175" name="Picture 7" descr="C:\Users\casper\Desktop\fft5_mf11673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35896" y="3501008"/>
            <a:ext cx="5080000" cy="3098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FORMİCİDAE(KARINCALAR)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NASIL KORUNURUZ 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smtClean="0"/>
              <a:t>Evlerde mutfaklarda yiyecekler kapalı muhafaza edilmeli</a:t>
            </a:r>
          </a:p>
          <a:p>
            <a:r>
              <a:rPr lang="tr-TR" b="1" dirty="0" smtClean="0"/>
              <a:t>Nemli ortamlar düzeltilmeli</a:t>
            </a:r>
          </a:p>
          <a:p>
            <a:r>
              <a:rPr lang="tr-TR" b="1" dirty="0" smtClean="0"/>
              <a:t>Kimyasal mücadelede kullanılacak olan </a:t>
            </a:r>
            <a:r>
              <a:rPr lang="tr-TR" b="1" dirty="0" err="1" smtClean="0"/>
              <a:t>insektisitleri</a:t>
            </a:r>
            <a:r>
              <a:rPr lang="tr-TR" b="1" dirty="0" smtClean="0"/>
              <a:t> profesyonel kişiler yapmalıdır</a:t>
            </a:r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 idx="4294967295"/>
          </p:nvPr>
        </p:nvSpPr>
        <p:spPr>
          <a:xfrm>
            <a:off x="899592" y="274638"/>
            <a:ext cx="7330008" cy="1143000"/>
          </a:xfrm>
        </p:spPr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CULICIDAE (SİVRİSİNEK)</a:t>
            </a:r>
            <a:endParaRPr lang="tr-TR" b="1" dirty="0">
              <a:solidFill>
                <a:srgbClr val="FF0000"/>
              </a:solidFill>
            </a:endParaRPr>
          </a:p>
        </p:txBody>
      </p:sp>
      <p:pic>
        <p:nvPicPr>
          <p:cNvPr id="7171" name="Picture 3" descr="C:\Users\casper\Desktop\sivrisinekler_insanlari_neden_secer_h5064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916832"/>
            <a:ext cx="7511584" cy="44422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>
                <a:solidFill>
                  <a:srgbClr val="FF0000"/>
                </a:solidFill>
              </a:rPr>
              <a:t>CULICIDAE (SİVRİSİNEK)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tr-TR" b="1" dirty="0" smtClean="0"/>
              <a:t>			</a:t>
            </a:r>
            <a:r>
              <a:rPr lang="tr-TR" sz="3800" b="1" dirty="0" smtClean="0">
                <a:solidFill>
                  <a:srgbClr val="7030A0"/>
                </a:solidFill>
              </a:rPr>
              <a:t>DERİYİ  </a:t>
            </a:r>
            <a:r>
              <a:rPr lang="tr-TR" sz="3800" b="1" dirty="0" smtClean="0">
                <a:solidFill>
                  <a:srgbClr val="7030A0"/>
                </a:solidFill>
              </a:rPr>
              <a:t>NASIL  KESER</a:t>
            </a:r>
          </a:p>
          <a:p>
            <a:r>
              <a:rPr lang="tr-TR" sz="3000" b="1" dirty="0" smtClean="0"/>
              <a:t>Cilde en yakın damarı tespit eder</a:t>
            </a:r>
          </a:p>
          <a:p>
            <a:r>
              <a:rPr lang="tr-TR" sz="3000" b="1" dirty="0" smtClean="0"/>
              <a:t>6 bıçaktan oluşan alt ve üst çenesi ile deriyi keser</a:t>
            </a:r>
          </a:p>
          <a:p>
            <a:r>
              <a:rPr lang="tr-TR" sz="3000" b="1" dirty="0" smtClean="0"/>
              <a:t>Bu bıçaklardan akan sıvı ile dokuyu uyuştururken aynı zamanda kanın pıhtılaşmasını önleyerek kanı emer</a:t>
            </a:r>
          </a:p>
          <a:p>
            <a:r>
              <a:rPr lang="tr-TR" sz="3000" b="1" dirty="0" smtClean="0"/>
              <a:t>Dişi sivrisinekler bir defada 200-400 arası yumurta </a:t>
            </a:r>
            <a:r>
              <a:rPr lang="tr-TR" sz="3000" b="1" dirty="0" smtClean="0"/>
              <a:t>yumurtlayabilirler</a:t>
            </a:r>
          </a:p>
          <a:p>
            <a:r>
              <a:rPr lang="tr-TR" sz="2800" b="1" dirty="0" smtClean="0"/>
              <a:t>Sivrisinekler kan taşıdıkları için hastalık bulaştırma riskleri vardır</a:t>
            </a:r>
          </a:p>
          <a:p>
            <a:r>
              <a:rPr lang="tr-TR" sz="2800" b="1" dirty="0" smtClean="0"/>
              <a:t>SARI HUMMA,FİL HASTALIĞI,SITMA gibi parazit </a:t>
            </a:r>
            <a:r>
              <a:rPr lang="tr-TR" sz="2800" b="1" dirty="0" smtClean="0"/>
              <a:t>hastalıkları bulaştırırlar</a:t>
            </a:r>
            <a:endParaRPr lang="tr-TR" sz="2800" b="1" dirty="0" smtClean="0"/>
          </a:p>
          <a:p>
            <a:r>
              <a:rPr lang="tr-TR" sz="2800" b="1" dirty="0" smtClean="0"/>
              <a:t>İnsanlarda </a:t>
            </a:r>
            <a:r>
              <a:rPr lang="tr-TR" sz="2800" b="1" dirty="0" err="1" smtClean="0"/>
              <a:t>allerjik</a:t>
            </a:r>
            <a:r>
              <a:rPr lang="tr-TR" sz="2800" b="1" dirty="0" smtClean="0"/>
              <a:t> ve deri ile ilgili hastalıklara neden olurlar</a:t>
            </a:r>
          </a:p>
          <a:p>
            <a:endParaRPr lang="tr-TR" sz="3000" b="1" dirty="0" smtClean="0"/>
          </a:p>
          <a:p>
            <a:endParaRPr lang="tr-TR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asper\Desktop\imagesCA4MGA0J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60648"/>
            <a:ext cx="4845800" cy="3212976"/>
          </a:xfrm>
          <a:prstGeom prst="rect">
            <a:avLst/>
          </a:prstGeom>
          <a:noFill/>
        </p:spPr>
      </p:pic>
      <p:pic>
        <p:nvPicPr>
          <p:cNvPr id="2052" name="Picture 4" descr="C:\Users\casper\Desktop\sivrisinek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23928" y="3356992"/>
            <a:ext cx="4536504" cy="3010589"/>
          </a:xfrm>
          <a:prstGeom prst="rect">
            <a:avLst/>
          </a:prstGeom>
          <a:noFill/>
        </p:spPr>
      </p:pic>
      <p:pic>
        <p:nvPicPr>
          <p:cNvPr id="2055" name="Picture 7" descr="C:\Users\casper\Desktop\60722011062709451366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5" y="476671"/>
            <a:ext cx="3334882" cy="2501161"/>
          </a:xfrm>
          <a:prstGeom prst="rect">
            <a:avLst/>
          </a:prstGeom>
          <a:noFill/>
        </p:spPr>
      </p:pic>
      <p:pic>
        <p:nvPicPr>
          <p:cNvPr id="8" name="Picture 2" descr="C:\Users\casper\Desktop\1132353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3573016"/>
            <a:ext cx="3363898" cy="2946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casper\Desktop\PIRE-S~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8640"/>
            <a:ext cx="3129136" cy="2878805"/>
          </a:xfrm>
          <a:prstGeom prst="rect">
            <a:avLst/>
          </a:prstGeom>
          <a:noFill/>
        </p:spPr>
      </p:pic>
      <p:pic>
        <p:nvPicPr>
          <p:cNvPr id="5123" name="Picture 3" descr="C:\Users\casper\Desktop\092I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332656"/>
            <a:ext cx="4385726" cy="3736638"/>
          </a:xfrm>
          <a:prstGeom prst="rect">
            <a:avLst/>
          </a:prstGeom>
          <a:noFill/>
        </p:spPr>
      </p:pic>
      <p:pic>
        <p:nvPicPr>
          <p:cNvPr id="5124" name="Picture 4" descr="C:\Users\casper\Desktop\boardturkboceksokmalari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356992"/>
            <a:ext cx="4445000" cy="2959100"/>
          </a:xfrm>
          <a:prstGeom prst="rect">
            <a:avLst/>
          </a:prstGeom>
          <a:noFill/>
        </p:spPr>
      </p:pic>
      <p:pic>
        <p:nvPicPr>
          <p:cNvPr id="7" name="Picture 4" descr="C:\Users\casper\Desktop\bocek-isirmasi-ve-sokmasi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3284984"/>
            <a:ext cx="3923928" cy="330486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b="1" dirty="0" smtClean="0">
                <a:solidFill>
                  <a:srgbClr val="FF0000"/>
                </a:solidFill>
              </a:rPr>
              <a:t>CULICIDAE (SİVRİSİNEK)</a:t>
            </a:r>
            <a:br>
              <a:rPr lang="tr-TR" b="1" dirty="0" smtClean="0">
                <a:solidFill>
                  <a:srgbClr val="FF0000"/>
                </a:solidFill>
              </a:rPr>
            </a:br>
            <a:r>
              <a:rPr lang="tr-TR" b="1" dirty="0" smtClean="0">
                <a:solidFill>
                  <a:srgbClr val="FF0000"/>
                </a:solidFill>
              </a:rPr>
              <a:t>NASIL KORUNURUZ?</a:t>
            </a:r>
            <a:endParaRPr lang="tr-TR" b="1" dirty="0">
              <a:solidFill>
                <a:srgbClr val="FF0000"/>
              </a:solidFill>
            </a:endParaRP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b="1" dirty="0" smtClean="0"/>
              <a:t>Günümüzde pek çok fiziksel ve kimyasal </a:t>
            </a:r>
            <a:r>
              <a:rPr lang="tr-TR" b="1" dirty="0" err="1" smtClean="0"/>
              <a:t>metod</a:t>
            </a:r>
            <a:r>
              <a:rPr lang="tr-TR" b="1" dirty="0" smtClean="0"/>
              <a:t> kullanılmaktadır</a:t>
            </a:r>
          </a:p>
          <a:p>
            <a:r>
              <a:rPr lang="tr-TR" b="1" dirty="0" smtClean="0"/>
              <a:t>Çevre temizliği burada önem taşımaktadır</a:t>
            </a:r>
          </a:p>
          <a:p>
            <a:r>
              <a:rPr lang="tr-TR" b="1" dirty="0" smtClean="0"/>
              <a:t>Yaşadıkları </a:t>
            </a:r>
            <a:r>
              <a:rPr lang="tr-TR" b="1" dirty="0" smtClean="0"/>
              <a:t>yerler su </a:t>
            </a:r>
            <a:r>
              <a:rPr lang="tr-TR" b="1" dirty="0" smtClean="0"/>
              <a:t>bulunan birikintiler, havuzlar </a:t>
            </a:r>
            <a:r>
              <a:rPr lang="tr-TR" b="1" dirty="0" smtClean="0"/>
              <a:t>,açık lağım çukurları  ıslah edilmeli </a:t>
            </a:r>
          </a:p>
          <a:p>
            <a:r>
              <a:rPr lang="tr-TR" b="1" dirty="0" smtClean="0"/>
              <a:t>Profesyonel </a:t>
            </a:r>
            <a:r>
              <a:rPr lang="tr-TR" b="1" dirty="0" smtClean="0"/>
              <a:t>olarak ilaçlama </a:t>
            </a:r>
            <a:r>
              <a:rPr lang="tr-TR" b="1" dirty="0" smtClean="0"/>
              <a:t>yapılmalıdır</a:t>
            </a:r>
          </a:p>
          <a:p>
            <a:r>
              <a:rPr lang="tr-TR" b="1" dirty="0" smtClean="0"/>
              <a:t>Giriş katlarındaki olan nemli rutubetli evlerde yaşam koşulları düzeltilmelidir</a:t>
            </a:r>
          </a:p>
          <a:p>
            <a:pPr>
              <a:buNone/>
            </a:pPr>
            <a:endParaRPr lang="tr-T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user\Desktop\sivrisinek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980728"/>
            <a:ext cx="7620000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user\Desktop\Sivrisinek-İlaclama-Hizmetleri-750x300.jpg"/>
          <p:cNvPicPr>
            <a:picLocks noGrp="1" noChangeAspect="1" noChangeArrowheads="1"/>
          </p:cNvPicPr>
          <p:nvPr>
            <p:ph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764704"/>
            <a:ext cx="7143750" cy="51125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856</Words>
  <Application>Microsoft Office PowerPoint</Application>
  <PresentationFormat>Ekran Gösterisi (4:3)</PresentationFormat>
  <Paragraphs>233</Paragraphs>
  <Slides>77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77</vt:i4>
      </vt:variant>
    </vt:vector>
  </HeadingPairs>
  <TitlesOfParts>
    <vt:vector size="78" baseType="lpstr">
      <vt:lpstr>Ofis Teması</vt:lpstr>
      <vt:lpstr>Slayt 1</vt:lpstr>
      <vt:lpstr>ARTHROPODA</vt:lpstr>
      <vt:lpstr>ARTHROPODA  NEDİR?</vt:lpstr>
      <vt:lpstr>SCORPİON (AKREPLER)</vt:lpstr>
      <vt:lpstr>Slayt 5</vt:lpstr>
      <vt:lpstr>Slayt 6</vt:lpstr>
      <vt:lpstr>Slayt 7</vt:lpstr>
      <vt:lpstr>SCORPİON (AKREPLER)</vt:lpstr>
      <vt:lpstr>SCORPİON (AKREPLER)</vt:lpstr>
      <vt:lpstr>Siirt 3. Sayfa, Güncel Haber Yayın Tarihi: 15.08.2019  Kaynak: İHA Herkesin korkulu rüyası! Ayakkabısını giymeye çalışan 15 yaşındaki genci akrep soktu </vt:lpstr>
      <vt:lpstr>SCORPİON (AKREPLER) ZEHİRLENMESİNDE BELİRTİLER</vt:lpstr>
      <vt:lpstr>AKREP SOKMASINDA YAPILMASI GEREKENLER</vt:lpstr>
      <vt:lpstr>YAPILMAMASI GEREKENLER</vt:lpstr>
      <vt:lpstr>ARANEİDA (ÖRÜMCEKLER)</vt:lpstr>
      <vt:lpstr>ARANEİDA (ÖRÜMCEKLER)</vt:lpstr>
      <vt:lpstr>Slayt 16</vt:lpstr>
      <vt:lpstr>KENELER  IXODOİDEA</vt:lpstr>
      <vt:lpstr>Slayt 18</vt:lpstr>
      <vt:lpstr>KENELER  IXODOİDEA</vt:lpstr>
      <vt:lpstr>Slayt 20</vt:lpstr>
      <vt:lpstr> KKKA gibi ölümcül bir hastalığa neden olur </vt:lpstr>
      <vt:lpstr>ARACHNİDA  MİTE</vt:lpstr>
      <vt:lpstr>    ARACHNİDA   MİTE</vt:lpstr>
      <vt:lpstr>Slayt 24</vt:lpstr>
      <vt:lpstr>SARCOPTES  SCABİEİ (Uyuz böceği)</vt:lpstr>
      <vt:lpstr>Slayt 26</vt:lpstr>
      <vt:lpstr>Slayt 27</vt:lpstr>
      <vt:lpstr>SARCOPTES  SCABİEİ UYUZ BÖCEĞİNİN YAPTIĞI HASTALIK BELİRTİLERİ</vt:lpstr>
      <vt:lpstr>SARCOPTES  SCABİEİ UYUZ BÖCEĞİNİN YAPTIĞI HASTALIK BELİRTİLERİ</vt:lpstr>
      <vt:lpstr>KULAĞINDAN UYUZ BÖCEĞİ ÇIKTI</vt:lpstr>
      <vt:lpstr>Slayt 31</vt:lpstr>
      <vt:lpstr>Slayt 32</vt:lpstr>
      <vt:lpstr>SARCOPTES  SCABİEİ  (Uyuz böceği)</vt:lpstr>
      <vt:lpstr>SARCOPTES  SCABİEİ  (Uyuz böceği)</vt:lpstr>
      <vt:lpstr>Slayt 35</vt:lpstr>
      <vt:lpstr>Slayt 36</vt:lpstr>
      <vt:lpstr>Slayt 37</vt:lpstr>
      <vt:lpstr>PEDİCULOSİS (Bitler)</vt:lpstr>
      <vt:lpstr>BLATTODEA (Hamamböceği)</vt:lpstr>
      <vt:lpstr>BLATTODEA (Hamamböceği)</vt:lpstr>
      <vt:lpstr>Slayt 41</vt:lpstr>
      <vt:lpstr>BLATTODEA (Hamamböceği)</vt:lpstr>
      <vt:lpstr>BLATTODEA (Hamamböceği)</vt:lpstr>
      <vt:lpstr>Slayt 44</vt:lpstr>
      <vt:lpstr>Slayt 45</vt:lpstr>
      <vt:lpstr>CİMİCİDAE (tahta kurusu)</vt:lpstr>
      <vt:lpstr>CİMİCİDAE     (TAHTA KURUSU)</vt:lpstr>
      <vt:lpstr>CİMİCİDAE (TAHTA KURUSU)</vt:lpstr>
      <vt:lpstr>CİMİCİDAE (TAHTA KURUSU)</vt:lpstr>
      <vt:lpstr>TAHTA KURUSU ISIRIĞI</vt:lpstr>
      <vt:lpstr>SİPHONAPTERA  (PİRELER)  FLEA SCANNİNG ELECTRON MİCROGRAPH</vt:lpstr>
      <vt:lpstr>Slayt 52</vt:lpstr>
      <vt:lpstr> </vt:lpstr>
      <vt:lpstr>HAYVANLARDA PİRE ISIRIĞI TANISI</vt:lpstr>
      <vt:lpstr>APOİDEA (Arılar)</vt:lpstr>
      <vt:lpstr>Slayt 56</vt:lpstr>
      <vt:lpstr>Slayt 57</vt:lpstr>
      <vt:lpstr>Slayt 58</vt:lpstr>
      <vt:lpstr>APOİDEA (ARILAR)</vt:lpstr>
      <vt:lpstr>Slayt 60</vt:lpstr>
      <vt:lpstr>Slayt 61</vt:lpstr>
      <vt:lpstr>APOİDEA (ARILAR)</vt:lpstr>
      <vt:lpstr>ARILARDAN NASIL KORUNURUZ?</vt:lpstr>
      <vt:lpstr>Slayt 64</vt:lpstr>
      <vt:lpstr>FORMİCİDAE(KARINCALAR)</vt:lpstr>
      <vt:lpstr>FORMİCİDAE(KARINCALAR)</vt:lpstr>
      <vt:lpstr>Slayt 67</vt:lpstr>
      <vt:lpstr>FORMİCİDAE(KARINCALAR)</vt:lpstr>
      <vt:lpstr>Slayt 69</vt:lpstr>
      <vt:lpstr>FORMİCİDAE(KARINCALAR) NASIL KORUNURUZ ?</vt:lpstr>
      <vt:lpstr>CULICIDAE (SİVRİSİNEK)</vt:lpstr>
      <vt:lpstr>CULICIDAE (SİVRİSİNEK)</vt:lpstr>
      <vt:lpstr>Slayt 73</vt:lpstr>
      <vt:lpstr>Slayt 74</vt:lpstr>
      <vt:lpstr>CULICIDAE (SİVRİSİNEK) NASIL KORUNURUZ?</vt:lpstr>
      <vt:lpstr>Slayt 76</vt:lpstr>
      <vt:lpstr>Slayt 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Pc</dc:creator>
  <cp:lastModifiedBy>Tijen NEMUT</cp:lastModifiedBy>
  <cp:revision>109</cp:revision>
  <dcterms:created xsi:type="dcterms:W3CDTF">2016-10-09T15:22:23Z</dcterms:created>
  <dcterms:modified xsi:type="dcterms:W3CDTF">2023-11-15T15:43:03Z</dcterms:modified>
</cp:coreProperties>
</file>