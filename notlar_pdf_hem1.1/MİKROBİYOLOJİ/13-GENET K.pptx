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384" r:id="rId2"/>
    <p:sldId id="471" r:id="rId3"/>
    <p:sldId id="435" r:id="rId4"/>
    <p:sldId id="438" r:id="rId5"/>
    <p:sldId id="455" r:id="rId6"/>
    <p:sldId id="444" r:id="rId7"/>
    <p:sldId id="454" r:id="rId8"/>
    <p:sldId id="440" r:id="rId9"/>
    <p:sldId id="442" r:id="rId10"/>
    <p:sldId id="349" r:id="rId11"/>
    <p:sldId id="353" r:id="rId12"/>
    <p:sldId id="480" r:id="rId13"/>
    <p:sldId id="359" r:id="rId14"/>
    <p:sldId id="451" r:id="rId15"/>
    <p:sldId id="452" r:id="rId16"/>
    <p:sldId id="425" r:id="rId17"/>
    <p:sldId id="462" r:id="rId18"/>
    <p:sldId id="456" r:id="rId19"/>
    <p:sldId id="464" r:id="rId20"/>
    <p:sldId id="423" r:id="rId21"/>
    <p:sldId id="389" r:id="rId22"/>
    <p:sldId id="382" r:id="rId23"/>
    <p:sldId id="446" r:id="rId24"/>
    <p:sldId id="391" r:id="rId25"/>
    <p:sldId id="374" r:id="rId26"/>
    <p:sldId id="373" r:id="rId27"/>
    <p:sldId id="376" r:id="rId28"/>
    <p:sldId id="377" r:id="rId29"/>
    <p:sldId id="385" r:id="rId30"/>
    <p:sldId id="481" r:id="rId31"/>
    <p:sldId id="476" r:id="rId32"/>
    <p:sldId id="477" r:id="rId33"/>
    <p:sldId id="478" r:id="rId34"/>
    <p:sldId id="406" r:id="rId35"/>
    <p:sldId id="404" r:id="rId36"/>
    <p:sldId id="473" r:id="rId37"/>
    <p:sldId id="434" r:id="rId38"/>
    <p:sldId id="401" r:id="rId39"/>
    <p:sldId id="407" r:id="rId40"/>
    <p:sldId id="408" r:id="rId41"/>
    <p:sldId id="482" r:id="rId42"/>
    <p:sldId id="410" r:id="rId43"/>
    <p:sldId id="409" r:id="rId44"/>
    <p:sldId id="411" r:id="rId45"/>
    <p:sldId id="475" r:id="rId46"/>
    <p:sldId id="415" r:id="rId47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BF04"/>
    <a:srgbClr val="D40EC6"/>
    <a:srgbClr val="0033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>
      <p:cViewPr varScale="1">
        <p:scale>
          <a:sx n="68" d="100"/>
          <a:sy n="68" d="100"/>
        </p:scale>
        <p:origin x="-142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75050-0E15-4C5B-92B0-66D068882F1F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C:\Users\Pc\Desktop\imagesHK0SHLLS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692696"/>
            <a:ext cx="8131175" cy="532834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DNA’NIN YAPISI -1953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/>
          <a:lstStyle/>
          <a:p>
            <a:pPr>
              <a:buNone/>
            </a:pPr>
            <a:r>
              <a:rPr lang="tr-TR" dirty="0" smtClean="0"/>
              <a:t>		 </a:t>
            </a:r>
            <a:r>
              <a:rPr lang="tr-TR" b="1" dirty="0" smtClean="0"/>
              <a:t>James </a:t>
            </a:r>
            <a:r>
              <a:rPr lang="tr-TR" b="1" dirty="0" err="1" smtClean="0"/>
              <a:t>Dewey</a:t>
            </a:r>
            <a:r>
              <a:rPr lang="tr-TR" b="1" dirty="0" smtClean="0"/>
              <a:t> Watson ve Francis </a:t>
            </a:r>
            <a:r>
              <a:rPr lang="tr-TR" b="1" dirty="0" err="1" smtClean="0"/>
              <a:t>Crick</a:t>
            </a:r>
            <a:endParaRPr lang="tr-TR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7784" y="2420888"/>
            <a:ext cx="3672408" cy="3962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95536" y="332656"/>
            <a:ext cx="8424936" cy="6120680"/>
          </a:xfrm>
        </p:spPr>
        <p:txBody>
          <a:bodyPr>
            <a:normAutofit lnSpcReduction="10000"/>
          </a:bodyPr>
          <a:lstStyle/>
          <a:p>
            <a:r>
              <a:rPr lang="tr-TR" b="1" dirty="0" smtClean="0"/>
              <a:t>Hücre, yaşayan organizmaların temel yapıtaşıdır</a:t>
            </a:r>
          </a:p>
          <a:p>
            <a:pPr>
              <a:buNone/>
            </a:pPr>
            <a:endParaRPr lang="tr-TR" b="1" dirty="0" smtClean="0">
              <a:solidFill>
                <a:srgbClr val="7030A0"/>
              </a:solidFill>
            </a:endParaRPr>
          </a:p>
          <a:p>
            <a:r>
              <a:rPr lang="tr-TR" b="1" dirty="0" smtClean="0">
                <a:solidFill>
                  <a:srgbClr val="7030A0"/>
                </a:solidFill>
              </a:rPr>
              <a:t>Her hücrede, genetik bilginin kodlandığı bir DNA genomu bulunur 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>
                <a:solidFill>
                  <a:srgbClr val="FF0000"/>
                </a:solidFill>
              </a:rPr>
              <a:t>Bu genetik bilgi, </a:t>
            </a:r>
            <a:r>
              <a:rPr lang="tr-TR" b="1" dirty="0" err="1" smtClean="0">
                <a:solidFill>
                  <a:srgbClr val="FF0000"/>
                </a:solidFill>
              </a:rPr>
              <a:t>mRNA</a:t>
            </a:r>
            <a:r>
              <a:rPr lang="tr-TR" b="1" dirty="0" smtClean="0">
                <a:solidFill>
                  <a:srgbClr val="FF0000"/>
                </a:solidFill>
              </a:rPr>
              <a:t> ve ribozomlar aracılığıyla proteinlere dönüştürülür 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>
                <a:solidFill>
                  <a:srgbClr val="0070C0"/>
                </a:solidFill>
              </a:rPr>
              <a:t>Sentezlenen bu proteinler, enerji üretimi ve </a:t>
            </a:r>
            <a:r>
              <a:rPr lang="tr-TR" b="1" dirty="0" err="1" smtClean="0">
                <a:solidFill>
                  <a:srgbClr val="0070C0"/>
                </a:solidFill>
              </a:rPr>
              <a:t>biyosentez</a:t>
            </a:r>
            <a:r>
              <a:rPr lang="tr-TR" b="1" dirty="0" smtClean="0">
                <a:solidFill>
                  <a:srgbClr val="0070C0"/>
                </a:solidFill>
              </a:rPr>
              <a:t> için gerekli mekanizmaları kontrol eder </a:t>
            </a:r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188640"/>
            <a:ext cx="8640960" cy="633670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 </a:t>
            </a:r>
            <a:r>
              <a:rPr lang="tr-TR" sz="4000" b="1" dirty="0" smtClean="0">
                <a:solidFill>
                  <a:srgbClr val="FF0000"/>
                </a:solidFill>
              </a:rPr>
              <a:t>GENETİK (KALITIM)</a:t>
            </a:r>
            <a:endParaRPr lang="tr-TR" sz="4000" b="1" dirty="0" smtClean="0"/>
          </a:p>
          <a:p>
            <a:r>
              <a:rPr lang="tr-TR" b="1" dirty="0" smtClean="0">
                <a:solidFill>
                  <a:srgbClr val="0070C0"/>
                </a:solidFill>
              </a:rPr>
              <a:t>Anne ve babaya ait karakterlerin, oğul döllere geçişini Anne ve baba karakterlerinin oğul döllerde olan benzerliğini ve Bu benzerliğin ortaya çıkma olasılığını inceleyen bilim dalına genetik (KALITIM) denir</a:t>
            </a:r>
          </a:p>
          <a:p>
            <a:r>
              <a:rPr lang="tr-TR" b="1" dirty="0" smtClean="0"/>
              <a:t>Organizmaya döllenme anında aktarılan tüm özelliklerin tamamı kalıtımdır</a:t>
            </a:r>
          </a:p>
          <a:p>
            <a:r>
              <a:rPr lang="tr-TR" b="1" dirty="0" smtClean="0"/>
              <a:t>Genlerle aktarılır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Bir kişide DNA’nın şifrelediği özelliklerin tümü kalıtsal özelliklerdir</a:t>
            </a:r>
            <a:endParaRPr lang="tr-T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260648"/>
            <a:ext cx="8784976" cy="626469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</a:t>
            </a:r>
            <a:r>
              <a:rPr lang="tr-TR" sz="3300" b="1" dirty="0" smtClean="0">
                <a:solidFill>
                  <a:srgbClr val="FF0000"/>
                </a:solidFill>
              </a:rPr>
              <a:t>		GEN NEDİR?</a:t>
            </a:r>
            <a:endParaRPr lang="tr-TR" sz="3300" dirty="0" smtClean="0"/>
          </a:p>
          <a:p>
            <a:r>
              <a:rPr lang="tr-TR" sz="3500" b="1" dirty="0" smtClean="0">
                <a:solidFill>
                  <a:srgbClr val="FF0000"/>
                </a:solidFill>
              </a:rPr>
              <a:t>DNA üzerinde </a:t>
            </a:r>
            <a:r>
              <a:rPr lang="tr-TR" sz="3500" b="1" dirty="0" err="1" smtClean="0">
                <a:solidFill>
                  <a:srgbClr val="FF0000"/>
                </a:solidFill>
              </a:rPr>
              <a:t>nükleotitlerden</a:t>
            </a:r>
            <a:r>
              <a:rPr lang="tr-TR" sz="3500" b="1" dirty="0" smtClean="0">
                <a:solidFill>
                  <a:srgbClr val="FF0000"/>
                </a:solidFill>
              </a:rPr>
              <a:t> yapılı en küçük ifade edilebilir kalıtsal birime GEN adı verilir</a:t>
            </a:r>
          </a:p>
          <a:p>
            <a:r>
              <a:rPr lang="tr-TR" sz="3500" b="1" dirty="0" smtClean="0"/>
              <a:t>Özgül bir protein üretimi için gerekli bilgiyi kodlayan </a:t>
            </a:r>
            <a:r>
              <a:rPr lang="tr-TR" sz="3500" b="1" dirty="0" smtClean="0">
                <a:solidFill>
                  <a:srgbClr val="7030A0"/>
                </a:solidFill>
              </a:rPr>
              <a:t>DNA parçasına gen </a:t>
            </a:r>
            <a:r>
              <a:rPr lang="tr-TR" sz="3500" b="1" dirty="0" smtClean="0"/>
              <a:t>denir</a:t>
            </a:r>
          </a:p>
          <a:p>
            <a:pPr>
              <a:buNone/>
            </a:pPr>
            <a:endParaRPr lang="tr-TR" sz="33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tr-TR" sz="3300" b="1" dirty="0" smtClean="0"/>
              <a:t> 				</a:t>
            </a:r>
            <a:r>
              <a:rPr lang="tr-TR" sz="3300" b="1" dirty="0" smtClean="0">
                <a:solidFill>
                  <a:srgbClr val="FF0000"/>
                </a:solidFill>
              </a:rPr>
              <a:t>GENOTİP NEDİR?</a:t>
            </a:r>
          </a:p>
          <a:p>
            <a:r>
              <a:rPr lang="tr-TR" sz="3300" b="1" dirty="0" smtClean="0"/>
              <a:t>Bir canlının sahip olduğu genlerin toplamına </a:t>
            </a:r>
            <a:r>
              <a:rPr lang="tr-TR" sz="3300" b="1" dirty="0" err="1" smtClean="0"/>
              <a:t>genotip</a:t>
            </a:r>
            <a:r>
              <a:rPr lang="tr-TR" sz="3300" b="1" dirty="0" smtClean="0"/>
              <a:t> denir</a:t>
            </a:r>
          </a:p>
          <a:p>
            <a:r>
              <a:rPr lang="tr-TR" sz="3300" b="1" dirty="0" err="1" smtClean="0"/>
              <a:t>Genotipte</a:t>
            </a:r>
            <a:r>
              <a:rPr lang="tr-TR" sz="3300" b="1" dirty="0" smtClean="0"/>
              <a:t> tüm kuşakların özellikleri mevcuttur</a:t>
            </a:r>
          </a:p>
          <a:p>
            <a:r>
              <a:rPr lang="tr-TR" sz="3300" b="1" dirty="0" smtClean="0"/>
              <a:t>Canlının </a:t>
            </a:r>
            <a:r>
              <a:rPr lang="tr-TR" sz="3300" b="1" dirty="0" err="1" smtClean="0"/>
              <a:t>genotipi</a:t>
            </a:r>
            <a:r>
              <a:rPr lang="tr-TR" sz="3300" b="1" dirty="0" smtClean="0"/>
              <a:t> mutasyon olmadığı sürece değişmez </a:t>
            </a:r>
            <a:r>
              <a:rPr lang="tr-TR" sz="3300" b="1" dirty="0" smtClean="0">
                <a:solidFill>
                  <a:srgbClr val="7030A0"/>
                </a:solidFill>
              </a:rPr>
              <a:t/>
            </a:r>
            <a:br>
              <a:rPr lang="tr-TR" sz="3300" b="1" dirty="0" smtClean="0">
                <a:solidFill>
                  <a:srgbClr val="7030A0"/>
                </a:solidFill>
              </a:rPr>
            </a:br>
            <a:endParaRPr lang="tr-TR" sz="3300" b="1" dirty="0" smtClean="0">
              <a:solidFill>
                <a:srgbClr val="7030A0"/>
              </a:solidFill>
            </a:endParaRPr>
          </a:p>
          <a:p>
            <a:pPr>
              <a:buNone/>
            </a:pPr>
            <a:endParaRPr lang="tr-TR" sz="3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404664"/>
            <a:ext cx="8712968" cy="612068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7030A0"/>
                </a:solidFill>
              </a:rPr>
              <a:t>			DNA PARÇASINA GEN DENİR </a:t>
            </a:r>
            <a:br>
              <a:rPr lang="tr-TR" b="1" dirty="0" smtClean="0">
                <a:solidFill>
                  <a:srgbClr val="7030A0"/>
                </a:solidFill>
              </a:rPr>
            </a:br>
            <a:r>
              <a:rPr lang="tr-TR" b="1" dirty="0" smtClean="0">
                <a:solidFill>
                  <a:srgbClr val="7030A0"/>
                </a:solidFill>
              </a:rPr>
              <a:t>		  BU GEN’İN GÖREVİ NEDİR ?</a:t>
            </a:r>
            <a:endParaRPr lang="tr-TR" dirty="0" smtClean="0"/>
          </a:p>
          <a:p>
            <a:r>
              <a:rPr lang="tr-TR" b="1" dirty="0" err="1" smtClean="0"/>
              <a:t>Replikasyon</a:t>
            </a:r>
            <a:endParaRPr lang="tr-TR" b="1" dirty="0" smtClean="0"/>
          </a:p>
          <a:p>
            <a:pPr>
              <a:buNone/>
            </a:pPr>
            <a:r>
              <a:rPr lang="tr-TR" b="1" dirty="0" smtClean="0"/>
              <a:t>	</a:t>
            </a:r>
            <a:r>
              <a:rPr lang="tr-TR" b="1" dirty="0" smtClean="0">
                <a:solidFill>
                  <a:srgbClr val="FF0000"/>
                </a:solidFill>
              </a:rPr>
              <a:t>Hücre bölünmesi sırasında (</a:t>
            </a:r>
            <a:r>
              <a:rPr lang="tr-TR" b="1" dirty="0" err="1" smtClean="0">
                <a:solidFill>
                  <a:srgbClr val="FF0000"/>
                </a:solidFill>
              </a:rPr>
              <a:t>interfazda</a:t>
            </a:r>
            <a:r>
              <a:rPr lang="tr-TR" b="1" dirty="0" smtClean="0">
                <a:solidFill>
                  <a:srgbClr val="FF0000"/>
                </a:solidFill>
              </a:rPr>
              <a:t>) kendini eşleyerek ana hücrenin DNA’sı kadar DNA’nın oğul hücrelere aktarılmasını sağlar</a:t>
            </a:r>
          </a:p>
          <a:p>
            <a:r>
              <a:rPr lang="tr-TR" b="1" dirty="0" smtClean="0"/>
              <a:t>Kalıtsal Bilgi taşır</a:t>
            </a:r>
          </a:p>
          <a:p>
            <a:r>
              <a:rPr lang="tr-TR" b="1" dirty="0" smtClean="0"/>
              <a:t>Hücrelerde RNA, Protein ve Enzim sentezini gerçekleştirir</a:t>
            </a:r>
          </a:p>
          <a:p>
            <a:r>
              <a:rPr lang="tr-TR" b="1" dirty="0" smtClean="0"/>
              <a:t>Depolanmış bilgiyi ifade etme</a:t>
            </a:r>
          </a:p>
          <a:p>
            <a:r>
              <a:rPr lang="tr-TR" b="1" dirty="0" smtClean="0"/>
              <a:t>Mutasyonlar ile kalıtsal değişikliklere (varyasyon) olanak sağlar</a:t>
            </a:r>
          </a:p>
          <a:p>
            <a:pPr>
              <a:buNone/>
            </a:pPr>
            <a:endParaRPr lang="tr-TR" b="1" dirty="0" smtClean="0"/>
          </a:p>
          <a:p>
            <a:endParaRPr lang="tr-TR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548680"/>
            <a:ext cx="8784976" cy="5904656"/>
          </a:xfrm>
        </p:spPr>
        <p:txBody>
          <a:bodyPr/>
          <a:lstStyle/>
          <a:p>
            <a:pPr>
              <a:buNone/>
            </a:pPr>
            <a:r>
              <a:rPr lang="tr-TR" b="1" dirty="0" smtClean="0"/>
              <a:t>				</a:t>
            </a:r>
            <a:r>
              <a:rPr lang="tr-TR" sz="4000" b="1" dirty="0" smtClean="0"/>
              <a:t>	DNA</a:t>
            </a:r>
          </a:p>
          <a:p>
            <a:r>
              <a:rPr lang="tr-TR" b="1" dirty="0" err="1" smtClean="0">
                <a:solidFill>
                  <a:srgbClr val="D40EC6"/>
                </a:solidFill>
              </a:rPr>
              <a:t>Protistlerden</a:t>
            </a:r>
            <a:r>
              <a:rPr lang="tr-TR" b="1" dirty="0" smtClean="0">
                <a:solidFill>
                  <a:srgbClr val="D40EC6"/>
                </a:solidFill>
              </a:rPr>
              <a:t> insana kadar bir çok hücrede DNA;   çekirdekte bulunan ve kromozom adı verilen çomak şeklindeki yapılarda yer alır</a:t>
            </a:r>
          </a:p>
          <a:p>
            <a:endParaRPr lang="tr-TR" b="1" dirty="0" smtClean="0"/>
          </a:p>
          <a:p>
            <a:r>
              <a:rPr lang="tr-TR" b="1" dirty="0" smtClean="0">
                <a:solidFill>
                  <a:srgbClr val="0070C0"/>
                </a:solidFill>
              </a:rPr>
              <a:t>Kalıtsal karakterleri kontrol eden birim gen’lerdir</a:t>
            </a:r>
          </a:p>
          <a:p>
            <a:pPr>
              <a:buNone/>
            </a:pPr>
            <a:endParaRPr lang="tr-TR" b="1" dirty="0" smtClean="0">
              <a:solidFill>
                <a:srgbClr val="0070C0"/>
              </a:solidFill>
            </a:endParaRPr>
          </a:p>
          <a:p>
            <a:r>
              <a:rPr lang="tr-TR" b="1" dirty="0" smtClean="0">
                <a:solidFill>
                  <a:srgbClr val="FF0000"/>
                </a:solidFill>
              </a:rPr>
              <a:t>Her organizmada genetik bilgi kaynağı ve aktarıcısıdırlar</a:t>
            </a:r>
          </a:p>
          <a:p>
            <a:endParaRPr lang="tr-T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260648"/>
            <a:ext cx="8424936" cy="62646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sz="4000" b="1" dirty="0" smtClean="0">
                <a:solidFill>
                  <a:srgbClr val="FF0000"/>
                </a:solidFill>
              </a:rPr>
              <a:t>				FENOTİP</a:t>
            </a:r>
          </a:p>
          <a:p>
            <a:r>
              <a:rPr lang="tr-TR" b="1" dirty="0" smtClean="0"/>
              <a:t>Bir canlıda genetik yapı ve çevrenin etkisi ile değişebilen gözlenen özelliklere ise </a:t>
            </a:r>
            <a:r>
              <a:rPr lang="tr-TR" b="1" dirty="0" smtClean="0">
                <a:solidFill>
                  <a:srgbClr val="0070C0"/>
                </a:solidFill>
              </a:rPr>
              <a:t>FENOTİP</a:t>
            </a:r>
            <a:r>
              <a:rPr lang="tr-TR" b="1" dirty="0" smtClean="0"/>
              <a:t> adı verilir</a:t>
            </a:r>
          </a:p>
          <a:p>
            <a:r>
              <a:rPr lang="tr-TR" b="1" dirty="0" err="1" smtClean="0"/>
              <a:t>Fenotip</a:t>
            </a:r>
            <a:r>
              <a:rPr lang="tr-TR" b="1" dirty="0" smtClean="0"/>
              <a:t> zaman içinde değişebilir</a:t>
            </a:r>
          </a:p>
          <a:p>
            <a:pPr>
              <a:buNone/>
            </a:pPr>
            <a:r>
              <a:rPr lang="tr-TR" b="1" dirty="0" smtClean="0"/>
              <a:t>			</a:t>
            </a:r>
            <a:r>
              <a:rPr lang="tr-TR" b="1" dirty="0" smtClean="0">
                <a:solidFill>
                  <a:srgbClr val="0070C0"/>
                </a:solidFill>
              </a:rPr>
              <a:t>BAŞKA BİR TANIMLA</a:t>
            </a:r>
          </a:p>
          <a:p>
            <a:r>
              <a:rPr lang="tr-TR" b="1" dirty="0" err="1" smtClean="0"/>
              <a:t>Fenotip</a:t>
            </a:r>
            <a:r>
              <a:rPr lang="tr-TR" b="1" dirty="0" smtClean="0"/>
              <a:t>, </a:t>
            </a:r>
            <a:r>
              <a:rPr lang="tr-TR" b="1" dirty="0" err="1" smtClean="0"/>
              <a:t>Genotip</a:t>
            </a:r>
            <a:r>
              <a:rPr lang="tr-TR" b="1" dirty="0" smtClean="0"/>
              <a:t> ile gelen genetik özelliklerin, çocukta açığa çıkan özellikleridir</a:t>
            </a:r>
          </a:p>
          <a:p>
            <a:r>
              <a:rPr lang="tr-TR" b="1" dirty="0" err="1" smtClean="0"/>
              <a:t>Genotip</a:t>
            </a:r>
            <a:r>
              <a:rPr lang="tr-TR" b="1" dirty="0" smtClean="0"/>
              <a:t> ile önceki tüm kuşaklardan gelen kanser, şizofreni, kalp veya </a:t>
            </a:r>
            <a:r>
              <a:rPr lang="tr-TR" b="1" dirty="0" err="1" smtClean="0"/>
              <a:t>otizim</a:t>
            </a:r>
            <a:r>
              <a:rPr lang="tr-TR" b="1" dirty="0" smtClean="0"/>
              <a:t> gibi hastalıkların çocukta açığa çıkması </a:t>
            </a:r>
            <a:r>
              <a:rPr lang="tr-TR" b="1" dirty="0" err="1" smtClean="0"/>
              <a:t>fenotip’tir</a:t>
            </a:r>
            <a:endParaRPr lang="tr-TR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KROMOZOM NEDİR? 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7030A0"/>
                </a:solidFill>
              </a:rPr>
              <a:t>Karakterleri şifreleyen DNA </a:t>
            </a:r>
            <a:r>
              <a:rPr lang="tr-TR" b="1" dirty="0" err="1" smtClean="0">
                <a:solidFill>
                  <a:srgbClr val="7030A0"/>
                </a:solidFill>
              </a:rPr>
              <a:t>ların</a:t>
            </a:r>
            <a:r>
              <a:rPr lang="tr-TR" b="1" dirty="0" smtClean="0">
                <a:solidFill>
                  <a:srgbClr val="7030A0"/>
                </a:solidFill>
              </a:rPr>
              <a:t>, proteinlerle birleşmesiyle oluşan yapılardır</a:t>
            </a:r>
          </a:p>
          <a:p>
            <a:r>
              <a:rPr lang="tr-TR" b="1" dirty="0" smtClean="0">
                <a:solidFill>
                  <a:srgbClr val="00B050"/>
                </a:solidFill>
              </a:rPr>
              <a:t>Hücre çekirdeğinde bulunan iğ ipliklerinin, hücre bölünmesi sırasında kısalıp </a:t>
            </a:r>
            <a:r>
              <a:rPr lang="tr-TR" sz="2800" b="1" dirty="0" smtClean="0">
                <a:solidFill>
                  <a:srgbClr val="00B050"/>
                </a:solidFill>
              </a:rPr>
              <a:t>kalınlaşması</a:t>
            </a:r>
            <a:r>
              <a:rPr lang="tr-TR" b="1" dirty="0" smtClean="0">
                <a:solidFill>
                  <a:srgbClr val="00B050"/>
                </a:solidFill>
              </a:rPr>
              <a:t> ile oluşurlar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Gen                DNA                 Kromozom  </a:t>
            </a:r>
            <a:endParaRPr lang="tr-TR" b="1" dirty="0"/>
          </a:p>
        </p:txBody>
      </p:sp>
      <p:sp>
        <p:nvSpPr>
          <p:cNvPr id="4" name="3 Sağ Ok"/>
          <p:cNvSpPr/>
          <p:nvPr/>
        </p:nvSpPr>
        <p:spPr>
          <a:xfrm>
            <a:off x="1763688" y="486916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4 Sağ Ok"/>
          <p:cNvSpPr/>
          <p:nvPr/>
        </p:nvSpPr>
        <p:spPr>
          <a:xfrm>
            <a:off x="4067944" y="486916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9" y="260648"/>
            <a:ext cx="8568951" cy="586551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sz="2800" b="1" dirty="0" smtClean="0"/>
              <a:t>			</a:t>
            </a:r>
            <a:r>
              <a:rPr lang="tr-TR" sz="2800" b="1" dirty="0" smtClean="0">
                <a:solidFill>
                  <a:srgbClr val="FF0000"/>
                </a:solidFill>
              </a:rPr>
              <a:t>KROMOZOMLAR </a:t>
            </a:r>
            <a:br>
              <a:rPr lang="tr-TR" sz="2800" b="1" dirty="0" smtClean="0">
                <a:solidFill>
                  <a:srgbClr val="FF0000"/>
                </a:solidFill>
              </a:rPr>
            </a:br>
            <a:r>
              <a:rPr lang="tr-TR" sz="2800" b="1" dirty="0" smtClean="0">
                <a:solidFill>
                  <a:srgbClr val="FF0000"/>
                </a:solidFill>
              </a:rPr>
              <a:t>			GENLERİ  TAŞIYAN YAPILARDIR….</a:t>
            </a:r>
          </a:p>
          <a:p>
            <a:pPr>
              <a:buNone/>
            </a:pPr>
            <a:endParaRPr lang="tr-TR" sz="2400" b="1" dirty="0" smtClean="0">
              <a:solidFill>
                <a:srgbClr val="FF0000"/>
              </a:solidFill>
            </a:endParaRPr>
          </a:p>
          <a:p>
            <a:r>
              <a:rPr lang="tr-TR" b="1" dirty="0" err="1" smtClean="0">
                <a:solidFill>
                  <a:srgbClr val="7030A0"/>
                </a:solidFill>
              </a:rPr>
              <a:t>Ökaryotlarda</a:t>
            </a:r>
            <a:r>
              <a:rPr lang="tr-TR" b="1" dirty="0" smtClean="0">
                <a:solidFill>
                  <a:srgbClr val="7030A0"/>
                </a:solidFill>
              </a:rPr>
              <a:t> birden fazla </a:t>
            </a:r>
          </a:p>
          <a:p>
            <a:pPr>
              <a:buNone/>
            </a:pPr>
            <a:r>
              <a:rPr lang="tr-TR" b="1" dirty="0" smtClean="0">
                <a:solidFill>
                  <a:srgbClr val="7030A0"/>
                </a:solidFill>
              </a:rPr>
              <a:t>			(</a:t>
            </a:r>
            <a:r>
              <a:rPr lang="tr-TR" b="1" dirty="0" err="1" smtClean="0">
                <a:solidFill>
                  <a:srgbClr val="7030A0"/>
                </a:solidFill>
              </a:rPr>
              <a:t>Diploid</a:t>
            </a:r>
            <a:r>
              <a:rPr lang="tr-TR" b="1" dirty="0" smtClean="0">
                <a:solidFill>
                  <a:srgbClr val="7030A0"/>
                </a:solidFill>
              </a:rPr>
              <a:t>, her kromozomdan iki kopya)</a:t>
            </a:r>
          </a:p>
          <a:p>
            <a:r>
              <a:rPr lang="tr-TR" b="1" dirty="0" err="1" smtClean="0">
                <a:solidFill>
                  <a:srgbClr val="7030A0"/>
                </a:solidFill>
              </a:rPr>
              <a:t>Ökaryot</a:t>
            </a:r>
            <a:r>
              <a:rPr lang="tr-TR" b="1" dirty="0" smtClean="0">
                <a:solidFill>
                  <a:srgbClr val="7030A0"/>
                </a:solidFill>
              </a:rPr>
              <a:t> kromozomu lineerdir</a:t>
            </a:r>
          </a:p>
          <a:p>
            <a:pPr>
              <a:buNone/>
            </a:pPr>
            <a:endParaRPr lang="tr-TR" b="1" dirty="0" smtClean="0">
              <a:solidFill>
                <a:srgbClr val="7030A0"/>
              </a:solidFill>
            </a:endParaRPr>
          </a:p>
          <a:p>
            <a:r>
              <a:rPr lang="tr-TR" b="1" dirty="0" err="1" smtClean="0">
                <a:solidFill>
                  <a:srgbClr val="D40EC6"/>
                </a:solidFill>
              </a:rPr>
              <a:t>Prokaryotlarda</a:t>
            </a:r>
            <a:r>
              <a:rPr lang="tr-TR" b="1" dirty="0" smtClean="0">
                <a:solidFill>
                  <a:srgbClr val="D40EC6"/>
                </a:solidFill>
              </a:rPr>
              <a:t> tek</a:t>
            </a:r>
          </a:p>
          <a:p>
            <a:pPr>
              <a:buNone/>
            </a:pPr>
            <a:r>
              <a:rPr lang="tr-TR" b="1" dirty="0" smtClean="0">
                <a:solidFill>
                  <a:srgbClr val="D40EC6"/>
                </a:solidFill>
              </a:rPr>
              <a:t>			 (</a:t>
            </a:r>
            <a:r>
              <a:rPr lang="tr-TR" b="1" dirty="0" err="1" smtClean="0">
                <a:solidFill>
                  <a:srgbClr val="D40EC6"/>
                </a:solidFill>
              </a:rPr>
              <a:t>Haploid</a:t>
            </a:r>
            <a:r>
              <a:rPr lang="tr-TR" b="1" dirty="0" smtClean="0">
                <a:solidFill>
                  <a:srgbClr val="D40EC6"/>
                </a:solidFill>
              </a:rPr>
              <a:t>, tek kopya kromozom)</a:t>
            </a:r>
          </a:p>
          <a:p>
            <a:r>
              <a:rPr lang="tr-TR" b="1" dirty="0" smtClean="0">
                <a:solidFill>
                  <a:srgbClr val="D40EC6"/>
                </a:solidFill>
              </a:rPr>
              <a:t>Bakteri kromozomu çembersel, dairesel halka</a:t>
            </a:r>
            <a:endParaRPr lang="tr-TR" b="1" dirty="0" smtClean="0"/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İçerik Yer Tutucusu"/>
          <p:cNvSpPr>
            <a:spLocks noGrp="1"/>
          </p:cNvSpPr>
          <p:nvPr>
            <p:ph idx="4294967295"/>
          </p:nvPr>
        </p:nvSpPr>
        <p:spPr>
          <a:xfrm>
            <a:off x="395536" y="404664"/>
            <a:ext cx="8424936" cy="61926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sz="2400" b="1" dirty="0" smtClean="0"/>
              <a:t>	           </a:t>
            </a:r>
            <a:r>
              <a:rPr lang="tr-TR" sz="4000" b="1" dirty="0" smtClean="0"/>
              <a:t>YAŞAMIN TEMEL MADDESİ</a:t>
            </a:r>
            <a:endParaRPr lang="tr-TR" sz="4000" dirty="0" smtClean="0"/>
          </a:p>
          <a:p>
            <a:r>
              <a:rPr lang="tr-TR" sz="2800" b="1" dirty="0" smtClean="0">
                <a:solidFill>
                  <a:srgbClr val="FF0000"/>
                </a:solidFill>
              </a:rPr>
              <a:t>Yaşamın temel maddeleri kabul edilen </a:t>
            </a:r>
            <a:r>
              <a:rPr lang="tr-TR" sz="2800" b="1" dirty="0" err="1" smtClean="0">
                <a:solidFill>
                  <a:srgbClr val="FF0000"/>
                </a:solidFill>
              </a:rPr>
              <a:t>nükleik</a:t>
            </a:r>
            <a:r>
              <a:rPr lang="tr-TR" sz="2800" b="1" dirty="0" smtClean="0">
                <a:solidFill>
                  <a:srgbClr val="FF0000"/>
                </a:solidFill>
              </a:rPr>
              <a:t> asitler 		DNA=</a:t>
            </a:r>
            <a:r>
              <a:rPr lang="tr-TR" sz="2800" b="1" dirty="0" err="1" smtClean="0">
                <a:solidFill>
                  <a:srgbClr val="FF0000"/>
                </a:solidFill>
              </a:rPr>
              <a:t>deoxyribonucleic</a:t>
            </a:r>
            <a:r>
              <a:rPr lang="tr-TR" sz="2800" b="1" dirty="0" smtClean="0">
                <a:solidFill>
                  <a:srgbClr val="FF0000"/>
                </a:solidFill>
              </a:rPr>
              <a:t> </a:t>
            </a:r>
            <a:r>
              <a:rPr lang="tr-TR" sz="2800" b="1" dirty="0" err="1" smtClean="0">
                <a:solidFill>
                  <a:srgbClr val="FF0000"/>
                </a:solidFill>
              </a:rPr>
              <a:t>acid</a:t>
            </a:r>
            <a:r>
              <a:rPr lang="tr-TR" sz="2800" b="1" dirty="0" smtClean="0">
                <a:solidFill>
                  <a:srgbClr val="FF0000"/>
                </a:solidFill>
              </a:rPr>
              <a:t>                      		RNA=</a:t>
            </a:r>
            <a:r>
              <a:rPr lang="tr-TR" sz="2800" b="1" dirty="0" err="1" smtClean="0">
                <a:solidFill>
                  <a:srgbClr val="FF0000"/>
                </a:solidFill>
              </a:rPr>
              <a:t>ribonucleic</a:t>
            </a:r>
            <a:r>
              <a:rPr lang="tr-TR" sz="2800" b="1" dirty="0" smtClean="0">
                <a:solidFill>
                  <a:srgbClr val="FF0000"/>
                </a:solidFill>
              </a:rPr>
              <a:t> </a:t>
            </a:r>
            <a:r>
              <a:rPr lang="tr-TR" sz="2800" b="1" dirty="0" err="1" smtClean="0">
                <a:solidFill>
                  <a:srgbClr val="FF0000"/>
                </a:solidFill>
              </a:rPr>
              <a:t>acid</a:t>
            </a:r>
            <a:endParaRPr lang="tr-TR" sz="2800" b="1" dirty="0" smtClean="0">
              <a:solidFill>
                <a:srgbClr val="7030A0"/>
              </a:solidFill>
            </a:endParaRPr>
          </a:p>
          <a:p>
            <a:pPr>
              <a:buNone/>
            </a:pPr>
            <a:r>
              <a:rPr lang="tr-TR" sz="2800" b="1" dirty="0" smtClean="0">
                <a:solidFill>
                  <a:srgbClr val="7030A0"/>
                </a:solidFill>
              </a:rPr>
              <a:t>			</a:t>
            </a:r>
          </a:p>
          <a:p>
            <a:pPr>
              <a:buNone/>
            </a:pPr>
            <a:r>
              <a:rPr lang="tr-TR" sz="2800" b="1" dirty="0" smtClean="0">
                <a:solidFill>
                  <a:srgbClr val="7030A0"/>
                </a:solidFill>
              </a:rPr>
              <a:t>ÇALIŞMALAR </a:t>
            </a:r>
          </a:p>
          <a:p>
            <a:r>
              <a:rPr lang="tr-TR" sz="2800" b="1" dirty="0" err="1" smtClean="0">
                <a:solidFill>
                  <a:srgbClr val="7030A0"/>
                </a:solidFill>
              </a:rPr>
              <a:t>Ökaryotik</a:t>
            </a:r>
            <a:r>
              <a:rPr lang="tr-TR" sz="2800" b="1" dirty="0" smtClean="0">
                <a:solidFill>
                  <a:srgbClr val="7030A0"/>
                </a:solidFill>
              </a:rPr>
              <a:t> ve </a:t>
            </a:r>
            <a:r>
              <a:rPr lang="tr-TR" sz="2800" b="1" dirty="0" err="1" smtClean="0">
                <a:solidFill>
                  <a:srgbClr val="7030A0"/>
                </a:solidFill>
              </a:rPr>
              <a:t>Prokaryotik</a:t>
            </a:r>
            <a:r>
              <a:rPr lang="tr-TR" sz="2800" b="1" dirty="0" smtClean="0">
                <a:solidFill>
                  <a:srgbClr val="7030A0"/>
                </a:solidFill>
              </a:rPr>
              <a:t> yapıya sahip olan tüm hücrelerde, genlerin </a:t>
            </a:r>
            <a:r>
              <a:rPr lang="tr-TR" sz="2800" b="1" dirty="0" err="1" smtClean="0">
                <a:solidFill>
                  <a:srgbClr val="7030A0"/>
                </a:solidFill>
              </a:rPr>
              <a:t>replikasyonu</a:t>
            </a:r>
            <a:r>
              <a:rPr lang="tr-TR" sz="2800" b="1" dirty="0" smtClean="0">
                <a:solidFill>
                  <a:srgbClr val="7030A0"/>
                </a:solidFill>
              </a:rPr>
              <a:t> ve fonksiyonundan sorumlu olan yapının DNA olduğunu göstermiştir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RNA genomuna sahip </a:t>
            </a:r>
            <a:r>
              <a:rPr lang="tr-TR" sz="2800" b="1" dirty="0" err="1" smtClean="0"/>
              <a:t>genuslar</a:t>
            </a:r>
            <a:r>
              <a:rPr lang="tr-TR" sz="2800" b="1" dirty="0" smtClean="0"/>
              <a:t> da ise bu görev RNA’dadır</a:t>
            </a:r>
            <a:endParaRPr lang="tr-T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İçerik Yer Tutucusu"/>
          <p:cNvSpPr>
            <a:spLocks noGrp="1"/>
          </p:cNvSpPr>
          <p:nvPr>
            <p:ph idx="4294967295"/>
          </p:nvPr>
        </p:nvSpPr>
        <p:spPr>
          <a:xfrm>
            <a:off x="179512" y="260648"/>
            <a:ext cx="8712968" cy="6336704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tr-TR" sz="2400" b="1" dirty="0" smtClean="0">
                <a:solidFill>
                  <a:srgbClr val="FF0000"/>
                </a:solidFill>
              </a:rPr>
              <a:t>ZİNCİRLER SARMAL ŞEKLİNDEDİR BU NEDENLE İKİLİ SARMAL OLARAK ADLANDIRILIR</a:t>
            </a:r>
          </a:p>
          <a:p>
            <a:pPr algn="ctr">
              <a:buNone/>
            </a:pPr>
            <a:r>
              <a:rPr lang="tr-TR" sz="2400" b="1" dirty="0" smtClean="0">
                <a:solidFill>
                  <a:srgbClr val="FF0000"/>
                </a:solidFill>
              </a:rPr>
              <a:t>DNA NEDİR?</a:t>
            </a:r>
          </a:p>
          <a:p>
            <a:r>
              <a:rPr lang="tr-TR" sz="2800" b="1" dirty="0" smtClean="0"/>
              <a:t>DNA molekülleri, nükleotid adı verilen yapıtaşlarından meydana gelen iki </a:t>
            </a:r>
            <a:r>
              <a:rPr lang="tr-TR" sz="2800" b="1" dirty="0" err="1" smtClean="0"/>
              <a:t>polinükleotid</a:t>
            </a:r>
            <a:r>
              <a:rPr lang="tr-TR" sz="2800" b="1" dirty="0" smtClean="0"/>
              <a:t> iplikçiğinin, sarmal biçimde birbirlerine bağlanması sonucu meydana gelen oldukça büyük moleküllerdir </a:t>
            </a:r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7984" y="3356992"/>
            <a:ext cx="4525963" cy="3229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 descr="C:\Users\Pc\Desktop\images5VTXRYJZ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0594" y="3573016"/>
            <a:ext cx="3470175" cy="283307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332656"/>
            <a:ext cx="8784976" cy="6264696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	</a:t>
            </a:r>
            <a:r>
              <a:rPr lang="tr-TR" sz="4700" b="1" dirty="0" smtClean="0">
                <a:solidFill>
                  <a:srgbClr val="FF0000"/>
                </a:solidFill>
              </a:rPr>
              <a:t>DNA ÖZELLİKLERİ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Bulunduğu yerler: </a:t>
            </a:r>
            <a:r>
              <a:rPr lang="tr-TR" b="1" dirty="0" smtClean="0">
                <a:solidFill>
                  <a:srgbClr val="7030A0"/>
                </a:solidFill>
              </a:rPr>
              <a:t>Çekirdek, Mitokondri, Kloroplast, 				   </a:t>
            </a:r>
            <a:r>
              <a:rPr lang="tr-TR" b="1" dirty="0" err="1" smtClean="0">
                <a:solidFill>
                  <a:srgbClr val="7030A0"/>
                </a:solidFill>
              </a:rPr>
              <a:t>Prokaryotların</a:t>
            </a:r>
            <a:r>
              <a:rPr lang="tr-TR" b="1" dirty="0" smtClean="0">
                <a:solidFill>
                  <a:srgbClr val="7030A0"/>
                </a:solidFill>
              </a:rPr>
              <a:t> sitoplazmalarında</a:t>
            </a:r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Zincir şekli:  </a:t>
            </a:r>
            <a:r>
              <a:rPr lang="tr-TR" b="1" dirty="0" smtClean="0">
                <a:solidFill>
                  <a:srgbClr val="00B050"/>
                </a:solidFill>
              </a:rPr>
              <a:t>Çift sarmal zincir</a:t>
            </a:r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Yapısındaki bazlar: </a:t>
            </a:r>
            <a:r>
              <a:rPr lang="tr-TR" b="1" dirty="0" smtClean="0">
                <a:solidFill>
                  <a:srgbClr val="0070C0"/>
                </a:solidFill>
              </a:rPr>
              <a:t> A, G, C, T</a:t>
            </a:r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Yapısındaki şeker : </a:t>
            </a:r>
            <a:r>
              <a:rPr lang="tr-TR" b="1" dirty="0" err="1" smtClean="0"/>
              <a:t>Deoksiriboz</a:t>
            </a:r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Sentezlenmesi: </a:t>
            </a:r>
            <a:r>
              <a:rPr lang="tr-TR" b="1" dirty="0" smtClean="0">
                <a:solidFill>
                  <a:srgbClr val="7030A0"/>
                </a:solidFill>
              </a:rPr>
              <a:t>DNA </a:t>
            </a:r>
            <a:r>
              <a:rPr lang="tr-TR" b="1" dirty="0" err="1" smtClean="0">
                <a:solidFill>
                  <a:srgbClr val="7030A0"/>
                </a:solidFill>
              </a:rPr>
              <a:t>polimeraz</a:t>
            </a:r>
            <a:r>
              <a:rPr lang="tr-TR" b="1" dirty="0" smtClean="0">
                <a:solidFill>
                  <a:srgbClr val="7030A0"/>
                </a:solidFill>
              </a:rPr>
              <a:t> enzimleri sayesinde kendi 		          kendini eşleyerek</a:t>
            </a:r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Hücredeki sentez yeri: </a:t>
            </a:r>
            <a:r>
              <a:rPr lang="tr-TR" b="1" dirty="0" err="1" smtClean="0">
                <a:solidFill>
                  <a:srgbClr val="00B050"/>
                </a:solidFill>
              </a:rPr>
              <a:t>Prokaryotlarda</a:t>
            </a:r>
            <a:r>
              <a:rPr lang="tr-TR" b="1" dirty="0" smtClean="0">
                <a:solidFill>
                  <a:srgbClr val="00B050"/>
                </a:solidFill>
              </a:rPr>
              <a:t> sitoplazmada, 				         </a:t>
            </a:r>
            <a:r>
              <a:rPr lang="tr-TR" b="1" dirty="0" err="1" smtClean="0">
                <a:solidFill>
                  <a:srgbClr val="00B050"/>
                </a:solidFill>
              </a:rPr>
              <a:t>ökaryotlarda</a:t>
            </a:r>
            <a:r>
              <a:rPr lang="tr-TR" b="1" dirty="0" smtClean="0">
                <a:solidFill>
                  <a:srgbClr val="00B050"/>
                </a:solidFill>
              </a:rPr>
              <a:t>, çekirdek ve bazı 			                     </a:t>
            </a:r>
            <a:r>
              <a:rPr lang="tr-TR" b="1" dirty="0" err="1" smtClean="0">
                <a:solidFill>
                  <a:srgbClr val="00B050"/>
                </a:solidFill>
              </a:rPr>
              <a:t>organellerde</a:t>
            </a:r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Görevi: </a:t>
            </a:r>
            <a:r>
              <a:rPr lang="tr-TR" b="1" dirty="0" smtClean="0">
                <a:solidFill>
                  <a:srgbClr val="0070C0"/>
                </a:solidFill>
              </a:rPr>
              <a:t>Genetik bilginin depolanması, nesiller arasında aktarılması ve hücredeki </a:t>
            </a:r>
            <a:r>
              <a:rPr lang="tr-TR" b="1" dirty="0" err="1" smtClean="0">
                <a:solidFill>
                  <a:srgbClr val="0070C0"/>
                </a:solidFill>
              </a:rPr>
              <a:t>metabolik</a:t>
            </a:r>
            <a:r>
              <a:rPr lang="tr-TR" b="1" dirty="0" smtClean="0">
                <a:solidFill>
                  <a:srgbClr val="0070C0"/>
                </a:solidFill>
              </a:rPr>
              <a:t> faaliyetlerin yönetimi</a:t>
            </a:r>
            <a:br>
              <a:rPr lang="tr-TR" b="1" dirty="0" smtClean="0">
                <a:solidFill>
                  <a:srgbClr val="0070C0"/>
                </a:solidFill>
              </a:rPr>
            </a:br>
            <a:r>
              <a:rPr lang="tr-TR" b="1" dirty="0" err="1" smtClean="0">
                <a:solidFill>
                  <a:srgbClr val="FF0000"/>
                </a:solidFill>
              </a:rPr>
              <a:t>Nükleotitlere</a:t>
            </a:r>
            <a:r>
              <a:rPr lang="tr-TR" b="1" dirty="0" smtClean="0">
                <a:solidFill>
                  <a:srgbClr val="FF0000"/>
                </a:solidFill>
              </a:rPr>
              <a:t> ayrılması-Hidroliz: </a:t>
            </a:r>
            <a:r>
              <a:rPr lang="tr-TR" b="1" dirty="0" smtClean="0"/>
              <a:t>DNA-az enzimleri ile</a:t>
            </a:r>
            <a:br>
              <a:rPr lang="tr-TR" b="1" dirty="0" smtClean="0"/>
            </a:br>
            <a:r>
              <a:rPr lang="tr-TR" b="1" dirty="0" err="1" smtClean="0">
                <a:solidFill>
                  <a:srgbClr val="FF0000"/>
                </a:solidFill>
              </a:rPr>
              <a:t>Çeşiti</a:t>
            </a:r>
            <a:r>
              <a:rPr lang="tr-TR" b="1" dirty="0" smtClean="0">
                <a:solidFill>
                  <a:srgbClr val="FF0000"/>
                </a:solidFill>
              </a:rPr>
              <a:t>:  </a:t>
            </a:r>
            <a:r>
              <a:rPr lang="tr-TR" b="1" dirty="0" smtClean="0">
                <a:solidFill>
                  <a:srgbClr val="7030A0"/>
                </a:solidFill>
              </a:rPr>
              <a:t>1 çeşit DNA mevcuttur</a:t>
            </a:r>
          </a:p>
          <a:p>
            <a:pPr>
              <a:buNone/>
            </a:pPr>
            <a:endParaRPr lang="tr-TR" dirty="0"/>
          </a:p>
        </p:txBody>
      </p:sp>
      <p:sp>
        <p:nvSpPr>
          <p:cNvPr id="4" name="1 Başlık"/>
          <p:cNvSpPr txBox="1">
            <a:spLocks/>
          </p:cNvSpPr>
          <p:nvPr/>
        </p:nvSpPr>
        <p:spPr>
          <a:xfrm flipV="1">
            <a:off x="3131840" y="188640"/>
            <a:ext cx="5097760" cy="1440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4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tr-TR" sz="4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tr-TR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tr-TR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tr-T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188640"/>
            <a:ext cx="8784976" cy="6408712"/>
          </a:xfrm>
        </p:spPr>
        <p:txBody>
          <a:bodyPr>
            <a:normAutofit fontScale="925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1-Yönetici molekül</a:t>
            </a:r>
          </a:p>
          <a:p>
            <a:r>
              <a:rPr lang="tr-TR" b="1" dirty="0" smtClean="0">
                <a:solidFill>
                  <a:srgbClr val="7030A0"/>
                </a:solidFill>
              </a:rPr>
              <a:t>2-DNA’daki </a:t>
            </a:r>
            <a:r>
              <a:rPr lang="tr-TR" b="1" dirty="0" err="1" smtClean="0">
                <a:solidFill>
                  <a:srgbClr val="7030A0"/>
                </a:solidFill>
              </a:rPr>
              <a:t>nükleotit</a:t>
            </a:r>
            <a:r>
              <a:rPr lang="tr-TR" b="1" dirty="0" smtClean="0">
                <a:solidFill>
                  <a:srgbClr val="7030A0"/>
                </a:solidFill>
              </a:rPr>
              <a:t> dizilişi, Protein molekülündeki aminoasit dizilişi ve sayısını belirler</a:t>
            </a:r>
          </a:p>
          <a:p>
            <a:r>
              <a:rPr lang="tr-TR" b="1" dirty="0" smtClean="0">
                <a:solidFill>
                  <a:srgbClr val="92D050"/>
                </a:solidFill>
              </a:rPr>
              <a:t>3-Kromozom yapısı DNA’dan oluşur.Gen’ler kromozom üzerinde yer alır</a:t>
            </a:r>
          </a:p>
          <a:p>
            <a:r>
              <a:rPr lang="tr-TR" b="1" dirty="0" smtClean="0">
                <a:solidFill>
                  <a:schemeClr val="accent1">
                    <a:lumMod val="50000"/>
                  </a:schemeClr>
                </a:solidFill>
              </a:rPr>
              <a:t>4-Tüm DNA örneklerinde Pürin=</a:t>
            </a:r>
            <a:r>
              <a:rPr lang="tr-TR" b="1" dirty="0" err="1" smtClean="0">
                <a:solidFill>
                  <a:schemeClr val="accent1">
                    <a:lumMod val="50000"/>
                  </a:schemeClr>
                </a:solidFill>
              </a:rPr>
              <a:t>Pirimidin</a:t>
            </a:r>
            <a:endParaRPr lang="tr-TR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None/>
            </a:pPr>
            <a:r>
              <a:rPr lang="tr-TR" b="1" dirty="0" smtClean="0">
                <a:solidFill>
                  <a:schemeClr val="accent1">
                    <a:lumMod val="50000"/>
                  </a:schemeClr>
                </a:solidFill>
              </a:rPr>
              <a:t>				A+G=T+C</a:t>
            </a:r>
          </a:p>
          <a:p>
            <a:r>
              <a:rPr lang="tr-TR" b="1" dirty="0" smtClean="0">
                <a:solidFill>
                  <a:srgbClr val="0070C0"/>
                </a:solidFill>
              </a:rPr>
              <a:t>5-DNA; Hücre çekirdeğinde kromozom içinde,</a:t>
            </a:r>
            <a:r>
              <a:rPr lang="tr-TR" b="1" dirty="0" err="1" smtClean="0">
                <a:solidFill>
                  <a:srgbClr val="0070C0"/>
                </a:solidFill>
              </a:rPr>
              <a:t>mitekondri</a:t>
            </a:r>
            <a:r>
              <a:rPr lang="tr-TR" b="1" dirty="0" smtClean="0">
                <a:solidFill>
                  <a:srgbClr val="0070C0"/>
                </a:solidFill>
              </a:rPr>
              <a:t> ve kloroplast’ta bulunur</a:t>
            </a:r>
          </a:p>
          <a:p>
            <a:r>
              <a:rPr lang="tr-TR" b="1" dirty="0" smtClean="0">
                <a:solidFill>
                  <a:srgbClr val="D40EC6"/>
                </a:solidFill>
              </a:rPr>
              <a:t>6-Aynı eksen üzerinde birbirine dolanan iki </a:t>
            </a:r>
            <a:r>
              <a:rPr lang="tr-TR" b="1" dirty="0" err="1" smtClean="0">
                <a:solidFill>
                  <a:srgbClr val="D40EC6"/>
                </a:solidFill>
              </a:rPr>
              <a:t>nükleotit</a:t>
            </a:r>
            <a:r>
              <a:rPr lang="tr-TR" b="1" dirty="0" smtClean="0">
                <a:solidFill>
                  <a:srgbClr val="D40EC6"/>
                </a:solidFill>
              </a:rPr>
              <a:t> dizisinden oluşur</a:t>
            </a:r>
          </a:p>
          <a:p>
            <a:pPr>
              <a:buNone/>
            </a:pPr>
            <a:r>
              <a:rPr lang="tr-TR" b="1" dirty="0" smtClean="0">
                <a:solidFill>
                  <a:srgbClr val="D40EC6"/>
                </a:solidFill>
              </a:rPr>
              <a:t>     Tıpkı bükülmüş merdivene benzer</a:t>
            </a:r>
            <a:endParaRPr lang="tr-TR" b="1" dirty="0">
              <a:solidFill>
                <a:srgbClr val="D40EC6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95536" y="188640"/>
            <a:ext cx="8496944" cy="6480720"/>
          </a:xfrm>
        </p:spPr>
        <p:txBody>
          <a:bodyPr>
            <a:noAutofit/>
          </a:bodyPr>
          <a:lstStyle/>
          <a:p>
            <a:r>
              <a:rPr lang="tr-TR" sz="2800" b="1" dirty="0" smtClean="0">
                <a:solidFill>
                  <a:srgbClr val="FF0000"/>
                </a:solidFill>
              </a:rPr>
              <a:t>7-Bu merdivenin dış ayakları üst üste dizilmiş </a:t>
            </a:r>
            <a:r>
              <a:rPr lang="tr-TR" sz="2800" b="1" dirty="0" err="1" smtClean="0">
                <a:solidFill>
                  <a:srgbClr val="FF0000"/>
                </a:solidFill>
              </a:rPr>
              <a:t>nükleotitlerin</a:t>
            </a:r>
            <a:r>
              <a:rPr lang="tr-TR" sz="2800" b="1" dirty="0" smtClean="0">
                <a:solidFill>
                  <a:srgbClr val="FF0000"/>
                </a:solidFill>
              </a:rPr>
              <a:t> şeker (</a:t>
            </a:r>
            <a:r>
              <a:rPr lang="tr-TR" sz="2800" b="1" dirty="0" err="1" smtClean="0">
                <a:solidFill>
                  <a:srgbClr val="FF0000"/>
                </a:solidFill>
              </a:rPr>
              <a:t>deoksiriboz</a:t>
            </a:r>
            <a:r>
              <a:rPr lang="tr-TR" sz="2800" b="1" dirty="0" smtClean="0">
                <a:solidFill>
                  <a:srgbClr val="FF0000"/>
                </a:solidFill>
              </a:rPr>
              <a:t>) ve fosfat moleküllerinden, basamakları ise birbirlerine karşılıklı gelen baz gruplarından oluşur</a:t>
            </a:r>
          </a:p>
          <a:p>
            <a:r>
              <a:rPr lang="tr-TR" sz="2800" b="1" dirty="0" smtClean="0">
                <a:solidFill>
                  <a:srgbClr val="7030A0"/>
                </a:solidFill>
              </a:rPr>
              <a:t>8-Bu merdiven basamaklarında Karşılıklı olarak gelen baz gruplarında daima</a:t>
            </a:r>
          </a:p>
          <a:p>
            <a:pPr>
              <a:buNone/>
            </a:pPr>
            <a:r>
              <a:rPr lang="tr-TR" sz="2800" b="1" dirty="0" smtClean="0">
                <a:solidFill>
                  <a:srgbClr val="7030A0"/>
                </a:solidFill>
              </a:rPr>
              <a:t>     </a:t>
            </a:r>
            <a:r>
              <a:rPr lang="tr-TR" sz="2800" b="1" dirty="0" err="1" smtClean="0">
                <a:solidFill>
                  <a:srgbClr val="7030A0"/>
                </a:solidFill>
              </a:rPr>
              <a:t>Adenin</a:t>
            </a:r>
            <a:r>
              <a:rPr lang="tr-TR" sz="2800" b="1" dirty="0" smtClean="0">
                <a:solidFill>
                  <a:srgbClr val="7030A0"/>
                </a:solidFill>
              </a:rPr>
              <a:t> karşısına Timin,  </a:t>
            </a:r>
            <a:r>
              <a:rPr lang="tr-TR" sz="2800" b="1" dirty="0" err="1" smtClean="0">
                <a:solidFill>
                  <a:srgbClr val="7030A0"/>
                </a:solidFill>
              </a:rPr>
              <a:t>Guanin</a:t>
            </a:r>
            <a:r>
              <a:rPr lang="tr-TR" sz="2800" b="1" dirty="0" smtClean="0">
                <a:solidFill>
                  <a:srgbClr val="7030A0"/>
                </a:solidFill>
              </a:rPr>
              <a:t> karşısına </a:t>
            </a:r>
            <a:r>
              <a:rPr lang="tr-TR" sz="2800" b="1" dirty="0" err="1" smtClean="0">
                <a:solidFill>
                  <a:srgbClr val="7030A0"/>
                </a:solidFill>
              </a:rPr>
              <a:t>Citozin</a:t>
            </a:r>
            <a:endParaRPr lang="tr-TR" sz="2800" b="1" dirty="0" smtClean="0">
              <a:solidFill>
                <a:srgbClr val="C00000"/>
              </a:solidFill>
            </a:endParaRPr>
          </a:p>
          <a:p>
            <a:r>
              <a:rPr lang="tr-TR" sz="2800" b="1" dirty="0" smtClean="0">
                <a:solidFill>
                  <a:srgbClr val="C00000"/>
                </a:solidFill>
              </a:rPr>
              <a:t>9- DNA </a:t>
            </a:r>
            <a:r>
              <a:rPr lang="tr-TR" sz="2800" b="1" dirty="0" err="1" smtClean="0">
                <a:solidFill>
                  <a:srgbClr val="C00000"/>
                </a:solidFill>
              </a:rPr>
              <a:t>mölekülünde</a:t>
            </a:r>
            <a:r>
              <a:rPr lang="tr-TR" sz="2800" b="1" dirty="0" smtClean="0">
                <a:solidFill>
                  <a:srgbClr val="C00000"/>
                </a:solidFill>
              </a:rPr>
              <a:t>; kaç tane </a:t>
            </a:r>
            <a:r>
              <a:rPr lang="tr-TR" sz="2800" b="1" dirty="0" err="1" smtClean="0">
                <a:solidFill>
                  <a:srgbClr val="C00000"/>
                </a:solidFill>
              </a:rPr>
              <a:t>adenin</a:t>
            </a:r>
            <a:r>
              <a:rPr lang="tr-TR" sz="2800" b="1" dirty="0" smtClean="0">
                <a:solidFill>
                  <a:srgbClr val="C00000"/>
                </a:solidFill>
              </a:rPr>
              <a:t> </a:t>
            </a:r>
            <a:r>
              <a:rPr lang="tr-TR" sz="2800" b="1" dirty="0" err="1" smtClean="0">
                <a:solidFill>
                  <a:srgbClr val="C00000"/>
                </a:solidFill>
              </a:rPr>
              <a:t>nükleotiti</a:t>
            </a:r>
            <a:r>
              <a:rPr lang="tr-TR" sz="2800" b="1" dirty="0" smtClean="0">
                <a:solidFill>
                  <a:srgbClr val="C00000"/>
                </a:solidFill>
              </a:rPr>
              <a:t> varsa o kadar timin  </a:t>
            </a:r>
            <a:r>
              <a:rPr lang="tr-TR" sz="2800" b="1" dirty="0" err="1" smtClean="0">
                <a:solidFill>
                  <a:srgbClr val="C00000"/>
                </a:solidFill>
              </a:rPr>
              <a:t>nükleotiti</a:t>
            </a:r>
            <a:r>
              <a:rPr lang="tr-TR" sz="2800" b="1" dirty="0" smtClean="0">
                <a:solidFill>
                  <a:srgbClr val="C00000"/>
                </a:solidFill>
              </a:rPr>
              <a:t>  vardır  A=T </a:t>
            </a:r>
          </a:p>
          <a:p>
            <a:pPr>
              <a:buNone/>
            </a:pPr>
            <a:r>
              <a:rPr lang="tr-TR" sz="2800" b="1" dirty="0" smtClean="0">
                <a:solidFill>
                  <a:srgbClr val="C00000"/>
                </a:solidFill>
              </a:rPr>
              <a:t>Kaç tane </a:t>
            </a:r>
            <a:r>
              <a:rPr lang="tr-TR" sz="2800" b="1" dirty="0" err="1" smtClean="0">
                <a:solidFill>
                  <a:srgbClr val="C00000"/>
                </a:solidFill>
              </a:rPr>
              <a:t>Guanin</a:t>
            </a:r>
            <a:r>
              <a:rPr lang="tr-TR" sz="2800" b="1" dirty="0" smtClean="0">
                <a:solidFill>
                  <a:srgbClr val="C00000"/>
                </a:solidFill>
              </a:rPr>
              <a:t> </a:t>
            </a:r>
            <a:r>
              <a:rPr lang="tr-TR" sz="2800" b="1" dirty="0" err="1" smtClean="0">
                <a:solidFill>
                  <a:srgbClr val="C00000"/>
                </a:solidFill>
              </a:rPr>
              <a:t>nükleotiti</a:t>
            </a:r>
            <a:r>
              <a:rPr lang="tr-TR" sz="2800" b="1" dirty="0" smtClean="0">
                <a:solidFill>
                  <a:srgbClr val="C00000"/>
                </a:solidFill>
              </a:rPr>
              <a:t> varsa </a:t>
            </a:r>
            <a:r>
              <a:rPr lang="tr-TR" sz="2800" b="1" dirty="0" err="1" smtClean="0">
                <a:solidFill>
                  <a:srgbClr val="C00000"/>
                </a:solidFill>
              </a:rPr>
              <a:t>okadar</a:t>
            </a:r>
            <a:r>
              <a:rPr lang="tr-TR" sz="2800" b="1" dirty="0" smtClean="0">
                <a:solidFill>
                  <a:srgbClr val="C00000"/>
                </a:solidFill>
              </a:rPr>
              <a:t> </a:t>
            </a:r>
            <a:r>
              <a:rPr lang="tr-TR" sz="2800" b="1" dirty="0" err="1" smtClean="0">
                <a:solidFill>
                  <a:srgbClr val="C00000"/>
                </a:solidFill>
              </a:rPr>
              <a:t>citozin</a:t>
            </a:r>
            <a:r>
              <a:rPr lang="tr-TR" sz="2800" b="1" dirty="0" smtClean="0">
                <a:solidFill>
                  <a:srgbClr val="C00000"/>
                </a:solidFill>
              </a:rPr>
              <a:t> </a:t>
            </a:r>
            <a:r>
              <a:rPr lang="tr-TR" sz="2800" b="1" dirty="0" err="1" smtClean="0">
                <a:solidFill>
                  <a:srgbClr val="C00000"/>
                </a:solidFill>
              </a:rPr>
              <a:t>nükleotiti</a:t>
            </a:r>
            <a:r>
              <a:rPr lang="tr-TR" sz="2800" b="1" dirty="0" smtClean="0">
                <a:solidFill>
                  <a:srgbClr val="C00000"/>
                </a:solidFill>
              </a:rPr>
              <a:t> vardır   G=C</a:t>
            </a:r>
            <a:endParaRPr lang="tr-TR" sz="2800" b="1" dirty="0" smtClean="0">
              <a:solidFill>
                <a:srgbClr val="0033CC"/>
              </a:solidFill>
            </a:endParaRPr>
          </a:p>
          <a:p>
            <a:r>
              <a:rPr lang="tr-TR" sz="2800" b="1" dirty="0" smtClean="0">
                <a:solidFill>
                  <a:srgbClr val="0033CC"/>
                </a:solidFill>
              </a:rPr>
              <a:t>10-Baz grupları arasında Hidrojen bağları vardır</a:t>
            </a:r>
          </a:p>
          <a:p>
            <a:r>
              <a:rPr lang="tr-TR" sz="2800" b="1" dirty="0" smtClean="0"/>
              <a:t>11-       A = T   iki Hidrojen bağı</a:t>
            </a:r>
          </a:p>
          <a:p>
            <a:pPr>
              <a:buNone/>
            </a:pPr>
            <a:r>
              <a:rPr lang="tr-TR" sz="2800" b="1" dirty="0" smtClean="0"/>
              <a:t>                 G ≡ C   üç Hidrojen bağı</a:t>
            </a:r>
            <a:endParaRPr lang="tr-TR" sz="28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260648"/>
            <a:ext cx="8640960" cy="6264696"/>
          </a:xfrm>
        </p:spPr>
        <p:txBody>
          <a:bodyPr>
            <a:normAutofit/>
          </a:bodyPr>
          <a:lstStyle/>
          <a:p>
            <a:r>
              <a:rPr lang="tr-TR" b="1" dirty="0" smtClean="0">
                <a:solidFill>
                  <a:schemeClr val="accent6">
                    <a:lumMod val="50000"/>
                  </a:schemeClr>
                </a:solidFill>
              </a:rPr>
              <a:t>12-Her canlı türünün DNA’sındaki </a:t>
            </a:r>
            <a:r>
              <a:rPr lang="tr-TR" b="1" dirty="0" err="1" smtClean="0">
                <a:solidFill>
                  <a:schemeClr val="accent6">
                    <a:lumMod val="50000"/>
                  </a:schemeClr>
                </a:solidFill>
              </a:rPr>
              <a:t>nükleotitlerin</a:t>
            </a:r>
            <a:r>
              <a:rPr lang="tr-TR" b="1" dirty="0" smtClean="0">
                <a:solidFill>
                  <a:schemeClr val="accent6">
                    <a:lumMod val="50000"/>
                  </a:schemeClr>
                </a:solidFill>
              </a:rPr>
              <a:t> sayısı ve sırası farklıdır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13-DNA vücuttaki bütün proteinlerden sorumludur</a:t>
            </a:r>
          </a:p>
          <a:p>
            <a:pPr>
              <a:buNone/>
            </a:pPr>
            <a:endParaRPr lang="tr-TR" b="1" dirty="0" smtClean="0"/>
          </a:p>
          <a:p>
            <a:pPr>
              <a:buNone/>
            </a:pPr>
            <a:endParaRPr lang="tr-TR" b="1" dirty="0" smtClean="0"/>
          </a:p>
        </p:txBody>
      </p:sp>
      <p:pic>
        <p:nvPicPr>
          <p:cNvPr id="4" name="Picture 3" descr="C:\Users\Pc\Desktop\imagesZU33KWAK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852936"/>
            <a:ext cx="5461725" cy="3714776"/>
          </a:xfrm>
          <a:prstGeom prst="rect">
            <a:avLst/>
          </a:prstGeom>
          <a:noFill/>
        </p:spPr>
      </p:pic>
      <p:pic>
        <p:nvPicPr>
          <p:cNvPr id="5" name="Picture 2" descr="C:\Users\Pc\Desktop\dna_yapisi_b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44208" y="1916832"/>
            <a:ext cx="2501900" cy="46531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nukleik_asid_22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332656"/>
            <a:ext cx="8208962" cy="62642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260648"/>
            <a:ext cx="8640960" cy="640871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tr-TR" dirty="0" smtClean="0"/>
              <a:t>			  </a:t>
            </a:r>
            <a:r>
              <a:rPr lang="tr-TR" sz="4300" b="1" dirty="0" smtClean="0">
                <a:solidFill>
                  <a:srgbClr val="FF0000"/>
                </a:solidFill>
              </a:rPr>
              <a:t>NÜKLEOTİTİN YAPISI</a:t>
            </a:r>
          </a:p>
          <a:p>
            <a:r>
              <a:rPr lang="tr-TR" b="1" dirty="0" smtClean="0">
                <a:solidFill>
                  <a:srgbClr val="7030A0"/>
                </a:solidFill>
              </a:rPr>
              <a:t>Bir </a:t>
            </a:r>
            <a:r>
              <a:rPr lang="tr-TR" b="1" dirty="0" err="1" smtClean="0">
                <a:solidFill>
                  <a:srgbClr val="7030A0"/>
                </a:solidFill>
              </a:rPr>
              <a:t>nükleotit</a:t>
            </a:r>
            <a:r>
              <a:rPr lang="tr-TR" b="1" dirty="0" smtClean="0">
                <a:solidFill>
                  <a:srgbClr val="7030A0"/>
                </a:solidFill>
              </a:rPr>
              <a:t> 3 farklı molekülden oluşur</a:t>
            </a:r>
          </a:p>
          <a:p>
            <a:pPr>
              <a:buNone/>
            </a:pPr>
            <a:r>
              <a:rPr lang="tr-TR" b="1" dirty="0" smtClean="0">
                <a:solidFill>
                  <a:srgbClr val="D40EC6"/>
                </a:solidFill>
              </a:rPr>
              <a:t>Azotlu organik baz + 5 Karbonlu Şeker + Fosforik Asit</a:t>
            </a:r>
          </a:p>
          <a:p>
            <a:r>
              <a:rPr lang="tr-TR" b="1" dirty="0" smtClean="0"/>
              <a:t> </a:t>
            </a:r>
            <a:r>
              <a:rPr lang="tr-TR" b="1" dirty="0" smtClean="0">
                <a:solidFill>
                  <a:srgbClr val="0070C0"/>
                </a:solidFill>
              </a:rPr>
              <a:t>Baz + Şeker = </a:t>
            </a:r>
            <a:r>
              <a:rPr lang="tr-TR" b="1" dirty="0" err="1" smtClean="0">
                <a:solidFill>
                  <a:srgbClr val="0070C0"/>
                </a:solidFill>
              </a:rPr>
              <a:t>Nükleosit</a:t>
            </a:r>
            <a:endParaRPr lang="tr-TR" b="1" dirty="0" smtClean="0">
              <a:solidFill>
                <a:srgbClr val="0070C0"/>
              </a:solidFill>
            </a:endParaRPr>
          </a:p>
          <a:p>
            <a:r>
              <a:rPr lang="tr-TR" b="1" dirty="0" smtClean="0">
                <a:solidFill>
                  <a:srgbClr val="00B050"/>
                </a:solidFill>
              </a:rPr>
              <a:t> Baz + Şeker + Fosfat grubu = </a:t>
            </a:r>
            <a:r>
              <a:rPr lang="tr-TR" b="1" dirty="0" err="1" smtClean="0">
                <a:solidFill>
                  <a:srgbClr val="00B050"/>
                </a:solidFill>
              </a:rPr>
              <a:t>Nükleotit</a:t>
            </a:r>
            <a:endParaRPr lang="tr-TR" b="1" dirty="0" smtClean="0">
              <a:solidFill>
                <a:srgbClr val="00B050"/>
              </a:solidFill>
            </a:endParaRPr>
          </a:p>
          <a:p>
            <a:r>
              <a:rPr lang="tr-TR" b="1" dirty="0" smtClean="0">
                <a:solidFill>
                  <a:srgbClr val="0033CC"/>
                </a:solidFill>
              </a:rPr>
              <a:t>Binlerce </a:t>
            </a:r>
            <a:r>
              <a:rPr lang="tr-TR" b="1" dirty="0" err="1" smtClean="0">
                <a:solidFill>
                  <a:srgbClr val="0033CC"/>
                </a:solidFill>
              </a:rPr>
              <a:t>Nükleotit</a:t>
            </a:r>
            <a:r>
              <a:rPr lang="tr-TR" b="1" dirty="0" smtClean="0">
                <a:solidFill>
                  <a:srgbClr val="0033CC"/>
                </a:solidFill>
              </a:rPr>
              <a:t> bir araya gelerek = </a:t>
            </a:r>
            <a:r>
              <a:rPr lang="tr-TR" b="1" dirty="0" err="1" smtClean="0">
                <a:solidFill>
                  <a:srgbClr val="0033CC"/>
                </a:solidFill>
              </a:rPr>
              <a:t>Nükleik</a:t>
            </a:r>
            <a:r>
              <a:rPr lang="tr-TR" b="1" dirty="0" smtClean="0">
                <a:solidFill>
                  <a:srgbClr val="0033CC"/>
                </a:solidFill>
              </a:rPr>
              <a:t> asit</a:t>
            </a:r>
          </a:p>
          <a:p>
            <a:pPr>
              <a:buNone/>
            </a:pPr>
            <a:r>
              <a:rPr lang="tr-TR" b="1" dirty="0" err="1" smtClean="0">
                <a:solidFill>
                  <a:srgbClr val="C00000"/>
                </a:solidFill>
              </a:rPr>
              <a:t>Nükleik</a:t>
            </a:r>
            <a:r>
              <a:rPr lang="tr-TR" b="1" dirty="0" smtClean="0">
                <a:solidFill>
                  <a:srgbClr val="C00000"/>
                </a:solidFill>
              </a:rPr>
              <a:t> asit + Protein  = Kromozom (Nükleoprotein)</a:t>
            </a:r>
          </a:p>
          <a:p>
            <a:r>
              <a:rPr lang="tr-TR" b="1" dirty="0" smtClean="0"/>
              <a:t>TÜM </a:t>
            </a:r>
            <a:r>
              <a:rPr lang="tr-TR" b="1" dirty="0" err="1" smtClean="0"/>
              <a:t>Nükleotitleri</a:t>
            </a:r>
            <a:r>
              <a:rPr lang="tr-TR" b="1" dirty="0" smtClean="0"/>
              <a:t> bir arada tutan bağa   </a:t>
            </a:r>
          </a:p>
          <a:p>
            <a:pPr>
              <a:buNone/>
            </a:pPr>
            <a:r>
              <a:rPr lang="tr-TR" b="1" dirty="0" smtClean="0"/>
              <a:t>         Fosfat Bağı veya </a:t>
            </a:r>
            <a:r>
              <a:rPr lang="tr-TR" b="1" dirty="0" err="1" smtClean="0"/>
              <a:t>Fosfodiester</a:t>
            </a:r>
            <a:r>
              <a:rPr lang="tr-TR" b="1" dirty="0" smtClean="0"/>
              <a:t> Bağı denir</a:t>
            </a:r>
          </a:p>
          <a:p>
            <a:r>
              <a:rPr lang="tr-TR" b="1" dirty="0" err="1" smtClean="0"/>
              <a:t>Nükleotitlerin</a:t>
            </a:r>
            <a:r>
              <a:rPr lang="tr-TR" b="1" dirty="0" smtClean="0"/>
              <a:t> sayısı ve dizilişleri farklıdır</a:t>
            </a:r>
          </a:p>
          <a:p>
            <a:r>
              <a:rPr lang="tr-TR" b="1" dirty="0" err="1" smtClean="0">
                <a:solidFill>
                  <a:srgbClr val="FF0000"/>
                </a:solidFill>
              </a:rPr>
              <a:t>Nükleotitlerin</a:t>
            </a:r>
            <a:r>
              <a:rPr lang="tr-TR" b="1" dirty="0" smtClean="0">
                <a:solidFill>
                  <a:srgbClr val="FF0000"/>
                </a:solidFill>
              </a:rPr>
              <a:t> farklı dizilişleri, yeryüzünde yaşayan canlıların çeşitliliğini açıklayan anahtardır</a:t>
            </a:r>
            <a:endParaRPr lang="tr-T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332656"/>
            <a:ext cx="7992888" cy="6192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user\Desktop\DNA_zinciri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476672"/>
            <a:ext cx="7777163" cy="59039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3600" b="1" dirty="0" smtClean="0">
                <a:solidFill>
                  <a:srgbClr val="FF0000"/>
                </a:solidFill>
              </a:rPr>
              <a:t>Binlerce </a:t>
            </a:r>
            <a:r>
              <a:rPr lang="tr-TR" sz="3600" b="1" dirty="0" err="1" smtClean="0">
                <a:solidFill>
                  <a:srgbClr val="FF0000"/>
                </a:solidFill>
              </a:rPr>
              <a:t>nükleotit</a:t>
            </a:r>
            <a:r>
              <a:rPr lang="tr-TR" sz="3600" b="1" dirty="0" smtClean="0">
                <a:solidFill>
                  <a:srgbClr val="FF0000"/>
                </a:solidFill>
              </a:rPr>
              <a:t> bir araya gelerek </a:t>
            </a:r>
            <a:r>
              <a:rPr lang="tr-TR" sz="3600" b="1" dirty="0" err="1" smtClean="0">
                <a:solidFill>
                  <a:srgbClr val="FF0000"/>
                </a:solidFill>
              </a:rPr>
              <a:t>Nükleik</a:t>
            </a:r>
            <a:r>
              <a:rPr lang="tr-TR" sz="3600" b="1" dirty="0" smtClean="0">
                <a:solidFill>
                  <a:srgbClr val="FF0000"/>
                </a:solidFill>
              </a:rPr>
              <a:t> asit’i meydana getirir</a:t>
            </a:r>
            <a:endParaRPr lang="tr-TR" sz="3600" b="1" dirty="0">
              <a:solidFill>
                <a:srgbClr val="FF0000"/>
              </a:solidFill>
            </a:endParaRPr>
          </a:p>
        </p:txBody>
      </p:sp>
      <p:pic>
        <p:nvPicPr>
          <p:cNvPr id="31746" name="Picture 2" descr="C:\Users\Pc\Desktop\imagesTUVK6BA9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971600" y="1772816"/>
            <a:ext cx="7344816" cy="44629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user\Desktop\Nükleotidin-yapısı.pn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60648"/>
            <a:ext cx="8137525" cy="6121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user\Desktop\nükleotit-yapısı-3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476672"/>
            <a:ext cx="8351837" cy="57594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C:\Users\Pc\Desktop\watson2dcrick_dna_molekul_modeli_ve_sarmal_sekli3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611560" y="1340768"/>
            <a:ext cx="7992888" cy="5229200"/>
          </a:xfrm>
          <a:prstGeom prst="rect">
            <a:avLst/>
          </a:prstGeom>
          <a:noFill/>
        </p:spPr>
      </p:pic>
      <p:sp>
        <p:nvSpPr>
          <p:cNvPr id="4" name="3 Dikdörtgen"/>
          <p:cNvSpPr/>
          <p:nvPr/>
        </p:nvSpPr>
        <p:spPr>
          <a:xfrm>
            <a:off x="1619672" y="188641"/>
            <a:ext cx="61926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800" b="1" dirty="0" smtClean="0">
                <a:solidFill>
                  <a:srgbClr val="FF0000"/>
                </a:solidFill>
              </a:rPr>
              <a:t>FOSFODİESTER BAĞLARI İLE NÜKLEOTİTLER BİRBİRİNE BAĞLANIR </a:t>
            </a:r>
            <a:endParaRPr lang="tr-TR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368152"/>
          </a:xfrm>
        </p:spPr>
        <p:txBody>
          <a:bodyPr>
            <a:no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5 Karbonlu şekerler</a:t>
            </a:r>
            <a:br>
              <a:rPr lang="tr-TR" sz="3200" b="1" dirty="0" smtClean="0">
                <a:solidFill>
                  <a:srgbClr val="FF0000"/>
                </a:solidFill>
              </a:rPr>
            </a:br>
            <a:r>
              <a:rPr lang="tr-TR" sz="3200" b="1" dirty="0" smtClean="0">
                <a:solidFill>
                  <a:srgbClr val="FF0000"/>
                </a:solidFill>
              </a:rPr>
              <a:t>Kapalı formülleri C₅H₁ₒO₅</a:t>
            </a:r>
            <a:br>
              <a:rPr lang="tr-TR" sz="3200" b="1" dirty="0" smtClean="0">
                <a:solidFill>
                  <a:srgbClr val="FF0000"/>
                </a:solidFill>
              </a:rPr>
            </a:br>
            <a:r>
              <a:rPr lang="tr-TR" sz="3200" b="1" dirty="0" err="1" smtClean="0">
                <a:solidFill>
                  <a:srgbClr val="FF0000"/>
                </a:solidFill>
              </a:rPr>
              <a:t>Riboz</a:t>
            </a:r>
            <a:r>
              <a:rPr lang="tr-TR" sz="3200" b="1" dirty="0" smtClean="0">
                <a:solidFill>
                  <a:srgbClr val="FF0000"/>
                </a:solidFill>
              </a:rPr>
              <a:t> ve </a:t>
            </a:r>
            <a:r>
              <a:rPr lang="tr-TR" sz="3200" b="1" dirty="0" err="1" smtClean="0">
                <a:solidFill>
                  <a:srgbClr val="FF0000"/>
                </a:solidFill>
              </a:rPr>
              <a:t>Deoksiriboz</a:t>
            </a:r>
            <a:endParaRPr lang="tr-TR" sz="3200" b="1" dirty="0">
              <a:solidFill>
                <a:srgbClr val="FF0000"/>
              </a:solidFill>
            </a:endParaRPr>
          </a:p>
        </p:txBody>
      </p:sp>
      <p:pic>
        <p:nvPicPr>
          <p:cNvPr id="9218" name="Picture 2" descr="C:\Users\user\Desktop\unnamed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72816"/>
            <a:ext cx="7848872" cy="46805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404664"/>
            <a:ext cx="8640960" cy="61926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    ESTER BAĞI OLUŞTURAN FOSFAT MOLEKÜLÜ</a:t>
            </a:r>
            <a:endParaRPr lang="tr-TR" b="1" dirty="0" smtClean="0"/>
          </a:p>
          <a:p>
            <a:r>
              <a:rPr lang="tr-TR" b="1" dirty="0" smtClean="0"/>
              <a:t>Fosfat molekülü, </a:t>
            </a:r>
            <a:r>
              <a:rPr lang="tr-TR" b="1" dirty="0" err="1" smtClean="0"/>
              <a:t>diester</a:t>
            </a:r>
            <a:r>
              <a:rPr lang="tr-TR" b="1" dirty="0" smtClean="0"/>
              <a:t> bağı oluşturarak </a:t>
            </a:r>
            <a:r>
              <a:rPr lang="tr-TR" b="1" dirty="0" err="1" smtClean="0"/>
              <a:t>Nükleozitleri</a:t>
            </a:r>
            <a:r>
              <a:rPr lang="tr-TR" b="1" dirty="0" smtClean="0"/>
              <a:t>  birbirine bağlar</a:t>
            </a:r>
            <a:endParaRPr lang="tr-TR" dirty="0" smtClean="0"/>
          </a:p>
          <a:p>
            <a:pPr lvl="1">
              <a:buNone/>
            </a:pPr>
            <a:r>
              <a:rPr lang="tr-TR" b="1" dirty="0" smtClean="0">
                <a:solidFill>
                  <a:srgbClr val="7030A0"/>
                </a:solidFill>
              </a:rPr>
              <a:t>           (pürin/</a:t>
            </a:r>
            <a:r>
              <a:rPr lang="tr-TR" b="1" dirty="0" err="1" smtClean="0">
                <a:solidFill>
                  <a:srgbClr val="7030A0"/>
                </a:solidFill>
              </a:rPr>
              <a:t>primidin</a:t>
            </a:r>
            <a:r>
              <a:rPr lang="tr-TR" b="1" dirty="0" smtClean="0">
                <a:solidFill>
                  <a:srgbClr val="7030A0"/>
                </a:solidFill>
              </a:rPr>
              <a:t> + </a:t>
            </a:r>
            <a:r>
              <a:rPr lang="tr-TR" b="1" dirty="0" err="1" smtClean="0">
                <a:solidFill>
                  <a:srgbClr val="7030A0"/>
                </a:solidFill>
              </a:rPr>
              <a:t>pentoz</a:t>
            </a:r>
            <a:r>
              <a:rPr lang="tr-TR" b="1" dirty="0" smtClean="0">
                <a:solidFill>
                  <a:srgbClr val="7030A0"/>
                </a:solidFill>
              </a:rPr>
              <a:t>) </a:t>
            </a:r>
          </a:p>
          <a:p>
            <a:pPr lvl="1">
              <a:buNone/>
            </a:pPr>
            <a:endParaRPr lang="tr-TR" dirty="0" smtClean="0"/>
          </a:p>
          <a:p>
            <a:r>
              <a:rPr lang="tr-TR" b="1" dirty="0" smtClean="0">
                <a:solidFill>
                  <a:srgbClr val="00B050"/>
                </a:solidFill>
              </a:rPr>
              <a:t>Fosfat bağları, </a:t>
            </a:r>
            <a:r>
              <a:rPr lang="tr-TR" b="1" dirty="0" err="1" smtClean="0"/>
              <a:t>pentoz</a:t>
            </a:r>
            <a:r>
              <a:rPr lang="tr-TR" b="1" dirty="0" smtClean="0"/>
              <a:t> moleküllerine bağlanırken          bir </a:t>
            </a:r>
            <a:r>
              <a:rPr lang="tr-TR" b="1" dirty="0" err="1" smtClean="0"/>
              <a:t>pentozun</a:t>
            </a:r>
            <a:r>
              <a:rPr lang="tr-TR" b="1" dirty="0" smtClean="0"/>
              <a:t> 5’ pozisyonundaki C atomu ile,  diğer </a:t>
            </a:r>
            <a:r>
              <a:rPr lang="tr-TR" b="1" dirty="0" err="1" smtClean="0"/>
              <a:t>pentozun</a:t>
            </a:r>
            <a:r>
              <a:rPr lang="tr-TR" b="1" dirty="0" smtClean="0"/>
              <a:t> 3’ pozisyonundaki C atomları arasında 5’             3’ bağlantı yönünde bağlanır 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DNA’nın sentez yönü   5’              3’ dür…</a:t>
            </a:r>
            <a:endParaRPr lang="tr-TR" b="1" dirty="0"/>
          </a:p>
        </p:txBody>
      </p:sp>
      <p:sp>
        <p:nvSpPr>
          <p:cNvPr id="4" name="3 Sağ Ok"/>
          <p:cNvSpPr/>
          <p:nvPr/>
        </p:nvSpPr>
        <p:spPr>
          <a:xfrm>
            <a:off x="2627784" y="465313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4 Sağ Ok"/>
          <p:cNvSpPr/>
          <p:nvPr/>
        </p:nvSpPr>
        <p:spPr>
          <a:xfrm>
            <a:off x="4932040" y="580526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user\Desktop\RNA_chemical_structure_tr.pn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332656"/>
            <a:ext cx="6408737" cy="57610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260648"/>
            <a:ext cx="8712968" cy="6336704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tr-TR" sz="2800" b="1" dirty="0" smtClean="0"/>
              <a:t>			</a:t>
            </a:r>
            <a:r>
              <a:rPr lang="tr-TR" sz="3600" b="1" dirty="0" smtClean="0"/>
              <a:t>      5’</a:t>
            </a:r>
            <a:r>
              <a:rPr lang="tr-TR" sz="2800" b="1" dirty="0" smtClean="0"/>
              <a:t>               </a:t>
            </a:r>
            <a:r>
              <a:rPr lang="tr-TR" sz="3600" b="1" dirty="0" smtClean="0"/>
              <a:t>  3’</a:t>
            </a:r>
            <a:endParaRPr lang="tr-TR" sz="3600" b="1" dirty="0" smtClean="0">
              <a:solidFill>
                <a:srgbClr val="FF0000"/>
              </a:solidFill>
            </a:endParaRPr>
          </a:p>
          <a:p>
            <a:r>
              <a:rPr lang="tr-TR" b="1" dirty="0" smtClean="0">
                <a:solidFill>
                  <a:srgbClr val="FF0000"/>
                </a:solidFill>
              </a:rPr>
              <a:t>DNA </a:t>
            </a:r>
            <a:r>
              <a:rPr lang="tr-TR" b="1" dirty="0" err="1" smtClean="0">
                <a:solidFill>
                  <a:srgbClr val="FF0000"/>
                </a:solidFill>
              </a:rPr>
              <a:t>replikasyonunda</a:t>
            </a:r>
            <a:r>
              <a:rPr lang="tr-TR" b="1" dirty="0" smtClean="0">
                <a:solidFill>
                  <a:srgbClr val="FF0000"/>
                </a:solidFill>
              </a:rPr>
              <a:t> karşımıza çıkan 3', 5' gibi işaretler doğrultu belirleyici yönlerdir. </a:t>
            </a:r>
          </a:p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            </a:t>
            </a:r>
          </a:p>
          <a:p>
            <a:r>
              <a:rPr lang="tr-TR" b="1" dirty="0" err="1" smtClean="0"/>
              <a:t>Nükleik</a:t>
            </a:r>
            <a:r>
              <a:rPr lang="tr-TR" b="1" dirty="0" smtClean="0"/>
              <a:t> asitlerin eşlenmesi sırasında                   şeker grubunun   3' ucunda hidroksil (-OH) grubu  ve diğer şeker grubun 5' ucunda yine bir hidroksil   (-OH) grubu bulunmaktadır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1', 2', 3', 4', 5' şeklindeki adlandırmalar </a:t>
            </a:r>
            <a:r>
              <a:rPr lang="tr-TR" b="1" dirty="0" err="1" smtClean="0"/>
              <a:t>nükleik</a:t>
            </a:r>
            <a:r>
              <a:rPr lang="tr-TR" b="1" dirty="0" smtClean="0"/>
              <a:t> asitlerin şeker halkalarının karbon atomları numaralandırılırken verilir ve konum tespitinde kolaylık sağlar</a:t>
            </a:r>
            <a:endParaRPr lang="tr-TR" b="1" dirty="0"/>
          </a:p>
        </p:txBody>
      </p:sp>
      <p:sp>
        <p:nvSpPr>
          <p:cNvPr id="4" name="3 Sağ Ok"/>
          <p:cNvSpPr/>
          <p:nvPr/>
        </p:nvSpPr>
        <p:spPr>
          <a:xfrm>
            <a:off x="3203848" y="26064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user\Desktop\f-d_ac337f129eb934849179a19591b78372b612f075d0f89d21e7d681a0+IMAGE_THUMB_POSTCARD_TINY+IMAGE_THUMB_POSTCARD_TINY.1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404664"/>
            <a:ext cx="8064500" cy="58324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r>
              <a:rPr lang="tr-TR" dirty="0" smtClean="0"/>
              <a:t/>
            </a:r>
            <a:br>
              <a:rPr lang="tr-TR" dirty="0" smtClean="0"/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188640"/>
            <a:ext cx="8640960" cy="640871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tr-TR" b="1" dirty="0" smtClean="0">
                <a:solidFill>
                  <a:srgbClr val="FF0000"/>
                </a:solidFill>
              </a:rPr>
              <a:t>DNA MOLEKÜLÜNÜN İKİ ÖNEMLİ ÖZELLİĞİ VARDIR</a:t>
            </a:r>
            <a:endParaRPr lang="tr-TR" dirty="0" smtClean="0">
              <a:solidFill>
                <a:srgbClr val="FF0000"/>
              </a:solidFill>
            </a:endParaRPr>
          </a:p>
          <a:p>
            <a:r>
              <a:rPr lang="tr-TR" b="1" dirty="0" smtClean="0"/>
              <a:t>1-DNA’nın yapısını oluşturan iki zincir birbirlerinden ayrıldıkları zaman her bir iplikçik eskiden karşısında bulunan diğer yarımını aynen oluşturabilir </a:t>
            </a:r>
          </a:p>
          <a:p>
            <a:pPr>
              <a:buNone/>
            </a:pPr>
            <a:r>
              <a:rPr lang="tr-TR" b="1" dirty="0" smtClean="0"/>
              <a:t>		Bu olaya DNA’nın </a:t>
            </a:r>
            <a:r>
              <a:rPr lang="tr-TR" b="1" dirty="0" err="1" smtClean="0">
                <a:solidFill>
                  <a:srgbClr val="FF0000"/>
                </a:solidFill>
              </a:rPr>
              <a:t>replikasyonu</a:t>
            </a:r>
            <a:r>
              <a:rPr lang="tr-TR" b="1" dirty="0" smtClean="0">
                <a:solidFill>
                  <a:srgbClr val="FF0000"/>
                </a:solidFill>
              </a:rPr>
              <a:t> </a:t>
            </a:r>
            <a:r>
              <a:rPr lang="tr-TR" b="1" dirty="0" smtClean="0"/>
              <a:t>denir 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2-Gerektiğinde üzerinde bulunan nükleotid sırasına uygun özellikte </a:t>
            </a:r>
            <a:r>
              <a:rPr lang="tr-TR" b="1" dirty="0" err="1" smtClean="0">
                <a:solidFill>
                  <a:srgbClr val="FF0000"/>
                </a:solidFill>
              </a:rPr>
              <a:t>ribonükleikasit</a:t>
            </a:r>
            <a:r>
              <a:rPr lang="tr-TR" b="1" dirty="0" smtClean="0">
                <a:solidFill>
                  <a:srgbClr val="FF0000"/>
                </a:solidFill>
              </a:rPr>
              <a:t> (RNA) molekülleri oluşturarak hücrenin yaşamsal işlevlerini yönetmesidir. 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Bu olaya Transkripsiyon denir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260648"/>
            <a:ext cx="8640960" cy="6264696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tr-TR" sz="2400" b="1" dirty="0" smtClean="0">
                <a:solidFill>
                  <a:srgbClr val="FF0000"/>
                </a:solidFill>
              </a:rPr>
              <a:t>TEKRAR EDELİM </a:t>
            </a:r>
            <a:br>
              <a:rPr lang="tr-TR" sz="2400" b="1" dirty="0" smtClean="0">
                <a:solidFill>
                  <a:srgbClr val="FF0000"/>
                </a:solidFill>
              </a:rPr>
            </a:br>
            <a:r>
              <a:rPr lang="tr-TR" sz="2400" b="1" dirty="0" smtClean="0">
                <a:solidFill>
                  <a:srgbClr val="FF0000"/>
                </a:solidFill>
              </a:rPr>
              <a:t>TÜM NÜKLEİK ASİTLERİN YAPISINDA  3 TEMEL MADDE GRUBU VARDIR</a:t>
            </a:r>
          </a:p>
          <a:p>
            <a:r>
              <a:rPr lang="tr-TR" sz="2800" b="1" dirty="0" smtClean="0"/>
              <a:t>Bazlar</a:t>
            </a:r>
          </a:p>
          <a:p>
            <a:r>
              <a:rPr lang="tr-TR" sz="2800" b="1" dirty="0" err="1" smtClean="0"/>
              <a:t>Pentoz</a:t>
            </a:r>
            <a:r>
              <a:rPr lang="tr-TR" sz="2800" b="1" dirty="0" smtClean="0"/>
              <a:t> şekerler</a:t>
            </a:r>
          </a:p>
          <a:p>
            <a:r>
              <a:rPr lang="tr-TR" sz="2800" b="1" dirty="0" smtClean="0"/>
              <a:t>Ester bağı oluşturan fosfat molekülü</a:t>
            </a:r>
          </a:p>
          <a:p>
            <a:r>
              <a:rPr lang="tr-TR" sz="2800" b="1" dirty="0" smtClean="0"/>
              <a:t>Pürin veya </a:t>
            </a:r>
            <a:r>
              <a:rPr lang="tr-TR" sz="2800" b="1" dirty="0" err="1" smtClean="0"/>
              <a:t>pirimidin</a:t>
            </a:r>
            <a:r>
              <a:rPr lang="tr-TR" sz="2800" b="1" dirty="0" smtClean="0"/>
              <a:t> bazlarının </a:t>
            </a:r>
            <a:r>
              <a:rPr lang="tr-TR" sz="2800" b="1" dirty="0" err="1" smtClean="0"/>
              <a:t>pentoz</a:t>
            </a:r>
            <a:r>
              <a:rPr lang="tr-TR" sz="2800" b="1" dirty="0" smtClean="0"/>
              <a:t> molekülleri ile yaptıkları bileşiklere </a:t>
            </a:r>
            <a:r>
              <a:rPr lang="tr-TR" sz="2800" b="1" dirty="0" err="1" smtClean="0">
                <a:solidFill>
                  <a:srgbClr val="FF0000"/>
                </a:solidFill>
              </a:rPr>
              <a:t>nükleosid</a:t>
            </a:r>
            <a:r>
              <a:rPr lang="tr-TR" sz="2800" b="1" dirty="0" smtClean="0"/>
              <a:t> adı </a:t>
            </a:r>
            <a:r>
              <a:rPr lang="tr-TR" sz="2800" b="1" dirty="0" err="1" smtClean="0"/>
              <a:t>veilir</a:t>
            </a:r>
            <a:endParaRPr lang="tr-TR" sz="2800" b="1" dirty="0" smtClean="0">
              <a:solidFill>
                <a:srgbClr val="7030A0"/>
              </a:solidFill>
            </a:endParaRPr>
          </a:p>
          <a:p>
            <a:r>
              <a:rPr lang="tr-TR" sz="2800" b="1" dirty="0" err="1" smtClean="0">
                <a:solidFill>
                  <a:srgbClr val="7030A0"/>
                </a:solidFill>
              </a:rPr>
              <a:t>Nükleosidlerin</a:t>
            </a:r>
            <a:r>
              <a:rPr lang="tr-TR" sz="2800" b="1" dirty="0" smtClean="0">
                <a:solidFill>
                  <a:srgbClr val="7030A0"/>
                </a:solidFill>
              </a:rPr>
              <a:t>, </a:t>
            </a:r>
            <a:r>
              <a:rPr lang="tr-TR" sz="2800" b="1" dirty="0" err="1" smtClean="0">
                <a:solidFill>
                  <a:srgbClr val="7030A0"/>
                </a:solidFill>
              </a:rPr>
              <a:t>pentoz</a:t>
            </a:r>
            <a:r>
              <a:rPr lang="tr-TR" sz="2800" b="1" dirty="0" smtClean="0">
                <a:solidFill>
                  <a:srgbClr val="7030A0"/>
                </a:solidFill>
              </a:rPr>
              <a:t> molekülleri arasında fosforik asidin ester bağları oluşturmasıyla da nükleotidler meydana gelir</a:t>
            </a:r>
          </a:p>
          <a:p>
            <a:pPr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					</a:t>
            </a:r>
          </a:p>
          <a:p>
            <a:pPr>
              <a:buNone/>
            </a:pPr>
            <a:r>
              <a:rPr lang="tr-TR" sz="2800" b="1" dirty="0" err="1" smtClean="0"/>
              <a:t>Nükleosit</a:t>
            </a:r>
            <a:r>
              <a:rPr lang="tr-TR" sz="2800" b="1" dirty="0" smtClean="0"/>
              <a:t>                 organik baz + </a:t>
            </a:r>
            <a:r>
              <a:rPr lang="tr-TR" sz="2800" b="1" dirty="0" err="1" smtClean="0"/>
              <a:t>pentoz</a:t>
            </a:r>
            <a:endParaRPr lang="tr-TR" sz="2800" b="1" dirty="0" smtClean="0"/>
          </a:p>
          <a:p>
            <a:pPr>
              <a:buNone/>
            </a:pPr>
            <a:r>
              <a:rPr lang="tr-TR" sz="2800" b="1" dirty="0" err="1" smtClean="0"/>
              <a:t>Nükleotit</a:t>
            </a:r>
            <a:r>
              <a:rPr lang="tr-TR" sz="2800" b="1" dirty="0" smtClean="0"/>
              <a:t>		 organik baz + </a:t>
            </a:r>
            <a:r>
              <a:rPr lang="tr-TR" sz="2800" b="1" dirty="0" err="1" smtClean="0"/>
              <a:t>pentoz</a:t>
            </a:r>
            <a:r>
              <a:rPr lang="tr-TR" sz="2800" b="1" dirty="0" smtClean="0"/>
              <a:t> + fosforik asit</a:t>
            </a:r>
          </a:p>
          <a:p>
            <a:endParaRPr lang="tr-TR" sz="2800" b="1" dirty="0" smtClean="0">
              <a:solidFill>
                <a:srgbClr val="7030A0"/>
              </a:solidFill>
            </a:endParaRPr>
          </a:p>
          <a:p>
            <a:endParaRPr lang="tr-TR" sz="2800" b="1" dirty="0" smtClean="0"/>
          </a:p>
          <a:p>
            <a:pPr>
              <a:buNone/>
            </a:pPr>
            <a:endParaRPr lang="tr-TR" sz="2800" dirty="0" smtClean="0"/>
          </a:p>
          <a:p>
            <a:pPr>
              <a:buNone/>
            </a:pPr>
            <a:endParaRPr lang="tr-TR" sz="2800" dirty="0"/>
          </a:p>
        </p:txBody>
      </p:sp>
      <p:pic>
        <p:nvPicPr>
          <p:cNvPr id="4" name="Picture 2" descr="C:\Users\Pc\Desktop\imagesDHTCX7D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1340768"/>
            <a:ext cx="4215741" cy="1008112"/>
          </a:xfrm>
          <a:prstGeom prst="rect">
            <a:avLst/>
          </a:prstGeom>
          <a:noFill/>
        </p:spPr>
      </p:pic>
      <p:sp>
        <p:nvSpPr>
          <p:cNvPr id="5" name="4 Sağ Ok"/>
          <p:cNvSpPr/>
          <p:nvPr/>
        </p:nvSpPr>
        <p:spPr>
          <a:xfrm>
            <a:off x="1907704" y="5445224"/>
            <a:ext cx="97840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5 Sağ Ok"/>
          <p:cNvSpPr/>
          <p:nvPr/>
        </p:nvSpPr>
        <p:spPr>
          <a:xfrm>
            <a:off x="1907704" y="5877272"/>
            <a:ext cx="97840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332656"/>
            <a:ext cx="8640960" cy="6192688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tr-TR" b="1" dirty="0" smtClean="0"/>
              <a:t>		</a:t>
            </a:r>
            <a:r>
              <a:rPr lang="tr-TR" sz="2800" b="1" dirty="0" smtClean="0">
                <a:solidFill>
                  <a:srgbClr val="FF0000"/>
                </a:solidFill>
              </a:rPr>
              <a:t>PURİN BAZLARI</a:t>
            </a:r>
          </a:p>
          <a:p>
            <a:r>
              <a:rPr lang="tr-TR" sz="2800" b="1" dirty="0" err="1" smtClean="0">
                <a:solidFill>
                  <a:srgbClr val="7030A0"/>
                </a:solidFill>
              </a:rPr>
              <a:t>Adenin</a:t>
            </a:r>
            <a:r>
              <a:rPr lang="tr-TR" sz="2800" b="1" dirty="0" smtClean="0">
                <a:solidFill>
                  <a:srgbClr val="7030A0"/>
                </a:solidFill>
              </a:rPr>
              <a:t> (A)</a:t>
            </a:r>
          </a:p>
          <a:p>
            <a:r>
              <a:rPr lang="tr-TR" sz="2800" b="1" dirty="0" err="1" smtClean="0">
                <a:solidFill>
                  <a:srgbClr val="7030A0"/>
                </a:solidFill>
              </a:rPr>
              <a:t>Guanin</a:t>
            </a:r>
            <a:r>
              <a:rPr lang="tr-TR" sz="2800" b="1" dirty="0" smtClean="0">
                <a:solidFill>
                  <a:srgbClr val="7030A0"/>
                </a:solidFill>
              </a:rPr>
              <a:t> (G)</a:t>
            </a:r>
            <a:endParaRPr lang="tr-TR" sz="2800" dirty="0" smtClean="0"/>
          </a:p>
          <a:p>
            <a:pPr>
              <a:buNone/>
            </a:pPr>
            <a:r>
              <a:rPr lang="tr-TR" sz="2800" dirty="0" smtClean="0"/>
              <a:t> 		</a:t>
            </a:r>
            <a:r>
              <a:rPr lang="tr-TR" sz="2800" b="1" dirty="0" smtClean="0">
                <a:solidFill>
                  <a:srgbClr val="FF0000"/>
                </a:solidFill>
              </a:rPr>
              <a:t>PİRİMİDİN BAZLARI</a:t>
            </a:r>
          </a:p>
          <a:p>
            <a:r>
              <a:rPr lang="tr-TR" sz="2800" b="1" dirty="0" err="1" smtClean="0">
                <a:solidFill>
                  <a:srgbClr val="00B050"/>
                </a:solidFill>
              </a:rPr>
              <a:t>Sitosin</a:t>
            </a:r>
            <a:r>
              <a:rPr lang="tr-TR" sz="2800" b="1" dirty="0" smtClean="0">
                <a:solidFill>
                  <a:srgbClr val="00B050"/>
                </a:solidFill>
              </a:rPr>
              <a:t> (C)</a:t>
            </a:r>
          </a:p>
          <a:p>
            <a:r>
              <a:rPr lang="tr-TR" sz="2800" b="1" dirty="0" smtClean="0">
                <a:solidFill>
                  <a:srgbClr val="00B050"/>
                </a:solidFill>
              </a:rPr>
              <a:t>Timin (T)</a:t>
            </a:r>
          </a:p>
          <a:p>
            <a:r>
              <a:rPr lang="tr-TR" sz="2800" b="1" dirty="0" err="1" smtClean="0">
                <a:solidFill>
                  <a:srgbClr val="00B050"/>
                </a:solidFill>
              </a:rPr>
              <a:t>Urasil</a:t>
            </a:r>
            <a:r>
              <a:rPr lang="tr-TR" sz="2800" b="1" dirty="0" smtClean="0">
                <a:solidFill>
                  <a:srgbClr val="00B050"/>
                </a:solidFill>
              </a:rPr>
              <a:t> (U)</a:t>
            </a:r>
          </a:p>
          <a:p>
            <a:pPr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DNA YAPISINDAKİ BAZLAR</a:t>
            </a:r>
          </a:p>
          <a:p>
            <a:r>
              <a:rPr lang="tr-TR" sz="2800" b="1" dirty="0" err="1" smtClean="0">
                <a:solidFill>
                  <a:srgbClr val="7030A0"/>
                </a:solidFill>
              </a:rPr>
              <a:t>Adenin</a:t>
            </a:r>
            <a:r>
              <a:rPr lang="tr-TR" sz="2800" b="1" dirty="0" smtClean="0">
                <a:solidFill>
                  <a:srgbClr val="7030A0"/>
                </a:solidFill>
              </a:rPr>
              <a:t> (A)</a:t>
            </a:r>
          </a:p>
          <a:p>
            <a:r>
              <a:rPr lang="tr-TR" sz="2800" b="1" dirty="0" err="1" smtClean="0">
                <a:solidFill>
                  <a:srgbClr val="7030A0"/>
                </a:solidFill>
              </a:rPr>
              <a:t>Guanin</a:t>
            </a:r>
            <a:r>
              <a:rPr lang="tr-TR" sz="2800" b="1" dirty="0" smtClean="0">
                <a:solidFill>
                  <a:srgbClr val="7030A0"/>
                </a:solidFill>
              </a:rPr>
              <a:t> (G)</a:t>
            </a:r>
          </a:p>
          <a:p>
            <a:r>
              <a:rPr lang="tr-TR" sz="2800" b="1" dirty="0" err="1" smtClean="0">
                <a:solidFill>
                  <a:srgbClr val="7030A0"/>
                </a:solidFill>
              </a:rPr>
              <a:t>Sitosin</a:t>
            </a:r>
            <a:r>
              <a:rPr lang="tr-TR" sz="2800" b="1" dirty="0" smtClean="0">
                <a:solidFill>
                  <a:srgbClr val="7030A0"/>
                </a:solidFill>
              </a:rPr>
              <a:t> (C)</a:t>
            </a:r>
          </a:p>
          <a:p>
            <a:r>
              <a:rPr lang="tr-TR" sz="2800" b="1" dirty="0" smtClean="0">
                <a:solidFill>
                  <a:srgbClr val="7030A0"/>
                </a:solidFill>
              </a:rPr>
              <a:t>Timin (T)</a:t>
            </a:r>
          </a:p>
          <a:p>
            <a:pPr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	RNA YAPISINDAKİ BAZLAR</a:t>
            </a:r>
          </a:p>
          <a:p>
            <a:r>
              <a:rPr lang="tr-TR" sz="2800" b="1" dirty="0" err="1" smtClean="0">
                <a:solidFill>
                  <a:srgbClr val="7030A0"/>
                </a:solidFill>
              </a:rPr>
              <a:t>Adenin</a:t>
            </a:r>
            <a:r>
              <a:rPr lang="tr-TR" sz="2800" b="1" dirty="0" smtClean="0">
                <a:solidFill>
                  <a:srgbClr val="7030A0"/>
                </a:solidFill>
              </a:rPr>
              <a:t> (A)</a:t>
            </a:r>
          </a:p>
          <a:p>
            <a:r>
              <a:rPr lang="tr-TR" sz="2800" b="1" dirty="0" err="1" smtClean="0">
                <a:solidFill>
                  <a:srgbClr val="7030A0"/>
                </a:solidFill>
              </a:rPr>
              <a:t>Guanin</a:t>
            </a:r>
            <a:r>
              <a:rPr lang="tr-TR" sz="2800" b="1" dirty="0" smtClean="0">
                <a:solidFill>
                  <a:srgbClr val="7030A0"/>
                </a:solidFill>
              </a:rPr>
              <a:t> (G)</a:t>
            </a:r>
          </a:p>
          <a:p>
            <a:r>
              <a:rPr lang="tr-TR" sz="2800" b="1" dirty="0" err="1" smtClean="0">
                <a:solidFill>
                  <a:srgbClr val="7030A0"/>
                </a:solidFill>
              </a:rPr>
              <a:t>Sitosin</a:t>
            </a:r>
            <a:r>
              <a:rPr lang="tr-TR" sz="2800" b="1" dirty="0" smtClean="0">
                <a:solidFill>
                  <a:srgbClr val="7030A0"/>
                </a:solidFill>
              </a:rPr>
              <a:t> (C)</a:t>
            </a:r>
          </a:p>
          <a:p>
            <a:r>
              <a:rPr lang="tr-TR" sz="2800" b="1" dirty="0" err="1" smtClean="0">
                <a:solidFill>
                  <a:srgbClr val="7030A0"/>
                </a:solidFill>
              </a:rPr>
              <a:t>Urasil</a:t>
            </a:r>
            <a:r>
              <a:rPr lang="tr-TR" sz="2800" b="1" dirty="0" smtClean="0">
                <a:solidFill>
                  <a:srgbClr val="7030A0"/>
                </a:solidFill>
              </a:rPr>
              <a:t>  (U)</a:t>
            </a:r>
          </a:p>
          <a:p>
            <a:endParaRPr lang="tr-TR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8144" y="260648"/>
            <a:ext cx="2664296" cy="3400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2160" y="3645024"/>
            <a:ext cx="2664296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260648"/>
            <a:ext cx="8712968" cy="6408712"/>
          </a:xfrm>
        </p:spPr>
        <p:txBody>
          <a:bodyPr>
            <a:normAutofit fontScale="25000" lnSpcReduction="20000"/>
          </a:bodyPr>
          <a:lstStyle/>
          <a:p>
            <a:pPr algn="ctr">
              <a:buNone/>
            </a:pPr>
            <a:r>
              <a:rPr lang="tr-TR" sz="12800" b="1" dirty="0" smtClean="0">
                <a:solidFill>
                  <a:srgbClr val="FF0000"/>
                </a:solidFill>
              </a:rPr>
              <a:t>PENTOZ ŞEKERLER</a:t>
            </a:r>
          </a:p>
          <a:p>
            <a:pPr algn="ctr">
              <a:buNone/>
            </a:pPr>
            <a:r>
              <a:rPr lang="tr-TR" sz="12800" b="1" dirty="0" smtClean="0">
                <a:solidFill>
                  <a:srgbClr val="FF0000"/>
                </a:solidFill>
              </a:rPr>
              <a:t>NÜKLEİK ASİTLER ŞEKERLERİN YAPILARINA GÖRE</a:t>
            </a:r>
          </a:p>
          <a:p>
            <a:pPr algn="ctr">
              <a:buNone/>
            </a:pPr>
            <a:r>
              <a:rPr lang="tr-TR" sz="12800" b="1" dirty="0" smtClean="0">
                <a:solidFill>
                  <a:srgbClr val="FF0000"/>
                </a:solidFill>
              </a:rPr>
              <a:t>ADLANDIRILIR</a:t>
            </a:r>
          </a:p>
          <a:p>
            <a:endParaRPr lang="tr-TR" sz="12800" b="1" dirty="0" smtClean="0"/>
          </a:p>
          <a:p>
            <a:r>
              <a:rPr lang="tr-TR" sz="12800" b="1" dirty="0" err="1" smtClean="0"/>
              <a:t>Pentoz</a:t>
            </a:r>
            <a:r>
              <a:rPr lang="tr-TR" sz="12800" b="1" dirty="0" smtClean="0"/>
              <a:t> molekülü</a:t>
            </a:r>
          </a:p>
          <a:p>
            <a:pPr>
              <a:buNone/>
            </a:pPr>
            <a:endParaRPr lang="tr-TR" sz="12800" b="1" dirty="0" smtClean="0"/>
          </a:p>
          <a:p>
            <a:r>
              <a:rPr lang="tr-TR" sz="12800" b="1" dirty="0" smtClean="0"/>
              <a:t>DNA                </a:t>
            </a:r>
            <a:r>
              <a:rPr lang="tr-TR" sz="12800" b="1" dirty="0" err="1" smtClean="0"/>
              <a:t>Deoksiriboz</a:t>
            </a:r>
            <a:endParaRPr lang="tr-TR" sz="12800" b="1" dirty="0" smtClean="0"/>
          </a:p>
          <a:p>
            <a:endParaRPr lang="tr-TR" sz="12800" b="1" dirty="0" smtClean="0"/>
          </a:p>
          <a:p>
            <a:r>
              <a:rPr lang="tr-TR" sz="12800" b="1" dirty="0" smtClean="0"/>
              <a:t>RNA	        </a:t>
            </a:r>
            <a:r>
              <a:rPr lang="tr-TR" sz="12800" b="1" dirty="0" err="1" smtClean="0"/>
              <a:t>Riboz</a:t>
            </a:r>
            <a:r>
              <a:rPr lang="tr-TR" sz="12800" b="1" dirty="0" smtClean="0"/>
              <a:t>        </a:t>
            </a:r>
          </a:p>
          <a:p>
            <a:pPr marL="342900" lvl="1" indent="-342900">
              <a:buNone/>
            </a:pPr>
            <a:endParaRPr lang="tr-TR" sz="12800" b="1" dirty="0" smtClean="0"/>
          </a:p>
          <a:p>
            <a:pPr marL="342900" lvl="1" indent="-342900">
              <a:buNone/>
            </a:pPr>
            <a:r>
              <a:rPr lang="tr-TR" sz="12800" b="1" dirty="0" smtClean="0"/>
              <a:t>	Yapısındadır</a:t>
            </a:r>
          </a:p>
          <a:p>
            <a:pPr marL="342900" lvl="1" indent="-342900">
              <a:buNone/>
            </a:pPr>
            <a:endParaRPr lang="tr-TR" sz="11200" b="1" dirty="0" smtClean="0"/>
          </a:p>
          <a:p>
            <a:pPr marL="342900" lvl="1" indent="-342900">
              <a:buNone/>
            </a:pPr>
            <a:r>
              <a:rPr lang="tr-TR" sz="9600" b="1" dirty="0" err="1" smtClean="0"/>
              <a:t>Deoksiriboz</a:t>
            </a:r>
            <a:r>
              <a:rPr lang="tr-TR" sz="9600" b="1" dirty="0" smtClean="0"/>
              <a:t> şekerinde </a:t>
            </a:r>
            <a:r>
              <a:rPr lang="tr-TR" sz="9600" b="1" dirty="0" err="1" smtClean="0"/>
              <a:t>riboz</a:t>
            </a:r>
            <a:r>
              <a:rPr lang="tr-TR" sz="9600" b="1" dirty="0" smtClean="0"/>
              <a:t> şekerine göre 1 oksijen atomu eksiktir</a:t>
            </a:r>
          </a:p>
          <a:p>
            <a:endParaRPr lang="tr-TR" sz="128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tr-TR" sz="12800" b="1" dirty="0" smtClean="0">
                <a:solidFill>
                  <a:srgbClr val="FF0000"/>
                </a:solidFill>
              </a:rPr>
              <a:t>	</a:t>
            </a:r>
          </a:p>
          <a:p>
            <a:pPr>
              <a:buNone/>
            </a:pPr>
            <a:r>
              <a:rPr lang="tr-TR" sz="12800" b="1" dirty="0" smtClean="0"/>
              <a:t>		</a:t>
            </a:r>
          </a:p>
          <a:p>
            <a:pPr>
              <a:buNone/>
            </a:pPr>
            <a:r>
              <a:rPr lang="tr-TR" sz="12800" b="1" dirty="0" smtClean="0"/>
              <a:t>		</a:t>
            </a:r>
          </a:p>
          <a:p>
            <a:pPr>
              <a:buNone/>
            </a:pPr>
            <a:endParaRPr lang="tr-TR" sz="9800" dirty="0" smtClean="0"/>
          </a:p>
          <a:p>
            <a:pPr>
              <a:buNone/>
            </a:pPr>
            <a:r>
              <a:rPr lang="tr-TR" sz="9800" dirty="0" smtClean="0"/>
              <a:t/>
            </a:r>
            <a:br>
              <a:rPr lang="tr-TR" sz="9800" dirty="0" smtClean="0"/>
            </a:br>
            <a:endParaRPr lang="tr-TR" sz="9800" dirty="0"/>
          </a:p>
        </p:txBody>
      </p:sp>
      <p:sp>
        <p:nvSpPr>
          <p:cNvPr id="4" name="3 Sağ Ok"/>
          <p:cNvSpPr/>
          <p:nvPr/>
        </p:nvSpPr>
        <p:spPr>
          <a:xfrm>
            <a:off x="1691680" y="314096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4 Sağ Ok"/>
          <p:cNvSpPr/>
          <p:nvPr/>
        </p:nvSpPr>
        <p:spPr>
          <a:xfrm>
            <a:off x="1691680" y="414908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C:\Users\Pc\Desktop\imagesDFNLO6DI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260648"/>
            <a:ext cx="6761162" cy="3786187"/>
          </a:xfrm>
          <a:prstGeom prst="rect">
            <a:avLst/>
          </a:prstGeom>
          <a:noFill/>
        </p:spPr>
      </p:pic>
      <p:pic>
        <p:nvPicPr>
          <p:cNvPr id="36867" name="Picture 3" descr="C:\Users\Pc\Desktop\imagesSCA5AEVD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3428999"/>
            <a:ext cx="4002238" cy="3171559"/>
          </a:xfrm>
          <a:prstGeom prst="rect">
            <a:avLst/>
          </a:prstGeom>
          <a:noFill/>
        </p:spPr>
      </p:pic>
      <p:pic>
        <p:nvPicPr>
          <p:cNvPr id="4" name="Picture 2" descr="C:\Users\Pc\Desktop\imagesO4MY8LE1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20072" y="4005064"/>
            <a:ext cx="2980408" cy="253592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755576" y="548680"/>
            <a:ext cx="7704856" cy="557748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sz="8000" dirty="0" smtClean="0"/>
              <a:t>				</a:t>
            </a:r>
          </a:p>
          <a:p>
            <a:pPr>
              <a:buNone/>
            </a:pPr>
            <a:r>
              <a:rPr lang="tr-TR" sz="8000" dirty="0" smtClean="0"/>
              <a:t>		</a:t>
            </a:r>
            <a:r>
              <a:rPr lang="tr-TR" sz="8000" dirty="0" smtClean="0">
                <a:solidFill>
                  <a:srgbClr val="FF0000"/>
                </a:solidFill>
              </a:rPr>
              <a:t>	</a:t>
            </a:r>
            <a:r>
              <a:rPr lang="tr-TR" sz="8000" i="1" dirty="0" smtClean="0">
                <a:solidFill>
                  <a:srgbClr val="FF0000"/>
                </a:solidFill>
              </a:rPr>
              <a:t>	</a:t>
            </a:r>
            <a:r>
              <a:rPr lang="tr-TR" sz="8000" b="1" dirty="0" smtClean="0">
                <a:solidFill>
                  <a:srgbClr val="FF0000"/>
                </a:solidFill>
              </a:rPr>
              <a:t>RNA</a:t>
            </a:r>
            <a:endParaRPr lang="tr-TR" sz="8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dirty="0" smtClean="0"/>
              <a:t/>
            </a:r>
            <a:br>
              <a:rPr lang="tr-TR" dirty="0" smtClean="0"/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95536" y="332656"/>
            <a:ext cx="8424936" cy="612068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	</a:t>
            </a:r>
            <a:r>
              <a:rPr lang="tr-TR" sz="4300" b="1" dirty="0" smtClean="0">
                <a:solidFill>
                  <a:srgbClr val="FF0000"/>
                </a:solidFill>
              </a:rPr>
              <a:t>RNA</a:t>
            </a:r>
          </a:p>
          <a:p>
            <a:r>
              <a:rPr lang="tr-TR" sz="2900" b="1" dirty="0" smtClean="0">
                <a:solidFill>
                  <a:srgbClr val="FF0000"/>
                </a:solidFill>
              </a:rPr>
              <a:t>Bulunduğu yerler:</a:t>
            </a:r>
            <a:r>
              <a:rPr lang="tr-TR" sz="2900" b="1" dirty="0" smtClean="0"/>
              <a:t> </a:t>
            </a:r>
            <a:r>
              <a:rPr lang="tr-TR" sz="2900" b="1" dirty="0" smtClean="0">
                <a:solidFill>
                  <a:srgbClr val="7030A0"/>
                </a:solidFill>
              </a:rPr>
              <a:t>Çekirdek En çok çekirdekçik,Ribozom ve az olarak diğer hücrenin diğer kısımlarında 				                </a:t>
            </a:r>
            <a:r>
              <a:rPr lang="tr-TR" sz="2900" b="1" dirty="0" smtClean="0"/>
              <a:t/>
            </a:r>
            <a:br>
              <a:rPr lang="tr-TR" sz="2900" b="1" dirty="0" smtClean="0"/>
            </a:br>
            <a:r>
              <a:rPr lang="tr-TR" sz="2900" b="1" dirty="0" smtClean="0">
                <a:solidFill>
                  <a:srgbClr val="FF0000"/>
                </a:solidFill>
              </a:rPr>
              <a:t>Zincir şekli: </a:t>
            </a:r>
            <a:r>
              <a:rPr lang="tr-TR" sz="2900" b="1" dirty="0" smtClean="0">
                <a:solidFill>
                  <a:srgbClr val="00B050"/>
                </a:solidFill>
              </a:rPr>
              <a:t>Tek iplikli, EŞLENMEZ</a:t>
            </a:r>
          </a:p>
          <a:p>
            <a:pPr>
              <a:buNone/>
            </a:pPr>
            <a:r>
              <a:rPr lang="tr-TR" sz="2900" b="1" dirty="0" smtClean="0">
                <a:solidFill>
                  <a:srgbClr val="FF0000"/>
                </a:solidFill>
              </a:rPr>
              <a:t>    DNA’NIN EMRİ İLE ÜRETİLİR</a:t>
            </a:r>
            <a:r>
              <a:rPr lang="tr-TR" sz="2900" b="1" dirty="0" smtClean="0"/>
              <a:t/>
            </a:r>
            <a:br>
              <a:rPr lang="tr-TR" sz="2900" b="1" dirty="0" smtClean="0"/>
            </a:br>
            <a:r>
              <a:rPr lang="tr-TR" sz="2900" b="1" dirty="0" smtClean="0">
                <a:solidFill>
                  <a:srgbClr val="FF0000"/>
                </a:solidFill>
              </a:rPr>
              <a:t>Yapısındaki bazlar: </a:t>
            </a:r>
            <a:r>
              <a:rPr lang="tr-TR" sz="2900" b="1" dirty="0" smtClean="0">
                <a:solidFill>
                  <a:srgbClr val="0070C0"/>
                </a:solidFill>
              </a:rPr>
              <a:t>A, G, C, U (Ayırt edici bazı </a:t>
            </a:r>
            <a:r>
              <a:rPr lang="tr-TR" sz="2900" b="1" dirty="0" err="1" smtClean="0">
                <a:solidFill>
                  <a:srgbClr val="0070C0"/>
                </a:solidFill>
              </a:rPr>
              <a:t>Urasil</a:t>
            </a:r>
            <a:r>
              <a:rPr lang="tr-TR" sz="2900" b="1" dirty="0" smtClean="0">
                <a:solidFill>
                  <a:srgbClr val="0070C0"/>
                </a:solidFill>
              </a:rPr>
              <a:t>)</a:t>
            </a:r>
            <a:r>
              <a:rPr lang="tr-TR" sz="2900" b="1" dirty="0" smtClean="0"/>
              <a:t/>
            </a:r>
            <a:br>
              <a:rPr lang="tr-TR" sz="2900" b="1" dirty="0" smtClean="0"/>
            </a:br>
            <a:r>
              <a:rPr lang="tr-TR" sz="2900" b="1" dirty="0" smtClean="0">
                <a:solidFill>
                  <a:srgbClr val="FF0000"/>
                </a:solidFill>
              </a:rPr>
              <a:t>Yapısındaki şeker: </a:t>
            </a:r>
            <a:r>
              <a:rPr lang="tr-TR" sz="2900" b="1" dirty="0" err="1" smtClean="0"/>
              <a:t>Riboz</a:t>
            </a:r>
            <a:r>
              <a:rPr lang="tr-TR" sz="2900" b="1" dirty="0" smtClean="0"/>
              <a:t/>
            </a:r>
            <a:br>
              <a:rPr lang="tr-TR" sz="2900" b="1" dirty="0" smtClean="0"/>
            </a:br>
            <a:r>
              <a:rPr lang="tr-TR" sz="2900" b="1" dirty="0" smtClean="0">
                <a:solidFill>
                  <a:srgbClr val="FF0000"/>
                </a:solidFill>
              </a:rPr>
              <a:t>Sentezlenmesi:</a:t>
            </a:r>
            <a:r>
              <a:rPr lang="tr-TR" sz="2900" b="1" dirty="0" smtClean="0"/>
              <a:t> </a:t>
            </a:r>
            <a:r>
              <a:rPr lang="tr-TR" sz="2900" b="1" dirty="0" smtClean="0">
                <a:solidFill>
                  <a:srgbClr val="7030A0"/>
                </a:solidFill>
              </a:rPr>
              <a:t>RNA </a:t>
            </a:r>
            <a:r>
              <a:rPr lang="tr-TR" sz="2900" b="1" dirty="0" err="1" smtClean="0">
                <a:solidFill>
                  <a:srgbClr val="7030A0"/>
                </a:solidFill>
              </a:rPr>
              <a:t>polimeraz</a:t>
            </a:r>
            <a:r>
              <a:rPr lang="tr-TR" sz="2900" b="1" dirty="0" smtClean="0">
                <a:solidFill>
                  <a:srgbClr val="7030A0"/>
                </a:solidFill>
              </a:rPr>
              <a:t> enzimleri sayesinde 		          	          DNA tarafından</a:t>
            </a:r>
            <a:r>
              <a:rPr lang="tr-TR" sz="2900" b="1" dirty="0" smtClean="0"/>
              <a:t/>
            </a:r>
            <a:br>
              <a:rPr lang="tr-TR" sz="2900" b="1" dirty="0" smtClean="0"/>
            </a:br>
            <a:r>
              <a:rPr lang="tr-TR" sz="2900" b="1" dirty="0" smtClean="0">
                <a:solidFill>
                  <a:srgbClr val="FF0000"/>
                </a:solidFill>
              </a:rPr>
              <a:t>Hücredeki sentez yeri:</a:t>
            </a:r>
            <a:r>
              <a:rPr lang="tr-TR" sz="2900" b="1" dirty="0" smtClean="0"/>
              <a:t> </a:t>
            </a:r>
            <a:r>
              <a:rPr lang="tr-TR" sz="2900" b="1" dirty="0" err="1" smtClean="0">
                <a:solidFill>
                  <a:srgbClr val="00B050"/>
                </a:solidFill>
              </a:rPr>
              <a:t>Prokaryotlarda</a:t>
            </a:r>
            <a:r>
              <a:rPr lang="tr-TR" sz="2900" b="1" dirty="0" smtClean="0">
                <a:solidFill>
                  <a:srgbClr val="00B050"/>
                </a:solidFill>
              </a:rPr>
              <a:t> sitoplazmada, 			                      </a:t>
            </a:r>
            <a:r>
              <a:rPr lang="tr-TR" sz="2900" b="1" dirty="0" err="1" smtClean="0">
                <a:solidFill>
                  <a:srgbClr val="00B050"/>
                </a:solidFill>
              </a:rPr>
              <a:t>Ökaryotlarda</a:t>
            </a:r>
            <a:r>
              <a:rPr lang="tr-TR" sz="2900" b="1" dirty="0" smtClean="0">
                <a:solidFill>
                  <a:srgbClr val="00B050"/>
                </a:solidFill>
              </a:rPr>
              <a:t> çekirdekte</a:t>
            </a:r>
            <a:r>
              <a:rPr lang="tr-TR" sz="2900" b="1" dirty="0" smtClean="0"/>
              <a:t/>
            </a:r>
            <a:br>
              <a:rPr lang="tr-TR" sz="2900" b="1" dirty="0" smtClean="0"/>
            </a:br>
            <a:r>
              <a:rPr lang="tr-TR" sz="2900" b="1" dirty="0" smtClean="0">
                <a:solidFill>
                  <a:srgbClr val="FF0000"/>
                </a:solidFill>
              </a:rPr>
              <a:t>Görevi: </a:t>
            </a:r>
            <a:r>
              <a:rPr lang="tr-TR" sz="2900" b="1" dirty="0" smtClean="0">
                <a:solidFill>
                  <a:srgbClr val="0070C0"/>
                </a:solidFill>
              </a:rPr>
              <a:t>Protein sentezinde görevlidir (3 çeşit RNA’da)</a:t>
            </a:r>
            <a:r>
              <a:rPr lang="tr-TR" sz="2900" b="1" dirty="0" smtClean="0"/>
              <a:t/>
            </a:r>
            <a:br>
              <a:rPr lang="tr-TR" sz="2900" b="1" dirty="0" smtClean="0"/>
            </a:br>
            <a:r>
              <a:rPr lang="tr-TR" sz="2900" b="1" dirty="0" err="1" smtClean="0">
                <a:solidFill>
                  <a:srgbClr val="FF0000"/>
                </a:solidFill>
              </a:rPr>
              <a:t>Nükleotitlere</a:t>
            </a:r>
            <a:r>
              <a:rPr lang="tr-TR" sz="2900" b="1" dirty="0" smtClean="0">
                <a:solidFill>
                  <a:srgbClr val="FF0000"/>
                </a:solidFill>
              </a:rPr>
              <a:t> ayrılması-Hidroliz: </a:t>
            </a:r>
            <a:r>
              <a:rPr lang="tr-TR" sz="2900" b="1" dirty="0" smtClean="0"/>
              <a:t>RNA-az enzimleri ile</a:t>
            </a:r>
            <a:br>
              <a:rPr lang="tr-TR" sz="2900" b="1" dirty="0" smtClean="0"/>
            </a:br>
            <a:r>
              <a:rPr lang="tr-TR" sz="2900" b="1" dirty="0" smtClean="0">
                <a:solidFill>
                  <a:srgbClr val="FF0000"/>
                </a:solidFill>
              </a:rPr>
              <a:t>Çeşitleri :</a:t>
            </a:r>
            <a:r>
              <a:rPr lang="tr-TR" sz="2900" b="1" dirty="0" smtClean="0"/>
              <a:t> </a:t>
            </a:r>
            <a:r>
              <a:rPr lang="tr-TR" sz="2900" b="1" dirty="0" smtClean="0">
                <a:solidFill>
                  <a:srgbClr val="7030A0"/>
                </a:solidFill>
              </a:rPr>
              <a:t>3 çeşit RNA mevcuttur: m-RNA, t-RNA, r-RNA</a:t>
            </a:r>
          </a:p>
          <a:p>
            <a:endParaRPr lang="tr-TR" sz="2900" b="1" dirty="0" smtClean="0"/>
          </a:p>
          <a:p>
            <a:pPr>
              <a:buNone/>
            </a:pPr>
            <a:endParaRPr lang="tr-TR" sz="2900" b="1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Dikdörtgen"/>
          <p:cNvSpPr/>
          <p:nvPr/>
        </p:nvSpPr>
        <p:spPr>
          <a:xfrm>
            <a:off x="251520" y="188640"/>
            <a:ext cx="8712968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 smtClean="0">
                <a:solidFill>
                  <a:srgbClr val="FF0000"/>
                </a:solidFill>
              </a:rPr>
              <a:t>			</a:t>
            </a:r>
            <a:r>
              <a:rPr lang="tr-TR" sz="3200" b="1" dirty="0" smtClean="0">
                <a:solidFill>
                  <a:srgbClr val="FF0000"/>
                </a:solidFill>
              </a:rPr>
              <a:t>RNA ÇEŞİTLERİ</a:t>
            </a:r>
            <a:endParaRPr lang="tr-TR" sz="2400" b="1" dirty="0" smtClean="0"/>
          </a:p>
          <a:p>
            <a:r>
              <a:rPr lang="tr-TR" sz="3200" b="1" dirty="0" err="1" smtClean="0">
                <a:solidFill>
                  <a:srgbClr val="7030A0"/>
                </a:solidFill>
              </a:rPr>
              <a:t>mRNA</a:t>
            </a:r>
            <a:r>
              <a:rPr lang="tr-TR" sz="3200" b="1" dirty="0" smtClean="0">
                <a:solidFill>
                  <a:srgbClr val="7030A0"/>
                </a:solidFill>
              </a:rPr>
              <a:t>  (mesajcı RNA) </a:t>
            </a:r>
            <a:r>
              <a:rPr lang="tr-TR" sz="3200" b="1" dirty="0" smtClean="0"/>
              <a:t>DNA üzerindeki şifreyi alarak ribozoma  taşır ve  proteine çevrilmesine  aracılık eden RNA’dır </a:t>
            </a:r>
          </a:p>
          <a:p>
            <a:pPr>
              <a:buNone/>
            </a:pPr>
            <a:endParaRPr lang="tr-TR" sz="3200" b="1" dirty="0" smtClean="0"/>
          </a:p>
          <a:p>
            <a:r>
              <a:rPr lang="tr-TR" sz="3200" b="1" dirty="0" err="1" smtClean="0">
                <a:solidFill>
                  <a:srgbClr val="7030A0"/>
                </a:solidFill>
              </a:rPr>
              <a:t>tRNA</a:t>
            </a:r>
            <a:r>
              <a:rPr lang="tr-TR" sz="3200" b="1" dirty="0" smtClean="0">
                <a:solidFill>
                  <a:srgbClr val="7030A0"/>
                </a:solidFill>
              </a:rPr>
              <a:t>  (taşıyıcı RNA)    </a:t>
            </a:r>
            <a:r>
              <a:rPr lang="tr-TR" sz="3200" b="1" dirty="0" err="1" smtClean="0"/>
              <a:t>mRNA</a:t>
            </a:r>
            <a:r>
              <a:rPr lang="tr-TR" sz="3200" b="1" dirty="0" smtClean="0"/>
              <a:t> üzerindeki genetik şifreye göre aminoasitleri tanıyarak ribozoma taşıyan RNA’dır</a:t>
            </a:r>
          </a:p>
          <a:p>
            <a:pPr>
              <a:buNone/>
            </a:pPr>
            <a:endParaRPr lang="tr-TR" sz="3200" b="1" dirty="0" smtClean="0"/>
          </a:p>
          <a:p>
            <a:r>
              <a:rPr lang="tr-TR" sz="3200" b="1" dirty="0" err="1" smtClean="0">
                <a:solidFill>
                  <a:srgbClr val="7030A0"/>
                </a:solidFill>
              </a:rPr>
              <a:t>rRNA</a:t>
            </a:r>
            <a:r>
              <a:rPr lang="tr-TR" sz="3200" b="1" dirty="0" smtClean="0">
                <a:solidFill>
                  <a:srgbClr val="7030A0"/>
                </a:solidFill>
              </a:rPr>
              <a:t> (</a:t>
            </a:r>
            <a:r>
              <a:rPr lang="tr-TR" sz="3200" b="1" dirty="0" err="1" smtClean="0">
                <a:solidFill>
                  <a:srgbClr val="7030A0"/>
                </a:solidFill>
              </a:rPr>
              <a:t>ribozomal</a:t>
            </a:r>
            <a:r>
              <a:rPr lang="tr-TR" sz="3200" b="1" dirty="0" smtClean="0">
                <a:solidFill>
                  <a:srgbClr val="7030A0"/>
                </a:solidFill>
              </a:rPr>
              <a:t> RNA)   </a:t>
            </a:r>
            <a:r>
              <a:rPr lang="tr-TR" sz="3200" b="1" dirty="0" smtClean="0"/>
              <a:t>Ribozomun yapısına katılan RNA’dır</a:t>
            </a:r>
          </a:p>
          <a:p>
            <a:r>
              <a:rPr lang="tr-TR" sz="3200" b="1" dirty="0" smtClean="0">
                <a:solidFill>
                  <a:srgbClr val="0070C0"/>
                </a:solidFill>
              </a:rPr>
              <a:t>	RNA çeşitlerinin hücrede bulunma oranı</a:t>
            </a:r>
          </a:p>
          <a:p>
            <a:pPr lvl="2"/>
            <a:r>
              <a:rPr lang="tr-TR" sz="3200" b="1" dirty="0" smtClean="0">
                <a:solidFill>
                  <a:srgbClr val="0070C0"/>
                </a:solidFill>
              </a:rPr>
              <a:t>	</a:t>
            </a:r>
            <a:r>
              <a:rPr lang="pt-BR" sz="3200" b="1" dirty="0" smtClean="0">
                <a:solidFill>
                  <a:srgbClr val="0070C0"/>
                </a:solidFill>
              </a:rPr>
              <a:t>r (%80)&gt;</a:t>
            </a:r>
            <a:r>
              <a:rPr lang="tr-TR" sz="3200" b="1" dirty="0" smtClean="0">
                <a:solidFill>
                  <a:srgbClr val="0070C0"/>
                </a:solidFill>
              </a:rPr>
              <a:t> </a:t>
            </a:r>
            <a:r>
              <a:rPr lang="pt-BR" sz="3200" b="1" dirty="0" smtClean="0">
                <a:solidFill>
                  <a:srgbClr val="0070C0"/>
                </a:solidFill>
              </a:rPr>
              <a:t>t(%15)&gt;m</a:t>
            </a:r>
            <a:r>
              <a:rPr lang="tr-TR" sz="3200" b="1" dirty="0" smtClean="0">
                <a:solidFill>
                  <a:srgbClr val="0070C0"/>
                </a:solidFill>
              </a:rPr>
              <a:t> </a:t>
            </a:r>
            <a:r>
              <a:rPr lang="pt-BR" sz="3200" b="1" dirty="0" smtClean="0">
                <a:solidFill>
                  <a:srgbClr val="0070C0"/>
                </a:solidFill>
              </a:rPr>
              <a:t>(%5)</a:t>
            </a:r>
          </a:p>
          <a:p>
            <a:pPr>
              <a:buNone/>
            </a:pPr>
            <a:endParaRPr lang="tr-TR" sz="3200" b="1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60648"/>
            <a:ext cx="8640960" cy="6408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DNA ile RNA karşılaştırılması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sz="3600" b="1" dirty="0" smtClean="0">
                <a:solidFill>
                  <a:schemeClr val="tx2"/>
                </a:solidFill>
              </a:rPr>
              <a:t>HÜCREDEKİ GÖREVİ AÇISINDAN</a:t>
            </a:r>
            <a:endParaRPr lang="tr-TR" sz="3600" b="1" dirty="0">
              <a:solidFill>
                <a:schemeClr val="tx2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dirty="0" smtClean="0"/>
              <a:t>	</a:t>
            </a:r>
            <a:r>
              <a:rPr lang="tr-TR" dirty="0" smtClean="0">
                <a:solidFill>
                  <a:srgbClr val="00B050"/>
                </a:solidFill>
              </a:rPr>
              <a:t>	</a:t>
            </a:r>
            <a:r>
              <a:rPr lang="tr-TR" b="1" dirty="0" smtClean="0">
                <a:solidFill>
                  <a:srgbClr val="00B050"/>
                </a:solidFill>
              </a:rPr>
              <a:t>DNA</a:t>
            </a:r>
          </a:p>
          <a:p>
            <a:r>
              <a:rPr lang="tr-TR" b="1" dirty="0" smtClean="0"/>
              <a:t>Kalıtsal bilgileri dölden döle taşır</a:t>
            </a:r>
          </a:p>
          <a:p>
            <a:r>
              <a:rPr lang="tr-TR" b="1" dirty="0" smtClean="0"/>
              <a:t>Protein sentezinde yer alır</a:t>
            </a:r>
          </a:p>
          <a:p>
            <a:pPr>
              <a:buNone/>
            </a:pPr>
            <a:endParaRPr lang="tr-TR" b="1" dirty="0" smtClean="0"/>
          </a:p>
          <a:p>
            <a:pPr>
              <a:buNone/>
            </a:pPr>
            <a:r>
              <a:rPr lang="tr-TR" b="1" dirty="0" smtClean="0">
                <a:solidFill>
                  <a:srgbClr val="00B050"/>
                </a:solidFill>
              </a:rPr>
              <a:t>		RNA</a:t>
            </a:r>
          </a:p>
          <a:p>
            <a:r>
              <a:rPr lang="tr-TR" b="1" dirty="0" smtClean="0"/>
              <a:t>Protein yapımında görev alır</a:t>
            </a:r>
          </a:p>
          <a:p>
            <a:endParaRPr lang="tr-TR" b="1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DNA ile RNA karşılaştırılması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sz="3600" b="1" dirty="0" smtClean="0">
                <a:solidFill>
                  <a:schemeClr val="tx2"/>
                </a:solidFill>
              </a:rPr>
              <a:t>YAPISINDAKİ BAZLAR AÇISINDAN</a:t>
            </a:r>
            <a:endParaRPr lang="tr-TR" dirty="0">
              <a:solidFill>
                <a:schemeClr val="tx2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DNA yapısındaki bazlar</a:t>
            </a:r>
          </a:p>
          <a:p>
            <a:r>
              <a:rPr lang="tr-TR" b="1" dirty="0" err="1" smtClean="0">
                <a:solidFill>
                  <a:srgbClr val="7030A0"/>
                </a:solidFill>
              </a:rPr>
              <a:t>Adenin</a:t>
            </a:r>
            <a:r>
              <a:rPr lang="tr-TR" b="1" dirty="0" smtClean="0">
                <a:solidFill>
                  <a:srgbClr val="7030A0"/>
                </a:solidFill>
              </a:rPr>
              <a:t> (A)</a:t>
            </a:r>
          </a:p>
          <a:p>
            <a:r>
              <a:rPr lang="tr-TR" b="1" dirty="0" err="1" smtClean="0">
                <a:solidFill>
                  <a:srgbClr val="7030A0"/>
                </a:solidFill>
              </a:rPr>
              <a:t>Guanin</a:t>
            </a:r>
            <a:r>
              <a:rPr lang="tr-TR" b="1" dirty="0" smtClean="0">
                <a:solidFill>
                  <a:srgbClr val="7030A0"/>
                </a:solidFill>
              </a:rPr>
              <a:t> (G)</a:t>
            </a:r>
          </a:p>
          <a:p>
            <a:r>
              <a:rPr lang="tr-TR" b="1" dirty="0" err="1" smtClean="0">
                <a:solidFill>
                  <a:srgbClr val="7030A0"/>
                </a:solidFill>
              </a:rPr>
              <a:t>Sitosin</a:t>
            </a:r>
            <a:r>
              <a:rPr lang="tr-TR" b="1" dirty="0" smtClean="0">
                <a:solidFill>
                  <a:srgbClr val="7030A0"/>
                </a:solidFill>
              </a:rPr>
              <a:t> (C)</a:t>
            </a:r>
          </a:p>
          <a:p>
            <a:r>
              <a:rPr lang="tr-TR" b="1" dirty="0" smtClean="0">
                <a:solidFill>
                  <a:srgbClr val="7030A0"/>
                </a:solidFill>
              </a:rPr>
              <a:t>Timin (T)</a:t>
            </a:r>
          </a:p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RNA yapısındaki bazlar</a:t>
            </a:r>
          </a:p>
          <a:p>
            <a:r>
              <a:rPr lang="tr-TR" b="1" dirty="0" err="1" smtClean="0">
                <a:solidFill>
                  <a:srgbClr val="7030A0"/>
                </a:solidFill>
              </a:rPr>
              <a:t>Adenin</a:t>
            </a:r>
            <a:r>
              <a:rPr lang="tr-TR" b="1" dirty="0" smtClean="0">
                <a:solidFill>
                  <a:srgbClr val="7030A0"/>
                </a:solidFill>
              </a:rPr>
              <a:t> (A)</a:t>
            </a:r>
          </a:p>
          <a:p>
            <a:r>
              <a:rPr lang="tr-TR" b="1" dirty="0" err="1" smtClean="0">
                <a:solidFill>
                  <a:srgbClr val="7030A0"/>
                </a:solidFill>
              </a:rPr>
              <a:t>Guanin</a:t>
            </a:r>
            <a:r>
              <a:rPr lang="tr-TR" b="1" dirty="0" smtClean="0">
                <a:solidFill>
                  <a:srgbClr val="7030A0"/>
                </a:solidFill>
              </a:rPr>
              <a:t> (G)</a:t>
            </a:r>
          </a:p>
          <a:p>
            <a:r>
              <a:rPr lang="tr-TR" b="1" dirty="0" err="1" smtClean="0">
                <a:solidFill>
                  <a:srgbClr val="7030A0"/>
                </a:solidFill>
              </a:rPr>
              <a:t>Sitosin</a:t>
            </a:r>
            <a:r>
              <a:rPr lang="tr-TR" b="1" dirty="0" smtClean="0">
                <a:solidFill>
                  <a:srgbClr val="7030A0"/>
                </a:solidFill>
              </a:rPr>
              <a:t> (C)</a:t>
            </a:r>
          </a:p>
          <a:p>
            <a:r>
              <a:rPr lang="tr-TR" b="1" dirty="0" err="1" smtClean="0">
                <a:solidFill>
                  <a:srgbClr val="7030A0"/>
                </a:solidFill>
              </a:rPr>
              <a:t>Urasil</a:t>
            </a:r>
            <a:r>
              <a:rPr lang="tr-TR" b="1" dirty="0" smtClean="0">
                <a:solidFill>
                  <a:srgbClr val="7030A0"/>
                </a:solidFill>
              </a:rPr>
              <a:t>  (U)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548680"/>
            <a:ext cx="8380412" cy="561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DNA ile RNA karşılaştırılması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sz="3600" b="1" dirty="0" smtClean="0">
                <a:solidFill>
                  <a:schemeClr val="tx2"/>
                </a:solidFill>
              </a:rPr>
              <a:t>YAPISINDAKİ  5 KARBONLU ŞEKER AÇISINDAN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endParaRPr lang="tr-TR" dirty="0" smtClean="0"/>
          </a:p>
          <a:p>
            <a:endParaRPr lang="tr-TR" b="1" dirty="0" smtClean="0"/>
          </a:p>
          <a:p>
            <a:r>
              <a:rPr lang="tr-TR" sz="3500" b="1" dirty="0" smtClean="0"/>
              <a:t>DNA  </a:t>
            </a:r>
            <a:r>
              <a:rPr lang="tr-TR" b="1" dirty="0" smtClean="0"/>
              <a:t>       	           </a:t>
            </a:r>
            <a:r>
              <a:rPr lang="tr-TR" sz="3500" b="1" dirty="0" err="1" smtClean="0"/>
              <a:t>Deoksiriboz</a:t>
            </a:r>
            <a:endParaRPr lang="tr-TR" sz="3500" b="1" dirty="0" smtClean="0"/>
          </a:p>
          <a:p>
            <a:pPr>
              <a:buNone/>
            </a:pPr>
            <a:endParaRPr lang="tr-TR" b="1" dirty="0" smtClean="0"/>
          </a:p>
          <a:p>
            <a:endParaRPr lang="tr-TR" b="1" dirty="0" smtClean="0"/>
          </a:p>
          <a:p>
            <a:r>
              <a:rPr lang="tr-TR" sz="3500" b="1" dirty="0" smtClean="0"/>
              <a:t>RNA</a:t>
            </a:r>
            <a:r>
              <a:rPr lang="tr-TR" b="1" dirty="0" smtClean="0"/>
              <a:t>		 </a:t>
            </a:r>
            <a:r>
              <a:rPr lang="tr-TR" sz="3500" b="1" dirty="0" err="1" smtClean="0"/>
              <a:t>Riboz</a:t>
            </a:r>
            <a:endParaRPr lang="tr-TR" sz="3500" b="1" dirty="0" smtClean="0"/>
          </a:p>
          <a:p>
            <a:pPr>
              <a:buNone/>
            </a:pPr>
            <a:endParaRPr lang="tr-TR" b="1" dirty="0" smtClean="0"/>
          </a:p>
          <a:p>
            <a:pPr lvl="1"/>
            <a:endParaRPr lang="tr-TR" dirty="0" smtClean="0"/>
          </a:p>
          <a:p>
            <a:pPr lvl="1"/>
            <a:endParaRPr lang="tr-TR" dirty="0" smtClean="0"/>
          </a:p>
          <a:p>
            <a:pPr lvl="1"/>
            <a:r>
              <a:rPr lang="tr-TR" b="1" dirty="0" err="1" smtClean="0"/>
              <a:t>Deoksiriboz</a:t>
            </a:r>
            <a:r>
              <a:rPr lang="tr-TR" b="1" dirty="0" smtClean="0"/>
              <a:t> şekerinde </a:t>
            </a:r>
            <a:r>
              <a:rPr lang="tr-TR" b="1" dirty="0" err="1" smtClean="0"/>
              <a:t>riboz</a:t>
            </a:r>
            <a:r>
              <a:rPr lang="tr-TR" b="1" dirty="0" smtClean="0"/>
              <a:t> şekerine göre 1 oksijen atomu eksiktir</a:t>
            </a:r>
          </a:p>
          <a:p>
            <a:endParaRPr lang="tr-TR" b="1" dirty="0" smtClean="0"/>
          </a:p>
          <a:p>
            <a:endParaRPr lang="tr-TR" dirty="0"/>
          </a:p>
        </p:txBody>
      </p:sp>
      <p:sp>
        <p:nvSpPr>
          <p:cNvPr id="4" name="3 Sağ Ok"/>
          <p:cNvSpPr/>
          <p:nvPr/>
        </p:nvSpPr>
        <p:spPr>
          <a:xfrm>
            <a:off x="1835696" y="234888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4 Sağ Ok"/>
          <p:cNvSpPr/>
          <p:nvPr/>
        </p:nvSpPr>
        <p:spPr>
          <a:xfrm>
            <a:off x="1979712" y="364502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DNA ile RNA karşılaştırılması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sz="3600" b="1" dirty="0" smtClean="0">
                <a:solidFill>
                  <a:schemeClr val="tx2"/>
                </a:solidFill>
              </a:rPr>
              <a:t>İPLİK ŞEKLİ AÇISINDAN</a:t>
            </a:r>
            <a:endParaRPr lang="tr-TR" sz="36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dirty="0" smtClean="0"/>
              <a:t>		</a:t>
            </a:r>
          </a:p>
          <a:p>
            <a:pPr>
              <a:buNone/>
            </a:pPr>
            <a:r>
              <a:rPr lang="tr-TR" dirty="0" smtClean="0"/>
              <a:t>	</a:t>
            </a:r>
            <a:r>
              <a:rPr lang="tr-TR" b="1" dirty="0" smtClean="0"/>
              <a:t>	</a:t>
            </a:r>
            <a:r>
              <a:rPr lang="tr-TR" b="1" dirty="0" smtClean="0">
                <a:solidFill>
                  <a:srgbClr val="7030A0"/>
                </a:solidFill>
              </a:rPr>
              <a:t>DNA</a:t>
            </a:r>
          </a:p>
          <a:p>
            <a:r>
              <a:rPr lang="tr-TR" b="1" dirty="0" smtClean="0"/>
              <a:t>Çift iplikli sarmal yapı</a:t>
            </a:r>
          </a:p>
          <a:p>
            <a:endParaRPr lang="tr-TR" b="1" dirty="0" smtClean="0"/>
          </a:p>
          <a:p>
            <a:pPr>
              <a:buNone/>
            </a:pPr>
            <a:r>
              <a:rPr lang="tr-TR" b="1" dirty="0" smtClean="0"/>
              <a:t>		</a:t>
            </a:r>
            <a:r>
              <a:rPr lang="tr-TR" b="1" dirty="0" smtClean="0">
                <a:solidFill>
                  <a:srgbClr val="7030A0"/>
                </a:solidFill>
              </a:rPr>
              <a:t>RNA</a:t>
            </a:r>
          </a:p>
          <a:p>
            <a:r>
              <a:rPr lang="tr-TR" b="1" dirty="0" smtClean="0"/>
              <a:t>Tek iplikli düz yapı</a:t>
            </a:r>
            <a:endParaRPr lang="tr-TR" b="1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DNA ile RNA karşılaştırılması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sz="3600" b="1" dirty="0" smtClean="0">
                <a:solidFill>
                  <a:schemeClr val="tx2"/>
                </a:solidFill>
              </a:rPr>
              <a:t>HÜCREDE BULUNDUĞU YER AÇISINDAN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tr-TR" dirty="0" smtClean="0"/>
              <a:t>		</a:t>
            </a:r>
          </a:p>
          <a:p>
            <a:pPr>
              <a:buNone/>
            </a:pPr>
            <a:r>
              <a:rPr lang="tr-TR" b="1" dirty="0" smtClean="0"/>
              <a:t>		</a:t>
            </a:r>
            <a:r>
              <a:rPr lang="tr-TR" b="1" dirty="0" smtClean="0">
                <a:solidFill>
                  <a:srgbClr val="7030A0"/>
                </a:solidFill>
              </a:rPr>
              <a:t>DNA</a:t>
            </a:r>
          </a:p>
          <a:p>
            <a:r>
              <a:rPr lang="tr-TR" b="1" dirty="0" smtClean="0"/>
              <a:t>Çekirdek</a:t>
            </a:r>
          </a:p>
          <a:p>
            <a:r>
              <a:rPr lang="tr-TR" b="1" dirty="0" err="1" smtClean="0"/>
              <a:t>Mitekondri</a:t>
            </a:r>
            <a:endParaRPr lang="tr-TR" b="1" dirty="0" smtClean="0"/>
          </a:p>
          <a:p>
            <a:r>
              <a:rPr lang="tr-TR" b="1" dirty="0" smtClean="0"/>
              <a:t>Kloroplast</a:t>
            </a:r>
          </a:p>
          <a:p>
            <a:pPr>
              <a:buNone/>
            </a:pPr>
            <a:endParaRPr lang="tr-TR" b="1" dirty="0" smtClean="0"/>
          </a:p>
          <a:p>
            <a:pPr>
              <a:buNone/>
            </a:pPr>
            <a:r>
              <a:rPr lang="tr-TR" b="1" dirty="0" smtClean="0"/>
              <a:t>		</a:t>
            </a:r>
            <a:r>
              <a:rPr lang="tr-TR" b="1" dirty="0" smtClean="0">
                <a:solidFill>
                  <a:srgbClr val="7030A0"/>
                </a:solidFill>
              </a:rPr>
              <a:t>RNA</a:t>
            </a:r>
          </a:p>
          <a:p>
            <a:r>
              <a:rPr lang="tr-TR" b="1" dirty="0" smtClean="0"/>
              <a:t>Çekirdek özellikle Çekirdekçik</a:t>
            </a:r>
          </a:p>
          <a:p>
            <a:r>
              <a:rPr lang="tr-TR" b="1" dirty="0" smtClean="0"/>
              <a:t>Sitoplazma</a:t>
            </a:r>
          </a:p>
          <a:p>
            <a:r>
              <a:rPr lang="tr-TR" b="1" dirty="0" smtClean="0"/>
              <a:t>Ribozom</a:t>
            </a:r>
            <a:endParaRPr lang="tr-TR" b="1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NA vs RNA vektör illüstrasyon. Eğitsel genetik asit açıklama şeması - Royalty-free DNA Vector Ar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332656"/>
            <a:ext cx="8280920" cy="59766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C:\Users\user\Desktop\kirmizi-kokulu-gul-fidani-alara-1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332656"/>
            <a:ext cx="5948362" cy="5905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2098</TotalTime>
  <Words>369</Words>
  <Application>Microsoft Office PowerPoint</Application>
  <PresentationFormat>Ekran Gösterisi (4:3)</PresentationFormat>
  <Paragraphs>228</Paragraphs>
  <Slides>46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46</vt:i4>
      </vt:variant>
    </vt:vector>
  </HeadingPairs>
  <TitlesOfParts>
    <vt:vector size="47" baseType="lpstr">
      <vt:lpstr>Ofis Teması</vt:lpstr>
      <vt:lpstr>Slayt 1</vt:lpstr>
      <vt:lpstr>DNA’NIN YAPISI -1953</vt:lpstr>
      <vt:lpstr>Slayt 3</vt:lpstr>
      <vt:lpstr>Slayt 4</vt:lpstr>
      <vt:lpstr>Slayt 5</vt:lpstr>
      <vt:lpstr>Slayt 6</vt:lpstr>
      <vt:lpstr>Slayt 7</vt:lpstr>
      <vt:lpstr>Slayt 8</vt:lpstr>
      <vt:lpstr>KROMOZOM NEDİR? </vt:lpstr>
      <vt:lpstr>Slayt 10</vt:lpstr>
      <vt:lpstr>Slayt 11</vt:lpstr>
      <vt:lpstr>Slayt 12</vt:lpstr>
      <vt:lpstr>Slayt 13</vt:lpstr>
      <vt:lpstr>Slayt 14</vt:lpstr>
      <vt:lpstr>Slayt 15</vt:lpstr>
      <vt:lpstr>Slayt 16</vt:lpstr>
      <vt:lpstr>Slayt 17</vt:lpstr>
      <vt:lpstr>Slayt 18</vt:lpstr>
      <vt:lpstr>Slayt 19</vt:lpstr>
      <vt:lpstr>Slayt 20</vt:lpstr>
      <vt:lpstr>Binlerce nükleotit bir araya gelerek Nükleik asit’i meydana getirir</vt:lpstr>
      <vt:lpstr>Slayt 22</vt:lpstr>
      <vt:lpstr>Slayt 23</vt:lpstr>
      <vt:lpstr>Slayt 24</vt:lpstr>
      <vt:lpstr>5 Karbonlu şekerler Kapalı formülleri C₅H₁ₒO₅ Riboz ve Deoksiriboz</vt:lpstr>
      <vt:lpstr>  </vt:lpstr>
      <vt:lpstr>Slayt 27</vt:lpstr>
      <vt:lpstr>Slayt 28</vt:lpstr>
      <vt:lpstr>Slayt 29</vt:lpstr>
      <vt:lpstr>  </vt:lpstr>
      <vt:lpstr>Slayt 31</vt:lpstr>
      <vt:lpstr>Slayt 32</vt:lpstr>
      <vt:lpstr>Slayt 33</vt:lpstr>
      <vt:lpstr>Slayt 34</vt:lpstr>
      <vt:lpstr>Slayt 35</vt:lpstr>
      <vt:lpstr>  </vt:lpstr>
      <vt:lpstr>Slayt 37</vt:lpstr>
      <vt:lpstr>Slayt 38</vt:lpstr>
      <vt:lpstr>DNA ile RNA karşılaştırılması HÜCREDEKİ GÖREVİ AÇISINDAN</vt:lpstr>
      <vt:lpstr>DNA ile RNA karşılaştırılması YAPISINDAKİ BAZLAR AÇISINDAN</vt:lpstr>
      <vt:lpstr>Slayt 41</vt:lpstr>
      <vt:lpstr>DNA ile RNA karşılaştırılması YAPISINDAKİ  5 KARBONLU ŞEKER AÇISINDAN</vt:lpstr>
      <vt:lpstr>DNA ile RNA karşılaştırılması İPLİK ŞEKLİ AÇISINDAN</vt:lpstr>
      <vt:lpstr>DNA ile RNA karşılaştırılması HÜCREDE BULUNDUĞU YER AÇISINDAN</vt:lpstr>
      <vt:lpstr>Slayt 45</vt:lpstr>
      <vt:lpstr>Slayt 46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3.HAFTA BAKTERİ GENETİĞİ </dc:title>
  <dc:creator>Pc</dc:creator>
  <cp:lastModifiedBy>tijen</cp:lastModifiedBy>
  <cp:revision>342</cp:revision>
  <dcterms:created xsi:type="dcterms:W3CDTF">2014-10-07T19:53:38Z</dcterms:created>
  <dcterms:modified xsi:type="dcterms:W3CDTF">2026-08-19T08:37:35Z</dcterms:modified>
</cp:coreProperties>
</file>