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11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121"/>
  </p:notesMasterIdLst>
  <p:sldIdLst>
    <p:sldId id="765" r:id="rId2"/>
    <p:sldId id="771" r:id="rId3"/>
    <p:sldId id="768" r:id="rId4"/>
    <p:sldId id="769" r:id="rId5"/>
    <p:sldId id="799" r:id="rId6"/>
    <p:sldId id="272" r:id="rId7"/>
    <p:sldId id="472" r:id="rId8"/>
    <p:sldId id="412" r:id="rId9"/>
    <p:sldId id="414" r:id="rId10"/>
    <p:sldId id="415" r:id="rId11"/>
    <p:sldId id="418" r:id="rId12"/>
    <p:sldId id="600" r:id="rId13"/>
    <p:sldId id="419" r:id="rId14"/>
    <p:sldId id="420" r:id="rId15"/>
    <p:sldId id="423" r:id="rId16"/>
    <p:sldId id="803" r:id="rId17"/>
    <p:sldId id="554" r:id="rId18"/>
    <p:sldId id="551" r:id="rId19"/>
    <p:sldId id="425" r:id="rId20"/>
    <p:sldId id="405" r:id="rId21"/>
    <p:sldId id="403" r:id="rId22"/>
    <p:sldId id="429" r:id="rId23"/>
    <p:sldId id="430" r:id="rId24"/>
    <p:sldId id="801" r:id="rId25"/>
    <p:sldId id="433" r:id="rId26"/>
    <p:sldId id="434" r:id="rId27"/>
    <p:sldId id="435" r:id="rId28"/>
    <p:sldId id="436" r:id="rId29"/>
    <p:sldId id="438" r:id="rId30"/>
    <p:sldId id="439" r:id="rId31"/>
    <p:sldId id="441" r:id="rId32"/>
    <p:sldId id="442" r:id="rId33"/>
    <p:sldId id="444" r:id="rId34"/>
    <p:sldId id="445" r:id="rId35"/>
    <p:sldId id="601" r:id="rId36"/>
    <p:sldId id="588" r:id="rId37"/>
    <p:sldId id="586" r:id="rId38"/>
    <p:sldId id="585" r:id="rId39"/>
    <p:sldId id="587" r:id="rId40"/>
    <p:sldId id="581" r:id="rId41"/>
    <p:sldId id="677" r:id="rId42"/>
    <p:sldId id="679" r:id="rId43"/>
    <p:sldId id="757" r:id="rId44"/>
    <p:sldId id="758" r:id="rId45"/>
    <p:sldId id="759" r:id="rId46"/>
    <p:sldId id="760" r:id="rId47"/>
    <p:sldId id="763" r:id="rId48"/>
    <p:sldId id="294" r:id="rId49"/>
    <p:sldId id="295" r:id="rId50"/>
    <p:sldId id="296" r:id="rId51"/>
    <p:sldId id="713" r:id="rId52"/>
    <p:sldId id="297" r:id="rId53"/>
    <p:sldId id="298" r:id="rId54"/>
    <p:sldId id="299" r:id="rId55"/>
    <p:sldId id="686" r:id="rId56"/>
    <p:sldId id="687" r:id="rId57"/>
    <p:sldId id="300" r:id="rId58"/>
    <p:sldId id="303" r:id="rId59"/>
    <p:sldId id="685" r:id="rId60"/>
    <p:sldId id="725" r:id="rId61"/>
    <p:sldId id="726" r:id="rId62"/>
    <p:sldId id="727" r:id="rId63"/>
    <p:sldId id="729" r:id="rId64"/>
    <p:sldId id="607" r:id="rId65"/>
    <p:sldId id="651" r:id="rId66"/>
    <p:sldId id="608" r:id="rId67"/>
    <p:sldId id="653" r:id="rId68"/>
    <p:sldId id="467" r:id="rId69"/>
    <p:sldId id="463" r:id="rId70"/>
    <p:sldId id="715" r:id="rId71"/>
    <p:sldId id="469" r:id="rId72"/>
    <p:sldId id="462" r:id="rId73"/>
    <p:sldId id="475" r:id="rId74"/>
    <p:sldId id="710" r:id="rId75"/>
    <p:sldId id="476" r:id="rId76"/>
    <p:sldId id="716" r:id="rId77"/>
    <p:sldId id="390" r:id="rId78"/>
    <p:sldId id="508" r:id="rId79"/>
    <p:sldId id="717" r:id="rId80"/>
    <p:sldId id="718" r:id="rId81"/>
    <p:sldId id="711" r:id="rId82"/>
    <p:sldId id="707" r:id="rId83"/>
    <p:sldId id="708" r:id="rId84"/>
    <p:sldId id="614" r:id="rId85"/>
    <p:sldId id="483" r:id="rId86"/>
    <p:sldId id="644" r:id="rId87"/>
    <p:sldId id="646" r:id="rId88"/>
    <p:sldId id="750" r:id="rId89"/>
    <p:sldId id="751" r:id="rId90"/>
    <p:sldId id="648" r:id="rId91"/>
    <p:sldId id="493" r:id="rId92"/>
    <p:sldId id="667" r:id="rId93"/>
    <p:sldId id="755" r:id="rId94"/>
    <p:sldId id="494" r:id="rId95"/>
    <p:sldId id="495" r:id="rId96"/>
    <p:sldId id="498" r:id="rId97"/>
    <p:sldId id="528" r:id="rId98"/>
    <p:sldId id="532" r:id="rId99"/>
    <p:sldId id="541" r:id="rId100"/>
    <p:sldId id="501" r:id="rId101"/>
    <p:sldId id="748" r:id="rId102"/>
    <p:sldId id="523" r:id="rId103"/>
    <p:sldId id="524" r:id="rId104"/>
    <p:sldId id="544" r:id="rId105"/>
    <p:sldId id="546" r:id="rId106"/>
    <p:sldId id="737" r:id="rId107"/>
    <p:sldId id="739" r:id="rId108"/>
    <p:sldId id="721" r:id="rId109"/>
    <p:sldId id="740" r:id="rId110"/>
    <p:sldId id="566" r:id="rId111"/>
    <p:sldId id="741" r:id="rId112"/>
    <p:sldId id="731" r:id="rId113"/>
    <p:sldId id="732" r:id="rId114"/>
    <p:sldId id="733" r:id="rId115"/>
    <p:sldId id="734" r:id="rId116"/>
    <p:sldId id="735" r:id="rId117"/>
    <p:sldId id="736" r:id="rId118"/>
    <p:sldId id="543" r:id="rId119"/>
    <p:sldId id="691" r:id="rId120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>
        <p:scale>
          <a:sx n="66" d="100"/>
          <a:sy n="66" d="100"/>
        </p:scale>
        <p:origin x="-1248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63EFF-B0D8-4D9D-9F57-A9BA7BF67E38}" type="datetimeFigureOut">
              <a:rPr lang="tr-TR" smtClean="0"/>
              <a:pPr/>
              <a:t>20.08.2026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18D18-8418-41B0-9640-0867CA149318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C93440-3357-497B-B023-2F5C8F9C7136}" type="slidenum">
              <a:rPr lang="tr-TR" smtClean="0"/>
              <a:pPr/>
              <a:t>20</a:t>
            </a:fld>
            <a:endParaRPr lang="tr-TR" smtClean="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43651E-E5E2-4E9D-8437-8C58C2DA7194}" type="slidenum">
              <a:rPr lang="tr-TR" smtClean="0"/>
              <a:pPr/>
              <a:t>21</a:t>
            </a:fld>
            <a:endParaRPr lang="tr-TR" smtClean="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628364-1F2E-4F78-8E29-8875A46E2DF7}" type="slidenum">
              <a:rPr lang="tr-TR" smtClean="0"/>
              <a:pPr/>
              <a:t>60</a:t>
            </a:fld>
            <a:endParaRPr lang="tr-TR" smtClean="0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A8AC97-1FD4-4F85-940A-4FCBEE6D6DCE}" type="slidenum">
              <a:rPr lang="tr-TR" smtClean="0"/>
              <a:pPr/>
              <a:t>61</a:t>
            </a:fld>
            <a:endParaRPr lang="tr-TR" smtClean="0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B78F33-BDE8-407E-9E7B-05F3522C8DB4}" type="slidenum">
              <a:rPr lang="tr-TR" smtClean="0"/>
              <a:pPr/>
              <a:t>62</a:t>
            </a:fld>
            <a:endParaRPr lang="tr-TR" smtClean="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2B205E-710B-416D-B409-B90A84666916}" type="slidenum">
              <a:rPr lang="tr-TR" smtClean="0"/>
              <a:pPr/>
              <a:t>63</a:t>
            </a:fld>
            <a:endParaRPr lang="tr-TR" smtClean="0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1C70B-D23A-46B6-8D7D-358D0B40F0F8}" type="datetimeFigureOut">
              <a:rPr lang="tr-TR" smtClean="0"/>
              <a:pPr/>
              <a:t>20.08.2026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848C-61E0-4DF2-B3D0-4C31DC5685F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1C70B-D23A-46B6-8D7D-358D0B40F0F8}" type="datetimeFigureOut">
              <a:rPr lang="tr-TR" smtClean="0"/>
              <a:pPr/>
              <a:t>20.08.2026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848C-61E0-4DF2-B3D0-4C31DC5685F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1C70B-D23A-46B6-8D7D-358D0B40F0F8}" type="datetimeFigureOut">
              <a:rPr lang="tr-TR" smtClean="0"/>
              <a:pPr/>
              <a:t>20.08.2026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848C-61E0-4DF2-B3D0-4C31DC5685F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1C70B-D23A-46B6-8D7D-358D0B40F0F8}" type="datetimeFigureOut">
              <a:rPr lang="tr-TR" smtClean="0"/>
              <a:pPr/>
              <a:t>20.08.2026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848C-61E0-4DF2-B3D0-4C31DC5685F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1C70B-D23A-46B6-8D7D-358D0B40F0F8}" type="datetimeFigureOut">
              <a:rPr lang="tr-TR" smtClean="0"/>
              <a:pPr/>
              <a:t>20.08.2026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848C-61E0-4DF2-B3D0-4C31DC5685F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1C70B-D23A-46B6-8D7D-358D0B40F0F8}" type="datetimeFigureOut">
              <a:rPr lang="tr-TR" smtClean="0"/>
              <a:pPr/>
              <a:t>20.08.2026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848C-61E0-4DF2-B3D0-4C31DC5685F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1C70B-D23A-46B6-8D7D-358D0B40F0F8}" type="datetimeFigureOut">
              <a:rPr lang="tr-TR" smtClean="0"/>
              <a:pPr/>
              <a:t>20.08.2026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848C-61E0-4DF2-B3D0-4C31DC5685F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1C70B-D23A-46B6-8D7D-358D0B40F0F8}" type="datetimeFigureOut">
              <a:rPr lang="tr-TR" smtClean="0"/>
              <a:pPr/>
              <a:t>20.08.2026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848C-61E0-4DF2-B3D0-4C31DC5685F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1C70B-D23A-46B6-8D7D-358D0B40F0F8}" type="datetimeFigureOut">
              <a:rPr lang="tr-TR" smtClean="0"/>
              <a:pPr/>
              <a:t>20.08.2026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848C-61E0-4DF2-B3D0-4C31DC5685F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1C70B-D23A-46B6-8D7D-358D0B40F0F8}" type="datetimeFigureOut">
              <a:rPr lang="tr-TR" smtClean="0"/>
              <a:pPr/>
              <a:t>20.08.2026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848C-61E0-4DF2-B3D0-4C31DC5685F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1C70B-D23A-46B6-8D7D-358D0B40F0F8}" type="datetimeFigureOut">
              <a:rPr lang="tr-TR" smtClean="0"/>
              <a:pPr/>
              <a:t>20.08.2026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848C-61E0-4DF2-B3D0-4C31DC5685F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1C70B-D23A-46B6-8D7D-358D0B40F0F8}" type="datetimeFigureOut">
              <a:rPr lang="tr-TR" smtClean="0"/>
              <a:pPr/>
              <a:t>20.08.2026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7848C-61E0-4DF2-B3D0-4C31DC5685F4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7.png"/><Relationship Id="rId4" Type="http://schemas.openxmlformats.org/officeDocument/2006/relationships/oleObject" Target="../embeddings/oleObject1.bin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sz="4900" b="1" dirty="0" smtClean="0">
                <a:solidFill>
                  <a:srgbClr val="FF0000"/>
                </a:solidFill>
              </a:rPr>
              <a:t>STERİLİZASYON NEDİR?</a:t>
            </a:r>
            <a:br>
              <a:rPr lang="tr-TR" sz="4900" b="1" dirty="0" smtClean="0">
                <a:solidFill>
                  <a:srgbClr val="FF0000"/>
                </a:solidFill>
              </a:rPr>
            </a:br>
            <a:endParaRPr lang="tr-TR" sz="49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/>
          </a:bodyPr>
          <a:lstStyle/>
          <a:p>
            <a:r>
              <a:rPr lang="tr-TR" b="1" dirty="0" smtClean="0"/>
              <a:t>Bir maddenin üzerinde veya içinde bulunan tüm mikroorganizmaların </a:t>
            </a:r>
            <a:r>
              <a:rPr lang="tr-TR" b="1" dirty="0" err="1" smtClean="0"/>
              <a:t>vejetatif</a:t>
            </a:r>
            <a:r>
              <a:rPr lang="tr-TR" b="1" dirty="0" smtClean="0"/>
              <a:t> ve spor şekillerinden arındırılma işlemine sterilizasyon denir</a:t>
            </a:r>
          </a:p>
          <a:p>
            <a:endParaRPr lang="tr-TR" b="1" dirty="0" smtClean="0"/>
          </a:p>
          <a:p>
            <a:pPr algn="ctr">
              <a:buNone/>
            </a:pPr>
            <a:r>
              <a:rPr lang="tr-TR" sz="2800" b="1" dirty="0" smtClean="0">
                <a:solidFill>
                  <a:srgbClr val="7030A0"/>
                </a:solidFill>
              </a:rPr>
              <a:t>STERİLİZASYON İÇİN HERHANGİ  BİR DERECELENDİRME SÖZ  KONUSU DEĞİLDİR!</a:t>
            </a:r>
          </a:p>
          <a:p>
            <a:pPr algn="ctr">
              <a:buNone/>
            </a:pPr>
            <a:endParaRPr lang="tr-TR" sz="2800" b="1" dirty="0" smtClean="0"/>
          </a:p>
          <a:p>
            <a:pPr algn="ctr">
              <a:buNone/>
            </a:pP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Bu işlem sonrasında hastalık yapan ve yapmayan tüm mikroorganizmalar sporlar dahil öldürülmektedir</a:t>
            </a:r>
          </a:p>
          <a:p>
            <a:pPr algn="ctr">
              <a:buNone/>
            </a:pPr>
            <a:endParaRPr lang="tr-TR" sz="2800" b="1" dirty="0" smtClean="0">
              <a:solidFill>
                <a:srgbClr val="7030A0"/>
              </a:solidFill>
            </a:endParaRPr>
          </a:p>
          <a:p>
            <a:pPr>
              <a:buNone/>
            </a:pPr>
            <a:endParaRPr lang="tr-TR" b="1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7030A0"/>
                </a:solidFill>
              </a:rPr>
              <a:t>STERİLİZASYON DEYİNCE NE ANLAMAMIZ GEREKİYOR?</a:t>
            </a:r>
            <a:endParaRPr lang="tr-TR" b="1" dirty="0">
              <a:solidFill>
                <a:srgbClr val="7030A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sz="2800" b="1" dirty="0" smtClean="0"/>
              <a:t>Herhangi bir maddenin veya cismin birlikte bulunduğu tüm mikroorganizmaların </a:t>
            </a:r>
            <a:r>
              <a:rPr lang="tr-TR" sz="2800" b="1" dirty="0" smtClean="0">
                <a:solidFill>
                  <a:srgbClr val="FF0000"/>
                </a:solidFill>
              </a:rPr>
              <a:t>her türlü canlı ve aktif şekillerinden</a:t>
            </a:r>
            <a:r>
              <a:rPr lang="tr-TR" sz="2800" b="1" dirty="0" smtClean="0"/>
              <a:t> temizlenmesi anlaşılır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Bu işlem ile bakteriler ,virüsler ve mantarlar elimine edilir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STERİL EDİLEN MALZEMEDE </a:t>
            </a:r>
            <a:r>
              <a:rPr lang="tr-TR" sz="2800" b="1" dirty="0" smtClean="0">
                <a:solidFill>
                  <a:srgbClr val="FF0000"/>
                </a:solidFill>
              </a:rPr>
              <a:t>HİÇBİR</a:t>
            </a:r>
            <a:r>
              <a:rPr lang="tr-TR" sz="2800" b="1" dirty="0" smtClean="0"/>
              <a:t> CANLI MİKROORGANİZMA KALMAMALIDIR</a:t>
            </a:r>
            <a:br>
              <a:rPr lang="tr-TR" sz="2800" b="1" dirty="0" smtClean="0"/>
            </a:br>
            <a:endParaRPr lang="tr-TR" sz="2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332656"/>
            <a:ext cx="8568952" cy="619268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   </a:t>
            </a:r>
            <a:r>
              <a:rPr lang="tr-TR" sz="3600" b="1" dirty="0" smtClean="0">
                <a:solidFill>
                  <a:srgbClr val="FF0000"/>
                </a:solidFill>
              </a:rPr>
              <a:t>STERİLİTE GÜVENCE DÜZEYİ (SGD)                           </a:t>
            </a:r>
            <a:r>
              <a:rPr lang="tr-TR" sz="2800" b="1" dirty="0" smtClean="0"/>
              <a:t>Bir malzemenin steril kabul edilebilmesi için malzemelerdeki canlı mikroorganizma kalma olasılığının teorik olarak 10⁻⁶ veya altında olabilmesi için gereken şartların sağlanması  </a:t>
            </a:r>
            <a:r>
              <a:rPr lang="tr-TR" sz="2800" b="1" dirty="0" err="1" smtClean="0"/>
              <a:t>Sterilite</a:t>
            </a:r>
            <a:r>
              <a:rPr lang="tr-TR" sz="2800" b="1" dirty="0" smtClean="0"/>
              <a:t> Güvence Düzeyi olarak tanımlanmaktadır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Yani sterilizasyonun sağlanamama olasılığının bir milyon işlemde birden daha az olmasıdır</a:t>
            </a:r>
            <a:r>
              <a:rPr lang="tr-TR" sz="2800" dirty="0" smtClean="0"/>
              <a:t/>
            </a:r>
            <a:br>
              <a:rPr lang="tr-TR" sz="2800" dirty="0" smtClean="0"/>
            </a:br>
            <a:endParaRPr lang="tr-TR" sz="2800" dirty="0" smtClean="0"/>
          </a:p>
          <a:p>
            <a:r>
              <a:rPr lang="tr-TR" sz="2800" b="1" dirty="0" smtClean="0">
                <a:solidFill>
                  <a:srgbClr val="0070C0"/>
                </a:solidFill>
              </a:rPr>
              <a:t>İşlem sonunda canlı mikroorganizma kalma ihtimali 10⁶ da 1’ </a:t>
            </a:r>
            <a:r>
              <a:rPr lang="tr-TR" sz="2800" b="1" dirty="0" err="1" smtClean="0">
                <a:solidFill>
                  <a:srgbClr val="0070C0"/>
                </a:solidFill>
              </a:rPr>
              <a:t>dir</a:t>
            </a:r>
            <a:r>
              <a:rPr lang="tr-TR" sz="2800" b="1" dirty="0" smtClean="0">
                <a:solidFill>
                  <a:srgbClr val="0070C0"/>
                </a:solidFill>
              </a:rPr>
              <a:t>.</a:t>
            </a:r>
          </a:p>
          <a:p>
            <a:r>
              <a:rPr lang="tr-TR" sz="2800" b="1" dirty="0" smtClean="0">
                <a:solidFill>
                  <a:srgbClr val="0070C0"/>
                </a:solidFill>
              </a:rPr>
              <a:t>(1/1.000.000)</a:t>
            </a:r>
          </a:p>
          <a:p>
            <a:pPr>
              <a:buNone/>
            </a:pPr>
            <a:r>
              <a:rPr lang="tr-TR" sz="2800" b="1" dirty="0" smtClean="0">
                <a:solidFill>
                  <a:srgbClr val="0070C0"/>
                </a:solidFill>
              </a:rPr>
              <a:t>					SAL (</a:t>
            </a:r>
            <a:r>
              <a:rPr lang="tr-TR" sz="2800" b="1" dirty="0" err="1" smtClean="0">
                <a:solidFill>
                  <a:srgbClr val="0070C0"/>
                </a:solidFill>
              </a:rPr>
              <a:t>Sterility</a:t>
            </a:r>
            <a:r>
              <a:rPr lang="tr-TR" sz="2800" b="1" dirty="0" smtClean="0">
                <a:solidFill>
                  <a:srgbClr val="0070C0"/>
                </a:solidFill>
              </a:rPr>
              <a:t> </a:t>
            </a:r>
            <a:r>
              <a:rPr lang="tr-TR" sz="2800" b="1" dirty="0" err="1" smtClean="0">
                <a:solidFill>
                  <a:srgbClr val="0070C0"/>
                </a:solidFill>
              </a:rPr>
              <a:t>Assurance</a:t>
            </a:r>
            <a:r>
              <a:rPr lang="tr-TR" sz="2800" b="1" dirty="0" smtClean="0">
                <a:solidFill>
                  <a:srgbClr val="0070C0"/>
                </a:solidFill>
              </a:rPr>
              <a:t> </a:t>
            </a:r>
            <a:r>
              <a:rPr lang="tr-TR" sz="2800" b="1" dirty="0" err="1" smtClean="0">
                <a:solidFill>
                  <a:srgbClr val="0070C0"/>
                </a:solidFill>
              </a:rPr>
              <a:t>Level</a:t>
            </a:r>
            <a:r>
              <a:rPr lang="tr-TR" sz="2800" b="1" dirty="0" smtClean="0">
                <a:solidFill>
                  <a:srgbClr val="0070C0"/>
                </a:solidFill>
              </a:rPr>
              <a:t>)</a:t>
            </a:r>
            <a:endParaRPr lang="tr-TR" sz="28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STERİLİTE GÜVENCE DÜZEYİ: </a:t>
            </a:r>
            <a:r>
              <a:rPr lang="tr-TR" sz="4000" b="1" dirty="0" smtClean="0"/>
              <a:t>(SGD)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Ortamda bulunan mikroorganizma sayısını    1 milyon santimetreküpte 1 bakteri hücresi seviyesine indirmek olarak tasvir edilmiştir 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Başka bir deyiş ile sterilizasyon sonunda mikroorganizma sayısını milyonda birine düşürmektir</a:t>
            </a:r>
            <a:endParaRPr lang="tr-TR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DEZENFEKSİYON  NEDİR?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sz="2800" b="1" dirty="0" smtClean="0"/>
              <a:t>İnsanlarda hastalık yapma özelliği olan Mikroorganizmaların cansız maddeler üzerinden uzaklaştırma işlemidir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7030A0"/>
                </a:solidFill>
              </a:rPr>
              <a:t>Cansız maddeler ve yüzeyler üzerinde bulunan mikroorganizmaların (bakteri sporları hariç) yok edilmesi veya üremelerinin durdurulması işlemidir</a:t>
            </a:r>
          </a:p>
          <a:p>
            <a:pPr>
              <a:buNone/>
            </a:pPr>
            <a:endParaRPr lang="tr-TR" sz="2800" dirty="0" smtClean="0"/>
          </a:p>
          <a:p>
            <a:r>
              <a:rPr lang="tr-TR" sz="2800" b="1" dirty="0" smtClean="0">
                <a:cs typeface="Times New Roman" pitchFamily="18" charset="0"/>
              </a:rPr>
              <a:t>Dezenfeksiyon cansız ortamlar, eşya ve aletler üzerinde uygulanan bir işlemdir</a:t>
            </a:r>
          </a:p>
          <a:p>
            <a:endParaRPr lang="tr-TR" sz="2800" b="1" dirty="0" smtClean="0"/>
          </a:p>
          <a:p>
            <a:endParaRPr lang="tr-TR" sz="28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23528" y="332656"/>
            <a:ext cx="8424936" cy="61926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tr-TR" sz="4000" b="1" dirty="0" smtClean="0">
                <a:solidFill>
                  <a:srgbClr val="FF0000"/>
                </a:solidFill>
              </a:rPr>
              <a:t>			 DEZENFEKSİYON İŞLEMİ</a:t>
            </a:r>
            <a:endParaRPr lang="tr-TR" sz="4000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tr-TR" sz="2800" b="1" dirty="0" smtClean="0">
              <a:solidFill>
                <a:srgbClr val="C00000"/>
              </a:solidFill>
            </a:endParaRPr>
          </a:p>
          <a:p>
            <a:r>
              <a:rPr lang="tr-TR" sz="2800" b="1" dirty="0" smtClean="0">
                <a:solidFill>
                  <a:srgbClr val="C00000"/>
                </a:solidFill>
              </a:rPr>
              <a:t>YÜKSEK DÜZEYDE DEZENFEKSİYON:</a:t>
            </a:r>
            <a:r>
              <a:rPr lang="tr-TR" sz="2800" b="1" dirty="0" smtClean="0"/>
              <a:t>Bakteri </a:t>
            </a:r>
            <a:r>
              <a:rPr lang="tr-TR" sz="2800" b="1" dirty="0"/>
              <a:t>sporları hariç tüm bakterilerin </a:t>
            </a:r>
            <a:r>
              <a:rPr lang="tr-TR" sz="2800" b="1" dirty="0" smtClean="0"/>
              <a:t>öldürülmesi şeklidir</a:t>
            </a:r>
            <a:endParaRPr lang="tr-TR" sz="2800" b="1" dirty="0"/>
          </a:p>
          <a:p>
            <a:r>
              <a:rPr lang="tr-TR" sz="2800" b="1" dirty="0" smtClean="0">
                <a:solidFill>
                  <a:srgbClr val="7030A0"/>
                </a:solidFill>
              </a:rPr>
              <a:t>ORTA DÜZEYDE DEZENFEKSİYON:</a:t>
            </a:r>
            <a:r>
              <a:rPr lang="tr-TR" sz="2800" dirty="0" smtClean="0">
                <a:solidFill>
                  <a:srgbClr val="7030A0"/>
                </a:solidFill>
              </a:rPr>
              <a:t> </a:t>
            </a:r>
            <a:r>
              <a:rPr lang="tr-TR" sz="2800" b="1" dirty="0" smtClean="0">
                <a:solidFill>
                  <a:srgbClr val="7030A0"/>
                </a:solidFill>
              </a:rPr>
              <a:t>Bakteri sporlarına etki göstermeyen fakat </a:t>
            </a:r>
            <a:r>
              <a:rPr lang="tr-TR" sz="2800" b="1" dirty="0" err="1" smtClean="0">
                <a:solidFill>
                  <a:srgbClr val="7030A0"/>
                </a:solidFill>
              </a:rPr>
              <a:t>mikobakterilere</a:t>
            </a:r>
            <a:r>
              <a:rPr lang="tr-TR" sz="2800" b="1" dirty="0" smtClean="0">
                <a:solidFill>
                  <a:srgbClr val="7030A0"/>
                </a:solidFill>
              </a:rPr>
              <a:t> etkili olabilen, diğer mikroorganizmaları </a:t>
            </a:r>
            <a:r>
              <a:rPr lang="tr-TR" sz="2800" b="1" dirty="0" err="1" smtClean="0">
                <a:solidFill>
                  <a:srgbClr val="7030A0"/>
                </a:solidFill>
              </a:rPr>
              <a:t>inaktive</a:t>
            </a:r>
            <a:r>
              <a:rPr lang="tr-TR" sz="2800" b="1" dirty="0" smtClean="0">
                <a:solidFill>
                  <a:srgbClr val="7030A0"/>
                </a:solidFill>
              </a:rPr>
              <a:t> eden dezenfeksiyon şeklidir</a:t>
            </a:r>
            <a:endParaRPr lang="tr-TR" sz="2800" b="1" dirty="0">
              <a:solidFill>
                <a:srgbClr val="7030A0"/>
              </a:solidFill>
            </a:endParaRPr>
          </a:p>
          <a:p>
            <a:r>
              <a:rPr lang="tr-TR" sz="2800" b="1" dirty="0" smtClean="0">
                <a:solidFill>
                  <a:srgbClr val="00B050"/>
                </a:solidFill>
              </a:rPr>
              <a:t>DÜŞÜK DÜZEYDE DEZENFEKSİYON:Bakteri sporu, </a:t>
            </a:r>
            <a:r>
              <a:rPr lang="tr-TR" sz="2800" b="1" dirty="0" err="1" smtClean="0">
                <a:solidFill>
                  <a:srgbClr val="00B050"/>
                </a:solidFill>
              </a:rPr>
              <a:t>mikobakteri</a:t>
            </a:r>
            <a:r>
              <a:rPr lang="tr-TR" sz="2800" b="1" dirty="0" smtClean="0">
                <a:solidFill>
                  <a:srgbClr val="00B050"/>
                </a:solidFill>
              </a:rPr>
              <a:t> ve zarfsız virüslere etkisiz olan, ancak bir kısım </a:t>
            </a:r>
            <a:r>
              <a:rPr lang="tr-TR" sz="2800" b="1" dirty="0" err="1" smtClean="0">
                <a:solidFill>
                  <a:srgbClr val="00B050"/>
                </a:solidFill>
              </a:rPr>
              <a:t>vejetatif</a:t>
            </a:r>
            <a:r>
              <a:rPr lang="tr-TR" sz="2800" b="1" dirty="0" smtClean="0">
                <a:solidFill>
                  <a:srgbClr val="00B050"/>
                </a:solidFill>
              </a:rPr>
              <a:t> mikroorganizmalar ve zarflı büyük virüslere (genellikle ≤10 dakika) etkili olan dezenfeksiyon şeklidir</a:t>
            </a:r>
            <a:endParaRPr lang="tr-TR" sz="2800" b="1" dirty="0">
              <a:solidFill>
                <a:srgbClr val="00B050"/>
              </a:solidFill>
            </a:endParaRPr>
          </a:p>
          <a:p>
            <a:pPr>
              <a:buNone/>
            </a:pPr>
            <a:endParaRPr lang="tr-TR" sz="28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539552" y="476672"/>
            <a:ext cx="8136904" cy="5649491"/>
          </a:xfrm>
        </p:spPr>
        <p:txBody>
          <a:bodyPr>
            <a:normAutofit/>
          </a:bodyPr>
          <a:lstStyle/>
          <a:p>
            <a:pPr>
              <a:buNone/>
            </a:pPr>
            <a:endParaRPr lang="tr-TR" sz="3600" b="1" dirty="0" smtClean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tr-TR" sz="3600" b="1" dirty="0" smtClean="0">
                <a:solidFill>
                  <a:srgbClr val="FF0000"/>
                </a:solidFill>
              </a:rPr>
              <a:t>   STERİLİZASYON İÇİN HERHANGİ  BİR   DERECELENDİRME SÖZ KONUSU</a:t>
            </a:r>
          </a:p>
          <a:p>
            <a:pPr algn="ctr">
              <a:buNone/>
            </a:pPr>
            <a:r>
              <a:rPr lang="tr-TR" sz="3600" b="1" dirty="0" smtClean="0">
                <a:solidFill>
                  <a:srgbClr val="FF0000"/>
                </a:solidFill>
              </a:rPr>
              <a:t>DEĞİLDİR!</a:t>
            </a:r>
          </a:p>
          <a:p>
            <a:pPr>
              <a:buNone/>
            </a:pPr>
            <a:endParaRPr lang="tr-TR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62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476672"/>
            <a:ext cx="7777163" cy="579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ANTİSEPSİ  NEDİR?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Cilt ve canlı dokular üzerinde, </a:t>
            </a:r>
            <a:r>
              <a:rPr lang="tr-TR" sz="2800" b="1" dirty="0" err="1" smtClean="0"/>
              <a:t>mukozolarda</a:t>
            </a:r>
            <a:r>
              <a:rPr lang="tr-TR" sz="2800" b="1" dirty="0" smtClean="0"/>
              <a:t> mikroorganizmaların (özellikle patojen) ortadan kaldırılma işlemidir </a:t>
            </a:r>
          </a:p>
          <a:p>
            <a:r>
              <a:rPr lang="tr-TR" sz="2800" b="1" dirty="0" smtClean="0">
                <a:solidFill>
                  <a:srgbClr val="7030A0"/>
                </a:solidFill>
              </a:rPr>
              <a:t>Dezenfeksiyonun Dokulara uygulanmasına antisepsi diyebiliriz</a:t>
            </a:r>
          </a:p>
          <a:p>
            <a:pPr>
              <a:buNone/>
            </a:pPr>
            <a:endParaRPr lang="tr-TR" sz="28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ANTİSEPSİ NASIL YAPILIR?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Kimyasal maddeler kullanılarak yapılır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Canlı doku üzerindeki (özellikle patojen) mikroorganizmaların öldürülmesi veya üremelerinin engellenmesi için kullanılan kimyasal </a:t>
            </a:r>
            <a:r>
              <a:rPr lang="tr-TR" sz="2800" b="1" dirty="0" smtClean="0"/>
              <a:t>ürünlerdir</a:t>
            </a:r>
          </a:p>
          <a:p>
            <a:endParaRPr lang="tr-TR" sz="2800" b="1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ASEPSİ NEDİR?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>
                <a:solidFill>
                  <a:srgbClr val="7030A0"/>
                </a:solidFill>
              </a:rPr>
              <a:t>Mikroorganizmaların korunmuş bir alana ulaşmalarının önlenmesi ve BUNUN DEVAMLILIĞININ SAĞLANMASINA ASEPSİ denir</a:t>
            </a:r>
          </a:p>
          <a:p>
            <a:pPr>
              <a:buNone/>
            </a:pPr>
            <a:endParaRPr lang="tr-TR" sz="2800" b="1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712968" cy="633670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     </a:t>
            </a:r>
            <a:r>
              <a:rPr lang="tr-TR" sz="4000" b="1" dirty="0" smtClean="0">
                <a:solidFill>
                  <a:srgbClr val="FF0000"/>
                </a:solidFill>
              </a:rPr>
              <a:t>DEKONTAMİNASYON NEDİR?</a:t>
            </a:r>
            <a:endParaRPr lang="tr-TR" sz="4000" b="1" dirty="0" smtClean="0"/>
          </a:p>
          <a:p>
            <a:r>
              <a:rPr lang="tr-TR" sz="2800" b="1" dirty="0" smtClean="0"/>
              <a:t>Dezenfeksiyon/sterilizasyon öncesinde, fiziksel ve/veya kimyasal yöntemlerle bir yüzey veya malzemeden organik madde ve patojenleri uzaklaştırarak, personelin aletlere elle temas edebilmesi açısından güvenli hale getirme işlemidir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FF0000"/>
                </a:solidFill>
              </a:rPr>
              <a:t>BAŞKA BİR DEYİŞLE;  </a:t>
            </a:r>
            <a:r>
              <a:rPr lang="tr-TR" sz="2800" b="1" dirty="0" smtClean="0">
                <a:solidFill>
                  <a:srgbClr val="7030A0"/>
                </a:solidFill>
              </a:rPr>
              <a:t>Sağlık çalışanının,  tıbbi alet ya da malzemeye herhangi bir koruyucu araç kullanmaksızın  elle dokunması durumunda risk altında olmamasını sağlayıcı uygulamadır 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600" b="1" dirty="0" smtClean="0"/>
              <a:t>Sterilizasyon öncesinde kabul edilebilir </a:t>
            </a:r>
            <a:r>
              <a:rPr lang="tr-TR" sz="2600" b="1" dirty="0" err="1" smtClean="0"/>
              <a:t>sterilite</a:t>
            </a:r>
            <a:r>
              <a:rPr lang="tr-TR" sz="2600" b="1" dirty="0" smtClean="0"/>
              <a:t> güvence  düzeyini (SGD: 10‐6 mikroorganizma) sağlayacak ölçüde  mikroorganizmalardan arındırma </a:t>
            </a:r>
            <a:endParaRPr lang="tr-TR" sz="26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7030A0"/>
                </a:solidFill>
              </a:rPr>
              <a:t>Bakteri: Tek hücreli </a:t>
            </a:r>
            <a:r>
              <a:rPr lang="tr-TR" b="1" dirty="0" err="1" smtClean="0">
                <a:solidFill>
                  <a:srgbClr val="7030A0"/>
                </a:solidFill>
              </a:rPr>
              <a:t>prokaryotik</a:t>
            </a:r>
            <a:r>
              <a:rPr lang="tr-TR" b="1" dirty="0" smtClean="0">
                <a:solidFill>
                  <a:srgbClr val="7030A0"/>
                </a:solidFill>
              </a:rPr>
              <a:t> mikroorganizmalardır</a:t>
            </a:r>
            <a:endParaRPr lang="tr-TR" b="1" dirty="0">
              <a:solidFill>
                <a:srgbClr val="7030A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 smtClean="0"/>
          </a:p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</a:t>
            </a:r>
            <a:r>
              <a:rPr lang="tr-TR" sz="3600" b="1" dirty="0" smtClean="0">
                <a:solidFill>
                  <a:srgbClr val="FF0000"/>
                </a:solidFill>
              </a:rPr>
              <a:t>BAKTERİ SPORU</a:t>
            </a:r>
          </a:p>
          <a:p>
            <a:r>
              <a:rPr lang="tr-TR" sz="2800" b="1" dirty="0" smtClean="0"/>
              <a:t>Bazı bakteriler tarafından oluşturulan, su yönünden fakir, yoğunlaştırılmış sitoplazma ve geçirgen olmayan bir hücre duvarı ile çevrili çekirdekten oluşan dinlenme hücresi</a:t>
            </a:r>
          </a:p>
          <a:p>
            <a:r>
              <a:rPr lang="tr-TR" sz="2800" b="1" dirty="0" smtClean="0"/>
              <a:t>Fiziksel ve kimyasal çevre etkenlerine karşı dirençli özel yapısal şekildir</a:t>
            </a:r>
            <a:endParaRPr lang="tr-TR" sz="28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467544" y="404664"/>
            <a:ext cx="8280920" cy="59766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4000" b="1" dirty="0" smtClean="0">
                <a:solidFill>
                  <a:srgbClr val="FF0000"/>
                </a:solidFill>
              </a:rPr>
              <a:t>			KONTAMİNASYON</a:t>
            </a:r>
          </a:p>
          <a:p>
            <a:pPr algn="ctr">
              <a:buNone/>
            </a:pPr>
            <a:r>
              <a:rPr lang="tr-TR" sz="4000" b="1" dirty="0" smtClean="0"/>
              <a:t>Steril olan bir ortama mikroorganizma bulaşmasına denir</a:t>
            </a:r>
          </a:p>
          <a:p>
            <a:pPr>
              <a:buNone/>
            </a:pPr>
            <a:endParaRPr lang="tr-TR" sz="4000" b="1" dirty="0" smtClean="0"/>
          </a:p>
          <a:p>
            <a:pPr>
              <a:buNone/>
            </a:pPr>
            <a:r>
              <a:rPr lang="tr-TR" sz="4000" b="1" dirty="0" smtClean="0">
                <a:solidFill>
                  <a:srgbClr val="FF0000"/>
                </a:solidFill>
              </a:rPr>
              <a:t>			KONTAMİNE</a:t>
            </a:r>
          </a:p>
          <a:p>
            <a:pPr>
              <a:buNone/>
            </a:pPr>
            <a:r>
              <a:rPr lang="tr-TR" sz="4000" b="1" dirty="0" smtClean="0"/>
              <a:t>Kirli, </a:t>
            </a:r>
            <a:r>
              <a:rPr lang="tr-TR" sz="4000" b="1" dirty="0" err="1" smtClean="0"/>
              <a:t>enfekte</a:t>
            </a:r>
            <a:r>
              <a:rPr lang="tr-TR" sz="4000" b="1" dirty="0" smtClean="0"/>
              <a:t> anlamındadır</a:t>
            </a:r>
          </a:p>
          <a:p>
            <a:endParaRPr lang="tr-TR" sz="40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260648"/>
            <a:ext cx="8280920" cy="64087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	</a:t>
            </a:r>
            <a:r>
              <a:rPr lang="tr-TR" b="1" dirty="0" smtClean="0">
                <a:solidFill>
                  <a:srgbClr val="FF0000"/>
                </a:solidFill>
              </a:rPr>
              <a:t>KİMYASAL İNDİKATÖR</a:t>
            </a:r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TEST YÖNTEMİDİR….</a:t>
            </a:r>
          </a:p>
          <a:p>
            <a:r>
              <a:rPr lang="tr-TR" sz="2800" b="1" dirty="0" smtClean="0"/>
              <a:t>Sterilizasyon şartlarında karakteristik değişiklik gösteren (renk değişikliği vb.) kimyasal maddeler içeren kağıt şerit veya diğer test materyalleridir</a:t>
            </a:r>
            <a:endParaRPr lang="tr-TR" sz="2800" b="1" dirty="0"/>
          </a:p>
        </p:txBody>
      </p:sp>
      <p:pic>
        <p:nvPicPr>
          <p:cNvPr id="152577" name="Picture 1" descr="C:\Users\tijen\Desktop\indir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068960"/>
            <a:ext cx="7406831" cy="314359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1403648" y="274638"/>
            <a:ext cx="6502102" cy="850106"/>
          </a:xfrm>
        </p:spPr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TEST BANTLARI</a:t>
            </a:r>
            <a:endParaRPr lang="tr-TR" sz="4000" b="1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196752"/>
            <a:ext cx="8229600" cy="32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437112"/>
            <a:ext cx="8208912" cy="2111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332656"/>
            <a:ext cx="8280920" cy="6048672"/>
          </a:xfrm>
        </p:spPr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BİYOLOJİK İNDİKATÖR</a:t>
            </a:r>
            <a:endParaRPr lang="tr-TR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</a:t>
            </a:r>
            <a:r>
              <a:rPr lang="tr-TR" b="1" dirty="0" smtClean="0">
                <a:solidFill>
                  <a:srgbClr val="FF0000"/>
                </a:solidFill>
              </a:rPr>
              <a:t>TEST YÖNTEMİDİR….</a:t>
            </a:r>
          </a:p>
          <a:p>
            <a:r>
              <a:rPr lang="tr-TR" sz="2800" b="1" dirty="0" smtClean="0"/>
              <a:t>Sterilizasyon işleminde </a:t>
            </a:r>
            <a:r>
              <a:rPr lang="tr-TR" sz="2800" b="1" dirty="0" smtClean="0">
                <a:solidFill>
                  <a:srgbClr val="7030A0"/>
                </a:solidFill>
              </a:rPr>
              <a:t>biyolojik ölümün gerçekleştiğini belirlemek için kullanılan</a:t>
            </a:r>
            <a:r>
              <a:rPr lang="tr-TR" sz="2800" b="1" dirty="0" smtClean="0"/>
              <a:t>, tercih edilen sterilizasyon yöntemine uygun  en dirençli bakteri sporlarını içeren test materyalidir</a:t>
            </a:r>
            <a:endParaRPr lang="tr-TR" sz="28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467544" y="404664"/>
            <a:ext cx="8136904" cy="5976664"/>
          </a:xfrm>
        </p:spPr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	</a:t>
            </a:r>
            <a:r>
              <a:rPr lang="tr-TR" sz="4000" b="1" dirty="0" smtClean="0">
                <a:solidFill>
                  <a:srgbClr val="FF0000"/>
                </a:solidFill>
              </a:rPr>
              <a:t>PRİON</a:t>
            </a:r>
          </a:p>
          <a:p>
            <a:r>
              <a:rPr lang="tr-TR" sz="2800" b="1" dirty="0" err="1" smtClean="0"/>
              <a:t>Nükleik</a:t>
            </a:r>
            <a:r>
              <a:rPr lang="tr-TR" sz="2800" b="1" dirty="0" smtClean="0"/>
              <a:t> asit içermeyen, protein yapısında, standart sterilizasyon ve dezenfeksiyon yöntemlerine dirençli </a:t>
            </a:r>
            <a:r>
              <a:rPr lang="tr-TR" sz="2800" b="1" dirty="0" err="1" smtClean="0"/>
              <a:t>enfeksiyöz</a:t>
            </a:r>
            <a:r>
              <a:rPr lang="tr-TR" sz="2800" b="1" dirty="0" smtClean="0"/>
              <a:t> partiküllerdir</a:t>
            </a:r>
          </a:p>
          <a:p>
            <a:endParaRPr lang="tr-TR" sz="2800" b="1" dirty="0" smtClean="0"/>
          </a:p>
          <a:p>
            <a:r>
              <a:rPr lang="tr-TR" sz="3600" b="1" dirty="0" smtClean="0"/>
              <a:t>Kelimenin kendisi 'proteinli bulaşıcı </a:t>
            </a:r>
            <a:r>
              <a:rPr lang="tr-TR" sz="3600" b="1" dirty="0" err="1" smtClean="0"/>
              <a:t>parçacık'tan</a:t>
            </a:r>
            <a:r>
              <a:rPr lang="tr-TR" sz="3600" b="1" dirty="0" smtClean="0"/>
              <a:t> türemiştir</a:t>
            </a:r>
            <a:endParaRPr lang="tr-TR" sz="36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ANTİSEPSİ  NEDİR?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TEKRAR EDELİM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Cilt ve canlı dokular üzerinde, </a:t>
            </a:r>
            <a:r>
              <a:rPr lang="tr-TR" sz="2800" b="1" dirty="0" err="1" smtClean="0"/>
              <a:t>mukozolarda</a:t>
            </a:r>
            <a:r>
              <a:rPr lang="tr-TR" sz="2800" b="1" dirty="0" smtClean="0"/>
              <a:t> mikroorganizmaların ortadan kaldırılma işlemidir</a:t>
            </a:r>
          </a:p>
          <a:p>
            <a:pPr>
              <a:buNone/>
            </a:pPr>
            <a:endParaRPr lang="tr-TR" sz="2800" dirty="0" smtClean="0"/>
          </a:p>
          <a:p>
            <a:r>
              <a:rPr lang="tr-TR" sz="2800" b="1" dirty="0" smtClean="0"/>
              <a:t>O Halde Dezenfeksiyonun Dokulara uygulanmasına antisepsi diyebiliriz</a:t>
            </a:r>
          </a:p>
          <a:p>
            <a:endParaRPr lang="tr-TR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5"/>
          <p:cNvSpPr>
            <a:spLocks noChangeArrowheads="1"/>
          </p:cNvSpPr>
          <p:nvPr/>
        </p:nvSpPr>
        <p:spPr bwMode="auto">
          <a:xfrm>
            <a:off x="398463" y="1151315"/>
            <a:ext cx="8208962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71463" indent="-271463">
              <a:lnSpc>
                <a:spcPct val="150000"/>
              </a:lnSpc>
              <a:buFontTx/>
              <a:buChar char="•"/>
              <a:defRPr/>
            </a:pPr>
            <a:r>
              <a:rPr lang="tr-TR" sz="2800" b="1" dirty="0">
                <a:latin typeface="+mn-lt"/>
              </a:rPr>
              <a:t>El yıkama mikroorganizmaların bireyler arası transferini engelleyen en önemli işlemlerden biridir.</a:t>
            </a:r>
          </a:p>
          <a:p>
            <a:pPr marL="271463" indent="-271463">
              <a:lnSpc>
                <a:spcPct val="150000"/>
              </a:lnSpc>
              <a:buFontTx/>
              <a:buChar char="•"/>
              <a:defRPr/>
            </a:pPr>
            <a:r>
              <a:rPr lang="tr-TR" sz="2800" b="1" dirty="0">
                <a:latin typeface="+mn-lt"/>
              </a:rPr>
              <a:t>Su, sabun ve antiseptik madde yeterlidir. </a:t>
            </a:r>
          </a:p>
          <a:p>
            <a:pPr marL="271463" indent="-271463">
              <a:lnSpc>
                <a:spcPct val="150000"/>
              </a:lnSpc>
              <a:buFontTx/>
              <a:buChar char="•"/>
              <a:defRPr/>
            </a:pPr>
            <a:r>
              <a:rPr lang="tr-TR" sz="2800" b="1" dirty="0">
                <a:latin typeface="+mn-lt"/>
              </a:rPr>
              <a:t>Günlük hayatta 30 saniye elleri sabunlamak yeterlidir.</a:t>
            </a:r>
          </a:p>
          <a:p>
            <a:pPr marL="271463" indent="-271463">
              <a:lnSpc>
                <a:spcPct val="150000"/>
              </a:lnSpc>
              <a:buFontTx/>
              <a:buChar char="•"/>
              <a:defRPr/>
            </a:pPr>
            <a:r>
              <a:rPr lang="tr-TR" sz="2800" b="1" dirty="0">
                <a:latin typeface="+mn-lt"/>
              </a:rPr>
              <a:t>Hasta ile temastan önce ve sonra, hastaya ait vücut sıvılarıyla </a:t>
            </a:r>
            <a:r>
              <a:rPr lang="tr-TR" sz="2800" b="1" dirty="0" err="1">
                <a:latin typeface="+mn-lt"/>
              </a:rPr>
              <a:t>kontamine</a:t>
            </a:r>
            <a:r>
              <a:rPr lang="tr-TR" sz="2800" b="1" dirty="0">
                <a:latin typeface="+mn-lt"/>
              </a:rPr>
              <a:t> bütün maddelerle temas halinde el antisepsisine mutlaka uyulmalıdır.</a:t>
            </a:r>
            <a:r>
              <a:rPr lang="en-US" sz="2800" b="1" dirty="0">
                <a:latin typeface="+mn-lt"/>
              </a:rPr>
              <a:t>  </a:t>
            </a:r>
          </a:p>
        </p:txBody>
      </p:sp>
      <p:grpSp>
        <p:nvGrpSpPr>
          <p:cNvPr id="2" name="6 Grup"/>
          <p:cNvGrpSpPr>
            <a:grpSpLocks/>
          </p:cNvGrpSpPr>
          <p:nvPr/>
        </p:nvGrpSpPr>
        <p:grpSpPr bwMode="auto">
          <a:xfrm>
            <a:off x="315913" y="260648"/>
            <a:ext cx="8072511" cy="720080"/>
            <a:chOff x="315691" y="88920"/>
            <a:chExt cx="8828341" cy="625436"/>
          </a:xfrm>
        </p:grpSpPr>
        <p:cxnSp>
          <p:nvCxnSpPr>
            <p:cNvPr id="8" name="7 Düz Bağlayıcı"/>
            <p:cNvCxnSpPr/>
            <p:nvPr/>
          </p:nvCxnSpPr>
          <p:spPr>
            <a:xfrm>
              <a:off x="396655" y="714356"/>
              <a:ext cx="8747377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9" name="8 Metin kutusu"/>
            <p:cNvSpPr txBox="1"/>
            <p:nvPr/>
          </p:nvSpPr>
          <p:spPr>
            <a:xfrm>
              <a:off x="315691" y="88920"/>
              <a:ext cx="3224287" cy="61484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tr-TR" sz="4000" b="1" dirty="0" smtClean="0">
                  <a:solidFill>
                    <a:srgbClr val="FF0000"/>
                  </a:solidFill>
                  <a:latin typeface="+mn-lt"/>
                </a:rPr>
                <a:t>EL ANTİSEPSİ</a:t>
              </a:r>
              <a:endParaRPr lang="tr-TR" sz="4000" b="1" dirty="0">
                <a:solidFill>
                  <a:srgbClr val="FF0000"/>
                </a:solidFill>
                <a:latin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ChangeArrowheads="1"/>
          </p:cNvSpPr>
          <p:nvPr/>
        </p:nvSpPr>
        <p:spPr bwMode="auto">
          <a:xfrm>
            <a:off x="611188" y="1150841"/>
            <a:ext cx="8208962" cy="2505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</a:pPr>
            <a:r>
              <a:rPr lang="tr-TR" sz="2800" b="1" dirty="0">
                <a:latin typeface="Comic Sans MS" pitchFamily="66" charset="0"/>
              </a:rPr>
              <a:t>El antiseptiği, sadece ameliyathane, çocuk ve doğum odaları ile yoğun bakım ünitelerinde değil tüm hastane birimlerinde kullanıma sunulmalıdır.</a:t>
            </a:r>
            <a:r>
              <a:rPr lang="en-US" sz="2800" b="1" dirty="0">
                <a:latin typeface="Comic Sans MS" pitchFamily="66" charset="0"/>
              </a:rPr>
              <a:t> </a:t>
            </a:r>
          </a:p>
        </p:txBody>
      </p:sp>
      <p:pic>
        <p:nvPicPr>
          <p:cNvPr id="2765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3645024"/>
            <a:ext cx="306705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16016" y="3645024"/>
            <a:ext cx="3783013" cy="284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5 Grup"/>
          <p:cNvGrpSpPr>
            <a:grpSpLocks/>
          </p:cNvGrpSpPr>
          <p:nvPr/>
        </p:nvGrpSpPr>
        <p:grpSpPr bwMode="auto">
          <a:xfrm>
            <a:off x="315913" y="260648"/>
            <a:ext cx="8360543" cy="864096"/>
            <a:chOff x="315691" y="88920"/>
            <a:chExt cx="8828341" cy="625436"/>
          </a:xfrm>
        </p:grpSpPr>
        <p:cxnSp>
          <p:nvCxnSpPr>
            <p:cNvPr id="7" name="6 Düz Bağlayıcı"/>
            <p:cNvCxnSpPr/>
            <p:nvPr/>
          </p:nvCxnSpPr>
          <p:spPr>
            <a:xfrm>
              <a:off x="396655" y="714356"/>
              <a:ext cx="8747377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8" name="7 Metin kutusu"/>
            <p:cNvSpPr txBox="1"/>
            <p:nvPr/>
          </p:nvSpPr>
          <p:spPr>
            <a:xfrm>
              <a:off x="315691" y="88920"/>
              <a:ext cx="3113206" cy="51237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tr-TR" sz="4000" b="1" dirty="0" smtClean="0">
                  <a:solidFill>
                    <a:srgbClr val="FF0000"/>
                  </a:solidFill>
                  <a:latin typeface="+mn-lt"/>
                </a:rPr>
                <a:t>EL ANTİSEPSİ</a:t>
              </a:r>
              <a:endParaRPr lang="tr-TR" sz="4000" b="1" dirty="0">
                <a:solidFill>
                  <a:srgbClr val="FF0000"/>
                </a:solidFill>
                <a:latin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ANTİSEPTİK   MADDE</a:t>
            </a:r>
            <a:endParaRPr lang="tr-TR" sz="40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Mikroorganizmalara uygulandığında </a:t>
            </a:r>
            <a:r>
              <a:rPr lang="tr-TR" sz="2800" b="1" dirty="0" err="1" smtClean="0"/>
              <a:t>preparasyonun</a:t>
            </a:r>
            <a:r>
              <a:rPr lang="tr-TR" sz="2800" b="1" dirty="0" smtClean="0"/>
              <a:t> özelliğine veya uygulama yöntemine göre üremelerini önleyerek veya öldürerek onları zararsız hale getiren </a:t>
            </a:r>
            <a:r>
              <a:rPr lang="tr-TR" sz="2800" b="1" dirty="0" smtClean="0">
                <a:solidFill>
                  <a:srgbClr val="FF0000"/>
                </a:solidFill>
              </a:rPr>
              <a:t>özellikle canlı dokulara</a:t>
            </a:r>
            <a:r>
              <a:rPr lang="tr-TR" sz="2800" b="1" dirty="0" smtClean="0"/>
              <a:t> uygulanabilen maddelerdir</a:t>
            </a:r>
            <a:br>
              <a:rPr lang="tr-TR" sz="2800" b="1" dirty="0" smtClean="0"/>
            </a:br>
            <a:r>
              <a:rPr lang="tr-TR" sz="2800" b="1" dirty="0" smtClean="0"/>
              <a:t/>
            </a:r>
            <a:br>
              <a:rPr lang="tr-TR" sz="2800" b="1" dirty="0" smtClean="0"/>
            </a:br>
            <a:r>
              <a:rPr lang="tr-TR" sz="2800" b="1" dirty="0" smtClean="0"/>
              <a:t>İdeal antiseptik özelliklerinin tümü tek bir antiseptik </a:t>
            </a:r>
            <a:r>
              <a:rPr lang="tr-TR" sz="2800" b="1" dirty="0" err="1" smtClean="0"/>
              <a:t>preparasyonunda</a:t>
            </a:r>
            <a:r>
              <a:rPr lang="tr-TR" sz="2800" b="1" dirty="0" smtClean="0"/>
              <a:t> bulunmamaktadır</a:t>
            </a:r>
            <a:r>
              <a:rPr lang="tr-TR" sz="2800" b="1" dirty="0" smtClean="0"/>
              <a:t>.</a:t>
            </a:r>
          </a:p>
          <a:p>
            <a:r>
              <a:rPr lang="tr-TR" sz="2800" b="1" dirty="0" smtClean="0"/>
              <a:t>Bundan </a:t>
            </a:r>
            <a:r>
              <a:rPr lang="tr-TR" sz="2800" b="1" dirty="0" smtClean="0"/>
              <a:t>dolayı uygulama alanını  durumuna  göre antiseptik madde seçilerek kullanılır</a:t>
            </a:r>
            <a:endParaRPr lang="tr-TR" sz="28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İDEAL BİR ANTİSEPTİKTE OLMASI GEREKLİ ÖZELLİKLER</a:t>
            </a:r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/>
              <a:t/>
            </a:r>
            <a:br>
              <a:rPr lang="tr-TR" b="1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Autofit/>
          </a:bodyPr>
          <a:lstStyle/>
          <a:p>
            <a:r>
              <a:rPr lang="tr-TR" sz="2300" b="1" dirty="0" smtClean="0"/>
              <a:t>Kan, </a:t>
            </a:r>
            <a:r>
              <a:rPr lang="tr-TR" sz="2300" b="1" dirty="0" err="1" smtClean="0"/>
              <a:t>müküs</a:t>
            </a:r>
            <a:r>
              <a:rPr lang="tr-TR" sz="2300" b="1" dirty="0" smtClean="0"/>
              <a:t>, serum veya tükürük gibi çıktıların bulunduğu ortamlarda etkinliğini korumalı</a:t>
            </a:r>
            <a:br>
              <a:rPr lang="tr-TR" sz="2300" b="1" dirty="0" smtClean="0"/>
            </a:br>
            <a:r>
              <a:rPr lang="tr-TR" sz="2300" b="1" dirty="0" smtClean="0"/>
              <a:t/>
            </a:r>
            <a:br>
              <a:rPr lang="tr-TR" sz="2300" b="1" dirty="0" smtClean="0"/>
            </a:br>
            <a:r>
              <a:rPr lang="tr-TR" sz="2300" b="1" dirty="0" smtClean="0"/>
              <a:t>Mikroorganizmaların üremesini </a:t>
            </a:r>
            <a:r>
              <a:rPr lang="tr-TR" sz="2300" b="1" dirty="0" err="1" smtClean="0"/>
              <a:t>inhibe</a:t>
            </a:r>
            <a:r>
              <a:rPr lang="tr-TR" sz="2300" b="1" dirty="0" smtClean="0"/>
              <a:t> etmeli</a:t>
            </a:r>
            <a:br>
              <a:rPr lang="tr-TR" sz="2300" b="1" dirty="0" smtClean="0"/>
            </a:br>
            <a:r>
              <a:rPr lang="tr-TR" sz="2300" b="1" dirty="0" smtClean="0"/>
              <a:t/>
            </a:r>
            <a:br>
              <a:rPr lang="tr-TR" sz="2300" b="1" dirty="0" smtClean="0"/>
            </a:br>
            <a:r>
              <a:rPr lang="tr-TR" sz="2300" b="1" dirty="0" smtClean="0"/>
              <a:t>Vücut dokularını ve hücrelerini tahriş etmemeli</a:t>
            </a:r>
            <a:br>
              <a:rPr lang="tr-TR" sz="2300" b="1" dirty="0" smtClean="0"/>
            </a:br>
            <a:r>
              <a:rPr lang="tr-TR" sz="2300" b="1" dirty="0" smtClean="0"/>
              <a:t/>
            </a:r>
            <a:br>
              <a:rPr lang="tr-TR" sz="2300" b="1" dirty="0" smtClean="0"/>
            </a:br>
            <a:r>
              <a:rPr lang="tr-TR" sz="2300" b="1" dirty="0" smtClean="0"/>
              <a:t>Deriyi tahriş etmemeli</a:t>
            </a:r>
            <a:br>
              <a:rPr lang="tr-TR" sz="2300" b="1" dirty="0" smtClean="0"/>
            </a:br>
            <a:r>
              <a:rPr lang="tr-TR" sz="2300" b="1" dirty="0" smtClean="0"/>
              <a:t/>
            </a:r>
            <a:br>
              <a:rPr lang="tr-TR" sz="2300" b="1" dirty="0" smtClean="0"/>
            </a:br>
            <a:r>
              <a:rPr lang="tr-TR" sz="2300" b="1" dirty="0" smtClean="0"/>
              <a:t>Ağız yıkama suları ve gargaralar etkisini çabuk göstermeli</a:t>
            </a:r>
            <a:br>
              <a:rPr lang="tr-TR" sz="2300" b="1" dirty="0" smtClean="0"/>
            </a:br>
            <a:r>
              <a:rPr lang="tr-TR" sz="2300" b="1" dirty="0" smtClean="0"/>
              <a:t/>
            </a:r>
            <a:br>
              <a:rPr lang="tr-TR" sz="2300" b="1" dirty="0" smtClean="0"/>
            </a:br>
            <a:r>
              <a:rPr lang="tr-TR" sz="2300" b="1" dirty="0" smtClean="0"/>
              <a:t>Vücudun doğal direnci herhangi bir şekilde olumsuz etkilenmemelidir</a:t>
            </a:r>
            <a:endParaRPr lang="tr-TR" sz="23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DEZENFEKTAN</a:t>
            </a:r>
            <a:endParaRPr lang="tr-TR" sz="4000" b="1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800" b="1" dirty="0" smtClean="0"/>
              <a:t>Mikroorganizmalar üzerinde, öldürücü kimyasal maddelerin kullanılanlarına Dezenfektan denir		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ASEPSİ NEDİR?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Mikroorganizmaların korunmuş bir alana ulaşmalarının önlenmesi ve bunun devamlılığının sağlanmasına </a:t>
            </a:r>
            <a:r>
              <a:rPr lang="tr-TR" sz="2800" b="1" dirty="0" smtClean="0">
                <a:solidFill>
                  <a:srgbClr val="7030A0"/>
                </a:solidFill>
              </a:rPr>
              <a:t>ASEPSİ</a:t>
            </a:r>
            <a:r>
              <a:rPr lang="tr-TR" sz="2800" b="1" dirty="0" smtClean="0"/>
              <a:t> denir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Bu amaçla yapılan işlemlerin tamamına da </a:t>
            </a:r>
            <a:r>
              <a:rPr lang="tr-TR" sz="2800" b="1" dirty="0" smtClean="0">
                <a:solidFill>
                  <a:srgbClr val="FF0000"/>
                </a:solidFill>
              </a:rPr>
              <a:t>aseptik teknik </a:t>
            </a:r>
            <a:r>
              <a:rPr lang="tr-TR" sz="2800" b="1" dirty="0" smtClean="0"/>
              <a:t>denir</a:t>
            </a:r>
          </a:p>
          <a:p>
            <a:pPr>
              <a:buNone/>
            </a:pPr>
            <a:r>
              <a:rPr lang="tr-TR" sz="2800" b="1" dirty="0" smtClean="0"/>
              <a:t>		</a:t>
            </a:r>
            <a:r>
              <a:rPr lang="tr-TR" sz="2800" b="1" dirty="0" smtClean="0">
                <a:solidFill>
                  <a:srgbClr val="00B050"/>
                </a:solidFill>
              </a:rPr>
              <a:t>Veya başka bir deyimle</a:t>
            </a:r>
          </a:p>
          <a:p>
            <a:r>
              <a:rPr lang="tr-TR" sz="2800" b="1" dirty="0" smtClean="0"/>
              <a:t>Temiz bir ortama mikrop bulaşmasını önlemek için alınan önlemlerin tümüne denir</a:t>
            </a:r>
            <a:endParaRPr lang="tr-TR" sz="28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827584" y="836712"/>
            <a:ext cx="7560840" cy="5289451"/>
          </a:xfrm>
        </p:spPr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rgbClr val="00B050"/>
                </a:solidFill>
              </a:rPr>
              <a:t>			</a:t>
            </a:r>
            <a:r>
              <a:rPr lang="tr-TR" sz="4000" b="1" dirty="0" smtClean="0">
                <a:solidFill>
                  <a:srgbClr val="FF0000"/>
                </a:solidFill>
              </a:rPr>
              <a:t>	ASEPSİ</a:t>
            </a:r>
          </a:p>
          <a:p>
            <a:r>
              <a:rPr lang="tr-TR" b="1" dirty="0" smtClean="0">
                <a:solidFill>
                  <a:srgbClr val="00B050"/>
                </a:solidFill>
              </a:rPr>
              <a:t>CERRAHİ ASEPSİ      </a:t>
            </a:r>
          </a:p>
          <a:p>
            <a:r>
              <a:rPr lang="tr-TR" b="1" dirty="0" smtClean="0">
                <a:solidFill>
                  <a:srgbClr val="00B050"/>
                </a:solidFill>
              </a:rPr>
              <a:t>TIBBİ ASEPSİ </a:t>
            </a:r>
          </a:p>
          <a:p>
            <a:endParaRPr lang="tr-TR" b="1" dirty="0" smtClean="0">
              <a:solidFill>
                <a:srgbClr val="00B050"/>
              </a:solidFill>
            </a:endParaRPr>
          </a:p>
          <a:p>
            <a:pPr lvl="1"/>
            <a:r>
              <a:rPr lang="tr-TR" b="1" dirty="0" smtClean="0">
                <a:solidFill>
                  <a:srgbClr val="00B050"/>
                </a:solidFill>
              </a:rPr>
              <a:t>OLARAK İKİYE AYRILIR</a:t>
            </a:r>
          </a:p>
          <a:p>
            <a:endParaRPr lang="tr-TR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> </a:t>
            </a:r>
            <a:r>
              <a:rPr lang="tr-TR" sz="4000" b="1" dirty="0" smtClean="0">
                <a:solidFill>
                  <a:srgbClr val="FF0000"/>
                </a:solidFill>
              </a:rPr>
              <a:t>CERRAHİ ASEPSİ İLKELERİ</a:t>
            </a:r>
            <a:r>
              <a:rPr lang="tr-TR" sz="4000" b="1" dirty="0" smtClean="0"/>
              <a:t> </a:t>
            </a:r>
            <a:br>
              <a:rPr lang="tr-TR" sz="4000" b="1" dirty="0" smtClean="0"/>
            </a:br>
            <a:r>
              <a:rPr lang="tr-TR" sz="4000" b="1" dirty="0" smtClean="0">
                <a:solidFill>
                  <a:srgbClr val="7030A0"/>
                </a:solidFill>
              </a:rPr>
              <a:t>Cerrahi asepside şu ilkelere uyulmalıdır</a:t>
            </a:r>
            <a:endParaRPr lang="tr-TR" sz="4000" dirty="0">
              <a:solidFill>
                <a:srgbClr val="7030A0"/>
              </a:solidFill>
            </a:endParaRPr>
          </a:p>
        </p:txBody>
      </p:sp>
      <p:sp>
        <p:nvSpPr>
          <p:cNvPr id="4" name="3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sz="3000" b="1" dirty="0" smtClean="0"/>
              <a:t>Steril obje ve alanın kesin sınırları bilinmelidir</a:t>
            </a:r>
            <a:br>
              <a:rPr lang="tr-TR" sz="3000" b="1" dirty="0" smtClean="0"/>
            </a:br>
            <a:r>
              <a:rPr lang="tr-TR" sz="3000" b="1" dirty="0" smtClean="0"/>
              <a:t>Steril objenin paketleri vücuttan uzağa doğru açılmalıdır</a:t>
            </a:r>
            <a:br>
              <a:rPr lang="tr-TR" sz="3000" b="1" dirty="0" smtClean="0"/>
            </a:br>
            <a:r>
              <a:rPr lang="tr-TR" sz="3000" b="1" dirty="0" smtClean="0"/>
              <a:t>Steril objeler steril malzeme pensi ve ya steril eldiven ile tutulmalıdır</a:t>
            </a:r>
            <a:br>
              <a:rPr lang="tr-TR" sz="3000" b="1" dirty="0" smtClean="0"/>
            </a:br>
            <a:r>
              <a:rPr lang="tr-TR" sz="3000" b="1" dirty="0" smtClean="0"/>
              <a:t>Steril ve steril olmayan objeler aynı yerlerde saklanmamalıdır</a:t>
            </a:r>
            <a:br>
              <a:rPr lang="tr-TR" sz="3000" b="1" dirty="0" smtClean="0"/>
            </a:br>
            <a:r>
              <a:rPr lang="tr-TR" sz="3000" b="1" dirty="0" smtClean="0"/>
              <a:t>Steril objeler bel seviyesinden yukarda ve görüş alanı içinde tutulmalıdır</a:t>
            </a:r>
            <a:br>
              <a:rPr lang="tr-TR" sz="3000" b="1" dirty="0" smtClean="0"/>
            </a:br>
            <a:r>
              <a:rPr lang="tr-TR" sz="3000" b="1" dirty="0" smtClean="0"/>
              <a:t>Steril objeler hava sirkülasyonu olan ortamda tutulmamalıdır</a:t>
            </a:r>
            <a:endParaRPr lang="tr-TR" sz="3000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CERRAHİ ASEPSİ İLKELERİ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tr-TR" sz="2800" b="1" dirty="0" smtClean="0">
                <a:solidFill>
                  <a:srgbClr val="7030A0"/>
                </a:solidFill>
              </a:rPr>
              <a:t> STERİL ALAN ÜZERİNE KONUŞMAMALI ÖKSÜRMEMELİ VE AKSIRMAMALIDIR</a:t>
            </a:r>
            <a:br>
              <a:rPr lang="tr-TR" sz="2800" b="1" dirty="0" smtClean="0">
                <a:solidFill>
                  <a:srgbClr val="7030A0"/>
                </a:solidFill>
              </a:rPr>
            </a:br>
            <a:r>
              <a:rPr lang="tr-TR" sz="2800" b="1" dirty="0" smtClean="0">
                <a:solidFill>
                  <a:srgbClr val="7030A0"/>
                </a:solidFill>
              </a:rPr>
              <a:t>YÜZ DAİMA STERİL ALAN VE OBJEYE DÖNÜK OLMALIDIR</a:t>
            </a:r>
            <a:br>
              <a:rPr lang="tr-TR" sz="2800" b="1" dirty="0" smtClean="0">
                <a:solidFill>
                  <a:srgbClr val="7030A0"/>
                </a:solidFill>
              </a:rPr>
            </a:br>
            <a:r>
              <a:rPr lang="tr-TR" sz="2800" b="1" dirty="0" smtClean="0"/>
              <a:t/>
            </a:r>
            <a:br>
              <a:rPr lang="tr-TR" sz="2800" b="1" dirty="0" smtClean="0"/>
            </a:br>
            <a:endParaRPr lang="tr-TR" sz="2800" b="1" dirty="0" smtClean="0"/>
          </a:p>
          <a:p>
            <a:pPr algn="ctr"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 	STERİLLİĞİNDEN ŞÜPHE EDİLEN OBJELER KONTAMİNE KABUL EDİLMELİDİR</a:t>
            </a:r>
            <a:endParaRPr lang="tr-TR" sz="28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640960" cy="633670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		</a:t>
            </a:r>
            <a:r>
              <a:rPr lang="tr-TR" sz="4000" b="1" dirty="0" smtClean="0">
                <a:solidFill>
                  <a:srgbClr val="FF0000"/>
                </a:solidFill>
              </a:rPr>
              <a:t>BAKTERİYOSTATİK  NEDİR?</a:t>
            </a:r>
          </a:p>
          <a:p>
            <a:r>
              <a:rPr lang="tr-TR" sz="2400" b="1" dirty="0" smtClean="0">
                <a:solidFill>
                  <a:srgbClr val="FF0000"/>
                </a:solidFill>
              </a:rPr>
              <a:t>Statik: </a:t>
            </a:r>
            <a:r>
              <a:rPr lang="tr-TR" sz="2400" b="1" dirty="0" smtClean="0"/>
              <a:t>Mikroorganizmanın üremesini durdurucu madde ve etkenlere denir  </a:t>
            </a:r>
            <a:r>
              <a:rPr lang="tr-TR" sz="2400" b="1" dirty="0" smtClean="0">
                <a:solidFill>
                  <a:srgbClr val="00B050"/>
                </a:solidFill>
              </a:rPr>
              <a:t>(İnhibitör madde)</a:t>
            </a:r>
          </a:p>
          <a:p>
            <a:r>
              <a:rPr lang="tr-TR" sz="2400" b="1" dirty="0" smtClean="0"/>
              <a:t>Statik etki ortadan kalktığında ve mikroorganizma, yeniden üreyip çoğalabilir</a:t>
            </a:r>
          </a:p>
          <a:p>
            <a:r>
              <a:rPr lang="tr-TR" sz="2400" b="1" dirty="0" smtClean="0"/>
              <a:t>Bu nedenle statik etki geri dönüşlüdür</a:t>
            </a:r>
          </a:p>
          <a:p>
            <a:r>
              <a:rPr lang="tr-TR" sz="2400" b="1" dirty="0" smtClean="0"/>
              <a:t>Etki gösterdiği mikroorganizmaya göre </a:t>
            </a:r>
            <a:r>
              <a:rPr lang="tr-TR" sz="2400" b="1" dirty="0" err="1" smtClean="0"/>
              <a:t>bakteristatik</a:t>
            </a:r>
            <a:r>
              <a:rPr lang="tr-TR" sz="2400" b="1" dirty="0" smtClean="0"/>
              <a:t>, </a:t>
            </a:r>
            <a:r>
              <a:rPr lang="tr-TR" sz="2400" b="1" dirty="0" err="1" smtClean="0"/>
              <a:t>fungustatik</a:t>
            </a:r>
            <a:r>
              <a:rPr lang="tr-TR" sz="2400" b="1" dirty="0" smtClean="0"/>
              <a:t> şeklinde kullanılır</a:t>
            </a:r>
          </a:p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	BAKTERİYOSTATİK</a:t>
            </a:r>
          </a:p>
          <a:p>
            <a:pPr>
              <a:buNone/>
            </a:pPr>
            <a:r>
              <a:rPr lang="tr-TR" sz="2800" b="1" dirty="0" smtClean="0"/>
              <a:t>	Bakteriyi öldürmeden üremesini yavaşlatan veya durduran madde </a:t>
            </a:r>
          </a:p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	FUNGİYOSTATİK</a:t>
            </a:r>
            <a:endParaRPr lang="tr-TR" sz="2800" b="1" dirty="0" smtClean="0"/>
          </a:p>
          <a:p>
            <a:pPr>
              <a:buNone/>
            </a:pPr>
            <a:r>
              <a:rPr lang="tr-TR" sz="2800" b="1" dirty="0" smtClean="0"/>
              <a:t>	Mantarların üremesini yavaşlatan veya durduran madde madde</a:t>
            </a:r>
          </a:p>
          <a:p>
            <a:pPr>
              <a:buNone/>
            </a:pPr>
            <a:r>
              <a:rPr lang="tr-TR" sz="2800" b="1" dirty="0" smtClean="0"/>
              <a:t>			</a:t>
            </a:r>
            <a:r>
              <a:rPr lang="tr-TR" sz="2800" b="1" dirty="0" smtClean="0">
                <a:solidFill>
                  <a:srgbClr val="FF0000"/>
                </a:solidFill>
              </a:rPr>
              <a:t>VİRİYOSTATİK</a:t>
            </a:r>
          </a:p>
          <a:p>
            <a:pPr>
              <a:buNone/>
            </a:pPr>
            <a:r>
              <a:rPr lang="tr-TR" sz="2800" b="1" dirty="0" smtClean="0"/>
              <a:t>    Virüslerin üremesini yavaşlatan veya durduran madde madde</a:t>
            </a:r>
          </a:p>
          <a:p>
            <a:pPr>
              <a:buNone/>
            </a:pPr>
            <a:endParaRPr lang="tr-TR" sz="2800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tr-TR" sz="2800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tr-TR" sz="2800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tr-TR" sz="2800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tr-TR" sz="28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BAKTERİSİDAL 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VEYA BAKTERİSİT NEDİR?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 smtClean="0">
                <a:solidFill>
                  <a:srgbClr val="FF0000"/>
                </a:solidFill>
              </a:rPr>
              <a:t>Sidal</a:t>
            </a:r>
            <a:r>
              <a:rPr lang="tr-TR" sz="2800" b="1" dirty="0" smtClean="0">
                <a:solidFill>
                  <a:srgbClr val="FF0000"/>
                </a:solidFill>
              </a:rPr>
              <a:t>: </a:t>
            </a:r>
            <a:r>
              <a:rPr lang="tr-TR" sz="2800" b="1" dirty="0" smtClean="0"/>
              <a:t>Mikroorganizma üzerinde öldürücü etki gösteren madde ve etmenlere denir (öldürücü etki)</a:t>
            </a:r>
          </a:p>
          <a:p>
            <a:r>
              <a:rPr lang="tr-TR" sz="2800" b="1" dirty="0" err="1" smtClean="0"/>
              <a:t>Sidal</a:t>
            </a:r>
            <a:r>
              <a:rPr lang="tr-TR" sz="2800" b="1" dirty="0" smtClean="0"/>
              <a:t> etki geri dönüşlü değildir</a:t>
            </a:r>
          </a:p>
          <a:p>
            <a:r>
              <a:rPr lang="tr-TR" sz="2800" b="1" dirty="0" smtClean="0"/>
              <a:t>Üzerine etki gösterdiği mikroorganizmaya göre bakterisit, </a:t>
            </a:r>
            <a:r>
              <a:rPr lang="tr-TR" sz="2800" b="1" dirty="0" err="1" smtClean="0"/>
              <a:t>virüsit</a:t>
            </a:r>
            <a:r>
              <a:rPr lang="tr-TR" sz="2800" b="1" dirty="0" smtClean="0"/>
              <a:t>, </a:t>
            </a:r>
            <a:r>
              <a:rPr lang="tr-TR" sz="2800" b="1" dirty="0" err="1" smtClean="0"/>
              <a:t>fungisit</a:t>
            </a:r>
            <a:r>
              <a:rPr lang="tr-TR" sz="2800" b="1" dirty="0" smtClean="0"/>
              <a:t> şeklinde kullanılır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683568" y="476672"/>
            <a:ext cx="7920880" cy="5649491"/>
          </a:xfrm>
        </p:spPr>
        <p:txBody>
          <a:bodyPr/>
          <a:lstStyle/>
          <a:p>
            <a:r>
              <a:rPr lang="tr-TR" b="1" dirty="0" err="1" smtClean="0">
                <a:solidFill>
                  <a:srgbClr val="FF0000"/>
                </a:solidFill>
              </a:rPr>
              <a:t>Bakterisidal</a:t>
            </a:r>
            <a:r>
              <a:rPr lang="tr-TR" b="1" dirty="0" smtClean="0">
                <a:solidFill>
                  <a:srgbClr val="FF0000"/>
                </a:solidFill>
              </a:rPr>
              <a:t> (bakterisit), bakterileri öldürücü madde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err="1" smtClean="0">
                <a:solidFill>
                  <a:srgbClr val="7030A0"/>
                </a:solidFill>
              </a:rPr>
              <a:t>Fungusidal</a:t>
            </a:r>
            <a:r>
              <a:rPr lang="tr-TR" b="1" dirty="0" smtClean="0">
                <a:solidFill>
                  <a:srgbClr val="7030A0"/>
                </a:solidFill>
              </a:rPr>
              <a:t> (</a:t>
            </a:r>
            <a:r>
              <a:rPr lang="tr-TR" b="1" dirty="0" err="1" smtClean="0">
                <a:solidFill>
                  <a:srgbClr val="7030A0"/>
                </a:solidFill>
              </a:rPr>
              <a:t>fungusit</a:t>
            </a:r>
            <a:r>
              <a:rPr lang="tr-TR" b="1" dirty="0" smtClean="0">
                <a:solidFill>
                  <a:srgbClr val="7030A0"/>
                </a:solidFill>
              </a:rPr>
              <a:t>), mantarları öldürücü madde</a:t>
            </a:r>
          </a:p>
          <a:p>
            <a:pPr>
              <a:buNone/>
            </a:pPr>
            <a:r>
              <a:rPr lang="tr-TR" b="1" dirty="0" smtClean="0"/>
              <a:t> </a:t>
            </a:r>
          </a:p>
          <a:p>
            <a:r>
              <a:rPr lang="tr-TR" b="1" dirty="0" err="1" smtClean="0">
                <a:solidFill>
                  <a:srgbClr val="00B050"/>
                </a:solidFill>
              </a:rPr>
              <a:t>Virusidal</a:t>
            </a:r>
            <a:r>
              <a:rPr lang="tr-TR" b="1" dirty="0" smtClean="0">
                <a:solidFill>
                  <a:srgbClr val="00B050"/>
                </a:solidFill>
              </a:rPr>
              <a:t> (</a:t>
            </a:r>
            <a:r>
              <a:rPr lang="tr-TR" b="1" dirty="0" err="1" smtClean="0">
                <a:solidFill>
                  <a:srgbClr val="00B050"/>
                </a:solidFill>
              </a:rPr>
              <a:t>virüsit</a:t>
            </a:r>
            <a:r>
              <a:rPr lang="tr-TR" b="1" dirty="0" smtClean="0">
                <a:solidFill>
                  <a:srgbClr val="00B050"/>
                </a:solidFill>
              </a:rPr>
              <a:t>), virüsleri öldürücü madde</a:t>
            </a:r>
          </a:p>
          <a:p>
            <a:endParaRPr lang="tr-TR" b="1" dirty="0" smtClean="0">
              <a:solidFill>
                <a:srgbClr val="00B050"/>
              </a:solidFill>
            </a:endParaRPr>
          </a:p>
          <a:p>
            <a:r>
              <a:rPr lang="tr-TR" b="1" dirty="0" err="1" smtClean="0">
                <a:solidFill>
                  <a:srgbClr val="0070C0"/>
                </a:solidFill>
              </a:rPr>
              <a:t>Sporosidal</a:t>
            </a:r>
            <a:r>
              <a:rPr lang="tr-TR" b="1" dirty="0" smtClean="0">
                <a:solidFill>
                  <a:srgbClr val="0070C0"/>
                </a:solidFill>
              </a:rPr>
              <a:t> (</a:t>
            </a:r>
            <a:r>
              <a:rPr lang="tr-TR" b="1" dirty="0" err="1" smtClean="0">
                <a:solidFill>
                  <a:srgbClr val="0070C0"/>
                </a:solidFill>
              </a:rPr>
              <a:t>sporosit</a:t>
            </a:r>
            <a:r>
              <a:rPr lang="tr-TR" b="1" dirty="0" smtClean="0">
                <a:solidFill>
                  <a:srgbClr val="0070C0"/>
                </a:solidFill>
              </a:rPr>
              <a:t>), sporları öldüren madde</a:t>
            </a:r>
            <a:endParaRPr lang="tr-TR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611560" y="620688"/>
            <a:ext cx="7848872" cy="5505475"/>
          </a:xfrm>
        </p:spPr>
        <p:txBody>
          <a:bodyPr>
            <a:normAutofit/>
          </a:bodyPr>
          <a:lstStyle/>
          <a:p>
            <a:endParaRPr lang="tr-TR" b="1" dirty="0" smtClean="0"/>
          </a:p>
          <a:p>
            <a:pPr>
              <a:buNone/>
            </a:pPr>
            <a:r>
              <a:rPr lang="tr-TR" b="1" dirty="0" smtClean="0"/>
              <a:t>	</a:t>
            </a:r>
            <a:r>
              <a:rPr lang="tr-TR" sz="4800" b="1" dirty="0" smtClean="0">
                <a:solidFill>
                  <a:srgbClr val="FF0000"/>
                </a:solidFill>
              </a:rPr>
              <a:t>Tüm yüzey ve malzemeleri</a:t>
            </a:r>
          </a:p>
          <a:p>
            <a:pPr>
              <a:buNone/>
            </a:pPr>
            <a:r>
              <a:rPr lang="tr-TR" sz="4800" b="1" dirty="0" smtClean="0">
                <a:solidFill>
                  <a:srgbClr val="FF0000"/>
                </a:solidFill>
              </a:rPr>
              <a:t>		    TEMİZLEMEDEN</a:t>
            </a:r>
          </a:p>
          <a:p>
            <a:pPr>
              <a:buNone/>
            </a:pPr>
            <a:r>
              <a:rPr lang="tr-TR" sz="4800" b="1" dirty="0" smtClean="0">
                <a:solidFill>
                  <a:srgbClr val="FF0000"/>
                </a:solidFill>
              </a:rPr>
              <a:t>			Steril &amp; Dezenfekte 					EDEMEYİZ!..</a:t>
            </a:r>
            <a:endParaRPr lang="tr-TR" sz="4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TEMİZLİK İLKELERİ…</a:t>
            </a:r>
            <a:r>
              <a:rPr lang="tr-TR" sz="4000" b="1" dirty="0" smtClean="0">
                <a:solidFill>
                  <a:srgbClr val="7030A0"/>
                </a:solidFill>
              </a:rPr>
              <a:t>!!!!...</a:t>
            </a:r>
            <a:endParaRPr lang="tr-TR" sz="4000" dirty="0">
              <a:solidFill>
                <a:srgbClr val="7030A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b="1" dirty="0" smtClean="0"/>
              <a:t>		</a:t>
            </a:r>
            <a:r>
              <a:rPr lang="tr-TR" b="1" dirty="0" smtClean="0">
                <a:solidFill>
                  <a:srgbClr val="7030A0"/>
                </a:solidFill>
              </a:rPr>
              <a:t>KİRLER</a:t>
            </a:r>
          </a:p>
          <a:p>
            <a:r>
              <a:rPr lang="tr-TR" b="1" dirty="0" smtClean="0"/>
              <a:t>Kurutulmamalı</a:t>
            </a:r>
          </a:p>
          <a:p>
            <a:r>
              <a:rPr lang="tr-TR" b="1" dirty="0" smtClean="0"/>
              <a:t>Pişirilmemeli</a:t>
            </a:r>
          </a:p>
          <a:p>
            <a:r>
              <a:rPr lang="tr-TR" b="1" dirty="0" err="1" smtClean="0"/>
              <a:t>Fikse</a:t>
            </a:r>
            <a:r>
              <a:rPr lang="tr-TR" b="1" dirty="0" smtClean="0"/>
              <a:t> edilmemeli</a:t>
            </a:r>
          </a:p>
          <a:p>
            <a:pPr>
              <a:buNone/>
            </a:pPr>
            <a:endParaRPr lang="tr-TR" dirty="0" smtClean="0"/>
          </a:p>
          <a:p>
            <a:r>
              <a:rPr lang="tr-TR" dirty="0" smtClean="0"/>
              <a:t> </a:t>
            </a:r>
            <a:r>
              <a:rPr lang="tr-TR" b="1" dirty="0" smtClean="0"/>
              <a:t>Kirliyi; KURUTMAMAK</a:t>
            </a:r>
          </a:p>
          <a:p>
            <a:r>
              <a:rPr lang="tr-TR" b="1" dirty="0" smtClean="0"/>
              <a:t> Temizi; ISLAK BIRAKMAMAK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TEMİZLİK İLKELERİ…</a:t>
            </a:r>
            <a:r>
              <a:rPr lang="tr-TR" sz="4000" b="1" dirty="0" smtClean="0">
                <a:solidFill>
                  <a:srgbClr val="7030A0"/>
                </a:solidFill>
              </a:rPr>
              <a:t>!!!!...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4400" b="1" dirty="0" smtClean="0"/>
              <a:t>Sökülebilir Parçalar</a:t>
            </a:r>
          </a:p>
          <a:p>
            <a:r>
              <a:rPr lang="tr-TR" sz="4400" b="1" dirty="0" smtClean="0"/>
              <a:t>AYRILMALIDIR</a:t>
            </a:r>
            <a:endParaRPr lang="tr-TR" sz="4400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01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04664"/>
            <a:ext cx="8496944" cy="6120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404664"/>
            <a:ext cx="8424936" cy="6048672"/>
          </a:xfrm>
        </p:spPr>
        <p:txBody>
          <a:bodyPr/>
          <a:lstStyle/>
          <a:p>
            <a:pPr algn="ctr">
              <a:buNone/>
            </a:pPr>
            <a:r>
              <a:rPr lang="tr-TR" b="1" dirty="0" smtClean="0">
                <a:solidFill>
                  <a:srgbClr val="FF0000"/>
                </a:solidFill>
              </a:rPr>
              <a:t>	HASTALARDA KULLANILAN ALETLERİ 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STERİLİZASYON-DEZENFEKSİYON ÖNEMİNE GÖRE SINIFLANDIRMAK İSTERSEK</a:t>
            </a:r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276872"/>
            <a:ext cx="6264696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 </a:t>
            </a:r>
            <a:r>
              <a:rPr lang="tr-TR" sz="4000" b="1" dirty="0" smtClean="0">
                <a:solidFill>
                  <a:srgbClr val="FF0000"/>
                </a:solidFill>
              </a:rPr>
              <a:t>KRİTİK ALETLER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tr-TR" b="1" dirty="0" smtClean="0">
                <a:solidFill>
                  <a:srgbClr val="7030A0"/>
                </a:solidFill>
              </a:rPr>
              <a:t>    Steril vücut boşluklarına ve </a:t>
            </a:r>
            <a:r>
              <a:rPr lang="tr-TR" b="1" dirty="0" err="1" smtClean="0">
                <a:solidFill>
                  <a:srgbClr val="7030A0"/>
                </a:solidFill>
              </a:rPr>
              <a:t>vasküler</a:t>
            </a:r>
            <a:r>
              <a:rPr lang="tr-TR" b="1" dirty="0" smtClean="0">
                <a:solidFill>
                  <a:srgbClr val="7030A0"/>
                </a:solidFill>
              </a:rPr>
              <a:t> sisteme giren aletler</a:t>
            </a:r>
          </a:p>
          <a:p>
            <a:r>
              <a:rPr lang="tr-TR" b="1" dirty="0" smtClean="0"/>
              <a:t>Cerrahi aletler</a:t>
            </a:r>
          </a:p>
          <a:p>
            <a:r>
              <a:rPr lang="tr-TR" b="1" dirty="0" err="1" smtClean="0"/>
              <a:t>İmplantlar</a:t>
            </a:r>
            <a:endParaRPr lang="tr-TR" b="1" dirty="0" smtClean="0"/>
          </a:p>
          <a:p>
            <a:r>
              <a:rPr lang="tr-TR" b="1" dirty="0" smtClean="0"/>
              <a:t>Kardiyak </a:t>
            </a:r>
            <a:r>
              <a:rPr lang="tr-TR" b="1" dirty="0" err="1" smtClean="0"/>
              <a:t>kateter</a:t>
            </a:r>
            <a:endParaRPr lang="tr-TR" b="1" dirty="0" smtClean="0"/>
          </a:p>
          <a:p>
            <a:r>
              <a:rPr lang="tr-TR" b="1" dirty="0" err="1" smtClean="0"/>
              <a:t>Üriner</a:t>
            </a:r>
            <a:r>
              <a:rPr lang="tr-TR" b="1" dirty="0" smtClean="0"/>
              <a:t> </a:t>
            </a:r>
            <a:r>
              <a:rPr lang="tr-TR" b="1" dirty="0" err="1" smtClean="0"/>
              <a:t>katater</a:t>
            </a:r>
            <a:endParaRPr lang="tr-TR" b="1" dirty="0" smtClean="0"/>
          </a:p>
          <a:p>
            <a:r>
              <a:rPr lang="tr-TR" b="1" dirty="0" smtClean="0">
                <a:solidFill>
                  <a:srgbClr val="FF0000"/>
                </a:solidFill>
              </a:rPr>
              <a:t>STERİL OLMALIDIR</a:t>
            </a:r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712968" cy="6192688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    </a:t>
            </a:r>
            <a:r>
              <a:rPr lang="tr-TR" sz="5200" b="1" dirty="0" smtClean="0">
                <a:solidFill>
                  <a:srgbClr val="FF0000"/>
                </a:solidFill>
              </a:rPr>
              <a:t>YARI KRİTİK ALETLER</a:t>
            </a:r>
            <a:endParaRPr lang="tr-TR" b="1" dirty="0" smtClean="0"/>
          </a:p>
          <a:p>
            <a:pPr>
              <a:buNone/>
            </a:pPr>
            <a:r>
              <a:rPr lang="tr-TR" b="1" dirty="0" smtClean="0"/>
              <a:t>	</a:t>
            </a:r>
            <a:r>
              <a:rPr lang="tr-TR" sz="3400" b="1" dirty="0" smtClean="0">
                <a:solidFill>
                  <a:srgbClr val="7030A0"/>
                </a:solidFill>
              </a:rPr>
              <a:t>Mukoza veya bütünlüğü bozulmuş cilt ile teması olan aletler</a:t>
            </a:r>
          </a:p>
          <a:p>
            <a:pPr>
              <a:buNone/>
            </a:pPr>
            <a:endParaRPr lang="tr-TR" b="1" dirty="0" smtClean="0">
              <a:solidFill>
                <a:srgbClr val="7030A0"/>
              </a:solidFill>
            </a:endParaRPr>
          </a:p>
          <a:p>
            <a:r>
              <a:rPr lang="tr-TR" sz="3400" b="1" dirty="0" smtClean="0">
                <a:solidFill>
                  <a:srgbClr val="FF0000"/>
                </a:solidFill>
              </a:rPr>
              <a:t>Endoskoplar</a:t>
            </a:r>
          </a:p>
          <a:p>
            <a:r>
              <a:rPr lang="tr-TR" sz="3400" b="1" dirty="0" err="1" smtClean="0"/>
              <a:t>Laringoskoplar</a:t>
            </a:r>
            <a:endParaRPr lang="tr-TR" sz="3400" b="1" dirty="0" smtClean="0"/>
          </a:p>
          <a:p>
            <a:r>
              <a:rPr lang="tr-TR" sz="3400" b="1" dirty="0" err="1" smtClean="0"/>
              <a:t>Endotrakeal</a:t>
            </a:r>
            <a:r>
              <a:rPr lang="tr-TR" sz="3400" b="1" dirty="0" smtClean="0"/>
              <a:t> tüpler</a:t>
            </a:r>
          </a:p>
          <a:p>
            <a:r>
              <a:rPr lang="tr-TR" sz="3400" b="1" dirty="0" smtClean="0"/>
              <a:t>Anestezi ekipmanı</a:t>
            </a:r>
          </a:p>
          <a:p>
            <a:r>
              <a:rPr lang="tr-TR" sz="3400" b="1" dirty="0" smtClean="0"/>
              <a:t>Solunum sirkülasyon ekipmanı</a:t>
            </a:r>
          </a:p>
          <a:p>
            <a:r>
              <a:rPr lang="tr-TR" sz="3400" b="1" dirty="0" err="1" smtClean="0"/>
              <a:t>Nasal</a:t>
            </a:r>
            <a:r>
              <a:rPr lang="tr-TR" sz="3400" b="1" dirty="0" smtClean="0"/>
              <a:t> ve </a:t>
            </a:r>
            <a:r>
              <a:rPr lang="tr-TR" sz="3400" b="1" dirty="0" err="1" smtClean="0"/>
              <a:t>vajinal</a:t>
            </a:r>
            <a:r>
              <a:rPr lang="tr-TR" sz="3400" b="1" dirty="0" smtClean="0"/>
              <a:t> </a:t>
            </a:r>
            <a:r>
              <a:rPr lang="tr-TR" sz="3400" b="1" dirty="0" err="1" smtClean="0"/>
              <a:t>spekulum</a:t>
            </a:r>
            <a:r>
              <a:rPr lang="tr-TR" sz="3400" b="1" dirty="0" smtClean="0"/>
              <a:t> ve </a:t>
            </a:r>
            <a:r>
              <a:rPr lang="tr-TR" sz="3400" b="1" dirty="0" err="1" smtClean="0"/>
              <a:t>vajinal</a:t>
            </a:r>
            <a:r>
              <a:rPr lang="tr-TR" sz="3400" b="1" dirty="0" smtClean="0"/>
              <a:t> </a:t>
            </a:r>
            <a:r>
              <a:rPr lang="tr-TR" sz="3400" b="1" dirty="0" err="1" smtClean="0"/>
              <a:t>problar</a:t>
            </a:r>
            <a:endParaRPr lang="tr-TR" sz="3400" b="1" dirty="0" smtClean="0"/>
          </a:p>
          <a:p>
            <a:r>
              <a:rPr lang="tr-TR" sz="3400" b="1" dirty="0" err="1" smtClean="0"/>
              <a:t>Nebulizer</a:t>
            </a:r>
            <a:r>
              <a:rPr lang="tr-TR" sz="3400" b="1" dirty="0" smtClean="0"/>
              <a:t> kapları, bazı </a:t>
            </a:r>
            <a:r>
              <a:rPr lang="tr-TR" sz="3400" b="1" dirty="0" err="1" smtClean="0"/>
              <a:t>oftalmik</a:t>
            </a:r>
            <a:r>
              <a:rPr lang="tr-TR" sz="3400" b="1" dirty="0" smtClean="0"/>
              <a:t> araçlar</a:t>
            </a:r>
          </a:p>
          <a:p>
            <a:r>
              <a:rPr lang="tr-TR" sz="3400" b="1" dirty="0" smtClean="0"/>
              <a:t>Kulak şırınga hortumu</a:t>
            </a:r>
          </a:p>
          <a:p>
            <a:r>
              <a:rPr lang="tr-TR" sz="3400" b="1" dirty="0" smtClean="0"/>
              <a:t>Termometreler</a:t>
            </a:r>
          </a:p>
          <a:p>
            <a:r>
              <a:rPr lang="tr-TR" sz="3400" b="1" dirty="0" smtClean="0"/>
              <a:t>Hidroterapi tankları</a:t>
            </a:r>
            <a:endParaRPr lang="tr-TR" sz="3400" dirty="0" smtClean="0"/>
          </a:p>
          <a:p>
            <a:r>
              <a:rPr lang="nn-NO" sz="3400" b="1" dirty="0" smtClean="0"/>
              <a:t>Nasal ve vajinal spekulum ve vajinal </a:t>
            </a:r>
            <a:r>
              <a:rPr lang="tr-TR" sz="3400" b="1" dirty="0" err="1" smtClean="0"/>
              <a:t>problar</a:t>
            </a:r>
            <a:r>
              <a:rPr lang="tr-TR" sz="3400" b="1" dirty="0" smtClean="0"/>
              <a:t> </a:t>
            </a:r>
          </a:p>
          <a:p>
            <a:r>
              <a:rPr lang="tr-TR" sz="3400" b="1" dirty="0" smtClean="0">
                <a:solidFill>
                  <a:srgbClr val="FF0000"/>
                </a:solidFill>
              </a:rPr>
              <a:t>YÜKSEK DÜZEY DEZENFEKSİYON YETERLİDİR</a:t>
            </a:r>
          </a:p>
          <a:p>
            <a:r>
              <a:rPr lang="tr-TR" sz="3400" b="1" dirty="0" smtClean="0">
                <a:solidFill>
                  <a:srgbClr val="FF0000"/>
                </a:solidFill>
              </a:rPr>
              <a:t>STERİLİZASYON ARANMAZ</a:t>
            </a:r>
            <a:endParaRPr lang="tr-TR" sz="3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332656"/>
            <a:ext cx="8496944" cy="6192688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</a:t>
            </a:r>
            <a:r>
              <a:rPr lang="tr-TR" sz="4700" b="1" dirty="0" smtClean="0">
                <a:solidFill>
                  <a:srgbClr val="FF0000"/>
                </a:solidFill>
              </a:rPr>
              <a:t>KRİTİK OLMAYAN ALETLER</a:t>
            </a:r>
          </a:p>
          <a:p>
            <a:pPr>
              <a:buNone/>
            </a:pPr>
            <a:endParaRPr lang="tr-TR" sz="4700" b="1" dirty="0" smtClean="0"/>
          </a:p>
          <a:p>
            <a:r>
              <a:rPr lang="tr-TR" b="1" dirty="0" err="1" smtClean="0"/>
              <a:t>Steteskoplar</a:t>
            </a:r>
            <a:endParaRPr lang="tr-TR" b="1" dirty="0" smtClean="0"/>
          </a:p>
          <a:p>
            <a:r>
              <a:rPr lang="tr-TR" b="1" dirty="0" smtClean="0"/>
              <a:t>Kulak </a:t>
            </a:r>
            <a:r>
              <a:rPr lang="tr-TR" b="1" dirty="0" err="1" smtClean="0"/>
              <a:t>spekulumu</a:t>
            </a:r>
            <a:endParaRPr lang="tr-TR" b="1" dirty="0" smtClean="0"/>
          </a:p>
          <a:p>
            <a:r>
              <a:rPr lang="tr-TR" b="1" dirty="0" smtClean="0"/>
              <a:t>Tansiyon aleti manşeti </a:t>
            </a:r>
          </a:p>
          <a:p>
            <a:r>
              <a:rPr lang="tr-TR" b="1" dirty="0" err="1" smtClean="0"/>
              <a:t>Diyalizat</a:t>
            </a:r>
            <a:r>
              <a:rPr lang="tr-TR" b="1" dirty="0" smtClean="0"/>
              <a:t> ile temas halindeki hemodiyaliz yüzeyleri</a:t>
            </a:r>
          </a:p>
          <a:p>
            <a:r>
              <a:rPr lang="tr-TR" b="1" dirty="0" smtClean="0"/>
              <a:t>Yatak çarşafı</a:t>
            </a:r>
          </a:p>
          <a:p>
            <a:r>
              <a:rPr lang="tr-TR" b="1" dirty="0" smtClean="0"/>
              <a:t>EKG elektrotları</a:t>
            </a:r>
          </a:p>
          <a:p>
            <a:r>
              <a:rPr lang="tr-TR" b="1" dirty="0" err="1" smtClean="0"/>
              <a:t>Küvözler</a:t>
            </a:r>
            <a:endParaRPr lang="tr-TR" b="1" dirty="0" smtClean="0"/>
          </a:p>
          <a:p>
            <a:r>
              <a:rPr lang="tr-TR" b="1" dirty="0" smtClean="0"/>
              <a:t>Sürgüler</a:t>
            </a:r>
          </a:p>
          <a:p>
            <a:r>
              <a:rPr lang="tr-TR" b="1" dirty="0" smtClean="0"/>
              <a:t>Yemek kapları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TEMİZ OLMALARI YETERLİDİR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VÜCUT SIVILARIYLA KİRLENDİĞİNDE DÜŞÜK DÜZEY DEZENFEKTAN UYGULANIR</a:t>
            </a:r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404664"/>
            <a:ext cx="8424936" cy="6048672"/>
          </a:xfrm>
        </p:spPr>
        <p:txBody>
          <a:bodyPr/>
          <a:lstStyle/>
          <a:p>
            <a:pPr algn="ctr">
              <a:buNone/>
            </a:pPr>
            <a:r>
              <a:rPr lang="tr-TR" b="1" dirty="0" smtClean="0">
                <a:solidFill>
                  <a:srgbClr val="FF0000"/>
                </a:solidFill>
              </a:rPr>
              <a:t>TIBBİ GEREÇLER İÇİN STERİLİZASYON YAPILMAK İSTENİRSE </a:t>
            </a:r>
          </a:p>
          <a:p>
            <a:pPr algn="ctr">
              <a:buNone/>
            </a:pPr>
            <a:r>
              <a:rPr lang="tr-TR" b="1" dirty="0" smtClean="0">
                <a:solidFill>
                  <a:srgbClr val="FF0000"/>
                </a:solidFill>
              </a:rPr>
              <a:t>HANGİ YÖNTEM SEÇİLMELİ?</a:t>
            </a:r>
            <a:endParaRPr lang="tr-TR" sz="2800" b="1" dirty="0" smtClean="0">
              <a:solidFill>
                <a:srgbClr val="0070C0"/>
              </a:solidFill>
            </a:endParaRPr>
          </a:p>
          <a:p>
            <a:r>
              <a:rPr lang="tr-TR" b="1" dirty="0" smtClean="0">
                <a:solidFill>
                  <a:srgbClr val="0070C0"/>
                </a:solidFill>
              </a:rPr>
              <a:t>Sterilizasyon</a:t>
            </a:r>
          </a:p>
          <a:p>
            <a:pPr>
              <a:buNone/>
            </a:pPr>
            <a:r>
              <a:rPr lang="tr-TR" b="1" dirty="0" smtClean="0">
                <a:solidFill>
                  <a:srgbClr val="0070C0"/>
                </a:solidFill>
              </a:rPr>
              <a:t>			( Kritik malzemeler)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Yüksek Düzey Dezenfektanlar </a:t>
            </a:r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(yarı kritik malzemeler)</a:t>
            </a:r>
          </a:p>
          <a:p>
            <a:r>
              <a:rPr lang="tr-TR" b="1" dirty="0" smtClean="0">
                <a:solidFill>
                  <a:srgbClr val="00B050"/>
                </a:solidFill>
              </a:rPr>
              <a:t>Düşük düzey dezenfeksiyon</a:t>
            </a:r>
          </a:p>
          <a:p>
            <a:pPr>
              <a:buNone/>
            </a:pPr>
            <a:r>
              <a:rPr lang="tr-TR" b="1" dirty="0" smtClean="0">
                <a:solidFill>
                  <a:srgbClr val="00B050"/>
                </a:solidFill>
              </a:rPr>
              <a:t>			(Kritik olmayan malzemeler )</a:t>
            </a:r>
          </a:p>
          <a:p>
            <a:endParaRPr lang="tr-TR" sz="2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ENDOSKOPLAR 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3600" b="1" dirty="0" smtClean="0"/>
              <a:t>Yarı kritik </a:t>
            </a:r>
          </a:p>
          <a:p>
            <a:r>
              <a:rPr lang="tr-TR" sz="3600" b="1" dirty="0" smtClean="0"/>
              <a:t>Yüksek düzey dezenfeksiyon </a:t>
            </a:r>
          </a:p>
          <a:p>
            <a:endParaRPr lang="tr-TR" b="1" dirty="0"/>
          </a:p>
        </p:txBody>
      </p:sp>
      <p:pic>
        <p:nvPicPr>
          <p:cNvPr id="6922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2852936"/>
            <a:ext cx="4499992" cy="354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sz="3100" b="1" dirty="0" smtClean="0">
                <a:solidFill>
                  <a:srgbClr val="FF0000"/>
                </a:solidFill>
              </a:rPr>
              <a:t>LAPAROSKOP-ARTROSKOP-SİSTOSKOP STERİLİZASYON MU? YÜKSEK DÜZEY DEZENFEKSİYON MU? </a:t>
            </a:r>
            <a:br>
              <a:rPr lang="tr-TR" sz="3100" b="1" dirty="0" smtClean="0">
                <a:solidFill>
                  <a:srgbClr val="FF0000"/>
                </a:solidFill>
              </a:rPr>
            </a:br>
            <a:endParaRPr lang="tr-TR" sz="31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Steril boşluğa girdiklerinden steril olmalıdır </a:t>
            </a:r>
          </a:p>
          <a:p>
            <a:r>
              <a:rPr lang="tr-TR" b="1" dirty="0" smtClean="0"/>
              <a:t>Yüksek düzey dezenfeksiyon ile steril işlemler  arasında </a:t>
            </a:r>
            <a:r>
              <a:rPr lang="tr-TR" b="1" dirty="0" err="1" smtClean="0"/>
              <a:t>infeksiyon</a:t>
            </a:r>
            <a:r>
              <a:rPr lang="tr-TR" b="1" dirty="0" smtClean="0"/>
              <a:t> açısından fark yoktur </a:t>
            </a:r>
          </a:p>
          <a:p>
            <a:r>
              <a:rPr lang="tr-TR" b="1" dirty="0" err="1" smtClean="0">
                <a:solidFill>
                  <a:srgbClr val="FF0000"/>
                </a:solidFill>
              </a:rPr>
              <a:t>İnfeksiyon</a:t>
            </a:r>
            <a:r>
              <a:rPr lang="tr-TR" b="1" dirty="0" smtClean="0">
                <a:solidFill>
                  <a:srgbClr val="FF0000"/>
                </a:solidFill>
              </a:rPr>
              <a:t> gelişen vakalarda önerilen dezenfeksiyon sürelerine uyulmadığı görülür 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Dezenfeksiyon sonrası steril su ile durulama yapılmalıdır ÖNEMLİ….</a:t>
            </a:r>
          </a:p>
          <a:p>
            <a:pPr>
              <a:buNone/>
            </a:pPr>
            <a:endParaRPr lang="tr-TR" b="1" dirty="0" smtClean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ENDOSKOP DEZENFEKSİYONU AŞAMALARI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1- Ön temizlik </a:t>
            </a:r>
          </a:p>
          <a:p>
            <a:r>
              <a:rPr lang="tr-TR" sz="2800" b="1" dirty="0" smtClean="0"/>
              <a:t>2- Kaçak testi </a:t>
            </a:r>
          </a:p>
          <a:p>
            <a:r>
              <a:rPr lang="tr-TR" sz="2800" b="1" dirty="0" smtClean="0"/>
              <a:t>3- Temizlik </a:t>
            </a:r>
          </a:p>
          <a:p>
            <a:r>
              <a:rPr lang="tr-TR" sz="2800" b="1" dirty="0" smtClean="0"/>
              <a:t>4- Yüksek düzey dezenfeksiyon </a:t>
            </a:r>
          </a:p>
          <a:p>
            <a:r>
              <a:rPr lang="tr-TR" sz="2800" b="1" dirty="0" smtClean="0"/>
              <a:t>5- Durulama </a:t>
            </a:r>
          </a:p>
          <a:p>
            <a:r>
              <a:rPr lang="tr-TR" sz="2800" b="1" dirty="0" smtClean="0"/>
              <a:t>6- Kurulama</a:t>
            </a:r>
            <a:endParaRPr lang="tr-TR" sz="2800" b="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539552" y="692696"/>
            <a:ext cx="8136904" cy="5433467"/>
          </a:xfrm>
        </p:spPr>
        <p:txBody>
          <a:bodyPr/>
          <a:lstStyle/>
          <a:p>
            <a:pPr algn="ctr">
              <a:buNone/>
            </a:pPr>
            <a:endParaRPr lang="tr-TR" dirty="0" smtClean="0"/>
          </a:p>
          <a:p>
            <a:pPr algn="ctr">
              <a:buNone/>
            </a:pPr>
            <a:r>
              <a:rPr lang="tr-TR" b="1" dirty="0" smtClean="0">
                <a:solidFill>
                  <a:srgbClr val="FF3399"/>
                </a:solidFill>
              </a:rPr>
              <a:t>DÜZGÜN BİR TEMİZLİK </a:t>
            </a:r>
          </a:p>
          <a:p>
            <a:pPr algn="ctr">
              <a:buNone/>
            </a:pPr>
            <a:r>
              <a:rPr lang="tr-TR" b="1" dirty="0" smtClean="0">
                <a:solidFill>
                  <a:srgbClr val="FF3399"/>
                </a:solidFill>
              </a:rPr>
              <a:t>MİKOBAKTERİ YÜKÜNÜ </a:t>
            </a:r>
          </a:p>
          <a:p>
            <a:pPr algn="ctr">
              <a:buNone/>
            </a:pPr>
            <a:r>
              <a:rPr lang="tr-TR" b="1" dirty="0" smtClean="0">
                <a:solidFill>
                  <a:srgbClr val="FF3399"/>
                </a:solidFill>
              </a:rPr>
              <a:t>&gt;10⁴ KAT (%99,9) AZALTIR</a:t>
            </a:r>
            <a:endParaRPr lang="tr-TR" b="1" dirty="0">
              <a:solidFill>
                <a:srgbClr val="FF3399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ENDOSKOP DEZENFEKSİYONU 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2800" b="1" dirty="0" smtClean="0"/>
              <a:t>1- TEMİZLİK (Silme, Yıkama) </a:t>
            </a:r>
          </a:p>
          <a:p>
            <a:pPr>
              <a:buNone/>
            </a:pPr>
            <a:r>
              <a:rPr lang="tr-TR" sz="2800" b="1" dirty="0" smtClean="0"/>
              <a:t>		–Temizlemek bakteri yükünü 4-6 </a:t>
            </a:r>
            <a:r>
              <a:rPr lang="tr-TR" sz="2800" b="1" dirty="0" err="1" smtClean="0"/>
              <a:t>log</a:t>
            </a:r>
            <a:r>
              <a:rPr lang="tr-TR" sz="2800" b="1" dirty="0" smtClean="0"/>
              <a:t> azaltır </a:t>
            </a:r>
          </a:p>
          <a:p>
            <a:pPr>
              <a:buNone/>
            </a:pPr>
            <a:r>
              <a:rPr lang="tr-TR" sz="2800" b="1" dirty="0" smtClean="0"/>
              <a:t>		–HIV </a:t>
            </a:r>
            <a:r>
              <a:rPr lang="tr-TR" sz="2800" b="1" dirty="0" err="1" smtClean="0"/>
              <a:t>kontamine</a:t>
            </a:r>
            <a:r>
              <a:rPr lang="tr-TR" sz="2800" b="1" dirty="0" smtClean="0"/>
              <a:t> endoskoplardan virüsün  	temizlik ile tamamen uzaklaştırıldığı 	gösterilmiştir </a:t>
            </a:r>
          </a:p>
          <a:p>
            <a:r>
              <a:rPr lang="tr-TR" sz="2800" b="1" dirty="0" smtClean="0"/>
              <a:t>2- YDD/STERİLİZASYON </a:t>
            </a:r>
            <a:r>
              <a:rPr lang="tr-TR" sz="2200" b="1" dirty="0" smtClean="0">
                <a:solidFill>
                  <a:srgbClr val="7030A0"/>
                </a:solidFill>
              </a:rPr>
              <a:t>YDD: Yüksek düzey dezenfeksiyon </a:t>
            </a:r>
          </a:p>
          <a:p>
            <a:pPr>
              <a:buNone/>
            </a:pPr>
            <a:r>
              <a:rPr lang="tr-TR" sz="2800" b="1" dirty="0" smtClean="0"/>
              <a:t>		– </a:t>
            </a:r>
            <a:r>
              <a:rPr lang="tr-TR" sz="2800" b="1" dirty="0" err="1" smtClean="0"/>
              <a:t>Sterilan</a:t>
            </a:r>
            <a:r>
              <a:rPr lang="tr-TR" sz="2800" b="1" dirty="0" smtClean="0"/>
              <a:t> tüm kanallardan geçirilmeli </a:t>
            </a:r>
          </a:p>
          <a:p>
            <a:pPr>
              <a:buNone/>
            </a:pPr>
            <a:r>
              <a:rPr lang="tr-TR" sz="2800" b="1" dirty="0" smtClean="0"/>
              <a:t>		–Aleti tamamen örtmeli </a:t>
            </a:r>
          </a:p>
          <a:p>
            <a:pPr>
              <a:buNone/>
            </a:pPr>
            <a:r>
              <a:rPr lang="tr-TR" sz="2800" b="1" dirty="0" smtClean="0"/>
              <a:t>		– Süreye uyum </a:t>
            </a:r>
          </a:p>
          <a:p>
            <a:pPr>
              <a:buNone/>
            </a:pPr>
            <a:endParaRPr lang="tr-TR" sz="2000" b="1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ENDOSKOP DEZENFEKSİYONU 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3- DURULAMA </a:t>
            </a:r>
          </a:p>
          <a:p>
            <a:pPr>
              <a:buNone/>
            </a:pPr>
            <a:r>
              <a:rPr lang="tr-TR" sz="2800" b="1" dirty="0" smtClean="0"/>
              <a:t>		–Steril/</a:t>
            </a:r>
            <a:r>
              <a:rPr lang="tr-TR" sz="2800" b="1" dirty="0" err="1" smtClean="0"/>
              <a:t>filte</a:t>
            </a:r>
            <a:r>
              <a:rPr lang="tr-TR" sz="2800" b="1" dirty="0" smtClean="0"/>
              <a:t> edilmiş/ musluk suyu </a:t>
            </a:r>
          </a:p>
          <a:p>
            <a:pPr>
              <a:buNone/>
            </a:pPr>
            <a:r>
              <a:rPr lang="tr-TR" sz="2800" b="1" dirty="0" smtClean="0"/>
              <a:t>		–Alkol ile muamele </a:t>
            </a:r>
          </a:p>
          <a:p>
            <a:r>
              <a:rPr lang="tr-TR" sz="2800" b="1" dirty="0" smtClean="0"/>
              <a:t>4- KURULAMA </a:t>
            </a:r>
          </a:p>
          <a:p>
            <a:pPr>
              <a:buNone/>
            </a:pPr>
            <a:r>
              <a:rPr lang="tr-TR" sz="2800" b="1" dirty="0" smtClean="0"/>
              <a:t>		–basınçlı hava ile </a:t>
            </a:r>
          </a:p>
          <a:p>
            <a:r>
              <a:rPr lang="tr-TR" sz="2800" b="1" dirty="0" smtClean="0"/>
              <a:t>5- SAKLAMA </a:t>
            </a:r>
          </a:p>
          <a:p>
            <a:pPr>
              <a:buNone/>
            </a:pPr>
            <a:r>
              <a:rPr lang="tr-TR" sz="2800" b="1" dirty="0" smtClean="0"/>
              <a:t>		–</a:t>
            </a:r>
            <a:r>
              <a:rPr lang="tr-TR" sz="2800" b="1" dirty="0" err="1" smtClean="0"/>
              <a:t>Kontaminasyonu</a:t>
            </a:r>
            <a:r>
              <a:rPr lang="tr-TR" sz="2800" b="1" dirty="0" smtClean="0"/>
              <a:t> engelleyecek şekilde ,asılarak 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3399"/>
                </a:solidFill>
              </a:rPr>
              <a:t>PROPLAR İÇİN KULLANILAN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Yüksek düzey </a:t>
            </a:r>
            <a:r>
              <a:rPr lang="tr-TR" b="1" dirty="0" smtClean="0"/>
              <a:t>dezenfeksiyon </a:t>
            </a:r>
            <a:r>
              <a:rPr lang="tr-TR" b="1" dirty="0" smtClean="0"/>
              <a:t>+ her hastada </a:t>
            </a:r>
            <a:r>
              <a:rPr lang="tr-TR" b="1" dirty="0" err="1" smtClean="0"/>
              <a:t>prob</a:t>
            </a:r>
            <a:r>
              <a:rPr lang="tr-TR" b="1" dirty="0" smtClean="0"/>
              <a:t> kaplayıcı veya kondom kullanılır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188640"/>
            <a:ext cx="8424936" cy="6336704"/>
          </a:xfrm>
        </p:spPr>
        <p:txBody>
          <a:bodyPr>
            <a:normAutofit fontScale="62500" lnSpcReduction="20000"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tr-TR" b="1" dirty="0" smtClean="0">
                <a:solidFill>
                  <a:srgbClr val="0070C0"/>
                </a:solidFill>
                <a:cs typeface="Times New Roman" pitchFamily="18" charset="0"/>
              </a:rPr>
              <a:t> 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tr-TR" sz="5100" b="1" dirty="0" smtClean="0">
                <a:solidFill>
                  <a:srgbClr val="0070C0"/>
                </a:solidFill>
                <a:cs typeface="Times New Roman" pitchFamily="18" charset="0"/>
              </a:rPr>
              <a:t>STERİLİZASYON  YÖNTEMLERİ</a:t>
            </a:r>
            <a:endParaRPr lang="tr-TR" sz="51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tr-TR" sz="38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I-ISI İLE STERİLİZASYON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4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2400" b="1" dirty="0" smtClean="0">
                <a:cs typeface="Times New Roman" pitchFamily="18" charset="0"/>
              </a:rPr>
              <a:t>    </a:t>
            </a:r>
            <a:r>
              <a:rPr lang="tr-TR" b="1" dirty="0" smtClean="0">
                <a:cs typeface="Times New Roman" pitchFamily="18" charset="0"/>
              </a:rPr>
              <a:t>1-Kuru sıcak hava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2-Kızıl dereceye kadar ısıtma veya yakma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3-Alevden geçirme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4-Nemli ısı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A-Sıcak su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Kaynatma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</a:t>
            </a:r>
            <a:r>
              <a:rPr lang="tr-TR" sz="3300" b="1" dirty="0" err="1" smtClean="0">
                <a:cs typeface="Times New Roman" pitchFamily="18" charset="0"/>
              </a:rPr>
              <a:t>Tindalizasyon</a:t>
            </a:r>
            <a:endParaRPr lang="tr-TR" sz="33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B-Buharlı ısı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Basınçlı buhar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Basınçsız buhar 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2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800" b="1" dirty="0" smtClean="0">
                <a:solidFill>
                  <a:srgbClr val="FF0000"/>
                </a:solidFill>
                <a:cs typeface="Times New Roman" pitchFamily="18" charset="0"/>
              </a:rPr>
              <a:t>II-SÜZME (FİLTRASYON) İLE STERİLİZASYON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38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800" b="1" dirty="0" smtClean="0">
                <a:solidFill>
                  <a:srgbClr val="FF0000"/>
                </a:solidFill>
                <a:cs typeface="Times New Roman" pitchFamily="18" charset="0"/>
              </a:rPr>
              <a:t>III-KİMYASAL MADDELERLE STERİLİZASYON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2900" b="1" dirty="0" smtClean="0">
                <a:cs typeface="Times New Roman" pitchFamily="18" charset="0"/>
              </a:rPr>
              <a:t>	1- Kimyasal gazlarla sterilizasyon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2900" b="1" dirty="0" smtClean="0">
                <a:cs typeface="Times New Roman" pitchFamily="18" charset="0"/>
              </a:rPr>
              <a:t>	2- Kimyasal sıvılarla sterilizasyon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4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2400" b="1" dirty="0" smtClean="0">
                <a:cs typeface="Times New Roman" pitchFamily="18" charset="0"/>
              </a:rPr>
              <a:t> </a:t>
            </a:r>
            <a:r>
              <a:rPr lang="tr-TR" sz="3800" b="1" dirty="0" smtClean="0">
                <a:solidFill>
                  <a:srgbClr val="FF0000"/>
                </a:solidFill>
                <a:cs typeface="Times New Roman" pitchFamily="18" charset="0"/>
              </a:rPr>
              <a:t>IV- RADYASYON (IŞINLAMA) İLE STERİLİZASYON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4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2400" b="1" dirty="0" smtClean="0">
                <a:cs typeface="Times New Roman" pitchFamily="18" charset="0"/>
              </a:rPr>
              <a:t>        </a:t>
            </a:r>
            <a:r>
              <a:rPr lang="tr-TR" b="1" dirty="0" smtClean="0">
                <a:cs typeface="Times New Roman" pitchFamily="18" charset="0"/>
              </a:rPr>
              <a:t>1- Ultraviyole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   2- X ve gama ışınları</a:t>
            </a:r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404664"/>
            <a:ext cx="8208912" cy="6120680"/>
          </a:xfrm>
        </p:spPr>
        <p:txBody>
          <a:bodyPr>
            <a:normAutofit fontScale="70000" lnSpcReduction="20000"/>
          </a:bodyPr>
          <a:lstStyle/>
          <a:p>
            <a:r>
              <a:rPr lang="tr-TR" sz="3600" b="1" dirty="0" smtClean="0">
                <a:solidFill>
                  <a:srgbClr val="FF0000"/>
                </a:solidFill>
                <a:cs typeface="Times New Roman" pitchFamily="18" charset="0"/>
              </a:rPr>
              <a:t>I-ISI İLE STERİLİZASYON</a:t>
            </a:r>
          </a:p>
          <a:p>
            <a:pPr>
              <a:buNone/>
            </a:pPr>
            <a:endParaRPr lang="tr-TR" sz="3600" b="1" dirty="0" smtClean="0">
              <a:solidFill>
                <a:srgbClr val="FF0000"/>
              </a:solidFill>
              <a:cs typeface="Times New Roman" pitchFamily="18" charset="0"/>
            </a:endParaRPr>
          </a:p>
          <a:p>
            <a:r>
              <a:rPr lang="tr-TR" b="1" dirty="0" smtClean="0">
                <a:cs typeface="Times New Roman" pitchFamily="18" charset="0"/>
              </a:rPr>
              <a:t>Güvenlik, etkinlik, zararsızlık, kolay kullanım ve ekonomik açıdan üstün özellikleriyle ısı en sık kullanılan mikrop öldürme yöntemidir.</a:t>
            </a:r>
          </a:p>
          <a:p>
            <a:r>
              <a:rPr lang="tr-TR" b="1" dirty="0" smtClean="0">
                <a:cs typeface="Times New Roman" pitchFamily="18" charset="0"/>
              </a:rPr>
              <a:t>Belirli sıcaklıklar üzerinde proteinler pıhtılaşmaya başladığından mikroplar ölmeye başlarlar.</a:t>
            </a:r>
          </a:p>
          <a:p>
            <a:r>
              <a:rPr lang="tr-TR" b="1" dirty="0" smtClean="0">
                <a:cs typeface="Times New Roman" pitchFamily="18" charset="0"/>
              </a:rPr>
              <a:t>Sıvı veya buhar halindeki nemli ısı kuru ısıya göre çok daha yüksek enerji taşır ve ısısını kolay iletir.</a:t>
            </a:r>
          </a:p>
          <a:p>
            <a:r>
              <a:rPr lang="tr-TR" b="1" dirty="0" smtClean="0">
                <a:cs typeface="Times New Roman" pitchFamily="18" charset="0"/>
              </a:rPr>
              <a:t>Isı tüm mikroorganizmalara etkilidir. Ancak direnç farkları bulunmaktadır. Etkinlik ısı derecesi, ısının dağılımı, temas süresi, mikrop cinsi ve yoğunluğu, ortam özelliklerine (organik, inorganik maddeler, </a:t>
            </a:r>
            <a:r>
              <a:rPr lang="tr-TR" b="1" dirty="0" err="1" smtClean="0">
                <a:cs typeface="Times New Roman" pitchFamily="18" charset="0"/>
              </a:rPr>
              <a:t>pH</a:t>
            </a:r>
            <a:r>
              <a:rPr lang="tr-TR" b="1" dirty="0" smtClean="0">
                <a:cs typeface="Times New Roman" pitchFamily="18" charset="0"/>
              </a:rPr>
              <a:t>,…) göre değişebilmektedir.</a:t>
            </a:r>
          </a:p>
          <a:p>
            <a:pPr>
              <a:lnSpc>
                <a:spcPct val="90000"/>
              </a:lnSpc>
            </a:pPr>
            <a:endParaRPr lang="tr-TR" b="1" dirty="0" smtClean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tr-TR" b="1" dirty="0" smtClean="0">
                <a:cs typeface="Times New Roman" pitchFamily="18" charset="0"/>
              </a:rPr>
              <a:t>Yüksek ısı ile sterilizasyon 4 grup altında toplanır.</a:t>
            </a:r>
          </a:p>
          <a:p>
            <a:pPr>
              <a:lnSpc>
                <a:spcPct val="90000"/>
              </a:lnSpc>
            </a:pPr>
            <a:endParaRPr lang="tr-TR" sz="1000" b="1" dirty="0" smtClean="0"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	  </a:t>
            </a:r>
            <a:r>
              <a:rPr lang="tr-TR" b="1" dirty="0" smtClean="0">
                <a:solidFill>
                  <a:srgbClr val="CC3300"/>
                </a:solidFill>
                <a:cs typeface="Times New Roman" pitchFamily="18" charset="0"/>
              </a:rPr>
              <a:t>A-Kuru ısı ile sterilizasyon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b="1" dirty="0" smtClean="0">
                <a:solidFill>
                  <a:srgbClr val="CC3300"/>
                </a:solidFill>
                <a:cs typeface="Times New Roman" pitchFamily="18" charset="0"/>
              </a:rPr>
              <a:t>        B-Kızıl dereceye kadar ısıtma ve yakma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b="1" dirty="0" smtClean="0">
                <a:solidFill>
                  <a:srgbClr val="CC3300"/>
                </a:solidFill>
                <a:cs typeface="Times New Roman" pitchFamily="18" charset="0"/>
              </a:rPr>
              <a:t>        C-Alevden geçirme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b="1" dirty="0" smtClean="0">
                <a:solidFill>
                  <a:srgbClr val="CC3300"/>
                </a:solidFill>
                <a:cs typeface="Times New Roman" pitchFamily="18" charset="0"/>
              </a:rPr>
              <a:t>        D-Nemli ısı ile sterilizasyon</a:t>
            </a:r>
          </a:p>
          <a:p>
            <a:endParaRPr lang="tr-TR" b="1" dirty="0" smtClean="0"/>
          </a:p>
          <a:p>
            <a:endParaRPr lang="tr-T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332656"/>
            <a:ext cx="8568952" cy="626469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tr-TR" b="1" dirty="0" smtClean="0">
                <a:solidFill>
                  <a:srgbClr val="FF0000"/>
                </a:solidFill>
                <a:cs typeface="Times New Roman" pitchFamily="18" charset="0"/>
              </a:rPr>
              <a:t>I-ISI İLE STERİLİZASYON</a:t>
            </a:r>
          </a:p>
          <a:p>
            <a:pPr>
              <a:lnSpc>
                <a:spcPct val="80000"/>
              </a:lnSpc>
              <a:buNone/>
            </a:pPr>
            <a:r>
              <a:rPr lang="tr-TR" sz="2400" b="1" dirty="0" smtClean="0">
                <a:solidFill>
                  <a:srgbClr val="CC3300"/>
                </a:solidFill>
                <a:cs typeface="Times New Roman" pitchFamily="18" charset="0"/>
              </a:rPr>
              <a:t>	</a:t>
            </a:r>
            <a:r>
              <a:rPr lang="tr-TR" b="1" dirty="0" smtClean="0">
                <a:solidFill>
                  <a:srgbClr val="7030A0"/>
                </a:solidFill>
                <a:cs typeface="Times New Roman" pitchFamily="18" charset="0"/>
              </a:rPr>
              <a:t>A-Kuru ısı ile sterilizasyon</a:t>
            </a:r>
          </a:p>
          <a:p>
            <a:pPr>
              <a:lnSpc>
                <a:spcPct val="80000"/>
              </a:lnSpc>
              <a:buNone/>
            </a:pPr>
            <a:r>
              <a:rPr lang="tr-TR" sz="2400" b="1" dirty="0" smtClean="0">
                <a:cs typeface="Times New Roman" pitchFamily="18" charset="0"/>
              </a:rPr>
              <a:t>		Bu amaçla </a:t>
            </a:r>
            <a:r>
              <a:rPr lang="tr-TR" sz="2400" b="1" dirty="0" smtClean="0">
                <a:solidFill>
                  <a:srgbClr val="FF0000"/>
                </a:solidFill>
                <a:cs typeface="Times New Roman" pitchFamily="18" charset="0"/>
              </a:rPr>
              <a:t>PASTÖR FIRINI </a:t>
            </a:r>
            <a:r>
              <a:rPr lang="tr-TR" sz="2400" b="1" dirty="0" smtClean="0">
                <a:cs typeface="Times New Roman" pitchFamily="18" charset="0"/>
              </a:rPr>
              <a:t>adı verilen </a:t>
            </a:r>
            <a:r>
              <a:rPr lang="tr-TR" sz="2400" b="1" dirty="0" smtClean="0">
                <a:solidFill>
                  <a:srgbClr val="00B050"/>
                </a:solidFill>
                <a:cs typeface="Times New Roman" pitchFamily="18" charset="0"/>
              </a:rPr>
              <a:t>KURU SICAK HAVA STERİLİZASYON cihazı kullanılır </a:t>
            </a:r>
          </a:p>
          <a:p>
            <a:pPr>
              <a:lnSpc>
                <a:spcPct val="80000"/>
              </a:lnSpc>
              <a:buNone/>
            </a:pPr>
            <a:r>
              <a:rPr lang="tr-TR" sz="2400" b="1" dirty="0" smtClean="0">
                <a:cs typeface="Times New Roman" pitchFamily="18" charset="0"/>
              </a:rPr>
              <a:t>		Kuru sıcak ısı ile cam ve metalden yapılmış malzemeler ve     buna benzer yüksek ısıda bozulmayacak maddeler steril edilir </a:t>
            </a:r>
          </a:p>
          <a:p>
            <a:pPr>
              <a:lnSpc>
                <a:spcPct val="80000"/>
              </a:lnSpc>
              <a:buNone/>
            </a:pPr>
            <a:r>
              <a:rPr lang="tr-TR" sz="2400" b="1" dirty="0" smtClean="0">
                <a:cs typeface="Times New Roman" pitchFamily="18" charset="0"/>
              </a:rPr>
              <a:t>150 </a:t>
            </a:r>
            <a:r>
              <a:rPr lang="tr-TR" sz="2400" b="1" baseline="30000" dirty="0" smtClean="0">
                <a:cs typeface="Times New Roman" pitchFamily="18" charset="0"/>
              </a:rPr>
              <a:t>0</a:t>
            </a:r>
            <a:r>
              <a:rPr lang="tr-TR" sz="2400" b="1" dirty="0" smtClean="0">
                <a:cs typeface="Times New Roman" pitchFamily="18" charset="0"/>
              </a:rPr>
              <a:t> C‘ de 2.5 saat </a:t>
            </a:r>
          </a:p>
          <a:p>
            <a:pPr>
              <a:lnSpc>
                <a:spcPct val="80000"/>
              </a:lnSpc>
              <a:buNone/>
            </a:pPr>
            <a:r>
              <a:rPr lang="tr-TR" sz="2400" b="1" dirty="0" smtClean="0">
                <a:cs typeface="Times New Roman" pitchFamily="18" charset="0"/>
              </a:rPr>
              <a:t>160 </a:t>
            </a:r>
            <a:r>
              <a:rPr lang="tr-TR" sz="2400" b="1" baseline="30000" dirty="0" smtClean="0">
                <a:cs typeface="Times New Roman" pitchFamily="18" charset="0"/>
              </a:rPr>
              <a:t>0</a:t>
            </a:r>
            <a:r>
              <a:rPr lang="tr-TR" sz="2400" b="1" dirty="0" smtClean="0">
                <a:cs typeface="Times New Roman" pitchFamily="18" charset="0"/>
              </a:rPr>
              <a:t> C‘ de 2 saat</a:t>
            </a:r>
          </a:p>
          <a:p>
            <a:pPr>
              <a:lnSpc>
                <a:spcPct val="80000"/>
              </a:lnSpc>
              <a:buNone/>
            </a:pPr>
            <a:r>
              <a:rPr lang="tr-TR" sz="2400" b="1" dirty="0" smtClean="0">
                <a:cs typeface="Times New Roman" pitchFamily="18" charset="0"/>
              </a:rPr>
              <a:t>170 </a:t>
            </a:r>
            <a:r>
              <a:rPr lang="tr-TR" sz="2400" b="1" baseline="30000" dirty="0" smtClean="0">
                <a:cs typeface="Times New Roman" pitchFamily="18" charset="0"/>
              </a:rPr>
              <a:t>0</a:t>
            </a:r>
            <a:r>
              <a:rPr lang="tr-TR" sz="2400" b="1" dirty="0" smtClean="0">
                <a:cs typeface="Times New Roman" pitchFamily="18" charset="0"/>
              </a:rPr>
              <a:t>C'de 1 saat </a:t>
            </a:r>
          </a:p>
          <a:p>
            <a:pPr>
              <a:buNone/>
            </a:pPr>
            <a:endParaRPr lang="tr-TR" sz="2400" dirty="0"/>
          </a:p>
        </p:txBody>
      </p:sp>
      <p:pic>
        <p:nvPicPr>
          <p:cNvPr id="1026" name="Picture 2" descr="C:\Users\deniz\Desktop\M420B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3717032"/>
            <a:ext cx="4608512" cy="277074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PASTÖR FIRINI NEDİR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 smtClean="0"/>
              <a:t>Pastör</a:t>
            </a:r>
            <a:r>
              <a:rPr lang="tr-TR" b="1" dirty="0" smtClean="0"/>
              <a:t> fırını, termostatlı ve elektrik ile çalışan, üzerinde sıcaklık ve zaman ayarı için gösterge ve düğmeleri olan fırınlardır</a:t>
            </a:r>
          </a:p>
          <a:p>
            <a:r>
              <a:rPr lang="tr-TR" b="1" dirty="0" smtClean="0"/>
              <a:t>Fırında nem olmaksızın kuru sıcak ortam sağlanır</a:t>
            </a:r>
          </a:p>
          <a:p>
            <a:r>
              <a:rPr lang="tr-TR" b="1" dirty="0" smtClean="0"/>
              <a:t>Nem olmadığı için sterilizasyonu sağlamak üzere yüksek sıcakların uzun süre uygulanması gerekir</a:t>
            </a:r>
            <a:endParaRPr lang="tr-TR" b="1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476672"/>
            <a:ext cx="8424936" cy="5976664"/>
          </a:xfrm>
        </p:spPr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  <a:cs typeface="Times New Roman" pitchFamily="18" charset="0"/>
              </a:rPr>
              <a:t>I-ISI İLE STERİLİZASYON</a:t>
            </a:r>
          </a:p>
          <a:p>
            <a:pPr>
              <a:buNone/>
            </a:pPr>
            <a:r>
              <a:rPr lang="tr-TR" sz="2400" b="1" dirty="0" smtClean="0">
                <a:cs typeface="Times New Roman" pitchFamily="18" charset="0"/>
              </a:rPr>
              <a:t>		</a:t>
            </a:r>
            <a:r>
              <a:rPr lang="tr-TR" b="1" dirty="0" smtClean="0">
                <a:solidFill>
                  <a:srgbClr val="7030A0"/>
                </a:solidFill>
                <a:cs typeface="Times New Roman" pitchFamily="18" charset="0"/>
              </a:rPr>
              <a:t>B-Kızıl Dereceye Kadar Isıtma Ve Yakma</a:t>
            </a:r>
          </a:p>
          <a:p>
            <a:pPr>
              <a:buNone/>
            </a:pPr>
            <a:r>
              <a:rPr lang="tr-TR" b="1" dirty="0" smtClean="0">
                <a:cs typeface="Times New Roman" pitchFamily="18" charset="0"/>
              </a:rPr>
              <a:t>		</a:t>
            </a:r>
            <a:r>
              <a:rPr lang="tr-TR" sz="2400" b="1" dirty="0" smtClean="0">
                <a:cs typeface="Times New Roman" pitchFamily="18" charset="0"/>
              </a:rPr>
              <a:t>Genellikle iğne ve öze denilen mikrobiyoloji </a:t>
            </a:r>
            <a:r>
              <a:rPr lang="tr-TR" sz="2400" b="1" dirty="0" err="1" smtClean="0">
                <a:cs typeface="Times New Roman" pitchFamily="18" charset="0"/>
              </a:rPr>
              <a:t>laboratuvarında</a:t>
            </a:r>
            <a:r>
              <a:rPr lang="tr-TR" sz="2400" b="1" dirty="0" smtClean="0">
                <a:cs typeface="Times New Roman" pitchFamily="18" charset="0"/>
              </a:rPr>
              <a:t> kullanılan ekim aletlerinin sterilizasyonunda kullanılan bir yöntemdir </a:t>
            </a:r>
          </a:p>
          <a:p>
            <a:pPr>
              <a:buNone/>
            </a:pPr>
            <a:endParaRPr lang="tr-TR" dirty="0"/>
          </a:p>
        </p:txBody>
      </p:sp>
      <p:pic>
        <p:nvPicPr>
          <p:cNvPr id="2050" name="Picture 2" descr="C:\Users\Pc\Desktop\images75OQPQC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95528" y="3068960"/>
            <a:ext cx="4068960" cy="3456384"/>
          </a:xfrm>
          <a:prstGeom prst="rect">
            <a:avLst/>
          </a:prstGeom>
          <a:noFill/>
        </p:spPr>
      </p:pic>
      <p:pic>
        <p:nvPicPr>
          <p:cNvPr id="47206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3212976"/>
            <a:ext cx="4392488" cy="3304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476672"/>
            <a:ext cx="8712968" cy="6048672"/>
          </a:xfrm>
        </p:spPr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  <a:cs typeface="Times New Roman" pitchFamily="18" charset="0"/>
              </a:rPr>
              <a:t>I-ISI İLE STERİLİZASYON</a:t>
            </a:r>
          </a:p>
          <a:p>
            <a:pPr>
              <a:buNone/>
            </a:pPr>
            <a:r>
              <a:rPr lang="tr-TR" b="1" dirty="0" smtClean="0">
                <a:solidFill>
                  <a:srgbClr val="CC3300"/>
                </a:solidFill>
                <a:cs typeface="Times New Roman" pitchFamily="18" charset="0"/>
              </a:rPr>
              <a:t>		</a:t>
            </a:r>
            <a:r>
              <a:rPr lang="tr-TR" b="1" dirty="0" smtClean="0">
                <a:solidFill>
                  <a:srgbClr val="7030A0"/>
                </a:solidFill>
                <a:cs typeface="Times New Roman" pitchFamily="18" charset="0"/>
              </a:rPr>
              <a:t>C-Alevden geçirme</a:t>
            </a:r>
          </a:p>
          <a:p>
            <a:pPr>
              <a:buNone/>
            </a:pPr>
            <a:r>
              <a:rPr lang="tr-TR" sz="2400" b="1" dirty="0" smtClean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</a:rPr>
              <a:t>Cam kapların ağızları veya cam aletler alevden geçirmek suretiyle üzerlerinde bulunan mikroorganizmalardan arındırılırlar</a:t>
            </a:r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2996952"/>
            <a:ext cx="6480720" cy="3168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476672"/>
            <a:ext cx="8208912" cy="59766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3500" b="1" dirty="0" smtClean="0">
                <a:solidFill>
                  <a:srgbClr val="FF0000"/>
                </a:solidFill>
                <a:cs typeface="Times New Roman" pitchFamily="18" charset="0"/>
              </a:rPr>
              <a:t>I-ISI İLE STERİLİZASYON</a:t>
            </a:r>
          </a:p>
          <a:p>
            <a:pPr>
              <a:buNone/>
            </a:pPr>
            <a:r>
              <a:rPr lang="tr-TR" b="1" dirty="0" smtClean="0">
                <a:solidFill>
                  <a:srgbClr val="CC3300"/>
                </a:solidFill>
                <a:cs typeface="Times New Roman" pitchFamily="18" charset="0"/>
              </a:rPr>
              <a:t>	</a:t>
            </a:r>
            <a:r>
              <a:rPr lang="tr-TR" b="1" dirty="0" smtClean="0">
                <a:solidFill>
                  <a:srgbClr val="7030A0"/>
                </a:solidFill>
                <a:cs typeface="Times New Roman" pitchFamily="18" charset="0"/>
              </a:rPr>
              <a:t>D-Nemli ısı ile sterilizasyon</a:t>
            </a:r>
          </a:p>
          <a:p>
            <a:r>
              <a:rPr lang="tr-TR" sz="3000" b="1" dirty="0" smtClean="0">
                <a:cs typeface="Times New Roman" pitchFamily="18" charset="0"/>
              </a:rPr>
              <a:t>Bu yöntemle kuru ısı ile steril edilemeyen, yani yüksek kuru ısıya dayanıksız malzemelerin sterilizasyonu yapılır</a:t>
            </a:r>
          </a:p>
          <a:p>
            <a:pPr lvl="2">
              <a:buFontTx/>
              <a:buNone/>
            </a:pPr>
            <a:r>
              <a:rPr lang="tr-TR" sz="2800" b="1" dirty="0" smtClean="0">
                <a:solidFill>
                  <a:srgbClr val="CC3300"/>
                </a:solidFill>
                <a:cs typeface="Times New Roman" pitchFamily="18" charset="0"/>
              </a:rPr>
              <a:t>1 – Sıcak su ile sterilizasyon</a:t>
            </a:r>
          </a:p>
          <a:p>
            <a:pPr lvl="2">
              <a:buFontTx/>
              <a:buNone/>
            </a:pPr>
            <a:r>
              <a:rPr lang="tr-TR" sz="2800" b="1" dirty="0" smtClean="0">
                <a:solidFill>
                  <a:srgbClr val="CC3300"/>
                </a:solidFill>
                <a:cs typeface="Times New Roman" pitchFamily="18" charset="0"/>
              </a:rPr>
              <a:t>		</a:t>
            </a:r>
            <a:r>
              <a:rPr lang="tr-TR" sz="2800" b="1" dirty="0" smtClean="0">
                <a:cs typeface="Times New Roman" pitchFamily="18" charset="0"/>
              </a:rPr>
              <a:t>Kaynatma</a:t>
            </a:r>
          </a:p>
          <a:p>
            <a:pPr lvl="2">
              <a:buFontTx/>
              <a:buNone/>
            </a:pPr>
            <a:r>
              <a:rPr lang="tr-TR" sz="2800" b="1" dirty="0" smtClean="0">
                <a:cs typeface="Times New Roman" pitchFamily="18" charset="0"/>
              </a:rPr>
              <a:t>		</a:t>
            </a:r>
            <a:r>
              <a:rPr lang="tr-TR" sz="2800" b="1" dirty="0" err="1" smtClean="0">
                <a:cs typeface="Times New Roman" pitchFamily="18" charset="0"/>
              </a:rPr>
              <a:t>Tindalizasyon</a:t>
            </a:r>
            <a:endParaRPr lang="tr-TR" sz="2800" b="1" dirty="0" smtClean="0">
              <a:cs typeface="Times New Roman" pitchFamily="18" charset="0"/>
            </a:endParaRPr>
          </a:p>
          <a:p>
            <a:pPr lvl="2">
              <a:buFontTx/>
              <a:buNone/>
            </a:pPr>
            <a:r>
              <a:rPr lang="tr-TR" sz="2800" b="1" dirty="0" smtClean="0">
                <a:solidFill>
                  <a:srgbClr val="CC3300"/>
                </a:solidFill>
                <a:cs typeface="Times New Roman" pitchFamily="18" charset="0"/>
              </a:rPr>
              <a:t>2 – Buharlı ısı ile sterilizasyon</a:t>
            </a:r>
          </a:p>
          <a:p>
            <a:pPr lvl="4">
              <a:buNone/>
            </a:pPr>
            <a:r>
              <a:rPr lang="tr-TR" sz="2800" b="1" dirty="0" smtClean="0">
                <a:cs typeface="Times New Roman" pitchFamily="18" charset="0"/>
              </a:rPr>
              <a:t>Basınçlı buharla sterilizasyon</a:t>
            </a:r>
          </a:p>
          <a:p>
            <a:pPr lvl="4">
              <a:buNone/>
            </a:pPr>
            <a:r>
              <a:rPr lang="tr-TR" sz="2800" b="1" dirty="0" smtClean="0">
                <a:cs typeface="Times New Roman" pitchFamily="18" charset="0"/>
              </a:rPr>
              <a:t>Basınçsız buharla sterilizasyon</a:t>
            </a:r>
            <a:endParaRPr lang="tr-TR" sz="2800" b="1" dirty="0">
              <a:cs typeface="Times New Roman" pitchFamily="18" charset="0"/>
            </a:endParaRPr>
          </a:p>
        </p:txBody>
      </p:sp>
      <p:sp>
        <p:nvSpPr>
          <p:cNvPr id="4" name="3 Dikdörtgen"/>
          <p:cNvSpPr/>
          <p:nvPr/>
        </p:nvSpPr>
        <p:spPr>
          <a:xfrm rot="10800000" flipV="1">
            <a:off x="2285989" y="4741046"/>
            <a:ext cx="4573845" cy="317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  <a:cs typeface="Times New Roman" pitchFamily="18" charset="0"/>
              </a:rPr>
              <a:t>KAYNATMA</a:t>
            </a:r>
            <a:endParaRPr lang="tr-TR" sz="40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b="1" dirty="0" smtClean="0"/>
              <a:t>Kaynatma ile sterilizasyon işlemi malzemelerin 100C de kaynayan su içerisinde, 30 dakika tutmak şeklinde uygulanır</a:t>
            </a:r>
          </a:p>
          <a:p>
            <a:r>
              <a:rPr lang="tr-TR" b="1" dirty="0" smtClean="0"/>
              <a:t>Güvenilir bir yöntem olmamakla birlikte, çok önemli olmayan işlemlerde ve vücut için uygulanmayan yöntemlerde kullanabilmektedir</a:t>
            </a:r>
          </a:p>
          <a:p>
            <a:r>
              <a:rPr lang="tr-TR" b="1" dirty="0" smtClean="0"/>
              <a:t>Kaynayan su içerisinde ısıya dayanıklı bakteri sporları canlı kalabilmektedir</a:t>
            </a:r>
          </a:p>
          <a:p>
            <a:r>
              <a:rPr lang="tr-TR" b="1" dirty="0" smtClean="0"/>
              <a:t>Güvenilirliği tartışmalıdır</a:t>
            </a:r>
            <a:endParaRPr lang="tr-TR" b="1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  <a:cs typeface="Times New Roman" pitchFamily="18" charset="0"/>
              </a:rPr>
              <a:t/>
            </a:r>
            <a:br>
              <a:rPr lang="tr-TR" sz="4000" b="1" dirty="0" smtClean="0">
                <a:solidFill>
                  <a:srgbClr val="FF0000"/>
                </a:solidFill>
                <a:cs typeface="Times New Roman" pitchFamily="18" charset="0"/>
              </a:rPr>
            </a:br>
            <a:r>
              <a:rPr lang="tr-TR" sz="4000" b="1" dirty="0" smtClean="0">
                <a:solidFill>
                  <a:srgbClr val="FF0000"/>
                </a:solidFill>
                <a:cs typeface="Times New Roman" pitchFamily="18" charset="0"/>
              </a:rPr>
              <a:t>TİNDALİZASYON</a:t>
            </a:r>
            <a:br>
              <a:rPr lang="tr-TR" sz="4000" b="1" dirty="0" smtClean="0">
                <a:solidFill>
                  <a:srgbClr val="FF0000"/>
                </a:solidFill>
                <a:cs typeface="Times New Roman" pitchFamily="18" charset="0"/>
              </a:rPr>
            </a:br>
            <a:endParaRPr lang="tr-TR" sz="40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>
                <a:cs typeface="Times New Roman" pitchFamily="18" charset="0"/>
              </a:rPr>
              <a:t>Yüksek ısıda bozulabilecek antijen, serum ve şeker solüsyonları gibi sıvı maddelerin, </a:t>
            </a:r>
            <a:r>
              <a:rPr lang="tr-TR" sz="2800" b="1" dirty="0" smtClean="0"/>
              <a:t>sterilizasyonu amacı ile uygulanan bir </a:t>
            </a:r>
            <a:r>
              <a:rPr lang="tr-TR" sz="2800" b="1" dirty="0" err="1" smtClean="0"/>
              <a:t>metod’dur</a:t>
            </a:r>
            <a:r>
              <a:rPr lang="tr-TR" sz="2800" b="1" dirty="0" smtClean="0"/>
              <a:t> </a:t>
            </a:r>
          </a:p>
          <a:p>
            <a:r>
              <a:rPr lang="tr-TR" sz="2800" b="1" dirty="0" smtClean="0"/>
              <a:t>Sterilize edilecek sıvılar cam balonlara konularak Benmari'ye yerleştirilir</a:t>
            </a:r>
          </a:p>
          <a:p>
            <a:r>
              <a:rPr lang="tr-TR" sz="2800" b="1" dirty="0" smtClean="0">
                <a:cs typeface="Times New Roman" pitchFamily="18" charset="0"/>
              </a:rPr>
              <a:t>55-60 </a:t>
            </a:r>
            <a:r>
              <a:rPr lang="tr-TR" sz="2800" b="1" baseline="30000" dirty="0" err="1" smtClean="0">
                <a:cs typeface="Times New Roman" pitchFamily="18" charset="0"/>
              </a:rPr>
              <a:t>o</a:t>
            </a:r>
            <a:r>
              <a:rPr lang="tr-TR" sz="2800" b="1" dirty="0" err="1" smtClean="0">
                <a:cs typeface="Times New Roman" pitchFamily="18" charset="0"/>
              </a:rPr>
              <a:t>C</a:t>
            </a:r>
            <a:r>
              <a:rPr lang="tr-TR" sz="2800" b="1" dirty="0" smtClean="0">
                <a:cs typeface="Times New Roman" pitchFamily="18" charset="0"/>
              </a:rPr>
              <a:t> arasında 45-60 DAKİKA süre ile 3 gün arka arkaya ısıtılır. </a:t>
            </a:r>
          </a:p>
          <a:p>
            <a:r>
              <a:rPr lang="tr-TR" sz="2800" b="1" dirty="0" smtClean="0">
                <a:cs typeface="Times New Roman" pitchFamily="18" charset="0"/>
              </a:rPr>
              <a:t>Her ısıtılmadan sonra 1 gece oda ısısında bekletilir</a:t>
            </a:r>
            <a:r>
              <a:rPr lang="en-US" sz="2800" b="1" dirty="0" smtClean="0">
                <a:cs typeface="Times New Roman" pitchFamily="18" charset="0"/>
              </a:rPr>
              <a:t> </a:t>
            </a:r>
            <a:endParaRPr lang="tr-TR" sz="2800" b="1" dirty="0" smtClean="0">
              <a:cs typeface="Times New Roman" pitchFamily="18" charset="0"/>
            </a:endParaRPr>
          </a:p>
          <a:p>
            <a:pPr>
              <a:buNone/>
            </a:pPr>
            <a:r>
              <a:rPr lang="tr-TR" sz="2800" b="1" dirty="0" smtClean="0">
                <a:cs typeface="Times New Roman" pitchFamily="18" charset="0"/>
              </a:rPr>
              <a:t>		      Bu işlem için</a:t>
            </a:r>
            <a:r>
              <a:rPr lang="tr-TR" sz="2800" b="1" dirty="0" smtClean="0">
                <a:solidFill>
                  <a:srgbClr val="FF0000"/>
                </a:solidFill>
                <a:cs typeface="Times New Roman" pitchFamily="18" charset="0"/>
              </a:rPr>
              <a:t> BENMARİ </a:t>
            </a:r>
            <a:r>
              <a:rPr lang="tr-TR" sz="2800" b="1" dirty="0" smtClean="0">
                <a:cs typeface="Times New Roman" pitchFamily="18" charset="0"/>
              </a:rPr>
              <a:t>kullanılır</a:t>
            </a:r>
          </a:p>
          <a:p>
            <a:endParaRPr lang="en-US" sz="2800" b="1" dirty="0" smtClean="0">
              <a:cs typeface="Times New Roman" pitchFamily="18" charset="0"/>
            </a:endParaRPr>
          </a:p>
          <a:p>
            <a:pPr lvl="4">
              <a:buNone/>
            </a:pPr>
            <a:endParaRPr lang="tr-TR" sz="2800" b="1" dirty="0" smtClean="0"/>
          </a:p>
          <a:p>
            <a:endParaRPr lang="tr-TR" sz="2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00B050"/>
                </a:solidFill>
                <a:cs typeface="Times New Roman" pitchFamily="18" charset="0"/>
              </a:rPr>
              <a:t>TİNDALİZASYON</a:t>
            </a:r>
            <a:br>
              <a:rPr lang="tr-TR" b="1" dirty="0" smtClean="0">
                <a:solidFill>
                  <a:srgbClr val="00B050"/>
                </a:solidFill>
                <a:cs typeface="Times New Roman" pitchFamily="18" charset="0"/>
              </a:rPr>
            </a:br>
            <a:r>
              <a:rPr lang="tr-TR" b="1" dirty="0" smtClean="0">
                <a:solidFill>
                  <a:srgbClr val="00B050"/>
                </a:solidFill>
                <a:cs typeface="Times New Roman" pitchFamily="18" charset="0"/>
              </a:rPr>
              <a:t>1 gece bekleme basamakları nedeni</a:t>
            </a:r>
            <a:endParaRPr lang="tr-TR" dirty="0">
              <a:solidFill>
                <a:srgbClr val="00B050"/>
              </a:solidFill>
            </a:endParaRPr>
          </a:p>
        </p:txBody>
      </p:sp>
      <p:sp>
        <p:nvSpPr>
          <p:cNvPr id="6" name="5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Bu bekleme sırasında ortamda bulunan sporlu bakteriler açılarak </a:t>
            </a:r>
            <a:r>
              <a:rPr lang="tr-TR" b="1" dirty="0" err="1" smtClean="0">
                <a:solidFill>
                  <a:srgbClr val="FF0000"/>
                </a:solidFill>
              </a:rPr>
              <a:t>vejetatif</a:t>
            </a:r>
            <a:r>
              <a:rPr lang="tr-TR" b="1" dirty="0" smtClean="0">
                <a:solidFill>
                  <a:srgbClr val="FF0000"/>
                </a:solidFill>
              </a:rPr>
              <a:t> hale geçerler. 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İlk gün ki işlemde ortamdaki sporsuz bakteriler ölürler. </a:t>
            </a:r>
          </a:p>
          <a:p>
            <a:r>
              <a:rPr lang="tr-TR" b="1" dirty="0" smtClean="0">
                <a:solidFill>
                  <a:srgbClr val="0070C0"/>
                </a:solidFill>
              </a:rPr>
              <a:t>İkinci günkü işlemde açılan sporlu bakterilerin </a:t>
            </a:r>
            <a:r>
              <a:rPr lang="tr-TR" b="1" dirty="0" err="1" smtClean="0">
                <a:solidFill>
                  <a:srgbClr val="0070C0"/>
                </a:solidFill>
              </a:rPr>
              <a:t>vejatatif</a:t>
            </a:r>
            <a:r>
              <a:rPr lang="tr-TR" b="1" dirty="0" smtClean="0">
                <a:solidFill>
                  <a:srgbClr val="0070C0"/>
                </a:solidFill>
              </a:rPr>
              <a:t> şekilleri ölürler. </a:t>
            </a:r>
          </a:p>
          <a:p>
            <a:r>
              <a:rPr lang="tr-TR" b="1" dirty="0" smtClean="0">
                <a:solidFill>
                  <a:srgbClr val="00B050"/>
                </a:solidFill>
              </a:rPr>
              <a:t>Üçüncü günlük işlem de ise ortamda kalmış olan sporlardan oluşabilen </a:t>
            </a:r>
            <a:r>
              <a:rPr lang="tr-TR" b="1" dirty="0" err="1" smtClean="0">
                <a:solidFill>
                  <a:srgbClr val="00B050"/>
                </a:solidFill>
              </a:rPr>
              <a:t>vejetatif</a:t>
            </a:r>
            <a:r>
              <a:rPr lang="tr-TR" b="1" dirty="0" smtClean="0">
                <a:solidFill>
                  <a:srgbClr val="00B050"/>
                </a:solidFill>
              </a:rPr>
              <a:t> bakteriler ölürler.</a:t>
            </a:r>
          </a:p>
          <a:p>
            <a:endParaRPr lang="tr-T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476250"/>
            <a:ext cx="8496944" cy="61931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  <a:cs typeface="Times New Roman" pitchFamily="18" charset="0"/>
              </a:rPr>
              <a:t>I-ISI İLE STERİLİZASYON</a:t>
            </a:r>
          </a:p>
          <a:p>
            <a:pPr>
              <a:buNone/>
            </a:pPr>
            <a:r>
              <a:rPr lang="tr-TR" b="1" dirty="0" smtClean="0">
                <a:solidFill>
                  <a:srgbClr val="00B050"/>
                </a:solidFill>
                <a:cs typeface="Times New Roman" pitchFamily="18" charset="0"/>
              </a:rPr>
              <a:t>D-Nemli ısı ile sterilizasyon</a:t>
            </a:r>
          </a:p>
          <a:p>
            <a:pPr marL="342900" lvl="2" indent="-342900">
              <a:buNone/>
            </a:pPr>
            <a:r>
              <a:rPr lang="tr-TR" sz="3200" b="1" dirty="0" smtClean="0">
                <a:solidFill>
                  <a:srgbClr val="CC3300"/>
                </a:solidFill>
                <a:cs typeface="Times New Roman" pitchFamily="18" charset="0"/>
              </a:rPr>
              <a:t>			2 – Buharlı ısı ile sterilizasyon</a:t>
            </a:r>
          </a:p>
          <a:p>
            <a:pPr>
              <a:lnSpc>
                <a:spcPct val="125000"/>
              </a:lnSpc>
              <a:buAutoNum type="alphaLcParenR"/>
              <a:defRPr/>
            </a:pPr>
            <a:r>
              <a:rPr lang="tr-TR" sz="2400" b="1" dirty="0" smtClean="0">
                <a:solidFill>
                  <a:srgbClr val="7030A0"/>
                </a:solidFill>
                <a:cs typeface="Times New Roman" pitchFamily="18" charset="0"/>
              </a:rPr>
              <a:t>BASINÇLI BUHARLA STERİLİZASYON</a:t>
            </a:r>
            <a:endParaRPr lang="tr-TR" sz="24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tr-TR" sz="2400" b="1" dirty="0" smtClean="0">
                <a:solidFill>
                  <a:srgbClr val="7030A0"/>
                </a:solidFill>
              </a:rPr>
              <a:t>Otoklav denilen cihaz kullanılarak yapılır</a:t>
            </a:r>
            <a:endParaRPr lang="tr-TR" sz="2400" b="1" dirty="0" smtClean="0"/>
          </a:p>
          <a:p>
            <a:pPr>
              <a:lnSpc>
                <a:spcPct val="80000"/>
              </a:lnSpc>
            </a:pPr>
            <a:r>
              <a:rPr lang="tr-TR" sz="2400" b="1" dirty="0" smtClean="0"/>
              <a:t>121 </a:t>
            </a:r>
            <a:r>
              <a:rPr lang="tr-TR" sz="2400" b="1" baseline="30000" dirty="0" err="1" smtClean="0"/>
              <a:t>o</a:t>
            </a:r>
            <a:r>
              <a:rPr lang="tr-TR" sz="2400" b="1" dirty="0" err="1" smtClean="0"/>
              <a:t>C'de</a:t>
            </a:r>
            <a:r>
              <a:rPr lang="tr-TR" sz="2400" b="1" dirty="0" smtClean="0"/>
              <a:t>, 1 atmosfer basınç altında, içerisine konan malzemenin büyüklüğüne bağlı olarak 15-45 dakika sterilizasyon uygulanır.</a:t>
            </a:r>
          </a:p>
          <a:p>
            <a:pPr>
              <a:lnSpc>
                <a:spcPct val="80000"/>
              </a:lnSpc>
            </a:pPr>
            <a:r>
              <a:rPr lang="tr-TR" sz="2400" b="1" dirty="0" smtClean="0"/>
              <a:t>Kolay uygulanması, ucuz ve güvenilir bir yöntem olması nedeni ile gerek Mikrobiyoloji </a:t>
            </a:r>
            <a:r>
              <a:rPr lang="tr-TR" sz="2400" b="1" dirty="0" err="1" smtClean="0"/>
              <a:t>laboratuvarlarında</a:t>
            </a:r>
            <a:r>
              <a:rPr lang="tr-TR" sz="2400" b="1" dirty="0" smtClean="0"/>
              <a:t>, gerekse hastanenin merkezi sterilizasyon ünitesinde çok sık kullanılan bir yöntem</a:t>
            </a:r>
          </a:p>
          <a:p>
            <a:pPr>
              <a:lnSpc>
                <a:spcPct val="80000"/>
              </a:lnSpc>
            </a:pPr>
            <a:r>
              <a:rPr lang="tr-TR" sz="2400" b="1" dirty="0" smtClean="0"/>
              <a:t>Bu yöntemle genellikle kuru ısı ile sterilizasyon yapılamayan yüksek ısıya dayanıksız malzemeler, sıvı maddeler ve </a:t>
            </a:r>
            <a:r>
              <a:rPr lang="tr-TR" sz="2400" b="1" dirty="0" err="1" smtClean="0"/>
              <a:t>besiyerleri</a:t>
            </a:r>
            <a:r>
              <a:rPr lang="tr-TR" sz="2400" b="1" dirty="0" smtClean="0"/>
              <a:t>, ısıya dayanıklı plastik malzemeler, ameliyat giysileri, atılacak olan kültürler, </a:t>
            </a:r>
            <a:r>
              <a:rPr lang="tr-TR" sz="2400" b="1" dirty="0" err="1" smtClean="0"/>
              <a:t>kontamine</a:t>
            </a:r>
            <a:r>
              <a:rPr lang="tr-TR" sz="2400" b="1" dirty="0" smtClean="0"/>
              <a:t> materyaller, çeşitli cerrahi aletler vs. steril edilirler. </a:t>
            </a:r>
          </a:p>
          <a:p>
            <a:endParaRPr lang="tr-T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332656"/>
            <a:ext cx="8568952" cy="612068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  <a:cs typeface="Times New Roman" pitchFamily="18" charset="0"/>
              </a:rPr>
              <a:t>I-ISI İLE STERİLİZASYON</a:t>
            </a:r>
          </a:p>
          <a:p>
            <a:pPr>
              <a:buNone/>
            </a:pPr>
            <a:r>
              <a:rPr lang="tr-TR" b="1" dirty="0" smtClean="0">
                <a:solidFill>
                  <a:srgbClr val="00B050"/>
                </a:solidFill>
                <a:cs typeface="Times New Roman" pitchFamily="18" charset="0"/>
              </a:rPr>
              <a:t>D-Nemli ısı ile sterilizasyon</a:t>
            </a:r>
          </a:p>
          <a:p>
            <a:pPr marL="342900" lvl="2" indent="-342900">
              <a:buNone/>
            </a:pPr>
            <a:r>
              <a:rPr lang="tr-TR" sz="3200" b="1" dirty="0" smtClean="0">
                <a:solidFill>
                  <a:srgbClr val="CC3300"/>
                </a:solidFill>
                <a:cs typeface="Times New Roman" pitchFamily="18" charset="0"/>
              </a:rPr>
              <a:t>			2 – Buharlı ısı ile sterilizasyon</a:t>
            </a:r>
          </a:p>
          <a:p>
            <a:pPr marL="342900" lvl="4" indent="-342900">
              <a:buFont typeface="Arial" pitchFamily="34" charset="0"/>
              <a:buChar char="•"/>
            </a:pPr>
            <a:r>
              <a:rPr lang="tr-TR" sz="4200" b="1" dirty="0" smtClean="0">
                <a:solidFill>
                  <a:srgbClr val="7030A0"/>
                </a:solidFill>
                <a:cs typeface="Times New Roman" pitchFamily="18" charset="0"/>
              </a:rPr>
              <a:t>Basınçsız buharla sterilizasyon</a:t>
            </a:r>
          </a:p>
          <a:p>
            <a:r>
              <a:rPr lang="tr-TR" b="1" dirty="0" smtClean="0"/>
              <a:t>100°</a:t>
            </a:r>
            <a:r>
              <a:rPr lang="tr-TR" b="1" dirty="0" err="1" smtClean="0"/>
              <a:t>C’de</a:t>
            </a:r>
            <a:r>
              <a:rPr lang="tr-TR" b="1" dirty="0" smtClean="0"/>
              <a:t> akım halinde buharla sterilizasyon (</a:t>
            </a:r>
            <a:r>
              <a:rPr lang="tr-TR" b="1" dirty="0" err="1" smtClean="0"/>
              <a:t>Koch</a:t>
            </a:r>
            <a:r>
              <a:rPr lang="tr-TR" b="1" dirty="0" smtClean="0"/>
              <a:t> kazanı, </a:t>
            </a:r>
            <a:r>
              <a:rPr lang="tr-TR" b="1" dirty="0" err="1" smtClean="0"/>
              <a:t>Arnold</a:t>
            </a:r>
            <a:r>
              <a:rPr lang="tr-TR" b="1" dirty="0" smtClean="0"/>
              <a:t> Kazanı)</a:t>
            </a:r>
          </a:p>
          <a:p>
            <a:r>
              <a:rPr lang="tr-TR" b="1" dirty="0" smtClean="0"/>
              <a:t>Devamlı buhar uygulaması ile sterilizasyon yapılır </a:t>
            </a:r>
            <a:r>
              <a:rPr lang="tr-TR" b="1" dirty="0" err="1" smtClean="0"/>
              <a:t>Koch</a:t>
            </a:r>
            <a:r>
              <a:rPr lang="tr-TR" b="1" dirty="0" smtClean="0"/>
              <a:t> ve </a:t>
            </a:r>
            <a:r>
              <a:rPr lang="tr-TR" b="1" dirty="0" err="1" smtClean="0"/>
              <a:t>Arnold</a:t>
            </a:r>
            <a:r>
              <a:rPr lang="tr-TR" b="1" dirty="0" smtClean="0"/>
              <a:t> kazanları bu işlemlerde kullanılır</a:t>
            </a:r>
          </a:p>
          <a:p>
            <a:r>
              <a:rPr lang="tr-TR" b="1" dirty="0" smtClean="0"/>
              <a:t>100°</a:t>
            </a:r>
            <a:r>
              <a:rPr lang="tr-TR" b="1" dirty="0" err="1" smtClean="0"/>
              <a:t>C’de</a:t>
            </a:r>
            <a:r>
              <a:rPr lang="tr-TR" b="1" dirty="0" smtClean="0"/>
              <a:t> 1 saat ısıl işlem uygulanırsa istenilen sonuç alınır</a:t>
            </a: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9 Düz Bağlayıcı"/>
          <p:cNvCxnSpPr/>
          <p:nvPr/>
        </p:nvCxnSpPr>
        <p:spPr bwMode="auto">
          <a:xfrm>
            <a:off x="396875" y="714375"/>
            <a:ext cx="874712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10 Metin kutusu"/>
          <p:cNvSpPr txBox="1"/>
          <p:nvPr/>
        </p:nvSpPr>
        <p:spPr bwMode="auto">
          <a:xfrm>
            <a:off x="315913" y="150812"/>
            <a:ext cx="79284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tr-TR" sz="2800" b="1" dirty="0" smtClean="0">
                <a:solidFill>
                  <a:srgbClr val="FF0000"/>
                </a:solidFill>
                <a:latin typeface="+mn-lt"/>
              </a:rPr>
              <a:t>	STERİLİZASYON KONTROL YÖNTEMLERİ</a:t>
            </a:r>
            <a:endParaRPr lang="tr-TR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11188" y="1052736"/>
            <a:ext cx="8208962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defRPr/>
            </a:pPr>
            <a:r>
              <a:rPr lang="tr-TR" sz="2800" b="1" dirty="0">
                <a:latin typeface="+mn-lt"/>
              </a:rPr>
              <a:t>Otoklavların sterilizasyon etkinlikleri periyodik olarak kontrol edilmeli ve elde edilen kayıtlar daha sonra ortaya çıkabilecek sorunlar için </a:t>
            </a:r>
            <a:r>
              <a:rPr lang="tr-TR" sz="2800" b="1" dirty="0" smtClean="0">
                <a:latin typeface="+mn-lt"/>
              </a:rPr>
              <a:t>saklanmalıdır</a:t>
            </a:r>
            <a:endParaRPr lang="tr-TR" sz="2800" b="1" dirty="0">
              <a:latin typeface="+mn-lt"/>
            </a:endParaRPr>
          </a:p>
        </p:txBody>
      </p:sp>
      <p:sp>
        <p:nvSpPr>
          <p:cNvPr id="89093" name="AutoShape 8"/>
          <p:cNvSpPr>
            <a:spLocks noChangeArrowheads="1"/>
          </p:cNvSpPr>
          <p:nvPr/>
        </p:nvSpPr>
        <p:spPr bwMode="auto">
          <a:xfrm>
            <a:off x="1651000" y="3284538"/>
            <a:ext cx="647700" cy="576262"/>
          </a:xfrm>
          <a:prstGeom prst="curvedDownArrow">
            <a:avLst>
              <a:gd name="adj1" fmla="val 22479"/>
              <a:gd name="adj2" fmla="val 44959"/>
              <a:gd name="adj3" fmla="val 33333"/>
            </a:avLst>
          </a:prstGeom>
          <a:solidFill>
            <a:srgbClr val="FF00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89094" name="Rectangle 11"/>
          <p:cNvSpPr>
            <a:spLocks noChangeArrowheads="1"/>
          </p:cNvSpPr>
          <p:nvPr/>
        </p:nvSpPr>
        <p:spPr bwMode="auto">
          <a:xfrm>
            <a:off x="642938" y="3789363"/>
            <a:ext cx="287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tr-TR" sz="2400" dirty="0">
                <a:solidFill>
                  <a:srgbClr val="7030A0"/>
                </a:solidFill>
                <a:latin typeface="Comic Sans MS" pitchFamily="66" charset="0"/>
              </a:rPr>
              <a:t>1. Mekanik Kontrol</a:t>
            </a:r>
            <a:r>
              <a:rPr lang="en-US" sz="2400" dirty="0">
                <a:solidFill>
                  <a:srgbClr val="7030A0"/>
                </a:solidFill>
                <a:latin typeface="Comic Sans MS" pitchFamily="66" charset="0"/>
              </a:rPr>
              <a:t> </a:t>
            </a:r>
          </a:p>
        </p:txBody>
      </p:sp>
      <p:sp>
        <p:nvSpPr>
          <p:cNvPr id="89095" name="Rectangle 12"/>
          <p:cNvSpPr>
            <a:spLocks noChangeArrowheads="1"/>
          </p:cNvSpPr>
          <p:nvPr/>
        </p:nvSpPr>
        <p:spPr bwMode="auto">
          <a:xfrm>
            <a:off x="3019425" y="5132388"/>
            <a:ext cx="2967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tr-TR" sz="2400" dirty="0">
                <a:solidFill>
                  <a:srgbClr val="7030A0"/>
                </a:solidFill>
                <a:latin typeface="Comic Sans MS" pitchFamily="66" charset="0"/>
              </a:rPr>
              <a:t>2. Kimyasal Kontrol</a:t>
            </a:r>
            <a:r>
              <a:rPr lang="en-US" sz="2400" dirty="0">
                <a:solidFill>
                  <a:srgbClr val="7030A0"/>
                </a:solidFill>
                <a:latin typeface="Comic Sans MS" pitchFamily="66" charset="0"/>
              </a:rPr>
              <a:t> </a:t>
            </a:r>
          </a:p>
        </p:txBody>
      </p:sp>
      <p:sp>
        <p:nvSpPr>
          <p:cNvPr id="89096" name="Rectangle 13"/>
          <p:cNvSpPr>
            <a:spLocks noChangeArrowheads="1"/>
          </p:cNvSpPr>
          <p:nvPr/>
        </p:nvSpPr>
        <p:spPr bwMode="auto">
          <a:xfrm>
            <a:off x="6024563" y="3835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tr-TR" sz="2400" dirty="0">
                <a:solidFill>
                  <a:srgbClr val="7030A0"/>
                </a:solidFill>
                <a:latin typeface="Comic Sans MS" pitchFamily="66" charset="0"/>
              </a:rPr>
              <a:t>3. Biyolojik Kontrol</a:t>
            </a:r>
            <a:r>
              <a:rPr lang="en-US" sz="2400" dirty="0">
                <a:solidFill>
                  <a:srgbClr val="7030A0"/>
                </a:solidFill>
                <a:latin typeface="Comic Sans MS" pitchFamily="66" charset="0"/>
              </a:rPr>
              <a:t> </a:t>
            </a:r>
          </a:p>
        </p:txBody>
      </p:sp>
      <p:sp>
        <p:nvSpPr>
          <p:cNvPr id="89097" name="AutoShape 8"/>
          <p:cNvSpPr>
            <a:spLocks noChangeArrowheads="1"/>
          </p:cNvSpPr>
          <p:nvPr/>
        </p:nvSpPr>
        <p:spPr bwMode="auto">
          <a:xfrm>
            <a:off x="4143375" y="4495800"/>
            <a:ext cx="647700" cy="576263"/>
          </a:xfrm>
          <a:prstGeom prst="curvedDownArrow">
            <a:avLst>
              <a:gd name="adj1" fmla="val 22479"/>
              <a:gd name="adj2" fmla="val 44959"/>
              <a:gd name="adj3" fmla="val 33333"/>
            </a:avLst>
          </a:prstGeom>
          <a:solidFill>
            <a:srgbClr val="FF00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89098" name="AutoShape 8"/>
          <p:cNvSpPr>
            <a:spLocks noChangeArrowheads="1"/>
          </p:cNvSpPr>
          <p:nvPr/>
        </p:nvSpPr>
        <p:spPr bwMode="auto">
          <a:xfrm>
            <a:off x="7358063" y="3286125"/>
            <a:ext cx="647700" cy="576263"/>
          </a:xfrm>
          <a:prstGeom prst="curvedDownArrow">
            <a:avLst>
              <a:gd name="adj1" fmla="val 22479"/>
              <a:gd name="adj2" fmla="val 44959"/>
              <a:gd name="adj3" fmla="val 33333"/>
            </a:avLst>
          </a:prstGeom>
          <a:solidFill>
            <a:srgbClr val="FF00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9 Düz Bağlayıcı"/>
          <p:cNvCxnSpPr/>
          <p:nvPr/>
        </p:nvCxnSpPr>
        <p:spPr bwMode="auto">
          <a:xfrm>
            <a:off x="396875" y="714375"/>
            <a:ext cx="874712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10 Metin kutusu"/>
          <p:cNvSpPr txBox="1"/>
          <p:nvPr/>
        </p:nvSpPr>
        <p:spPr bwMode="auto">
          <a:xfrm>
            <a:off x="315913" y="150813"/>
            <a:ext cx="59908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tr-TR" sz="2800" b="1" dirty="0" smtClean="0">
                <a:solidFill>
                  <a:srgbClr val="FF0000"/>
                </a:solidFill>
                <a:latin typeface="+mn-lt"/>
              </a:rPr>
              <a:t>STERİLİZASYON KONTROL YÖNTEMLERİ</a:t>
            </a:r>
            <a:endParaRPr lang="tr-TR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500063" y="853969"/>
            <a:ext cx="7775575" cy="3822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tr-TR" sz="2400" b="1" u="sng" dirty="0" smtClean="0">
                <a:solidFill>
                  <a:srgbClr val="FF0000"/>
                </a:solidFill>
                <a:latin typeface="+mn-lt"/>
              </a:rPr>
              <a:t>1. MEKANİK KONTROL</a:t>
            </a:r>
            <a:r>
              <a:rPr lang="en-US" sz="2400" b="1" u="sng" dirty="0" smtClean="0">
                <a:solidFill>
                  <a:srgbClr val="FF0000"/>
                </a:solidFill>
                <a:latin typeface="+mn-lt"/>
              </a:rPr>
              <a:t> </a:t>
            </a:r>
          </a:p>
          <a:p>
            <a:pPr marL="271463" indent="-271463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tr-TR" sz="2400" b="1" dirty="0" smtClean="0">
                <a:latin typeface="+mn-lt"/>
              </a:rPr>
              <a:t>Otoklavın </a:t>
            </a:r>
            <a:r>
              <a:rPr lang="tr-TR" sz="2400" b="1" dirty="0">
                <a:latin typeface="+mn-lt"/>
              </a:rPr>
              <a:t>yazıcısı tarafından kaydedilen zaman ve ısı grafikleri.</a:t>
            </a:r>
          </a:p>
          <a:p>
            <a:pPr marL="271463" indent="-271463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tr-TR" sz="2400" b="1" dirty="0">
                <a:latin typeface="+mn-lt"/>
              </a:rPr>
              <a:t>Cihaz üzerindeki göstergelerin uygun olmayan kalibrasyonu, aşırı kullanma ve aşınma ya da metal yorgunluğuna bağlı olarak yanlış sonuç </a:t>
            </a:r>
            <a:r>
              <a:rPr lang="tr-TR" sz="2400" b="1" dirty="0" smtClean="0">
                <a:latin typeface="+mn-lt"/>
              </a:rPr>
              <a:t>verebilir</a:t>
            </a:r>
            <a:endParaRPr lang="tr-TR" sz="2400" b="1" dirty="0">
              <a:latin typeface="+mn-lt"/>
            </a:endParaRPr>
          </a:p>
          <a:p>
            <a:pPr>
              <a:lnSpc>
                <a:spcPct val="110000"/>
              </a:lnSpc>
              <a:defRPr/>
            </a:pPr>
            <a:endParaRPr lang="en-US" sz="2400" b="1" dirty="0">
              <a:solidFill>
                <a:schemeClr val="folHlink"/>
              </a:solidFill>
              <a:latin typeface="Comic Sans MS" pitchFamily="66" charset="0"/>
            </a:endParaRPr>
          </a:p>
        </p:txBody>
      </p:sp>
      <p:pic>
        <p:nvPicPr>
          <p:cNvPr id="90117" name="Picture 4" descr="C:\Documents and Settings\Berrin Gencer\My Documents\My Pictures\otoklav\04_autoclave_pressure_P709108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6096" y="4437112"/>
            <a:ext cx="257175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118" name="Picture 8" descr="C:\Documents and Settings\Berrin Gencer\My Documents\My Pictures\otoklav\05_autoclave_temperature_P7091089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47664" y="4365104"/>
            <a:ext cx="265112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9 Düz Bağlayıcı"/>
          <p:cNvCxnSpPr/>
          <p:nvPr/>
        </p:nvCxnSpPr>
        <p:spPr bwMode="auto">
          <a:xfrm>
            <a:off x="396875" y="714375"/>
            <a:ext cx="874712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10 Metin kutusu"/>
          <p:cNvSpPr txBox="1"/>
          <p:nvPr/>
        </p:nvSpPr>
        <p:spPr bwMode="auto">
          <a:xfrm>
            <a:off x="315913" y="150812"/>
            <a:ext cx="59908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tr-TR" sz="2800" b="1" dirty="0" smtClean="0">
                <a:solidFill>
                  <a:srgbClr val="FF0000"/>
                </a:solidFill>
                <a:latin typeface="+mn-lt"/>
              </a:rPr>
              <a:t>STERİLİZASYON KONTROL YÖNTEMLERİ</a:t>
            </a:r>
            <a:endParaRPr lang="tr-TR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11188" y="1205494"/>
            <a:ext cx="7532687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tr-TR" sz="2400" b="1" u="sng" dirty="0" smtClean="0">
                <a:solidFill>
                  <a:srgbClr val="FF0000"/>
                </a:solidFill>
                <a:latin typeface="+mn-lt"/>
              </a:rPr>
              <a:t>2. KİMYASAL KONTROL</a:t>
            </a:r>
            <a:r>
              <a:rPr lang="en-US" sz="2400" b="1" u="sng" dirty="0" smtClean="0">
                <a:solidFill>
                  <a:srgbClr val="FF0000"/>
                </a:solidFill>
                <a:latin typeface="+mn-lt"/>
              </a:rPr>
              <a:t> 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tr-TR" sz="2400" b="1" dirty="0" smtClean="0">
                <a:latin typeface="+mn-lt"/>
              </a:rPr>
              <a:t>Zaman</a:t>
            </a:r>
            <a:r>
              <a:rPr lang="tr-TR" sz="2400" b="1" dirty="0">
                <a:latin typeface="+mn-lt"/>
              </a:rPr>
              <a:t>, ısı ve/veya neme duyarlı bantlar ve </a:t>
            </a:r>
            <a:r>
              <a:rPr lang="tr-TR" sz="2400" b="1" dirty="0" err="1" smtClean="0">
                <a:latin typeface="+mn-lt"/>
              </a:rPr>
              <a:t>stripler</a:t>
            </a:r>
            <a:endParaRPr lang="tr-TR" sz="2400" b="1" dirty="0" smtClean="0">
              <a:latin typeface="+mn-lt"/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tr-TR" sz="2400" b="1" dirty="0" smtClean="0"/>
              <a:t>I</a:t>
            </a:r>
            <a:r>
              <a:rPr lang="tr-TR" sz="2400" b="1" dirty="0" smtClean="0">
                <a:latin typeface="+mn-lt"/>
              </a:rPr>
              <a:t>sı </a:t>
            </a:r>
            <a:r>
              <a:rPr lang="tr-TR" sz="2400" b="1" dirty="0">
                <a:latin typeface="+mn-lt"/>
              </a:rPr>
              <a:t>derecesinin kontrolü için yüksek ısıda renk değişikliğine uğrayan kimyasal maddeler </a:t>
            </a:r>
            <a:r>
              <a:rPr lang="tr-TR" sz="2400" b="1" dirty="0" smtClean="0">
                <a:latin typeface="+mn-lt"/>
              </a:rPr>
              <a:t>kullanılır</a:t>
            </a:r>
            <a:endParaRPr lang="tr-TR" sz="2400" b="1" dirty="0">
              <a:latin typeface="+mn-lt"/>
            </a:endParaRPr>
          </a:p>
          <a:p>
            <a:pPr>
              <a:defRPr/>
            </a:pPr>
            <a:r>
              <a:rPr lang="en-US" sz="2400" dirty="0" smtClean="0">
                <a:solidFill>
                  <a:schemeClr val="folHlink"/>
                </a:solidFill>
                <a:latin typeface="Comic Sans MS" pitchFamily="66" charset="0"/>
              </a:rPr>
              <a:t> </a:t>
            </a:r>
            <a:endParaRPr lang="en-US" sz="2400" dirty="0">
              <a:solidFill>
                <a:schemeClr val="folHlink"/>
              </a:solidFill>
              <a:latin typeface="Comic Sans MS" pitchFamily="66" charset="0"/>
            </a:endParaRPr>
          </a:p>
        </p:txBody>
      </p:sp>
      <p:graphicFrame>
        <p:nvGraphicFramePr>
          <p:cNvPr id="312324" name="Object 4"/>
          <p:cNvGraphicFramePr>
            <a:graphicFrameLocks noChangeAspect="1"/>
          </p:cNvGraphicFramePr>
          <p:nvPr/>
        </p:nvGraphicFramePr>
        <p:xfrm>
          <a:off x="3635896" y="4149080"/>
          <a:ext cx="5000625" cy="2225675"/>
        </p:xfrm>
        <a:graphic>
          <a:graphicData uri="http://schemas.openxmlformats.org/presentationml/2006/ole">
            <p:oleObj spid="_x0000_s696322" name="Bit Eşlem Resmi" r:id="rId4" imgW="2438095" imgH="1085714" progId="PBrush">
              <p:embed/>
            </p:oleObj>
          </a:graphicData>
        </a:graphic>
      </p:graphicFrame>
      <p:pic>
        <p:nvPicPr>
          <p:cNvPr id="7174" name="Picture 2" descr="C:\Documents and Settings\Berrin Gencer\My Documents\My Pictures\otoklav\tape2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1520" y="3933056"/>
            <a:ext cx="3017221" cy="2646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3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9 Düz Bağlayıcı"/>
          <p:cNvCxnSpPr/>
          <p:nvPr/>
        </p:nvCxnSpPr>
        <p:spPr bwMode="auto">
          <a:xfrm>
            <a:off x="396875" y="714375"/>
            <a:ext cx="874712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10 Metin kutusu"/>
          <p:cNvSpPr txBox="1"/>
          <p:nvPr/>
        </p:nvSpPr>
        <p:spPr bwMode="auto">
          <a:xfrm>
            <a:off x="315913" y="150813"/>
            <a:ext cx="59908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tr-TR" sz="2800" b="1" dirty="0" smtClean="0">
                <a:solidFill>
                  <a:srgbClr val="FF0000"/>
                </a:solidFill>
                <a:latin typeface="+mn-lt"/>
              </a:rPr>
              <a:t>STERİLİZASYON KONTROL YÖNTEMLERİ</a:t>
            </a:r>
            <a:endParaRPr lang="tr-TR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1188" y="1303051"/>
            <a:ext cx="7889875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tr-TR" sz="2400" b="1" u="sng" dirty="0" smtClean="0">
                <a:solidFill>
                  <a:srgbClr val="FF0000"/>
                </a:solidFill>
                <a:latin typeface="+mn-lt"/>
              </a:rPr>
              <a:t>3. BİYOLOJİK KONTROL</a:t>
            </a:r>
            <a:r>
              <a:rPr lang="en-US" sz="2400" b="1" u="sng" dirty="0" smtClean="0">
                <a:solidFill>
                  <a:srgbClr val="FF0000"/>
                </a:solidFill>
                <a:latin typeface="+mn-lt"/>
              </a:rPr>
              <a:t> 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tr-TR" sz="2400" b="1" dirty="0" smtClean="0">
                <a:latin typeface="+mn-lt"/>
              </a:rPr>
              <a:t>Sterilizasyonun </a:t>
            </a:r>
            <a:r>
              <a:rPr lang="tr-TR" sz="2400" b="1" dirty="0">
                <a:latin typeface="+mn-lt"/>
              </a:rPr>
              <a:t>gerçek etkinliğini gösteren tek kontrol yöntemi biyolojik indikatörlerdir. İndikatör içindeki sporlar dahil tüm mikroorganizmalar ölmüş </a:t>
            </a:r>
            <a:r>
              <a:rPr lang="tr-TR" sz="2400" b="1" dirty="0" smtClean="0">
                <a:latin typeface="+mn-lt"/>
              </a:rPr>
              <a:t>olmalıdır</a:t>
            </a:r>
            <a:endParaRPr lang="tr-TR" sz="2400" b="1" dirty="0">
              <a:latin typeface="+mn-lt"/>
            </a:endParaRPr>
          </a:p>
          <a:p>
            <a:pPr>
              <a:defRPr/>
            </a:pPr>
            <a:r>
              <a:rPr lang="tr-TR" sz="2400" b="1" dirty="0">
                <a:latin typeface="Comic Sans MS" pitchFamily="66" charset="0"/>
              </a:rPr>
              <a:t> </a:t>
            </a:r>
          </a:p>
          <a:p>
            <a:pPr>
              <a:defRPr/>
            </a:pPr>
            <a:r>
              <a:rPr lang="tr-TR" sz="2400" b="1" dirty="0">
                <a:latin typeface="Comic Sans MS" pitchFamily="66" charset="0"/>
              </a:rPr>
              <a:t> 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899592" y="4151568"/>
            <a:ext cx="6345758" cy="1696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tr-TR" sz="2400" b="1" dirty="0">
                <a:latin typeface="+mn-lt"/>
              </a:rPr>
              <a:t>Buhar otoklavı için; </a:t>
            </a:r>
            <a:r>
              <a:rPr lang="tr-TR" sz="2400" b="1" i="1" dirty="0" err="1" smtClean="0">
                <a:latin typeface="+mn-lt"/>
              </a:rPr>
              <a:t>Bacillus</a:t>
            </a:r>
            <a:r>
              <a:rPr lang="tr-TR" sz="2400" b="1" i="1" dirty="0"/>
              <a:t> </a:t>
            </a:r>
            <a:r>
              <a:rPr lang="tr-TR" sz="2400" b="1" i="1" dirty="0" err="1" smtClean="0">
                <a:latin typeface="+mn-lt"/>
              </a:rPr>
              <a:t>stearothermophilus</a:t>
            </a:r>
            <a:r>
              <a:rPr lang="tr-TR" sz="2400" b="1" i="1" dirty="0">
                <a:latin typeface="+mn-lt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tr-TR" sz="2400" b="1" dirty="0">
                <a:latin typeface="+mn-lt"/>
              </a:rPr>
              <a:t>Kuru ısı ve EO için; </a:t>
            </a:r>
            <a:r>
              <a:rPr lang="tr-TR" sz="2400" b="1" i="1" dirty="0" err="1">
                <a:latin typeface="+mn-lt"/>
              </a:rPr>
              <a:t>Bacillus</a:t>
            </a:r>
            <a:r>
              <a:rPr lang="tr-TR" sz="2400" b="1" i="1" dirty="0">
                <a:latin typeface="+mn-lt"/>
              </a:rPr>
              <a:t> </a:t>
            </a:r>
            <a:r>
              <a:rPr lang="tr-TR" sz="2400" b="1" i="1" dirty="0" err="1">
                <a:latin typeface="+mn-lt"/>
              </a:rPr>
              <a:t>subtilis</a:t>
            </a:r>
            <a:r>
              <a:rPr lang="en-US" sz="2400" b="1" dirty="0">
                <a:latin typeface="+mn-lt"/>
              </a:rPr>
              <a:t> </a:t>
            </a:r>
            <a:endParaRPr lang="tr-TR" sz="2400" b="1" dirty="0">
              <a:latin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en-US" sz="2400" b="1" dirty="0" err="1">
                <a:latin typeface="+mn-lt"/>
              </a:rPr>
              <a:t>İyonize</a:t>
            </a:r>
            <a:r>
              <a:rPr lang="en-US" sz="2400" b="1" dirty="0">
                <a:latin typeface="+mn-lt"/>
              </a:rPr>
              <a:t> </a:t>
            </a:r>
            <a:r>
              <a:rPr lang="en-US" sz="2400" b="1" dirty="0" err="1">
                <a:latin typeface="+mn-lt"/>
              </a:rPr>
              <a:t>radyasyon</a:t>
            </a:r>
            <a:r>
              <a:rPr lang="en-US" sz="2400" b="1" dirty="0">
                <a:latin typeface="+mn-lt"/>
              </a:rPr>
              <a:t> </a:t>
            </a:r>
            <a:r>
              <a:rPr lang="en-US" sz="2400" b="1" dirty="0" err="1">
                <a:latin typeface="+mn-lt"/>
              </a:rPr>
              <a:t>için</a:t>
            </a:r>
            <a:r>
              <a:rPr lang="tr-TR" sz="2400" b="1" dirty="0">
                <a:latin typeface="+mn-lt"/>
              </a:rPr>
              <a:t>;</a:t>
            </a:r>
            <a:r>
              <a:rPr lang="en-US" sz="2400" b="1" dirty="0">
                <a:latin typeface="+mn-lt"/>
              </a:rPr>
              <a:t> </a:t>
            </a:r>
            <a:r>
              <a:rPr lang="en-US" sz="2400" b="1" i="1" dirty="0">
                <a:latin typeface="+mn-lt"/>
              </a:rPr>
              <a:t>Bacillus </a:t>
            </a:r>
            <a:r>
              <a:rPr lang="en-US" sz="2400" b="1" i="1" dirty="0" err="1">
                <a:latin typeface="+mn-lt"/>
              </a:rPr>
              <a:t>pumilus</a:t>
            </a:r>
            <a:endParaRPr lang="en-US" sz="2400" b="1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188640"/>
            <a:ext cx="8424936" cy="6336704"/>
          </a:xfrm>
        </p:spPr>
        <p:txBody>
          <a:bodyPr>
            <a:normAutofit fontScale="62500" lnSpcReduction="20000"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tr-TR" b="1" dirty="0" smtClean="0">
                <a:solidFill>
                  <a:srgbClr val="0070C0"/>
                </a:solidFill>
                <a:cs typeface="Times New Roman" pitchFamily="18" charset="0"/>
              </a:rPr>
              <a:t> 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tr-TR" sz="5100" b="1" dirty="0" smtClean="0">
                <a:solidFill>
                  <a:srgbClr val="0070C0"/>
                </a:solidFill>
                <a:cs typeface="Times New Roman" pitchFamily="18" charset="0"/>
              </a:rPr>
              <a:t>STERİLİZASYON  YÖNTEMLERİ</a:t>
            </a:r>
            <a:endParaRPr lang="tr-TR" sz="51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tr-TR" sz="38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I-ISI İLE STERİLİZASYON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4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2400" b="1" dirty="0" smtClean="0">
                <a:cs typeface="Times New Roman" pitchFamily="18" charset="0"/>
              </a:rPr>
              <a:t>    </a:t>
            </a:r>
            <a:r>
              <a:rPr lang="tr-TR" b="1" dirty="0" smtClean="0">
                <a:cs typeface="Times New Roman" pitchFamily="18" charset="0"/>
              </a:rPr>
              <a:t>1-Kuru sıcak hava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2-Kızıl dereceye kadar ısıtma veya yakma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3-Alevden geçirme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4-Nemli ısı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A-Sıcak su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Kaynatma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</a:t>
            </a:r>
            <a:r>
              <a:rPr lang="tr-TR" sz="3300" b="1" dirty="0" err="1" smtClean="0">
                <a:cs typeface="Times New Roman" pitchFamily="18" charset="0"/>
              </a:rPr>
              <a:t>Tindalizasyon</a:t>
            </a:r>
            <a:endParaRPr lang="tr-TR" sz="33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B-Buharlı ısı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Basınçlı buhar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Basınçsız buhar 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2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800" b="1" dirty="0" smtClean="0">
                <a:solidFill>
                  <a:srgbClr val="FF0000"/>
                </a:solidFill>
                <a:cs typeface="Times New Roman" pitchFamily="18" charset="0"/>
              </a:rPr>
              <a:t>II-SÜZME (FİLTRASYON) İLE STERİLİZASYON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38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800" b="1" dirty="0" smtClean="0">
                <a:solidFill>
                  <a:srgbClr val="FF0000"/>
                </a:solidFill>
                <a:cs typeface="Times New Roman" pitchFamily="18" charset="0"/>
              </a:rPr>
              <a:t>III-KİMYASAL MADDELERLE STERİLİZASYON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2900" b="1" dirty="0" smtClean="0">
                <a:cs typeface="Times New Roman" pitchFamily="18" charset="0"/>
              </a:rPr>
              <a:t>	1- Kimyasal gazlarla sterilizasyon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2900" b="1" dirty="0" smtClean="0">
                <a:cs typeface="Times New Roman" pitchFamily="18" charset="0"/>
              </a:rPr>
              <a:t>	2- Kimyasal sıvılarla sterilizasyon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4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2400" b="1" dirty="0" smtClean="0">
                <a:cs typeface="Times New Roman" pitchFamily="18" charset="0"/>
              </a:rPr>
              <a:t> </a:t>
            </a:r>
            <a:r>
              <a:rPr lang="tr-TR" sz="3800" b="1" dirty="0" smtClean="0">
                <a:solidFill>
                  <a:srgbClr val="FF0000"/>
                </a:solidFill>
                <a:cs typeface="Times New Roman" pitchFamily="18" charset="0"/>
              </a:rPr>
              <a:t>IV- RADYASYON (IŞINLAMA) İLE STERİLİZASYON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4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2400" b="1" dirty="0" smtClean="0">
                <a:cs typeface="Times New Roman" pitchFamily="18" charset="0"/>
              </a:rPr>
              <a:t>        </a:t>
            </a:r>
            <a:r>
              <a:rPr lang="tr-TR" b="1" dirty="0" smtClean="0">
                <a:cs typeface="Times New Roman" pitchFamily="18" charset="0"/>
              </a:rPr>
              <a:t>1- Ultraviyole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   2- X ve gama ışınları</a:t>
            </a:r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188640"/>
            <a:ext cx="8424936" cy="6336704"/>
          </a:xfrm>
        </p:spPr>
        <p:txBody>
          <a:bodyPr>
            <a:normAutofit fontScale="62500" lnSpcReduction="20000"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tr-TR" b="1" dirty="0" smtClean="0">
                <a:solidFill>
                  <a:srgbClr val="0070C0"/>
                </a:solidFill>
                <a:cs typeface="Times New Roman" pitchFamily="18" charset="0"/>
              </a:rPr>
              <a:t> 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tr-TR" sz="5100" b="1" dirty="0" smtClean="0">
                <a:solidFill>
                  <a:srgbClr val="0070C0"/>
                </a:solidFill>
                <a:cs typeface="Times New Roman" pitchFamily="18" charset="0"/>
              </a:rPr>
              <a:t>STERİLİZASYON  YÖNTEMLERİ</a:t>
            </a:r>
            <a:endParaRPr lang="tr-TR" sz="51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tr-TR" sz="38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I-ISI İLE STERİLİZASYON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4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2400" b="1" dirty="0" smtClean="0">
                <a:cs typeface="Times New Roman" pitchFamily="18" charset="0"/>
              </a:rPr>
              <a:t>    </a:t>
            </a:r>
            <a:r>
              <a:rPr lang="tr-TR" b="1" dirty="0" smtClean="0">
                <a:cs typeface="Times New Roman" pitchFamily="18" charset="0"/>
              </a:rPr>
              <a:t>1-Kuru sıcak hava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2-Kızıl dereceye kadar ısıtma veya yakma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3-Alevden geçirme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4-Nemli ısı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A-Sıcak su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Kaynatma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</a:t>
            </a:r>
            <a:r>
              <a:rPr lang="tr-TR" sz="3300" b="1" dirty="0" err="1" smtClean="0">
                <a:cs typeface="Times New Roman" pitchFamily="18" charset="0"/>
              </a:rPr>
              <a:t>Tindalizasyon</a:t>
            </a:r>
            <a:endParaRPr lang="tr-TR" sz="33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B-Buharlı ısı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Basınçlı buhar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Basınçsız buhar 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2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800" b="1" dirty="0" smtClean="0">
                <a:solidFill>
                  <a:srgbClr val="FF0000"/>
                </a:solidFill>
                <a:cs typeface="Times New Roman" pitchFamily="18" charset="0"/>
              </a:rPr>
              <a:t>II-SÜZME (FİLTRASYON) İLE STERİLİZASYON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38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800" b="1" dirty="0" smtClean="0">
                <a:solidFill>
                  <a:srgbClr val="FF0000"/>
                </a:solidFill>
                <a:cs typeface="Times New Roman" pitchFamily="18" charset="0"/>
              </a:rPr>
              <a:t>III-KİMYASAL MADDELERLE STERİLİZASYON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2900" b="1" dirty="0" smtClean="0">
                <a:cs typeface="Times New Roman" pitchFamily="18" charset="0"/>
              </a:rPr>
              <a:t>	1- Kimyasal gazlarla sterilizasyon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2900" b="1" dirty="0" smtClean="0">
                <a:cs typeface="Times New Roman" pitchFamily="18" charset="0"/>
              </a:rPr>
              <a:t>	2- Kimyasal sıvılarla sterilizasyon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4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2400" b="1" dirty="0" smtClean="0">
                <a:cs typeface="Times New Roman" pitchFamily="18" charset="0"/>
              </a:rPr>
              <a:t> </a:t>
            </a:r>
            <a:r>
              <a:rPr lang="tr-TR" sz="3800" b="1" dirty="0" smtClean="0">
                <a:solidFill>
                  <a:srgbClr val="FF0000"/>
                </a:solidFill>
                <a:cs typeface="Times New Roman" pitchFamily="18" charset="0"/>
              </a:rPr>
              <a:t>IV- RADYASYON (IŞINLAMA) İLE STERİLİZASYON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4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2400" b="1" dirty="0" smtClean="0">
                <a:cs typeface="Times New Roman" pitchFamily="18" charset="0"/>
              </a:rPr>
              <a:t>        </a:t>
            </a:r>
            <a:r>
              <a:rPr lang="tr-TR" b="1" dirty="0" smtClean="0">
                <a:cs typeface="Times New Roman" pitchFamily="18" charset="0"/>
              </a:rPr>
              <a:t>1- Ultraviyole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   2- X ve gama ışınları</a:t>
            </a:r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0070C0"/>
                </a:solidFill>
                <a:cs typeface="Times New Roman" pitchFamily="18" charset="0"/>
              </a:rPr>
              <a:t>STERİLİZASYON  YÖNTEMLERİ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  <a:cs typeface="Times New Roman" pitchFamily="18" charset="0"/>
              </a:rPr>
              <a:t>   III-KİMYASAL MADDELERLE STERİLİZASYON</a:t>
            </a:r>
          </a:p>
          <a:p>
            <a:pPr>
              <a:buNone/>
            </a:pPr>
            <a:r>
              <a:rPr lang="tr-TR" b="1" dirty="0" smtClean="0">
                <a:cs typeface="Times New Roman" pitchFamily="18" charset="0"/>
              </a:rPr>
              <a:t> Kimyasal maddeler değişik mekanizmalarla </a:t>
            </a:r>
          </a:p>
          <a:p>
            <a:pPr>
              <a:buNone/>
            </a:pPr>
            <a:endParaRPr lang="tr-TR" sz="2800" b="1" dirty="0" smtClean="0">
              <a:cs typeface="Times New Roman" pitchFamily="18" charset="0"/>
            </a:endParaRPr>
          </a:p>
          <a:p>
            <a:pPr>
              <a:buNone/>
            </a:pPr>
            <a:r>
              <a:rPr lang="tr-TR" sz="2800" b="1" dirty="0" smtClean="0">
                <a:cs typeface="Times New Roman" pitchFamily="18" charset="0"/>
              </a:rPr>
              <a:t>    Hücre zarlarını bozarak</a:t>
            </a:r>
          </a:p>
          <a:p>
            <a:pPr>
              <a:buNone/>
            </a:pPr>
            <a:r>
              <a:rPr lang="tr-TR" sz="2800" b="1" dirty="0" smtClean="0">
                <a:cs typeface="Times New Roman" pitchFamily="18" charset="0"/>
              </a:rPr>
              <a:t>    Proteinlerini pıhtılaştırarak</a:t>
            </a:r>
          </a:p>
          <a:p>
            <a:pPr>
              <a:buNone/>
            </a:pPr>
            <a:r>
              <a:rPr lang="tr-TR" sz="2800" b="1" dirty="0" smtClean="0">
                <a:cs typeface="Times New Roman" pitchFamily="18" charset="0"/>
              </a:rPr>
              <a:t>    Enzimleri tahrip edilerek</a:t>
            </a:r>
          </a:p>
          <a:p>
            <a:pPr>
              <a:buNone/>
            </a:pPr>
            <a:r>
              <a:rPr lang="tr-TR" sz="2800" b="1" dirty="0" smtClean="0">
                <a:cs typeface="Times New Roman" pitchFamily="18" charset="0"/>
              </a:rPr>
              <a:t>    Çekirdek yapıları bozularak </a:t>
            </a:r>
          </a:p>
          <a:p>
            <a:pPr>
              <a:buNone/>
            </a:pPr>
            <a:endParaRPr lang="tr-TR" b="1" dirty="0" smtClean="0">
              <a:cs typeface="Times New Roman" pitchFamily="18" charset="0"/>
            </a:endParaRPr>
          </a:p>
          <a:p>
            <a:pPr>
              <a:buNone/>
            </a:pPr>
            <a:r>
              <a:rPr lang="tr-TR" b="1" dirty="0" smtClean="0">
                <a:cs typeface="Times New Roman" pitchFamily="18" charset="0"/>
              </a:rPr>
              <a:t>Etki ederler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0070C0"/>
                </a:solidFill>
                <a:cs typeface="Times New Roman" pitchFamily="18" charset="0"/>
              </a:rPr>
              <a:t>STERİLİZASYON  YÖNTEMLERİ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tr-TR" b="1" dirty="0" smtClean="0"/>
              <a:t>		</a:t>
            </a:r>
            <a:r>
              <a:rPr lang="tr-TR" b="1" dirty="0" smtClean="0">
                <a:solidFill>
                  <a:srgbClr val="00B050"/>
                </a:solidFill>
                <a:cs typeface="Times New Roman" pitchFamily="18" charset="0"/>
              </a:rPr>
              <a:t>1- Kimyasal gazlarla sterilizasyon</a:t>
            </a:r>
          </a:p>
          <a:p>
            <a:pPr>
              <a:buNone/>
            </a:pPr>
            <a:endParaRPr lang="tr-TR" b="1" dirty="0" smtClean="0">
              <a:solidFill>
                <a:srgbClr val="00B050"/>
              </a:solidFill>
              <a:cs typeface="Times New Roman" pitchFamily="18" charset="0"/>
            </a:endParaRPr>
          </a:p>
          <a:p>
            <a:pPr>
              <a:buNone/>
            </a:pPr>
            <a:endParaRPr lang="tr-TR" b="1" dirty="0" smtClean="0">
              <a:solidFill>
                <a:srgbClr val="00B050"/>
              </a:solidFill>
              <a:cs typeface="Times New Roman" pitchFamily="18" charset="0"/>
            </a:endParaRPr>
          </a:p>
          <a:p>
            <a:pPr>
              <a:buNone/>
            </a:pPr>
            <a:endParaRPr lang="tr-TR" b="1" dirty="0" smtClean="0">
              <a:solidFill>
                <a:srgbClr val="00B050"/>
              </a:solidFill>
              <a:cs typeface="Times New Roman" pitchFamily="18" charset="0"/>
            </a:endParaRPr>
          </a:p>
          <a:p>
            <a:pPr>
              <a:buNone/>
            </a:pPr>
            <a:r>
              <a:rPr lang="tr-TR" dirty="0" smtClean="0"/>
              <a:t>    </a:t>
            </a:r>
            <a:r>
              <a:rPr lang="tr-TR" sz="2800" b="1" dirty="0" smtClean="0">
                <a:solidFill>
                  <a:srgbClr val="FF0000"/>
                </a:solidFill>
              </a:rPr>
              <a:t>Bu yöntemler, yüksek ısıda sterilize edilemeyen ısıya duyarlı cerrahi malzemelerin sterilizasyonunda kullanılmaktadır.</a:t>
            </a:r>
          </a:p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    </a:t>
            </a:r>
            <a:r>
              <a:rPr lang="tr-TR" sz="2800" b="1" dirty="0" err="1" smtClean="0">
                <a:solidFill>
                  <a:srgbClr val="FF0000"/>
                </a:solidFill>
              </a:rPr>
              <a:t>Laboratuvarlardaki</a:t>
            </a:r>
            <a:r>
              <a:rPr lang="tr-TR" sz="2800" b="1" dirty="0" smtClean="0">
                <a:solidFill>
                  <a:srgbClr val="FF0000"/>
                </a:solidFill>
              </a:rPr>
              <a:t> kullanımları çok sınırlıdır</a:t>
            </a:r>
            <a:endParaRPr lang="tr-TR" sz="2800" b="1" dirty="0" smtClean="0">
              <a:solidFill>
                <a:srgbClr val="FF0000"/>
              </a:solidFill>
              <a:cs typeface="Times New Roman" pitchFamily="18" charset="0"/>
            </a:endParaRPr>
          </a:p>
          <a:p>
            <a:pPr>
              <a:buNone/>
            </a:pPr>
            <a:endParaRPr lang="tr-TR" sz="28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HANGİ KİMYASAL  GAZLAR?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200" b="1" dirty="0" smtClean="0">
                <a:solidFill>
                  <a:srgbClr val="FF0000"/>
                </a:solidFill>
              </a:rPr>
              <a:t>GÜNÜMÜZDE EN ÇOK KULLANILANLAR</a:t>
            </a:r>
            <a:endParaRPr lang="tr-TR" sz="32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b="1" dirty="0" smtClean="0"/>
              <a:t>Etilen oksit </a:t>
            </a:r>
          </a:p>
          <a:p>
            <a:r>
              <a:rPr lang="tr-TR" b="1" dirty="0" smtClean="0"/>
              <a:t>Hidrojen peroksit  Gaz plazma sistemleri </a:t>
            </a:r>
          </a:p>
          <a:p>
            <a:pPr>
              <a:buNone/>
            </a:pPr>
            <a:endParaRPr lang="tr-TR" dirty="0" smtClean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332656"/>
            <a:ext cx="8640960" cy="619268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sz="2800" b="1" dirty="0" smtClean="0">
                <a:solidFill>
                  <a:srgbClr val="0070C0"/>
                </a:solidFill>
                <a:cs typeface="Times New Roman" pitchFamily="18" charset="0"/>
              </a:rPr>
              <a:t>	</a:t>
            </a:r>
            <a:r>
              <a:rPr lang="tr-TR" b="1" dirty="0" smtClean="0">
                <a:solidFill>
                  <a:srgbClr val="0070C0"/>
                </a:solidFill>
                <a:cs typeface="Times New Roman" pitchFamily="18" charset="0"/>
              </a:rPr>
              <a:t> ETİLEN OKSİT (EO-</a:t>
            </a:r>
            <a:r>
              <a:rPr lang="tr-TR" b="1" dirty="0" smtClean="0">
                <a:solidFill>
                  <a:srgbClr val="FF0000"/>
                </a:solidFill>
              </a:rPr>
              <a:t> C₂H₄O</a:t>
            </a:r>
            <a:r>
              <a:rPr lang="tr-TR" b="1" dirty="0" smtClean="0">
                <a:solidFill>
                  <a:srgbClr val="0070C0"/>
                </a:solidFill>
                <a:cs typeface="Times New Roman" pitchFamily="18" charset="0"/>
              </a:rPr>
              <a:t>)   ETKİ MEKANİZMASI</a:t>
            </a:r>
            <a:endParaRPr lang="tr-TR" b="1" dirty="0" smtClean="0">
              <a:cs typeface="Times New Roman" pitchFamily="18" charset="0"/>
            </a:endParaRPr>
          </a:p>
          <a:p>
            <a:pPr>
              <a:buNone/>
            </a:pPr>
            <a:endParaRPr lang="tr-TR" sz="2800" b="1" dirty="0" smtClean="0">
              <a:cs typeface="Times New Roman" pitchFamily="18" charset="0"/>
            </a:endParaRPr>
          </a:p>
          <a:p>
            <a:r>
              <a:rPr lang="tr-TR" sz="2800" b="1" dirty="0" smtClean="0">
                <a:cs typeface="Times New Roman" pitchFamily="18" charset="0"/>
              </a:rPr>
              <a:t>Etilen oksit </a:t>
            </a:r>
            <a:r>
              <a:rPr lang="tr-TR" sz="2800" b="1" dirty="0" smtClean="0"/>
              <a:t>mikroorganizmaların </a:t>
            </a:r>
            <a:r>
              <a:rPr lang="tr-TR" sz="2800" b="1" dirty="0" smtClean="0">
                <a:solidFill>
                  <a:srgbClr val="00B050"/>
                </a:solidFill>
              </a:rPr>
              <a:t>HÜCRE DUVARI</a:t>
            </a:r>
            <a:r>
              <a:rPr lang="tr-TR" sz="2800" dirty="0" smtClean="0"/>
              <a:t> ,</a:t>
            </a:r>
            <a:r>
              <a:rPr lang="tr-TR" sz="2800" b="1" dirty="0" smtClean="0">
                <a:solidFill>
                  <a:srgbClr val="00B050"/>
                </a:solidFill>
              </a:rPr>
              <a:t>DNA,</a:t>
            </a:r>
            <a:r>
              <a:rPr lang="tr-TR" sz="2800" dirty="0" smtClean="0"/>
              <a:t> </a:t>
            </a:r>
            <a:r>
              <a:rPr lang="tr-TR" sz="2800" b="1" dirty="0" smtClean="0">
                <a:solidFill>
                  <a:srgbClr val="00B050"/>
                </a:solidFill>
              </a:rPr>
              <a:t>PROTEİNLERİ İLE </a:t>
            </a:r>
            <a:r>
              <a:rPr lang="tr-TR" sz="2800" b="1" dirty="0" smtClean="0"/>
              <a:t>reaksiyona girerek </a:t>
            </a:r>
            <a:r>
              <a:rPr lang="tr-TR" sz="2800" b="1" dirty="0" err="1" smtClean="0"/>
              <a:t>irreversibl</a:t>
            </a:r>
            <a:r>
              <a:rPr lang="tr-TR" sz="2800" b="1" dirty="0" smtClean="0"/>
              <a:t> alkalileşmeye sebep olan bir </a:t>
            </a:r>
            <a:r>
              <a:rPr lang="tr-TR" sz="2800" b="1" dirty="0" err="1" smtClean="0"/>
              <a:t>sterilan</a:t>
            </a:r>
            <a:r>
              <a:rPr lang="tr-TR" sz="2800" b="1" dirty="0" smtClean="0"/>
              <a:t> olarak çalışır</a:t>
            </a:r>
          </a:p>
          <a:p>
            <a:r>
              <a:rPr lang="tr-TR" sz="2800" b="1" dirty="0" smtClean="0"/>
              <a:t>Renksiz, Kokusuz, Havadan biraz daha ağır,</a:t>
            </a:r>
            <a:r>
              <a:rPr lang="tr-TR" sz="2800" dirty="0" smtClean="0"/>
              <a:t> </a:t>
            </a:r>
            <a:r>
              <a:rPr lang="tr-TR" sz="2800" b="1" dirty="0" smtClean="0"/>
              <a:t>patlayıcı ve </a:t>
            </a:r>
            <a:r>
              <a:rPr lang="tr-TR" sz="2800" b="1" dirty="0" err="1" smtClean="0"/>
              <a:t>toksik</a:t>
            </a:r>
            <a:r>
              <a:rPr lang="tr-TR" sz="2800" b="1" dirty="0" smtClean="0"/>
              <a:t> bir maddedir</a:t>
            </a:r>
            <a:endParaRPr lang="tr-TR" sz="2800" b="1" dirty="0" smtClean="0">
              <a:cs typeface="Times New Roman" pitchFamily="18" charset="0"/>
            </a:endParaRPr>
          </a:p>
          <a:p>
            <a:r>
              <a:rPr lang="tr-TR" sz="2800" b="1" dirty="0" smtClean="0">
                <a:solidFill>
                  <a:srgbClr val="FF0000"/>
                </a:solidFill>
                <a:cs typeface="Times New Roman" pitchFamily="18" charset="0"/>
              </a:rPr>
              <a:t>Bilinen tüm virüs, bakteri ve bakteri sporlarını yok eder</a:t>
            </a:r>
          </a:p>
          <a:p>
            <a:r>
              <a:rPr lang="tr-TR" sz="2800" b="1" dirty="0" err="1" smtClean="0"/>
              <a:t>Bakterisidal</a:t>
            </a:r>
            <a:r>
              <a:rPr lang="tr-TR" sz="2800" b="1" dirty="0" smtClean="0"/>
              <a:t>, </a:t>
            </a:r>
            <a:r>
              <a:rPr lang="tr-TR" sz="2800" b="1" dirty="0" err="1" smtClean="0"/>
              <a:t>fungisidal</a:t>
            </a:r>
            <a:r>
              <a:rPr lang="tr-TR" sz="2800" b="1" dirty="0" smtClean="0"/>
              <a:t>, </a:t>
            </a:r>
            <a:r>
              <a:rPr lang="tr-TR" sz="2800" b="1" dirty="0" err="1" smtClean="0"/>
              <a:t>virusidal</a:t>
            </a:r>
            <a:endParaRPr lang="tr-TR" sz="2800" b="1" dirty="0" smtClean="0"/>
          </a:p>
          <a:p>
            <a:r>
              <a:rPr lang="tr-TR" sz="2800" b="1" dirty="0" smtClean="0">
                <a:solidFill>
                  <a:srgbClr val="FF0000"/>
                </a:solidFill>
              </a:rPr>
              <a:t>Etilen oksit </a:t>
            </a:r>
            <a:r>
              <a:rPr lang="tr-TR" sz="2800" b="1" dirty="0" err="1" smtClean="0">
                <a:solidFill>
                  <a:srgbClr val="FF0000"/>
                </a:solidFill>
              </a:rPr>
              <a:t>sterilazyonu</a:t>
            </a:r>
            <a:r>
              <a:rPr lang="tr-TR" sz="2800" b="1" dirty="0" smtClean="0">
                <a:solidFill>
                  <a:srgbClr val="FF0000"/>
                </a:solidFill>
              </a:rPr>
              <a:t> düşük ısıda (37-55°C) standart sürelerde, etki eder</a:t>
            </a:r>
          </a:p>
          <a:p>
            <a:r>
              <a:rPr lang="tr-TR" sz="2800" b="1" dirty="0" smtClean="0"/>
              <a:t>Sporlar dahil bütün mikroorganizmalara [</a:t>
            </a:r>
            <a:r>
              <a:rPr lang="tr-TR" sz="2800" b="1" dirty="0" err="1" smtClean="0"/>
              <a:t>Creutzfeldt</a:t>
            </a:r>
            <a:r>
              <a:rPr lang="tr-TR" sz="2800" b="1" dirty="0" smtClean="0"/>
              <a:t>-</a:t>
            </a:r>
            <a:r>
              <a:rPr lang="tr-TR" sz="2800" b="1" dirty="0" err="1" smtClean="0"/>
              <a:t>Jakob</a:t>
            </a:r>
            <a:r>
              <a:rPr lang="tr-TR" sz="2800" b="1" dirty="0" smtClean="0"/>
              <a:t> hastalığı (CJD) hariç] karşı etkilidir</a:t>
            </a:r>
          </a:p>
          <a:p>
            <a:pPr>
              <a:buNone/>
            </a:pPr>
            <a:endParaRPr lang="tr-TR" sz="2800" b="1" dirty="0" smtClean="0">
              <a:solidFill>
                <a:srgbClr val="FF0000"/>
              </a:solidFill>
            </a:endParaRPr>
          </a:p>
          <a:p>
            <a:endParaRPr lang="tr-TR" sz="2800" b="1" dirty="0" smtClean="0"/>
          </a:p>
          <a:p>
            <a:pPr>
              <a:buNone/>
            </a:pPr>
            <a:endParaRPr lang="tr-TR" sz="2800" b="1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332656"/>
            <a:ext cx="8640960" cy="626469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0070C0"/>
                </a:solidFill>
                <a:cs typeface="Times New Roman" pitchFamily="18" charset="0"/>
              </a:rPr>
              <a:t>			Etilen oksit (EO-</a:t>
            </a:r>
            <a:r>
              <a:rPr lang="tr-TR" b="1" dirty="0" smtClean="0">
                <a:solidFill>
                  <a:srgbClr val="FF0000"/>
                </a:solidFill>
              </a:rPr>
              <a:t> C₂H₄O</a:t>
            </a:r>
            <a:r>
              <a:rPr lang="tr-TR" b="1" dirty="0" smtClean="0">
                <a:solidFill>
                  <a:srgbClr val="0070C0"/>
                </a:solidFill>
                <a:cs typeface="Times New Roman" pitchFamily="18" charset="0"/>
              </a:rPr>
              <a:t>) </a:t>
            </a:r>
            <a:endParaRPr lang="tr-TR" b="1" dirty="0" smtClean="0">
              <a:solidFill>
                <a:srgbClr val="00B050"/>
              </a:solidFill>
            </a:endParaRPr>
          </a:p>
          <a:p>
            <a:r>
              <a:rPr lang="tr-TR" b="1" dirty="0" smtClean="0">
                <a:solidFill>
                  <a:srgbClr val="00B050"/>
                </a:solidFill>
              </a:rPr>
              <a:t>Tüp</a:t>
            </a:r>
          </a:p>
          <a:p>
            <a:r>
              <a:rPr lang="tr-TR" b="1" dirty="0" smtClean="0">
                <a:solidFill>
                  <a:srgbClr val="00B050"/>
                </a:solidFill>
              </a:rPr>
              <a:t>Pipet</a:t>
            </a:r>
          </a:p>
          <a:p>
            <a:r>
              <a:rPr lang="tr-TR" b="1" dirty="0" err="1" smtClean="0">
                <a:solidFill>
                  <a:srgbClr val="00B050"/>
                </a:solidFill>
              </a:rPr>
              <a:t>Petri</a:t>
            </a:r>
            <a:r>
              <a:rPr lang="tr-TR" b="1" dirty="0" smtClean="0">
                <a:solidFill>
                  <a:srgbClr val="00B050"/>
                </a:solidFill>
              </a:rPr>
              <a:t> kutusu</a:t>
            </a:r>
          </a:p>
          <a:p>
            <a:r>
              <a:rPr lang="tr-TR" b="1" dirty="0" smtClean="0">
                <a:solidFill>
                  <a:srgbClr val="00B050"/>
                </a:solidFill>
              </a:rPr>
              <a:t>Örnek alma kapları</a:t>
            </a:r>
          </a:p>
          <a:p>
            <a:r>
              <a:rPr lang="tr-TR" b="1" dirty="0" smtClean="0">
                <a:solidFill>
                  <a:srgbClr val="00B050"/>
                </a:solidFill>
              </a:rPr>
              <a:t>Ameliyat malzemeleri</a:t>
            </a:r>
          </a:p>
          <a:p>
            <a:r>
              <a:rPr lang="tr-TR" b="1" dirty="0" smtClean="0">
                <a:solidFill>
                  <a:srgbClr val="00B050"/>
                </a:solidFill>
              </a:rPr>
              <a:t>Enjektörler</a:t>
            </a:r>
          </a:p>
          <a:p>
            <a:r>
              <a:rPr lang="tr-TR" b="1" dirty="0" smtClean="0">
                <a:solidFill>
                  <a:srgbClr val="00B050"/>
                </a:solidFill>
              </a:rPr>
              <a:t>Oftalmoskoplar</a:t>
            </a:r>
          </a:p>
          <a:p>
            <a:r>
              <a:rPr lang="tr-TR" b="1" dirty="0" smtClean="0">
                <a:solidFill>
                  <a:srgbClr val="00B050"/>
                </a:solidFill>
              </a:rPr>
              <a:t>Deri ve kauçuktan yapılmış malzemeler</a:t>
            </a:r>
          </a:p>
          <a:p>
            <a:r>
              <a:rPr lang="tr-TR" b="1" dirty="0" smtClean="0">
                <a:solidFill>
                  <a:srgbClr val="00B050"/>
                </a:solidFill>
              </a:rPr>
              <a:t>“ısıya dayanıksız kritik </a:t>
            </a:r>
            <a:r>
              <a:rPr lang="tr-TR" b="1" dirty="0" err="1" smtClean="0">
                <a:solidFill>
                  <a:srgbClr val="00B050"/>
                </a:solidFill>
              </a:rPr>
              <a:t>araçlar”ın</a:t>
            </a:r>
            <a:r>
              <a:rPr lang="tr-TR" b="1" dirty="0" smtClean="0">
                <a:solidFill>
                  <a:srgbClr val="00B050"/>
                </a:solidFill>
              </a:rPr>
              <a:t> </a:t>
            </a:r>
          </a:p>
          <a:p>
            <a:pPr lvl="1"/>
            <a:r>
              <a:rPr lang="tr-TR" sz="3200" b="1" dirty="0" smtClean="0">
                <a:solidFill>
                  <a:srgbClr val="00B050"/>
                </a:solidFill>
              </a:rPr>
              <a:t>sterilizasyonunda etilen oksitten yararlanılır</a:t>
            </a:r>
          </a:p>
          <a:p>
            <a:pPr>
              <a:buNone/>
            </a:pPr>
            <a:endParaRPr lang="tr-TR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4000" b="1" dirty="0" smtClean="0">
                <a:solidFill>
                  <a:srgbClr val="0070C0"/>
                </a:solidFill>
                <a:cs typeface="Times New Roman" pitchFamily="18" charset="0"/>
              </a:rPr>
              <a:t>Etilen oksit (EO) </a:t>
            </a:r>
            <a:br>
              <a:rPr lang="tr-TR" sz="4000" b="1" dirty="0" smtClean="0">
                <a:solidFill>
                  <a:srgbClr val="0070C0"/>
                </a:solidFill>
                <a:cs typeface="Times New Roman" pitchFamily="18" charset="0"/>
              </a:rPr>
            </a:br>
            <a:r>
              <a:rPr lang="tr-TR" sz="4000" b="1" dirty="0" smtClean="0">
                <a:solidFill>
                  <a:srgbClr val="0070C0"/>
                </a:solidFill>
                <a:cs typeface="Times New Roman" pitchFamily="18" charset="0"/>
              </a:rPr>
              <a:t>AVANTAJLARI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800" b="1" dirty="0" smtClean="0"/>
              <a:t>Isıya ve neme hassas </a:t>
            </a:r>
            <a:r>
              <a:rPr lang="tr-TR" sz="2800" b="1" dirty="0" smtClean="0"/>
              <a:t>plastik </a:t>
            </a:r>
            <a:r>
              <a:rPr lang="es-ES" sz="2800" b="1" dirty="0" smtClean="0"/>
              <a:t>malzeme ve aletler, </a:t>
            </a:r>
          </a:p>
          <a:p>
            <a:pPr>
              <a:buNone/>
            </a:pPr>
            <a:r>
              <a:rPr lang="tr-TR" sz="2800" b="1" dirty="0" smtClean="0"/>
              <a:t>     sentetik, </a:t>
            </a:r>
            <a:r>
              <a:rPr lang="tr-TR" sz="2800" b="1" dirty="0" err="1" smtClean="0"/>
              <a:t>fiberoptik</a:t>
            </a:r>
            <a:r>
              <a:rPr lang="tr-TR" sz="2800" b="1" dirty="0" smtClean="0"/>
              <a:t> ve PVC malzemeler için uygun </a:t>
            </a:r>
          </a:p>
          <a:p>
            <a:r>
              <a:rPr lang="tr-TR" sz="2800" b="1" dirty="0" smtClean="0"/>
              <a:t>Lümenli aletlerin sterilizasyonu için uygundur </a:t>
            </a:r>
          </a:p>
          <a:p>
            <a:r>
              <a:rPr lang="tr-TR" sz="2800" b="1" dirty="0" smtClean="0"/>
              <a:t>Lümenli aletler için, uzunluk ve çap sınırlaması yoktur </a:t>
            </a:r>
          </a:p>
          <a:p>
            <a:r>
              <a:rPr lang="tr-TR" sz="2800" b="1" dirty="0" smtClean="0"/>
              <a:t>Birçok tıbbi malzeme ile uyumlu olup, sıcaklığa duyarlı malzemeler için tercih edilen bir yöntemdir</a:t>
            </a:r>
          </a:p>
          <a:p>
            <a:r>
              <a:rPr lang="tr-TR" sz="2800" b="1" dirty="0" err="1" smtClean="0"/>
              <a:t>Penetrasyon</a:t>
            </a:r>
            <a:r>
              <a:rPr lang="tr-TR" sz="2800" b="1" dirty="0" smtClean="0"/>
              <a:t> yeteneği güçlü</a:t>
            </a:r>
          </a:p>
          <a:p>
            <a:endParaRPr lang="tr-TR" sz="2800" b="1" dirty="0" smtClean="0"/>
          </a:p>
          <a:p>
            <a:endParaRPr lang="tr-TR" sz="2800" b="1" dirty="0" smtClean="0"/>
          </a:p>
          <a:p>
            <a:endParaRPr lang="tr-TR" sz="2800" b="1" dirty="0" smtClean="0"/>
          </a:p>
          <a:p>
            <a:pPr>
              <a:buNone/>
            </a:pPr>
            <a:endParaRPr lang="tr-TR" sz="2800" b="1" dirty="0" smtClean="0"/>
          </a:p>
          <a:p>
            <a:endParaRPr lang="tr-TR" sz="2800" b="1" dirty="0" smtClean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4000" b="1" dirty="0" smtClean="0">
                <a:solidFill>
                  <a:srgbClr val="0070C0"/>
                </a:solidFill>
                <a:cs typeface="Times New Roman" pitchFamily="18" charset="0"/>
              </a:rPr>
              <a:t>Etilen oksit (EO)</a:t>
            </a:r>
            <a:br>
              <a:rPr lang="tr-TR" sz="4000" b="1" dirty="0" smtClean="0">
                <a:solidFill>
                  <a:srgbClr val="0070C0"/>
                </a:solidFill>
                <a:cs typeface="Times New Roman" pitchFamily="18" charset="0"/>
              </a:rPr>
            </a:br>
            <a:r>
              <a:rPr lang="tr-TR" sz="4000" b="1" dirty="0" smtClean="0">
                <a:solidFill>
                  <a:srgbClr val="0070C0"/>
                </a:solidFill>
                <a:cs typeface="Times New Roman" pitchFamily="18" charset="0"/>
              </a:rPr>
              <a:t>DEZAVANTAJI</a:t>
            </a:r>
            <a:endParaRPr lang="tr-TR" sz="4000" dirty="0">
              <a:solidFill>
                <a:srgbClr val="0070C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sz="2800" b="1" dirty="0" err="1" smtClean="0">
                <a:cs typeface="Times New Roman" pitchFamily="18" charset="0"/>
              </a:rPr>
              <a:t>Toksik</a:t>
            </a:r>
            <a:r>
              <a:rPr lang="tr-TR" sz="2800" b="1" dirty="0" smtClean="0">
                <a:cs typeface="Times New Roman" pitchFamily="18" charset="0"/>
              </a:rPr>
              <a:t> atık bırakır, </a:t>
            </a:r>
            <a:r>
              <a:rPr lang="tr-TR" sz="2800" b="1" dirty="0" err="1" smtClean="0">
                <a:cs typeface="Times New Roman" pitchFamily="18" charset="0"/>
              </a:rPr>
              <a:t>Kansorejen</a:t>
            </a:r>
            <a:endParaRPr lang="tr-TR" sz="2800" b="1" dirty="0" smtClean="0">
              <a:cs typeface="Times New Roman" pitchFamily="18" charset="0"/>
            </a:endParaRPr>
          </a:p>
          <a:p>
            <a:r>
              <a:rPr lang="tr-TR" sz="2800" b="1" dirty="0" smtClean="0">
                <a:cs typeface="Times New Roman" pitchFamily="18" charset="0"/>
              </a:rPr>
              <a:t>Yanıcı,Patlayıcı gaz</a:t>
            </a:r>
          </a:p>
          <a:p>
            <a:r>
              <a:rPr lang="tr-TR" sz="2800" b="1" dirty="0" smtClean="0">
                <a:cs typeface="Times New Roman" pitchFamily="18" charset="0"/>
              </a:rPr>
              <a:t>Steril edilmiş malzemeden  artık gazın uzaklaştırılması için uzun süre gerekli</a:t>
            </a:r>
            <a:endParaRPr lang="tr-TR" sz="2800" dirty="0" smtClean="0"/>
          </a:p>
          <a:p>
            <a:r>
              <a:rPr lang="tr-TR" sz="2800" b="1" dirty="0" smtClean="0"/>
              <a:t>Sıvılar steril edilemez </a:t>
            </a:r>
          </a:p>
          <a:p>
            <a:r>
              <a:rPr lang="tr-TR" sz="2800" b="1" dirty="0" smtClean="0"/>
              <a:t>ETO gazının kumaş tarafından emilmesi nedeni ile Paketleme materyali olarak kumaş kullanılamaz</a:t>
            </a:r>
          </a:p>
          <a:p>
            <a:r>
              <a:rPr lang="tr-TR" sz="2800" b="1" dirty="0" smtClean="0"/>
              <a:t>Özel paketleme malzemesi gerekli</a:t>
            </a:r>
          </a:p>
          <a:p>
            <a:r>
              <a:rPr lang="tr-TR" sz="2800" b="1" dirty="0" smtClean="0"/>
              <a:t>Kurulum maliyeti yüksek </a:t>
            </a:r>
          </a:p>
          <a:p>
            <a:r>
              <a:rPr lang="tr-TR" sz="2800" b="1" dirty="0" smtClean="0"/>
              <a:t>Buhar sterilizasyon yöntemine göre pahalıdır </a:t>
            </a:r>
            <a:endParaRPr lang="tr-TR" sz="2800" b="1" dirty="0" smtClean="0">
              <a:cs typeface="Times New Roman" pitchFamily="18" charset="0"/>
            </a:endParaRPr>
          </a:p>
          <a:p>
            <a:endParaRPr lang="tr-TR" sz="2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332656"/>
            <a:ext cx="8640960" cy="6264696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tr-TR" b="1" dirty="0" smtClean="0">
                <a:solidFill>
                  <a:srgbClr val="FF0000"/>
                </a:solidFill>
              </a:rPr>
              <a:t>	</a:t>
            </a:r>
            <a:r>
              <a:rPr lang="tr-TR" sz="3300" b="1" dirty="0" smtClean="0">
                <a:solidFill>
                  <a:srgbClr val="FF0000"/>
                </a:solidFill>
              </a:rPr>
              <a:t>HİDROJEN PEROKSİT GAZ (H₂0₂) </a:t>
            </a:r>
            <a:br>
              <a:rPr lang="tr-TR" sz="3300" b="1" dirty="0" smtClean="0">
                <a:solidFill>
                  <a:srgbClr val="FF0000"/>
                </a:solidFill>
              </a:rPr>
            </a:br>
            <a:r>
              <a:rPr lang="tr-TR" sz="3300" b="1" dirty="0" smtClean="0">
                <a:solidFill>
                  <a:srgbClr val="0070C0"/>
                </a:solidFill>
                <a:cs typeface="Times New Roman" pitchFamily="18" charset="0"/>
              </a:rPr>
              <a:t>ETKİ MEKANİZMASI</a:t>
            </a:r>
            <a:endParaRPr lang="tr-TR" sz="3300" b="1" dirty="0" smtClean="0"/>
          </a:p>
          <a:p>
            <a:r>
              <a:rPr lang="tr-TR" b="1" dirty="0" smtClean="0"/>
              <a:t>Hidrojen peroksit (H₂O₂), geniş spektrumlu, güvenli ve çok güçlü bir okside edici kimyasal bileşiktir</a:t>
            </a:r>
          </a:p>
          <a:p>
            <a:r>
              <a:rPr lang="tr-TR" b="1" dirty="0" smtClean="0"/>
              <a:t>Renksiz yakıcı bir sıvıdır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r>
              <a:rPr lang="tr-TR" sz="3300" b="1" dirty="0" smtClean="0">
                <a:solidFill>
                  <a:srgbClr val="FF0000"/>
                </a:solidFill>
              </a:rPr>
              <a:t>			SIVI FORMDA KULLANILDIĞINDA                              </a:t>
            </a:r>
            <a:r>
              <a:rPr lang="tr-TR" sz="3300" b="1" dirty="0" smtClean="0"/>
              <a:t>Düşük konsantrasyonlarda </a:t>
            </a:r>
            <a:r>
              <a:rPr lang="tr-TR" sz="3300" b="1" dirty="0" err="1" smtClean="0">
                <a:solidFill>
                  <a:srgbClr val="0070C0"/>
                </a:solidFill>
              </a:rPr>
              <a:t>bakterisidal</a:t>
            </a:r>
            <a:r>
              <a:rPr lang="tr-TR" sz="3300" b="1" dirty="0" smtClean="0">
                <a:solidFill>
                  <a:srgbClr val="0070C0"/>
                </a:solidFill>
              </a:rPr>
              <a:t> ve </a:t>
            </a:r>
            <a:r>
              <a:rPr lang="tr-TR" sz="3300" b="1" dirty="0" err="1" smtClean="0">
                <a:solidFill>
                  <a:srgbClr val="0070C0"/>
                </a:solidFill>
              </a:rPr>
              <a:t>fungisidal</a:t>
            </a:r>
            <a:r>
              <a:rPr lang="tr-TR" sz="3300" b="1" dirty="0" smtClean="0">
                <a:solidFill>
                  <a:srgbClr val="0070C0"/>
                </a:solidFill>
              </a:rPr>
              <a:t>   </a:t>
            </a:r>
            <a:r>
              <a:rPr lang="tr-TR" sz="3300" b="1" dirty="0" smtClean="0"/>
              <a:t>etki gösterirken,                                     			 %25-60 gibi yüksek konsantrasyonlarda </a:t>
            </a:r>
            <a:r>
              <a:rPr lang="tr-TR" sz="3300" b="1" dirty="0" err="1" smtClean="0"/>
              <a:t>sporisidal</a:t>
            </a:r>
            <a:r>
              <a:rPr lang="tr-TR" sz="3300" b="1" dirty="0" smtClean="0"/>
              <a:t> etki gösterebilmektedir</a:t>
            </a:r>
          </a:p>
          <a:p>
            <a:pPr>
              <a:buNone/>
            </a:pPr>
            <a:endParaRPr lang="tr-TR" sz="33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tr-TR" sz="3300" b="1" dirty="0" smtClean="0">
                <a:solidFill>
                  <a:srgbClr val="FF0000"/>
                </a:solidFill>
              </a:rPr>
              <a:t>			GAZ FORMDAKİ HİDROJEN PEROKSİT,                                </a:t>
            </a:r>
            <a:r>
              <a:rPr lang="tr-TR" sz="3300" b="1" dirty="0" smtClean="0"/>
              <a:t>Sıvı formunun aksine çok düşük konsantrasyonlarda bile (&gt;0.1mg/litre) </a:t>
            </a:r>
            <a:r>
              <a:rPr lang="tr-TR" sz="3300" b="1" dirty="0" err="1" smtClean="0">
                <a:solidFill>
                  <a:srgbClr val="0070C0"/>
                </a:solidFill>
              </a:rPr>
              <a:t>virüsidal</a:t>
            </a:r>
            <a:r>
              <a:rPr lang="tr-TR" sz="3300" b="1" dirty="0" smtClean="0">
                <a:solidFill>
                  <a:srgbClr val="0070C0"/>
                </a:solidFill>
              </a:rPr>
              <a:t>, </a:t>
            </a:r>
            <a:r>
              <a:rPr lang="tr-TR" sz="3300" b="1" dirty="0" err="1" smtClean="0">
                <a:solidFill>
                  <a:srgbClr val="0070C0"/>
                </a:solidFill>
              </a:rPr>
              <a:t>bakterisidal</a:t>
            </a:r>
            <a:r>
              <a:rPr lang="tr-TR" sz="3300" b="1" dirty="0" smtClean="0">
                <a:solidFill>
                  <a:srgbClr val="0070C0"/>
                </a:solidFill>
              </a:rPr>
              <a:t>, </a:t>
            </a:r>
            <a:r>
              <a:rPr lang="tr-TR" sz="3300" b="1" dirty="0" err="1" smtClean="0">
                <a:solidFill>
                  <a:srgbClr val="0070C0"/>
                </a:solidFill>
              </a:rPr>
              <a:t>fungisidal</a:t>
            </a:r>
            <a:r>
              <a:rPr lang="tr-TR" sz="3300" b="1" dirty="0" smtClean="0">
                <a:solidFill>
                  <a:srgbClr val="0070C0"/>
                </a:solidFill>
              </a:rPr>
              <a:t>, </a:t>
            </a:r>
            <a:r>
              <a:rPr lang="tr-TR" sz="3300" b="1" dirty="0" err="1" smtClean="0">
                <a:solidFill>
                  <a:srgbClr val="0070C0"/>
                </a:solidFill>
              </a:rPr>
              <a:t>mikobakterisidal</a:t>
            </a:r>
            <a:r>
              <a:rPr lang="tr-TR" sz="3300" b="1" dirty="0" smtClean="0">
                <a:solidFill>
                  <a:srgbClr val="0070C0"/>
                </a:solidFill>
              </a:rPr>
              <a:t> ve </a:t>
            </a:r>
            <a:r>
              <a:rPr lang="tr-TR" sz="3300" b="1" dirty="0" err="1" smtClean="0">
                <a:solidFill>
                  <a:srgbClr val="0070C0"/>
                </a:solidFill>
              </a:rPr>
              <a:t>sporisidal</a:t>
            </a:r>
            <a:r>
              <a:rPr lang="tr-TR" sz="3300" b="1" dirty="0" smtClean="0">
                <a:solidFill>
                  <a:srgbClr val="0070C0"/>
                </a:solidFill>
              </a:rPr>
              <a:t> </a:t>
            </a:r>
            <a:r>
              <a:rPr lang="tr-TR" sz="3300" b="1" dirty="0" smtClean="0"/>
              <a:t>etki gösterir</a:t>
            </a:r>
            <a:endParaRPr lang="tr-TR" sz="3300" b="1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 HİDROJEN PEROKSİT 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Mikroorganizmaların Hücre lipit zarlarına, Hücre </a:t>
            </a:r>
            <a:r>
              <a:rPr lang="tr-TR" b="1" dirty="0" err="1" smtClean="0"/>
              <a:t>organelleri</a:t>
            </a:r>
            <a:r>
              <a:rPr lang="tr-TR" b="1" dirty="0" smtClean="0"/>
              <a:t>,DNA ve diğer yaşamsal yapıları ile etkileşmeye girerek mikroorganizmayı öldürür</a:t>
            </a:r>
            <a:endParaRPr lang="tr-TR" b="1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712968" cy="63367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		</a:t>
            </a:r>
            <a:r>
              <a:rPr lang="tr-TR" sz="3600" b="1" dirty="0" smtClean="0">
                <a:solidFill>
                  <a:srgbClr val="FF0000"/>
                </a:solidFill>
              </a:rPr>
              <a:t>SIVI FORMDA KULLANILIRSA</a:t>
            </a:r>
            <a:endParaRPr lang="tr-TR" sz="3600" b="1" dirty="0" smtClean="0"/>
          </a:p>
          <a:p>
            <a:r>
              <a:rPr lang="tr-TR" sz="2400" b="1" dirty="0" smtClean="0"/>
              <a:t>%3’lük H</a:t>
            </a:r>
            <a:r>
              <a:rPr lang="tr-TR" sz="2400" dirty="0" smtClean="0"/>
              <a:t>₂</a:t>
            </a:r>
            <a:r>
              <a:rPr lang="tr-TR" sz="2400" b="1" dirty="0" smtClean="0"/>
              <a:t>O</a:t>
            </a:r>
            <a:r>
              <a:rPr lang="tr-TR" sz="2400" b="1" baseline="-25000" dirty="0" smtClean="0"/>
              <a:t>2</a:t>
            </a:r>
            <a:r>
              <a:rPr lang="tr-TR" sz="2400" b="1" dirty="0" smtClean="0"/>
              <a:t>’ </a:t>
            </a:r>
            <a:r>
              <a:rPr lang="tr-TR" sz="2400" b="1" dirty="0" err="1" smtClean="0"/>
              <a:t>nin</a:t>
            </a:r>
            <a:r>
              <a:rPr lang="tr-TR" sz="2400" b="1" dirty="0" smtClean="0"/>
              <a:t> sudaki çözeltileri antiseptik olarak deri ve yara temizliğinde halk arasında oksijenli su denir</a:t>
            </a:r>
          </a:p>
          <a:p>
            <a:r>
              <a:rPr lang="tr-TR" sz="2400" b="1" dirty="0" smtClean="0"/>
              <a:t>Ağız yıkama solüsyonlarında kullanılır</a:t>
            </a:r>
          </a:p>
          <a:p>
            <a:r>
              <a:rPr lang="tr-TR" sz="2400" b="1" dirty="0" smtClean="0"/>
              <a:t>Dezenfektan olarak yumuşak </a:t>
            </a:r>
            <a:r>
              <a:rPr lang="tr-TR" sz="2400" b="1" dirty="0" err="1" smtClean="0"/>
              <a:t>kontakt</a:t>
            </a:r>
            <a:r>
              <a:rPr lang="tr-TR" sz="2400" b="1" dirty="0" smtClean="0"/>
              <a:t> lenslerin, cerrahi </a:t>
            </a:r>
            <a:r>
              <a:rPr lang="tr-TR" sz="2400" b="1" dirty="0" err="1" smtClean="0"/>
              <a:t>implantların</a:t>
            </a:r>
            <a:r>
              <a:rPr lang="tr-TR" sz="2400" b="1" dirty="0" smtClean="0"/>
              <a:t>, plastik aletlerin vb. dezenfeksiyonunda kullanılır</a:t>
            </a:r>
          </a:p>
          <a:p>
            <a:r>
              <a:rPr lang="tr-TR" sz="2400" b="1" dirty="0" smtClean="0"/>
              <a:t> % 3-6'lık çözeltisi saçları sarartmakta kullanılır</a:t>
            </a:r>
          </a:p>
          <a:p>
            <a:r>
              <a:rPr lang="tr-TR" sz="2400" b="1" dirty="0" smtClean="0"/>
              <a:t> % 30 '</a:t>
            </a:r>
            <a:r>
              <a:rPr lang="tr-TR" sz="2400" b="1" dirty="0" err="1" smtClean="0"/>
              <a:t>luk</a:t>
            </a:r>
            <a:r>
              <a:rPr lang="tr-TR" sz="2400" b="1" dirty="0" smtClean="0"/>
              <a:t> peroksit çözeltisine </a:t>
            </a:r>
            <a:r>
              <a:rPr lang="tr-TR" sz="2400" b="1" dirty="0" err="1" smtClean="0"/>
              <a:t>perhidrol</a:t>
            </a:r>
            <a:r>
              <a:rPr lang="tr-TR" sz="2400" b="1" dirty="0" smtClean="0"/>
              <a:t> denir ve kimya </a:t>
            </a:r>
            <a:r>
              <a:rPr lang="tr-TR" sz="2400" b="1" dirty="0" err="1" smtClean="0"/>
              <a:t>laboratuvar</a:t>
            </a:r>
            <a:r>
              <a:rPr lang="tr-TR" sz="2400" b="1" dirty="0" smtClean="0"/>
              <a:t>  ve  elektronik sanayinde kullanılır</a:t>
            </a:r>
          </a:p>
          <a:p>
            <a:r>
              <a:rPr lang="tr-TR" sz="2400" b="1" dirty="0" smtClean="0"/>
              <a:t> % 30-50 arasındaki konsantrasyonlar tekstil sanayinde pamuklu kumaşları beyazlatmak maksadıyla kullanılır</a:t>
            </a:r>
          </a:p>
          <a:p>
            <a:r>
              <a:rPr lang="tr-TR" sz="2400" b="1" dirty="0" smtClean="0"/>
              <a:t>Arıtmalarda koku giderici olarak kullanımı vardır</a:t>
            </a:r>
          </a:p>
          <a:p>
            <a:r>
              <a:rPr lang="tr-TR" sz="2400" b="1" dirty="0" smtClean="0"/>
              <a:t>Atık su arıtımında ise çözünmüş oksijen sağlamada ve zehirleyici etkinin giderilmesinde kullanılır</a:t>
            </a:r>
          </a:p>
          <a:p>
            <a:pPr>
              <a:buNone/>
            </a:pPr>
            <a:endParaRPr lang="tr-TR" sz="2400" b="1" dirty="0" smtClean="0"/>
          </a:p>
          <a:p>
            <a:pPr>
              <a:buNone/>
            </a:pPr>
            <a:r>
              <a:rPr lang="tr-TR" sz="2400" b="1" dirty="0" smtClean="0"/>
              <a:t/>
            </a:r>
            <a:br>
              <a:rPr lang="tr-TR" sz="2400" b="1" dirty="0" smtClean="0"/>
            </a:br>
            <a:endParaRPr lang="tr-TR" sz="2400" b="1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HİDROJEN PEROKSİT (H₂O₂)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H₂O₂ yüksek konsantrasyonda (% 6- %7,5) </a:t>
            </a:r>
            <a:r>
              <a:rPr lang="tr-TR" b="1" dirty="0" err="1" smtClean="0"/>
              <a:t>sporosittir</a:t>
            </a:r>
            <a:r>
              <a:rPr lang="tr-TR" b="1" dirty="0" smtClean="0"/>
              <a:t> ve sterilizasyon yapabilir</a:t>
            </a:r>
          </a:p>
          <a:p>
            <a:r>
              <a:rPr lang="tr-TR" b="1" dirty="0" smtClean="0"/>
              <a:t>% 6- % 7,5 H₂O₂, </a:t>
            </a:r>
            <a:r>
              <a:rPr lang="tr-TR" b="1" dirty="0" err="1" smtClean="0"/>
              <a:t>Cryptosporidium</a:t>
            </a:r>
            <a:r>
              <a:rPr lang="tr-TR" b="1" dirty="0" smtClean="0"/>
              <a:t> </a:t>
            </a:r>
            <a:r>
              <a:rPr lang="tr-TR" b="1" dirty="0" err="1" smtClean="0"/>
              <a:t>parvum’u</a:t>
            </a:r>
            <a:r>
              <a:rPr lang="tr-TR" b="1" dirty="0" smtClean="0"/>
              <a:t> </a:t>
            </a:r>
            <a:r>
              <a:rPr lang="tr-TR" b="1" dirty="0" err="1" smtClean="0"/>
              <a:t>inaktive</a:t>
            </a:r>
            <a:r>
              <a:rPr lang="tr-TR" b="1" dirty="0" smtClean="0"/>
              <a:t> eden tek </a:t>
            </a:r>
            <a:r>
              <a:rPr lang="tr-TR" b="1" dirty="0" err="1" smtClean="0"/>
              <a:t>sterilan</a:t>
            </a:r>
            <a:r>
              <a:rPr lang="tr-TR" b="1" dirty="0" smtClean="0"/>
              <a:t> olarak bulunmuştur</a:t>
            </a:r>
            <a:endParaRPr lang="tr-TR" b="1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712968" cy="6336704"/>
          </a:xfrm>
        </p:spPr>
        <p:txBody>
          <a:bodyPr>
            <a:normAutofit fontScale="92500" lnSpcReduction="10000"/>
          </a:bodyPr>
          <a:lstStyle/>
          <a:p>
            <a:pPr marL="180975" indent="-180975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tr-TR" sz="4000" b="1" dirty="0" smtClean="0">
                <a:solidFill>
                  <a:srgbClr val="FF0000"/>
                </a:solidFill>
              </a:rPr>
              <a:t>		</a:t>
            </a:r>
            <a:r>
              <a:rPr lang="tr-TR" sz="4300" b="1" dirty="0" smtClean="0">
                <a:solidFill>
                  <a:srgbClr val="FF0000"/>
                </a:solidFill>
              </a:rPr>
              <a:t>HİDROJEN PEROKSİT GAZ</a:t>
            </a:r>
            <a:r>
              <a:rPr lang="tr-TR" sz="4400" b="1" dirty="0" smtClean="0">
                <a:solidFill>
                  <a:srgbClr val="FF0000"/>
                </a:solidFill>
              </a:rPr>
              <a:t> (H₂0₂) </a:t>
            </a:r>
            <a:endParaRPr lang="tr-TR" sz="4300" dirty="0" smtClean="0">
              <a:solidFill>
                <a:srgbClr val="FF0000"/>
              </a:solidFill>
            </a:endParaRPr>
          </a:p>
          <a:p>
            <a:pPr marL="180975" indent="-180975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tr-TR" sz="2800" b="1" dirty="0" smtClean="0">
                <a:solidFill>
                  <a:srgbClr val="FF0000"/>
                </a:solidFill>
                <a:cs typeface="Times New Roman" pitchFamily="18" charset="0"/>
              </a:rPr>
              <a:t>			  	</a:t>
            </a:r>
            <a:r>
              <a:rPr lang="tr-TR" b="1" dirty="0" smtClean="0">
                <a:solidFill>
                  <a:srgbClr val="0070C0"/>
                </a:solidFill>
                <a:cs typeface="Times New Roman" pitchFamily="18" charset="0"/>
              </a:rPr>
              <a:t>Nasıl bir gazdır?</a:t>
            </a:r>
            <a:endParaRPr lang="tr-TR" b="1" dirty="0" smtClean="0"/>
          </a:p>
          <a:p>
            <a:r>
              <a:rPr lang="tr-TR" sz="2600" b="1" dirty="0" smtClean="0"/>
              <a:t>Düşük ısı</a:t>
            </a:r>
          </a:p>
          <a:p>
            <a:r>
              <a:rPr lang="tr-TR" sz="2600" b="1" dirty="0" smtClean="0"/>
              <a:t>Nem gerektirmez </a:t>
            </a:r>
          </a:p>
          <a:p>
            <a:r>
              <a:rPr lang="tr-TR" sz="2600" b="1" dirty="0" err="1" smtClean="0"/>
              <a:t>Toksik</a:t>
            </a:r>
            <a:r>
              <a:rPr lang="tr-TR" sz="2600" b="1" dirty="0" smtClean="0"/>
              <a:t> atıklara neden olmaz</a:t>
            </a:r>
          </a:p>
          <a:p>
            <a:r>
              <a:rPr lang="tr-TR" sz="2600" b="1" dirty="0" smtClean="0"/>
              <a:t>Hidrojen peroksit (H₂O₂), geniş spektrumlu, güvenli ve çok güçlü bir okside edici kimyasal</a:t>
            </a:r>
          </a:p>
          <a:p>
            <a:r>
              <a:rPr lang="tr-TR" sz="2600" b="1" dirty="0" smtClean="0"/>
              <a:t>Yaygın kullanımlı bir </a:t>
            </a:r>
            <a:r>
              <a:rPr lang="tr-TR" sz="2600" b="1" dirty="0" err="1" smtClean="0"/>
              <a:t>biyosit</a:t>
            </a:r>
            <a:r>
              <a:rPr lang="tr-TR" sz="2600" b="1" dirty="0" smtClean="0"/>
              <a:t>    </a:t>
            </a:r>
            <a:r>
              <a:rPr lang="tr-TR" sz="2600" dirty="0" smtClean="0">
                <a:solidFill>
                  <a:srgbClr val="7030A0"/>
                </a:solidFill>
              </a:rPr>
              <a:t>(</a:t>
            </a:r>
            <a:r>
              <a:rPr lang="tr-TR" sz="2600" b="1" dirty="0" smtClean="0">
                <a:solidFill>
                  <a:srgbClr val="7030A0"/>
                </a:solidFill>
              </a:rPr>
              <a:t>M.O.kontrol edici veya öldürücü    				        etkisi olan kimyasal maddelerdir)</a:t>
            </a:r>
            <a:endParaRPr lang="tr-TR" sz="2600" b="1" dirty="0" smtClean="0"/>
          </a:p>
          <a:p>
            <a:r>
              <a:rPr lang="tr-TR" sz="2600" b="1" dirty="0" smtClean="0"/>
              <a:t>Antiseptik, Koruyucu, Dezenfektan</a:t>
            </a:r>
          </a:p>
          <a:p>
            <a:r>
              <a:rPr lang="tr-TR" sz="2600" b="1" dirty="0" err="1" smtClean="0"/>
              <a:t>Sterilan</a:t>
            </a:r>
            <a:r>
              <a:rPr lang="tr-TR" sz="2600" b="1" dirty="0" smtClean="0"/>
              <a:t> (steril edici madde)</a:t>
            </a:r>
          </a:p>
          <a:p>
            <a:r>
              <a:rPr lang="tr-TR" sz="2600" b="1" dirty="0" smtClean="0"/>
              <a:t>Bakteri, virüs, mantar, spor öldüren</a:t>
            </a:r>
          </a:p>
          <a:p>
            <a:r>
              <a:rPr lang="tr-TR" sz="2600" b="1" dirty="0" smtClean="0"/>
              <a:t>Renksiz, kokusuz, stabil sıvı</a:t>
            </a:r>
          </a:p>
          <a:p>
            <a:r>
              <a:rPr lang="tr-TR" sz="2600" b="1" dirty="0" smtClean="0"/>
              <a:t>Çevre dostu</a:t>
            </a:r>
          </a:p>
          <a:p>
            <a:endParaRPr lang="tr-TR" sz="2400" b="1" dirty="0" smtClean="0"/>
          </a:p>
          <a:p>
            <a:pPr marL="180975" indent="-180975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tr-TR" sz="2400" b="1" dirty="0" smtClean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54162"/>
          </a:xfrm>
        </p:spPr>
        <p:txBody>
          <a:bodyPr>
            <a:normAutofit fontScale="90000"/>
          </a:bodyPr>
          <a:lstStyle/>
          <a:p>
            <a:r>
              <a:rPr lang="tr-TR" sz="3600" b="1" dirty="0" smtClean="0">
                <a:solidFill>
                  <a:srgbClr val="FF0000"/>
                </a:solidFill>
              </a:rPr>
              <a:t>HİDROJEN PEROKSİT GAZ FORMUNU HANGİ (H₂O₂) </a:t>
            </a:r>
            <a:br>
              <a:rPr lang="tr-TR" sz="3600" b="1" dirty="0" smtClean="0">
                <a:solidFill>
                  <a:srgbClr val="FF0000"/>
                </a:solidFill>
              </a:rPr>
            </a:br>
            <a:r>
              <a:rPr lang="tr-TR" sz="3600" b="1" dirty="0" smtClean="0">
                <a:solidFill>
                  <a:srgbClr val="7030A0"/>
                </a:solidFill>
              </a:rPr>
              <a:t> SEKTÖRLER KULLANIR?</a:t>
            </a:r>
            <a:endParaRPr lang="tr-TR" sz="36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t"/>
            <a:r>
              <a:rPr lang="tr-TR" sz="2800" b="1" dirty="0" smtClean="0"/>
              <a:t>Maden sektörü</a:t>
            </a:r>
          </a:p>
          <a:p>
            <a:pPr fontAlgn="t"/>
            <a:r>
              <a:rPr lang="tr-TR" sz="2800" b="1" dirty="0" err="1" smtClean="0"/>
              <a:t>Metalurji</a:t>
            </a:r>
            <a:r>
              <a:rPr lang="tr-TR" sz="2800" b="1" dirty="0" smtClean="0"/>
              <a:t> sektörü</a:t>
            </a:r>
          </a:p>
          <a:p>
            <a:r>
              <a:rPr lang="tr-TR" sz="2800" b="1" dirty="0" smtClean="0"/>
              <a:t>Kozmetik sektörü</a:t>
            </a:r>
          </a:p>
          <a:p>
            <a:r>
              <a:rPr lang="tr-TR" sz="2800" b="1" dirty="0" smtClean="0"/>
              <a:t>ilaç sektörü </a:t>
            </a:r>
          </a:p>
          <a:p>
            <a:r>
              <a:rPr lang="tr-TR" sz="2800" b="1" dirty="0" smtClean="0"/>
              <a:t>Gıda paketleme sektörü</a:t>
            </a:r>
          </a:p>
          <a:p>
            <a:r>
              <a:rPr lang="tr-TR" sz="2800" b="1" dirty="0" smtClean="0"/>
              <a:t>Atık su arıtma</a:t>
            </a:r>
          </a:p>
          <a:p>
            <a:r>
              <a:rPr lang="tr-TR" sz="2800" b="1" dirty="0" smtClean="0"/>
              <a:t>Tekstil sektörü</a:t>
            </a:r>
          </a:p>
          <a:p>
            <a:r>
              <a:rPr lang="tr-TR" sz="2800" b="1" dirty="0" smtClean="0"/>
              <a:t>Kağıt üretim sektörü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467544" y="548680"/>
            <a:ext cx="8280920" cy="5760640"/>
          </a:xfrm>
        </p:spPr>
        <p:txBody>
          <a:bodyPr/>
          <a:lstStyle/>
          <a:p>
            <a:pPr algn="ctr">
              <a:buNone/>
            </a:pPr>
            <a:r>
              <a:rPr lang="tr-TR" b="1" dirty="0" smtClean="0">
                <a:solidFill>
                  <a:srgbClr val="FF0000"/>
                </a:solidFill>
              </a:rPr>
              <a:t>	</a:t>
            </a:r>
          </a:p>
          <a:p>
            <a:pPr algn="ctr">
              <a:buNone/>
            </a:pPr>
            <a:r>
              <a:rPr lang="tr-TR" b="1" dirty="0" smtClean="0">
                <a:solidFill>
                  <a:srgbClr val="FF0000"/>
                </a:solidFill>
              </a:rPr>
              <a:t>(H₂O₂) ’İN BUHAR FAZI </a:t>
            </a:r>
          </a:p>
          <a:p>
            <a:pPr algn="ctr">
              <a:buNone/>
            </a:pPr>
            <a:r>
              <a:rPr lang="tr-TR" b="1" dirty="0" smtClean="0">
                <a:solidFill>
                  <a:srgbClr val="FF0000"/>
                </a:solidFill>
              </a:rPr>
              <a:t>PLAZMA STERİLİZASYONU ADI ALTINDA ÇEŞİTLİ STERİLİZASYON SİSTEMLERİNDE KULLANILMAKTADIR</a:t>
            </a:r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404664"/>
            <a:ext cx="8568952" cy="5904656"/>
          </a:xfrm>
        </p:spPr>
        <p:txBody>
          <a:bodyPr>
            <a:normAutofit fontScale="92500" lnSpcReduction="1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Gaz plazma</a:t>
            </a:r>
            <a:r>
              <a:rPr lang="tr-TR" b="1" dirty="0" smtClean="0"/>
              <a:t>: Elektronlar, iyonlar veya </a:t>
            </a:r>
            <a:r>
              <a:rPr lang="tr-TR" b="1" dirty="0" err="1" smtClean="0"/>
              <a:t>nötral</a:t>
            </a:r>
            <a:r>
              <a:rPr lang="tr-TR" b="1" dirty="0" smtClean="0"/>
              <a:t> partiküllerden oluşan herhangi bir gazı tanımlamak için kullanılan terimdir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Düşük sıcaklıkta plazma oluşumu için;</a:t>
            </a:r>
            <a:r>
              <a:rPr lang="tr-TR" b="1" dirty="0" smtClean="0"/>
              <a:t> kapalı bir kabin, vakum sistemi, plazmaya dönüşebilecek bir kimyasal </a:t>
            </a:r>
            <a:r>
              <a:rPr lang="tr-TR" b="1" dirty="0" err="1" smtClean="0"/>
              <a:t>prekürsör</a:t>
            </a:r>
            <a:r>
              <a:rPr lang="tr-TR" b="1" dirty="0" smtClean="0"/>
              <a:t>, plazmayı oluşturacak elektromanyetik enerji kaynağı </a:t>
            </a:r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(örn. </a:t>
            </a:r>
            <a:r>
              <a:rPr lang="tr-TR" b="1" dirty="0" err="1" smtClean="0">
                <a:solidFill>
                  <a:srgbClr val="FF0000"/>
                </a:solidFill>
              </a:rPr>
              <a:t>radyofrekans</a:t>
            </a:r>
            <a:r>
              <a:rPr lang="tr-TR" b="1" dirty="0" smtClean="0">
                <a:solidFill>
                  <a:srgbClr val="FF0000"/>
                </a:solidFill>
              </a:rPr>
              <a:t> enerji) gereklidir</a:t>
            </a:r>
          </a:p>
          <a:p>
            <a:r>
              <a:rPr lang="tr-TR" b="1" dirty="0" smtClean="0"/>
              <a:t>RF enerjisi, H₂O₂’i su buharı ve oksijene dönüştürür</a:t>
            </a:r>
          </a:p>
          <a:p>
            <a:r>
              <a:rPr lang="tr-TR" b="1" dirty="0" smtClean="0"/>
              <a:t>28-74 </a:t>
            </a:r>
            <a:r>
              <a:rPr lang="tr-TR" b="1" dirty="0" err="1" smtClean="0"/>
              <a:t>dk’da</a:t>
            </a:r>
            <a:r>
              <a:rPr lang="tr-TR" b="1" dirty="0" smtClean="0"/>
              <a:t> sterilizasyon sağlanır</a:t>
            </a:r>
          </a:p>
          <a:p>
            <a:r>
              <a:rPr lang="tr-TR" b="1" dirty="0" smtClean="0"/>
              <a:t>İşlem hızlıdır, ucuzdur ve </a:t>
            </a:r>
            <a:r>
              <a:rPr lang="tr-TR" b="1" dirty="0" err="1" smtClean="0"/>
              <a:t>toksik</a:t>
            </a:r>
            <a:r>
              <a:rPr lang="tr-TR" b="1" dirty="0" smtClean="0"/>
              <a:t> olmayan son ürünler oluşur</a:t>
            </a:r>
            <a:endParaRPr lang="tr-TR" b="1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404664"/>
            <a:ext cx="8568952" cy="6192688"/>
          </a:xfrm>
        </p:spPr>
        <p:txBody>
          <a:bodyPr/>
          <a:lstStyle/>
          <a:p>
            <a:pPr algn="ctr">
              <a:buNone/>
            </a:pPr>
            <a:r>
              <a:rPr lang="tr-TR" b="1" dirty="0" smtClean="0">
                <a:solidFill>
                  <a:srgbClr val="FF0000"/>
                </a:solidFill>
              </a:rPr>
              <a:t>	</a:t>
            </a:r>
            <a:r>
              <a:rPr lang="tr-TR" sz="4000" b="1" dirty="0" smtClean="0">
                <a:solidFill>
                  <a:srgbClr val="FF0000"/>
                </a:solidFill>
              </a:rPr>
              <a:t>HİDROJEN PEROKSİT GAZ PLAZMA STERİLİZASYON CİHAZI</a:t>
            </a:r>
            <a:endParaRPr lang="tr-TR" sz="4000" dirty="0"/>
          </a:p>
        </p:txBody>
      </p:sp>
      <p:pic>
        <p:nvPicPr>
          <p:cNvPr id="699395" name="Picture 3" descr="C:\Users\tijen\Desktop\bsience-hidrojen-peroksit-sterilizasyon-cihazi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1844824"/>
            <a:ext cx="3662925" cy="47079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HİDROJEN PEROKSİT GAZ PLAZMA STERİLİZASYON CİHAZININ ÖZELLİKLERİ</a:t>
            </a:r>
            <a:endParaRPr lang="tr-TR" sz="32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Hidrojen Peroksit Plazma Sterilizasyon Cihazı, düşük ısıda, nem gerektirmeyen, </a:t>
            </a:r>
            <a:r>
              <a:rPr lang="tr-TR" sz="2800" b="1" dirty="0" err="1" smtClean="0"/>
              <a:t>toksik</a:t>
            </a:r>
            <a:r>
              <a:rPr lang="tr-TR" sz="2800" b="1" dirty="0" smtClean="0"/>
              <a:t> atıklara neden olmayan bir sterilizasyon cihazıdır</a:t>
            </a:r>
          </a:p>
          <a:p>
            <a:pPr>
              <a:buNone/>
            </a:pPr>
            <a:endParaRPr lang="tr-TR" sz="2800" b="1" dirty="0" smtClean="0"/>
          </a:p>
          <a:p>
            <a:pPr>
              <a:buNone/>
            </a:pPr>
            <a:r>
              <a:rPr lang="tr-TR" sz="2800" b="1" dirty="0" smtClean="0">
                <a:solidFill>
                  <a:srgbClr val="7030A0"/>
                </a:solidFill>
              </a:rPr>
              <a:t>			Sterilizasyon sırasında kullanılan                     	Hidrojen </a:t>
            </a:r>
            <a:r>
              <a:rPr lang="tr-TR" sz="2800" b="1" dirty="0" err="1" smtClean="0">
                <a:solidFill>
                  <a:srgbClr val="7030A0"/>
                </a:solidFill>
              </a:rPr>
              <a:t>Peroksitin</a:t>
            </a:r>
            <a:r>
              <a:rPr lang="tr-TR" sz="2800" b="1" dirty="0" smtClean="0">
                <a:solidFill>
                  <a:srgbClr val="7030A0"/>
                </a:solidFill>
              </a:rPr>
              <a:t>, su ve oksijene dönüştürülmesini sağlayan </a:t>
            </a:r>
            <a:r>
              <a:rPr lang="tr-TR" sz="2800" b="1" i="1" dirty="0" smtClean="0">
                <a:solidFill>
                  <a:srgbClr val="7030A0"/>
                </a:solidFill>
              </a:rPr>
              <a:t>HRF Plazma</a:t>
            </a:r>
            <a:r>
              <a:rPr lang="tr-TR" sz="2800" b="1" dirty="0" smtClean="0">
                <a:solidFill>
                  <a:srgbClr val="7030A0"/>
                </a:solidFill>
              </a:rPr>
              <a:t> sistemine sahiptir</a:t>
            </a:r>
            <a:endParaRPr lang="tr-TR" sz="28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HİDROJEN PEROKSİT GAZ PLAZMA STERİLİZASYON CİHAZININ ÖZELLİKLERİ</a:t>
            </a:r>
            <a:endParaRPr lang="tr-TR" sz="32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824536"/>
          </a:xfrm>
        </p:spPr>
        <p:txBody>
          <a:bodyPr>
            <a:normAutofit fontScale="92500" lnSpcReduction="20000"/>
          </a:bodyPr>
          <a:lstStyle/>
          <a:p>
            <a:r>
              <a:rPr lang="tr-TR" sz="2800" b="1" dirty="0" smtClean="0"/>
              <a:t>Dolayısıyla bu sistemin zararlı atığı yoktur. Herhangi bir tesisat ve montaj gerektirmez, sadece elektrik bağlantısı vardır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0070C0"/>
                </a:solidFill>
              </a:rPr>
              <a:t>Sterilizasyon sıcaklığı, 30 ᵒC -55 ᵒC de ve isteğe bağlı ara değerlerde de ayarlanabilir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7030A0"/>
                </a:solidFill>
              </a:rPr>
              <a:t>Düşük ısıda sterilizasyon yaptığı için plastik ve elektronik ekipmana zarar vermez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FF0000"/>
                </a:solidFill>
              </a:rPr>
              <a:t>Kamera kafası, fiber optik kablo, </a:t>
            </a:r>
            <a:r>
              <a:rPr lang="tr-TR" sz="2800" b="1" dirty="0" err="1" smtClean="0">
                <a:solidFill>
                  <a:srgbClr val="FF0000"/>
                </a:solidFill>
              </a:rPr>
              <a:t>rigid</a:t>
            </a:r>
            <a:r>
              <a:rPr lang="tr-TR" sz="2800" b="1" dirty="0" smtClean="0">
                <a:solidFill>
                  <a:srgbClr val="FF0000"/>
                </a:solidFill>
              </a:rPr>
              <a:t> ve </a:t>
            </a:r>
            <a:r>
              <a:rPr lang="tr-TR" sz="2800" b="1" dirty="0" err="1" smtClean="0">
                <a:solidFill>
                  <a:srgbClr val="FF0000"/>
                </a:solidFill>
              </a:rPr>
              <a:t>fleksible</a:t>
            </a:r>
            <a:r>
              <a:rPr lang="tr-TR" sz="2800" b="1" dirty="0" smtClean="0">
                <a:solidFill>
                  <a:srgbClr val="FF0000"/>
                </a:solidFill>
              </a:rPr>
              <a:t> endoskoplar gibi aletler güvenle steril edilebilir</a:t>
            </a:r>
            <a:endParaRPr lang="tr-TR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784976" cy="6408712"/>
          </a:xfrm>
        </p:spPr>
        <p:txBody>
          <a:bodyPr>
            <a:normAutofit fontScale="25000" lnSpcReduction="20000"/>
          </a:bodyPr>
          <a:lstStyle/>
          <a:p>
            <a:pPr algn="ctr">
              <a:buNone/>
            </a:pPr>
            <a:r>
              <a:rPr lang="tr-TR" sz="12800" b="1" dirty="0" smtClean="0">
                <a:solidFill>
                  <a:srgbClr val="FF0000"/>
                </a:solidFill>
              </a:rPr>
              <a:t>    HİDROJEN PEROKSİT GAZ PLAZMA YÖNTEMİ </a:t>
            </a:r>
          </a:p>
          <a:p>
            <a:pPr algn="ctr">
              <a:buNone/>
            </a:pPr>
            <a:r>
              <a:rPr lang="tr-TR" sz="14400" b="1" dirty="0" smtClean="0">
                <a:solidFill>
                  <a:srgbClr val="FF0000"/>
                </a:solidFill>
              </a:rPr>
              <a:t>AVANTAJLARI</a:t>
            </a:r>
            <a:endParaRPr lang="tr-TR" sz="14400" b="1" dirty="0" smtClean="0"/>
          </a:p>
          <a:p>
            <a:pPr>
              <a:buNone/>
            </a:pPr>
            <a:endParaRPr lang="tr-TR" sz="3400" b="1" dirty="0" smtClean="0"/>
          </a:p>
          <a:p>
            <a:r>
              <a:rPr lang="tr-TR" sz="9600" b="1" dirty="0" smtClean="0"/>
              <a:t>Isıya ve neme duyarlı malzemelerde kullanılır</a:t>
            </a:r>
          </a:p>
          <a:p>
            <a:r>
              <a:rPr lang="tr-TR" sz="9600" b="1" dirty="0" smtClean="0"/>
              <a:t>Hızlı sterilizasyon yapıyor ( 55-72 dakika) </a:t>
            </a:r>
          </a:p>
          <a:p>
            <a:r>
              <a:rPr lang="tr-TR" sz="9600" b="1" dirty="0" smtClean="0"/>
              <a:t>30 - 55 ⁰C aralığında çalışma özelliği olduğundan,</a:t>
            </a:r>
            <a:r>
              <a:rPr lang="tr-TR" sz="9600" b="1" dirty="0" smtClean="0">
                <a:cs typeface="Times New Roman" pitchFamily="18" charset="0"/>
              </a:rPr>
              <a:t> ısıya, basınç ve neme duyarlı malzemeler steril edilmektedir</a:t>
            </a:r>
            <a:endParaRPr lang="tr-TR" sz="9600" b="1" dirty="0" smtClean="0"/>
          </a:p>
          <a:p>
            <a:r>
              <a:rPr lang="tr-TR" sz="9600" b="1" dirty="0" err="1" smtClean="0"/>
              <a:t>Koroziv</a:t>
            </a:r>
            <a:r>
              <a:rPr lang="tr-TR" sz="9600" b="1" dirty="0" smtClean="0"/>
              <a:t> etkisi yok</a:t>
            </a:r>
          </a:p>
          <a:p>
            <a:r>
              <a:rPr lang="tr-TR" sz="9600" b="1" dirty="0" err="1" smtClean="0"/>
              <a:t>Toksik</a:t>
            </a:r>
            <a:r>
              <a:rPr lang="tr-TR" sz="9600" b="1" dirty="0" smtClean="0"/>
              <a:t> etkisi yok </a:t>
            </a:r>
          </a:p>
          <a:p>
            <a:r>
              <a:rPr lang="tr-TR" sz="9600" b="1" dirty="0" smtClean="0"/>
              <a:t>Güvenli ;  Kullanıcı, Hasta, Çevre için (</a:t>
            </a:r>
            <a:r>
              <a:rPr lang="es-ES" sz="9600" b="1" dirty="0" smtClean="0"/>
              <a:t>su ve oksijen açığa çıkıyor)</a:t>
            </a:r>
            <a:endParaRPr lang="tr-TR" sz="9600" b="1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tr-TR" sz="9600" b="1" dirty="0" smtClean="0"/>
              <a:t>Havalandırmaya gerek yok</a:t>
            </a:r>
          </a:p>
          <a:p>
            <a:r>
              <a:rPr lang="tr-TR" sz="9600" b="1" dirty="0" smtClean="0"/>
              <a:t>Kullanımı, takibi basit ve kolay,Kurulumu kolay</a:t>
            </a:r>
            <a:r>
              <a:rPr lang="tr-TR" sz="2800" dirty="0" smtClean="0"/>
              <a:t> </a:t>
            </a:r>
            <a:r>
              <a:rPr lang="tr-TR" sz="9600" b="1" dirty="0" smtClean="0"/>
              <a:t>(elektrik priz)</a:t>
            </a:r>
          </a:p>
          <a:p>
            <a:r>
              <a:rPr lang="tr-TR" sz="9600" b="1" dirty="0" smtClean="0"/>
              <a:t>Tüm parametreler kaydediliyor,parametrelerden biri standart değerin dışında ise otomatik iptal</a:t>
            </a:r>
            <a:endParaRPr lang="tr-TR" sz="9600" b="1" dirty="0" smtClean="0">
              <a:cs typeface="Times New Roman" pitchFamily="18" charset="0"/>
            </a:endParaRPr>
          </a:p>
          <a:p>
            <a:r>
              <a:rPr lang="tr-TR" sz="9600" b="1" dirty="0" smtClean="0"/>
              <a:t>Metal ve metal olmayan birçok malzemelerin, masraflı pensler ve makaslar gibi aletlerin sterilizasyonunda kullanılabilmektedir</a:t>
            </a:r>
            <a:endParaRPr lang="tr-TR" sz="9600" b="1" dirty="0" smtClean="0">
              <a:cs typeface="Times New Roman" pitchFamily="18" charset="0"/>
            </a:endParaRPr>
          </a:p>
          <a:p>
            <a:pPr>
              <a:buNone/>
            </a:pPr>
            <a:r>
              <a:rPr lang="tr-TR" sz="9600" b="1" dirty="0" smtClean="0">
                <a:solidFill>
                  <a:srgbClr val="FF0000"/>
                </a:solidFill>
                <a:cs typeface="Times New Roman" pitchFamily="18" charset="0"/>
              </a:rPr>
              <a:t>		</a:t>
            </a:r>
            <a:endParaRPr lang="tr-TR" sz="9600" b="1" dirty="0" smtClean="0"/>
          </a:p>
          <a:p>
            <a:pPr>
              <a:buNone/>
            </a:pPr>
            <a:endParaRPr lang="tr-TR" sz="9600" b="1" dirty="0" smtClean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3600" b="1" dirty="0" smtClean="0">
                <a:solidFill>
                  <a:srgbClr val="FF0000"/>
                </a:solidFill>
              </a:rPr>
              <a:t>HİDROJEN PEROKSİT GAZ PLAZMA YÖNTEMİ </a:t>
            </a:r>
            <a:r>
              <a:rPr lang="tr-TR" sz="4000" b="1" dirty="0" smtClean="0">
                <a:solidFill>
                  <a:srgbClr val="FF0000"/>
                </a:solidFill>
              </a:rPr>
              <a:t>DEZAVANTAJLARI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sz="2800" b="1" dirty="0" smtClean="0">
                <a:cs typeface="Times New Roman" pitchFamily="18" charset="0"/>
              </a:rPr>
              <a:t>Dar lümenli aletler için uygun değil</a:t>
            </a:r>
          </a:p>
          <a:p>
            <a:r>
              <a:rPr lang="tr-TR" sz="2800" b="1" dirty="0" smtClean="0"/>
              <a:t>Çapı ve uzunlukta sınırlama var</a:t>
            </a:r>
          </a:p>
          <a:p>
            <a:r>
              <a:rPr lang="tr-TR" sz="2800" b="1" dirty="0" smtClean="0"/>
              <a:t>Lümen çapı &lt; 3 mm,  uzunluğu &gt; 40 cm metal lümenli aletler için uygun değil</a:t>
            </a:r>
          </a:p>
          <a:p>
            <a:r>
              <a:rPr lang="tr-TR" sz="2800" b="1" dirty="0" smtClean="0"/>
              <a:t>Kumaş, selüloz içeren malzemeler = kağıtlar için uygun değil</a:t>
            </a:r>
            <a:endParaRPr lang="tr-TR" sz="2800" dirty="0" smtClean="0"/>
          </a:p>
          <a:p>
            <a:r>
              <a:rPr lang="tr-TR" sz="2800" b="1" dirty="0" err="1" smtClean="0"/>
              <a:t>Aluminyum</a:t>
            </a:r>
            <a:r>
              <a:rPr lang="tr-TR" sz="2800" b="1" dirty="0" smtClean="0"/>
              <a:t>, Bakır malzemelerle uyumsuz </a:t>
            </a:r>
          </a:p>
          <a:p>
            <a:r>
              <a:rPr lang="tr-TR" sz="2800" b="1" dirty="0" smtClean="0"/>
              <a:t>Sıvıların ve tozların sterilizasyonu için uygun değil </a:t>
            </a:r>
          </a:p>
          <a:p>
            <a:r>
              <a:rPr lang="tr-TR" sz="2800" b="1" dirty="0" smtClean="0"/>
              <a:t>Özel paketleme malzemesi gerekli </a:t>
            </a:r>
          </a:p>
          <a:p>
            <a:r>
              <a:rPr lang="tr-TR" sz="2800" b="1" dirty="0" smtClean="0"/>
              <a:t>Pahalı </a:t>
            </a:r>
          </a:p>
          <a:p>
            <a:endParaRPr lang="tr-TR" sz="2800" b="1" dirty="0" smtClean="0">
              <a:cs typeface="Times New Roman" pitchFamily="18" charset="0"/>
            </a:endParaRPr>
          </a:p>
          <a:p>
            <a:endParaRPr lang="tr-TR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endParaRPr lang="tr-TR" b="1" dirty="0">
              <a:solidFill>
                <a:srgbClr val="0070C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712968" cy="6336704"/>
          </a:xfrm>
        </p:spPr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rgbClr val="0070C0"/>
                </a:solidFill>
              </a:rPr>
              <a:t>		  KULLANILAN PAKETLEME ÜRÜNLERİ</a:t>
            </a:r>
            <a:endParaRPr lang="tr-TR" dirty="0" smtClean="0"/>
          </a:p>
          <a:p>
            <a:pPr>
              <a:buNone/>
            </a:pPr>
            <a:r>
              <a:rPr lang="tr-TR" dirty="0" smtClean="0"/>
              <a:t>		</a:t>
            </a:r>
            <a:r>
              <a:rPr lang="tr-TR" b="1" dirty="0" smtClean="0">
                <a:solidFill>
                  <a:srgbClr val="FF0000"/>
                </a:solidFill>
              </a:rPr>
              <a:t>Uyumlu Paketleme Materyalleri</a:t>
            </a:r>
          </a:p>
          <a:p>
            <a:r>
              <a:rPr lang="tr-TR" b="1" dirty="0" err="1" smtClean="0"/>
              <a:t>Tyvek</a:t>
            </a:r>
            <a:r>
              <a:rPr lang="tr-TR" b="1" dirty="0" smtClean="0"/>
              <a:t>® Sterilizasyon Rulosu</a:t>
            </a:r>
          </a:p>
          <a:p>
            <a:r>
              <a:rPr lang="tr-TR" b="1" dirty="0" err="1" smtClean="0"/>
              <a:t>Wrap</a:t>
            </a:r>
            <a:r>
              <a:rPr lang="tr-TR" b="1" dirty="0" smtClean="0"/>
              <a:t> Kağıtları</a:t>
            </a:r>
          </a:p>
          <a:p>
            <a:r>
              <a:rPr lang="tr-TR" b="1" dirty="0" smtClean="0"/>
              <a:t>Çeşitli Cerrahi </a:t>
            </a:r>
            <a:r>
              <a:rPr lang="tr-TR" b="1" dirty="0" err="1" smtClean="0"/>
              <a:t>Konteyner</a:t>
            </a:r>
            <a:r>
              <a:rPr lang="tr-TR" b="1" dirty="0" smtClean="0"/>
              <a:t> Sistemleri</a:t>
            </a:r>
          </a:p>
          <a:p>
            <a:pPr>
              <a:buNone/>
            </a:pPr>
            <a:r>
              <a:rPr lang="tr-TR" b="1" dirty="0" smtClean="0"/>
              <a:t>		</a:t>
            </a:r>
            <a:endParaRPr lang="tr-TR" sz="2400" b="1" dirty="0"/>
          </a:p>
        </p:txBody>
      </p:sp>
      <p:pic>
        <p:nvPicPr>
          <p:cNvPr id="4" name="Picture 2" descr="C:\Users\tijen\Desktop\images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3212976"/>
            <a:ext cx="5366636" cy="31683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b="1" dirty="0" smtClean="0">
                <a:solidFill>
                  <a:srgbClr val="7030A0"/>
                </a:solidFill>
              </a:rPr>
              <a:t>STERİLİZASYONDA DEVRİM </a:t>
            </a:r>
            <a:br>
              <a:rPr lang="tr-TR" b="1" dirty="0" smtClean="0">
                <a:solidFill>
                  <a:srgbClr val="7030A0"/>
                </a:solidFill>
              </a:rPr>
            </a:br>
            <a:r>
              <a:rPr lang="tr-TR" b="1" dirty="0" smtClean="0">
                <a:solidFill>
                  <a:srgbClr val="7030A0"/>
                </a:solidFill>
              </a:rPr>
              <a:t> DEĞİŞİM BAŞLADI</a:t>
            </a:r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Ozon, Hidrojen Peroksit Sterilizasyonu ve Plazma etkisi bir cihazda buluştu</a:t>
            </a:r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O</a:t>
            </a:r>
            <a:r>
              <a:rPr lang="tr-TR" b="1" baseline="-25000" dirty="0" smtClean="0">
                <a:solidFill>
                  <a:srgbClr val="FF0000"/>
                </a:solidFill>
              </a:rPr>
              <a:t>3</a:t>
            </a:r>
            <a:r>
              <a:rPr lang="tr-TR" b="1" dirty="0" smtClean="0">
                <a:solidFill>
                  <a:srgbClr val="FF0000"/>
                </a:solidFill>
              </a:rPr>
              <a:t> + H</a:t>
            </a:r>
            <a:r>
              <a:rPr lang="tr-TR" b="1" baseline="-25000" dirty="0" smtClean="0">
                <a:solidFill>
                  <a:srgbClr val="FF0000"/>
                </a:solidFill>
              </a:rPr>
              <a:t>2</a:t>
            </a:r>
            <a:r>
              <a:rPr lang="tr-TR" b="1" dirty="0" smtClean="0">
                <a:solidFill>
                  <a:srgbClr val="FF0000"/>
                </a:solidFill>
              </a:rPr>
              <a:t>O</a:t>
            </a:r>
            <a:r>
              <a:rPr lang="tr-TR" b="1" baseline="-25000" dirty="0" smtClean="0">
                <a:solidFill>
                  <a:srgbClr val="FF0000"/>
                </a:solidFill>
              </a:rPr>
              <a:t>2</a:t>
            </a:r>
            <a:r>
              <a:rPr lang="tr-TR" b="1" dirty="0" smtClean="0">
                <a:solidFill>
                  <a:srgbClr val="FF0000"/>
                </a:solidFill>
              </a:rPr>
              <a:t> + Plazma</a:t>
            </a:r>
          </a:p>
          <a:p>
            <a:pPr>
              <a:buNone/>
            </a:pPr>
            <a:endParaRPr lang="tr-TR" b="1" dirty="0" smtClean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tr-TR" b="1" dirty="0" smtClean="0">
                <a:solidFill>
                  <a:srgbClr val="0070C0"/>
                </a:solidFill>
              </a:rPr>
              <a:t>4. NESİL HİBRİT TEKNOLOJİ</a:t>
            </a:r>
            <a:br>
              <a:rPr lang="tr-TR" b="1" dirty="0" smtClean="0">
                <a:solidFill>
                  <a:srgbClr val="0070C0"/>
                </a:solidFill>
              </a:rPr>
            </a:br>
            <a:r>
              <a:rPr lang="tr-TR" b="1" dirty="0" smtClean="0">
                <a:solidFill>
                  <a:srgbClr val="0070C0"/>
                </a:solidFill>
              </a:rPr>
              <a:t>Düşük Isı Ozon (O</a:t>
            </a:r>
            <a:r>
              <a:rPr lang="tr-TR" b="1" baseline="-25000" dirty="0" smtClean="0">
                <a:solidFill>
                  <a:srgbClr val="0070C0"/>
                </a:solidFill>
              </a:rPr>
              <a:t>3</a:t>
            </a:r>
            <a:r>
              <a:rPr lang="tr-TR" b="1" dirty="0" smtClean="0">
                <a:solidFill>
                  <a:srgbClr val="0070C0"/>
                </a:solidFill>
              </a:rPr>
              <a:t>) &amp; Hidrojen Peroksit (H</a:t>
            </a:r>
            <a:r>
              <a:rPr lang="tr-TR" b="1" baseline="-25000" dirty="0" smtClean="0">
                <a:solidFill>
                  <a:srgbClr val="0070C0"/>
                </a:solidFill>
              </a:rPr>
              <a:t>2</a:t>
            </a:r>
            <a:r>
              <a:rPr lang="tr-TR" b="1" dirty="0" smtClean="0">
                <a:solidFill>
                  <a:srgbClr val="0070C0"/>
                </a:solidFill>
              </a:rPr>
              <a:t>O</a:t>
            </a:r>
            <a:r>
              <a:rPr lang="tr-TR" b="1" baseline="-25000" dirty="0" smtClean="0">
                <a:solidFill>
                  <a:srgbClr val="0070C0"/>
                </a:solidFill>
              </a:rPr>
              <a:t>2</a:t>
            </a:r>
            <a:r>
              <a:rPr lang="tr-TR" b="1" dirty="0" smtClean="0">
                <a:solidFill>
                  <a:srgbClr val="0070C0"/>
                </a:solidFill>
              </a:rPr>
              <a:t>) Gaz Plazma Sterilizasyon Cihazı</a:t>
            </a:r>
          </a:p>
          <a:p>
            <a:pPr algn="ctr"/>
            <a:endParaRPr lang="tr-TR" b="1" dirty="0" smtClean="0">
              <a:solidFill>
                <a:srgbClr val="0070C0"/>
              </a:solidFill>
            </a:endParaRPr>
          </a:p>
          <a:p>
            <a:pPr>
              <a:buNone/>
            </a:pPr>
            <a:endParaRPr lang="tr-TR" b="1" dirty="0" smtClean="0">
              <a:solidFill>
                <a:srgbClr val="0070C0"/>
              </a:solidFill>
            </a:endParaRPr>
          </a:p>
          <a:p>
            <a:endParaRPr lang="tr-TR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600" b="1" dirty="0" smtClean="0">
                <a:solidFill>
                  <a:srgbClr val="FF0000"/>
                </a:solidFill>
              </a:rPr>
              <a:t>HİDROJEN PEROKSİT (H₂O₂ )+OZON (O₃)</a:t>
            </a:r>
            <a:br>
              <a:rPr lang="tr-TR" sz="3600" b="1" dirty="0" smtClean="0">
                <a:solidFill>
                  <a:srgbClr val="FF0000"/>
                </a:solidFill>
              </a:rPr>
            </a:br>
            <a:r>
              <a:rPr lang="tr-TR" sz="3600" b="1" dirty="0" smtClean="0">
                <a:solidFill>
                  <a:srgbClr val="FF0000"/>
                </a:solidFill>
              </a:rPr>
              <a:t>STERİLİZATÖR</a:t>
            </a:r>
            <a:endParaRPr lang="tr-TR" sz="36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Ozon ve hidrojen peroksit kombinasyonu ile çalışır</a:t>
            </a:r>
          </a:p>
          <a:p>
            <a:r>
              <a:rPr lang="tr-TR" sz="2800" b="1" dirty="0" smtClean="0"/>
              <a:t>Medikal oksijen hattından aldığı oksijen ile ozon üretir</a:t>
            </a:r>
          </a:p>
          <a:p>
            <a:r>
              <a:rPr lang="tr-TR" sz="2800" b="1" dirty="0" smtClean="0"/>
              <a:t>Hidrojen peroksit solüsyonu cihaza ayrıca takılır</a:t>
            </a:r>
          </a:p>
          <a:p>
            <a:r>
              <a:rPr lang="tr-TR" sz="2800" b="1" dirty="0" smtClean="0"/>
              <a:t>Normal 220 V elektrik yeterlidir</a:t>
            </a:r>
          </a:p>
          <a:p>
            <a:r>
              <a:rPr lang="tr-TR" sz="2800" b="1" dirty="0" smtClean="0"/>
              <a:t>Ayrıca havalandırma gerektirmez</a:t>
            </a:r>
          </a:p>
          <a:p>
            <a:r>
              <a:rPr lang="tr-TR" sz="2800" b="1" dirty="0" smtClean="0"/>
              <a:t>Atık gider sistemine ihtiyaç duymaz</a:t>
            </a:r>
          </a:p>
          <a:p>
            <a:r>
              <a:rPr lang="tr-TR" sz="2800" b="1" dirty="0" smtClean="0"/>
              <a:t>Çevre dostu, güvenli </a:t>
            </a:r>
            <a:r>
              <a:rPr lang="tr-TR" sz="2800" b="1" dirty="0" err="1" smtClean="0"/>
              <a:t>sterilan</a:t>
            </a:r>
            <a:r>
              <a:rPr lang="tr-TR" sz="2800" b="1" dirty="0" smtClean="0"/>
              <a:t> maddeler</a:t>
            </a:r>
            <a:endParaRPr lang="tr-TR" sz="2800" b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2240" y="3717032"/>
            <a:ext cx="2000250" cy="2943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600" b="1" dirty="0" smtClean="0">
                <a:solidFill>
                  <a:srgbClr val="FF0000"/>
                </a:solidFill>
              </a:rPr>
              <a:t>HİDROJEN PEROKSİT (H₂O₂ )+OZON (O₃)</a:t>
            </a:r>
            <a:br>
              <a:rPr lang="tr-TR" sz="3600" b="1" dirty="0" smtClean="0">
                <a:solidFill>
                  <a:srgbClr val="FF0000"/>
                </a:solidFill>
              </a:rPr>
            </a:br>
            <a:r>
              <a:rPr lang="tr-TR" sz="3600" b="1" dirty="0" smtClean="0">
                <a:solidFill>
                  <a:srgbClr val="FF0000"/>
                </a:solidFill>
              </a:rPr>
              <a:t>STERİLİZATÖR</a:t>
            </a:r>
            <a:endParaRPr lang="tr-TR" sz="36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tr-TR" sz="2800" b="1" dirty="0" smtClean="0"/>
              <a:t>		</a:t>
            </a:r>
            <a:r>
              <a:rPr lang="tr-TR" b="1" dirty="0" smtClean="0">
                <a:solidFill>
                  <a:srgbClr val="7030A0"/>
                </a:solidFill>
              </a:rPr>
              <a:t>Hangi aletlerde kullanılır ve nasıl çalışır?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3600" b="1" dirty="0" smtClean="0"/>
              <a:t>40 ᵒ</a:t>
            </a:r>
            <a:r>
              <a:rPr lang="tr-TR" sz="3600" b="1" dirty="0" err="1" smtClean="0"/>
              <a:t>C’de</a:t>
            </a:r>
            <a:r>
              <a:rPr lang="tr-TR" sz="3600" b="1" dirty="0" smtClean="0"/>
              <a:t> 46 , 56  ve 100 </a:t>
            </a:r>
            <a:r>
              <a:rPr lang="tr-TR" sz="3600" b="1" dirty="0" err="1" smtClean="0"/>
              <a:t>dk’lık</a:t>
            </a:r>
            <a:r>
              <a:rPr lang="tr-TR" sz="3600" b="1" dirty="0" smtClean="0"/>
              <a:t> tam çevrim programları vardır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3000" b="1" dirty="0" smtClean="0">
                <a:solidFill>
                  <a:srgbClr val="00B050"/>
                </a:solidFill>
              </a:rPr>
              <a:t>ÇOK KANALLI FLEKSİBLE ENDOSKOPLAR dahil olmak üzere geniş yelpazedeki medikal aletlerin sterilizasyonu için kullanılabilir</a:t>
            </a:r>
            <a:endParaRPr lang="tr-TR" sz="30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188640"/>
            <a:ext cx="8424936" cy="6336704"/>
          </a:xfrm>
        </p:spPr>
        <p:txBody>
          <a:bodyPr>
            <a:normAutofit fontScale="62500" lnSpcReduction="20000"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tr-TR" b="1" dirty="0" smtClean="0">
                <a:solidFill>
                  <a:srgbClr val="0070C0"/>
                </a:solidFill>
                <a:cs typeface="Times New Roman" pitchFamily="18" charset="0"/>
              </a:rPr>
              <a:t> 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tr-TR" sz="5100" b="1" dirty="0" smtClean="0">
                <a:solidFill>
                  <a:srgbClr val="0070C0"/>
                </a:solidFill>
                <a:cs typeface="Times New Roman" pitchFamily="18" charset="0"/>
              </a:rPr>
              <a:t>STERİLİZASYON  YÖNTEMLERİ</a:t>
            </a:r>
            <a:endParaRPr lang="tr-TR" sz="51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tr-TR" sz="38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I-ISI İLE STERİLİZASYON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4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2400" b="1" dirty="0" smtClean="0">
                <a:cs typeface="Times New Roman" pitchFamily="18" charset="0"/>
              </a:rPr>
              <a:t>    </a:t>
            </a:r>
            <a:r>
              <a:rPr lang="tr-TR" b="1" dirty="0" smtClean="0">
                <a:cs typeface="Times New Roman" pitchFamily="18" charset="0"/>
              </a:rPr>
              <a:t>1-Kuru sıcak hava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2-Kızıl dereceye kadar ısıtma veya yakma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3-Alevden geçirme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4-Nemli ısı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A-Sıcak su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Kaynatma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</a:t>
            </a:r>
            <a:r>
              <a:rPr lang="tr-TR" sz="3300" b="1" dirty="0" err="1" smtClean="0">
                <a:cs typeface="Times New Roman" pitchFamily="18" charset="0"/>
              </a:rPr>
              <a:t>Tindalizasyon</a:t>
            </a:r>
            <a:endParaRPr lang="tr-TR" sz="33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B-Buharlı ısı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Basınçlı buhar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Basınçsız buhar 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2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800" b="1" dirty="0" smtClean="0">
                <a:solidFill>
                  <a:srgbClr val="FF0000"/>
                </a:solidFill>
                <a:cs typeface="Times New Roman" pitchFamily="18" charset="0"/>
              </a:rPr>
              <a:t>II-SÜZME (FİLTRASYON) İLE STERİLİZASYON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38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800" b="1" dirty="0" smtClean="0">
                <a:solidFill>
                  <a:srgbClr val="FF0000"/>
                </a:solidFill>
                <a:cs typeface="Times New Roman" pitchFamily="18" charset="0"/>
              </a:rPr>
              <a:t>III-KİMYASAL MADDELERLE STERİLİZASYON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2900" b="1" dirty="0" smtClean="0">
                <a:cs typeface="Times New Roman" pitchFamily="18" charset="0"/>
              </a:rPr>
              <a:t>	1- Kimyasal gazlarla sterilizasyon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2900" b="1" dirty="0" smtClean="0">
                <a:cs typeface="Times New Roman" pitchFamily="18" charset="0"/>
              </a:rPr>
              <a:t>	2- Kimyasal sıvılarla sterilizasyon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4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2400" b="1" dirty="0" smtClean="0">
                <a:cs typeface="Times New Roman" pitchFamily="18" charset="0"/>
              </a:rPr>
              <a:t> </a:t>
            </a:r>
            <a:r>
              <a:rPr lang="tr-TR" sz="3800" b="1" dirty="0" smtClean="0">
                <a:solidFill>
                  <a:srgbClr val="FF0000"/>
                </a:solidFill>
                <a:cs typeface="Times New Roman" pitchFamily="18" charset="0"/>
              </a:rPr>
              <a:t>IV- RADYASYON (IŞINLAMA) İLE STERİLİZASYON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4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2400" b="1" dirty="0" smtClean="0">
                <a:cs typeface="Times New Roman" pitchFamily="18" charset="0"/>
              </a:rPr>
              <a:t>        </a:t>
            </a:r>
            <a:r>
              <a:rPr lang="tr-TR" b="1" dirty="0" smtClean="0">
                <a:cs typeface="Times New Roman" pitchFamily="18" charset="0"/>
              </a:rPr>
              <a:t>1- Ultraviyole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   2- X ve gama ışınları</a:t>
            </a:r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0070C0"/>
                </a:solidFill>
                <a:cs typeface="Times New Roman" pitchFamily="18" charset="0"/>
              </a:rPr>
              <a:t>STERİLİZASYON  YÖNTEMLERİ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tr-TR" b="1" dirty="0" smtClean="0"/>
              <a:t>		</a:t>
            </a:r>
            <a:r>
              <a:rPr lang="tr-TR" b="1" dirty="0" smtClean="0">
                <a:solidFill>
                  <a:srgbClr val="00B050"/>
                </a:solidFill>
                <a:cs typeface="Times New Roman" pitchFamily="18" charset="0"/>
              </a:rPr>
              <a:t>2- Kimyasal sıvılarla sterilizasyon</a:t>
            </a:r>
          </a:p>
          <a:p>
            <a:r>
              <a:rPr lang="tr-TR" sz="2800" b="1" dirty="0" smtClean="0"/>
              <a:t>Kimyasal maddeler sterilizasyonda; </a:t>
            </a:r>
            <a:r>
              <a:rPr lang="tr-TR" sz="2800" b="1" dirty="0" err="1" smtClean="0">
                <a:solidFill>
                  <a:srgbClr val="FF0000"/>
                </a:solidFill>
              </a:rPr>
              <a:t>virus</a:t>
            </a:r>
            <a:r>
              <a:rPr lang="tr-TR" sz="2800" b="1" dirty="0" smtClean="0">
                <a:solidFill>
                  <a:srgbClr val="FF0000"/>
                </a:solidFill>
              </a:rPr>
              <a:t>,</a:t>
            </a:r>
            <a:r>
              <a:rPr lang="tr-TR" sz="2800" b="1" dirty="0" smtClean="0"/>
              <a:t> </a:t>
            </a:r>
            <a:r>
              <a:rPr lang="tr-TR" sz="2800" b="1" dirty="0" smtClean="0">
                <a:solidFill>
                  <a:srgbClr val="7030A0"/>
                </a:solidFill>
              </a:rPr>
              <a:t>mantar, </a:t>
            </a:r>
            <a:r>
              <a:rPr lang="tr-TR" sz="2800" b="1" dirty="0" smtClean="0">
                <a:solidFill>
                  <a:srgbClr val="00B050"/>
                </a:solidFill>
              </a:rPr>
              <a:t>bakteri</a:t>
            </a:r>
            <a:r>
              <a:rPr lang="tr-TR" sz="2800" b="1" dirty="0" smtClean="0"/>
              <a:t> ve </a:t>
            </a:r>
            <a:r>
              <a:rPr lang="tr-TR" sz="2800" b="1" dirty="0" smtClean="0">
                <a:solidFill>
                  <a:srgbClr val="FF3399"/>
                </a:solidFill>
              </a:rPr>
              <a:t>bakteri sporları </a:t>
            </a:r>
            <a:r>
              <a:rPr lang="tr-TR" sz="2800" b="1" dirty="0" smtClean="0"/>
              <a:t>gibi mikrobiyolojik hayatın tümünü yok edecek şekilde kullanılmalıdır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FF0000"/>
                </a:solidFill>
              </a:rPr>
              <a:t>Aynı maddeler kısa süreli kullanılırsa dezenfeksiyon yaparlar</a:t>
            </a:r>
          </a:p>
          <a:p>
            <a:endParaRPr lang="tr-TR" sz="2800" b="1" dirty="0" smtClean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1043608" y="274638"/>
            <a:ext cx="7185992" cy="4090466"/>
          </a:xfrm>
        </p:spPr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HANGİ KİMYASAL SIVILAR?</a:t>
            </a:r>
            <a:br>
              <a:rPr lang="tr-TR" sz="4000" b="1" dirty="0" smtClean="0">
                <a:solidFill>
                  <a:srgbClr val="FF0000"/>
                </a:solidFill>
              </a:rPr>
            </a:br>
            <a:r>
              <a:rPr lang="tr-TR" sz="4000" b="1" dirty="0" smtClean="0">
                <a:solidFill>
                  <a:srgbClr val="FF0000"/>
                </a:solidFill>
              </a:rPr>
              <a:t>GÜNÜMÜZDE EN ÇOK KULLANILANLAR</a:t>
            </a:r>
            <a:endParaRPr lang="tr-TR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332656"/>
            <a:ext cx="8568952" cy="612068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    FDA ONAYLI YÜKSEK DÜZEY DEZENFEKTANLAR 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err="1" smtClean="0"/>
              <a:t>Gluteraldehid</a:t>
            </a:r>
            <a:r>
              <a:rPr lang="tr-TR" b="1" dirty="0" smtClean="0"/>
              <a:t> </a:t>
            </a:r>
          </a:p>
          <a:p>
            <a:r>
              <a:rPr lang="tr-TR" b="1" dirty="0" smtClean="0"/>
              <a:t>Hidrojen peroksit </a:t>
            </a:r>
          </a:p>
          <a:p>
            <a:r>
              <a:rPr lang="tr-TR" b="1" dirty="0" err="1" smtClean="0"/>
              <a:t>Ortofitaldehid</a:t>
            </a:r>
            <a:r>
              <a:rPr lang="tr-TR" b="1" dirty="0" smtClean="0"/>
              <a:t> </a:t>
            </a:r>
          </a:p>
          <a:p>
            <a:r>
              <a:rPr lang="tr-TR" b="1" dirty="0" smtClean="0"/>
              <a:t>Hidrojen peroksitli </a:t>
            </a:r>
            <a:r>
              <a:rPr lang="tr-TR" b="1" dirty="0" err="1" smtClean="0"/>
              <a:t>perasetik</a:t>
            </a:r>
            <a:r>
              <a:rPr lang="tr-TR" b="1" dirty="0" smtClean="0"/>
              <a:t> asit </a:t>
            </a:r>
          </a:p>
          <a:p>
            <a:r>
              <a:rPr lang="tr-TR" b="1" dirty="0" smtClean="0"/>
              <a:t>650-675 aktif serbest </a:t>
            </a:r>
            <a:r>
              <a:rPr lang="tr-TR" b="1" dirty="0" err="1" smtClean="0"/>
              <a:t>klorin</a:t>
            </a:r>
            <a:r>
              <a:rPr lang="tr-TR" b="1" dirty="0" smtClean="0"/>
              <a:t> içeren tek kullanımlık </a:t>
            </a:r>
            <a:r>
              <a:rPr lang="tr-TR" b="1" dirty="0" err="1" smtClean="0"/>
              <a:t>hipoklorit</a:t>
            </a:r>
            <a:r>
              <a:rPr lang="tr-TR" b="1" dirty="0" smtClean="0"/>
              <a:t> </a:t>
            </a:r>
            <a:r>
              <a:rPr lang="tr-TR" b="1" dirty="0" err="1" smtClean="0"/>
              <a:t>solusyonu</a:t>
            </a:r>
            <a:r>
              <a:rPr lang="tr-TR" b="1" dirty="0" smtClean="0"/>
              <a:t> 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cs typeface="Times New Roman" pitchFamily="18" charset="0"/>
              </a:rPr>
              <a:t/>
            </a:r>
            <a:br>
              <a:rPr lang="tr-TR" b="1" dirty="0" smtClean="0">
                <a:cs typeface="Times New Roman" pitchFamily="18" charset="0"/>
              </a:rPr>
            </a:br>
            <a:r>
              <a:rPr lang="tr-TR" b="1" dirty="0" smtClean="0">
                <a:solidFill>
                  <a:srgbClr val="FF0000"/>
                </a:solidFill>
                <a:cs typeface="Times New Roman" pitchFamily="18" charset="0"/>
              </a:rPr>
              <a:t>SPORİSİT AKTİVİTESİ OLAN KİMYASAL ÇÖZELTİLER </a:t>
            </a:r>
            <a:r>
              <a:rPr lang="tr-TR" b="1" dirty="0" smtClean="0">
                <a:cs typeface="Times New Roman" pitchFamily="18" charset="0"/>
              </a:rPr>
              <a:t/>
            </a:r>
            <a:br>
              <a:rPr lang="tr-TR" b="1" dirty="0" smtClean="0">
                <a:cs typeface="Times New Roman" pitchFamily="18" charset="0"/>
              </a:rPr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smtClean="0">
                <a:cs typeface="Times New Roman" pitchFamily="18" charset="0"/>
              </a:rPr>
              <a:t>% 2 </a:t>
            </a:r>
            <a:r>
              <a:rPr lang="tr-TR" b="1" dirty="0" err="1" smtClean="0">
                <a:cs typeface="Times New Roman" pitchFamily="18" charset="0"/>
              </a:rPr>
              <a:t>glutaraldehit</a:t>
            </a:r>
            <a:endParaRPr lang="tr-TR" b="1" dirty="0" smtClean="0">
              <a:cs typeface="Times New Roman" pitchFamily="18" charset="0"/>
            </a:endParaRPr>
          </a:p>
          <a:p>
            <a:r>
              <a:rPr lang="tr-TR" b="1" dirty="0" smtClean="0">
                <a:cs typeface="Times New Roman" pitchFamily="18" charset="0"/>
              </a:rPr>
              <a:t>% 0.55 </a:t>
            </a:r>
            <a:r>
              <a:rPr lang="tr-TR" b="1" dirty="0" err="1" smtClean="0">
                <a:cs typeface="Times New Roman" pitchFamily="18" charset="0"/>
              </a:rPr>
              <a:t>ortofitalaldehit</a:t>
            </a:r>
            <a:r>
              <a:rPr lang="tr-TR" b="1" dirty="0" smtClean="0">
                <a:cs typeface="Times New Roman" pitchFamily="18" charset="0"/>
              </a:rPr>
              <a:t> (OPA)</a:t>
            </a:r>
          </a:p>
          <a:p>
            <a:r>
              <a:rPr lang="tr-TR" b="1" dirty="0" smtClean="0">
                <a:cs typeface="Times New Roman" pitchFamily="18" charset="0"/>
              </a:rPr>
              <a:t>% 7.5 hidrojen peroksit</a:t>
            </a:r>
          </a:p>
          <a:p>
            <a:r>
              <a:rPr lang="tr-TR" b="1" dirty="0" smtClean="0">
                <a:cs typeface="Times New Roman" pitchFamily="18" charset="0"/>
              </a:rPr>
              <a:t>% 0.2  </a:t>
            </a:r>
            <a:r>
              <a:rPr lang="tr-TR" b="1" dirty="0" err="1" smtClean="0">
                <a:cs typeface="Times New Roman" pitchFamily="18" charset="0"/>
              </a:rPr>
              <a:t>perasetik</a:t>
            </a:r>
            <a:r>
              <a:rPr lang="tr-TR" b="1" dirty="0" smtClean="0">
                <a:cs typeface="Times New Roman" pitchFamily="18" charset="0"/>
              </a:rPr>
              <a:t> asit</a:t>
            </a:r>
          </a:p>
          <a:p>
            <a:r>
              <a:rPr lang="tr-TR" b="1" dirty="0" smtClean="0">
                <a:cs typeface="Times New Roman" pitchFamily="18" charset="0"/>
              </a:rPr>
              <a:t>Formaldehit</a:t>
            </a:r>
          </a:p>
          <a:p>
            <a:r>
              <a:rPr lang="tr-TR" b="1" dirty="0" err="1" smtClean="0">
                <a:cs typeface="Times New Roman" pitchFamily="18" charset="0"/>
              </a:rPr>
              <a:t>Klordioksit</a:t>
            </a:r>
            <a:endParaRPr lang="tr-TR" b="1" dirty="0" smtClean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00B050"/>
                </a:solidFill>
                <a:cs typeface="Times New Roman" pitchFamily="18" charset="0"/>
              </a:rPr>
              <a:t>KİMYASAL SIVILAR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>
                <a:solidFill>
                  <a:srgbClr val="7030A0"/>
                </a:solidFill>
                <a:cs typeface="Times New Roman" pitchFamily="18" charset="0"/>
              </a:rPr>
              <a:t>Bu kimyasallar ile ısıya duyarlı aletler steril edilebilirler</a:t>
            </a:r>
            <a:endParaRPr lang="tr-TR" sz="2800" b="1" dirty="0" smtClean="0">
              <a:cs typeface="Times New Roman" pitchFamily="18" charset="0"/>
            </a:endParaRPr>
          </a:p>
          <a:p>
            <a:r>
              <a:rPr lang="tr-TR" sz="2800" b="1" dirty="0" smtClean="0">
                <a:solidFill>
                  <a:srgbClr val="FF0000"/>
                </a:solidFill>
                <a:cs typeface="Times New Roman" pitchFamily="18" charset="0"/>
              </a:rPr>
              <a:t>Ancak sterilizasyondan sonra kimyasal artıkların steril su ile durulanması ve bu aletlerin bekletilmeden kullanılması gerekir</a:t>
            </a:r>
          </a:p>
          <a:p>
            <a:r>
              <a:rPr lang="tr-TR" sz="2800" b="1" dirty="0" smtClean="0">
                <a:cs typeface="Times New Roman" pitchFamily="18" charset="0"/>
              </a:rPr>
              <a:t>Kimyasal sıvılarla sterilizasyon, ancak diğer yöntemlerle steril edilemeyen alet ve malzemeler için acil durumlarda bir çözüm olabilir</a:t>
            </a:r>
          </a:p>
          <a:p>
            <a:pPr>
              <a:buNone/>
            </a:pPr>
            <a:endParaRPr lang="tr-TR" sz="2800" b="1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GLUTARALDEHİT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>
                <a:solidFill>
                  <a:srgbClr val="FF0000"/>
                </a:solidFill>
              </a:rPr>
              <a:t>% 2 </a:t>
            </a:r>
            <a:r>
              <a:rPr lang="tr-TR" sz="2800" b="1" dirty="0" err="1" smtClean="0">
                <a:solidFill>
                  <a:srgbClr val="FF0000"/>
                </a:solidFill>
              </a:rPr>
              <a:t>lik</a:t>
            </a:r>
            <a:r>
              <a:rPr lang="tr-TR" sz="2800" b="1" dirty="0" smtClean="0">
                <a:solidFill>
                  <a:srgbClr val="FF0000"/>
                </a:solidFill>
              </a:rPr>
              <a:t> </a:t>
            </a:r>
            <a:r>
              <a:rPr lang="tr-TR" sz="2800" b="1" dirty="0" err="1" smtClean="0">
                <a:solidFill>
                  <a:srgbClr val="FF0000"/>
                </a:solidFill>
              </a:rPr>
              <a:t>Glutaraldehit</a:t>
            </a:r>
            <a:r>
              <a:rPr lang="tr-TR" sz="2800" b="1" dirty="0" smtClean="0">
                <a:solidFill>
                  <a:srgbClr val="FF0000"/>
                </a:solidFill>
              </a:rPr>
              <a:t> </a:t>
            </a:r>
            <a:r>
              <a:rPr lang="tr-TR" sz="2800" b="1" dirty="0" err="1" smtClean="0">
                <a:solidFill>
                  <a:srgbClr val="FF0000"/>
                </a:solidFill>
              </a:rPr>
              <a:t>solusyonu</a:t>
            </a:r>
            <a:r>
              <a:rPr lang="tr-TR" sz="2800" b="1" dirty="0" smtClean="0">
                <a:solidFill>
                  <a:srgbClr val="FF0000"/>
                </a:solidFill>
              </a:rPr>
              <a:t> için</a:t>
            </a:r>
          </a:p>
          <a:p>
            <a:pPr>
              <a:buNone/>
            </a:pPr>
            <a:r>
              <a:rPr lang="tr-TR" sz="2800" b="1" dirty="0" smtClean="0"/>
              <a:t>		Sterilizasyondan önce ön temizlik yapılmışsa  30-40 </a:t>
            </a:r>
            <a:r>
              <a:rPr lang="tr-TR" sz="2800" b="1" dirty="0" err="1" smtClean="0"/>
              <a:t>dk</a:t>
            </a:r>
            <a:r>
              <a:rPr lang="tr-TR" sz="2800" b="1" dirty="0" smtClean="0"/>
              <a:t> yeterli olur</a:t>
            </a:r>
          </a:p>
          <a:p>
            <a:pPr>
              <a:buNone/>
            </a:pPr>
            <a:r>
              <a:rPr lang="tr-TR" sz="2800" b="1" dirty="0" smtClean="0"/>
              <a:t>		Ön temizlik yapılmamışsa 8 saat solüsyon içinde kalmalıdır</a:t>
            </a:r>
          </a:p>
          <a:p>
            <a:endParaRPr lang="tr-TR" sz="2800" b="1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GLUTARALDEHİT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sz="2800" b="1" dirty="0" smtClean="0"/>
              <a:t>Organik materyal varlığında da etkili </a:t>
            </a:r>
          </a:p>
          <a:p>
            <a:r>
              <a:rPr lang="tr-TR" sz="2800" b="1" dirty="0" smtClean="0"/>
              <a:t>Birçok materyal ile uyumlu metalleri aşındırmaz </a:t>
            </a:r>
          </a:p>
          <a:p>
            <a:r>
              <a:rPr lang="tr-TR" sz="2800" b="1" dirty="0" err="1" smtClean="0"/>
              <a:t>İrritan</a:t>
            </a:r>
            <a:r>
              <a:rPr lang="tr-TR" sz="2800" b="1" dirty="0" smtClean="0"/>
              <a:t>, kokulu </a:t>
            </a:r>
          </a:p>
          <a:p>
            <a:r>
              <a:rPr lang="tr-TR" sz="2800" b="1" dirty="0" err="1" smtClean="0"/>
              <a:t>Gametotoksik</a:t>
            </a:r>
            <a:r>
              <a:rPr lang="tr-TR" sz="2800" b="1" dirty="0" smtClean="0"/>
              <a:t> kullanılmamalı</a:t>
            </a:r>
          </a:p>
          <a:p>
            <a:r>
              <a:rPr lang="tr-TR" sz="2800" b="1" dirty="0" smtClean="0"/>
              <a:t>Organik maddeleri </a:t>
            </a:r>
            <a:r>
              <a:rPr lang="tr-TR" sz="2800" b="1" dirty="0" err="1" smtClean="0"/>
              <a:t>fikse</a:t>
            </a:r>
            <a:r>
              <a:rPr lang="tr-TR" sz="2800" b="1" dirty="0" smtClean="0"/>
              <a:t> eder </a:t>
            </a:r>
          </a:p>
          <a:p>
            <a:r>
              <a:rPr lang="tr-TR" sz="2800" b="1" dirty="0" smtClean="0"/>
              <a:t>Aktivasyon/ </a:t>
            </a:r>
            <a:r>
              <a:rPr lang="tr-TR" sz="2800" b="1" dirty="0" err="1" smtClean="0"/>
              <a:t>inaktivasyon</a:t>
            </a:r>
            <a:r>
              <a:rPr lang="tr-TR" sz="2800" b="1" dirty="0" smtClean="0"/>
              <a:t> gerekir </a:t>
            </a:r>
          </a:p>
          <a:p>
            <a:pPr lvl="1"/>
            <a:r>
              <a:rPr lang="tr-TR" sz="2400" b="1" dirty="0" err="1" smtClean="0"/>
              <a:t>Na</a:t>
            </a:r>
            <a:r>
              <a:rPr lang="tr-TR" sz="2400" b="1" dirty="0" smtClean="0"/>
              <a:t> bisülfat ile </a:t>
            </a:r>
            <a:r>
              <a:rPr lang="tr-TR" sz="2400" b="1" dirty="0" err="1" smtClean="0"/>
              <a:t>inaktivasyon</a:t>
            </a:r>
            <a:r>
              <a:rPr lang="tr-TR" sz="2400" b="1" dirty="0" smtClean="0"/>
              <a:t> </a:t>
            </a:r>
          </a:p>
          <a:p>
            <a:pPr lvl="1"/>
            <a:r>
              <a:rPr lang="tr-TR" sz="2400" b="1" dirty="0" smtClean="0">
                <a:solidFill>
                  <a:srgbClr val="7030A0"/>
                </a:solidFill>
              </a:rPr>
              <a:t>Mikrobik etkenin bazı kimyasal veya fiziksel ajanlarla işlem yaptırılarak öldürülmesi veya </a:t>
            </a:r>
            <a:r>
              <a:rPr lang="tr-TR" sz="2400" b="1" dirty="0" err="1" smtClean="0">
                <a:solidFill>
                  <a:srgbClr val="7030A0"/>
                </a:solidFill>
              </a:rPr>
              <a:t>inaktive</a:t>
            </a:r>
            <a:r>
              <a:rPr lang="tr-TR" sz="2400" b="1" dirty="0" smtClean="0">
                <a:solidFill>
                  <a:srgbClr val="7030A0"/>
                </a:solidFill>
              </a:rPr>
              <a:t> edilmesi işlemi</a:t>
            </a:r>
          </a:p>
          <a:p>
            <a:pPr lvl="1"/>
            <a:endParaRPr lang="tr-TR" sz="2400" b="1" dirty="0" smtClean="0"/>
          </a:p>
          <a:p>
            <a:pPr>
              <a:buNone/>
            </a:pPr>
            <a:endParaRPr lang="tr-TR" sz="2800" b="1" dirty="0" smtClean="0"/>
          </a:p>
          <a:p>
            <a:pPr>
              <a:buNone/>
            </a:pPr>
            <a:endParaRPr lang="tr-TR" sz="2800" b="1" dirty="0" smtClean="0"/>
          </a:p>
          <a:p>
            <a:endParaRPr lang="tr-TR" b="1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ORTO-FİTALALDEHİT (OPA)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Hızlı etkili 20 C° de 12 </a:t>
            </a:r>
            <a:r>
              <a:rPr lang="tr-TR" sz="2800" b="1" dirty="0" err="1" smtClean="0"/>
              <a:t>dk</a:t>
            </a:r>
            <a:r>
              <a:rPr lang="tr-TR" sz="2800" b="1" dirty="0" smtClean="0"/>
              <a:t> </a:t>
            </a:r>
          </a:p>
          <a:p>
            <a:r>
              <a:rPr lang="tr-TR" sz="2800" b="1" dirty="0" err="1" smtClean="0"/>
              <a:t>pH</a:t>
            </a:r>
            <a:r>
              <a:rPr lang="tr-TR" sz="2800" b="1" dirty="0" smtClean="0"/>
              <a:t> aralığı geniş (</a:t>
            </a:r>
            <a:r>
              <a:rPr lang="tr-TR" sz="2800" b="1" dirty="0" err="1" smtClean="0"/>
              <a:t>pH</a:t>
            </a:r>
            <a:r>
              <a:rPr lang="tr-TR" sz="2800" b="1" dirty="0" smtClean="0"/>
              <a:t> 3-9) </a:t>
            </a:r>
          </a:p>
          <a:p>
            <a:r>
              <a:rPr lang="tr-TR" sz="2800" b="1" dirty="0" smtClean="0"/>
              <a:t>Aktivasyon gerekli değildir </a:t>
            </a:r>
          </a:p>
          <a:p>
            <a:r>
              <a:rPr lang="tr-TR" sz="2800" b="1" dirty="0" err="1" smtClean="0"/>
              <a:t>Mikobakterisidal</a:t>
            </a:r>
            <a:r>
              <a:rPr lang="tr-TR" sz="2800" b="1" dirty="0" smtClean="0"/>
              <a:t> etki erken ve fazla </a:t>
            </a:r>
          </a:p>
          <a:p>
            <a:r>
              <a:rPr lang="tr-TR" sz="2800" b="1" dirty="0" smtClean="0"/>
              <a:t>Materyal uyumu iyi </a:t>
            </a:r>
          </a:p>
          <a:p>
            <a:pPr>
              <a:buNone/>
            </a:pPr>
            <a:endParaRPr lang="tr-TR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ORTO-FİTALALDEHİT (OPA)</a:t>
            </a:r>
            <a:br>
              <a:rPr lang="tr-TR" sz="4000" b="1" dirty="0" smtClean="0">
                <a:solidFill>
                  <a:srgbClr val="FF0000"/>
                </a:solidFill>
              </a:rPr>
            </a:br>
            <a:r>
              <a:rPr lang="tr-TR" sz="4000" b="1" dirty="0" smtClean="0">
                <a:solidFill>
                  <a:srgbClr val="FF0000"/>
                </a:solidFill>
              </a:rPr>
              <a:t>insana zararları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tr-TR" dirty="0" smtClean="0"/>
          </a:p>
          <a:p>
            <a:r>
              <a:rPr lang="tr-TR" sz="2800" b="1" dirty="0" smtClean="0"/>
              <a:t>Solunum ve mide barsak sisteminde gözlerde </a:t>
            </a:r>
            <a:r>
              <a:rPr lang="tr-TR" sz="2800" b="1" dirty="0" err="1" smtClean="0"/>
              <a:t>irritasyon</a:t>
            </a:r>
            <a:r>
              <a:rPr lang="tr-TR" sz="2800" b="1" dirty="0" smtClean="0"/>
              <a:t>, uzun süreli temasta dermatit </a:t>
            </a:r>
          </a:p>
          <a:p>
            <a:r>
              <a:rPr lang="tr-TR" sz="2800" b="1" dirty="0" smtClean="0"/>
              <a:t>Proteinleri ve deriyi griye boyar </a:t>
            </a:r>
          </a:p>
          <a:p>
            <a:r>
              <a:rPr lang="tr-TR" sz="2800" b="1" dirty="0" smtClean="0"/>
              <a:t>Pahalıdır </a:t>
            </a:r>
          </a:p>
          <a:p>
            <a:endParaRPr lang="tr-TR" sz="2800" b="1" dirty="0" smtClean="0"/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4000" b="1" dirty="0" smtClean="0">
                <a:solidFill>
                  <a:srgbClr val="FF0000"/>
                </a:solidFill>
                <a:cs typeface="Times New Roman" pitchFamily="18" charset="0"/>
              </a:rPr>
              <a:t>HİDROJEN PEROKSİT</a:t>
            </a:r>
            <a:br>
              <a:rPr lang="tr-TR" sz="4000" b="1" dirty="0" smtClean="0">
                <a:solidFill>
                  <a:srgbClr val="FF0000"/>
                </a:solidFill>
                <a:cs typeface="Times New Roman" pitchFamily="18" charset="0"/>
              </a:rPr>
            </a:br>
            <a:r>
              <a:rPr lang="tr-TR" sz="3600" b="1" dirty="0" smtClean="0">
                <a:solidFill>
                  <a:srgbClr val="0070C0"/>
                </a:solidFill>
              </a:rPr>
              <a:t> </a:t>
            </a:r>
            <a:r>
              <a:rPr lang="tr-TR" sz="4000" b="1" dirty="0" smtClean="0">
                <a:solidFill>
                  <a:srgbClr val="0070C0"/>
                </a:solidFill>
              </a:rPr>
              <a:t>H₂O₂</a:t>
            </a:r>
            <a:endParaRPr lang="tr-TR" sz="4000" dirty="0">
              <a:solidFill>
                <a:srgbClr val="0070C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Autofit/>
          </a:bodyPr>
          <a:lstStyle/>
          <a:p>
            <a:r>
              <a:rPr lang="tr-TR" sz="2800" b="1" dirty="0" smtClean="0"/>
              <a:t>Sporlara,Bakteri, virüs, mantar etkili öldürür</a:t>
            </a:r>
          </a:p>
          <a:p>
            <a:r>
              <a:rPr lang="tr-TR" sz="2800" b="1" dirty="0" smtClean="0"/>
              <a:t>Gram negatif bakterilere olan etkisi, Gram pozitiflerden daha kuvvetli</a:t>
            </a:r>
          </a:p>
          <a:p>
            <a:r>
              <a:rPr lang="tr-TR" sz="2800" b="1" dirty="0" smtClean="0"/>
              <a:t>Hızlı etkili </a:t>
            </a:r>
          </a:p>
          <a:p>
            <a:r>
              <a:rPr lang="tr-TR" sz="2800" b="1" dirty="0" smtClean="0"/>
              <a:t>Atıkları tehlikesiz ( Su ve Oksijen) </a:t>
            </a:r>
          </a:p>
          <a:p>
            <a:r>
              <a:rPr lang="tr-TR" sz="2800" b="1" dirty="0" smtClean="0"/>
              <a:t>Aktivasyon gerektirmez </a:t>
            </a:r>
          </a:p>
          <a:p>
            <a:r>
              <a:rPr lang="tr-TR" sz="2800" b="1" dirty="0" err="1" smtClean="0"/>
              <a:t>İrritan</a:t>
            </a:r>
            <a:r>
              <a:rPr lang="tr-TR" sz="2800" b="1" dirty="0" smtClean="0"/>
              <a:t> ve kokulu değil </a:t>
            </a:r>
          </a:p>
          <a:p>
            <a:r>
              <a:rPr lang="tr-TR" sz="2800" b="1" dirty="0" smtClean="0"/>
              <a:t>Güçlü bir oksitleyici madde</a:t>
            </a:r>
          </a:p>
          <a:p>
            <a:r>
              <a:rPr lang="tr-TR" sz="2800" b="1" dirty="0" smtClean="0"/>
              <a:t>Renksiz, kokusuz, stabil sıvı </a:t>
            </a:r>
          </a:p>
          <a:p>
            <a:r>
              <a:rPr lang="tr-TR" sz="2800" b="1" dirty="0" smtClean="0"/>
              <a:t>Genellikle konsantrasyon %7,5 		</a:t>
            </a:r>
          </a:p>
          <a:p>
            <a:endParaRPr lang="tr-TR" sz="2800" dirty="0" smtClean="0"/>
          </a:p>
          <a:p>
            <a:pPr>
              <a:buNone/>
            </a:pPr>
            <a:r>
              <a:rPr lang="tr-TR" sz="2800" dirty="0" smtClean="0"/>
              <a:t>		</a:t>
            </a:r>
            <a:endParaRPr lang="tr-TR" sz="2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  <a:cs typeface="Times New Roman" pitchFamily="18" charset="0"/>
              </a:rPr>
              <a:t>HİDROJEN PEROKSİT </a:t>
            </a:r>
            <a:r>
              <a:rPr lang="tr-TR" b="1" dirty="0" smtClean="0">
                <a:solidFill>
                  <a:srgbClr val="FF0000"/>
                </a:solidFill>
              </a:rPr>
              <a:t>insana zararları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Temasla gözde </a:t>
            </a:r>
            <a:r>
              <a:rPr lang="tr-TR" b="1" dirty="0" err="1" smtClean="0"/>
              <a:t>irritasyon</a:t>
            </a:r>
            <a:r>
              <a:rPr lang="tr-TR" b="1" dirty="0" smtClean="0"/>
              <a:t>, kornea hasarı </a:t>
            </a:r>
          </a:p>
          <a:p>
            <a:r>
              <a:rPr lang="tr-TR" b="1" dirty="0" smtClean="0"/>
              <a:t>% 35'lik çözeltisinin cilde dokunduktan sonra etkisi [H</a:t>
            </a:r>
            <a:r>
              <a:rPr lang="tr-TR" b="1" baseline="-25000" dirty="0" smtClean="0"/>
              <a:t>2</a:t>
            </a:r>
            <a:r>
              <a:rPr lang="tr-TR" b="1" dirty="0" smtClean="0"/>
              <a:t>O</a:t>
            </a:r>
            <a:r>
              <a:rPr lang="tr-TR" b="1" baseline="-25000" dirty="0" smtClean="0"/>
              <a:t>2</a:t>
            </a:r>
            <a:r>
              <a:rPr lang="tr-TR" b="1" dirty="0" smtClean="0"/>
              <a:t>]</a:t>
            </a:r>
            <a:endParaRPr lang="tr-TR" dirty="0"/>
          </a:p>
        </p:txBody>
      </p:sp>
      <p:pic>
        <p:nvPicPr>
          <p:cNvPr id="4" name="Picture 2" descr="C:\Users\user\Desktop\220px-Hydrogen_peroxide_35_percent_on_ski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9912" y="2924944"/>
            <a:ext cx="3917280" cy="344938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Formaldehit (CH₂O)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2800" b="1" dirty="0" smtClean="0"/>
              <a:t>19°</a:t>
            </a:r>
            <a:r>
              <a:rPr lang="tr-TR" sz="2800" b="1" dirty="0" err="1" smtClean="0"/>
              <a:t>C’de</a:t>
            </a:r>
            <a:r>
              <a:rPr lang="tr-TR" sz="2800" b="1" dirty="0" smtClean="0"/>
              <a:t> kaynayan, suda çözünen, renksiz, yanıcı, </a:t>
            </a:r>
            <a:r>
              <a:rPr lang="tr-TR" sz="2800" b="1" dirty="0" err="1" smtClean="0"/>
              <a:t>toksik</a:t>
            </a:r>
            <a:r>
              <a:rPr lang="tr-TR" sz="2800" b="1" dirty="0" smtClean="0"/>
              <a:t> bir gazdır</a:t>
            </a:r>
          </a:p>
          <a:p>
            <a:r>
              <a:rPr lang="tr-TR" sz="2800" b="1" dirty="0" smtClean="0"/>
              <a:t>1. sınıf </a:t>
            </a:r>
            <a:r>
              <a:rPr lang="tr-TR" sz="2800" b="1" dirty="0" err="1" smtClean="0"/>
              <a:t>karsinojen</a:t>
            </a:r>
            <a:endParaRPr lang="tr-TR" sz="2800" b="1" dirty="0" smtClean="0"/>
          </a:p>
          <a:p>
            <a:r>
              <a:rPr lang="tr-TR" sz="2800" b="1" dirty="0" smtClean="0"/>
              <a:t>ABD, Kanada, Fransa, Avustralya’da yasak</a:t>
            </a:r>
          </a:p>
          <a:p>
            <a:r>
              <a:rPr lang="tr-TR" sz="2800" b="1" dirty="0" smtClean="0"/>
              <a:t>Gaz şekli için </a:t>
            </a:r>
            <a:r>
              <a:rPr lang="tr-TR" sz="2800" b="1" dirty="0" err="1" smtClean="0"/>
              <a:t>formalin</a:t>
            </a:r>
            <a:r>
              <a:rPr lang="tr-TR" sz="2800" b="1" dirty="0" smtClean="0"/>
              <a:t> (%40 formaldehit) ya da </a:t>
            </a:r>
            <a:r>
              <a:rPr lang="tr-TR" sz="2800" b="1" dirty="0" err="1" smtClean="0"/>
              <a:t>paraformaldehit</a:t>
            </a:r>
            <a:r>
              <a:rPr lang="tr-TR" sz="2800" b="1" dirty="0" smtClean="0"/>
              <a:t> hafifçe ısıtılarak buharı elde edilir</a:t>
            </a:r>
          </a:p>
          <a:p>
            <a:r>
              <a:rPr lang="tr-TR" sz="2800" b="1" dirty="0" smtClean="0"/>
              <a:t>Etki Mekanizması: </a:t>
            </a:r>
            <a:r>
              <a:rPr lang="tr-TR" sz="2800" b="1" dirty="0" err="1" smtClean="0"/>
              <a:t>Alkillemedir</a:t>
            </a:r>
            <a:endParaRPr lang="tr-TR" sz="2800" b="1" dirty="0" smtClean="0"/>
          </a:p>
          <a:p>
            <a:r>
              <a:rPr lang="tr-TR" sz="2800" b="1" dirty="0" err="1" smtClean="0"/>
              <a:t>Sterilizan</a:t>
            </a:r>
            <a:r>
              <a:rPr lang="tr-TR" sz="2800" b="1" dirty="0" smtClean="0"/>
              <a:t> ya da yüksek düzey dezenfektan etki yapar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Formaldehit (CH₂O)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önemli  !!!!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smtClean="0"/>
              <a:t>Sterilizasyonu için düşük sıcaklıkta (50-80°C) Buhar ile birlikte (%60-80 nem) uygulanır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Sıvı formda kadavra ve dokuların saklanmasında kullanılır</a:t>
            </a:r>
          </a:p>
          <a:p>
            <a:r>
              <a:rPr lang="tr-TR" b="1" dirty="0" smtClean="0"/>
              <a:t>Tıbbi mikrobiyoloji </a:t>
            </a:r>
            <a:r>
              <a:rPr lang="tr-TR" b="1" dirty="0" err="1" smtClean="0"/>
              <a:t>laboratuvarlarındaki</a:t>
            </a:r>
            <a:r>
              <a:rPr lang="tr-TR" b="1" dirty="0" smtClean="0"/>
              <a:t> temel kullanım alanı </a:t>
            </a:r>
            <a:r>
              <a:rPr lang="tr-TR" b="1" dirty="0" err="1" smtClean="0"/>
              <a:t>biyogüvenlik</a:t>
            </a:r>
            <a:r>
              <a:rPr lang="tr-TR" b="1" dirty="0" smtClean="0"/>
              <a:t> kabinlerinin </a:t>
            </a:r>
            <a:r>
              <a:rPr lang="tr-TR" b="1" dirty="0" err="1" smtClean="0"/>
              <a:t>dekontaminasyonudur</a:t>
            </a:r>
            <a:endParaRPr lang="tr-TR" b="1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tr-TR" sz="4000" b="1" dirty="0" smtClean="0">
                <a:solidFill>
                  <a:srgbClr val="0070C0"/>
                </a:solidFill>
                <a:latin typeface="+mn-lt"/>
                <a:cs typeface="Times New Roman" pitchFamily="18" charset="0"/>
              </a:rPr>
              <a:t>       STERİLİZASYON  YÖNTEMLERİ</a:t>
            </a:r>
            <a:endParaRPr lang="tr-TR" sz="4000" b="1" dirty="0">
              <a:solidFill>
                <a:srgbClr val="0070C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642910" y="1500174"/>
            <a:ext cx="8342266" cy="4654589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I-ISI İLE STERİLİZASYON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4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2400" b="1" dirty="0" smtClean="0">
                <a:cs typeface="Times New Roman" pitchFamily="18" charset="0"/>
              </a:rPr>
              <a:t>    </a:t>
            </a:r>
            <a:r>
              <a:rPr lang="tr-TR" b="1" dirty="0" smtClean="0">
                <a:cs typeface="Times New Roman" pitchFamily="18" charset="0"/>
              </a:rPr>
              <a:t>1-Kuru sıcak hava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2-Kızıl dereceye kadar ısıtma veya yakma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3-Alevden geçirme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4-Nemli ısı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A-Sıcak su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Kaynatma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</a:t>
            </a:r>
            <a:r>
              <a:rPr lang="tr-TR" sz="3300" b="1" dirty="0" err="1" smtClean="0">
                <a:cs typeface="Times New Roman" pitchFamily="18" charset="0"/>
              </a:rPr>
              <a:t>Tindalizasyon</a:t>
            </a:r>
            <a:endParaRPr lang="tr-TR" sz="33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B-Buharlı ısı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Basınçlı buhar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3300" b="1" dirty="0" smtClean="0">
                <a:cs typeface="Times New Roman" pitchFamily="18" charset="0"/>
              </a:rPr>
              <a:t>           - Basınçsız buhar 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2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solidFill>
                  <a:srgbClr val="FF0000"/>
                </a:solidFill>
                <a:cs typeface="Times New Roman" pitchFamily="18" charset="0"/>
              </a:rPr>
              <a:t>II-SÜZME (FİLTRASYON) İLE STERİLİZASYON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2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solidFill>
                  <a:srgbClr val="FF0000"/>
                </a:solidFill>
                <a:cs typeface="Times New Roman" pitchFamily="18" charset="0"/>
              </a:rPr>
              <a:t>III-KİMYASAL MADDELERLE STERİLİZASYON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2900" b="1" dirty="0" smtClean="0">
                <a:cs typeface="Times New Roman" pitchFamily="18" charset="0"/>
              </a:rPr>
              <a:t>	1- Kimyasal gazlarla sterilizasyon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sz="2900" b="1" dirty="0" smtClean="0">
                <a:cs typeface="Times New Roman" pitchFamily="18" charset="0"/>
              </a:rPr>
              <a:t>	2- Kimyasal sıvılarla sterilizasyon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4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2400" b="1" dirty="0" smtClean="0">
                <a:cs typeface="Times New Roman" pitchFamily="18" charset="0"/>
              </a:rPr>
              <a:t> </a:t>
            </a:r>
            <a:r>
              <a:rPr lang="tr-TR" b="1" dirty="0" smtClean="0">
                <a:solidFill>
                  <a:srgbClr val="FF0000"/>
                </a:solidFill>
                <a:cs typeface="Times New Roman" pitchFamily="18" charset="0"/>
              </a:rPr>
              <a:t>IV- RADYASYON (IŞINLAMA) İLE STERİLİZASYON</a:t>
            </a:r>
          </a:p>
          <a:p>
            <a:pPr>
              <a:lnSpc>
                <a:spcPct val="80000"/>
              </a:lnSpc>
              <a:buFontTx/>
              <a:buNone/>
            </a:pPr>
            <a:endParaRPr lang="tr-TR" sz="1400" b="1" dirty="0" smtClean="0"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sz="2400" b="1" dirty="0" smtClean="0">
                <a:cs typeface="Times New Roman" pitchFamily="18" charset="0"/>
              </a:rPr>
              <a:t>        </a:t>
            </a:r>
            <a:r>
              <a:rPr lang="tr-TR" b="1" dirty="0" smtClean="0">
                <a:cs typeface="Times New Roman" pitchFamily="18" charset="0"/>
              </a:rPr>
              <a:t>1- Ultraviyole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tr-TR" b="1" dirty="0" smtClean="0">
                <a:cs typeface="Times New Roman" pitchFamily="18" charset="0"/>
              </a:rPr>
              <a:t>      2- X ve gama ışınları</a:t>
            </a:r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  <a:cs typeface="Times New Roman" pitchFamily="18" charset="0"/>
              </a:rPr>
              <a:t>RADYASYON (IŞINLAMA) İLE STERİLİZASYON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484784"/>
            <a:ext cx="8291264" cy="5040560"/>
          </a:xfrm>
        </p:spPr>
        <p:txBody>
          <a:bodyPr>
            <a:noAutofit/>
          </a:bodyPr>
          <a:lstStyle/>
          <a:p>
            <a:pPr marL="269875" indent="-269875">
              <a:lnSpc>
                <a:spcPct val="15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tr-TR" b="1" dirty="0" smtClean="0"/>
              <a:t>Işınlama ile sterilizasyonun uygulama alanı sınırlıdır</a:t>
            </a:r>
          </a:p>
          <a:p>
            <a:pPr marL="269875" indent="-269875">
              <a:lnSpc>
                <a:spcPct val="15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tr-TR" b="1" dirty="0" smtClean="0"/>
              <a:t>Isı ve diğer yöntemlerle steril edilemeyen ortamların sterilizasyonu için kullanılır</a:t>
            </a:r>
          </a:p>
          <a:p>
            <a:pPr marL="269875" indent="-269875">
              <a:lnSpc>
                <a:spcPct val="15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tr-TR" b="1" dirty="0" smtClean="0"/>
              <a:t>Çevreye de etkili olduklarından sınırlı olarak ve önlem alınarak uygulanabilir</a:t>
            </a:r>
            <a:endParaRPr lang="en-US" b="1" dirty="0" smtClean="0"/>
          </a:p>
          <a:p>
            <a:endParaRPr lang="tr-TR" dirty="0" smtClean="0"/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539552" y="620688"/>
            <a:ext cx="8208912" cy="5688632"/>
          </a:xfrm>
        </p:spPr>
        <p:txBody>
          <a:bodyPr>
            <a:normAutofit/>
          </a:bodyPr>
          <a:lstStyle/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rgbClr val="7030A0"/>
                </a:solidFill>
              </a:rPr>
              <a:t>Ultraviyole Işınları (UV)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X Işınları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Gamma Işınları</a:t>
            </a:r>
          </a:p>
          <a:p>
            <a:endParaRPr lang="tr-TR" dirty="0" smtClean="0"/>
          </a:p>
          <a:p>
            <a:pPr>
              <a:buNone/>
            </a:pPr>
            <a:r>
              <a:rPr lang="tr-TR" dirty="0" smtClean="0"/>
              <a:t>	</a:t>
            </a:r>
            <a:endParaRPr lang="tr-TR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UV IŞINLARI (MOR ÖTESİ IŞINLAR)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smtClean="0"/>
              <a:t>Mikroorganizmaları öldürücü etkileri çok fazladır</a:t>
            </a:r>
          </a:p>
          <a:p>
            <a:r>
              <a:rPr lang="tr-TR" b="1" dirty="0" smtClean="0">
                <a:solidFill>
                  <a:schemeClr val="folHlink"/>
                </a:solidFill>
              </a:rPr>
              <a:t>Mikroorganizmaların DNA yapılarını kırar, ya </a:t>
            </a:r>
            <a:r>
              <a:rPr lang="tr-TR" b="1" dirty="0" err="1" smtClean="0">
                <a:solidFill>
                  <a:schemeClr val="folHlink"/>
                </a:solidFill>
              </a:rPr>
              <a:t>replikasyon</a:t>
            </a:r>
            <a:r>
              <a:rPr lang="tr-TR" b="1" dirty="0" smtClean="0">
                <a:solidFill>
                  <a:schemeClr val="folHlink"/>
                </a:solidFill>
              </a:rPr>
              <a:t> </a:t>
            </a:r>
            <a:r>
              <a:rPr lang="tr-TR" b="1" dirty="0" err="1" smtClean="0">
                <a:solidFill>
                  <a:schemeClr val="folHlink"/>
                </a:solidFill>
              </a:rPr>
              <a:t>inhibe</a:t>
            </a:r>
            <a:r>
              <a:rPr lang="tr-TR" b="1" dirty="0" smtClean="0">
                <a:solidFill>
                  <a:schemeClr val="folHlink"/>
                </a:solidFill>
              </a:rPr>
              <a:t> olur ya da mutasyon olur</a:t>
            </a:r>
            <a:endParaRPr lang="tr-TR" b="1" dirty="0" smtClean="0"/>
          </a:p>
          <a:p>
            <a:r>
              <a:rPr lang="tr-TR" b="1" dirty="0" smtClean="0"/>
              <a:t>Derinlere nüfuz etme yetenekleri bulunmamaktadır (HAVA VE DIŞ YÜZEY STERİLİZASYONU İÇİN KULLANILIR)</a:t>
            </a:r>
          </a:p>
          <a:p>
            <a:r>
              <a:rPr lang="tr-TR" b="1" dirty="0" smtClean="0"/>
              <a:t>UV ışınları, iyonize ışınların aksine Radyasyon enerjilerinin azlığı ve </a:t>
            </a:r>
            <a:r>
              <a:rPr lang="tr-TR" b="1" dirty="0" err="1" smtClean="0"/>
              <a:t>penetrasyon</a:t>
            </a:r>
            <a:r>
              <a:rPr lang="tr-TR" b="1" dirty="0" smtClean="0"/>
              <a:t> yeteneklerinin çok sınırlı olması nedeniyle sterilizasyondan çok dezenfeksiyonda kullanılırlar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UV IŞINLARI (MOR ÖTESİ IŞINLAR)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smtClean="0"/>
              <a:t>Hastane, koğuş, ameliyathane, </a:t>
            </a:r>
            <a:r>
              <a:rPr lang="tr-TR" b="1" dirty="0" err="1" smtClean="0"/>
              <a:t>laboratuvar</a:t>
            </a:r>
            <a:r>
              <a:rPr lang="tr-TR" b="1" dirty="0" smtClean="0"/>
              <a:t>, doku kültürü odaları, antibiyotiklerin hazırlandığı dolum odaları, mikoloji </a:t>
            </a:r>
            <a:r>
              <a:rPr lang="tr-TR" b="1" dirty="0" err="1" smtClean="0"/>
              <a:t>laboratuvarları</a:t>
            </a:r>
            <a:r>
              <a:rPr lang="tr-TR" b="1" dirty="0" smtClean="0"/>
              <a:t>,PCR kabinleri gibi alanların dezenfeksiyonunda kullanılır </a:t>
            </a:r>
          </a:p>
          <a:p>
            <a:r>
              <a:rPr lang="tr-TR" b="1" dirty="0" smtClean="0"/>
              <a:t>UV ışınlı lambalarla steril edilirler</a:t>
            </a:r>
          </a:p>
          <a:p>
            <a:endParaRPr lang="tr-TR" b="1" dirty="0" smtClean="0"/>
          </a:p>
          <a:p>
            <a:endParaRPr lang="tr-TR" b="1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404664"/>
            <a:ext cx="8496944" cy="612068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tr-TR" b="1" dirty="0" smtClean="0"/>
              <a:t>				</a:t>
            </a:r>
            <a:r>
              <a:rPr lang="tr-TR" sz="4300" b="1" dirty="0" smtClean="0">
                <a:solidFill>
                  <a:srgbClr val="FF0000"/>
                </a:solidFill>
              </a:rPr>
              <a:t>DİKKAT!!!!</a:t>
            </a:r>
          </a:p>
          <a:p>
            <a:r>
              <a:rPr lang="tr-TR" b="1" dirty="0" smtClean="0"/>
              <a:t>Bu lambalar sadece direkt ışınlama ile etki gösterirler. Bu yüzden tahrip edeceği mikroorganizma ile aralarında hiçbir şey olmamalıdır. </a:t>
            </a:r>
            <a:r>
              <a:rPr lang="tr-TR" b="1" dirty="0" smtClean="0">
                <a:solidFill>
                  <a:srgbClr val="FF0000"/>
                </a:solidFill>
              </a:rPr>
              <a:t>Işın materyalin üzerine direkt gelmelidir</a:t>
            </a:r>
          </a:p>
          <a:p>
            <a:r>
              <a:rPr lang="tr-TR" b="1" dirty="0" smtClean="0">
                <a:solidFill>
                  <a:srgbClr val="FF3399"/>
                </a:solidFill>
              </a:rPr>
              <a:t>UV ışınları gözü çok ağır şekilde hastalandırabilirler</a:t>
            </a:r>
          </a:p>
          <a:p>
            <a:r>
              <a:rPr lang="tr-TR" b="1" dirty="0" smtClean="0"/>
              <a:t>Bu yüzden çalışacak kimselerin </a:t>
            </a:r>
            <a:r>
              <a:rPr lang="tr-TR" b="1" dirty="0" smtClean="0">
                <a:solidFill>
                  <a:srgbClr val="7030A0"/>
                </a:solidFill>
              </a:rPr>
              <a:t>koruyucu gözlük </a:t>
            </a:r>
            <a:r>
              <a:rPr lang="tr-TR" b="1" dirty="0" smtClean="0"/>
              <a:t>veya kasket takmaları gerekmekte Yada bu kişiler odaya girdiklerinde lambalar söndürülmelidir </a:t>
            </a:r>
          </a:p>
          <a:p>
            <a:r>
              <a:rPr lang="tr-TR" b="1" dirty="0" smtClean="0"/>
              <a:t>Kültürler ekilirken </a:t>
            </a:r>
            <a:r>
              <a:rPr lang="tr-TR" b="1" dirty="0" err="1" smtClean="0"/>
              <a:t>inhibisyon</a:t>
            </a:r>
            <a:r>
              <a:rPr lang="tr-TR" b="1" dirty="0" smtClean="0"/>
              <a:t> yapmamaları için lambalar söndürülmelidir. Aksi halde UV ışınlarına maruz kalan </a:t>
            </a:r>
            <a:r>
              <a:rPr lang="tr-TR" b="1" dirty="0" err="1" smtClean="0"/>
              <a:t>besiyerinde</a:t>
            </a:r>
            <a:r>
              <a:rPr lang="tr-TR" b="1" dirty="0" smtClean="0"/>
              <a:t> bazı zararlı maddeler oluşabilir ve burada bakteriler iyi üreyemeyebilir</a:t>
            </a:r>
          </a:p>
          <a:p>
            <a:endParaRPr lang="tr-TR" b="1" dirty="0" smtClean="0"/>
          </a:p>
          <a:p>
            <a:endParaRPr lang="tr-TR" b="1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UV IŞINLARI (MOR ÖTESİ IŞINLAR)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19138" indent="-358775">
              <a:lnSpc>
                <a:spcPct val="15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tr-TR" sz="2800" b="1" dirty="0" smtClean="0"/>
              <a:t>UV lambaları ve UV </a:t>
            </a:r>
            <a:r>
              <a:rPr lang="tr-TR" sz="2800" b="1" dirty="0" err="1" smtClean="0"/>
              <a:t>sterilizatörleri</a:t>
            </a:r>
            <a:r>
              <a:rPr lang="tr-TR" sz="2800" b="1" dirty="0" smtClean="0"/>
              <a:t> var</a:t>
            </a:r>
          </a:p>
          <a:p>
            <a:pPr marL="719138" indent="-358775">
              <a:lnSpc>
                <a:spcPct val="15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tr-TR" sz="2800" b="1" dirty="0" smtClean="0"/>
              <a:t>UV </a:t>
            </a:r>
            <a:r>
              <a:rPr lang="tr-TR" sz="2800" b="1" dirty="0" err="1" smtClean="0"/>
              <a:t>stalizatör</a:t>
            </a:r>
            <a:r>
              <a:rPr lang="tr-TR" sz="2800" b="1" dirty="0" smtClean="0"/>
              <a:t> ; Su içindeki mikroorganizmaların   % 99’unu yok eder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X VE GAMMA IŞINLARI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Özel jeneratörler tarafından üretilirler</a:t>
            </a:r>
          </a:p>
          <a:p>
            <a:r>
              <a:rPr lang="tr-TR" b="1" dirty="0" smtClean="0"/>
              <a:t>Elde edilmeleri oldukça pahalıdır</a:t>
            </a:r>
          </a:p>
          <a:p>
            <a:r>
              <a:rPr lang="tr-TR" b="1" dirty="0" smtClean="0"/>
              <a:t>Derinlere ulaşma özellikleri bulunmaktadır</a:t>
            </a:r>
          </a:p>
          <a:p>
            <a:endParaRPr lang="tr-TR" b="1" dirty="0" smtClean="0"/>
          </a:p>
          <a:p>
            <a:r>
              <a:rPr lang="tr-TR" b="1" dirty="0" smtClean="0">
                <a:solidFill>
                  <a:srgbClr val="7030A0"/>
                </a:solidFill>
              </a:rPr>
              <a:t>Paketlenmiş hazır gıdaların, Protez, Sentetik kalp kapakçıkları ve Cerrahi malzeme gibi özel malzemelerin sterilizasyonunda kullanılırlar</a:t>
            </a:r>
          </a:p>
          <a:p>
            <a:endParaRPr lang="tr-TR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712968" cy="62646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      </a:t>
            </a:r>
            <a:r>
              <a:rPr lang="tr-TR" sz="4000" b="1" dirty="0" smtClean="0">
                <a:solidFill>
                  <a:srgbClr val="FF0000"/>
                </a:solidFill>
              </a:rPr>
              <a:t>ÖNCELİKLE TEMİZLİK</a:t>
            </a:r>
            <a:endParaRPr lang="tr-TR" sz="4000" b="1" dirty="0" smtClean="0">
              <a:solidFill>
                <a:srgbClr val="7030A0"/>
              </a:solidFill>
            </a:endParaRPr>
          </a:p>
          <a:p>
            <a:r>
              <a:rPr lang="tr-TR" sz="3000" b="1" dirty="0" smtClean="0">
                <a:solidFill>
                  <a:srgbClr val="7030A0"/>
                </a:solidFill>
              </a:rPr>
              <a:t>Biyolojik </a:t>
            </a:r>
            <a:r>
              <a:rPr lang="tr-TR" sz="3000" b="1" dirty="0" err="1" smtClean="0">
                <a:solidFill>
                  <a:srgbClr val="7030A0"/>
                </a:solidFill>
              </a:rPr>
              <a:t>materyel</a:t>
            </a:r>
            <a:r>
              <a:rPr lang="tr-TR" sz="3000" b="1" dirty="0" smtClean="0">
                <a:solidFill>
                  <a:srgbClr val="7030A0"/>
                </a:solidFill>
              </a:rPr>
              <a:t> artıkları kalan bir malzemenin, herhangi bir uygulama ile dezenfekte ya da steril olduğunu garantilemek mümkün değildir</a:t>
            </a:r>
          </a:p>
          <a:p>
            <a:r>
              <a:rPr lang="tr-TR" sz="3000" b="1" dirty="0" err="1" smtClean="0">
                <a:solidFill>
                  <a:srgbClr val="7030A0"/>
                </a:solidFill>
              </a:rPr>
              <a:t>Kontamine</a:t>
            </a:r>
            <a:r>
              <a:rPr lang="tr-TR" sz="3000" b="1" dirty="0" smtClean="0">
                <a:solidFill>
                  <a:srgbClr val="7030A0"/>
                </a:solidFill>
              </a:rPr>
              <a:t> gereçlerin hemen bir dezenfektan içine alınarak, kişilerin kendini korumaya çalışması doğru değildir </a:t>
            </a:r>
          </a:p>
          <a:p>
            <a:r>
              <a:rPr lang="tr-TR" sz="3000" b="1" dirty="0" smtClean="0">
                <a:solidFill>
                  <a:srgbClr val="7030A0"/>
                </a:solidFill>
              </a:rPr>
              <a:t>Bu uygulamanın etkinliği her zaman şüpheli olacağı gibi sonrasında organik yapıları yapıştırıp uygulamada sorunlar yaratacaktır </a:t>
            </a:r>
          </a:p>
          <a:p>
            <a:endParaRPr lang="tr-TR" sz="3000" b="1" dirty="0" smtClean="0">
              <a:solidFill>
                <a:srgbClr val="7030A0"/>
              </a:solidFill>
            </a:endParaRPr>
          </a:p>
          <a:p>
            <a:endParaRPr lang="tr-TR" sz="30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568952" cy="6408712"/>
          </a:xfrm>
        </p:spPr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	</a:t>
            </a:r>
            <a:r>
              <a:rPr lang="tr-TR" sz="4000" b="1" dirty="0" smtClean="0">
                <a:solidFill>
                  <a:srgbClr val="FF0000"/>
                </a:solidFill>
              </a:rPr>
              <a:t>KİŞİSEL KORUNMA </a:t>
            </a:r>
            <a:endParaRPr lang="tr-TR" sz="4000" b="1" dirty="0" smtClean="0"/>
          </a:p>
          <a:p>
            <a:r>
              <a:rPr lang="tr-TR" b="1" dirty="0" smtClean="0"/>
              <a:t>Standart Önlemler !!! </a:t>
            </a:r>
          </a:p>
          <a:p>
            <a:r>
              <a:rPr lang="tr-TR" b="1" dirty="0" smtClean="0"/>
              <a:t>Prosedürlere uyum </a:t>
            </a:r>
          </a:p>
          <a:p>
            <a:endParaRPr lang="tr-TR" dirty="0"/>
          </a:p>
        </p:txBody>
      </p:sp>
      <p:pic>
        <p:nvPicPr>
          <p:cNvPr id="68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2348880"/>
            <a:ext cx="7266384" cy="3919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332656"/>
            <a:ext cx="8496944" cy="626469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tr-TR" b="1" dirty="0" smtClean="0">
                <a:solidFill>
                  <a:srgbClr val="FF0000"/>
                </a:solidFill>
              </a:rPr>
              <a:t>  </a:t>
            </a:r>
            <a:r>
              <a:rPr lang="tr-TR" sz="3600" b="1" dirty="0" smtClean="0">
                <a:solidFill>
                  <a:srgbClr val="FF0000"/>
                </a:solidFill>
              </a:rPr>
              <a:t>ALET VE MALZEMENİN İŞLEME HAZIRLANMASI </a:t>
            </a:r>
            <a:endParaRPr lang="tr-TR" sz="3600" dirty="0" smtClean="0"/>
          </a:p>
          <a:p>
            <a:r>
              <a:rPr lang="tr-TR" b="1" dirty="0" smtClean="0"/>
              <a:t>Kurumadan başlanmalıdır </a:t>
            </a:r>
          </a:p>
          <a:p>
            <a:pPr>
              <a:buNone/>
            </a:pPr>
            <a:r>
              <a:rPr lang="tr-TR" b="1" dirty="0" smtClean="0"/>
              <a:t>			</a:t>
            </a:r>
            <a:r>
              <a:rPr lang="pt-BR" b="1" dirty="0" smtClean="0"/>
              <a:t> Kurumuş kalıntılar için %3 H₂O₂</a:t>
            </a:r>
          </a:p>
          <a:p>
            <a:r>
              <a:rPr lang="tr-TR" b="1" dirty="0" smtClean="0"/>
              <a:t>Aletin üzerindeki yabancı maddeleri uzaklaştır </a:t>
            </a:r>
          </a:p>
          <a:p>
            <a:r>
              <a:rPr lang="tr-TR" b="1" dirty="0" err="1" smtClean="0"/>
              <a:t>Nötral</a:t>
            </a:r>
            <a:r>
              <a:rPr lang="tr-TR" b="1" dirty="0" smtClean="0"/>
              <a:t> ya da </a:t>
            </a:r>
            <a:r>
              <a:rPr lang="tr-TR" b="1" dirty="0" err="1" smtClean="0"/>
              <a:t>enzimatik</a:t>
            </a:r>
            <a:r>
              <a:rPr lang="tr-TR" b="1" dirty="0" smtClean="0"/>
              <a:t> deterjanlar </a:t>
            </a:r>
          </a:p>
          <a:p>
            <a:r>
              <a:rPr lang="tr-TR" b="1" dirty="0" smtClean="0"/>
              <a:t>Sökülebilen tüm parçaları çıkar </a:t>
            </a:r>
          </a:p>
          <a:p>
            <a:r>
              <a:rPr lang="tr-TR" b="1" dirty="0" smtClean="0"/>
              <a:t>Ovalama ve fırçalama titizlikle yapılmalı </a:t>
            </a:r>
          </a:p>
          <a:p>
            <a:r>
              <a:rPr lang="tr-TR" b="1" dirty="0" smtClean="0"/>
              <a:t>Temizlik sürecinde (+dezenfektan etki) için </a:t>
            </a:r>
            <a:r>
              <a:rPr lang="tr-TR" b="1" dirty="0" err="1" smtClean="0"/>
              <a:t>kuarterner</a:t>
            </a:r>
            <a:r>
              <a:rPr lang="tr-TR" b="1" dirty="0" smtClean="0"/>
              <a:t> amonyumlar seçenek olabilir. </a:t>
            </a: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ALETLERİN TEMİZLİĞİ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b="1" dirty="0" err="1" smtClean="0"/>
              <a:t>Manuel</a:t>
            </a:r>
            <a:r>
              <a:rPr lang="tr-TR" b="1" dirty="0" smtClean="0"/>
              <a:t> </a:t>
            </a:r>
          </a:p>
          <a:p>
            <a:pPr>
              <a:buNone/>
            </a:pPr>
            <a:r>
              <a:rPr lang="tr-TR" b="1" dirty="0" smtClean="0"/>
              <a:t>			Tüm yüzeyler, lümenler! 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Otomatik yıkama makineleri </a:t>
            </a:r>
          </a:p>
          <a:p>
            <a:pPr>
              <a:buNone/>
            </a:pPr>
            <a:r>
              <a:rPr lang="tr-TR" b="1" dirty="0" smtClean="0"/>
              <a:t>	  Uygun, </a:t>
            </a:r>
            <a:r>
              <a:rPr lang="tr-TR" b="1" dirty="0" err="1" smtClean="0"/>
              <a:t>konrolleri</a:t>
            </a:r>
            <a:r>
              <a:rPr lang="tr-TR" b="1" dirty="0" smtClean="0"/>
              <a:t> yapılmış  makineler ! </a:t>
            </a:r>
          </a:p>
          <a:p>
            <a:endParaRPr lang="tr-TR" b="1" dirty="0" smtClean="0"/>
          </a:p>
          <a:p>
            <a:r>
              <a:rPr lang="tr-TR" b="1" dirty="0" err="1" smtClean="0"/>
              <a:t>Ultrasonik</a:t>
            </a:r>
            <a:r>
              <a:rPr lang="tr-TR" b="1" dirty="0" smtClean="0"/>
              <a:t> temizleyiciler </a:t>
            </a:r>
          </a:p>
          <a:p>
            <a:endParaRPr lang="tr-TR" b="1" dirty="0" smtClean="0"/>
          </a:p>
          <a:p>
            <a:r>
              <a:rPr lang="tr-TR" b="1" dirty="0" smtClean="0"/>
              <a:t>Sonrasında kuruduktan sonra ileri işlemler...</a:t>
            </a:r>
          </a:p>
          <a:p>
            <a:endParaRPr lang="tr-TR" b="1" dirty="0" smtClean="0"/>
          </a:p>
          <a:p>
            <a:endParaRPr lang="tr-TR" b="1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sv-SE" b="1" dirty="0" smtClean="0">
                <a:solidFill>
                  <a:srgbClr val="FF0000"/>
                </a:solidFill>
              </a:rPr>
              <a:t>YIKAMA SONRASINDA DİKKAT EDİLECEK NOKTALAR! </a:t>
            </a:r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b="1" dirty="0" smtClean="0"/>
              <a:t>Aşındırıcı buhar oluşturabilen kimyasal maddelere yakın yerlere konulmamalıdır. </a:t>
            </a:r>
          </a:p>
          <a:p>
            <a:r>
              <a:rPr lang="es-ES" b="1" dirty="0" smtClean="0"/>
              <a:t>Son durulamada distile su tercih edilmelidir. </a:t>
            </a:r>
          </a:p>
          <a:p>
            <a:r>
              <a:rPr lang="tr-TR" b="1" dirty="0" smtClean="0"/>
              <a:t>Temizlikte aşındırıcı sert ovma maddeleri ve metal fırçalar kullanılmamalıdır. </a:t>
            </a:r>
          </a:p>
          <a:p>
            <a:r>
              <a:rPr lang="tr-TR" b="1" dirty="0" smtClean="0"/>
              <a:t>Durulama sonrası yeterli kurutma sağlanmalıdır. </a:t>
            </a:r>
          </a:p>
          <a:p>
            <a:r>
              <a:rPr lang="tr-TR" b="1" dirty="0" smtClean="0"/>
              <a:t>Eklemli, menteşeli aletlere parafin bazlı bakım ürünleri uygulanmalıdır. </a:t>
            </a:r>
          </a:p>
          <a:p>
            <a:r>
              <a:rPr lang="tr-TR" b="1" dirty="0" smtClean="0"/>
              <a:t>Aletler kuru şekilde saklanmalıdır </a:t>
            </a:r>
          </a:p>
          <a:p>
            <a:r>
              <a:rPr lang="tr-TR" b="1" dirty="0" smtClean="0"/>
              <a:t>İleri aşamalara geçmeden aletlerin kontrol ve bakımı yapılmalıdır </a:t>
            </a:r>
          </a:p>
          <a:p>
            <a:pPr>
              <a:buNone/>
            </a:pPr>
            <a:endParaRPr lang="tr-TR" b="1" dirty="0" smtClean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>
                <a:solidFill>
                  <a:srgbClr val="FF0000"/>
                </a:solidFill>
              </a:rPr>
              <a:t>ISLAK/NEMLİ OLARAK ÇIKAN MALZEMELER STERİL OLARAK KABUL EDİLMEZ VE KULLANILAMAZ!.</a:t>
            </a:r>
            <a:endParaRPr lang="tr-TR" sz="28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b="1" dirty="0" smtClean="0"/>
              <a:t>Bohça </a:t>
            </a:r>
            <a:r>
              <a:rPr lang="tr-TR" b="1" dirty="0" err="1" smtClean="0"/>
              <a:t>ebatının</a:t>
            </a:r>
            <a:r>
              <a:rPr lang="tr-TR" b="1" dirty="0" smtClean="0"/>
              <a:t> büyük olması </a:t>
            </a:r>
          </a:p>
          <a:p>
            <a:r>
              <a:rPr lang="tr-TR" b="1" dirty="0" smtClean="0"/>
              <a:t>Sık yerleştirme </a:t>
            </a:r>
          </a:p>
          <a:p>
            <a:r>
              <a:rPr lang="tr-TR" b="1" dirty="0" smtClean="0"/>
              <a:t>Metal malzemenin yoğun olması </a:t>
            </a:r>
          </a:p>
          <a:p>
            <a:r>
              <a:rPr lang="tr-TR" b="1" dirty="0" smtClean="0"/>
              <a:t>Malzemelerin tam kurumadan paketlenmesi </a:t>
            </a:r>
          </a:p>
          <a:p>
            <a:r>
              <a:rPr lang="tr-TR" b="1" dirty="0" smtClean="0"/>
              <a:t>Malzemelerin yeterince soğumadan çıkarılması </a:t>
            </a:r>
          </a:p>
          <a:p>
            <a:r>
              <a:rPr lang="tr-TR" b="1" dirty="0" smtClean="0"/>
              <a:t>Buhar kalitesinin düşük olması, yetersiz buhar miktarı </a:t>
            </a:r>
          </a:p>
          <a:p>
            <a:r>
              <a:rPr lang="tr-TR" b="1" dirty="0" smtClean="0"/>
              <a:t>Cihaz sorunları: drenaj vanası arızası, filtre tıkanıklığı, buhar ceketinde su bulunması, kurutma sistemi arızaları, düşük su basıncı .. 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332656"/>
            <a:ext cx="8640960" cy="626469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    </a:t>
            </a:r>
            <a:r>
              <a:rPr lang="tr-TR" sz="4300" b="1" dirty="0" smtClean="0">
                <a:solidFill>
                  <a:srgbClr val="FF0000"/>
                </a:solidFill>
              </a:rPr>
              <a:t>SON SÖZ OLARAK</a:t>
            </a:r>
            <a:endParaRPr lang="tr-TR" sz="4300" b="1" dirty="0" smtClean="0"/>
          </a:p>
          <a:p>
            <a:r>
              <a:rPr lang="tr-TR" b="1" dirty="0" smtClean="0"/>
              <a:t>Steril olması gereken tüm aletler için mümkünse buharlı otoklav </a:t>
            </a:r>
          </a:p>
          <a:p>
            <a:r>
              <a:rPr lang="tr-TR" b="1" dirty="0" smtClean="0"/>
              <a:t>Isıya duyarlı ise etilen oksit veya hidrojen peroksit gaz </a:t>
            </a:r>
            <a:r>
              <a:rPr lang="tr-TR" b="1" dirty="0" err="1" smtClean="0"/>
              <a:t>Plasma</a:t>
            </a:r>
            <a:r>
              <a:rPr lang="tr-TR" b="1" dirty="0" smtClean="0"/>
              <a:t> </a:t>
            </a:r>
          </a:p>
          <a:p>
            <a:r>
              <a:rPr lang="tr-TR" b="1" dirty="0" smtClean="0"/>
              <a:t>Diğer metotlar uygun değilse sıvı kimyasal sterilizasyon </a:t>
            </a:r>
          </a:p>
          <a:p>
            <a:pPr>
              <a:buNone/>
            </a:pPr>
            <a:r>
              <a:rPr lang="tr-TR" b="1" dirty="0" smtClean="0"/>
              <a:t>		–Temizlik,konsantrasyon,süre, ısı, </a:t>
            </a:r>
            <a:r>
              <a:rPr lang="tr-TR" b="1" dirty="0" err="1" smtClean="0"/>
              <a:t>ph</a:t>
            </a:r>
            <a:r>
              <a:rPr lang="tr-TR" b="1" dirty="0" smtClean="0"/>
              <a:t> </a:t>
            </a:r>
            <a:r>
              <a:rPr lang="tr-TR" sz="2600" b="1" dirty="0" smtClean="0"/>
              <a:t>belirleyicidir </a:t>
            </a:r>
          </a:p>
          <a:p>
            <a:endParaRPr lang="tr-TR" b="1" dirty="0" smtClean="0"/>
          </a:p>
          <a:p>
            <a:pPr>
              <a:buNone/>
            </a:pPr>
            <a:r>
              <a:rPr lang="tr-TR" b="1" dirty="0" smtClean="0"/>
              <a:t>	</a:t>
            </a:r>
            <a:r>
              <a:rPr lang="tr-TR" b="1" dirty="0" smtClean="0">
                <a:solidFill>
                  <a:srgbClr val="7030A0"/>
                </a:solidFill>
              </a:rPr>
              <a:t>	YÖNTEM VE MALZEME SEÇİMİNDE </a:t>
            </a:r>
          </a:p>
          <a:p>
            <a:r>
              <a:rPr lang="tr-TR" b="1" dirty="0" smtClean="0"/>
              <a:t>–Materyal uyumu, uygulama kolaylığı, zaman-</a:t>
            </a:r>
            <a:r>
              <a:rPr lang="tr-TR" b="1" dirty="0" err="1" smtClean="0"/>
              <a:t>fiat</a:t>
            </a:r>
            <a:r>
              <a:rPr lang="tr-TR" b="1" dirty="0" smtClean="0"/>
              <a:t> analizi, </a:t>
            </a:r>
            <a:r>
              <a:rPr lang="tr-TR" b="1" dirty="0" err="1" smtClean="0"/>
              <a:t>toksisitesi</a:t>
            </a:r>
            <a:r>
              <a:rPr lang="tr-TR" b="1" dirty="0" smtClean="0"/>
              <a:t> önemli belirleyicilerdir</a:t>
            </a:r>
          </a:p>
          <a:p>
            <a:endParaRPr lang="tr-TR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7030A0"/>
                </a:solidFill>
              </a:rPr>
              <a:t> </a:t>
            </a:r>
            <a:r>
              <a:rPr lang="tr-TR" sz="4000" b="1" dirty="0" smtClean="0">
                <a:solidFill>
                  <a:srgbClr val="7030A0"/>
                </a:solidFill>
              </a:rPr>
              <a:t>UHT  YÖNTEMİ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135-150 </a:t>
            </a:r>
            <a:r>
              <a:rPr lang="tr-TR" sz="2800" b="1" dirty="0" smtClean="0">
                <a:solidFill>
                  <a:srgbClr val="0070C0"/>
                </a:solidFill>
              </a:rPr>
              <a:t>°C </a:t>
            </a:r>
            <a:r>
              <a:rPr lang="tr-TR" sz="2800" b="1" dirty="0" smtClean="0"/>
              <a:t>de 1-4 sn ısıtılır ve hemen vakumlu soğutma kazanlarına püskürtülür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Önce 75</a:t>
            </a:r>
            <a:r>
              <a:rPr lang="tr-TR" sz="2800" b="1" dirty="0" smtClean="0">
                <a:solidFill>
                  <a:srgbClr val="0070C0"/>
                </a:solidFill>
              </a:rPr>
              <a:t> °C</a:t>
            </a:r>
            <a:r>
              <a:rPr lang="tr-TR" sz="2800" b="1" dirty="0" smtClean="0"/>
              <a:t> ye getirilen süt süratle 22 </a:t>
            </a:r>
            <a:r>
              <a:rPr lang="tr-TR" sz="2800" b="1" dirty="0" smtClean="0">
                <a:solidFill>
                  <a:srgbClr val="0070C0"/>
                </a:solidFill>
              </a:rPr>
              <a:t>°C </a:t>
            </a:r>
            <a:r>
              <a:rPr lang="tr-TR" sz="2800" b="1" dirty="0" smtClean="0"/>
              <a:t>ye soğutulur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Aseptik şartlarda steril kaplara konur</a:t>
            </a:r>
            <a:endParaRPr lang="tr-T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5247</TotalTime>
  <Words>2597</Words>
  <Application>Microsoft Office PowerPoint</Application>
  <PresentationFormat>Ekran Gösterisi (4:3)</PresentationFormat>
  <Paragraphs>798</Paragraphs>
  <Slides>119</Slides>
  <Notes>6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Katıştırılmış OLE Hizmet Programları</vt:lpstr>
      </vt:variant>
      <vt:variant>
        <vt:i4>1</vt:i4>
      </vt:variant>
      <vt:variant>
        <vt:lpstr>Slayt Başlıkları</vt:lpstr>
      </vt:variant>
      <vt:variant>
        <vt:i4>119</vt:i4>
      </vt:variant>
    </vt:vector>
  </HeadingPairs>
  <TitlesOfParts>
    <vt:vector size="121" baseType="lpstr">
      <vt:lpstr>Ofis Teması</vt:lpstr>
      <vt:lpstr>Bit Eşlem Resmi</vt:lpstr>
      <vt:lpstr> STERİLİZASYON NEDİR? </vt:lpstr>
      <vt:lpstr>STERİLİZASYON DEYİNCE NE ANLAMAMIZ GEREKİYOR?</vt:lpstr>
      <vt:lpstr>Slayt 3</vt:lpstr>
      <vt:lpstr>STERİLİTE GÜVENCE DÜZEYİ: (SGD)</vt:lpstr>
      <vt:lpstr>DEZENFEKSİYON  NEDİR?</vt:lpstr>
      <vt:lpstr>Slayt 6</vt:lpstr>
      <vt:lpstr>Slayt 7</vt:lpstr>
      <vt:lpstr>Slayt 8</vt:lpstr>
      <vt:lpstr>ANTİSEPSİ  NEDİR?</vt:lpstr>
      <vt:lpstr>ANTİSEPSİ NASIL YAPILIR?</vt:lpstr>
      <vt:lpstr>ASEPSİ NEDİR?</vt:lpstr>
      <vt:lpstr>Slayt 12</vt:lpstr>
      <vt:lpstr>Bakteri: Tek hücreli prokaryotik mikroorganizmalardır</vt:lpstr>
      <vt:lpstr>Slayt 14</vt:lpstr>
      <vt:lpstr>Slayt 15</vt:lpstr>
      <vt:lpstr>TEST BANTLARI</vt:lpstr>
      <vt:lpstr>Slayt 17</vt:lpstr>
      <vt:lpstr>Slayt 18</vt:lpstr>
      <vt:lpstr>ANTİSEPSİ  NEDİR? TEKRAR EDELİM</vt:lpstr>
      <vt:lpstr>Slayt 20</vt:lpstr>
      <vt:lpstr>Slayt 21</vt:lpstr>
      <vt:lpstr>ANTİSEPTİK   MADDE</vt:lpstr>
      <vt:lpstr>  İDEAL BİR ANTİSEPTİKTE OLMASI GEREKLİ ÖZELLİKLER  </vt:lpstr>
      <vt:lpstr>DEZENFEKTAN</vt:lpstr>
      <vt:lpstr>ASEPSİ NEDİR?</vt:lpstr>
      <vt:lpstr>Slayt 26</vt:lpstr>
      <vt:lpstr> CERRAHİ ASEPSİ İLKELERİ  Cerrahi asepside şu ilkelere uyulmalıdır</vt:lpstr>
      <vt:lpstr>CERRAHİ ASEPSİ İLKELERİ</vt:lpstr>
      <vt:lpstr>  </vt:lpstr>
      <vt:lpstr>BAKTERİSİDAL  VEYA BAKTERİSİT NEDİR?</vt:lpstr>
      <vt:lpstr>Slayt 31</vt:lpstr>
      <vt:lpstr>Slayt 32</vt:lpstr>
      <vt:lpstr>TEMİZLİK İLKELERİ…!!!!...</vt:lpstr>
      <vt:lpstr>TEMİZLİK İLKELERİ…!!!!...</vt:lpstr>
      <vt:lpstr>Slayt 35</vt:lpstr>
      <vt:lpstr>Slayt 36</vt:lpstr>
      <vt:lpstr> KRİTİK ALETLER</vt:lpstr>
      <vt:lpstr>Slayt 38</vt:lpstr>
      <vt:lpstr>Slayt 39</vt:lpstr>
      <vt:lpstr>Slayt 40</vt:lpstr>
      <vt:lpstr>ENDOSKOPLAR </vt:lpstr>
      <vt:lpstr> LAPAROSKOP-ARTROSKOP-SİSTOSKOP STERİLİZASYON MU? YÜKSEK DÜZEY DEZENFEKSİYON MU?  </vt:lpstr>
      <vt:lpstr>ENDOSKOP DEZENFEKSİYONU AŞAMALARI</vt:lpstr>
      <vt:lpstr>Slayt 44</vt:lpstr>
      <vt:lpstr>ENDOSKOP DEZENFEKSİYONU </vt:lpstr>
      <vt:lpstr>ENDOSKOP DEZENFEKSİYONU </vt:lpstr>
      <vt:lpstr>PROPLAR İÇİN KULLANILAN</vt:lpstr>
      <vt:lpstr>Slayt 48</vt:lpstr>
      <vt:lpstr>Slayt 49</vt:lpstr>
      <vt:lpstr>Slayt 50</vt:lpstr>
      <vt:lpstr>PASTÖR FIRINI NEDİR</vt:lpstr>
      <vt:lpstr>Slayt 52</vt:lpstr>
      <vt:lpstr>Slayt 53</vt:lpstr>
      <vt:lpstr>Slayt 54</vt:lpstr>
      <vt:lpstr>KAYNATMA</vt:lpstr>
      <vt:lpstr> TİNDALİZASYON </vt:lpstr>
      <vt:lpstr>TİNDALİZASYON 1 gece bekleme basamakları nedeni</vt:lpstr>
      <vt:lpstr>Slayt 58</vt:lpstr>
      <vt:lpstr>Slayt 59</vt:lpstr>
      <vt:lpstr>Slayt 60</vt:lpstr>
      <vt:lpstr>Slayt 61</vt:lpstr>
      <vt:lpstr>Slayt 62</vt:lpstr>
      <vt:lpstr>Slayt 63</vt:lpstr>
      <vt:lpstr>Slayt 64</vt:lpstr>
      <vt:lpstr>Slayt 65</vt:lpstr>
      <vt:lpstr>STERİLİZASYON  YÖNTEMLERİ</vt:lpstr>
      <vt:lpstr>STERİLİZASYON  YÖNTEMLERİ</vt:lpstr>
      <vt:lpstr>HANGİ KİMYASAL  GAZLAR? GÜNÜMÜZDE EN ÇOK KULLANILANLAR</vt:lpstr>
      <vt:lpstr>Slayt 69</vt:lpstr>
      <vt:lpstr>Slayt 70</vt:lpstr>
      <vt:lpstr>Etilen oksit (EO)  AVANTAJLARI</vt:lpstr>
      <vt:lpstr>Etilen oksit (EO) DEZAVANTAJI</vt:lpstr>
      <vt:lpstr>Slayt 73</vt:lpstr>
      <vt:lpstr> HİDROJEN PEROKSİT </vt:lpstr>
      <vt:lpstr>Slayt 75</vt:lpstr>
      <vt:lpstr>HİDROJEN PEROKSİT (H₂O₂)</vt:lpstr>
      <vt:lpstr>Slayt 77</vt:lpstr>
      <vt:lpstr>HİDROJEN PEROKSİT GAZ FORMUNU HANGİ (H₂O₂)   SEKTÖRLER KULLANIR?</vt:lpstr>
      <vt:lpstr>Slayt 79</vt:lpstr>
      <vt:lpstr>Slayt 80</vt:lpstr>
      <vt:lpstr>Slayt 81</vt:lpstr>
      <vt:lpstr>HİDROJEN PEROKSİT GAZ PLAZMA STERİLİZASYON CİHAZININ ÖZELLİKLERİ</vt:lpstr>
      <vt:lpstr>HİDROJEN PEROKSİT GAZ PLAZMA STERİLİZASYON CİHAZININ ÖZELLİKLERİ</vt:lpstr>
      <vt:lpstr>Slayt 84</vt:lpstr>
      <vt:lpstr>HİDROJEN PEROKSİT GAZ PLAZMA YÖNTEMİ DEZAVANTAJLARI</vt:lpstr>
      <vt:lpstr> </vt:lpstr>
      <vt:lpstr> STERİLİZASYONDA DEVRİM   DEĞİŞİM BAŞLADI </vt:lpstr>
      <vt:lpstr>HİDROJEN PEROKSİT (H₂O₂ )+OZON (O₃) STERİLİZATÖR</vt:lpstr>
      <vt:lpstr>HİDROJEN PEROKSİT (H₂O₂ )+OZON (O₃) STERİLİZATÖR</vt:lpstr>
      <vt:lpstr>Slayt 90</vt:lpstr>
      <vt:lpstr>STERİLİZASYON  YÖNTEMLERİ</vt:lpstr>
      <vt:lpstr>HANGİ KİMYASAL SIVILAR? GÜNÜMÜZDE EN ÇOK KULLANILANLAR</vt:lpstr>
      <vt:lpstr>Slayt 93</vt:lpstr>
      <vt:lpstr> SPORİSİT AKTİVİTESİ OLAN KİMYASAL ÇÖZELTİLER  </vt:lpstr>
      <vt:lpstr>KİMYASAL SIVILAR</vt:lpstr>
      <vt:lpstr>GLUTARALDEHİT</vt:lpstr>
      <vt:lpstr>GLUTARALDEHİT</vt:lpstr>
      <vt:lpstr>ORTO-FİTALALDEHİT (OPA)</vt:lpstr>
      <vt:lpstr>ORTO-FİTALALDEHİT (OPA) insana zararları</vt:lpstr>
      <vt:lpstr>HİDROJEN PEROKSİT  H₂O₂</vt:lpstr>
      <vt:lpstr>HİDROJEN PEROKSİT insana zararları</vt:lpstr>
      <vt:lpstr>Formaldehit (CH₂O)</vt:lpstr>
      <vt:lpstr>Formaldehit (CH₂O) önemli  !!!!</vt:lpstr>
      <vt:lpstr>       STERİLİZASYON  YÖNTEMLERİ</vt:lpstr>
      <vt:lpstr>RADYASYON (IŞINLAMA) İLE STERİLİZASYON</vt:lpstr>
      <vt:lpstr>Slayt 106</vt:lpstr>
      <vt:lpstr>UV IŞINLARI (MOR ÖTESİ IŞINLAR)</vt:lpstr>
      <vt:lpstr>UV IŞINLARI (MOR ÖTESİ IŞINLAR)</vt:lpstr>
      <vt:lpstr>Slayt 109</vt:lpstr>
      <vt:lpstr>UV IŞINLARI (MOR ÖTESİ IŞINLAR)</vt:lpstr>
      <vt:lpstr>X VE GAMMA IŞINLARI</vt:lpstr>
      <vt:lpstr>Slayt 112</vt:lpstr>
      <vt:lpstr>Slayt 113</vt:lpstr>
      <vt:lpstr>Slayt 114</vt:lpstr>
      <vt:lpstr>ALETLERİN TEMİZLİĞİ</vt:lpstr>
      <vt:lpstr> YIKAMA SONRASINDA DİKKAT EDİLECEK NOKTALAR!  </vt:lpstr>
      <vt:lpstr>ISLAK/NEMLİ OLARAK ÇIKAN MALZEMELER STERİL OLARAK KABUL EDİLMEZ VE KULLANILAMAZ!.</vt:lpstr>
      <vt:lpstr>  </vt:lpstr>
      <vt:lpstr> UHT  YÖNTEMİ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Pc</dc:creator>
  <cp:lastModifiedBy>tijen</cp:lastModifiedBy>
  <cp:revision>724</cp:revision>
  <dcterms:created xsi:type="dcterms:W3CDTF">2014-09-23T06:31:05Z</dcterms:created>
  <dcterms:modified xsi:type="dcterms:W3CDTF">2026-08-20T15:45:35Z</dcterms:modified>
</cp:coreProperties>
</file>