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wmf" ContentType="image/x-w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gif" ContentType="image/gif"/>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notesSlides/notesSlide1.xml" ContentType="application/vnd.openxmlformats-officedocument.presentationml.notesSlide+xml"/>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95" r:id="rId3"/>
    <p:sldId id="294" r:id="rId4"/>
    <p:sldId id="314" r:id="rId5"/>
    <p:sldId id="315" r:id="rId6"/>
    <p:sldId id="316" r:id="rId7"/>
    <p:sldId id="317" r:id="rId8"/>
    <p:sldId id="318" r:id="rId9"/>
    <p:sldId id="320" r:id="rId10"/>
    <p:sldId id="323" r:id="rId11"/>
    <p:sldId id="321" r:id="rId12"/>
    <p:sldId id="266" r:id="rId13"/>
    <p:sldId id="322" r:id="rId14"/>
    <p:sldId id="297" r:id="rId15"/>
    <p:sldId id="298" r:id="rId16"/>
    <p:sldId id="299" r:id="rId17"/>
    <p:sldId id="300" r:id="rId18"/>
    <p:sldId id="301" r:id="rId19"/>
    <p:sldId id="302" r:id="rId20"/>
    <p:sldId id="303" r:id="rId21"/>
    <p:sldId id="304" r:id="rId22"/>
    <p:sldId id="305" r:id="rId23"/>
    <p:sldId id="306" r:id="rId24"/>
    <p:sldId id="307" r:id="rId25"/>
    <p:sldId id="308" r:id="rId26"/>
    <p:sldId id="309" r:id="rId27"/>
    <p:sldId id="310" r:id="rId28"/>
    <p:sldId id="311" r:id="rId29"/>
    <p:sldId id="312" r:id="rId30"/>
    <p:sldId id="313" r:id="rId31"/>
    <p:sldId id="324" r:id="rId32"/>
  </p:sldIdLst>
  <p:sldSz cx="9144000" cy="6858000" type="screen4x3"/>
  <p:notesSz cx="6858000" cy="9144000"/>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8" d="100"/>
          <a:sy n="68" d="100"/>
        </p:scale>
        <p:origin x="-1446" y="-96"/>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Üstbilgi Yer Tutucusu"/>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tr-TR"/>
          </a:p>
        </p:txBody>
      </p:sp>
      <p:sp>
        <p:nvSpPr>
          <p:cNvPr id="3" name="2 Veri Yer Tutucusu"/>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715E2F3D-44A9-46ED-BF47-4E1F64BC571F}" type="datetimeFigureOut">
              <a:rPr lang="tr-TR" smtClean="0"/>
              <a:pPr/>
              <a:t>20.08.2026</a:t>
            </a:fld>
            <a:endParaRPr lang="tr-TR"/>
          </a:p>
        </p:txBody>
      </p:sp>
      <p:sp>
        <p:nvSpPr>
          <p:cNvPr id="4" name="3 Slayt Görüntüsü Yer Tutucusu"/>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tr-TR"/>
          </a:p>
        </p:txBody>
      </p:sp>
      <p:sp>
        <p:nvSpPr>
          <p:cNvPr id="5" name="4 Not Yer Tutucusu"/>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6" name="5 Altbilgi Yer Tutucusu"/>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tr-TR"/>
          </a:p>
        </p:txBody>
      </p:sp>
      <p:sp>
        <p:nvSpPr>
          <p:cNvPr id="7" name="6 Slayt Numarası Yer Tutucusu"/>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7CF33A3-DF37-4716-A250-57FAC4A74E28}" type="slidenum">
              <a:rPr lang="tr-TR" smtClean="0"/>
              <a:pPr/>
              <a:t>‹#›</a:t>
            </a:fld>
            <a:endParaRPr lang="tr-T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1 Slayt Görüntüsü Yer Tutucusu"/>
          <p:cNvSpPr>
            <a:spLocks noGrp="1" noRot="1" noChangeAspect="1" noTextEdit="1"/>
          </p:cNvSpPr>
          <p:nvPr>
            <p:ph type="sldImg"/>
          </p:nvPr>
        </p:nvSpPr>
        <p:spPr bwMode="auto">
          <a:noFill/>
          <a:ln>
            <a:solidFill>
              <a:srgbClr val="000000"/>
            </a:solidFill>
            <a:miter lim="800000"/>
            <a:headEnd/>
            <a:tailEnd/>
          </a:ln>
          <a:extLst>
            <a:ext uri="{909E8E84-426E-40DD-AFC4-6F175D3DCCD1}">
              <a14:hiddenFill xmlns="" xmlns:a14="http://schemas.microsoft.com/office/drawing/2010/main">
                <a:solidFill>
                  <a:srgbClr val="FFFFFF"/>
                </a:solidFill>
              </a14:hiddenFill>
            </a:ext>
          </a:extLst>
        </p:spPr>
      </p:sp>
      <p:sp>
        <p:nvSpPr>
          <p:cNvPr id="24579" name="2 Not Yer Tutucusu"/>
          <p:cNvSpPr>
            <a:spLocks noGrp="1"/>
          </p:cNvSpPr>
          <p:nvPr>
            <p:ph type="body" idx="1"/>
          </p:nvPr>
        </p:nvSpPr>
        <p:spPr bwMode="auto">
          <a:noFill/>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square" numCol="1" anchor="t" anchorCtr="0" compatLnSpc="1">
            <a:prstTxWarp prst="textNoShape">
              <a:avLst/>
            </a:prstTxWarp>
          </a:bodyPr>
          <a:lstStyle/>
          <a:p>
            <a:endParaRPr lang="tr-TR" smtClean="0"/>
          </a:p>
        </p:txBody>
      </p:sp>
      <p:sp>
        <p:nvSpPr>
          <p:cNvPr id="4" name="3 Altbilgi Yer Tutucusu"/>
          <p:cNvSpPr>
            <a:spLocks noGrp="1"/>
          </p:cNvSpPr>
          <p:nvPr>
            <p:ph type="ftr" sz="quarter" idx="4"/>
          </p:nvPr>
        </p:nvSpPr>
        <p:spPr/>
        <p:txBody>
          <a:bodyPr/>
          <a:lstStyle/>
          <a:p>
            <a:pPr>
              <a:defRPr/>
            </a:pPr>
            <a:r>
              <a:rPr lang="tr-TR" smtClean="0"/>
              <a:t>sssssssss</a:t>
            </a:r>
            <a:endParaRPr lang="tr-TR"/>
          </a:p>
        </p:txBody>
      </p:sp>
      <p:sp>
        <p:nvSpPr>
          <p:cNvPr id="5" name="4 Slayt Numarası Yer Tutucusu"/>
          <p:cNvSpPr>
            <a:spLocks noGrp="1"/>
          </p:cNvSpPr>
          <p:nvPr>
            <p:ph type="sldNum" sz="quarter" idx="5"/>
          </p:nvPr>
        </p:nvSpPr>
        <p:spPr/>
        <p:txBody>
          <a:bodyPr/>
          <a:lstStyle/>
          <a:p>
            <a:pPr>
              <a:defRPr/>
            </a:pPr>
            <a:fld id="{F21B4BD9-5436-45CB-A4EA-56463CC70D46}" type="slidenum">
              <a:rPr lang="tr-TR" smtClean="0"/>
              <a:pPr>
                <a:defRPr/>
              </a:pPr>
              <a:t>18</a:t>
            </a:fld>
            <a:endParaRPr lang="tr-T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Başlık Slaydı">
    <p:spTree>
      <p:nvGrpSpPr>
        <p:cNvPr id="1" name=""/>
        <p:cNvGrpSpPr/>
        <p:nvPr/>
      </p:nvGrpSpPr>
      <p:grpSpPr>
        <a:xfrm>
          <a:off x="0" y="0"/>
          <a:ext cx="0" cy="0"/>
          <a:chOff x="0" y="0"/>
          <a:chExt cx="0" cy="0"/>
        </a:xfrm>
      </p:grpSpPr>
      <p:sp>
        <p:nvSpPr>
          <p:cNvPr id="2" name="1 Başlık"/>
          <p:cNvSpPr>
            <a:spLocks noGrp="1"/>
          </p:cNvSpPr>
          <p:nvPr>
            <p:ph type="ctrTitle"/>
          </p:nvPr>
        </p:nvSpPr>
        <p:spPr>
          <a:xfrm>
            <a:off x="685800" y="2130425"/>
            <a:ext cx="7772400" cy="1470025"/>
          </a:xfrm>
        </p:spPr>
        <p:txBody>
          <a:bodyPr/>
          <a:lstStyle/>
          <a:p>
            <a:r>
              <a:rPr lang="tr-TR" smtClean="0"/>
              <a:t>Asıl başlık stili için tıklatın</a:t>
            </a:r>
            <a:endParaRPr lang="tr-TR"/>
          </a:p>
        </p:txBody>
      </p:sp>
      <p:sp>
        <p:nvSpPr>
          <p:cNvPr id="3" name="2 Alt Başlık"/>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smtClean="0"/>
              <a:t>Asıl alt başlık stilini düzenlemek için tıklatın</a:t>
            </a:r>
            <a:endParaRPr lang="tr-TR"/>
          </a:p>
        </p:txBody>
      </p:sp>
      <p:sp>
        <p:nvSpPr>
          <p:cNvPr id="4" name="3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idx="1"/>
          </p:nvPr>
        </p:nvSpPr>
        <p:spPr/>
        <p:txBody>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bilgisi">
    <p:spTree>
      <p:nvGrpSpPr>
        <p:cNvPr id="1" name=""/>
        <p:cNvGrpSpPr/>
        <p:nvPr/>
      </p:nvGrpSpPr>
      <p:grpSpPr>
        <a:xfrm>
          <a:off x="0" y="0"/>
          <a:ext cx="0" cy="0"/>
          <a:chOff x="0" y="0"/>
          <a:chExt cx="0" cy="0"/>
        </a:xfrm>
      </p:grpSpPr>
      <p:sp>
        <p:nvSpPr>
          <p:cNvPr id="2" name="1 Başlık"/>
          <p:cNvSpPr>
            <a:spLocks noGrp="1"/>
          </p:cNvSpPr>
          <p:nvPr>
            <p:ph type="title"/>
          </p:nvPr>
        </p:nvSpPr>
        <p:spPr>
          <a:xfrm>
            <a:off x="722313" y="4406900"/>
            <a:ext cx="7772400" cy="1362075"/>
          </a:xfrm>
        </p:spPr>
        <p:txBody>
          <a:bodyPr anchor="t"/>
          <a:lstStyle>
            <a:lvl1pPr algn="l">
              <a:defRPr sz="4000" b="1" cap="all"/>
            </a:lvl1pPr>
          </a:lstStyle>
          <a:p>
            <a:r>
              <a:rPr lang="tr-TR" smtClean="0"/>
              <a:t>Asıl başlık stili için tıklatın</a:t>
            </a:r>
            <a:endParaRPr lang="tr-TR"/>
          </a:p>
        </p:txBody>
      </p:sp>
      <p:sp>
        <p:nvSpPr>
          <p:cNvPr id="3" name="2 Metin Yer Tutucusu"/>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smtClean="0"/>
              <a:t>Asıl metin stillerini düzenlemek için tıklatın</a:t>
            </a:r>
          </a:p>
        </p:txBody>
      </p:sp>
      <p:sp>
        <p:nvSpPr>
          <p:cNvPr id="4" name="3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İçerik Yer Tutucusu"/>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İçerik Yer Tutucusu"/>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lvl1pPr>
              <a:defRPr/>
            </a:lvl1pPr>
          </a:lstStyle>
          <a:p>
            <a:r>
              <a:rPr lang="tr-TR" smtClean="0"/>
              <a:t>Asıl başlık stili için tıklatın</a:t>
            </a:r>
            <a:endParaRPr lang="tr-TR"/>
          </a:p>
        </p:txBody>
      </p:sp>
      <p:sp>
        <p:nvSpPr>
          <p:cNvPr id="3" name="2 Metin Yer Tutucusu"/>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4" name="3 İçerik Yer Tutucusu"/>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5" name="4 Metin Yer Tutucusu"/>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smtClean="0"/>
              <a:t>Asıl metin stillerini düzenlemek için tıklatın</a:t>
            </a:r>
          </a:p>
        </p:txBody>
      </p:sp>
      <p:sp>
        <p:nvSpPr>
          <p:cNvPr id="6" name="5 İçerik Yer Tutucusu"/>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7" name="6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8" name="7 Altbilgi Yer Tutucusu"/>
          <p:cNvSpPr>
            <a:spLocks noGrp="1"/>
          </p:cNvSpPr>
          <p:nvPr>
            <p:ph type="ftr" sz="quarter" idx="11"/>
          </p:nvPr>
        </p:nvSpPr>
        <p:spPr/>
        <p:txBody>
          <a:bodyPr/>
          <a:lstStyle/>
          <a:p>
            <a:endParaRPr lang="tr-TR"/>
          </a:p>
        </p:txBody>
      </p:sp>
      <p:sp>
        <p:nvSpPr>
          <p:cNvPr id="9" name="8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4" name="3 Altbilgi Yer Tutucusu"/>
          <p:cNvSpPr>
            <a:spLocks noGrp="1"/>
          </p:cNvSpPr>
          <p:nvPr>
            <p:ph type="ftr" sz="quarter" idx="11"/>
          </p:nvPr>
        </p:nvSpPr>
        <p:spPr/>
        <p:txBody>
          <a:bodyPr/>
          <a:lstStyle/>
          <a:p>
            <a:endParaRPr lang="tr-TR"/>
          </a:p>
        </p:txBody>
      </p:sp>
      <p:sp>
        <p:nvSpPr>
          <p:cNvPr id="5" name="4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1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3" name="2 Altbilgi Yer Tutucusu"/>
          <p:cNvSpPr>
            <a:spLocks noGrp="1"/>
          </p:cNvSpPr>
          <p:nvPr>
            <p:ph type="ftr" sz="quarter" idx="11"/>
          </p:nvPr>
        </p:nvSpPr>
        <p:spPr/>
        <p:txBody>
          <a:bodyPr/>
          <a:lstStyle/>
          <a:p>
            <a:endParaRPr lang="tr-TR"/>
          </a:p>
        </p:txBody>
      </p:sp>
      <p:sp>
        <p:nvSpPr>
          <p:cNvPr id="4" name="3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1 Başlık"/>
          <p:cNvSpPr>
            <a:spLocks noGrp="1"/>
          </p:cNvSpPr>
          <p:nvPr>
            <p:ph type="title"/>
          </p:nvPr>
        </p:nvSpPr>
        <p:spPr>
          <a:xfrm>
            <a:off x="457200" y="273050"/>
            <a:ext cx="3008313" cy="1162050"/>
          </a:xfrm>
        </p:spPr>
        <p:txBody>
          <a:bodyPr anchor="b"/>
          <a:lstStyle>
            <a:lvl1pPr algn="l">
              <a:defRPr sz="2000" b="1"/>
            </a:lvl1pPr>
          </a:lstStyle>
          <a:p>
            <a:r>
              <a:rPr lang="tr-TR" smtClean="0"/>
              <a:t>Asıl başlık stili için tıklatın</a:t>
            </a:r>
            <a:endParaRPr lang="tr-TR"/>
          </a:p>
        </p:txBody>
      </p:sp>
      <p:sp>
        <p:nvSpPr>
          <p:cNvPr id="3" name="2 İçerik Yer Tutucusu"/>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Metin Yer Tutucusu"/>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1 Başlık"/>
          <p:cNvSpPr>
            <a:spLocks noGrp="1"/>
          </p:cNvSpPr>
          <p:nvPr>
            <p:ph type="title"/>
          </p:nvPr>
        </p:nvSpPr>
        <p:spPr>
          <a:xfrm>
            <a:off x="1792288" y="4800600"/>
            <a:ext cx="5486400" cy="566738"/>
          </a:xfrm>
        </p:spPr>
        <p:txBody>
          <a:bodyPr anchor="b"/>
          <a:lstStyle>
            <a:lvl1pPr algn="l">
              <a:defRPr sz="2000" b="1"/>
            </a:lvl1pPr>
          </a:lstStyle>
          <a:p>
            <a:r>
              <a:rPr lang="tr-TR" smtClean="0"/>
              <a:t>Asıl başlık stili için tıklatın</a:t>
            </a:r>
            <a:endParaRPr lang="tr-TR"/>
          </a:p>
        </p:txBody>
      </p:sp>
      <p:sp>
        <p:nvSpPr>
          <p:cNvPr id="3" name="2 Resim Yer Tutucusu"/>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tr-TR"/>
          </a:p>
        </p:txBody>
      </p:sp>
      <p:sp>
        <p:nvSpPr>
          <p:cNvPr id="4" name="3 Metin Yer Tutucusu"/>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smtClean="0"/>
              <a:t>Asıl metin stillerini düzenlemek için tıklatın</a:t>
            </a:r>
          </a:p>
        </p:txBody>
      </p:sp>
      <p:sp>
        <p:nvSpPr>
          <p:cNvPr id="5" name="4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6" name="5 Altbilgi Yer Tutucusu"/>
          <p:cNvSpPr>
            <a:spLocks noGrp="1"/>
          </p:cNvSpPr>
          <p:nvPr>
            <p:ph type="ftr" sz="quarter" idx="11"/>
          </p:nvPr>
        </p:nvSpPr>
        <p:spPr/>
        <p:txBody>
          <a:bodyPr/>
          <a:lstStyle/>
          <a:p>
            <a:endParaRPr lang="tr-TR"/>
          </a:p>
        </p:txBody>
      </p:sp>
      <p:sp>
        <p:nvSpPr>
          <p:cNvPr id="7" name="6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Başlık, Dikey Metin">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smtClean="0"/>
              <a:t>Asıl başlık stili için tıklatın</a:t>
            </a:r>
            <a:endParaRPr lang="tr-TR"/>
          </a:p>
        </p:txBody>
      </p:sp>
      <p:sp>
        <p:nvSpPr>
          <p:cNvPr id="3" name="2 Dikey Metin Yer Tutucusu"/>
          <p:cNvSpPr>
            <a:spLocks noGrp="1"/>
          </p:cNvSpPr>
          <p:nvPr>
            <p:ph type="body" orient="vert" idx="1"/>
          </p:nvPr>
        </p:nvSpPr>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1 Dikey Başlık"/>
          <p:cNvSpPr>
            <a:spLocks noGrp="1"/>
          </p:cNvSpPr>
          <p:nvPr>
            <p:ph type="title" orient="vert"/>
          </p:nvPr>
        </p:nvSpPr>
        <p:spPr>
          <a:xfrm>
            <a:off x="6629400" y="274638"/>
            <a:ext cx="2057400" cy="5851525"/>
          </a:xfrm>
        </p:spPr>
        <p:txBody>
          <a:bodyPr vert="eaVert"/>
          <a:lstStyle/>
          <a:p>
            <a:r>
              <a:rPr lang="tr-TR" smtClean="0"/>
              <a:t>Asıl başlık stili için tıklatın</a:t>
            </a:r>
            <a:endParaRPr lang="tr-TR"/>
          </a:p>
        </p:txBody>
      </p:sp>
      <p:sp>
        <p:nvSpPr>
          <p:cNvPr id="3" name="2 Dikey Metin Yer Tutucusu"/>
          <p:cNvSpPr>
            <a:spLocks noGrp="1"/>
          </p:cNvSpPr>
          <p:nvPr>
            <p:ph type="body" orient="vert" idx="1"/>
          </p:nvPr>
        </p:nvSpPr>
        <p:spPr>
          <a:xfrm>
            <a:off x="457200" y="274638"/>
            <a:ext cx="6019800" cy="5851525"/>
          </a:xfrm>
        </p:spPr>
        <p:txBody>
          <a:bodyPr vert="eaVert"/>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10"/>
          </p:nvPr>
        </p:nvSpPr>
        <p:spPr/>
        <p:txBody>
          <a:bodyPr/>
          <a:lstStyle/>
          <a:p>
            <a:fld id="{B197274C-FF2B-41C6-94AA-30FA293BA337}" type="datetimeFigureOut">
              <a:rPr lang="tr-TR" smtClean="0"/>
              <a:pPr/>
              <a:t>20.08.2026</a:t>
            </a:fld>
            <a:endParaRPr lang="tr-TR"/>
          </a:p>
        </p:txBody>
      </p:sp>
      <p:sp>
        <p:nvSpPr>
          <p:cNvPr id="5" name="4 Altbilgi Yer Tutucusu"/>
          <p:cNvSpPr>
            <a:spLocks noGrp="1"/>
          </p:cNvSpPr>
          <p:nvPr>
            <p:ph type="ftr" sz="quarter" idx="11"/>
          </p:nvPr>
        </p:nvSpPr>
        <p:spPr/>
        <p:txBody>
          <a:bodyPr/>
          <a:lstStyle/>
          <a:p>
            <a:endParaRPr lang="tr-TR"/>
          </a:p>
        </p:txBody>
      </p:sp>
      <p:sp>
        <p:nvSpPr>
          <p:cNvPr id="6" name="5 Slayt Numarası Yer Tutucusu"/>
          <p:cNvSpPr>
            <a:spLocks noGrp="1"/>
          </p:cNvSpPr>
          <p:nvPr>
            <p:ph type="sldNum" sz="quarter" idx="12"/>
          </p:nvPr>
        </p:nvSpPr>
        <p:spPr/>
        <p:txBody>
          <a:bodyPr/>
          <a:lstStyle/>
          <a:p>
            <a:fld id="{A4DF0628-F089-402C-8006-E7FBE559B225}" type="slidenum">
              <a:rPr lang="tr-TR" smtClean="0"/>
              <a:pPr/>
              <a:t>‹#›</a:t>
            </a:fld>
            <a:endParaRPr lang="tr-T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1 Başlık Yer Tutucusu"/>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tr-TR" smtClean="0"/>
              <a:t>Asıl başlık stili için tıklatın</a:t>
            </a:r>
            <a:endParaRPr lang="tr-TR"/>
          </a:p>
        </p:txBody>
      </p:sp>
      <p:sp>
        <p:nvSpPr>
          <p:cNvPr id="3" name="2 Metin Yer Tutucusu"/>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tr-TR" smtClean="0"/>
              <a:t>Asıl metin stillerini düzenlemek için tıklatın</a:t>
            </a:r>
          </a:p>
          <a:p>
            <a:pPr lvl="1"/>
            <a:r>
              <a:rPr lang="tr-TR" smtClean="0"/>
              <a:t>İkinci düzey</a:t>
            </a:r>
          </a:p>
          <a:p>
            <a:pPr lvl="2"/>
            <a:r>
              <a:rPr lang="tr-TR" smtClean="0"/>
              <a:t>Üçüncü düzey</a:t>
            </a:r>
          </a:p>
          <a:p>
            <a:pPr lvl="3"/>
            <a:r>
              <a:rPr lang="tr-TR" smtClean="0"/>
              <a:t>Dördüncü düzey</a:t>
            </a:r>
          </a:p>
          <a:p>
            <a:pPr lvl="4"/>
            <a:r>
              <a:rPr lang="tr-TR" smtClean="0"/>
              <a:t>Beşinci düzey</a:t>
            </a:r>
            <a:endParaRPr lang="tr-TR"/>
          </a:p>
        </p:txBody>
      </p:sp>
      <p:sp>
        <p:nvSpPr>
          <p:cNvPr id="4" name="3 Veri Yer Tutucusu"/>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197274C-FF2B-41C6-94AA-30FA293BA337}" type="datetimeFigureOut">
              <a:rPr lang="tr-TR" smtClean="0"/>
              <a:pPr/>
              <a:t>20.08.2026</a:t>
            </a:fld>
            <a:endParaRPr lang="tr-TR"/>
          </a:p>
        </p:txBody>
      </p:sp>
      <p:sp>
        <p:nvSpPr>
          <p:cNvPr id="5" name="4 Altbilgi Yer Tutucusu"/>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tr-TR"/>
          </a:p>
        </p:txBody>
      </p:sp>
      <p:sp>
        <p:nvSpPr>
          <p:cNvPr id="6" name="5 Slayt Numarası Yer Tutucusu"/>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DF0628-F089-402C-8006-E7FBE559B225}" type="slidenum">
              <a:rPr lang="tr-TR" smtClean="0"/>
              <a:pPr/>
              <a:t>‹#›</a:t>
            </a:fld>
            <a:endParaRPr lang="tr-T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7.xml"/><Relationship Id="rId4" Type="http://schemas.openxmlformats.org/officeDocument/2006/relationships/image" Target="../media/image6.jpe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15.jpeg"/><Relationship Id="rId4" Type="http://schemas.openxmlformats.org/officeDocument/2006/relationships/image" Target="../media/image14.jpeg"/></Relationships>
</file>

<file path=ppt/slides/_rels/slide19.xml.rels><?xml version="1.0" encoding="UTF-8" standalone="yes"?>
<Relationships xmlns="http://schemas.openxmlformats.org/package/2006/relationships"><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wmf"/><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0.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26.gif"/><Relationship Id="rId2" Type="http://schemas.openxmlformats.org/officeDocument/2006/relationships/image" Target="../media/image25.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28.jpeg"/><Relationship Id="rId2" Type="http://schemas.openxmlformats.org/officeDocument/2006/relationships/hyperlink" Target="http://www.google.com.tr/imgres?q=dikkat&amp;biw=1440&amp;bih=719&amp;tbm=isch&amp;tbnid=30EdbCDEjudtDM:&amp;imgrefurl=http://panoturk.blogspot.com/2012/01/bu-dikkat-testine-dikkat.html&amp;docid=HO8OW9L1nPFdsM&amp;imgurl=http://4.bp.blogspot.com/-etF4EzKIF2g/Twn8fa8c5lI/AAAAAAAAA94/TK01A9kgKKQ/s1600/dikkat.jpg&amp;w=347&amp;h=346&amp;ei=OzOSUbbeCsvFPZregegP&amp;zoom=1&amp;iact=hc&amp;vpx=1168&amp;vpy=148&amp;dur=1170&amp;hovh=224&amp;hovw=225&amp;tx=133&amp;ty=108&amp;page=1&amp;tbnh=143&amp;tbnw=140&amp;start=0&amp;ndsp=32&amp;ved=1t:429,r:8,s:0,i:179" TargetMode="Externa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30.gif"/><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ctrTitle" idx="4294967295"/>
          </p:nvPr>
        </p:nvSpPr>
        <p:spPr>
          <a:xfrm>
            <a:off x="611560" y="908720"/>
            <a:ext cx="8208912" cy="3816423"/>
          </a:xfrm>
        </p:spPr>
        <p:txBody>
          <a:bodyPr>
            <a:normAutofit/>
          </a:bodyPr>
          <a:lstStyle/>
          <a:p>
            <a:r>
              <a:rPr lang="tr-TR" b="1" dirty="0" smtClean="0">
                <a:solidFill>
                  <a:srgbClr val="FF0000"/>
                </a:solidFill>
              </a:rPr>
              <a:t>ANTİMİKROBİK   KEMOTERAPÖTİK MADDELER</a:t>
            </a:r>
            <a:endParaRPr lang="tr-TR" b="1" dirty="0">
              <a:solidFill>
                <a:srgbClr val="FF0000"/>
              </a:solidFill>
            </a:endParaRPr>
          </a:p>
        </p:txBody>
      </p:sp>
      <p:pic>
        <p:nvPicPr>
          <p:cNvPr id="4" name="Picture 4" descr="C:\Users\Pc\Desktop\imagesSSQNDN6X.jpg"/>
          <p:cNvPicPr>
            <a:picLocks noChangeAspect="1" noChangeArrowheads="1"/>
          </p:cNvPicPr>
          <p:nvPr/>
        </p:nvPicPr>
        <p:blipFill>
          <a:blip r:embed="rId2" cstate="print"/>
          <a:srcRect/>
          <a:stretch>
            <a:fillRect/>
          </a:stretch>
        </p:blipFill>
        <p:spPr bwMode="auto">
          <a:xfrm>
            <a:off x="5868144" y="4005064"/>
            <a:ext cx="2955784" cy="2441215"/>
          </a:xfrm>
          <a:prstGeom prst="rect">
            <a:avLst/>
          </a:prstGeom>
          <a:noFill/>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C:\Users\Pc\Desktop\images1TKLQJ9C.jpg"/>
          <p:cNvPicPr>
            <a:picLocks noGrp="1" noChangeAspect="1" noChangeArrowheads="1"/>
          </p:cNvPicPr>
          <p:nvPr>
            <p:ph idx="4294967295"/>
          </p:nvPr>
        </p:nvPicPr>
        <p:blipFill>
          <a:blip r:embed="rId2" cstate="print"/>
          <a:srcRect/>
          <a:stretch>
            <a:fillRect/>
          </a:stretch>
        </p:blipFill>
        <p:spPr bwMode="auto">
          <a:xfrm>
            <a:off x="5796136" y="5013176"/>
            <a:ext cx="3076575" cy="1485900"/>
          </a:xfrm>
          <a:prstGeom prst="rect">
            <a:avLst/>
          </a:prstGeom>
          <a:noFill/>
        </p:spPr>
      </p:pic>
      <p:pic>
        <p:nvPicPr>
          <p:cNvPr id="5" name="Picture 5" descr="C:\Users\Pc\Desktop\untitled.png"/>
          <p:cNvPicPr>
            <a:picLocks noChangeAspect="1" noChangeArrowheads="1"/>
          </p:cNvPicPr>
          <p:nvPr/>
        </p:nvPicPr>
        <p:blipFill>
          <a:blip r:embed="rId3" cstate="print"/>
          <a:srcRect/>
          <a:stretch>
            <a:fillRect/>
          </a:stretch>
        </p:blipFill>
        <p:spPr bwMode="auto">
          <a:xfrm>
            <a:off x="827584" y="404664"/>
            <a:ext cx="6215106" cy="571504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Pc\Desktop\untitled 1.png"/>
          <p:cNvPicPr>
            <a:picLocks noGrp="1" noChangeAspect="1" noChangeArrowheads="1"/>
          </p:cNvPicPr>
          <p:nvPr>
            <p:ph idx="4294967295"/>
          </p:nvPr>
        </p:nvPicPr>
        <p:blipFill>
          <a:blip r:embed="rId2" cstate="print"/>
          <a:srcRect/>
          <a:stretch>
            <a:fillRect/>
          </a:stretch>
        </p:blipFill>
        <p:spPr bwMode="auto">
          <a:xfrm>
            <a:off x="5868144" y="476672"/>
            <a:ext cx="2671762" cy="2619375"/>
          </a:xfrm>
          <a:prstGeom prst="rect">
            <a:avLst/>
          </a:prstGeom>
          <a:noFill/>
        </p:spPr>
      </p:pic>
      <p:pic>
        <p:nvPicPr>
          <p:cNvPr id="1027" name="Picture 3" descr="C:\Users\Pc\Desktop\1.png"/>
          <p:cNvPicPr>
            <a:picLocks noChangeAspect="1" noChangeArrowheads="1"/>
          </p:cNvPicPr>
          <p:nvPr/>
        </p:nvPicPr>
        <p:blipFill>
          <a:blip r:embed="rId3" cstate="print"/>
          <a:srcRect/>
          <a:stretch>
            <a:fillRect/>
          </a:stretch>
        </p:blipFill>
        <p:spPr bwMode="auto">
          <a:xfrm>
            <a:off x="428596" y="505609"/>
            <a:ext cx="4801542" cy="2556665"/>
          </a:xfrm>
          <a:prstGeom prst="rect">
            <a:avLst/>
          </a:prstGeom>
          <a:noFill/>
        </p:spPr>
      </p:pic>
      <p:pic>
        <p:nvPicPr>
          <p:cNvPr id="1030" name="Picture 6" descr="C:\Users\Pc\Desktop\images3XHS5WVG.jpg"/>
          <p:cNvPicPr>
            <a:picLocks noChangeAspect="1" noChangeArrowheads="1"/>
          </p:cNvPicPr>
          <p:nvPr/>
        </p:nvPicPr>
        <p:blipFill>
          <a:blip r:embed="rId4" cstate="print"/>
          <a:srcRect/>
          <a:stretch>
            <a:fillRect/>
          </a:stretch>
        </p:blipFill>
        <p:spPr bwMode="auto">
          <a:xfrm>
            <a:off x="1979712" y="3501008"/>
            <a:ext cx="4714908" cy="3071834"/>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ANTİBİYOTİK NEDİR?</a:t>
            </a:r>
            <a:endParaRPr lang="tr-TR" dirty="0"/>
          </a:p>
        </p:txBody>
      </p:sp>
      <p:sp>
        <p:nvSpPr>
          <p:cNvPr id="3" name="2 İçerik Yer Tutucusu"/>
          <p:cNvSpPr>
            <a:spLocks noGrp="1"/>
          </p:cNvSpPr>
          <p:nvPr>
            <p:ph idx="1"/>
          </p:nvPr>
        </p:nvSpPr>
        <p:spPr/>
        <p:txBody>
          <a:bodyPr/>
          <a:lstStyle/>
          <a:p>
            <a:r>
              <a:rPr lang="tr-TR" sz="2800" b="1" dirty="0" smtClean="0"/>
              <a:t>Bazı bakterilerden ama çoğunlukla mantarlardan elde edilen, insana verildiğinde çok küçük dozlarda bile diğer bakteriler üzerinde öldürücü ya da üremelerini engelleyici etki gösteren, buna karşın insana zararı hiç olmayan veya çok az olan (seçici </a:t>
            </a:r>
            <a:r>
              <a:rPr lang="tr-TR" sz="2800" b="1" dirty="0" err="1" smtClean="0"/>
              <a:t>toksik</a:t>
            </a:r>
            <a:r>
              <a:rPr lang="tr-TR" sz="2800" b="1" dirty="0" smtClean="0"/>
              <a:t> etki) ve bakteriyel </a:t>
            </a:r>
            <a:r>
              <a:rPr lang="tr-TR" sz="2800" b="1" dirty="0" err="1" smtClean="0"/>
              <a:t>infeksiyonların</a:t>
            </a:r>
            <a:r>
              <a:rPr lang="tr-TR" sz="2800" b="1" dirty="0" smtClean="0"/>
              <a:t> tedavisinde kullanılan ilaçlardır</a:t>
            </a:r>
          </a:p>
          <a:p>
            <a:pPr>
              <a:buNone/>
            </a:pPr>
            <a:endParaRPr lang="tr-TR"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FF0000"/>
                </a:solidFill>
              </a:rPr>
              <a:t>KEMOTERAPÖTİK NEDİR?</a:t>
            </a:r>
            <a:endParaRPr lang="tr-TR" dirty="0"/>
          </a:p>
        </p:txBody>
      </p:sp>
      <p:sp>
        <p:nvSpPr>
          <p:cNvPr id="3" name="2 İçerik Yer Tutucusu"/>
          <p:cNvSpPr>
            <a:spLocks noGrp="1"/>
          </p:cNvSpPr>
          <p:nvPr>
            <p:ph idx="1"/>
          </p:nvPr>
        </p:nvSpPr>
        <p:spPr/>
        <p:txBody>
          <a:bodyPr/>
          <a:lstStyle/>
          <a:p>
            <a:r>
              <a:rPr lang="tr-TR" sz="2800" b="1" dirty="0" smtClean="0"/>
              <a:t>Antibiyotiklerle aynı özellikleri gösteren fakat mikroorganizmalardan elde edilmeyen kimyasal veya sentetik maddelerdir</a:t>
            </a:r>
          </a:p>
          <a:p>
            <a:endParaRPr lang="tr-T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260648"/>
            <a:ext cx="8568952" cy="6120680"/>
          </a:xfrm>
        </p:spPr>
        <p:txBody>
          <a:bodyPr>
            <a:normAutofit fontScale="85000" lnSpcReduction="20000"/>
          </a:bodyPr>
          <a:lstStyle/>
          <a:p>
            <a:pPr>
              <a:lnSpc>
                <a:spcPct val="170000"/>
              </a:lnSpc>
            </a:pPr>
            <a:r>
              <a:rPr lang="tr-TR" b="1" dirty="0" smtClean="0"/>
              <a:t>Kimyasal yapıları belli veya yapay olarak elde edilen maddelere </a:t>
            </a:r>
            <a:r>
              <a:rPr lang="tr-TR" sz="3100" b="1" dirty="0" smtClean="0">
                <a:solidFill>
                  <a:srgbClr val="990000"/>
                </a:solidFill>
              </a:rPr>
              <a:t>KEMOTERAPÖTİK, </a:t>
            </a:r>
          </a:p>
          <a:p>
            <a:pPr>
              <a:lnSpc>
                <a:spcPct val="170000"/>
              </a:lnSpc>
            </a:pPr>
            <a:r>
              <a:rPr lang="tr-TR" b="1" dirty="0" smtClean="0"/>
              <a:t>Doğal kaynaklı olanlara ise </a:t>
            </a:r>
            <a:r>
              <a:rPr lang="tr-TR" b="1" dirty="0" smtClean="0">
                <a:solidFill>
                  <a:srgbClr val="990000"/>
                </a:solidFill>
              </a:rPr>
              <a:t>ANTİBİYOTİK</a:t>
            </a:r>
            <a:r>
              <a:rPr lang="tr-TR" b="1" dirty="0" smtClean="0"/>
              <a:t> denmesine karşın,  günümüzde antibiyotiklerin çoğunun sentetik ya da </a:t>
            </a:r>
            <a:r>
              <a:rPr lang="tr-TR" b="1" dirty="0" err="1" smtClean="0"/>
              <a:t>semisentetik</a:t>
            </a:r>
            <a:r>
              <a:rPr lang="tr-TR" b="1" dirty="0" smtClean="0"/>
              <a:t> yöntemlerle elde edilmesi mümkün olduğundan, </a:t>
            </a:r>
          </a:p>
          <a:p>
            <a:pPr>
              <a:lnSpc>
                <a:spcPct val="170000"/>
              </a:lnSpc>
            </a:pPr>
            <a:r>
              <a:rPr lang="tr-TR" b="1" u="sng" dirty="0" smtClean="0">
                <a:solidFill>
                  <a:srgbClr val="000099"/>
                </a:solidFill>
              </a:rPr>
              <a:t>antibiyotik</a:t>
            </a:r>
            <a:r>
              <a:rPr lang="tr-TR" b="1" dirty="0" smtClean="0"/>
              <a:t> terimi tedavide kullanılan </a:t>
            </a:r>
            <a:r>
              <a:rPr lang="tr-TR" b="1" dirty="0" err="1" smtClean="0"/>
              <a:t>kemoterapötik</a:t>
            </a:r>
            <a:r>
              <a:rPr lang="tr-TR" b="1" dirty="0" smtClean="0"/>
              <a:t> ve antibiyotik niteliğindeki maddeler için </a:t>
            </a:r>
            <a:r>
              <a:rPr lang="tr-TR" b="1" u="sng" dirty="0" smtClean="0"/>
              <a:t>genel bir ad</a:t>
            </a:r>
            <a:r>
              <a:rPr lang="tr-TR" b="1" dirty="0" smtClean="0"/>
              <a:t> olarak kullanılır</a:t>
            </a:r>
            <a:endParaRPr lang="tr-TR"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548680"/>
            <a:ext cx="8352928" cy="5832648"/>
          </a:xfrm>
        </p:spPr>
        <p:txBody>
          <a:bodyPr>
            <a:normAutofit/>
          </a:bodyPr>
          <a:lstStyle/>
          <a:p>
            <a:pPr>
              <a:buNone/>
            </a:pPr>
            <a:r>
              <a:rPr lang="tr-TR" sz="2800" b="1" dirty="0" smtClean="0">
                <a:solidFill>
                  <a:srgbClr val="FF0000"/>
                </a:solidFill>
              </a:rPr>
              <a:t>			</a:t>
            </a:r>
          </a:p>
          <a:p>
            <a:pPr>
              <a:buNone/>
            </a:pPr>
            <a:r>
              <a:rPr lang="tr-TR" sz="2800" b="1" dirty="0" smtClean="0">
                <a:solidFill>
                  <a:srgbClr val="FF0000"/>
                </a:solidFill>
              </a:rPr>
              <a:t>			</a:t>
            </a:r>
            <a:r>
              <a:rPr lang="tr-TR" b="1" dirty="0" smtClean="0">
                <a:solidFill>
                  <a:srgbClr val="FF0000"/>
                </a:solidFill>
              </a:rPr>
              <a:t>BAKTERİSİT</a:t>
            </a:r>
            <a:r>
              <a:rPr lang="tr-TR" b="1" dirty="0" smtClean="0"/>
              <a:t> </a:t>
            </a:r>
            <a:r>
              <a:rPr lang="tr-TR" b="1" dirty="0" smtClean="0">
                <a:solidFill>
                  <a:srgbClr val="FF0000"/>
                </a:solidFill>
              </a:rPr>
              <a:t>NEDİR?</a:t>
            </a:r>
            <a:endParaRPr lang="tr-TR" b="1" dirty="0" smtClean="0"/>
          </a:p>
          <a:p>
            <a:r>
              <a:rPr lang="tr-TR" sz="2800" b="1" dirty="0" smtClean="0"/>
              <a:t>Antibiyotik maddelerin mikroorganizmaları öldürücü etkileri olanlarına denir</a:t>
            </a:r>
          </a:p>
          <a:p>
            <a:pPr>
              <a:buNone/>
            </a:pPr>
            <a:endParaRPr lang="tr-TR" sz="2800" b="1" dirty="0" smtClean="0"/>
          </a:p>
          <a:p>
            <a:pPr>
              <a:buNone/>
            </a:pPr>
            <a:r>
              <a:rPr lang="tr-TR" sz="2800" b="1" dirty="0" smtClean="0">
                <a:solidFill>
                  <a:srgbClr val="FF0000"/>
                </a:solidFill>
              </a:rPr>
              <a:t>			</a:t>
            </a:r>
            <a:r>
              <a:rPr lang="tr-TR" b="1" dirty="0" smtClean="0">
                <a:solidFill>
                  <a:srgbClr val="FF0000"/>
                </a:solidFill>
              </a:rPr>
              <a:t>BAKTERİYOSTATİK</a:t>
            </a:r>
            <a:r>
              <a:rPr lang="tr-TR" b="1" dirty="0" smtClean="0"/>
              <a:t> </a:t>
            </a:r>
            <a:r>
              <a:rPr lang="tr-TR" b="1" dirty="0" smtClean="0">
                <a:solidFill>
                  <a:srgbClr val="FF0000"/>
                </a:solidFill>
              </a:rPr>
              <a:t>NEDİR?</a:t>
            </a:r>
            <a:endParaRPr lang="tr-TR" b="1" dirty="0" smtClean="0"/>
          </a:p>
          <a:p>
            <a:r>
              <a:rPr lang="tr-TR" sz="2800" b="1" dirty="0" smtClean="0"/>
              <a:t>Antibiyotik maddelerin mikroorganizmaların üremelerini durdurucu etkileri olanlarına denir</a:t>
            </a:r>
          </a:p>
          <a:p>
            <a:endParaRPr lang="tr-TR" sz="2800" b="1"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467544" y="476672"/>
            <a:ext cx="8208912" cy="5649491"/>
          </a:xfrm>
        </p:spPr>
        <p:txBody>
          <a:bodyPr>
            <a:normAutofit/>
          </a:bodyPr>
          <a:lstStyle/>
          <a:p>
            <a:pPr>
              <a:buNone/>
            </a:pPr>
            <a:r>
              <a:rPr lang="tr-TR" sz="2800" b="1" dirty="0" smtClean="0">
                <a:solidFill>
                  <a:srgbClr val="FF0000"/>
                </a:solidFill>
              </a:rPr>
              <a:t>			</a:t>
            </a:r>
            <a:r>
              <a:rPr lang="tr-TR" b="1" dirty="0" smtClean="0">
                <a:solidFill>
                  <a:srgbClr val="FF0000"/>
                </a:solidFill>
              </a:rPr>
              <a:t>SEÇİCİ TOKSİK ETKİ NEDİR?</a:t>
            </a:r>
            <a:endParaRPr lang="tr-TR" b="1" dirty="0" smtClean="0"/>
          </a:p>
          <a:p>
            <a:r>
              <a:rPr lang="tr-TR" sz="2800" b="1" dirty="0" err="1" smtClean="0"/>
              <a:t>Antiyotik</a:t>
            </a:r>
            <a:r>
              <a:rPr lang="tr-TR" sz="2800" b="1" dirty="0" smtClean="0"/>
              <a:t>-</a:t>
            </a:r>
            <a:r>
              <a:rPr lang="tr-TR" sz="2800" b="1" dirty="0" err="1" smtClean="0"/>
              <a:t>kemoterapötik</a:t>
            </a:r>
            <a:r>
              <a:rPr lang="tr-TR" sz="2800" b="1" dirty="0" smtClean="0"/>
              <a:t> ilaçların insanlara veya memeli hücrelerine zarar vermeden veya çok az zarar vererek </a:t>
            </a:r>
            <a:r>
              <a:rPr lang="tr-TR" sz="2800" b="1" dirty="0" err="1" smtClean="0"/>
              <a:t>yanlızca</a:t>
            </a:r>
            <a:r>
              <a:rPr lang="tr-TR" sz="2800" b="1" dirty="0" smtClean="0"/>
              <a:t> hastalık etkeni mikroorganizma üzerine </a:t>
            </a:r>
            <a:r>
              <a:rPr lang="tr-TR" sz="2800" b="1" dirty="0" err="1" smtClean="0"/>
              <a:t>toksik</a:t>
            </a:r>
            <a:r>
              <a:rPr lang="tr-TR" sz="2800" b="1" dirty="0" smtClean="0"/>
              <a:t> veya öldürücü etki göstermesidir</a:t>
            </a:r>
          </a:p>
          <a:p>
            <a:pPr>
              <a:buNone/>
            </a:pPr>
            <a:endParaRPr lang="tr-TR" sz="2800" b="1"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23528" y="404664"/>
            <a:ext cx="8352928" cy="6048672"/>
          </a:xfrm>
        </p:spPr>
        <p:txBody>
          <a:bodyPr>
            <a:normAutofit/>
          </a:bodyPr>
          <a:lstStyle/>
          <a:p>
            <a:pPr algn="ctr">
              <a:buNone/>
            </a:pPr>
            <a:r>
              <a:rPr lang="tr-TR" b="1" dirty="0" smtClean="0"/>
              <a:t>    </a:t>
            </a:r>
            <a:r>
              <a:rPr lang="tr-TR" b="1" dirty="0" smtClean="0">
                <a:solidFill>
                  <a:srgbClr val="FF0000"/>
                </a:solidFill>
              </a:rPr>
              <a:t>MİNİMUM İNHİBİTÖR KONSANTRASYON</a:t>
            </a:r>
            <a:r>
              <a:rPr lang="tr-TR" b="1" dirty="0" smtClean="0"/>
              <a:t> </a:t>
            </a:r>
            <a:r>
              <a:rPr lang="tr-TR" b="1" dirty="0" smtClean="0">
                <a:solidFill>
                  <a:srgbClr val="7030A0"/>
                </a:solidFill>
              </a:rPr>
              <a:t>[MİK] </a:t>
            </a:r>
            <a:r>
              <a:rPr lang="tr-TR" b="1" dirty="0" smtClean="0">
                <a:solidFill>
                  <a:srgbClr val="FF0000"/>
                </a:solidFill>
              </a:rPr>
              <a:t>NEDİR?</a:t>
            </a:r>
          </a:p>
          <a:p>
            <a:r>
              <a:rPr lang="tr-TR" sz="2800" b="1" dirty="0" smtClean="0"/>
              <a:t>Antibiyotik-</a:t>
            </a:r>
            <a:r>
              <a:rPr lang="tr-TR" sz="2800" b="1" dirty="0" err="1" smtClean="0"/>
              <a:t>kemoterapötik</a:t>
            </a:r>
            <a:r>
              <a:rPr lang="tr-TR" sz="2800" b="1" dirty="0" smtClean="0"/>
              <a:t> maddelerin mikroorganizmaların üremelerini durdurduğu en düşük yoğunluğudur</a:t>
            </a:r>
          </a:p>
          <a:p>
            <a:pPr>
              <a:buNone/>
            </a:pPr>
            <a:endParaRPr lang="tr-TR" sz="2800" b="1" dirty="0" smtClean="0"/>
          </a:p>
          <a:p>
            <a:pPr algn="ctr">
              <a:buNone/>
            </a:pPr>
            <a:r>
              <a:rPr lang="tr-TR" sz="2800" b="1" dirty="0" smtClean="0"/>
              <a:t>     </a:t>
            </a:r>
            <a:r>
              <a:rPr lang="tr-TR" b="1" dirty="0" smtClean="0">
                <a:solidFill>
                  <a:srgbClr val="FF0000"/>
                </a:solidFill>
              </a:rPr>
              <a:t>MİNUMUM BAKTERİSİD KONSANTRASYON </a:t>
            </a:r>
            <a:r>
              <a:rPr lang="tr-TR" b="1" dirty="0" smtClean="0">
                <a:solidFill>
                  <a:srgbClr val="7030A0"/>
                </a:solidFill>
              </a:rPr>
              <a:t>[MBK] </a:t>
            </a:r>
            <a:r>
              <a:rPr lang="tr-TR" b="1" dirty="0" smtClean="0">
                <a:solidFill>
                  <a:srgbClr val="FF0000"/>
                </a:solidFill>
              </a:rPr>
              <a:t>NEDİR?</a:t>
            </a:r>
          </a:p>
          <a:p>
            <a:r>
              <a:rPr lang="tr-TR" sz="2800" b="1" dirty="0" smtClean="0"/>
              <a:t>Antibiyotik-</a:t>
            </a:r>
            <a:r>
              <a:rPr lang="tr-TR" sz="2800" b="1" dirty="0" err="1" smtClean="0"/>
              <a:t>kemoterapötik</a:t>
            </a:r>
            <a:r>
              <a:rPr lang="tr-TR" sz="2800" b="1" dirty="0" smtClean="0"/>
              <a:t> maddelerin mikroorganizmayı öldüren en düşük yoğunluğudur</a:t>
            </a:r>
          </a:p>
          <a:p>
            <a:pPr>
              <a:buNone/>
            </a:pPr>
            <a:endParaRPr lang="tr-TR" sz="2400" dirty="0" smtClean="0"/>
          </a:p>
          <a:p>
            <a:pPr>
              <a:buNone/>
            </a:pPr>
            <a:endParaRPr lang="tr-TR" sz="2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Grp="1" noChangeAspect="1" noChangeArrowheads="1"/>
          </p:cNvPicPr>
          <p:nvPr>
            <p:ph idx="4294967295"/>
          </p:nvPr>
        </p:nvPicPr>
        <p:blipFill>
          <a:blip r:embed="rId2" cstate="print"/>
          <a:srcRect/>
          <a:stretch>
            <a:fillRect/>
          </a:stretch>
        </p:blipFill>
        <p:spPr bwMode="auto">
          <a:xfrm>
            <a:off x="3131840" y="260648"/>
            <a:ext cx="5213201" cy="2493631"/>
          </a:xfrm>
          <a:prstGeom prst="rect">
            <a:avLst/>
          </a:prstGeom>
          <a:noFill/>
          <a:ln w="9525">
            <a:noFill/>
            <a:miter lim="800000"/>
            <a:headEnd/>
            <a:tailEnd/>
          </a:ln>
        </p:spPr>
      </p:pic>
      <p:pic>
        <p:nvPicPr>
          <p:cNvPr id="1027" name="Picture 3"/>
          <p:cNvPicPr>
            <a:picLocks noChangeAspect="1" noChangeArrowheads="1"/>
          </p:cNvPicPr>
          <p:nvPr/>
        </p:nvPicPr>
        <p:blipFill>
          <a:blip r:embed="rId3" cstate="print"/>
          <a:srcRect/>
          <a:stretch>
            <a:fillRect/>
          </a:stretch>
        </p:blipFill>
        <p:spPr bwMode="auto">
          <a:xfrm>
            <a:off x="683568" y="2996952"/>
            <a:ext cx="5186775" cy="3431654"/>
          </a:xfrm>
          <a:prstGeom prst="rect">
            <a:avLst/>
          </a:prstGeom>
          <a:noFill/>
          <a:ln w="9525">
            <a:noFill/>
            <a:miter lim="800000"/>
            <a:headEnd/>
            <a:tailEnd/>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251520" y="404664"/>
            <a:ext cx="8424936" cy="5976664"/>
          </a:xfrm>
        </p:spPr>
        <p:txBody>
          <a:bodyPr>
            <a:normAutofit/>
          </a:bodyPr>
          <a:lstStyle/>
          <a:p>
            <a:pPr>
              <a:buNone/>
            </a:pPr>
            <a:r>
              <a:rPr lang="tr-TR" sz="2800" b="1" dirty="0" smtClean="0">
                <a:solidFill>
                  <a:srgbClr val="FF0000"/>
                </a:solidFill>
              </a:rPr>
              <a:t>			</a:t>
            </a:r>
            <a:r>
              <a:rPr lang="tr-TR" b="1" dirty="0" smtClean="0">
                <a:solidFill>
                  <a:srgbClr val="FF0000"/>
                </a:solidFill>
              </a:rPr>
              <a:t>ETKİ SPEKTURUMU NEDİR?</a:t>
            </a:r>
          </a:p>
          <a:p>
            <a:r>
              <a:rPr lang="tr-TR" sz="2800" b="1" dirty="0" smtClean="0"/>
              <a:t>Antibiyotik-</a:t>
            </a:r>
            <a:r>
              <a:rPr lang="tr-TR" sz="2800" b="1" dirty="0" err="1" smtClean="0"/>
              <a:t>kemoterapötik</a:t>
            </a:r>
            <a:r>
              <a:rPr lang="tr-TR" sz="2800" b="1" dirty="0" smtClean="0"/>
              <a:t> maddelerin tedavi edici dozda etkili olabildiği mikroorganizma cinsi ve sayısına denir</a:t>
            </a:r>
          </a:p>
          <a:p>
            <a:pPr>
              <a:buNone/>
            </a:pPr>
            <a:endParaRPr lang="tr-TR" sz="2800" b="1" dirty="0" smtClean="0"/>
          </a:p>
          <a:p>
            <a:pPr>
              <a:buNone/>
            </a:pPr>
            <a:r>
              <a:rPr lang="tr-TR" sz="2800" b="1" dirty="0" smtClean="0">
                <a:solidFill>
                  <a:srgbClr val="FF0000"/>
                </a:solidFill>
              </a:rPr>
              <a:t>			</a:t>
            </a:r>
            <a:r>
              <a:rPr lang="tr-TR" b="1" dirty="0" smtClean="0">
                <a:solidFill>
                  <a:srgbClr val="FF0000"/>
                </a:solidFill>
              </a:rPr>
              <a:t>POST ANTİBİYOTİK ETKİ NEDİR?</a:t>
            </a:r>
          </a:p>
          <a:p>
            <a:r>
              <a:rPr lang="tr-TR" sz="2800" b="1" dirty="0" smtClean="0"/>
              <a:t>Bakterinin Antibiyotik-</a:t>
            </a:r>
            <a:r>
              <a:rPr lang="tr-TR" sz="2800" b="1" dirty="0" err="1" smtClean="0"/>
              <a:t>kemoterapötik</a:t>
            </a:r>
            <a:r>
              <a:rPr lang="tr-TR" sz="2800" b="1" dirty="0" smtClean="0"/>
              <a:t> madde kesildikten sonrada üremenin baskılanmasının  sürmesine denir</a:t>
            </a:r>
          </a:p>
          <a:p>
            <a:endParaRPr lang="tr-TR" sz="2800" b="1" dirty="0">
              <a:solidFill>
                <a:srgbClr val="FF0000"/>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p:txBody>
          <a:bodyPr/>
          <a:lstStyle/>
          <a:p>
            <a:r>
              <a:rPr lang="tr-TR" b="1" dirty="0" smtClean="0">
                <a:solidFill>
                  <a:srgbClr val="FF0000"/>
                </a:solidFill>
              </a:rPr>
              <a:t>SINIFLANDIRMA</a:t>
            </a:r>
            <a:endParaRPr lang="tr-TR" b="1" dirty="0">
              <a:solidFill>
                <a:srgbClr val="FF0000"/>
              </a:solidFill>
            </a:endParaRPr>
          </a:p>
        </p:txBody>
      </p:sp>
      <p:sp>
        <p:nvSpPr>
          <p:cNvPr id="9219" name="Rectangle 3"/>
          <p:cNvSpPr>
            <a:spLocks noGrp="1" noChangeArrowheads="1"/>
          </p:cNvSpPr>
          <p:nvPr>
            <p:ph type="body" idx="1"/>
          </p:nvPr>
        </p:nvSpPr>
        <p:spPr/>
        <p:txBody>
          <a:bodyPr>
            <a:normAutofit/>
          </a:bodyPr>
          <a:lstStyle/>
          <a:p>
            <a:pPr>
              <a:lnSpc>
                <a:spcPct val="150000"/>
              </a:lnSpc>
            </a:pPr>
            <a:r>
              <a:rPr lang="tr-TR" b="1" dirty="0"/>
              <a:t>Hedef hücreye etkilerine göre</a:t>
            </a:r>
          </a:p>
          <a:p>
            <a:pPr>
              <a:lnSpc>
                <a:spcPct val="150000"/>
              </a:lnSpc>
            </a:pPr>
            <a:r>
              <a:rPr lang="tr-TR" b="1" dirty="0">
                <a:solidFill>
                  <a:srgbClr val="7030A0"/>
                </a:solidFill>
              </a:rPr>
              <a:t>Etki mekanizmalarına göre</a:t>
            </a:r>
          </a:p>
          <a:p>
            <a:pPr>
              <a:lnSpc>
                <a:spcPct val="150000"/>
              </a:lnSpc>
            </a:pPr>
            <a:r>
              <a:rPr lang="tr-TR" b="1" dirty="0"/>
              <a:t>Etki gösterdiği mikroorganizma grubuna göre</a:t>
            </a:r>
          </a:p>
          <a:p>
            <a:pPr>
              <a:lnSpc>
                <a:spcPct val="120000"/>
              </a:lnSpc>
            </a:pPr>
            <a:r>
              <a:rPr lang="tr-TR" b="1" dirty="0"/>
              <a:t>Etki spektrumuna göre</a:t>
            </a:r>
          </a:p>
          <a:p>
            <a:pPr>
              <a:lnSpc>
                <a:spcPct val="120000"/>
              </a:lnSpc>
            </a:pPr>
            <a:r>
              <a:rPr lang="tr-TR" b="1" dirty="0" err="1"/>
              <a:t>İmmunmodülatör</a:t>
            </a:r>
            <a:r>
              <a:rPr lang="tr-TR" b="1" dirty="0"/>
              <a:t> etkilerine göre </a:t>
            </a:r>
          </a:p>
          <a:p>
            <a:pPr>
              <a:buFont typeface="Wingdings" pitchFamily="2" charset="2"/>
              <a:buNone/>
            </a:pPr>
            <a:endParaRPr lang="tr-TR" b="1" dirty="0"/>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1 Başlık"/>
          <p:cNvSpPr>
            <a:spLocks noGrp="1"/>
          </p:cNvSpPr>
          <p:nvPr>
            <p:ph type="title"/>
          </p:nvPr>
        </p:nvSpPr>
        <p:spPr/>
        <p:txBody>
          <a:bodyPr/>
          <a:lstStyle/>
          <a:p>
            <a:r>
              <a:rPr lang="tr-TR" b="1" dirty="0" smtClean="0">
                <a:solidFill>
                  <a:srgbClr val="7030A0"/>
                </a:solidFill>
              </a:rPr>
              <a:t>ETKİ MEKANİZMALARINA GÖRE</a:t>
            </a:r>
            <a:endParaRPr lang="tr-TR" dirty="0"/>
          </a:p>
        </p:txBody>
      </p:sp>
      <p:sp>
        <p:nvSpPr>
          <p:cNvPr id="3" name="2 İçerik Yer Tutucusu"/>
          <p:cNvSpPr>
            <a:spLocks noGrp="1"/>
          </p:cNvSpPr>
          <p:nvPr>
            <p:ph idx="1"/>
          </p:nvPr>
        </p:nvSpPr>
        <p:spPr/>
        <p:txBody>
          <a:bodyPr/>
          <a:lstStyle/>
          <a:p>
            <a:pPr marL="609600" indent="-609600">
              <a:lnSpc>
                <a:spcPct val="130000"/>
              </a:lnSpc>
              <a:buNone/>
            </a:pPr>
            <a:r>
              <a:rPr lang="tr-TR" b="1" dirty="0" smtClean="0">
                <a:solidFill>
                  <a:srgbClr val="FF0000"/>
                </a:solidFill>
              </a:rPr>
              <a:t>1-</a:t>
            </a:r>
            <a:r>
              <a:rPr lang="tr-TR" b="1" dirty="0" smtClean="0"/>
              <a:t> Bakteri hücre duvar sentezini engelleyenler </a:t>
            </a:r>
          </a:p>
          <a:p>
            <a:pPr marL="609600" indent="-609600">
              <a:lnSpc>
                <a:spcPct val="130000"/>
              </a:lnSpc>
              <a:buNone/>
            </a:pPr>
            <a:r>
              <a:rPr lang="tr-TR" b="1" dirty="0" smtClean="0">
                <a:solidFill>
                  <a:srgbClr val="FF0000"/>
                </a:solidFill>
              </a:rPr>
              <a:t>2-</a:t>
            </a:r>
            <a:r>
              <a:rPr lang="tr-TR" b="1" dirty="0" smtClean="0"/>
              <a:t> Hücre zarının yapısını engelleyenler </a:t>
            </a:r>
          </a:p>
          <a:p>
            <a:pPr marL="609600" indent="-609600">
              <a:lnSpc>
                <a:spcPct val="130000"/>
              </a:lnSpc>
              <a:buNone/>
            </a:pPr>
            <a:r>
              <a:rPr lang="tr-TR" b="1" dirty="0" smtClean="0">
                <a:solidFill>
                  <a:srgbClr val="FF0000"/>
                </a:solidFill>
              </a:rPr>
              <a:t>3-</a:t>
            </a:r>
            <a:r>
              <a:rPr lang="tr-TR" b="1" dirty="0" smtClean="0"/>
              <a:t> Protein sentezini engelleyenler </a:t>
            </a:r>
          </a:p>
          <a:p>
            <a:pPr marL="609600" indent="-609600">
              <a:lnSpc>
                <a:spcPct val="130000"/>
              </a:lnSpc>
              <a:buNone/>
            </a:pPr>
            <a:r>
              <a:rPr lang="tr-TR" b="1" dirty="0" smtClean="0">
                <a:solidFill>
                  <a:srgbClr val="FF0000"/>
                </a:solidFill>
              </a:rPr>
              <a:t>4-</a:t>
            </a:r>
            <a:r>
              <a:rPr lang="tr-TR" b="1" dirty="0" err="1" smtClean="0"/>
              <a:t>Nükleik</a:t>
            </a:r>
            <a:r>
              <a:rPr lang="tr-TR" b="1" dirty="0" smtClean="0"/>
              <a:t> asit (DNA, RNA) sentezini veya yapısını engelleyenler</a:t>
            </a:r>
          </a:p>
          <a:p>
            <a:pPr marL="609600" indent="-609600">
              <a:lnSpc>
                <a:spcPct val="130000"/>
              </a:lnSpc>
              <a:buNone/>
            </a:pPr>
            <a:r>
              <a:rPr lang="tr-TR" b="1" dirty="0" smtClean="0">
                <a:solidFill>
                  <a:srgbClr val="FF0000"/>
                </a:solidFill>
              </a:rPr>
              <a:t>5- </a:t>
            </a:r>
            <a:r>
              <a:rPr lang="tr-TR" b="1" dirty="0" err="1" smtClean="0"/>
              <a:t>Antimetabolik</a:t>
            </a:r>
            <a:r>
              <a:rPr lang="tr-TR" b="1" dirty="0" smtClean="0"/>
              <a:t> etki gösterenler</a:t>
            </a:r>
          </a:p>
          <a:p>
            <a:pPr>
              <a:buNone/>
            </a:pPr>
            <a:endParaRPr lang="tr-TR"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FF0000"/>
                </a:solidFill>
                <a:latin typeface="Calibri" pitchFamily="34" charset="0"/>
              </a:rPr>
              <a:t>AKILCI İLAÇ KULLANIMI NEDİR?</a:t>
            </a:r>
            <a:endParaRPr lang="tr-TR" sz="3200" dirty="0">
              <a:solidFill>
                <a:srgbClr val="FF0000"/>
              </a:solidFill>
            </a:endParaRPr>
          </a:p>
        </p:txBody>
      </p:sp>
      <p:sp>
        <p:nvSpPr>
          <p:cNvPr id="3" name="İçerik Yer Tutucusu 2"/>
          <p:cNvSpPr>
            <a:spLocks noGrp="1"/>
          </p:cNvSpPr>
          <p:nvPr>
            <p:ph idx="1"/>
          </p:nvPr>
        </p:nvSpPr>
        <p:spPr/>
        <p:txBody>
          <a:bodyPr>
            <a:normAutofit/>
          </a:bodyPr>
          <a:lstStyle/>
          <a:p>
            <a:pPr algn="just"/>
            <a:r>
              <a:rPr lang="tr-TR" sz="2800" b="1" dirty="0" smtClean="0"/>
              <a:t>Kişilerin hastalığına </a:t>
            </a:r>
            <a:r>
              <a:rPr lang="tr-TR" sz="2800" b="1" dirty="0"/>
              <a:t>ve bireysel özelliklerine göre; </a:t>
            </a:r>
            <a:endParaRPr lang="tr-TR" sz="2800" b="1" dirty="0" smtClean="0"/>
          </a:p>
          <a:p>
            <a:pPr lvl="1" algn="just"/>
            <a:r>
              <a:rPr lang="tr-TR" b="1" dirty="0"/>
              <a:t>U</a:t>
            </a:r>
            <a:r>
              <a:rPr lang="tr-TR" b="1" dirty="0" smtClean="0"/>
              <a:t>ygun ilacı</a:t>
            </a:r>
          </a:p>
          <a:p>
            <a:pPr lvl="1" algn="just"/>
            <a:r>
              <a:rPr lang="tr-TR" b="1" dirty="0"/>
              <a:t>U</a:t>
            </a:r>
            <a:r>
              <a:rPr lang="tr-TR" b="1" dirty="0" smtClean="0"/>
              <a:t>ygun sürede</a:t>
            </a:r>
          </a:p>
          <a:p>
            <a:pPr lvl="1" algn="just"/>
            <a:r>
              <a:rPr lang="tr-TR" b="1" dirty="0" smtClean="0"/>
              <a:t>Uygun dozda </a:t>
            </a:r>
          </a:p>
          <a:p>
            <a:pPr lvl="1" algn="just"/>
            <a:r>
              <a:rPr lang="tr-TR" b="1" dirty="0"/>
              <a:t>E</a:t>
            </a:r>
            <a:r>
              <a:rPr lang="tr-TR" b="1" dirty="0" smtClean="0"/>
              <a:t>n </a:t>
            </a:r>
            <a:r>
              <a:rPr lang="tr-TR" b="1" dirty="0"/>
              <a:t>düşük </a:t>
            </a:r>
            <a:r>
              <a:rPr lang="tr-TR" b="1" dirty="0" smtClean="0"/>
              <a:t>maliyetle </a:t>
            </a:r>
          </a:p>
          <a:p>
            <a:pPr marL="457200" lvl="1" indent="0" algn="just">
              <a:buNone/>
            </a:pPr>
            <a:r>
              <a:rPr lang="tr-TR" b="1" dirty="0" smtClean="0"/>
              <a:t>kolayca sağlayabilmeleri </a:t>
            </a:r>
            <a:r>
              <a:rPr lang="tr-TR" b="1" dirty="0"/>
              <a:t>olarak </a:t>
            </a:r>
            <a:r>
              <a:rPr lang="tr-TR" b="1" dirty="0" smtClean="0"/>
              <a:t>tanımlanmaktadır</a:t>
            </a:r>
            <a:endParaRPr lang="tr-TR" b="1" dirty="0"/>
          </a:p>
          <a:p>
            <a:endParaRPr lang="tr-TR" sz="2800" b="1" dirty="0"/>
          </a:p>
        </p:txBody>
      </p:sp>
      <p:pic>
        <p:nvPicPr>
          <p:cNvPr id="4" name="Picture 2" descr="http://t1.gstatic.com/images?q=tbn:ANd9GcREXGoQhgq8fMu3tktem_R-HU5OdjOkjues7Yj5ehmiz9ZawySC5w"/>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7029114" y="2060848"/>
            <a:ext cx="1138349" cy="2027684"/>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15457267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FF0000"/>
                </a:solidFill>
              </a:rPr>
              <a:t>AKILCI OLMAYAN İLAÇ KULLANIMI ÖRNEKLERİ </a:t>
            </a:r>
            <a:endParaRPr lang="tr-TR" sz="3200" b="1" dirty="0">
              <a:solidFill>
                <a:srgbClr val="FF0000"/>
              </a:solidFill>
            </a:endParaRPr>
          </a:p>
        </p:txBody>
      </p:sp>
      <p:sp>
        <p:nvSpPr>
          <p:cNvPr id="3" name="İçerik Yer Tutucusu 2"/>
          <p:cNvSpPr>
            <a:spLocks noGrp="1"/>
          </p:cNvSpPr>
          <p:nvPr>
            <p:ph idx="1"/>
          </p:nvPr>
        </p:nvSpPr>
        <p:spPr/>
        <p:txBody>
          <a:bodyPr>
            <a:normAutofit/>
          </a:bodyPr>
          <a:lstStyle/>
          <a:p>
            <a:pPr algn="just"/>
            <a:r>
              <a:rPr lang="tr-TR" sz="2800" b="1" dirty="0">
                <a:latin typeface="Calibri" pitchFamily="34" charset="0"/>
              </a:rPr>
              <a:t>İlaç kullanımında özensiz davranılması </a:t>
            </a:r>
          </a:p>
          <a:p>
            <a:pPr algn="just">
              <a:buNone/>
            </a:pPr>
            <a:r>
              <a:rPr lang="tr-TR" sz="2800" b="1" dirty="0">
                <a:latin typeface="Calibri" pitchFamily="34" charset="0"/>
              </a:rPr>
              <a:t>	(uygulama yolu, süre, doz..)</a:t>
            </a:r>
          </a:p>
          <a:p>
            <a:pPr algn="just"/>
            <a:r>
              <a:rPr lang="tr-TR" sz="2800" b="1" dirty="0">
                <a:latin typeface="Calibri" pitchFamily="34" charset="0"/>
              </a:rPr>
              <a:t>İlaçların gereksiz ve aşırı kullanımı</a:t>
            </a:r>
          </a:p>
          <a:p>
            <a:pPr algn="just"/>
            <a:r>
              <a:rPr lang="tr-TR" sz="2800" b="1" dirty="0" smtClean="0">
                <a:latin typeface="Calibri" pitchFamily="34" charset="0"/>
              </a:rPr>
              <a:t>Gerekmediği halde çoklu </a:t>
            </a:r>
            <a:r>
              <a:rPr lang="tr-TR" sz="2800" b="1" dirty="0">
                <a:latin typeface="Calibri" pitchFamily="34" charset="0"/>
              </a:rPr>
              <a:t>ilaç </a:t>
            </a:r>
            <a:r>
              <a:rPr lang="tr-TR" sz="2800" b="1" dirty="0" smtClean="0">
                <a:latin typeface="Calibri" pitchFamily="34" charset="0"/>
              </a:rPr>
              <a:t>kullanımı</a:t>
            </a:r>
            <a:endParaRPr lang="tr-TR" sz="2800" b="1" dirty="0">
              <a:latin typeface="Calibri" pitchFamily="34" charset="0"/>
            </a:endParaRPr>
          </a:p>
          <a:p>
            <a:pPr algn="just"/>
            <a:r>
              <a:rPr lang="tr-TR" sz="2800" b="1" dirty="0" smtClean="0"/>
              <a:t>İlaçların </a:t>
            </a:r>
            <a:r>
              <a:rPr lang="tr-TR" sz="2800" b="1" dirty="0"/>
              <a:t>su yerine </a:t>
            </a:r>
            <a:r>
              <a:rPr lang="tr-TR" sz="2800" b="1" dirty="0" smtClean="0"/>
              <a:t>başka </a:t>
            </a:r>
            <a:r>
              <a:rPr lang="tr-TR" sz="2800" b="1" dirty="0"/>
              <a:t>içeceklerle </a:t>
            </a:r>
            <a:r>
              <a:rPr lang="tr-TR" sz="2800" b="1" dirty="0" smtClean="0"/>
              <a:t>alınması</a:t>
            </a:r>
            <a:endParaRPr lang="tr-TR" sz="2800" b="1" dirty="0"/>
          </a:p>
          <a:p>
            <a:pPr algn="just"/>
            <a:r>
              <a:rPr lang="tr-TR" sz="2800" b="1" dirty="0"/>
              <a:t>Süresi geçmiş ilaçların </a:t>
            </a:r>
            <a:r>
              <a:rPr lang="tr-TR" sz="2800" b="1" dirty="0" smtClean="0"/>
              <a:t>kullanılması</a:t>
            </a:r>
          </a:p>
          <a:p>
            <a:pPr algn="just"/>
            <a:r>
              <a:rPr lang="tr-TR" sz="2800" b="1" dirty="0" smtClean="0"/>
              <a:t>Hekim </a:t>
            </a:r>
            <a:r>
              <a:rPr lang="tr-TR" sz="2800" b="1" dirty="0"/>
              <a:t>önerisi </a:t>
            </a:r>
            <a:r>
              <a:rPr lang="tr-TR" sz="2800" b="1" dirty="0" smtClean="0"/>
              <a:t>dışında</a:t>
            </a:r>
            <a:r>
              <a:rPr lang="tr-TR" sz="2800" b="1" dirty="0" smtClean="0">
                <a:latin typeface="Calibri" pitchFamily="34" charset="0"/>
              </a:rPr>
              <a:t> </a:t>
            </a:r>
            <a:r>
              <a:rPr lang="tr-TR" sz="2800" b="1" dirty="0">
                <a:latin typeface="Calibri" pitchFamily="34" charset="0"/>
              </a:rPr>
              <a:t>uygunsuz kişisel tedavilere başvurulması</a:t>
            </a:r>
            <a:endParaRPr lang="tr-TR" sz="2800" b="1" dirty="0">
              <a:solidFill>
                <a:srgbClr val="FF0000"/>
              </a:solidFill>
              <a:latin typeface="Calibri" pitchFamily="34" charset="0"/>
            </a:endParaRPr>
          </a:p>
          <a:p>
            <a:pPr marL="0" indent="0" algn="just">
              <a:buNone/>
            </a:pPr>
            <a:endParaRPr lang="tr-TR" sz="2800" b="1" dirty="0">
              <a:solidFill>
                <a:srgbClr val="66FF33"/>
              </a:solidFill>
              <a:latin typeface="Calibri" pitchFamily="34" charset="0"/>
            </a:endParaRPr>
          </a:p>
          <a:p>
            <a:pPr algn="just"/>
            <a:endParaRPr lang="tr-TR" sz="2400" dirty="0">
              <a:solidFill>
                <a:srgbClr val="FF0000"/>
              </a:solidFill>
              <a:latin typeface="Calibri" pitchFamily="34" charset="0"/>
            </a:endParaRPr>
          </a:p>
          <a:p>
            <a:endParaRPr lang="tr-TR" sz="2400" dirty="0"/>
          </a:p>
        </p:txBody>
      </p:sp>
      <p:pic>
        <p:nvPicPr>
          <p:cNvPr id="4" name="Picture 2" descr="http://t2.gstatic.com/images?q=tbn:ANd9GcRMMTmxf2SVsvdNbv9hvWKFYnbrLkB7VDEUVyt7FrPIFnODZ2vk"/>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732240" y="1196752"/>
            <a:ext cx="2088232" cy="2664296"/>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0446830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FF0000"/>
                </a:solidFill>
              </a:rPr>
              <a:t>AKILCI OLMAYAN İLAÇ KULLANIMI ÖRNEKLERİ </a:t>
            </a:r>
            <a:endParaRPr lang="tr-TR" sz="3200" dirty="0">
              <a:solidFill>
                <a:srgbClr val="FF0000"/>
              </a:solidFill>
            </a:endParaRPr>
          </a:p>
        </p:txBody>
      </p:sp>
      <p:sp>
        <p:nvSpPr>
          <p:cNvPr id="3" name="İçerik Yer Tutucusu 2"/>
          <p:cNvSpPr>
            <a:spLocks noGrp="1"/>
          </p:cNvSpPr>
          <p:nvPr>
            <p:ph idx="1"/>
          </p:nvPr>
        </p:nvSpPr>
        <p:spPr/>
        <p:txBody>
          <a:bodyPr>
            <a:normAutofit/>
          </a:bodyPr>
          <a:lstStyle/>
          <a:p>
            <a:pPr algn="just"/>
            <a:r>
              <a:rPr lang="tr-TR" sz="2400" b="1" dirty="0" smtClean="0">
                <a:cs typeface="Calibri" pitchFamily="34" charset="0"/>
              </a:rPr>
              <a:t>Gereksiz yere enjeksiyon kullanımı</a:t>
            </a:r>
            <a:endParaRPr lang="tr-TR" sz="2400" b="1" dirty="0"/>
          </a:p>
          <a:p>
            <a:pPr algn="just"/>
            <a:r>
              <a:rPr lang="tr-TR" sz="2400" b="1" dirty="0">
                <a:cs typeface="Calibri" pitchFamily="34" charset="0"/>
              </a:rPr>
              <a:t>Gereksiz ve uygunsuz vitamin kullanımı</a:t>
            </a:r>
            <a:endParaRPr lang="tr-TR" sz="2400" b="1" dirty="0"/>
          </a:p>
          <a:p>
            <a:pPr algn="just"/>
            <a:r>
              <a:rPr lang="tr-TR" sz="2400" b="1" dirty="0">
                <a:cs typeface="Calibri" pitchFamily="34" charset="0"/>
              </a:rPr>
              <a:t>Bilinçsiz gıda takviyesi ve bitkisel ürünlerin kullanımı</a:t>
            </a:r>
          </a:p>
          <a:p>
            <a:pPr algn="just"/>
            <a:r>
              <a:rPr lang="tr-TR" sz="2400" b="1" dirty="0">
                <a:cs typeface="Calibri" pitchFamily="34" charset="0"/>
              </a:rPr>
              <a:t>İlaç-ilaç etkileşimleri ve besin-ilaç etkileşimlerinin ihmal edilmesi</a:t>
            </a:r>
          </a:p>
          <a:p>
            <a:pPr algn="just"/>
            <a:r>
              <a:rPr lang="tr-TR" sz="2400" b="1" dirty="0" smtClean="0">
                <a:cs typeface="Calibri" pitchFamily="34" charset="0"/>
              </a:rPr>
              <a:t>Gereksiz </a:t>
            </a:r>
            <a:r>
              <a:rPr lang="tr-TR" sz="2400" b="1" dirty="0">
                <a:cs typeface="Calibri" pitchFamily="34" charset="0"/>
              </a:rPr>
              <a:t>antibiyotik </a:t>
            </a:r>
            <a:r>
              <a:rPr lang="tr-TR" sz="2400" b="1" dirty="0" smtClean="0">
                <a:cs typeface="Calibri" pitchFamily="34" charset="0"/>
              </a:rPr>
              <a:t>kullanımı </a:t>
            </a:r>
            <a:endParaRPr lang="tr-TR" sz="2400" b="1" dirty="0">
              <a:cs typeface="Calibri" pitchFamily="34" charset="0"/>
            </a:endParaRPr>
          </a:p>
          <a:p>
            <a:endParaRPr lang="tr-TR" sz="2400" dirty="0"/>
          </a:p>
        </p:txBody>
      </p:sp>
      <p:pic>
        <p:nvPicPr>
          <p:cNvPr id="5" name="Picture 2" descr="http://www.hizli-zayiflama.com/wp-content/uploads/2010/03/zayiflama-300x150.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971600" y="4365104"/>
            <a:ext cx="3888432" cy="1820117"/>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5645760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2" descr="http://t3.gstatic.com/images?q=tbn:ANd9GcTpClrsOvnsTL6LkOvCqoc2lyyWJLhkkYQlMVXC3ugFl1uGkx2u"/>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56176" y="3645024"/>
            <a:ext cx="2088232" cy="2592288"/>
          </a:xfrm>
          <a:prstGeom prst="rect">
            <a:avLst/>
          </a:prstGeom>
          <a:noFill/>
          <a:extLst/>
        </p:spPr>
      </p:pic>
      <p:sp>
        <p:nvSpPr>
          <p:cNvPr id="2" name="Başlık 1"/>
          <p:cNvSpPr>
            <a:spLocks noGrp="1"/>
          </p:cNvSpPr>
          <p:nvPr>
            <p:ph type="title"/>
          </p:nvPr>
        </p:nvSpPr>
        <p:spPr/>
        <p:txBody>
          <a:bodyPr>
            <a:normAutofit fontScale="90000"/>
          </a:bodyPr>
          <a:lstStyle/>
          <a:p>
            <a:r>
              <a:rPr lang="tr-TR" sz="3600" b="1" dirty="0" smtClean="0"/>
              <a:t/>
            </a:r>
            <a:br>
              <a:rPr lang="tr-TR" sz="3600" b="1" dirty="0" smtClean="0"/>
            </a:br>
            <a:r>
              <a:rPr lang="tr-TR" sz="3600" b="1" dirty="0" smtClean="0">
                <a:solidFill>
                  <a:srgbClr val="FF0000"/>
                </a:solidFill>
              </a:rPr>
              <a:t>AKILCI OLMAYAN İLAÇ KULLANIMI ETKİLERİ NELERDİR?</a:t>
            </a:r>
            <a:r>
              <a:rPr lang="tr-TR" b="1" cap="small" dirty="0" smtClean="0">
                <a:solidFill>
                  <a:srgbClr val="FF0000"/>
                </a:solidFill>
                <a:latin typeface="Calibri" pitchFamily="34" charset="0"/>
                <a:cs typeface="Calibri" pitchFamily="34" charset="0"/>
              </a:rPr>
              <a:t/>
            </a:r>
            <a:br>
              <a:rPr lang="tr-TR" b="1" cap="small" dirty="0" smtClean="0">
                <a:solidFill>
                  <a:srgbClr val="FF0000"/>
                </a:solidFill>
                <a:latin typeface="Calibri" pitchFamily="34" charset="0"/>
                <a:cs typeface="Calibri" pitchFamily="34" charset="0"/>
              </a:rPr>
            </a:br>
            <a:endParaRPr lang="tr-TR" dirty="0">
              <a:solidFill>
                <a:srgbClr val="FF0000"/>
              </a:solidFill>
            </a:endParaRPr>
          </a:p>
        </p:txBody>
      </p:sp>
      <p:sp>
        <p:nvSpPr>
          <p:cNvPr id="3" name="İçerik Yer Tutucusu 2"/>
          <p:cNvSpPr>
            <a:spLocks noGrp="1"/>
          </p:cNvSpPr>
          <p:nvPr>
            <p:ph idx="1"/>
          </p:nvPr>
        </p:nvSpPr>
        <p:spPr>
          <a:xfrm>
            <a:off x="467544" y="1268760"/>
            <a:ext cx="8229600" cy="4525963"/>
          </a:xfrm>
        </p:spPr>
        <p:txBody>
          <a:bodyPr>
            <a:normAutofit/>
          </a:bodyPr>
          <a:lstStyle/>
          <a:p>
            <a:pPr algn="just">
              <a:defRPr/>
            </a:pPr>
            <a:endParaRPr lang="tr-TR" sz="2400" dirty="0" smtClean="0">
              <a:latin typeface="Calibri" pitchFamily="34" charset="0"/>
              <a:cs typeface="Calibri" pitchFamily="34" charset="0"/>
            </a:endParaRPr>
          </a:p>
          <a:p>
            <a:pPr algn="just">
              <a:defRPr/>
            </a:pPr>
            <a:r>
              <a:rPr lang="tr-TR" sz="2800" b="1" dirty="0" smtClean="0">
                <a:latin typeface="Calibri" pitchFamily="34" charset="0"/>
                <a:cs typeface="Calibri" pitchFamily="34" charset="0"/>
              </a:rPr>
              <a:t>Hastaların </a:t>
            </a:r>
            <a:r>
              <a:rPr lang="tr-TR" sz="2800" b="1" dirty="0">
                <a:latin typeface="Calibri" pitchFamily="34" charset="0"/>
                <a:cs typeface="Calibri" pitchFamily="34" charset="0"/>
              </a:rPr>
              <a:t>tedaviye uyumunun azalmasına,</a:t>
            </a:r>
          </a:p>
          <a:p>
            <a:pPr algn="just">
              <a:defRPr/>
            </a:pPr>
            <a:r>
              <a:rPr lang="tr-TR" sz="2800" b="1" dirty="0">
                <a:latin typeface="Calibri" pitchFamily="34" charset="0"/>
                <a:cs typeface="Calibri" pitchFamily="34" charset="0"/>
              </a:rPr>
              <a:t>İlaç </a:t>
            </a:r>
            <a:r>
              <a:rPr lang="tr-TR" sz="2800" b="1" dirty="0" smtClean="0">
                <a:latin typeface="Calibri" pitchFamily="34" charset="0"/>
                <a:cs typeface="Calibri" pitchFamily="34" charset="0"/>
              </a:rPr>
              <a:t>etkileşimlerine </a:t>
            </a:r>
            <a:r>
              <a:rPr lang="tr-TR" sz="2800" b="1" dirty="0">
                <a:cs typeface="Calibri" pitchFamily="34" charset="0"/>
              </a:rPr>
              <a:t>bağlı istenmeyen </a:t>
            </a:r>
            <a:r>
              <a:rPr lang="tr-TR" sz="2800" b="1" dirty="0" smtClean="0">
                <a:cs typeface="Calibri" pitchFamily="34" charset="0"/>
              </a:rPr>
              <a:t>sonuçlara</a:t>
            </a:r>
            <a:r>
              <a:rPr lang="tr-TR" sz="2800" b="1" dirty="0">
                <a:cs typeface="Calibri" pitchFamily="34" charset="0"/>
              </a:rPr>
              <a:t>, </a:t>
            </a:r>
            <a:endParaRPr lang="tr-TR" sz="2800" b="1" dirty="0">
              <a:latin typeface="Calibri" pitchFamily="34" charset="0"/>
              <a:cs typeface="Calibri" pitchFamily="34" charset="0"/>
            </a:endParaRPr>
          </a:p>
          <a:p>
            <a:pPr algn="just">
              <a:defRPr/>
            </a:pPr>
            <a:r>
              <a:rPr lang="tr-TR" sz="2800" b="1" dirty="0">
                <a:latin typeface="Calibri" pitchFamily="34" charset="0"/>
                <a:cs typeface="Calibri" pitchFamily="34" charset="0"/>
              </a:rPr>
              <a:t>Bazı ilaçlara karşı direnç gelişmesine, </a:t>
            </a:r>
          </a:p>
          <a:p>
            <a:pPr algn="just">
              <a:defRPr/>
            </a:pPr>
            <a:r>
              <a:rPr lang="tr-TR" sz="2800" b="1" dirty="0">
                <a:latin typeface="Calibri" pitchFamily="34" charset="0"/>
                <a:cs typeface="Calibri" pitchFamily="34" charset="0"/>
              </a:rPr>
              <a:t>Hastalıkların tekrarlamasına ya da uzamasına, </a:t>
            </a:r>
          </a:p>
          <a:p>
            <a:pPr algn="just">
              <a:defRPr/>
            </a:pPr>
            <a:r>
              <a:rPr lang="tr-TR" sz="2800" b="1" dirty="0">
                <a:latin typeface="Calibri" pitchFamily="34" charset="0"/>
                <a:cs typeface="Calibri" pitchFamily="34" charset="0"/>
              </a:rPr>
              <a:t>Yan etki görülme sıklığının artmasına, </a:t>
            </a:r>
          </a:p>
          <a:p>
            <a:pPr algn="just">
              <a:defRPr/>
            </a:pPr>
            <a:r>
              <a:rPr lang="tr-TR" sz="2800" b="1" dirty="0">
                <a:latin typeface="Calibri" pitchFamily="34" charset="0"/>
                <a:cs typeface="Calibri" pitchFamily="34" charset="0"/>
              </a:rPr>
              <a:t>Tedavi maliyetlerinin artmasına </a:t>
            </a:r>
            <a:endParaRPr lang="tr-TR" sz="2800" b="1" dirty="0" smtClean="0">
              <a:latin typeface="Calibri" pitchFamily="34" charset="0"/>
              <a:cs typeface="Calibri" pitchFamily="34" charset="0"/>
            </a:endParaRPr>
          </a:p>
          <a:p>
            <a:pPr marL="0" indent="0" algn="just">
              <a:buNone/>
              <a:defRPr/>
            </a:pPr>
            <a:r>
              <a:rPr lang="tr-TR" sz="2800" b="1" dirty="0">
                <a:latin typeface="Calibri" pitchFamily="34" charset="0"/>
                <a:cs typeface="Calibri" pitchFamily="34" charset="0"/>
              </a:rPr>
              <a:t> </a:t>
            </a:r>
            <a:r>
              <a:rPr lang="tr-TR" sz="2800" b="1" dirty="0" smtClean="0">
                <a:latin typeface="Calibri" pitchFamily="34" charset="0"/>
                <a:cs typeface="Calibri" pitchFamily="34" charset="0"/>
              </a:rPr>
              <a:t>    neden olur</a:t>
            </a:r>
            <a:endParaRPr lang="tr-TR" sz="2800" b="1" dirty="0">
              <a:latin typeface="Calibri" pitchFamily="34" charset="0"/>
              <a:cs typeface="Calibri" pitchFamily="34" charset="0"/>
            </a:endParaRPr>
          </a:p>
          <a:p>
            <a:endParaRPr lang="tr-TR" sz="2800" b="1" dirty="0"/>
          </a:p>
        </p:txBody>
      </p:sp>
    </p:spTree>
    <p:extLst>
      <p:ext uri="{BB962C8B-B14F-4D97-AF65-F5344CB8AC3E}">
        <p14:creationId xmlns="" xmlns:p14="http://schemas.microsoft.com/office/powerpoint/2010/main" val="400702140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C:\Users\fatma.isli\Desktop\Adsız.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7057734" y="3830232"/>
            <a:ext cx="2086266" cy="2191056"/>
          </a:xfrm>
          <a:prstGeom prst="rect">
            <a:avLst/>
          </a:prstGeom>
          <a:noFill/>
          <a:extLst>
            <a:ext uri="{909E8E84-426E-40DD-AFC4-6F175D3DCCD1}">
              <a14:hiddenFill xmlns="" xmlns:a14="http://schemas.microsoft.com/office/drawing/2010/main">
                <a:solidFill>
                  <a:srgbClr val="FFFFFF"/>
                </a:solidFill>
              </a14:hiddenFill>
            </a:ext>
          </a:extLst>
        </p:spPr>
      </p:pic>
      <p:sp>
        <p:nvSpPr>
          <p:cNvPr id="10244" name="2 İçerik Yer Tutucusu"/>
          <p:cNvSpPr>
            <a:spLocks noGrp="1"/>
          </p:cNvSpPr>
          <p:nvPr>
            <p:ph sz="quarter" idx="1"/>
          </p:nvPr>
        </p:nvSpPr>
        <p:spPr>
          <a:xfrm>
            <a:off x="604838" y="1321593"/>
            <a:ext cx="7467600" cy="4214813"/>
          </a:xfrm>
        </p:spPr>
        <p:txBody>
          <a:bodyPr>
            <a:normAutofit fontScale="92500" lnSpcReduction="10000"/>
          </a:bodyPr>
          <a:lstStyle/>
          <a:p>
            <a:pPr marL="0" indent="0">
              <a:buNone/>
              <a:defRPr/>
            </a:pPr>
            <a:endParaRPr lang="tr-TR" dirty="0" smtClean="0">
              <a:latin typeface="Calibri" pitchFamily="34" charset="0"/>
            </a:endParaRPr>
          </a:p>
          <a:p>
            <a:pPr>
              <a:defRPr/>
            </a:pPr>
            <a:r>
              <a:rPr lang="tr-TR" sz="2800" b="1" dirty="0" smtClean="0"/>
              <a:t>Hekim</a:t>
            </a:r>
          </a:p>
          <a:p>
            <a:pPr>
              <a:defRPr/>
            </a:pPr>
            <a:r>
              <a:rPr lang="tr-TR" sz="2800" b="1" dirty="0" smtClean="0"/>
              <a:t>Eczacı </a:t>
            </a:r>
          </a:p>
          <a:p>
            <a:pPr>
              <a:defRPr/>
            </a:pPr>
            <a:r>
              <a:rPr lang="tr-TR" sz="2800" b="1" dirty="0" smtClean="0"/>
              <a:t>Hemşire</a:t>
            </a:r>
          </a:p>
          <a:p>
            <a:pPr>
              <a:defRPr/>
            </a:pPr>
            <a:r>
              <a:rPr lang="tr-TR" sz="2800" b="1" dirty="0" smtClean="0"/>
              <a:t>Diğer sağlık personeli</a:t>
            </a:r>
          </a:p>
          <a:p>
            <a:pPr>
              <a:defRPr/>
            </a:pPr>
            <a:r>
              <a:rPr lang="tr-TR" sz="2800" b="1" dirty="0" smtClean="0"/>
              <a:t>Hasta/ hasta yakını</a:t>
            </a:r>
          </a:p>
          <a:p>
            <a:pPr>
              <a:defRPr/>
            </a:pPr>
            <a:r>
              <a:rPr lang="tr-TR" sz="2800" b="1" dirty="0" smtClean="0"/>
              <a:t>Üretici</a:t>
            </a:r>
          </a:p>
          <a:p>
            <a:pPr>
              <a:defRPr/>
            </a:pPr>
            <a:r>
              <a:rPr lang="tr-TR" sz="2800" b="1" dirty="0" smtClean="0"/>
              <a:t>Düzenleyici Otorite</a:t>
            </a:r>
          </a:p>
          <a:p>
            <a:pPr>
              <a:defRPr/>
            </a:pPr>
            <a:r>
              <a:rPr lang="tr-TR" sz="2800" b="1" dirty="0" smtClean="0"/>
              <a:t>Diğer (Medya, Akademi vb.)</a:t>
            </a:r>
          </a:p>
          <a:p>
            <a:pPr marL="0" indent="0">
              <a:buFont typeface="Wingdings" pitchFamily="2" charset="2"/>
              <a:buNone/>
              <a:defRPr/>
            </a:pPr>
            <a:endParaRPr lang="tr-TR" sz="2800" b="1" dirty="0" smtClean="0"/>
          </a:p>
        </p:txBody>
      </p:sp>
      <p:sp>
        <p:nvSpPr>
          <p:cNvPr id="10245" name="1 Başlık"/>
          <p:cNvSpPr>
            <a:spLocks noGrp="1"/>
          </p:cNvSpPr>
          <p:nvPr>
            <p:ph type="title"/>
          </p:nvPr>
        </p:nvSpPr>
        <p:spPr bwMode="auto">
          <a:xfrm>
            <a:off x="857250" y="500063"/>
            <a:ext cx="7747000" cy="1143000"/>
          </a:xfrm>
        </p:spPr>
        <p:txBody>
          <a:bodyPr wrap="square" lIns="91440" tIns="45720" rIns="91440" bIns="45720" numCol="1" anchorCtr="0" compatLnSpc="1">
            <a:prstTxWarp prst="textNoShape">
              <a:avLst/>
            </a:prstTxWarp>
            <a:normAutofit fontScale="90000"/>
          </a:bodyPr>
          <a:lstStyle/>
          <a:p>
            <a:r>
              <a:rPr lang="tr-TR" sz="3600" b="1" dirty="0" smtClean="0">
                <a:solidFill>
                  <a:srgbClr val="FF0000"/>
                </a:solidFill>
                <a:latin typeface="Calibri" pitchFamily="34" charset="0"/>
              </a:rPr>
              <a:t>AKILCI İLAÇ KULLANIMINDAKİ </a:t>
            </a:r>
            <a:r>
              <a:rPr lang="tr-TR" sz="3600" b="1" cap="none" dirty="0" smtClean="0">
                <a:solidFill>
                  <a:srgbClr val="FF0000"/>
                </a:solidFill>
                <a:latin typeface="Calibri" pitchFamily="34" charset="0"/>
              </a:rPr>
              <a:t>SORUMLU TARAFLAR</a:t>
            </a:r>
            <a:endParaRPr lang="tr-TR" sz="1300" b="1" cap="none" dirty="0" smtClean="0">
              <a:solidFill>
                <a:srgbClr val="FF0000"/>
              </a:solidFill>
              <a:latin typeface="Calibri" pitchFamily="34" charset="0"/>
            </a:endParaRPr>
          </a:p>
        </p:txBody>
      </p:sp>
      <p:pic>
        <p:nvPicPr>
          <p:cNvPr id="7" name="Picture 2" descr="http://t1.gstatic.com/images?q=tbn:ANd9GcSkL7wadXo-DuEANZF1Q9ObVntypFImEyCXI2W0Y8JEVlHfb9oM"/>
          <p:cNvPicPr>
            <a:picLocks noChangeAspect="1" noChangeArrowheads="1"/>
          </p:cNvPicPr>
          <p:nvPr/>
        </p:nvPicPr>
        <p:blipFill>
          <a:blip r:embed="rId4" cstate="print">
            <a:extLst>
              <a:ext uri="{28A0092B-C50C-407E-A947-70E740481C1C}">
                <a14:useLocalDpi xmlns="" xmlns:a14="http://schemas.microsoft.com/office/drawing/2010/main" val="0"/>
              </a:ext>
            </a:extLst>
          </a:blip>
          <a:srcRect/>
          <a:stretch>
            <a:fillRect/>
          </a:stretch>
        </p:blipFill>
        <p:spPr bwMode="auto">
          <a:xfrm>
            <a:off x="6228184" y="1514475"/>
            <a:ext cx="2390775" cy="1914525"/>
          </a:xfrm>
          <a:prstGeom prst="rect">
            <a:avLst/>
          </a:prstGeom>
          <a:noFill/>
          <a:extLst>
            <a:ext uri="{909E8E84-426E-40DD-AFC4-6F175D3DCCD1}">
              <a14:hiddenFill xmlns="" xmlns:a14="http://schemas.microsoft.com/office/drawing/2010/main">
                <a:solidFill>
                  <a:srgbClr val="FFFFFF"/>
                </a:solidFill>
              </a14:hiddenFill>
            </a:ext>
          </a:extLst>
        </p:spPr>
      </p:pic>
      <p:pic>
        <p:nvPicPr>
          <p:cNvPr id="8" name="Picture 2" descr="http://delhi4cats.files.wordpress.com/2008/07/woman-doctor1.jpg"/>
          <p:cNvPicPr>
            <a:picLocks noChangeAspect="1" noChangeArrowheads="1"/>
          </p:cNvPicPr>
          <p:nvPr/>
        </p:nvPicPr>
        <p:blipFill>
          <a:blip r:embed="rId5" cstate="print">
            <a:extLst>
              <a:ext uri="{28A0092B-C50C-407E-A947-70E740481C1C}">
                <a14:useLocalDpi xmlns="" xmlns:a14="http://schemas.microsoft.com/office/drawing/2010/main" val="0"/>
              </a:ext>
            </a:extLst>
          </a:blip>
          <a:srcRect/>
          <a:stretch>
            <a:fillRect/>
          </a:stretch>
        </p:blipFill>
        <p:spPr bwMode="auto">
          <a:xfrm>
            <a:off x="5796136" y="3645983"/>
            <a:ext cx="1805608" cy="143920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076428419"/>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pPr algn="l"/>
            <a:r>
              <a:rPr lang="tr-TR" b="1" dirty="0" smtClean="0">
                <a:solidFill>
                  <a:srgbClr val="FF0000"/>
                </a:solidFill>
              </a:rPr>
              <a:t/>
            </a:r>
            <a:br>
              <a:rPr lang="tr-TR" b="1" dirty="0" smtClean="0">
                <a:solidFill>
                  <a:srgbClr val="FF0000"/>
                </a:solidFill>
              </a:rPr>
            </a:br>
            <a:r>
              <a:rPr lang="tr-TR" sz="3600" b="1" dirty="0" smtClean="0">
                <a:solidFill>
                  <a:srgbClr val="FF0000"/>
                </a:solidFill>
              </a:rPr>
              <a:t>ANTİBİYOTİK DİRENCİ NEDİR?</a:t>
            </a:r>
            <a:r>
              <a:rPr lang="tr-TR" dirty="0" smtClean="0">
                <a:solidFill>
                  <a:srgbClr val="FF0000"/>
                </a:solidFill>
              </a:rPr>
              <a:t/>
            </a:r>
            <a:br>
              <a:rPr lang="tr-TR" dirty="0" smtClean="0">
                <a:solidFill>
                  <a:srgbClr val="FF0000"/>
                </a:solidFill>
              </a:rPr>
            </a:br>
            <a:endParaRPr lang="tr-TR" dirty="0">
              <a:solidFill>
                <a:srgbClr val="FF0000"/>
              </a:solidFill>
            </a:endParaRPr>
          </a:p>
        </p:txBody>
      </p:sp>
      <p:sp>
        <p:nvSpPr>
          <p:cNvPr id="3" name="İçerik Yer Tutucusu 2"/>
          <p:cNvSpPr>
            <a:spLocks noGrp="1"/>
          </p:cNvSpPr>
          <p:nvPr>
            <p:ph idx="1"/>
          </p:nvPr>
        </p:nvSpPr>
        <p:spPr/>
        <p:txBody>
          <a:bodyPr>
            <a:normAutofit lnSpcReduction="10000"/>
          </a:bodyPr>
          <a:lstStyle/>
          <a:p>
            <a:pPr algn="just">
              <a:buNone/>
            </a:pPr>
            <a:endParaRPr lang="tr-TR" sz="2400" b="1" dirty="0" smtClean="0"/>
          </a:p>
          <a:p>
            <a:pPr algn="just">
              <a:buNone/>
            </a:pPr>
            <a:endParaRPr lang="tr-TR" sz="2800" b="1" dirty="0" smtClean="0">
              <a:solidFill>
                <a:srgbClr val="7030A0"/>
              </a:solidFill>
            </a:endParaRPr>
          </a:p>
          <a:p>
            <a:pPr algn="just"/>
            <a:r>
              <a:rPr lang="tr-TR" b="1" dirty="0" smtClean="0">
                <a:solidFill>
                  <a:srgbClr val="7030A0"/>
                </a:solidFill>
              </a:rPr>
              <a:t>Antibiyotik </a:t>
            </a:r>
            <a:r>
              <a:rPr lang="tr-TR" b="1" dirty="0">
                <a:solidFill>
                  <a:srgbClr val="7030A0"/>
                </a:solidFill>
              </a:rPr>
              <a:t>direnci, bakterilerin herhangi bir antibiyotiğin varlığına rağmen üreyebilmesi ve enfeksiyon </a:t>
            </a:r>
            <a:r>
              <a:rPr lang="tr-TR" b="1" dirty="0" smtClean="0">
                <a:solidFill>
                  <a:srgbClr val="7030A0"/>
                </a:solidFill>
              </a:rPr>
              <a:t>yapabilmesidir</a:t>
            </a:r>
          </a:p>
          <a:p>
            <a:pPr algn="just">
              <a:buNone/>
            </a:pPr>
            <a:endParaRPr lang="tr-TR" sz="2400" b="1" dirty="0" smtClean="0">
              <a:solidFill>
                <a:srgbClr val="7030A0"/>
              </a:solidFill>
            </a:endParaRPr>
          </a:p>
          <a:p>
            <a:pPr>
              <a:buNone/>
            </a:pPr>
            <a:r>
              <a:rPr lang="tr-TR" sz="2400" b="1" dirty="0" smtClean="0"/>
              <a:t>     </a:t>
            </a:r>
            <a:r>
              <a:rPr lang="tr-TR" sz="2800" b="1" dirty="0" smtClean="0"/>
              <a:t>Antibiyotiklerin yanlış nedenlerle veya doğru olmayan biçimde kullanılması, bakterilerin sonraki ilaç tedavilerine karşı direnç göstermesine neden olabilir</a:t>
            </a:r>
          </a:p>
          <a:p>
            <a:pPr>
              <a:buNone/>
            </a:pPr>
            <a:endParaRPr lang="tr-TR" sz="2800" dirty="0"/>
          </a:p>
        </p:txBody>
      </p:sp>
      <p:pic>
        <p:nvPicPr>
          <p:cNvPr id="4" name="Picture 2" descr="https://www.immunology.org/view.image?Id=1542"/>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580112" y="188640"/>
            <a:ext cx="3312368" cy="234289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5182487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fontScale="90000"/>
          </a:bodyPr>
          <a:lstStyle/>
          <a:p>
            <a:r>
              <a:rPr lang="tr-TR" b="1" dirty="0" smtClean="0">
                <a:solidFill>
                  <a:srgbClr val="FF0000"/>
                </a:solidFill>
              </a:rPr>
              <a:t/>
            </a:r>
            <a:br>
              <a:rPr lang="tr-TR" b="1" dirty="0" smtClean="0">
                <a:solidFill>
                  <a:srgbClr val="FF0000"/>
                </a:solidFill>
              </a:rPr>
            </a:br>
            <a:r>
              <a:rPr lang="tr-TR" sz="3600" b="1" dirty="0" smtClean="0">
                <a:solidFill>
                  <a:srgbClr val="FF0000"/>
                </a:solidFill>
              </a:rPr>
              <a:t>ANTİBİYOTİK DİRENCİ</a:t>
            </a:r>
            <a:r>
              <a:rPr lang="tr-TR" dirty="0" smtClean="0">
                <a:solidFill>
                  <a:srgbClr val="FF0000"/>
                </a:solidFill>
              </a:rPr>
              <a:t/>
            </a:r>
            <a:br>
              <a:rPr lang="tr-TR" dirty="0" smtClean="0">
                <a:solidFill>
                  <a:srgbClr val="FF0000"/>
                </a:solidFill>
              </a:rPr>
            </a:br>
            <a:endParaRPr lang="tr-TR" dirty="0">
              <a:solidFill>
                <a:srgbClr val="FF0000"/>
              </a:solidFill>
            </a:endParaRPr>
          </a:p>
        </p:txBody>
      </p:sp>
      <p:sp>
        <p:nvSpPr>
          <p:cNvPr id="3" name="İçerik Yer Tutucusu 2"/>
          <p:cNvSpPr>
            <a:spLocks noGrp="1"/>
          </p:cNvSpPr>
          <p:nvPr>
            <p:ph idx="1"/>
          </p:nvPr>
        </p:nvSpPr>
        <p:spPr/>
        <p:txBody>
          <a:bodyPr>
            <a:normAutofit/>
          </a:bodyPr>
          <a:lstStyle/>
          <a:p>
            <a:pPr algn="just"/>
            <a:r>
              <a:rPr lang="tr-TR" sz="2400" b="1" dirty="0"/>
              <a:t>Antibiyotiklere karşı direnç geliştiğinde, </a:t>
            </a:r>
            <a:r>
              <a:rPr lang="tr-TR" sz="2400" b="1" dirty="0" smtClean="0"/>
              <a:t>bakterilerin </a:t>
            </a:r>
            <a:r>
              <a:rPr lang="tr-TR" sz="2400" b="1" dirty="0"/>
              <a:t>neden olduğu enfeksiyonların tedavisinde bu antibiyotikler etkili </a:t>
            </a:r>
            <a:r>
              <a:rPr lang="tr-TR" sz="2400" b="1" dirty="0" smtClean="0"/>
              <a:t>olamaz</a:t>
            </a:r>
            <a:endParaRPr lang="tr-TR" sz="2400" b="1" dirty="0"/>
          </a:p>
          <a:p>
            <a:pPr algn="just"/>
            <a:r>
              <a:rPr lang="tr-TR" sz="2400" b="1" dirty="0" smtClean="0"/>
              <a:t>Bu durum, yalnızca </a:t>
            </a:r>
            <a:r>
              <a:rPr lang="tr-TR" sz="2400" b="1" dirty="0"/>
              <a:t>antibiyotiği uygun olmayan biçimde kullanan kişi açısından değil, sonradan dirençli bakteriye yakalanma riski olan herkes için tehlike </a:t>
            </a:r>
            <a:r>
              <a:rPr lang="tr-TR" sz="2400" b="1" dirty="0" smtClean="0"/>
              <a:t>oluşturmaktadır</a:t>
            </a:r>
          </a:p>
          <a:p>
            <a:pPr algn="just"/>
            <a:endParaRPr lang="tr-TR" sz="2400" dirty="0"/>
          </a:p>
          <a:p>
            <a:endParaRPr lang="tr-TR" dirty="0"/>
          </a:p>
        </p:txBody>
      </p:sp>
      <p:pic>
        <p:nvPicPr>
          <p:cNvPr id="7" name="Picture 4" descr="j0090927"/>
          <p:cNvPicPr>
            <a:picLocks noChangeAspect="1" noChangeArrowheads="1"/>
          </p:cNvPicPr>
          <p:nvPr/>
        </p:nvPicPr>
        <p:blipFill>
          <a:blip r:embed="rId2" cstate="print"/>
          <a:srcRect/>
          <a:stretch>
            <a:fillRect/>
          </a:stretch>
        </p:blipFill>
        <p:spPr bwMode="auto">
          <a:xfrm>
            <a:off x="467544" y="260648"/>
            <a:ext cx="1152128" cy="1224136"/>
          </a:xfrm>
          <a:prstGeom prst="rect">
            <a:avLst/>
          </a:prstGeom>
          <a:noFill/>
          <a:ln w="9525">
            <a:noFill/>
            <a:miter lim="800000"/>
            <a:headEnd/>
            <a:tailEnd/>
          </a:ln>
        </p:spPr>
      </p:pic>
      <p:pic>
        <p:nvPicPr>
          <p:cNvPr id="5" name="Picture 3" descr="C:\Users\fatma.isli\Desktop\KOVA.png"/>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6084168" y="4005064"/>
            <a:ext cx="2664296" cy="259228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425208933"/>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p:cNvSpPr>
            <a:spLocks noGrp="1"/>
          </p:cNvSpPr>
          <p:nvPr>
            <p:ph idx="4294967295"/>
          </p:nvPr>
        </p:nvSpPr>
        <p:spPr>
          <a:xfrm>
            <a:off x="467544" y="332656"/>
            <a:ext cx="8352928" cy="6120680"/>
          </a:xfrm>
        </p:spPr>
        <p:txBody>
          <a:bodyPr/>
          <a:lstStyle/>
          <a:p>
            <a:pPr marL="0" lvl="0" indent="0">
              <a:buNone/>
            </a:pPr>
            <a:r>
              <a:rPr lang="tr-TR" b="1" dirty="0" smtClean="0">
                <a:solidFill>
                  <a:srgbClr val="0070C0"/>
                </a:solidFill>
              </a:rPr>
              <a:t>      BUGÜN DUR DEMEZSEK YARIN ÇOK GEÇ OLABİLİR!</a:t>
            </a:r>
          </a:p>
          <a:p>
            <a:pPr marL="0" indent="0">
              <a:buNone/>
            </a:pPr>
            <a:endParaRPr lang="tr-TR" dirty="0">
              <a:solidFill>
                <a:srgbClr val="0070C0"/>
              </a:solidFill>
            </a:endParaRPr>
          </a:p>
        </p:txBody>
      </p:sp>
      <p:pic>
        <p:nvPicPr>
          <p:cNvPr id="5" name="Picture 6" descr="http://www.kalembitijeyn.com/wp-content/uploads/zaman2.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635896" y="1772816"/>
            <a:ext cx="4320480" cy="399976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44268534"/>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251520" y="462692"/>
            <a:ext cx="8229600" cy="1052736"/>
          </a:xfrm>
        </p:spPr>
        <p:txBody>
          <a:bodyPr>
            <a:normAutofit/>
          </a:bodyPr>
          <a:lstStyle/>
          <a:p>
            <a:r>
              <a:rPr lang="tr-TR" sz="3200" b="1" dirty="0" smtClean="0">
                <a:solidFill>
                  <a:srgbClr val="0070C0"/>
                </a:solidFill>
              </a:rPr>
              <a:t>             BUNLARI BİLİYOR MUYDUNUZ?</a:t>
            </a:r>
            <a:endParaRPr lang="tr-TR" sz="3200" dirty="0">
              <a:solidFill>
                <a:srgbClr val="0070C0"/>
              </a:solidFill>
            </a:endParaRPr>
          </a:p>
        </p:txBody>
      </p:sp>
      <p:sp>
        <p:nvSpPr>
          <p:cNvPr id="3" name="İçerik Yer Tutucusu 2"/>
          <p:cNvSpPr>
            <a:spLocks noGrp="1"/>
          </p:cNvSpPr>
          <p:nvPr>
            <p:ph idx="1"/>
          </p:nvPr>
        </p:nvSpPr>
        <p:spPr>
          <a:xfrm>
            <a:off x="467544" y="1340768"/>
            <a:ext cx="8352928" cy="4093915"/>
          </a:xfrm>
        </p:spPr>
        <p:txBody>
          <a:bodyPr>
            <a:noAutofit/>
          </a:bodyPr>
          <a:lstStyle/>
          <a:p>
            <a:pPr lvl="0" algn="just"/>
            <a:endParaRPr lang="tr-TR" sz="2400" dirty="0" smtClean="0"/>
          </a:p>
          <a:p>
            <a:pPr lvl="0" algn="just"/>
            <a:r>
              <a:rPr lang="tr-TR" sz="2800" b="1" dirty="0" smtClean="0"/>
              <a:t>Antibiyotik </a:t>
            </a:r>
            <a:r>
              <a:rPr lang="tr-TR" sz="2800" b="1" dirty="0"/>
              <a:t>dozunun yetersiz veya </a:t>
            </a:r>
            <a:r>
              <a:rPr lang="tr-TR" sz="2800" b="1" dirty="0" smtClean="0"/>
              <a:t>aşırı </a:t>
            </a:r>
            <a:r>
              <a:rPr lang="tr-TR" sz="2800" b="1" dirty="0"/>
              <a:t>olmasının yanı sıra doz aralıklarının uygunsuz olmasının da </a:t>
            </a:r>
            <a:r>
              <a:rPr lang="tr-TR" sz="2800" b="1" dirty="0" smtClean="0"/>
              <a:t>antibiyotik direncine yol açtığını;</a:t>
            </a:r>
          </a:p>
          <a:p>
            <a:endParaRPr lang="tr-TR" sz="2400" dirty="0"/>
          </a:p>
        </p:txBody>
      </p:sp>
      <p:pic>
        <p:nvPicPr>
          <p:cNvPr id="6" name="Picture 4" descr="http://us.123rf.com/400wm/400/400/goodshotalan/goodshotalan1302/goodshotalan130200008/17844893-vector-cartoon-of-man-taking-vitamin-pills.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211960" y="3284984"/>
            <a:ext cx="4464496" cy="3069341"/>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3910381473"/>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p:txBody>
          <a:bodyPr>
            <a:normAutofit/>
          </a:bodyPr>
          <a:lstStyle/>
          <a:p>
            <a:pPr lvl="0" algn="just"/>
            <a:r>
              <a:rPr lang="tr-TR" sz="2800" b="1" dirty="0" smtClean="0"/>
              <a:t>Antibiyotiğin etkili olduğu bakterilerin antibiyotiğe </a:t>
            </a:r>
            <a:r>
              <a:rPr lang="tr-TR" sz="2800" b="1" dirty="0"/>
              <a:t>maruz kaldıklarında öldükleri halde, dirençli bakterilerin büyümeye ve çoğalmaya devam edebildiğini, </a:t>
            </a:r>
            <a:endParaRPr lang="tr-TR" sz="2800" b="1" dirty="0" smtClean="0"/>
          </a:p>
          <a:p>
            <a:pPr lvl="0" algn="just"/>
            <a:r>
              <a:rPr lang="tr-TR" sz="2800" b="1" dirty="0" smtClean="0"/>
              <a:t>Bu </a:t>
            </a:r>
            <a:r>
              <a:rPr lang="tr-TR" sz="2800" b="1" dirty="0"/>
              <a:t>dirençli bakterilerin toplumda hızla yayılarak diğer insanlarda enfeksiyonlara neden olabildiğini;</a:t>
            </a:r>
          </a:p>
          <a:p>
            <a:endParaRPr lang="tr-TR" sz="2800" dirty="0"/>
          </a:p>
        </p:txBody>
      </p:sp>
      <p:pic>
        <p:nvPicPr>
          <p:cNvPr id="5" name="Picture 2" descr="http://t1.gstatic.com/images?q=tbn:ANd9GcSImnhZARZ33XRrwKPKTSd9v-bcpUTHwD4Whgu5Gu6_yHNqNq09"/>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220072" y="4509120"/>
            <a:ext cx="2952328" cy="216026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64404316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p:txBody>
          <a:bodyPr>
            <a:normAutofit/>
          </a:bodyPr>
          <a:lstStyle/>
          <a:p>
            <a:pPr algn="just"/>
            <a:r>
              <a:rPr lang="tr-TR" sz="2800" b="1" dirty="0"/>
              <a:t>Y</a:t>
            </a:r>
            <a:r>
              <a:rPr lang="tr-TR" sz="2800" b="1" dirty="0" smtClean="0"/>
              <a:t>eni antibiyotiklerin uzun süredir geliştirilmediğini</a:t>
            </a:r>
            <a:r>
              <a:rPr lang="tr-TR" sz="2800" b="1" dirty="0"/>
              <a:t>, </a:t>
            </a:r>
            <a:endParaRPr lang="tr-TR" sz="2800" b="1" dirty="0" smtClean="0"/>
          </a:p>
          <a:p>
            <a:pPr algn="just"/>
            <a:r>
              <a:rPr lang="tr-TR" sz="2800" b="1" dirty="0" smtClean="0"/>
              <a:t>Var olan antibiyotiklerin </a:t>
            </a:r>
            <a:r>
              <a:rPr lang="tr-TR" sz="2800" b="1" dirty="0"/>
              <a:t>gereksiz </a:t>
            </a:r>
            <a:r>
              <a:rPr lang="tr-TR" sz="2800" b="1" dirty="0" smtClean="0"/>
              <a:t>kullanılması ile gelişebilecek olan antibiyotik direnci yüzünden, gerçekten ihtiyaç duyulduğunda kullanılabilecek antibiyotiğin kalmayabileceğini; </a:t>
            </a:r>
          </a:p>
          <a:p>
            <a:pPr algn="just"/>
            <a:endParaRPr lang="tr-TR" sz="2400" dirty="0"/>
          </a:p>
        </p:txBody>
      </p:sp>
      <p:pic>
        <p:nvPicPr>
          <p:cNvPr id="6" name="Picture 4" descr="http://www.saglik.sevdaligul.com/img/mikrop.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5652120" y="4149080"/>
            <a:ext cx="2945904" cy="2209428"/>
          </a:xfrm>
          <a:prstGeom prst="rect">
            <a:avLst/>
          </a:prstGeom>
          <a:noFill/>
          <a:extLst>
            <a:ext uri="{909E8E84-426E-40DD-AFC4-6F175D3DCCD1}">
              <a14:hiddenFill xmlns="" xmlns:a14="http://schemas.microsoft.com/office/drawing/2010/main">
                <a:solidFill>
                  <a:srgbClr val="FFFFFF"/>
                </a:solidFill>
              </a14:hiddenFill>
            </a:ext>
          </a:extLst>
        </p:spPr>
      </p:pic>
      <p:pic>
        <p:nvPicPr>
          <p:cNvPr id="7" name="Picture 6" descr="https://encrypted-tbn1.gstatic.com/images?q=tbn:ANd9GcRqU_zY-MnAscZNPec_C19m55YXWGmxTUO1GZXTYeoGk4hFuF1p"/>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23528" y="4303998"/>
            <a:ext cx="2376264" cy="1959235"/>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798669335"/>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p:txBody>
          <a:bodyPr>
            <a:normAutofit/>
          </a:bodyPr>
          <a:lstStyle/>
          <a:p>
            <a:pPr algn="just"/>
            <a:r>
              <a:rPr lang="tr-TR" sz="2800" b="1" dirty="0" smtClean="0"/>
              <a:t>Uygunsuz </a:t>
            </a:r>
            <a:r>
              <a:rPr lang="tr-TR" sz="2800" b="1" dirty="0"/>
              <a:t>antibiyotik </a:t>
            </a:r>
            <a:r>
              <a:rPr lang="tr-TR" sz="2800" b="1" dirty="0" smtClean="0"/>
              <a:t>kullanımıyla gelişen </a:t>
            </a:r>
            <a:r>
              <a:rPr lang="tr-TR" sz="2800" b="1" dirty="0"/>
              <a:t>antibiyotik direncinin her kıtada endişe yaratmaya devam </a:t>
            </a:r>
            <a:r>
              <a:rPr lang="tr-TR" sz="2800" b="1" dirty="0" smtClean="0"/>
              <a:t>ettiğini ve </a:t>
            </a:r>
            <a:r>
              <a:rPr lang="tr-TR" sz="2800" b="1" dirty="0"/>
              <a:t>dirençli bakterilerin  neden olduğu enfeksiyon </a:t>
            </a:r>
            <a:r>
              <a:rPr lang="tr-TR" sz="2800" b="1" dirty="0" smtClean="0"/>
              <a:t>hastalıklarının </a:t>
            </a:r>
            <a:r>
              <a:rPr lang="tr-TR" sz="2800" b="1" dirty="0"/>
              <a:t>insanların hayatlarını </a:t>
            </a:r>
            <a:r>
              <a:rPr lang="tr-TR" sz="2800" b="1" dirty="0" smtClean="0"/>
              <a:t>kaybetmesine neden olduğunu;</a:t>
            </a:r>
            <a:endParaRPr lang="tr-TR" sz="2800" b="1" dirty="0"/>
          </a:p>
          <a:p>
            <a:pPr marL="0" lvl="0" indent="0" algn="just">
              <a:buNone/>
            </a:pPr>
            <a:r>
              <a:rPr lang="tr-TR" sz="2800" b="1" dirty="0" smtClean="0"/>
              <a:t>                 </a:t>
            </a:r>
            <a:endParaRPr lang="tr-TR" sz="2800" b="1" dirty="0"/>
          </a:p>
          <a:p>
            <a:endParaRPr lang="tr-TR" sz="2800" b="1" dirty="0"/>
          </a:p>
        </p:txBody>
      </p:sp>
      <p:pic>
        <p:nvPicPr>
          <p:cNvPr id="4" name="Picture 2" descr="http://1.bp.blogspot.com/-rV3ACa1p1_M/UOm0jc1_Q6I/AAAAAAAAAl8/TV8cwOKCkPc/s1600/mapa.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3707904" y="3933056"/>
            <a:ext cx="4752528" cy="2645538"/>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4090136064"/>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p:txBody>
          <a:bodyPr>
            <a:normAutofit/>
          </a:bodyPr>
          <a:lstStyle/>
          <a:p>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p:txBody>
          <a:bodyPr>
            <a:normAutofit/>
          </a:bodyPr>
          <a:lstStyle/>
          <a:p>
            <a:pPr lvl="0" algn="just"/>
            <a:r>
              <a:rPr lang="tr-TR" sz="2800" b="1" dirty="0" smtClean="0"/>
              <a:t>Antibiyotik direncinin </a:t>
            </a:r>
            <a:r>
              <a:rPr lang="tr-TR" sz="2800" b="1" dirty="0"/>
              <a:t>yüksek olduğu ülkelere seyahatte bulunan yolcuların, dirençli </a:t>
            </a:r>
            <a:r>
              <a:rPr lang="tr-TR" sz="2800" b="1" dirty="0" smtClean="0"/>
              <a:t>bakterileri ülkelerine taşıyarak yaydığını;</a:t>
            </a:r>
          </a:p>
          <a:p>
            <a:pPr marL="0" lvl="0" indent="0" algn="just">
              <a:buNone/>
            </a:pPr>
            <a:endParaRPr lang="tr-TR" sz="2400" dirty="0"/>
          </a:p>
          <a:p>
            <a:endParaRPr lang="tr-TR" sz="2400" dirty="0"/>
          </a:p>
        </p:txBody>
      </p:sp>
      <p:sp>
        <p:nvSpPr>
          <p:cNvPr id="5" name="AutoShape 2" descr="data:image/jpeg;base64,/9j/4AAQSkZJRgABAQAAAQABAAD/2wCEAAkGBhQGEBESBxIRFA8UERAXDw8QDRoPEBIRFBwYFRQUFhMXGzIeFxkjGRIUIjAhIycsLSwsFR4xNTEqNSkrLCkBCQoKDgwNGQ8PGTUkHyU1NSwwKSk1KTEsLCk1LTUsNDUyLyk1LCwqLykpLCkpNSwsLCwsKiwsKSksLCkpLCkpKf/AABEIAOkA2AMBIgACEQEDEQH/xAAcAAEAAgIDAQAAAAAAAAAAAAAABAcGCAECBQP/xABEEAABAgIDCwYNAgYDAAAAAAAAAQIDBAURsgYHEhUhMTNRdJGSMjRBUnJzFBYiNUJUYXGBlKGx0RNiFyMkJUTSQ4Ki/8QAGgEBAQADAQEAAAAAAAAAAAAAAAUCAwQGAf/EACoRAAIBAgUDBAMBAQEAAAAAAAABAgMEBREyM1ESFHETMUGBFSFSYZEi/9oADAMBAAIRAxEAPwDApSUSO1Verq8J2Zx9sXN1v4xR3IXtuJR6qEE4r9Hl6tWam0mRcXN1v4xi5ut/GSgZdEeDX60+SLi5ut/GMXN1v4yUB0R4HrT5IuLm638Yxc3W/jJQHRHgetPki4ubrfxjFzdb+MlAdEeB60+SLi5ut/GMXN1v4yUB0R4HrT5IuLm638Yxc3W/jJQHRHgetPki4ubrfxjFzdb+MlAdEeB60+SLi5ut/GMXN1v4yUB0R4HrT5IuLm638Yxc3W/jJQHRHgetPki4ubrfxjFzdb+MlAdEeB60+SLi5ut/GMXN1v4yUB0R4HrT5IuLm638Yxc3W/jJQHRHgerPkjy0qkvGl1Yrq/CYCZXV+mgPs3Sy21S9pATbtJTWRWtJOVPNkejuQvbcSiLR3IXtuJRShpRJra2AAZmoAAAAAAAAAAAAAAAAAAAAAAAAAAAAAAAAA6t0sttUvaQBulltql7SAl3etFmy2iPR3IXtuJRFo7kL23Eoow0ol1tbAAMzUAAAAAAAAAAAAAAAAD6y0q+de1ks1z3uWprGphOVfYiBvI+pZ+x8qgWRRF7+Fc7BWbuuVFRiYSSzVrbX6LXL6blXJgpk95gdL0hjSM+K2GyG1y+TChtRrWt6EyJlXWvSaKdZVJNR9l8m6pQdOKcvd/BDABvNAAAAAAAAAB1bpZbape0gDdLLbVL2kBLu9aLNltEejuQvbcSiLR3IXtuJRRhpRLra2AAZmoAH2k5N9IRGw5RquiPWpjG51UN5e59Sz/SPiT6MoGYplaqOgxIn7ms8hPe9fJTeWncvesg0cjYlM1Ro2RcBdCxdVXpr7VyewzmFCSCiJDREamZGpUie5EJdXEYxeUFn/pVo4c5LOby/wpiUvSzsxV+t+jD7UXCXc1FJMW85NNSuHFl3Lqre36q0uEHG8QrZnYsPooombvaT8p/wYaa4UVrvoqop4s3QUxIc7l47Pa6C5E31VGyBxUbI4lNakjVLDYPS2axZs+cVGyM1Q8Ger8Kgwn158OE131VDyYt7yQiqirLMRUVFqa5zGr72otSodEcSh8xZzywyfxIqS5e4mPdQ6uAmBARfKjvTyfajU9Nfd8VLgufuVl7k4a+DImFg/wA2PEqw1RMq1uzNb7EyHtwYKQERsJEa1ERGtalSIidCImZDHrt6DmboIH6NFxIUNjtNh4SK9OhqK1FqTXrqQ4qlzK4l0t5RO6nbRt49SWcir7vrsVunjYMsqpKw1X9JM2G7MsRU+2pPeYqZXN3r5+WrwYTIiJ0w4zVr+Dql+h481cxNSXOZaO1Nf6LlTeiFmjKlGKjCSItaNaUnKcWeYDl7VhrU/Iupci7lOKjoOfIAy24y4CJdKqRJmuHKouV/pRKuiHXaze8h3duhw5x8GjmNZBgNbCY1qZ1bleqrnVcJy5Vy5DSq0XU9Ne/ybnQkqfqS/S+P9MeABuNAAAB1bpZbape0gDdLLbVL2kBLu9aLNltEejuQvbcSiLR3IXtuJRRhpRLra2AAZmoGV3vLoZe5yO+JSjXVuYjYcRrcPArWt9aZ8tTcqalMUBhUgqkXF/Jsp1HTkpL4L9l74EjMVYE1DTt1w7SEpLrpNf8ALlvmWfk14FZOeGw+JMorE5/yjYjxtk/W5X5ln5HjbJ+tyvzLPya71isfjYf0Pyc/5NiPG2T9blfmWfkeNsn63K/Ms/JrvWKx+Nh/Q/Jz/k2I8bZP1uV+ZZ+R42yfrcr8yz8mvkCWfNrVLMe92pjFeu5EJfi/M+rTPyz/AMGLw+mveRksRqP2iXx42yfrcr8yz8jxtk/W5X5ln5KBmKKjSiVzMGMxqZ3PguYifFUItZ9WHQftIPEqi94mw/jZJ+ty3zLPyPGyTT/LlvmWfk14rFZ9/GQ/ox/Jz/k2BmKfo+bSqZmJJ6anxYb0+qnkTEnQsytcRaPrrr8mMyGi+9GuRF+JStYrMo2Cj7TaMXiHV7wRf8xdfJyMJywZmWXAYqthsjsrXBTI1rUX2IlSFBzEZZl7nxcrnuc5y/ucta/VVOlYOi3to0M8nnmc9xdSr5ZrLIAA6jkAAAOrdLLbVL2kAbpZbape0gJd3rRZstoj0dyF7biURaO5C9txKKMNKJdbWwADM1AAAAAmUbQ0al1VKOhRIipnwGKqJ73Zk+J8bSWbPqi5PJEMHuTlxM5IQ3RJqXe2Gxqq9yuZUiJ05HHhnyM4y0vM+yhKOpZA9i5SgPGKYSG52BCa1z48TqQm519+VE+JEomhY1OOVlGw1iPa3Cc1FRKm11V5VTpVDLqIuSnqPlZ5iSz0ixmwIbPLZWrMJVi5cLNgpV/2NNaqoxaUsmb6FJykm45ohU1dwsBPB7lU8GlG5EfDTBjRf3ufnSvfrXoMXfPRIi1viRFXWsRyr9VPc/h7Pr/iv42f7D+Hs/6q/jZ/sYwlRgsk1/1GU1Xm82n/AMZHoi7CaoVU8HjPczpgxXLFhOTpRWrm+FR610VHwKclcYUIxIatc1s7LJyYb3Znt1Iqqnvr9ikH+Hs/6q/jZ/sezc9clPSDJyHMSz0ZGlIrUTDYqLFSpYfpZ+UnxMKkqSfXCSz8r9o2U41ZLonF5eH+mYID06WuamKCRrqThOhtcqo1XOataplVPJVeg8s7IyUlmmcUouLyayOQetRVyk1TTP1KOgufDwlbhI5qJhJVWmV3tPvM3DT0q3CiysWpM+CiRKvgxVUwdWCeTkjNUajWaizwgFbg5HZ+lFyKi6qgbDUAAAAAAdW6WW2qXtIA3Sy21S9pAS7vWizZbRHo7kL23Eoi0dyF7biUUYaUS62tgAGZqAAAPWuWoNbo5qFARamuVViOTO2G3K5U9vR71L+o6jodFw2wpJjWQ2p5LWpUnvXWvtKivQp/cHbPE+7S5yFiM26ij8F7DoJU3L5PCu5T+3TfcPNflNgbufN033DzX5Tpw3bl5ObE9yPgz683zyPsy22Fv1FQXm+eR9nW2wuA4r/fZ3WGwhUKgDhO4VHFRyACub8+gle+fZUqcti/PoJXvn2VKmPRWGwvs85f77LmvQ8wdtET7NM4qMHvQ8wdtET7NM5It1vS8lu12Y+Cvb6VybJmA6blWo2NDqWNUlX6kPMqr+5K0y6q/YVGbEXWJXITdfq0eypruVsOm5U2n8EjEYKNRNfIABRJoAAB1bpZbape0gDdLLbVL2kBLu9aLNltEejuQvbcSiLR3IXtuJRRhpRLra2AAZmoAAAze9D5wds8S00ucpi9D5wds8S00uc8/iG99HocP2fs8K7nzdN9w81+U2Bu583TfcPNflOzDduXk48T3I+DPrzfPI+zrbYXAU/eb55H2dbbC4Div99ndh+wgADhO4AAArm/PoJXvn2VKmLZvz6CV759lSpj0VhsL7POX++y5r0PMHbRE+zTOTBr0PMHbRE+zTOSLdb0vJbtdmPg8q6vmM3s0eyprsbE3V8xm9mj2VNdinhuiRMxPXEAAqEkAAA6t0sttUvaQBulltql7SAl3etFmy2iPR3IXtuJRFo7kL23Eoow0ol1tbAAMzUAAAZveh84O2eJaaXOUxeh84O2eJaaXOefxDe+j0OH7P2eFdz5um+4ea/KbA3c+bpvuHmvynZhu3LyceJ7kfBn15vnkfZ1tsLgKfvN88j7OtthcBxX++zuw/YQABwncAAAVzfn0Er3z7KlTFs359BK98+ypUx6Kw2F9nnL/fZc16HmDtoifZpnJg16HmDtoifZpnJFut6Xkt2uzHweVdXzGb2aPZU12Nibq+YzezR7KmuxTw3RImYnriAAVCSAAAdW6WW2qXtIA3Sy21S9pAS7vWizZbRHo7kL23Eoi0dyF7biUUYaUS62tgAGZqAAAM3vQ+cHbPEtNLnKYvQ+cHbPEtNLnPP4hvfR6HD9n7PCu583TfcPNflNgbufN033DzX5Tsw3bl5OPE9yPgz683zyPs622FwFP3m+eR9nW2wuA4r/AH2d2H7CAAOE7gAACub8+gle+fZUqYtm/PoJXvn2VKmPRWGwvs85f77LmvQ8wdtET7NM5MGvQ8wdtET7NM5It1vS8lu12Y+Dyrq+YzezR7KmuxsTdXzGb2aPZU12KeG6JEzE9cQACoSQAADq3Sy21S9pAG6WW2qXtICXd60WbLaI9Hche24lEWjuQvbcSijDSiXW1sAAzNQAABmt6OIjKQqdndAiIntVFav2RS6azWui6SfQ8aHGlFqfDcitrzL0Ki+xUVUX3l43OXdS10LG4ERsONV5UCI9GvRf2qvLT2p8aiLiFGXX1pfot4dWj0dD9z7Xc+bpvuHmvyl+3bx2uo6bqc3QPqTCQoJTfhu2/JoxPcj4M+vN88j7OtthcBT1516MnI2EqJ/TrnWr02Fu+EN6zeJDhv8AfZ3WGwj6A+fhDes3iQeEN6zeJDhyO7NH0B8/CG9ZvEg8Ib1m8SDIZor2/PoJXvn2VKmLXvyREfAlsFUX+c/MtfoqVQp6Kx2Eedv99lzXoeYO2iJ9mmcmCXo4qMkHYSon9REzrV0NMxmaThSbVdMxYbGpnc+IjU3qpGuU/Wl5LVs0qMfBAuxjJAo+bWJm8Hip8XIrU+qoa9GfXxLvm043wailVYGEixYtSt/UVMzWouXBry5c9SfHASvYUpU6f/r5I9/VjUqJR+AADvJ4AAB1bpZbape0gDdLLbVL2kBLu9aLNltEejuQvbcSiLR3IXtuJRRhpRLra2AAZmoAAADPnAAAAABwcgA4ByADgHIAAAAODkAAAAAAAAAAA6t0sttUvaQBulltql7SAl3etFmy2iPR3IXtuJRFo7kL23Eoow0ol1tbAAMzUAAAAAAAAAAAAAAAAAAAAAAAAAAAAAAAAAdW6WW2qXtIA3Sy21S9pAS7vWizZbRHo7kL23Eoi0dyF7biUUYaUS62tgAGZqAAAAAAAAAAAAAAAAAAAAAAAAAAAAAAAAAOrdLLbVL2kAbpZbape0gJd3rRZstogSc6yC1UiORFwnH3xnD6yblMjdnUG1XDSyyMJWkZPNsxzGcPrJuUYzh9ZNymRg+9y+D52UOTHMZw+sm5RjOH1k3KZGB3L4HZQ5McxnD6yblGM4fWTcpkYHcvgdlDkxzGcPrJuUYzh9ZNymRgdy+B2UOTHMZw+sm5RjOH1k3KZGB3L4HZQ5McxnD6yblGM4fWTcpkYHcvgdlDkxzGcPrJuUYzh9ZNymRgdy+B2UOTHMZw+sm5RjOH1k3KZGB3L4HZQ5McxnD6yblGM4fWTcpkYHcvgdlDkxzGcPrJuUYzh9ZNymRgdy+B2UOTHMZw+sm5RjOH1k3KZGB3L4HZQ5McxnD6yblGMofWTcpkYHcvgdlDkx6BOMjxpdIbkVfCYC/+0OTJ6P00LvYVpDk5K9TqlmdlCkoRyR//2Q=="/>
          <p:cNvSpPr>
            <a:spLocks noChangeAspect="1" noChangeArrowheads="1"/>
          </p:cNvSpPr>
          <p:nvPr/>
        </p:nvSpPr>
        <p:spPr bwMode="auto">
          <a:xfrm>
            <a:off x="0" y="-1058863"/>
            <a:ext cx="2057400" cy="2219326"/>
          </a:xfrm>
          <a:prstGeom prst="rect">
            <a:avLst/>
          </a:prstGeom>
          <a:noFill/>
          <a:extLst>
            <a:ext uri="{909E8E84-426E-40DD-AFC4-6F175D3DCCD1}">
              <a14:hiddenFill xmlns=""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tr-TR"/>
          </a:p>
        </p:txBody>
      </p:sp>
      <p:pic>
        <p:nvPicPr>
          <p:cNvPr id="2056" name="Picture 8" descr="http://t0.gstatic.com/images?q=tbn:ANd9GcTEOZ3DkHvuBmX1tM-i8Lyxc_33z9iZ0O_XtZS376MuY2P7BVD1Zw"/>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1763688" y="3284984"/>
            <a:ext cx="2737470" cy="2618235"/>
          </a:xfrm>
          <a:prstGeom prst="rect">
            <a:avLst/>
          </a:prstGeom>
          <a:noFill/>
          <a:extLst>
            <a:ext uri="{909E8E84-426E-40DD-AFC4-6F175D3DCCD1}">
              <a14:hiddenFill xmlns="" xmlns:a14="http://schemas.microsoft.com/office/drawing/2010/main">
                <a:solidFill>
                  <a:srgbClr val="FFFFFF"/>
                </a:solidFill>
              </a14:hiddenFill>
            </a:ext>
          </a:extLst>
        </p:spPr>
      </p:pic>
      <p:pic>
        <p:nvPicPr>
          <p:cNvPr id="9" name="Picture 2" descr="http://disabilityhorizons.com/wp-content/uploads/2011/03/travelzone.gif"/>
          <p:cNvPicPr>
            <a:picLocks noChangeAspect="1" noChangeArrowheads="1"/>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5796136" y="3356992"/>
            <a:ext cx="2890664" cy="2619390"/>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135506495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p:cNvSpPr>
            <a:spLocks noGrp="1"/>
          </p:cNvSpPr>
          <p:nvPr>
            <p:ph type="title"/>
          </p:nvPr>
        </p:nvSpPr>
        <p:spPr>
          <a:xfrm>
            <a:off x="467544" y="404664"/>
            <a:ext cx="8229600" cy="1143000"/>
          </a:xfrm>
        </p:spPr>
        <p:txBody>
          <a:bodyPr>
            <a:normAutofit/>
          </a:bodyPr>
          <a:lstStyle/>
          <a:p>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p:txBody>
          <a:bodyPr/>
          <a:lstStyle/>
          <a:p>
            <a:pPr lvl="0" algn="just"/>
            <a:r>
              <a:rPr lang="tr-TR" sz="2400" b="1" dirty="0"/>
              <a:t>Artan antibiyotik direncinin günümüzde ve gelecekte antibiyotiklerin etkinliğini tehdit ettiğini;</a:t>
            </a:r>
          </a:p>
          <a:p>
            <a:pPr lvl="0" algn="just"/>
            <a:r>
              <a:rPr lang="tr-TR" sz="2400" b="1" dirty="0"/>
              <a:t>Etkili antibiyotikler olmadan yoğun bakım, organ nakli, kanser kemoterapisi, yeni doğan bebeklerin bakımı veya kalça ya da diz protezi ameliyatı gibi yaygın cerrahi işlemlerin uygulanmasının mümkün olamayacağını;</a:t>
            </a:r>
          </a:p>
          <a:p>
            <a:endParaRPr lang="tr-TR" dirty="0"/>
          </a:p>
        </p:txBody>
      </p:sp>
      <p:pic>
        <p:nvPicPr>
          <p:cNvPr id="4" name="Picture 2" descr="http://www.sgh.com.sg/Patient-Services/PublishingImages/superbugs.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4355976" y="4149080"/>
            <a:ext cx="4464496" cy="2448272"/>
          </a:xfrm>
          <a:prstGeom prst="rect">
            <a:avLst/>
          </a:prstGeom>
          <a:noFill/>
          <a:extLst>
            <a:ext uri="{909E8E84-426E-40DD-AFC4-6F175D3DCCD1}">
              <a14:hiddenFill xmlns="" xmlns:a14="http://schemas.microsoft.com/office/drawing/2010/main">
                <a:solidFill>
                  <a:srgbClr val="FFFFFF"/>
                </a:solidFill>
              </a14:hiddenFill>
            </a:ext>
          </a:extLst>
        </p:spPr>
      </p:pic>
    </p:spTree>
    <p:extLst>
      <p:ext uri="{BB962C8B-B14F-4D97-AF65-F5344CB8AC3E}">
        <p14:creationId xmlns="" xmlns:p14="http://schemas.microsoft.com/office/powerpoint/2010/main" val="237360339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Resim 3" descr="Açıklama: http://t1.gstatic.com/images?q=tbn:ANd9GcSF3EaoTpx2uBgLe2zqud1gis0inEDP8jsMyXg1UXoH6wWImu6E">
            <a:hlinkClick r:id="rId2"/>
          </p:cNvPr>
          <p:cNvPicPr/>
          <p:nvPr/>
        </p:nvPicPr>
        <p:blipFill>
          <a:blip r:embed="rId3" cstate="print">
            <a:extLst>
              <a:ext uri="{28A0092B-C50C-407E-A947-70E740481C1C}">
                <a14:useLocalDpi xmlns="" xmlns:a14="http://schemas.microsoft.com/office/drawing/2010/main" val="0"/>
              </a:ext>
            </a:extLst>
          </a:blip>
          <a:srcRect/>
          <a:stretch>
            <a:fillRect/>
          </a:stretch>
        </p:blipFill>
        <p:spPr bwMode="auto">
          <a:xfrm>
            <a:off x="3995936" y="4005064"/>
            <a:ext cx="2435602" cy="2496815"/>
          </a:xfrm>
          <a:prstGeom prst="rect">
            <a:avLst/>
          </a:prstGeom>
          <a:noFill/>
          <a:ln>
            <a:noFill/>
          </a:ln>
        </p:spPr>
      </p:pic>
      <p:sp>
        <p:nvSpPr>
          <p:cNvPr id="2" name="Başlık 1"/>
          <p:cNvSpPr>
            <a:spLocks noGrp="1"/>
          </p:cNvSpPr>
          <p:nvPr>
            <p:ph type="title"/>
          </p:nvPr>
        </p:nvSpPr>
        <p:spPr/>
        <p:txBody>
          <a:bodyPr>
            <a:normAutofit/>
          </a:bodyPr>
          <a:lstStyle/>
          <a:p>
            <a:r>
              <a:rPr lang="tr-TR" sz="3200" b="1" dirty="0"/>
              <a:t> </a:t>
            </a:r>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a:xfrm>
            <a:off x="457200" y="1600200"/>
            <a:ext cx="8229600" cy="4781128"/>
          </a:xfrm>
        </p:spPr>
        <p:txBody>
          <a:bodyPr>
            <a:normAutofit fontScale="92500" lnSpcReduction="20000"/>
          </a:bodyPr>
          <a:lstStyle/>
          <a:p>
            <a:pPr lvl="0" algn="just"/>
            <a:r>
              <a:rPr lang="tr-TR" sz="3000" b="1" dirty="0" smtClean="0"/>
              <a:t>Birine </a:t>
            </a:r>
            <a:r>
              <a:rPr lang="tr-TR" sz="3000" b="1" dirty="0"/>
              <a:t>iyi gelen antibiyotiğin başkasına zarar verebileceğini</a:t>
            </a:r>
            <a:r>
              <a:rPr lang="tr-TR" sz="3000" b="1" dirty="0" smtClean="0"/>
              <a:t>;</a:t>
            </a:r>
          </a:p>
          <a:p>
            <a:pPr algn="just"/>
            <a:r>
              <a:rPr lang="tr-TR" sz="3000" b="1" dirty="0"/>
              <a:t>Gereksiz kullanılan her ilaç gibi gereksiz antibiyotik kullanımıyla da istenmeyen yan etkilerin görülebileceğini;</a:t>
            </a:r>
          </a:p>
          <a:p>
            <a:pPr lvl="0" algn="just"/>
            <a:r>
              <a:rPr lang="tr-TR" sz="3000" b="1" dirty="0" smtClean="0"/>
              <a:t>Kişinin </a:t>
            </a:r>
            <a:r>
              <a:rPr lang="tr-TR" sz="3000" b="1" dirty="0"/>
              <a:t>daha önceki bir hastalıkta kullandığı antibiyotiğin, tekrar benzer hastalığa yakalansa bile etkili olamayabileceğini</a:t>
            </a:r>
            <a:r>
              <a:rPr lang="tr-TR" sz="3000" b="1" dirty="0" smtClean="0"/>
              <a:t>;</a:t>
            </a:r>
          </a:p>
          <a:p>
            <a:pPr lvl="0" algn="just"/>
            <a:endParaRPr lang="tr-TR" sz="3000" b="1" dirty="0"/>
          </a:p>
          <a:p>
            <a:pPr marL="0" indent="0" algn="just">
              <a:buNone/>
            </a:pPr>
            <a:r>
              <a:rPr lang="tr-TR" sz="3000" b="1" dirty="0" smtClean="0"/>
              <a:t> </a:t>
            </a:r>
            <a:endParaRPr lang="tr-TR" sz="3000" b="1" dirty="0" smtClean="0">
              <a:solidFill>
                <a:srgbClr val="FF0000"/>
              </a:solidFill>
            </a:endParaRPr>
          </a:p>
          <a:p>
            <a:pPr marL="0" indent="0" algn="just">
              <a:buNone/>
            </a:pPr>
            <a:r>
              <a:rPr lang="tr-TR" sz="5600" dirty="0"/>
              <a:t> </a:t>
            </a:r>
          </a:p>
          <a:p>
            <a:pPr marL="0" indent="0" algn="just">
              <a:buNone/>
            </a:pPr>
            <a:endParaRPr lang="tr-TR" sz="5600" dirty="0"/>
          </a:p>
          <a:p>
            <a:pPr algn="just"/>
            <a:endParaRPr lang="tr-TR" dirty="0"/>
          </a:p>
        </p:txBody>
      </p:sp>
    </p:spTree>
    <p:extLst>
      <p:ext uri="{BB962C8B-B14F-4D97-AF65-F5344CB8AC3E}">
        <p14:creationId xmlns="" xmlns:p14="http://schemas.microsoft.com/office/powerpoint/2010/main" val="156655526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İçerik Yer Tutucusu 3" descr="Açıklama: http://1.bp.blogspot.com/-8z4yPPzbBSM/Tvuqqv7qFDI/AAAAAAAABEg/-ABdGDcqDfw/s1600/dikkat.jpg"/>
          <p:cNvPicPr>
            <a:picLocks noGrp="1"/>
          </p:cNvPicPr>
          <p:nvPr>
            <p:ph idx="1"/>
          </p:nvPr>
        </p:nvPicPr>
        <p:blipFill>
          <a:blip r:embed="rId2" cstate="print">
            <a:extLst>
              <a:ext uri="{28A0092B-C50C-407E-A947-70E740481C1C}">
                <a14:useLocalDpi xmlns="" xmlns:a14="http://schemas.microsoft.com/office/drawing/2010/main" val="0"/>
              </a:ext>
            </a:extLst>
          </a:blip>
          <a:srcRect/>
          <a:stretch>
            <a:fillRect/>
          </a:stretch>
        </p:blipFill>
        <p:spPr bwMode="auto">
          <a:xfrm>
            <a:off x="611560" y="260648"/>
            <a:ext cx="1979712" cy="1474887"/>
          </a:xfrm>
          <a:prstGeom prst="rect">
            <a:avLst/>
          </a:prstGeom>
          <a:noFill/>
          <a:ln>
            <a:noFill/>
          </a:ln>
        </p:spPr>
      </p:pic>
      <p:sp>
        <p:nvSpPr>
          <p:cNvPr id="2" name="Başlık 1"/>
          <p:cNvSpPr>
            <a:spLocks noGrp="1"/>
          </p:cNvSpPr>
          <p:nvPr>
            <p:ph type="title"/>
          </p:nvPr>
        </p:nvSpPr>
        <p:spPr/>
        <p:txBody>
          <a:bodyPr>
            <a:normAutofit/>
          </a:bodyPr>
          <a:lstStyle/>
          <a:p>
            <a:pPr algn="l"/>
            <a:r>
              <a:rPr lang="tr-TR" sz="3200" b="1" dirty="0" smtClean="0"/>
              <a:t>                          </a:t>
            </a:r>
            <a:r>
              <a:rPr lang="tr-TR" sz="3200" b="1" dirty="0" smtClean="0">
                <a:solidFill>
                  <a:srgbClr val="0070C0"/>
                </a:solidFill>
              </a:rPr>
              <a:t>BUNLARI BİLİYOR MUYDUNUZ?</a:t>
            </a:r>
            <a:endParaRPr lang="tr-TR" sz="3200" dirty="0">
              <a:solidFill>
                <a:srgbClr val="0070C0"/>
              </a:solidFill>
            </a:endParaRPr>
          </a:p>
        </p:txBody>
      </p:sp>
      <p:sp>
        <p:nvSpPr>
          <p:cNvPr id="3" name="İçerik Yer Tutucusu 2"/>
          <p:cNvSpPr>
            <a:spLocks noGrp="1"/>
          </p:cNvSpPr>
          <p:nvPr>
            <p:ph idx="1"/>
          </p:nvPr>
        </p:nvSpPr>
        <p:spPr>
          <a:xfrm>
            <a:off x="467544" y="1772816"/>
            <a:ext cx="8229600" cy="3456384"/>
          </a:xfrm>
        </p:spPr>
        <p:txBody>
          <a:bodyPr>
            <a:noAutofit/>
          </a:bodyPr>
          <a:lstStyle/>
          <a:p>
            <a:pPr lvl="0" algn="just"/>
            <a:r>
              <a:rPr lang="tr-TR" sz="2800" b="1" dirty="0" smtClean="0"/>
              <a:t>Uygunsuz </a:t>
            </a:r>
            <a:r>
              <a:rPr lang="tr-TR" sz="2800" b="1" dirty="0"/>
              <a:t>antibiyotik kullanımının önemli sonucu olarak; dirençli mikroorganizmaların vücut florasına hakim olacağını ve buna bağlı enfeksiyon seyrinde, hastanede kalış süresinde ve hastalığa bağlı ölüm oranlarında artış olacağını</a:t>
            </a:r>
            <a:r>
              <a:rPr lang="tr-TR" sz="2800" b="1" dirty="0" smtClean="0"/>
              <a:t>;</a:t>
            </a:r>
            <a:endParaRPr lang="tr-TR" sz="2800" b="1" dirty="0"/>
          </a:p>
          <a:p>
            <a:pPr lvl="0" algn="just"/>
            <a:r>
              <a:rPr lang="tr-TR" sz="2800" b="1" dirty="0" smtClean="0"/>
              <a:t>Hekim </a:t>
            </a:r>
            <a:r>
              <a:rPr lang="tr-TR" sz="2800" b="1" dirty="0"/>
              <a:t>önerisi ve eczacı danışmanlığı olmadan kullanılan antibiyotiklerin, sonu ölümlere varabilecek ciddi sağlık sorunlarına yol açabileceğini;</a:t>
            </a:r>
          </a:p>
          <a:p>
            <a:endParaRPr lang="tr-TR" sz="2800" b="1" dirty="0"/>
          </a:p>
        </p:txBody>
      </p:sp>
      <p:pic>
        <p:nvPicPr>
          <p:cNvPr id="5" name="Picture 4" descr="j0336485"/>
          <p:cNvPicPr>
            <a:picLocks noChangeAspect="1" noChangeArrowheads="1" noCrop="1"/>
          </p:cNvPicPr>
          <p:nvPr/>
        </p:nvPicPr>
        <p:blipFill>
          <a:blip r:embed="rId3" cstate="print"/>
          <a:srcRect/>
          <a:stretch>
            <a:fillRect/>
          </a:stretch>
        </p:blipFill>
        <p:spPr bwMode="auto">
          <a:xfrm>
            <a:off x="6084168" y="5373216"/>
            <a:ext cx="2091680" cy="1235075"/>
          </a:xfrm>
          <a:prstGeom prst="rect">
            <a:avLst/>
          </a:prstGeom>
          <a:noFill/>
          <a:ln w="9525">
            <a:noFill/>
            <a:miter lim="800000"/>
            <a:headEnd/>
            <a:tailEnd/>
          </a:ln>
        </p:spPr>
      </p:pic>
    </p:spTree>
    <p:extLst>
      <p:ext uri="{BB962C8B-B14F-4D97-AF65-F5344CB8AC3E}">
        <p14:creationId xmlns="" xmlns:p14="http://schemas.microsoft.com/office/powerpoint/2010/main" val="1804279887"/>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2 İçerik Yer Tutucusu"/>
          <p:cNvSpPr>
            <a:spLocks noGrp="1"/>
          </p:cNvSpPr>
          <p:nvPr>
            <p:ph idx="4294967295"/>
          </p:nvPr>
        </p:nvSpPr>
        <p:spPr>
          <a:xfrm>
            <a:off x="395536" y="260648"/>
            <a:ext cx="8352928" cy="6192688"/>
          </a:xfrm>
        </p:spPr>
        <p:txBody>
          <a:bodyPr/>
          <a:lstStyle/>
          <a:p>
            <a:pPr marL="0" lvl="0" indent="0" algn="ctr">
              <a:buNone/>
            </a:pPr>
            <a:r>
              <a:rPr lang="tr-TR" b="1" dirty="0" smtClean="0"/>
              <a:t>     </a:t>
            </a:r>
            <a:r>
              <a:rPr lang="tr-TR" b="1" dirty="0" smtClean="0">
                <a:solidFill>
                  <a:srgbClr val="0070C0"/>
                </a:solidFill>
              </a:rPr>
              <a:t>ANTİBİYOTİK DİRENCİNE KARŞI DUR DİYELİM!</a:t>
            </a:r>
          </a:p>
          <a:p>
            <a:pPr marL="0" lvl="0" indent="0" algn="ctr">
              <a:buNone/>
            </a:pPr>
            <a:r>
              <a:rPr lang="tr-TR" b="1" dirty="0" smtClean="0">
                <a:solidFill>
                  <a:srgbClr val="0070C0"/>
                </a:solidFill>
              </a:rPr>
              <a:t>     UNUTMAYALIM, ÇÖZÜM ELİMİZDE!..</a:t>
            </a:r>
          </a:p>
          <a:p>
            <a:pPr>
              <a:buNone/>
            </a:pPr>
            <a:endParaRPr lang="tr-TR" dirty="0"/>
          </a:p>
        </p:txBody>
      </p:sp>
      <p:pic>
        <p:nvPicPr>
          <p:cNvPr id="4" name="Picture 6" descr="http://2.bp.blogspot.com/-KzimT3DNb8c/UGjS1B0HeeI/AAAAAAAAI6U/AdvCy9Ft9FY/s1600/dur_isareti_levhasi.jpg"/>
          <p:cNvPicPr>
            <a:picLocks noChangeAspect="1" noChangeArrowheads="1"/>
          </p:cNvPicPr>
          <p:nvPr/>
        </p:nvPicPr>
        <p:blipFill>
          <a:blip r:embed="rId2" cstate="print">
            <a:extLst>
              <a:ext uri="{28A0092B-C50C-407E-A947-70E740481C1C}">
                <a14:useLocalDpi xmlns="" xmlns:a14="http://schemas.microsoft.com/office/drawing/2010/main" val="0"/>
              </a:ext>
            </a:extLst>
          </a:blip>
          <a:srcRect/>
          <a:stretch>
            <a:fillRect/>
          </a:stretch>
        </p:blipFill>
        <p:spPr bwMode="auto">
          <a:xfrm>
            <a:off x="2195736" y="2348880"/>
            <a:ext cx="3810000" cy="3333750"/>
          </a:xfrm>
          <a:prstGeom prst="rect">
            <a:avLst/>
          </a:prstGeom>
          <a:noFill/>
          <a:extLst>
            <a:ext uri="{909E8E84-426E-40DD-AFC4-6F175D3DCCD1}">
              <a14:hiddenFill xmlns="" xmlns:a14="http://schemas.microsoft.com/office/drawing/2010/main">
                <a:solidFill>
                  <a:srgbClr val="FFFFFF"/>
                </a:solidFill>
              </a14:hiddenFill>
            </a:ext>
          </a:extLst>
        </p:spPr>
      </p:pic>
    </p:spTree>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cstate="print"/>
          <a:srcRect/>
          <a:stretch>
            <a:fillRect/>
          </a:stretch>
        </p:blipFill>
        <p:spPr bwMode="auto">
          <a:xfrm>
            <a:off x="539552" y="332656"/>
            <a:ext cx="7992888" cy="5858594"/>
          </a:xfrm>
          <a:prstGeom prst="rect">
            <a:avLst/>
          </a:prstGeom>
          <a:noFill/>
          <a:ln w="9525">
            <a:noFill/>
            <a:miter lim="800000"/>
            <a:headEnd/>
            <a:tailEnd/>
          </a:ln>
        </p:spPr>
      </p:pic>
    </p:spTree>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164</TotalTime>
  <Words>683</Words>
  <Application>Microsoft Office PowerPoint</Application>
  <PresentationFormat>Ekran Gösterisi (4:3)</PresentationFormat>
  <Paragraphs>120</Paragraphs>
  <Slides>31</Slides>
  <Notes>1</Notes>
  <HiddenSlides>0</HiddenSlides>
  <MMClips>0</MMClips>
  <ScaleCrop>false</ScaleCrop>
  <HeadingPairs>
    <vt:vector size="4" baseType="variant">
      <vt:variant>
        <vt:lpstr>Tema</vt:lpstr>
      </vt:variant>
      <vt:variant>
        <vt:i4>1</vt:i4>
      </vt:variant>
      <vt:variant>
        <vt:lpstr>Slayt Başlıkları</vt:lpstr>
      </vt:variant>
      <vt:variant>
        <vt:i4>31</vt:i4>
      </vt:variant>
    </vt:vector>
  </HeadingPairs>
  <TitlesOfParts>
    <vt:vector size="32" baseType="lpstr">
      <vt:lpstr>Ofis Teması</vt:lpstr>
      <vt:lpstr>ANTİMİKROBİK   KEMOTERAPÖTİK MADDELER</vt:lpstr>
      <vt:lpstr>Slayt 2</vt:lpstr>
      <vt:lpstr>Slayt 3</vt:lpstr>
      <vt:lpstr>ANTİBİYOTİK NEDİR?</vt:lpstr>
      <vt:lpstr>KEMOTERAPÖTİK NEDİR?</vt:lpstr>
      <vt:lpstr>Slayt 6</vt:lpstr>
      <vt:lpstr>Slayt 7</vt:lpstr>
      <vt:lpstr>Slayt 8</vt:lpstr>
      <vt:lpstr>Slayt 9</vt:lpstr>
      <vt:lpstr>Slayt 10</vt:lpstr>
      <vt:lpstr>Slayt 11</vt:lpstr>
      <vt:lpstr>SINIFLANDIRMA</vt:lpstr>
      <vt:lpstr>ETKİ MEKANİZMALARINA GÖRE</vt:lpstr>
      <vt:lpstr>AKILCI İLAÇ KULLANIMI NEDİR?</vt:lpstr>
      <vt:lpstr>AKILCI OLMAYAN İLAÇ KULLANIMI ÖRNEKLERİ </vt:lpstr>
      <vt:lpstr>AKILCI OLMAYAN İLAÇ KULLANIMI ÖRNEKLERİ </vt:lpstr>
      <vt:lpstr> AKILCI OLMAYAN İLAÇ KULLANIMI ETKİLERİ NELERDİR? </vt:lpstr>
      <vt:lpstr>AKILCI İLAÇ KULLANIMINDAKİ SORUMLU TARAFLAR</vt:lpstr>
      <vt:lpstr> ANTİBİYOTİK DİRENCİ NEDİR? </vt:lpstr>
      <vt:lpstr> ANTİBİYOTİK DİRENCİ </vt:lpstr>
      <vt:lpstr>Slayt 21</vt:lpstr>
      <vt:lpstr>             BUNLARI BİLİYOR MUYDUNUZ?</vt:lpstr>
      <vt:lpstr>BUNLARI BİLİYOR MUYDUNUZ?</vt:lpstr>
      <vt:lpstr>BUNLARI BİLİYOR MUYDUNUZ?</vt:lpstr>
      <vt:lpstr>BUNLARI BİLİYOR MUYDUNUZ?</vt:lpstr>
      <vt:lpstr>BUNLARI BİLİYOR MUYDUNUZ?</vt:lpstr>
      <vt:lpstr>BUNLARI BİLİYOR MUYDUNUZ?</vt:lpstr>
      <vt:lpstr> BUNLARI BİLİYOR MUYDUNUZ?</vt:lpstr>
      <vt:lpstr>                          BUNLARI BİLİYOR MUYDUNUZ?</vt:lpstr>
      <vt:lpstr>Slayt 30</vt:lpstr>
      <vt:lpstr>Slayt 31</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ANTİMİKROBİK   KEMOTERAPÖTİK MADDELER</dc:title>
  <dc:creator>Pc</dc:creator>
  <cp:lastModifiedBy>tijen</cp:lastModifiedBy>
  <cp:revision>35</cp:revision>
  <dcterms:created xsi:type="dcterms:W3CDTF">2014-10-21T14:45:39Z</dcterms:created>
  <dcterms:modified xsi:type="dcterms:W3CDTF">2026-08-20T14:52:35Z</dcterms:modified>
</cp:coreProperties>
</file>