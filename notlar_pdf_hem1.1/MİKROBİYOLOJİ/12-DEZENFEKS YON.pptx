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92" r:id="rId2"/>
    <p:sldId id="258" r:id="rId3"/>
    <p:sldId id="297" r:id="rId4"/>
    <p:sldId id="303" r:id="rId5"/>
    <p:sldId id="299" r:id="rId6"/>
    <p:sldId id="393" r:id="rId7"/>
    <p:sldId id="300" r:id="rId8"/>
    <p:sldId id="342" r:id="rId9"/>
    <p:sldId id="356" r:id="rId10"/>
    <p:sldId id="357" r:id="rId11"/>
    <p:sldId id="358" r:id="rId12"/>
    <p:sldId id="346" r:id="rId13"/>
    <p:sldId id="347" r:id="rId14"/>
    <p:sldId id="348" r:id="rId15"/>
    <p:sldId id="349" r:id="rId16"/>
    <p:sldId id="350" r:id="rId17"/>
    <p:sldId id="351" r:id="rId18"/>
    <p:sldId id="352" r:id="rId19"/>
    <p:sldId id="353" r:id="rId20"/>
    <p:sldId id="354" r:id="rId21"/>
    <p:sldId id="375" r:id="rId22"/>
    <p:sldId id="376" r:id="rId23"/>
    <p:sldId id="377" r:id="rId24"/>
    <p:sldId id="391" r:id="rId25"/>
    <p:sldId id="379" r:id="rId26"/>
    <p:sldId id="396" r:id="rId27"/>
    <p:sldId id="406" r:id="rId28"/>
    <p:sldId id="397" r:id="rId29"/>
    <p:sldId id="398" r:id="rId30"/>
    <p:sldId id="399" r:id="rId31"/>
    <p:sldId id="400" r:id="rId32"/>
    <p:sldId id="401" r:id="rId33"/>
    <p:sldId id="403" r:id="rId34"/>
    <p:sldId id="402" r:id="rId35"/>
    <p:sldId id="380" r:id="rId36"/>
    <p:sldId id="384" r:id="rId37"/>
    <p:sldId id="385" r:id="rId38"/>
    <p:sldId id="386" r:id="rId39"/>
    <p:sldId id="387" r:id="rId40"/>
    <p:sldId id="390" r:id="rId41"/>
    <p:sldId id="359" r:id="rId42"/>
    <p:sldId id="366" r:id="rId43"/>
    <p:sldId id="360" r:id="rId44"/>
    <p:sldId id="365" r:id="rId45"/>
    <p:sldId id="361" r:id="rId46"/>
    <p:sldId id="367" r:id="rId47"/>
    <p:sldId id="368" r:id="rId48"/>
    <p:sldId id="369" r:id="rId49"/>
    <p:sldId id="370" r:id="rId50"/>
    <p:sldId id="371" r:id="rId51"/>
    <p:sldId id="372" r:id="rId52"/>
    <p:sldId id="373" r:id="rId53"/>
    <p:sldId id="265" r:id="rId54"/>
    <p:sldId id="404" r:id="rId55"/>
    <p:sldId id="405" r:id="rId56"/>
    <p:sldId id="324" r:id="rId57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BE12B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506" y="-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FD1153-78B4-44EA-AAB8-FB9D4C76A831}" type="datetimeFigureOut">
              <a:rPr lang="tr-TR" smtClean="0"/>
              <a:pPr/>
              <a:t>26.08.2026</a:t>
            </a:fld>
            <a:endParaRPr lang="tr-TR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D29CDA-5AF7-46EF-94FB-535A75B7B5CA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36BDBA-1899-4CC0-919A-26E8C3820FA3}" type="slidenum">
              <a:rPr lang="tr-TR" smtClean="0"/>
              <a:pPr/>
              <a:t>53</a:t>
            </a:fld>
            <a:endParaRPr lang="tr-TR" smtClean="0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22477-2A0E-4BE3-87DF-4FF56ED2831E}" type="datetimeFigureOut">
              <a:rPr lang="tr-TR" smtClean="0"/>
              <a:pPr/>
              <a:t>26.08.2026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C230-EABF-4D07-9541-7792AE64EA19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22477-2A0E-4BE3-87DF-4FF56ED2831E}" type="datetimeFigureOut">
              <a:rPr lang="tr-TR" smtClean="0"/>
              <a:pPr/>
              <a:t>26.08.2026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C230-EABF-4D07-9541-7792AE64EA19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22477-2A0E-4BE3-87DF-4FF56ED2831E}" type="datetimeFigureOut">
              <a:rPr lang="tr-TR" smtClean="0"/>
              <a:pPr/>
              <a:t>26.08.2026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C230-EABF-4D07-9541-7792AE64EA19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22477-2A0E-4BE3-87DF-4FF56ED2831E}" type="datetimeFigureOut">
              <a:rPr lang="tr-TR" smtClean="0"/>
              <a:pPr/>
              <a:t>26.08.2026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C230-EABF-4D07-9541-7792AE64EA19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22477-2A0E-4BE3-87DF-4FF56ED2831E}" type="datetimeFigureOut">
              <a:rPr lang="tr-TR" smtClean="0"/>
              <a:pPr/>
              <a:t>26.08.2026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C230-EABF-4D07-9541-7792AE64EA19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22477-2A0E-4BE3-87DF-4FF56ED2831E}" type="datetimeFigureOut">
              <a:rPr lang="tr-TR" smtClean="0"/>
              <a:pPr/>
              <a:t>26.08.2026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C230-EABF-4D07-9541-7792AE64EA19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22477-2A0E-4BE3-87DF-4FF56ED2831E}" type="datetimeFigureOut">
              <a:rPr lang="tr-TR" smtClean="0"/>
              <a:pPr/>
              <a:t>26.08.2026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C230-EABF-4D07-9541-7792AE64EA19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22477-2A0E-4BE3-87DF-4FF56ED2831E}" type="datetimeFigureOut">
              <a:rPr lang="tr-TR" smtClean="0"/>
              <a:pPr/>
              <a:t>26.08.2026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C230-EABF-4D07-9541-7792AE64EA19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22477-2A0E-4BE3-87DF-4FF56ED2831E}" type="datetimeFigureOut">
              <a:rPr lang="tr-TR" smtClean="0"/>
              <a:pPr/>
              <a:t>26.08.2026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C230-EABF-4D07-9541-7792AE64EA19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22477-2A0E-4BE3-87DF-4FF56ED2831E}" type="datetimeFigureOut">
              <a:rPr lang="tr-TR" smtClean="0"/>
              <a:pPr/>
              <a:t>26.08.2026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C230-EABF-4D07-9541-7792AE64EA19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22477-2A0E-4BE3-87DF-4FF56ED2831E}" type="datetimeFigureOut">
              <a:rPr lang="tr-TR" smtClean="0"/>
              <a:pPr/>
              <a:t>26.08.2026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C230-EABF-4D07-9541-7792AE64EA19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22477-2A0E-4BE3-87DF-4FF56ED2831E}" type="datetimeFigureOut">
              <a:rPr lang="tr-TR" smtClean="0"/>
              <a:pPr/>
              <a:t>26.08.2026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4C230-EABF-4D07-9541-7792AE64EA19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detrox.com.tr/antiseptik-solusyon-ozellikleri-kullanim-alanlari-ve-enfeksiyon-kontrolunde-onemi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detrox.com.tr/urunler/detromed/alet-ve-endoskop-temizleyicileri-ve-dezenfektanlari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DEZENFEKSİYON  NEDİR?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sz="2800" b="1" dirty="0" smtClean="0"/>
              <a:t>İnsanlarda hastalık yapma özelliği olan Mikroorganizmaların cansız maddeler üzerinden uzaklaştırma işlemidir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rgbClr val="7030A0"/>
                </a:solidFill>
              </a:rPr>
              <a:t>Cansız maddeler ve yüzeyler üzerinde bulunan mikroorganizmaların (bakteri sporları hariç) yok edilmesi veya üremelerinin durdurulması işlemidir</a:t>
            </a:r>
          </a:p>
          <a:p>
            <a:pPr>
              <a:buNone/>
            </a:pPr>
            <a:endParaRPr lang="tr-TR" sz="2800" dirty="0" smtClean="0"/>
          </a:p>
          <a:p>
            <a:r>
              <a:rPr lang="tr-TR" sz="2800" b="1" dirty="0" smtClean="0">
                <a:solidFill>
                  <a:srgbClr val="FF0000"/>
                </a:solidFill>
                <a:cs typeface="Times New Roman" pitchFamily="18" charset="0"/>
              </a:rPr>
              <a:t>Dezenfeksiyon cansız ortamlar, eşya ve aletler üzerinde uygulanan bir işlemdir</a:t>
            </a:r>
          </a:p>
          <a:p>
            <a:endParaRPr lang="tr-TR" sz="2800" b="1" dirty="0" smtClean="0"/>
          </a:p>
          <a:p>
            <a:endParaRPr lang="tr-TR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DEZENFEKSİYON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tr-TR" sz="2400" dirty="0" smtClean="0"/>
              <a:t>	</a:t>
            </a:r>
            <a:r>
              <a:rPr lang="tr-TR" b="1" dirty="0" smtClean="0">
                <a:solidFill>
                  <a:srgbClr val="7030A0"/>
                </a:solidFill>
              </a:rPr>
              <a:t>1-FİZİKSEL  YÖNTEMLER  </a:t>
            </a:r>
            <a:endParaRPr lang="tr-TR" b="1" dirty="0" smtClean="0">
              <a:solidFill>
                <a:srgbClr val="7030A0"/>
              </a:solidFill>
            </a:endParaRPr>
          </a:p>
          <a:p>
            <a:pPr>
              <a:buNone/>
            </a:pPr>
            <a:r>
              <a:rPr lang="tr-TR" b="1" dirty="0" smtClean="0">
                <a:solidFill>
                  <a:srgbClr val="7030A0"/>
                </a:solidFill>
              </a:rPr>
              <a:t>	</a:t>
            </a:r>
            <a:r>
              <a:rPr lang="tr-TR" b="1" dirty="0" smtClean="0">
                <a:solidFill>
                  <a:srgbClr val="7030A0"/>
                </a:solidFill>
              </a:rPr>
              <a:t>			</a:t>
            </a:r>
            <a:r>
              <a:rPr lang="tr-TR" b="1" dirty="0" smtClean="0">
                <a:solidFill>
                  <a:srgbClr val="7030A0"/>
                </a:solidFill>
              </a:rPr>
              <a:t>ISI </a:t>
            </a:r>
            <a:r>
              <a:rPr lang="tr-TR" b="1" dirty="0" smtClean="0">
                <a:solidFill>
                  <a:srgbClr val="7030A0"/>
                </a:solidFill>
              </a:rPr>
              <a:t>İLE DEZENFEKSİYON </a:t>
            </a:r>
          </a:p>
          <a:p>
            <a:pPr>
              <a:buNone/>
            </a:pPr>
            <a:r>
              <a:rPr lang="tr-TR" b="1" dirty="0" smtClean="0"/>
              <a:t>						</a:t>
            </a:r>
            <a:endParaRPr lang="tr-TR" b="1" dirty="0" smtClean="0">
              <a:solidFill>
                <a:srgbClr val="7030A0"/>
              </a:solidFill>
            </a:endParaRPr>
          </a:p>
          <a:p>
            <a:pPr>
              <a:buNone/>
            </a:pPr>
            <a:r>
              <a:rPr lang="tr-TR" b="1" dirty="0" smtClean="0">
                <a:solidFill>
                  <a:srgbClr val="7030A0"/>
                </a:solidFill>
              </a:rPr>
              <a:t>	2-KİMYASAL MADDELERLE DEZENFEKSİYON </a:t>
            </a:r>
          </a:p>
          <a:p>
            <a:pPr algn="ctr">
              <a:buNone/>
            </a:pPr>
            <a:r>
              <a:rPr lang="de-DE" b="1" dirty="0" smtClean="0">
                <a:solidFill>
                  <a:srgbClr val="7030A0"/>
                </a:solidFill>
              </a:rPr>
              <a:t>DEZENFEKTAN VE ANTİSEPTİK</a:t>
            </a:r>
            <a:r>
              <a:rPr lang="tr-TR" b="1" dirty="0" smtClean="0">
                <a:solidFill>
                  <a:srgbClr val="7030A0"/>
                </a:solidFill>
              </a:rPr>
              <a:t> İLE DEZENFEKSİYON </a:t>
            </a:r>
          </a:p>
          <a:p>
            <a:pPr algn="ctr">
              <a:buNone/>
            </a:pPr>
            <a:r>
              <a:rPr lang="tr-TR" b="1" dirty="0" smtClean="0">
                <a:solidFill>
                  <a:srgbClr val="7030A0"/>
                </a:solidFill>
              </a:rPr>
              <a:t>			</a:t>
            </a:r>
            <a:endParaRPr lang="tr-TR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DEZENFEKTAN</a:t>
            </a:r>
            <a:endParaRPr lang="tr-TR" sz="4000" b="1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sz="3800" b="1" dirty="0" smtClean="0">
                <a:solidFill>
                  <a:srgbClr val="FF0000"/>
                </a:solidFill>
              </a:rPr>
              <a:t>Dezenfeksiyon işleminde kullanılan kimyasal madde ya da bileşiklere dezenfektan denir</a:t>
            </a:r>
          </a:p>
          <a:p>
            <a:pPr>
              <a:buNone/>
            </a:pPr>
            <a:r>
              <a:rPr lang="tr-TR" b="1" dirty="0" smtClean="0"/>
              <a:t>				</a:t>
            </a:r>
            <a:endParaRPr lang="tr-TR" b="1" dirty="0" smtClean="0"/>
          </a:p>
          <a:p>
            <a:pPr>
              <a:buNone/>
            </a:pPr>
            <a:r>
              <a:rPr lang="tr-TR" sz="2600" b="1" dirty="0" smtClean="0">
                <a:solidFill>
                  <a:srgbClr val="FF0000"/>
                </a:solidFill>
              </a:rPr>
              <a:t>Dezenfektan</a:t>
            </a:r>
            <a:endParaRPr lang="tr-TR" sz="2600" b="1" dirty="0" smtClean="0">
              <a:solidFill>
                <a:srgbClr val="FF0000"/>
              </a:solidFill>
            </a:endParaRPr>
          </a:p>
          <a:p>
            <a:r>
              <a:rPr lang="tr-TR" sz="2600" b="1" dirty="0" smtClean="0"/>
              <a:t>Cansız maddeler için kullanılır</a:t>
            </a:r>
          </a:p>
          <a:p>
            <a:r>
              <a:rPr lang="tr-TR" sz="2600" b="1" dirty="0" smtClean="0"/>
              <a:t>Güçlü kimyasallar içerir</a:t>
            </a:r>
          </a:p>
          <a:p>
            <a:r>
              <a:rPr lang="tr-TR" sz="2600" b="1" dirty="0" smtClean="0"/>
              <a:t>Cilde zarar verebilir</a:t>
            </a:r>
          </a:p>
          <a:p>
            <a:r>
              <a:rPr lang="tr-TR" sz="2600" b="1" dirty="0" smtClean="0"/>
              <a:t>Eşya temizliğinde kullanılır</a:t>
            </a:r>
          </a:p>
          <a:p>
            <a:pPr>
              <a:buNone/>
            </a:pPr>
            <a:r>
              <a:rPr lang="tr-TR" sz="2600" b="1" dirty="0" smtClean="0">
                <a:solidFill>
                  <a:srgbClr val="FF0000"/>
                </a:solidFill>
              </a:rPr>
              <a:t>Antiseptik</a:t>
            </a:r>
            <a:endParaRPr lang="tr-TR" sz="2600" b="1" dirty="0" smtClean="0">
              <a:solidFill>
                <a:srgbClr val="FF0000"/>
              </a:solidFill>
            </a:endParaRPr>
          </a:p>
          <a:p>
            <a:r>
              <a:rPr lang="tr-TR" sz="2600" b="1" dirty="0" smtClean="0"/>
              <a:t>Canlı dokuya uygulanır</a:t>
            </a:r>
          </a:p>
          <a:p>
            <a:r>
              <a:rPr lang="tr-TR" sz="2600" b="1" dirty="0" smtClean="0"/>
              <a:t>Daha yumuşak yapıdadır</a:t>
            </a:r>
          </a:p>
          <a:p>
            <a:r>
              <a:rPr lang="tr-TR" sz="2600" b="1" dirty="0" smtClean="0"/>
              <a:t>Cildi yakmaz veya tahriş etmez</a:t>
            </a:r>
          </a:p>
          <a:p>
            <a:r>
              <a:rPr lang="tr-TR" sz="2600" b="1" dirty="0" smtClean="0"/>
              <a:t>Yara temizliğinde kullanılır</a:t>
            </a:r>
          </a:p>
          <a:p>
            <a:endParaRPr lang="tr-TR" sz="2600" b="1" dirty="0" smtClean="0"/>
          </a:p>
          <a:p>
            <a:endParaRPr lang="tr-T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260648"/>
            <a:ext cx="8712968" cy="640871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		</a:t>
            </a:r>
            <a:r>
              <a:rPr lang="tr-TR" sz="3900" b="1" dirty="0" smtClean="0">
                <a:solidFill>
                  <a:srgbClr val="FF0000"/>
                </a:solidFill>
              </a:rPr>
              <a:t>İDEAL DEZENFEKTANIN ÖZELLİKLERİ</a:t>
            </a:r>
            <a:endParaRPr lang="tr-TR" sz="3900" b="1" dirty="0" smtClean="0"/>
          </a:p>
          <a:p>
            <a:r>
              <a:rPr lang="tr-TR" sz="2800" b="1" dirty="0" err="1" smtClean="0"/>
              <a:t>Antimikrobiyal</a:t>
            </a:r>
            <a:r>
              <a:rPr lang="tr-TR" sz="2800" b="1" dirty="0" smtClean="0"/>
              <a:t> spektrumu geniş olmalı</a:t>
            </a:r>
          </a:p>
          <a:p>
            <a:r>
              <a:rPr lang="tr-TR" sz="2800" b="1" dirty="0" smtClean="0"/>
              <a:t>Kısa sürede etki etmeli</a:t>
            </a:r>
          </a:p>
          <a:p>
            <a:r>
              <a:rPr lang="tr-TR" sz="2800" b="1" dirty="0" smtClean="0"/>
              <a:t>Organik madde varlığında etki sürmeli, artıkları </a:t>
            </a:r>
            <a:r>
              <a:rPr lang="tr-TR" sz="2800" b="1" dirty="0" err="1" smtClean="0"/>
              <a:t>fikse</a:t>
            </a:r>
            <a:r>
              <a:rPr lang="tr-TR" sz="2800" b="1" dirty="0" smtClean="0"/>
              <a:t> etmemeli</a:t>
            </a:r>
          </a:p>
          <a:p>
            <a:r>
              <a:rPr lang="tr-TR" sz="2800" b="1" dirty="0" smtClean="0"/>
              <a:t>Materyal uyumu iyi olmalı</a:t>
            </a:r>
          </a:p>
          <a:p>
            <a:r>
              <a:rPr lang="tr-TR" sz="2800" b="1" dirty="0" smtClean="0"/>
              <a:t>Hasta, sağlık çalışanı ve çevreye zararı olmamalı</a:t>
            </a:r>
          </a:p>
          <a:p>
            <a:r>
              <a:rPr lang="tr-TR" sz="2800" b="1" dirty="0" smtClean="0"/>
              <a:t>Ucuz olmalı</a:t>
            </a:r>
          </a:p>
          <a:p>
            <a:r>
              <a:rPr lang="tr-TR" sz="2800" b="1" dirty="0" err="1" smtClean="0"/>
              <a:t>Toksik</a:t>
            </a:r>
            <a:r>
              <a:rPr lang="tr-TR" sz="2800" b="1" dirty="0" smtClean="0"/>
              <a:t> olmamalı</a:t>
            </a:r>
          </a:p>
          <a:p>
            <a:r>
              <a:rPr lang="tr-TR" sz="2800" b="1" dirty="0" smtClean="0"/>
              <a:t>Çevresel faktörlerden etkilenmemeli</a:t>
            </a:r>
          </a:p>
          <a:p>
            <a:r>
              <a:rPr lang="tr-TR" sz="2800" b="1" dirty="0" smtClean="0"/>
              <a:t>Uygulandığı Yüzeye uyum göstermeli</a:t>
            </a:r>
          </a:p>
          <a:p>
            <a:r>
              <a:rPr lang="tr-TR" sz="2800" b="1" dirty="0" smtClean="0"/>
              <a:t>Uygulandığı yüzeyde kalıcı etki göstermeli</a:t>
            </a:r>
          </a:p>
          <a:p>
            <a:r>
              <a:rPr lang="tr-TR" sz="2800" b="1" dirty="0" smtClean="0"/>
              <a:t>Kokusuz olmalı</a:t>
            </a:r>
          </a:p>
          <a:p>
            <a:r>
              <a:rPr lang="tr-TR" sz="2800" b="1" dirty="0" smtClean="0"/>
              <a:t>Suda çözünebilmeli</a:t>
            </a:r>
          </a:p>
          <a:p>
            <a:pPr>
              <a:buNone/>
            </a:pPr>
            <a:endParaRPr lang="tr-TR" sz="2800" b="1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400" dirty="0" smtClean="0"/>
              <a:t> </a:t>
            </a:r>
            <a:r>
              <a:rPr lang="tr-TR" sz="4000" b="1" dirty="0" smtClean="0">
                <a:solidFill>
                  <a:srgbClr val="FF0000"/>
                </a:solidFill>
              </a:rPr>
              <a:t>İDEAL DEZENFEKTANIN ÖZELLİKLERİ</a:t>
            </a:r>
            <a:endParaRPr lang="tr-TR" sz="40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tr-TR" b="1" dirty="0" smtClean="0"/>
              <a:t>Bazı dezenfektanlar, diğer temizlik maddeleri ile karıştırıldığında etkisizleşir veya geçinemezler</a:t>
            </a:r>
          </a:p>
          <a:p>
            <a:pPr marL="271463" indent="-180975">
              <a:lnSpc>
                <a:spcPct val="150000"/>
              </a:lnSpc>
              <a:spcBef>
                <a:spcPct val="50000"/>
              </a:spcBef>
              <a:defRPr/>
            </a:pPr>
            <a:r>
              <a:rPr lang="tr-TR" b="1" dirty="0" err="1" smtClean="0"/>
              <a:t>Hipokloritler</a:t>
            </a:r>
            <a:r>
              <a:rPr lang="tr-TR" b="1" dirty="0" smtClean="0"/>
              <a:t> ve diğer bazı halojen ürünler özellikle asitlerle karıştırıldığında oldukça reaktiftir</a:t>
            </a:r>
          </a:p>
          <a:p>
            <a:pPr marL="271463" indent="-180975">
              <a:lnSpc>
                <a:spcPct val="150000"/>
              </a:lnSpc>
              <a:spcBef>
                <a:spcPct val="50000"/>
              </a:spcBef>
              <a:defRPr/>
            </a:pPr>
            <a:r>
              <a:rPr lang="tr-TR" b="1" dirty="0" smtClean="0">
                <a:solidFill>
                  <a:srgbClr val="7030A0"/>
                </a:solidFill>
              </a:rPr>
              <a:t>Kesinlikle hiçbir dezenfektan bir diğeri ile birleştirilerek kullanılmamalı </a:t>
            </a:r>
            <a:r>
              <a:rPr lang="tr-TR" b="1" dirty="0" smtClean="0"/>
              <a:t>çünkü hem her ikisinin de dezenfeksiyon etkinliği azalır hem de </a:t>
            </a:r>
            <a:r>
              <a:rPr lang="tr-TR" b="1" dirty="0" err="1" smtClean="0"/>
              <a:t>toksik</a:t>
            </a:r>
            <a:r>
              <a:rPr lang="tr-TR" b="1" dirty="0" smtClean="0"/>
              <a:t> olabilir</a:t>
            </a:r>
            <a:endParaRPr lang="en-US" b="1" dirty="0" smtClean="0"/>
          </a:p>
          <a:p>
            <a:endParaRPr lang="tr-TR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DEZENFEKTAN YAN ETKİLERİ NELERDİR?</a:t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Özellikle yüzey temizliği için kullanılan dezenfektanlar </a:t>
            </a:r>
            <a:r>
              <a:rPr lang="tr-TR" b="1" dirty="0" smtClean="0"/>
              <a:t>kimyasal olarak güçlü etkilere sahip olduğundan, bazı zararlı biyolojik etkilere neden olabilir</a:t>
            </a:r>
          </a:p>
          <a:p>
            <a:r>
              <a:rPr lang="tr-TR" b="1" dirty="0" smtClean="0"/>
              <a:t>Dezenfektanlar maruz kaldıkları vücut bölgelerine göre aşağıdaki yan etkilere neden olabilir</a:t>
            </a:r>
          </a:p>
          <a:p>
            <a:r>
              <a:rPr lang="tr-TR" b="1" dirty="0" err="1" smtClean="0"/>
              <a:t>İrritasyona</a:t>
            </a:r>
            <a:r>
              <a:rPr lang="tr-TR" b="1" dirty="0" smtClean="0"/>
              <a:t> bağlı ciltte döküntüler</a:t>
            </a:r>
          </a:p>
          <a:p>
            <a:r>
              <a:rPr lang="tr-TR" b="1" dirty="0" smtClean="0"/>
              <a:t>Kızarıklık, şişlik, kaşıntı</a:t>
            </a:r>
          </a:p>
          <a:p>
            <a:r>
              <a:rPr lang="tr-TR" b="1" dirty="0" err="1" smtClean="0"/>
              <a:t>Kontakt</a:t>
            </a:r>
            <a:r>
              <a:rPr lang="tr-TR" b="1" dirty="0" smtClean="0"/>
              <a:t> dermatit</a:t>
            </a:r>
          </a:p>
          <a:p>
            <a:r>
              <a:rPr lang="tr-TR" b="1" dirty="0" smtClean="0"/>
              <a:t>Cilt yanıkları</a:t>
            </a:r>
          </a:p>
          <a:p>
            <a:r>
              <a:rPr lang="tr-TR" b="1" dirty="0" smtClean="0"/>
              <a:t>Alerjik reaksiyonlar</a:t>
            </a:r>
          </a:p>
          <a:p>
            <a:r>
              <a:rPr lang="tr-TR" b="1" dirty="0" smtClean="0"/>
              <a:t>Cilt bütünlüğünün bozulmasına bağlı ikincil gelişen enfeksiyonlar</a:t>
            </a:r>
          </a:p>
          <a:p>
            <a:pPr>
              <a:buNone/>
            </a:pPr>
            <a:endParaRPr lang="tr-TR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/>
            </a:r>
            <a:br>
              <a:rPr lang="tr-TR" sz="4000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DEZENFEKTAN KULLANIMI İLE İLGİLİ PROBLEMLER </a:t>
            </a:r>
            <a:r>
              <a:rPr lang="en-US" sz="4000" b="1" dirty="0" smtClean="0">
                <a:solidFill>
                  <a:srgbClr val="FF0000"/>
                </a:solidFill>
              </a:rPr>
              <a:t/>
            </a:r>
            <a:br>
              <a:rPr lang="en-US" sz="4000" b="1" dirty="0" smtClean="0">
                <a:solidFill>
                  <a:srgbClr val="FF0000"/>
                </a:solidFill>
              </a:rPr>
            </a:br>
            <a:endParaRPr lang="tr-TR" sz="40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25000" lnSpcReduction="20000"/>
          </a:bodyPr>
          <a:lstStyle/>
          <a:p>
            <a:pPr marL="180975" indent="-180975">
              <a:lnSpc>
                <a:spcPct val="110000"/>
              </a:lnSpc>
              <a:spcBef>
                <a:spcPct val="50000"/>
              </a:spcBef>
              <a:buNone/>
              <a:defRPr/>
            </a:pPr>
            <a:r>
              <a:rPr lang="tr-TR" sz="2800" b="1" dirty="0" smtClean="0"/>
              <a:t>	</a:t>
            </a:r>
            <a:r>
              <a:rPr lang="tr-TR" sz="6800" b="1" dirty="0" smtClean="0"/>
              <a:t>	</a:t>
            </a:r>
            <a:r>
              <a:rPr lang="tr-TR" sz="9600" b="1" dirty="0" smtClean="0"/>
              <a:t>	</a:t>
            </a:r>
            <a:r>
              <a:rPr lang="tr-TR" sz="9600" b="1" dirty="0" smtClean="0">
                <a:solidFill>
                  <a:srgbClr val="7030A0"/>
                </a:solidFill>
              </a:rPr>
              <a:t>TEMAS  SÜRESİ</a:t>
            </a:r>
          </a:p>
          <a:p>
            <a:pPr marL="180975" indent="-180975">
              <a:lnSpc>
                <a:spcPct val="110000"/>
              </a:lnSpc>
              <a:spcBef>
                <a:spcPct val="50000"/>
              </a:spcBef>
              <a:defRPr/>
            </a:pPr>
            <a:r>
              <a:rPr lang="tr-TR" sz="9600" b="1" dirty="0" smtClean="0"/>
              <a:t>Dezenfektanın yüzeyle temas süresi yeterli olmalı (10-20 </a:t>
            </a:r>
            <a:r>
              <a:rPr lang="tr-TR" sz="9600" b="1" dirty="0" err="1" smtClean="0"/>
              <a:t>dk</a:t>
            </a:r>
            <a:r>
              <a:rPr lang="tr-TR" sz="9600" b="1" dirty="0" smtClean="0"/>
              <a:t> )</a:t>
            </a:r>
          </a:p>
          <a:p>
            <a:pPr marL="180975" indent="-180975">
              <a:lnSpc>
                <a:spcPct val="110000"/>
              </a:lnSpc>
              <a:spcBef>
                <a:spcPct val="50000"/>
              </a:spcBef>
              <a:defRPr/>
            </a:pPr>
            <a:r>
              <a:rPr lang="tr-TR" sz="9600" b="1" dirty="0" smtClean="0"/>
              <a:t>Kısa temas </a:t>
            </a:r>
            <a:r>
              <a:rPr lang="tr-TR" sz="9600" b="1" dirty="0" err="1" smtClean="0"/>
              <a:t>bakteriyostatik</a:t>
            </a:r>
            <a:r>
              <a:rPr lang="tr-TR" sz="9600" b="1" dirty="0" smtClean="0"/>
              <a:t> etki sağlar</a:t>
            </a:r>
          </a:p>
          <a:p>
            <a:pPr marL="180975" indent="-180975">
              <a:lnSpc>
                <a:spcPct val="110000"/>
              </a:lnSpc>
              <a:spcBef>
                <a:spcPct val="50000"/>
              </a:spcBef>
              <a:defRPr/>
            </a:pPr>
            <a:r>
              <a:rPr lang="tr-TR" sz="9600" b="1" dirty="0" smtClean="0"/>
              <a:t>Yüksek ısı temas süresini azaltırken, düşük ısı her zaman arttırmaz</a:t>
            </a:r>
            <a:endParaRPr lang="en-US" sz="9600" b="1" dirty="0" smtClean="0"/>
          </a:p>
          <a:p>
            <a:pPr>
              <a:buNone/>
            </a:pPr>
            <a:r>
              <a:rPr lang="tr-TR" sz="9600" b="1" dirty="0" smtClean="0">
                <a:solidFill>
                  <a:srgbClr val="7030A0"/>
                </a:solidFill>
              </a:rPr>
              <a:t>			DİRENÇ</a:t>
            </a:r>
          </a:p>
          <a:p>
            <a:pPr marL="180975" indent="-180975">
              <a:lnSpc>
                <a:spcPct val="150000"/>
              </a:lnSpc>
              <a:defRPr/>
            </a:pPr>
            <a:r>
              <a:rPr lang="tr-TR" sz="9600" b="1" dirty="0" smtClean="0"/>
              <a:t>Bazı dezenfektanların sık aralıklarla uygulanması halinde </a:t>
            </a:r>
            <a:r>
              <a:rPr lang="tr-TR" sz="9600" b="1" dirty="0" err="1" smtClean="0">
                <a:solidFill>
                  <a:srgbClr val="BE12B2"/>
                </a:solidFill>
              </a:rPr>
              <a:t>m.o</a:t>
            </a:r>
            <a:r>
              <a:rPr lang="tr-TR" sz="9600" b="1" dirty="0" smtClean="0">
                <a:solidFill>
                  <a:srgbClr val="BE12B2"/>
                </a:solidFill>
              </a:rPr>
              <a:t>. direnç geliştirebilir</a:t>
            </a:r>
          </a:p>
          <a:p>
            <a:pPr marL="180975" indent="-180975">
              <a:lnSpc>
                <a:spcPct val="150000"/>
              </a:lnSpc>
              <a:defRPr/>
            </a:pPr>
            <a:r>
              <a:rPr lang="tr-TR" sz="9600" b="1" dirty="0" smtClean="0"/>
              <a:t>Dezenfektanların temizlik amacıyla kullanılması, hem direnç gelişimi hem de yüksek maliyetle sonuçlanır</a:t>
            </a:r>
          </a:p>
          <a:p>
            <a:pPr>
              <a:buNone/>
            </a:pPr>
            <a:endParaRPr lang="tr-TR" sz="9600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/>
              <a:t/>
            </a:r>
            <a:br>
              <a:rPr lang="tr-TR" b="1" dirty="0" smtClean="0"/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188640"/>
            <a:ext cx="8784976" cy="64087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b="1" dirty="0" smtClean="0">
                <a:solidFill>
                  <a:srgbClr val="7030A0"/>
                </a:solidFill>
              </a:rPr>
              <a:t>	</a:t>
            </a:r>
            <a:r>
              <a:rPr lang="tr-TR" b="1" dirty="0" smtClean="0">
                <a:solidFill>
                  <a:srgbClr val="FF0000"/>
                </a:solidFill>
              </a:rPr>
              <a:t>     FİZİKSEL DEZENFEKSİYON YÖNTEMLERİ </a:t>
            </a:r>
            <a:r>
              <a:rPr lang="tr-TR" b="1" dirty="0" smtClean="0">
                <a:solidFill>
                  <a:srgbClr val="7030A0"/>
                </a:solidFill>
              </a:rPr>
              <a:t>	</a:t>
            </a:r>
          </a:p>
          <a:p>
            <a:pPr>
              <a:buNone/>
            </a:pPr>
            <a:r>
              <a:rPr lang="tr-TR" b="1" dirty="0" smtClean="0">
                <a:solidFill>
                  <a:srgbClr val="7030A0"/>
                </a:solidFill>
              </a:rPr>
              <a:t>			ISI İLE DEZENFEKSİYON</a:t>
            </a:r>
          </a:p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PASTÖRİZASYON</a:t>
            </a:r>
          </a:p>
          <a:p>
            <a:r>
              <a:rPr lang="tr-TR" b="1" dirty="0" smtClean="0"/>
              <a:t>Süt ve süt gibi yüksek ısı derecelerine dayanıklı olmayan sıvı ve besin maddelerinin dezenfeksiyonu için kullanılan bir yöntemdir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Louis </a:t>
            </a:r>
            <a:r>
              <a:rPr lang="tr-TR" b="1" dirty="0" err="1" smtClean="0"/>
              <a:t>Pasteur</a:t>
            </a:r>
            <a:r>
              <a:rPr lang="tr-TR" b="1" dirty="0" smtClean="0"/>
              <a:t> tarafından bulunmuştur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Süt, meyve suları gibi içeceklerin patojen mikroorganizmalardan arındırılmasında kullanılır</a:t>
            </a:r>
          </a:p>
          <a:p>
            <a:pPr>
              <a:buNone/>
            </a:pPr>
            <a:endParaRPr lang="tr-TR" b="1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PASTÖRİZASYON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sz="2800" dirty="0" smtClean="0">
                <a:solidFill>
                  <a:srgbClr val="0070C0"/>
                </a:solidFill>
              </a:rPr>
              <a:t>			</a:t>
            </a:r>
            <a:r>
              <a:rPr lang="tr-TR" sz="2800" b="1" dirty="0" smtClean="0">
                <a:solidFill>
                  <a:srgbClr val="FF0000"/>
                </a:solidFill>
              </a:rPr>
              <a:t>İKİ YÖNTEMLE YAPILABİLİR</a:t>
            </a:r>
          </a:p>
          <a:p>
            <a:r>
              <a:rPr lang="tr-TR" sz="2800" b="1" dirty="0" smtClean="0">
                <a:solidFill>
                  <a:srgbClr val="0070C0"/>
                </a:solidFill>
              </a:rPr>
              <a:t>65 °C  de 30 </a:t>
            </a:r>
            <a:r>
              <a:rPr lang="tr-TR" sz="2800" b="1" dirty="0" err="1" smtClean="0">
                <a:solidFill>
                  <a:srgbClr val="0070C0"/>
                </a:solidFill>
              </a:rPr>
              <a:t>dk</a:t>
            </a:r>
            <a:r>
              <a:rPr lang="tr-TR" sz="2800" b="1" dirty="0" smtClean="0">
                <a:solidFill>
                  <a:srgbClr val="0070C0"/>
                </a:solidFill>
              </a:rPr>
              <a:t>   veya</a:t>
            </a:r>
          </a:p>
          <a:p>
            <a:r>
              <a:rPr lang="tr-TR" sz="2800" b="1" dirty="0" smtClean="0">
                <a:solidFill>
                  <a:srgbClr val="0070C0"/>
                </a:solidFill>
              </a:rPr>
              <a:t>75 °C de 15 sn   tutulur </a:t>
            </a:r>
          </a:p>
          <a:p>
            <a:r>
              <a:rPr lang="nb-NO" sz="2800" b="1" dirty="0" smtClean="0"/>
              <a:t>Her ikisinde de sıvılar hızla 10</a:t>
            </a:r>
            <a:r>
              <a:rPr lang="tr-TR" sz="2800" b="1" dirty="0" smtClean="0">
                <a:solidFill>
                  <a:srgbClr val="0070C0"/>
                </a:solidFill>
              </a:rPr>
              <a:t> °C </a:t>
            </a:r>
            <a:r>
              <a:rPr lang="nb-NO" sz="2800" b="1" dirty="0" smtClean="0"/>
              <a:t>nin altına soğutu</a:t>
            </a:r>
            <a:r>
              <a:rPr lang="tr-TR" sz="2800" b="1" dirty="0" err="1" smtClean="0"/>
              <a:t>larak</a:t>
            </a:r>
            <a:r>
              <a:rPr lang="tr-TR" sz="2800" b="1" dirty="0" smtClean="0"/>
              <a:t> </a:t>
            </a:r>
            <a:r>
              <a:rPr lang="tr-TR" sz="2800" b="1" dirty="0" smtClean="0">
                <a:solidFill>
                  <a:srgbClr val="0070C0"/>
                </a:solidFill>
              </a:rPr>
              <a:t>pastörize edilmiş olur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Mikroorganizmaların ısı yardımıyla tahrip edilmesi esasına dayanır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476672"/>
            <a:ext cx="8496944" cy="60486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dirty="0" smtClean="0">
                <a:solidFill>
                  <a:srgbClr val="0070C0"/>
                </a:solidFill>
              </a:rPr>
              <a:t>		</a:t>
            </a:r>
            <a:r>
              <a:rPr lang="tr-TR" b="1" dirty="0" smtClean="0">
                <a:solidFill>
                  <a:srgbClr val="0070C0"/>
                </a:solidFill>
              </a:rPr>
              <a:t>	</a:t>
            </a:r>
            <a:r>
              <a:rPr lang="tr-TR" b="1" dirty="0" smtClean="0">
                <a:solidFill>
                  <a:srgbClr val="FF0000"/>
                </a:solidFill>
              </a:rPr>
              <a:t>PASTÖRİZASYON DEZAVANTAJI</a:t>
            </a:r>
          </a:p>
          <a:p>
            <a:r>
              <a:rPr lang="tr-TR" b="1" dirty="0" smtClean="0"/>
              <a:t>Pastörizasyondan sonra besin maddeleri buzdolabında saklanmalı ve hızla tüketilmelidir </a:t>
            </a:r>
          </a:p>
          <a:p>
            <a:endParaRPr lang="tr-TR" dirty="0" smtClean="0"/>
          </a:p>
          <a:p>
            <a:pPr>
              <a:buNone/>
            </a:pPr>
            <a:r>
              <a:rPr lang="tr-TR" dirty="0" smtClean="0"/>
              <a:t>			</a:t>
            </a:r>
            <a:r>
              <a:rPr lang="tr-TR" b="1" dirty="0" smtClean="0">
                <a:solidFill>
                  <a:srgbClr val="FF0000"/>
                </a:solidFill>
              </a:rPr>
              <a:t>PASTÖRİZASYON AVANTAJLARI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</a:p>
          <a:p>
            <a:r>
              <a:rPr lang="tr-TR" b="1" dirty="0" err="1" smtClean="0"/>
              <a:t>Toksik</a:t>
            </a:r>
            <a:r>
              <a:rPr lang="tr-TR" b="1" dirty="0" smtClean="0"/>
              <a:t> değildir </a:t>
            </a:r>
          </a:p>
          <a:p>
            <a:r>
              <a:rPr lang="tr-TR" b="1" dirty="0" smtClean="0"/>
              <a:t>Kalıntı bırakmaz</a:t>
            </a:r>
          </a:p>
          <a:p>
            <a:r>
              <a:rPr lang="tr-TR" b="1" dirty="0" smtClean="0"/>
              <a:t>Direnç sorunu yoktur</a:t>
            </a:r>
          </a:p>
          <a:p>
            <a:r>
              <a:rPr lang="tr-TR" b="1" dirty="0" smtClean="0"/>
              <a:t>Sterilizasyon gibi </a:t>
            </a:r>
            <a:r>
              <a:rPr lang="tr-TR" b="1" dirty="0" err="1" smtClean="0"/>
              <a:t>otomatize</a:t>
            </a:r>
            <a:r>
              <a:rPr lang="tr-TR" b="1" dirty="0" smtClean="0"/>
              <a:t> edilmiştir </a:t>
            </a:r>
          </a:p>
          <a:p>
            <a:endParaRPr lang="tr-TR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3600" b="1" dirty="0" smtClean="0">
                <a:solidFill>
                  <a:srgbClr val="0070C0"/>
                </a:solidFill>
              </a:rPr>
              <a:t>HANGİ ÜRÜNLER PASTÖRİZASYON YAPILABİLİR</a:t>
            </a:r>
            <a:endParaRPr lang="tr-TR" sz="3600" dirty="0">
              <a:solidFill>
                <a:srgbClr val="0070C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Süt ve süt ürünlerine, sıvı yumurta ürünlerine, bira ve şarap gibi alkollü içeceklere, turşu, sirke gibi yüksek asitli gıdalar</a:t>
            </a:r>
          </a:p>
          <a:p>
            <a:r>
              <a:rPr lang="tr-TR" b="1" dirty="0" smtClean="0"/>
              <a:t>Süt, krema, meyve suyu, gül suyu, ketçap, mayonez, şıra, meyve sosu gibi birçok ürünü makinelerle pastörize etmek mümkündür 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0070C0"/>
                </a:solidFill>
              </a:rPr>
              <a:t>TÜRK GIDA KODEKSİNE GÖRE PASTÖRİZASYON TANIMI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Türk Gıda Kodeksine göre pastörize içme sütü; “çiğ sütün doğal ve biyolojik özelliklerine zarar vermeden pastörizasyon işlemi uygulanarak patojen </a:t>
            </a:r>
            <a:r>
              <a:rPr lang="tr-TR" sz="2800" b="1" dirty="0" smtClean="0">
                <a:solidFill>
                  <a:srgbClr val="FF0000"/>
                </a:solidFill>
              </a:rPr>
              <a:t>mikroorganizmaların </a:t>
            </a:r>
            <a:r>
              <a:rPr lang="tr-TR" sz="2800" b="1" dirty="0" err="1" smtClean="0">
                <a:solidFill>
                  <a:srgbClr val="FF0000"/>
                </a:solidFill>
              </a:rPr>
              <a:t>vejetatif</a:t>
            </a:r>
            <a:r>
              <a:rPr lang="tr-TR" sz="2800" b="1" dirty="0" smtClean="0">
                <a:solidFill>
                  <a:srgbClr val="FF0000"/>
                </a:solidFill>
              </a:rPr>
              <a:t> formlarının tamamen</a:t>
            </a:r>
            <a:r>
              <a:rPr lang="tr-TR" sz="2800" b="1" dirty="0" smtClean="0">
                <a:solidFill>
                  <a:srgbClr val="0070C0"/>
                </a:solidFill>
              </a:rPr>
              <a:t>, </a:t>
            </a:r>
            <a:r>
              <a:rPr lang="tr-TR" sz="2800" b="1" dirty="0" smtClean="0"/>
              <a:t>diğer mikroorganizmaların büyük bir kısmının </a:t>
            </a:r>
            <a:r>
              <a:rPr lang="tr-TR" sz="2800" b="1" dirty="0" smtClean="0">
                <a:solidFill>
                  <a:srgbClr val="7030A0"/>
                </a:solidFill>
              </a:rPr>
              <a:t>yok edilmesi </a:t>
            </a:r>
            <a:r>
              <a:rPr lang="tr-TR" sz="2800" b="1" dirty="0" smtClean="0"/>
              <a:t>ile elde edilen ve pastörizasyondan hemen sonra, kısa sürede 6 Cᵒ’</a:t>
            </a:r>
            <a:r>
              <a:rPr lang="tr-TR" sz="2800" b="1" dirty="0" err="1" smtClean="0"/>
              <a:t>yi</a:t>
            </a:r>
            <a:r>
              <a:rPr lang="tr-TR" sz="2800" b="1" dirty="0" smtClean="0"/>
              <a:t> geçmeyecek sıcaklığa soğutulan içme sütüdür” şeklinde tanımlanmaktadır </a:t>
            </a:r>
            <a:endParaRPr lang="tr-TR" sz="28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C:\Users\Pc\Desktop\Anahtar-Teslimi-Tesis-cozumleri.pn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323528" y="476672"/>
            <a:ext cx="8202612" cy="56165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C:\Users\Pc\Desktop\images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548680"/>
            <a:ext cx="8455025" cy="562451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C:\Users\Pc\Desktop\images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3848" y="188640"/>
            <a:ext cx="5443537" cy="3644900"/>
          </a:xfrm>
          <a:prstGeom prst="rect">
            <a:avLst/>
          </a:prstGeom>
          <a:noFill/>
        </p:spPr>
      </p:pic>
      <p:pic>
        <p:nvPicPr>
          <p:cNvPr id="17411" name="Picture 3" descr="C:\Users\Pc\Desktop\rian_00319001.hr.e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9166" y="3524250"/>
            <a:ext cx="5531584" cy="307310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C:\Users\Pc\Desktop\mandira2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332656"/>
            <a:ext cx="8102600" cy="63150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C:\Users\Pc\Desktop\8728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11960" y="404664"/>
            <a:ext cx="4667250" cy="4248150"/>
          </a:xfrm>
          <a:prstGeom prst="rect">
            <a:avLst/>
          </a:prstGeom>
          <a:noFill/>
        </p:spPr>
      </p:pic>
      <p:pic>
        <p:nvPicPr>
          <p:cNvPr id="19459" name="Picture 3" descr="C:\Users\Pc\Desktop\2209898fa1e65fda548298070861d60003bebba89e037_57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20" y="428603"/>
            <a:ext cx="3759151" cy="621204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C:\Users\Pc\Desktop\Muş, Süt Fabrikası, 1978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620688"/>
            <a:ext cx="8523287" cy="55943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C:\Users\Pc\Desktop\adilcevaz-da-kurulan-sut-fabrikasi-istihdama-buyuk-katki-sagliyor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476672"/>
            <a:ext cx="7756525" cy="57118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C:\Users\Pc\Desktop\4Z9_uht_ambalaj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404664"/>
            <a:ext cx="7245350" cy="566546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404664"/>
            <a:ext cx="8568952" cy="6048672"/>
          </a:xfrm>
        </p:spPr>
        <p:txBody>
          <a:bodyPr>
            <a:normAutofit fontScale="92500"/>
          </a:bodyPr>
          <a:lstStyle/>
          <a:p>
            <a:r>
              <a:rPr lang="tr-TR" b="1" dirty="0" smtClean="0"/>
              <a:t>Cerrahi bir işlem öncesi ameliyatta kullanılacak ekipmanların özel fırınlarda yüksek sıcaklıklarda temizlenmesi işlemine </a:t>
            </a:r>
            <a:r>
              <a:rPr lang="tr-TR" b="1" dirty="0" smtClean="0">
                <a:solidFill>
                  <a:srgbClr val="FF0000"/>
                </a:solidFill>
              </a:rPr>
              <a:t>sterilizasyon; </a:t>
            </a:r>
          </a:p>
          <a:p>
            <a:r>
              <a:rPr lang="tr-TR" b="1" dirty="0" smtClean="0"/>
              <a:t>Cerrahın ameliyat masası ve çevresinde hijyen sağlanmasına </a:t>
            </a:r>
            <a:r>
              <a:rPr lang="tr-TR" b="1" dirty="0" smtClean="0">
                <a:solidFill>
                  <a:srgbClr val="FF0000"/>
                </a:solidFill>
              </a:rPr>
              <a:t>dezenfeksiyon; </a:t>
            </a:r>
          </a:p>
          <a:p>
            <a:r>
              <a:rPr lang="tr-TR" b="1" dirty="0" smtClean="0"/>
              <a:t>Hastada cerrahi işlemin uygulanacağı bölgenin temizlenmesine ise </a:t>
            </a:r>
            <a:r>
              <a:rPr lang="tr-TR" b="1" dirty="0" smtClean="0">
                <a:solidFill>
                  <a:srgbClr val="FF0000"/>
                </a:solidFill>
              </a:rPr>
              <a:t>antisepsi</a:t>
            </a:r>
            <a:r>
              <a:rPr lang="tr-TR" b="1" dirty="0" smtClean="0"/>
              <a:t> adı verilir.</a:t>
            </a:r>
          </a:p>
          <a:p>
            <a:r>
              <a:rPr lang="tr-TR" b="1" dirty="0" smtClean="0"/>
              <a:t>Her bir işlemde elde edilen hijyen düzeyi ve </a:t>
            </a:r>
            <a:r>
              <a:rPr lang="tr-TR" b="1" dirty="0" smtClean="0">
                <a:solidFill>
                  <a:srgbClr val="FF0000"/>
                </a:solidFill>
              </a:rPr>
              <a:t>uygulanan yüzey farklı olduğundan, söz konusu her işlemin uygulanma metodu ve kullanılan kimyasallar da farklılık gösterir.</a:t>
            </a:r>
            <a:r>
              <a:rPr lang="tr-TR" b="1" dirty="0" smtClean="0"/>
              <a:t/>
            </a:r>
            <a:br>
              <a:rPr lang="tr-TR" b="1" dirty="0" smtClean="0"/>
            </a:br>
            <a:endParaRPr lang="tr-TR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683568" y="836712"/>
            <a:ext cx="7546032" cy="5289451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tr-TR" sz="3600" b="1" dirty="0" smtClean="0">
                <a:solidFill>
                  <a:srgbClr val="FF0000"/>
                </a:solidFill>
              </a:rPr>
              <a:t>mikroorganizmalar farklı formlarda bulunabildiği ve bu işlemin uygulandığı bölgeler değişkenlik arz ettiğinden, dezenfeksiyonun farklı formları tanımlanmıştır</a:t>
            </a:r>
            <a:endParaRPr lang="tr-TR" sz="3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DEZENFEKTAN M.O’DA NEREYİ TAHRİP EDER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tr-TR" sz="2600" b="1" dirty="0" smtClean="0"/>
              <a:t>Dezenfektan maddeler içerdikleri kimyasal bileşenleri sayesinde mikroorganizmaların </a:t>
            </a:r>
          </a:p>
          <a:p>
            <a:r>
              <a:rPr lang="tr-TR" sz="2600" b="1" dirty="0" smtClean="0"/>
              <a:t>Hücre </a:t>
            </a:r>
            <a:r>
              <a:rPr lang="tr-TR" sz="2600" b="1" dirty="0" smtClean="0"/>
              <a:t>zarının yapısını bozarak</a:t>
            </a:r>
            <a:endParaRPr lang="tr-TR" sz="2600" b="1" dirty="0" smtClean="0"/>
          </a:p>
          <a:p>
            <a:r>
              <a:rPr lang="tr-TR" sz="2600" b="1" dirty="0" smtClean="0"/>
              <a:t>Hücre </a:t>
            </a:r>
            <a:r>
              <a:rPr lang="tr-TR" sz="2600" b="1" dirty="0" smtClean="0"/>
              <a:t>içi proteinleri </a:t>
            </a:r>
            <a:r>
              <a:rPr lang="tr-TR" sz="2600" b="1" dirty="0" err="1" smtClean="0"/>
              <a:t>denatüre</a:t>
            </a:r>
            <a:r>
              <a:rPr lang="tr-TR" sz="2600" b="1" dirty="0" smtClean="0"/>
              <a:t> ederek</a:t>
            </a:r>
          </a:p>
          <a:p>
            <a:r>
              <a:rPr lang="tr-TR" sz="2600" b="1" dirty="0" smtClean="0"/>
              <a:t>Mikroorganizmaların enzim sistemlerini bozarak etki ederler</a:t>
            </a:r>
          </a:p>
          <a:p>
            <a:r>
              <a:rPr lang="tr-TR" sz="2600" b="1" dirty="0" smtClean="0"/>
              <a:t>Bu sayede üremeleri engellenir veya ölürler</a:t>
            </a:r>
            <a:endParaRPr lang="tr-TR" sz="2600" b="1" dirty="0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MİKROORGANİZMALAR MEKANİZMALAR GELİŞTİRDİ ONLARDA AKILLI </a:t>
            </a:r>
            <a:endParaRPr lang="tr-TR" sz="32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b="1" dirty="0" smtClean="0"/>
              <a:t>Bazı mikroorganizmalar dezenfektan maddelerin bu özelliklerinden korunmak amacıyla, çeşitli mekanizmalar geliştirmiştir. </a:t>
            </a:r>
          </a:p>
          <a:p>
            <a:r>
              <a:rPr lang="tr-TR" b="1" dirty="0" smtClean="0"/>
              <a:t>Buna göre, çeşitli bakteri türleri </a:t>
            </a:r>
            <a:r>
              <a:rPr lang="tr-TR" b="1" dirty="0" smtClean="0">
                <a:solidFill>
                  <a:srgbClr val="FF0000"/>
                </a:solidFill>
              </a:rPr>
              <a:t>spor adı verilen özel </a:t>
            </a:r>
            <a:r>
              <a:rPr lang="tr-TR" b="1" dirty="0" smtClean="0"/>
              <a:t>formlarına geçerek dezenfektan maddelerin hücre içine girişini engelleyebilir, hücre duvarlarını sağlamlaştırabilir ve metabolizmalarını yavaşlatarak uzun süre varlıklarını koruyabilir. </a:t>
            </a:r>
          </a:p>
          <a:p>
            <a:r>
              <a:rPr lang="tr-TR" b="1" dirty="0" smtClean="0"/>
              <a:t>Spor formdaki bakteriler yaşamalarına müsait bir ortama ulaştıklarında (örneğin insan vücudu) tekrar eski formlarına dönerek hastalık yapabilir.</a:t>
            </a:r>
          </a:p>
          <a:p>
            <a:r>
              <a:rPr lang="tr-TR" b="1" dirty="0" smtClean="0"/>
              <a:t>Spor formdaki bakterilerin yok edilmesi için sterilizasyon yöntemlerinden faydalanılır.</a:t>
            </a:r>
          </a:p>
          <a:p>
            <a:endParaRPr lang="tr-TR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BAZEN DOĞAL DİRENÇLİ OLABİLİRLER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tr-TR" sz="2800" b="1" dirty="0" smtClean="0"/>
              <a:t>Yine bazı mikroorganizmalar dezenfeksiyon yöntemlerine </a:t>
            </a:r>
            <a:r>
              <a:rPr lang="tr-TR" sz="2800" b="1" dirty="0" smtClean="0">
                <a:solidFill>
                  <a:srgbClr val="FF0000"/>
                </a:solidFill>
              </a:rPr>
              <a:t>doğal dirençli olabilir</a:t>
            </a:r>
          </a:p>
          <a:p>
            <a:r>
              <a:rPr lang="tr-TR" sz="2800" b="1" dirty="0" smtClean="0"/>
              <a:t>Bu direnci kırmak için bazı kimyasallara dayanıklı biyokimyasal gücü daha kuvvetli ürünlerin kullanılması gündeme gelir</a:t>
            </a:r>
          </a:p>
          <a:p>
            <a:r>
              <a:rPr lang="tr-TR" sz="2800" b="1" dirty="0" smtClean="0">
                <a:solidFill>
                  <a:srgbClr val="FF0000"/>
                </a:solidFill>
              </a:rPr>
              <a:t>Bu sebepler nedeniyle dezenfeksiyon yapılan bölgenin bütün mikroorganizmalardan tamamen arındırılması söz konusu değildir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Dezenfektanlar ve </a:t>
            </a:r>
            <a:r>
              <a:rPr lang="tr-TR" b="1" i="1" dirty="0" smtClean="0">
                <a:solidFill>
                  <a:srgbClr val="FF0000"/>
                </a:solidFill>
                <a:hlinkClick r:id="rId2"/>
              </a:rPr>
              <a:t>antiseptikler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b="1" dirty="0" smtClean="0"/>
              <a:t>Dezenfektanlar ve </a:t>
            </a:r>
            <a:r>
              <a:rPr lang="tr-TR" b="1" i="1" dirty="0" smtClean="0">
                <a:hlinkClick r:id="rId2"/>
              </a:rPr>
              <a:t>antiseptikler</a:t>
            </a:r>
            <a:r>
              <a:rPr lang="tr-TR" b="1" dirty="0" smtClean="0"/>
              <a:t>, sağlık sektöründe ve günlük hayatta yaygın olarak kullanılan, patojenleri öldürmek veya etkisiz hale getirmek için geliştirilen kimyasal maddelerdir. </a:t>
            </a:r>
          </a:p>
          <a:p>
            <a:pPr algn="ctr"/>
            <a:r>
              <a:rPr lang="tr-TR" b="1" dirty="0" smtClean="0">
                <a:solidFill>
                  <a:srgbClr val="FF0000"/>
                </a:solidFill>
              </a:rPr>
              <a:t>Ancak, bu iki terim sıklıkla birbiriyle karıştırılır. Dezenfektan ve antiseptik arasındaki farkları, kullanım alanlarını söyleyelim</a:t>
            </a:r>
            <a:endParaRPr lang="tr-T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467544" y="620688"/>
            <a:ext cx="8352928" cy="5832648"/>
          </a:xfrm>
        </p:spPr>
        <p:txBody>
          <a:bodyPr/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DEZENFEKTAN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Dezenfeksiyon işleminde kullanılan kimyasal madde ya da bileşiklere dezenfektan denir</a:t>
            </a:r>
          </a:p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ANTİSEPTİKLER</a:t>
            </a:r>
          </a:p>
          <a:p>
            <a:r>
              <a:rPr lang="tr-TR" b="1" dirty="0" smtClean="0">
                <a:solidFill>
                  <a:srgbClr val="0000FF"/>
                </a:solidFill>
              </a:rPr>
              <a:t>Canlı dokular </a:t>
            </a:r>
            <a:r>
              <a:rPr lang="tr-TR" b="1" dirty="0" smtClean="0">
                <a:solidFill>
                  <a:srgbClr val="FF0000"/>
                </a:solidFill>
              </a:rPr>
              <a:t>üzerinde kullanılan ve mikroorganizmaları öldüren veya büyümesini engelleyen maddelerdir</a:t>
            </a:r>
            <a:endParaRPr lang="tr-T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DEZENFEKTANLARIN KULLANIM ALANLARI</a:t>
            </a:r>
            <a:r>
              <a:rPr lang="tr-TR" dirty="0" smtClean="0">
                <a:solidFill>
                  <a:srgbClr val="FF0000"/>
                </a:solidFill>
              </a:rPr>
              <a:t/>
            </a:r>
            <a:br>
              <a:rPr lang="tr-TR" dirty="0" smtClean="0">
                <a:solidFill>
                  <a:srgbClr val="FF0000"/>
                </a:solidFill>
              </a:rPr>
            </a:b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tr-TR" sz="2400" b="1" dirty="0" smtClean="0">
                <a:solidFill>
                  <a:srgbClr val="FF0000"/>
                </a:solidFill>
              </a:rPr>
              <a:t>YER VE YÜZEY DEZENFEKTANLARI: </a:t>
            </a:r>
            <a:r>
              <a:rPr lang="tr-TR" sz="2400" b="1" i="1" dirty="0" smtClean="0">
                <a:solidFill>
                  <a:srgbClr val="0000FF"/>
                </a:solidFill>
              </a:rPr>
              <a:t>Zeminler, tezgahlar, kapı kolları</a:t>
            </a:r>
            <a:r>
              <a:rPr lang="tr-TR" sz="2400" b="1" dirty="0" smtClean="0"/>
              <a:t> gibi yüzeylerde kullanılır. Bu ürünler, evlerden hastanelere kadar geniş bir yelpazede dezenfeksiyon sağlar.</a:t>
            </a:r>
          </a:p>
          <a:p>
            <a:r>
              <a:rPr lang="tr-TR" sz="2400" b="1" dirty="0" smtClean="0">
                <a:solidFill>
                  <a:srgbClr val="FF0000"/>
                </a:solidFill>
              </a:rPr>
              <a:t>ORTAM DEZENFEKSİYON CİHAZLARI: </a:t>
            </a:r>
            <a:r>
              <a:rPr lang="tr-TR" sz="2400" b="1" i="1" dirty="0" smtClean="0">
                <a:solidFill>
                  <a:srgbClr val="0000FF"/>
                </a:solidFill>
              </a:rPr>
              <a:t>Ortamın/odanın yüzeyleri üzerinde etkilidir. </a:t>
            </a:r>
            <a:r>
              <a:rPr lang="tr-TR" sz="2400" b="1" dirty="0" smtClean="0"/>
              <a:t>Sadece hava yoluyla taşınan değil damlacık ya da temas yolu ile yüzeylere taşınan mikroorganizmaların yok edilmesini sağlar.</a:t>
            </a:r>
          </a:p>
          <a:p>
            <a:r>
              <a:rPr lang="tr-TR" sz="2400" b="1" dirty="0" smtClean="0">
                <a:solidFill>
                  <a:srgbClr val="FF0000"/>
                </a:solidFill>
              </a:rPr>
              <a:t>ALET DEZENFEKTANLARI: </a:t>
            </a:r>
            <a:r>
              <a:rPr lang="tr-TR" sz="2400" b="1" i="1" dirty="0" smtClean="0">
                <a:hlinkClick r:id="rId2"/>
              </a:rPr>
              <a:t>Tıbbi cihazların ve aletlerin dezenfeksiyonu</a:t>
            </a:r>
            <a:r>
              <a:rPr lang="tr-TR" sz="2400" b="1" dirty="0" smtClean="0"/>
              <a:t> için özel olarak formüle edilmiş kimyasallardır. </a:t>
            </a:r>
          </a:p>
          <a:p>
            <a:r>
              <a:rPr lang="tr-TR" sz="2400" b="1" dirty="0" smtClean="0"/>
              <a:t>Özellikle ameliyathanelerde, endoskopi ünitelerinde, sterilizasyon ünitelerinde ve diş kliniklerinde ve birçok alanda kullanılır.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DEZENFEKTANLARIN ÖZELLİKLERİ</a:t>
            </a:r>
            <a:r>
              <a:rPr lang="tr-TR" dirty="0" smtClean="0">
                <a:solidFill>
                  <a:srgbClr val="FF0000"/>
                </a:solidFill>
              </a:rPr>
              <a:t/>
            </a:r>
            <a:br>
              <a:rPr lang="tr-TR" dirty="0" smtClean="0">
                <a:solidFill>
                  <a:srgbClr val="FF0000"/>
                </a:solidFill>
              </a:rPr>
            </a:b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tr-TR" sz="2700" b="1" dirty="0" smtClean="0">
                <a:solidFill>
                  <a:srgbClr val="FF0000"/>
                </a:solidFill>
              </a:rPr>
              <a:t>MİKROORGANİZMALARA KARŞI GENİŞ ETKİ SPEKTRUMU: </a:t>
            </a:r>
            <a:r>
              <a:rPr lang="tr-TR" sz="2700" b="1" dirty="0" smtClean="0"/>
              <a:t>Dezenfektanlar, bakteriler, virüsler, mantarlar ve sporlar dahil olmak üzere geniş bir yelpazede mikroorganizmalara karşı etkilidir.</a:t>
            </a:r>
          </a:p>
          <a:p>
            <a:r>
              <a:rPr lang="tr-TR" sz="2700" b="1" dirty="0" smtClean="0">
                <a:solidFill>
                  <a:srgbClr val="FF0000"/>
                </a:solidFill>
              </a:rPr>
              <a:t>YÜZEYLERE UYGULANABİLİRLİK: </a:t>
            </a:r>
            <a:r>
              <a:rPr lang="tr-TR" sz="2700" b="1" dirty="0" smtClean="0"/>
              <a:t>Dezenfektanlar genellikle yüzeylerde kullanılmak üzere formüle edilir.</a:t>
            </a:r>
          </a:p>
          <a:p>
            <a:r>
              <a:rPr lang="tr-TR" sz="2700" b="1" dirty="0" smtClean="0">
                <a:solidFill>
                  <a:srgbClr val="FF0000"/>
                </a:solidFill>
              </a:rPr>
              <a:t>KALICILIK VE ETKİNLİK SÜRESİ:</a:t>
            </a:r>
            <a:r>
              <a:rPr lang="tr-TR" sz="2700" b="1" dirty="0" smtClean="0"/>
              <a:t> Dezenfektanların etkinlik süresi kullanılan kimyasal bileşime ve ortam koşullarına bağlı olarak değişir. Bazı dezenfektanlar, uygulandıkları yüzeylerde uzun süreli koruma sağlayabilir.</a:t>
            </a:r>
          </a:p>
          <a:p>
            <a:endParaRPr lang="tr-TR" sz="2700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ANTİSEPTİK NEDİR?</a:t>
            </a:r>
            <a:r>
              <a:rPr lang="tr-TR" dirty="0" smtClean="0"/>
              <a:t/>
            </a:r>
            <a:br>
              <a:rPr lang="tr-TR" dirty="0" smtClean="0"/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Antiseptikler, canlı dokular üzerinde kullanılan ve mikroorganizmaları öldüren veya büyümesini engelleyen maddelerdir.</a:t>
            </a:r>
          </a:p>
          <a:p>
            <a:r>
              <a:rPr lang="tr-TR" b="1" dirty="0" smtClean="0"/>
              <a:t>Antiseptikler, özellikle yara temizliği, ameliyat öncesi cilt hazırlığı ve genel hijyen amacıyla kullanılır. </a:t>
            </a:r>
          </a:p>
          <a:p>
            <a:r>
              <a:rPr lang="tr-TR" b="1" dirty="0" smtClean="0"/>
              <a:t>Antiseptikler, cilt üzerinde güvenle kullanılabilir ve bu nedenle cilt enfeksiyonlarını önlemede yaygın olarak tercih edilir.</a:t>
            </a:r>
            <a:endParaRPr lang="tr-TR" b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ANTİSEPTİKLERİN KULLANIM ALANLARI</a:t>
            </a:r>
            <a:r>
              <a:rPr lang="tr-TR" dirty="0" smtClean="0">
                <a:solidFill>
                  <a:srgbClr val="FF0000"/>
                </a:solidFill>
              </a:rPr>
              <a:t/>
            </a:r>
            <a:br>
              <a:rPr lang="tr-TR" dirty="0" smtClean="0">
                <a:solidFill>
                  <a:srgbClr val="FF0000"/>
                </a:solidFill>
              </a:rPr>
            </a:b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EL VE CİLT ANTİSEPTİKLERİ: </a:t>
            </a:r>
            <a:r>
              <a:rPr lang="tr-TR" b="1" dirty="0" smtClean="0"/>
              <a:t>El dezenfeksiyonu ve cerrahi el antisepsisinde kullanılır. Hastane ortamlarında, cerrahlar ve sağlık personeli tarafından ameliyat öncesi cilt hijyeni için tercih edilir.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YARA ANTİSEPTİKLERİ: </a:t>
            </a:r>
            <a:r>
              <a:rPr lang="tr-TR" b="1" dirty="0" smtClean="0"/>
              <a:t>Yaralanmalar sonrası enfeksiyon riskini azaltmak için kullanılır. Küçük kesiklerden büyük yaralara kadar çeşitli durumlarda antiseptik solüsyonlar uygulanır.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AMELİYAT ÖNCESİ CİLT HAZIRLIĞI: </a:t>
            </a:r>
            <a:r>
              <a:rPr lang="tr-TR" b="1" dirty="0" smtClean="0"/>
              <a:t>Ameliyat öncesinde cerrahi alanın mikroplardan arındırılması için antiseptik solüsyonlar kullanılır.</a:t>
            </a:r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ANTİSEPTİKLERİN ÖZELLİKLERİ</a:t>
            </a:r>
            <a:r>
              <a:rPr lang="tr-TR" dirty="0" smtClean="0"/>
              <a:t/>
            </a:r>
            <a:br>
              <a:rPr lang="tr-TR" dirty="0" smtClean="0"/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CİLTLE UYUMLULUK:</a:t>
            </a:r>
            <a:r>
              <a:rPr lang="tr-TR" b="1" dirty="0" smtClean="0"/>
              <a:t> Antiseptikler, cilt üzerinde güvenle kullanılabilir ve cilt tahrişine neden olmadan mikropları öldürür.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HIZLI ETKİ:</a:t>
            </a:r>
            <a:r>
              <a:rPr lang="tr-TR" b="1" dirty="0" smtClean="0"/>
              <a:t> Antiseptikler, genellikle hızlı bir etki gösterir ve mikropları kısa sürede öldürür.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GENİŞ SPEKTRUMLU ETKİ: </a:t>
            </a:r>
            <a:r>
              <a:rPr lang="tr-TR" b="1" dirty="0" smtClean="0"/>
              <a:t>Bakteriler, virüsler ve bazı mantarlar dahil olmak üzere geniş bir yelpazede mikroorganizmalara karşı etkilidir.</a:t>
            </a:r>
          </a:p>
          <a:p>
            <a:pPr>
              <a:buNone/>
            </a:pPr>
            <a:endParaRPr lang="tr-TR"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260648"/>
            <a:ext cx="8712968" cy="6336704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tr-TR" b="1" dirty="0" smtClean="0"/>
              <a:t>			</a:t>
            </a:r>
            <a:r>
              <a:rPr lang="tr-TR" b="1" dirty="0" smtClean="0">
                <a:solidFill>
                  <a:srgbClr val="FF0000"/>
                </a:solidFill>
              </a:rPr>
              <a:t>KULLANIM ALANLARINA GÖRE FARKLAR</a:t>
            </a:r>
            <a:endParaRPr lang="tr-TR" dirty="0" smtClean="0">
              <a:solidFill>
                <a:srgbClr val="FF0000"/>
              </a:solidFill>
            </a:endParaRPr>
          </a:p>
          <a:p>
            <a:r>
              <a:rPr lang="tr-TR" b="1" dirty="0" smtClean="0">
                <a:solidFill>
                  <a:srgbClr val="FF0000"/>
                </a:solidFill>
              </a:rPr>
              <a:t>Dezenfektanlar: </a:t>
            </a:r>
            <a:r>
              <a:rPr lang="tr-TR" b="1" dirty="0" smtClean="0"/>
              <a:t>Yüzey dezenfeksiyonu, alet dezenfeksiyonu ve ortam dezenfeksiyonu için kullanılır.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Antiseptikler: </a:t>
            </a:r>
            <a:r>
              <a:rPr lang="tr-TR" b="1" dirty="0" smtClean="0"/>
              <a:t>El hijyeni(hijyenik ve cerrahi el yıkama), cilt temizliği ve yara tedavisinde kullanılır.</a:t>
            </a:r>
          </a:p>
          <a:p>
            <a:pPr>
              <a:buNone/>
            </a:pPr>
            <a:r>
              <a:rPr lang="tr-TR" b="1" dirty="0" smtClean="0"/>
              <a:t>			</a:t>
            </a:r>
            <a:r>
              <a:rPr lang="tr-TR" b="1" dirty="0" smtClean="0">
                <a:solidFill>
                  <a:srgbClr val="FF0000"/>
                </a:solidFill>
              </a:rPr>
              <a:t>KİMYASAL BİLEŞİM FARKLARI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Dezenfektanlar:</a:t>
            </a:r>
            <a:r>
              <a:rPr lang="tr-TR" b="1" dirty="0" smtClean="0"/>
              <a:t> Genellikle klor, hidrojen peroksit, aldehitler, </a:t>
            </a:r>
            <a:r>
              <a:rPr lang="tr-TR" b="1" dirty="0" err="1" smtClean="0"/>
              <a:t>perasetik</a:t>
            </a:r>
            <a:r>
              <a:rPr lang="tr-TR" b="1" dirty="0" smtClean="0"/>
              <a:t> asit gibi güçlü kimyasallar içerir.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Antiseptikler: </a:t>
            </a:r>
            <a:r>
              <a:rPr lang="tr-TR" b="1" dirty="0" err="1" smtClean="0"/>
              <a:t>Povidon</a:t>
            </a:r>
            <a:r>
              <a:rPr lang="tr-TR" b="1" dirty="0" smtClean="0"/>
              <a:t> iyot, alkol  gibi cilt dostu kimyasallar içerir.</a:t>
            </a:r>
          </a:p>
          <a:p>
            <a:pPr>
              <a:buNone/>
            </a:pPr>
            <a:r>
              <a:rPr lang="tr-TR" b="1" dirty="0" smtClean="0"/>
              <a:t>			</a:t>
            </a:r>
            <a:r>
              <a:rPr lang="tr-TR" b="1" dirty="0" smtClean="0">
                <a:solidFill>
                  <a:srgbClr val="FF0000"/>
                </a:solidFill>
              </a:rPr>
              <a:t>KULLANIM GÜVENLİĞİ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Dezenfektanlar: </a:t>
            </a:r>
            <a:r>
              <a:rPr lang="tr-TR" b="1" dirty="0" smtClean="0"/>
              <a:t>Cilt temasından kaçınılmalıdır ve genellikle koruyucu ekipmanlarla uygulanması önerilir.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Antiseptikler: </a:t>
            </a:r>
            <a:r>
              <a:rPr lang="tr-TR" b="1" dirty="0" smtClean="0"/>
              <a:t>Cilt üzerinde güvenle kullanılabilir ve genellikle ek bir koruma gerektirmez.</a:t>
            </a:r>
          </a:p>
          <a:p>
            <a:endParaRPr lang="tr-TR" dirty="0" smtClean="0"/>
          </a:p>
          <a:p>
            <a:endParaRPr lang="tr-TR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ORTAK YÖNLERİ VE İSTİSNALAR</a:t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AMAÇ:</a:t>
            </a:r>
            <a:r>
              <a:rPr lang="tr-TR" b="1" dirty="0" smtClean="0"/>
              <a:t> Her ikisi de zararlı mikroorganizmaları (bakteri, virüs, mantar) yok etmek veya çoğalmalarını durdurmak için kullanılır.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AYNI MADDE KULLANIMI: </a:t>
            </a:r>
            <a:r>
              <a:rPr lang="tr-TR" b="1" dirty="0" smtClean="0"/>
              <a:t>Alkol (</a:t>
            </a:r>
            <a:r>
              <a:rPr lang="tr-TR" b="1" dirty="0" err="1" smtClean="0"/>
              <a:t>izopropil</a:t>
            </a:r>
            <a:r>
              <a:rPr lang="tr-TR" b="1" dirty="0" smtClean="0"/>
              <a:t> veya etil alkol) gibi bazı kimyasallar doğru oranlarda hem antiseptik hem de dezenfektan olarak kullanılabilir. </a:t>
            </a:r>
          </a:p>
          <a:p>
            <a:pPr algn="ctr"/>
            <a:r>
              <a:rPr lang="tr-TR" b="1" dirty="0" smtClean="0">
                <a:solidFill>
                  <a:srgbClr val="0000FF"/>
                </a:solidFill>
              </a:rPr>
              <a:t>Ancak ürünün konsantrasyonu ve kullanım yeri etkiyi belirler. </a:t>
            </a:r>
          </a:p>
          <a:p>
            <a:endParaRPr lang="tr-TR" b="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2800" b="1" dirty="0" smtClean="0">
                <a:solidFill>
                  <a:srgbClr val="FF0000"/>
                </a:solidFill>
              </a:rPr>
              <a:t/>
            </a:r>
            <a:br>
              <a:rPr lang="tr-TR" sz="2800" b="1" dirty="0" smtClean="0">
                <a:solidFill>
                  <a:srgbClr val="FF0000"/>
                </a:solidFill>
              </a:rPr>
            </a:br>
            <a:r>
              <a:rPr lang="tr-TR" sz="3100" b="1" dirty="0" smtClean="0">
                <a:solidFill>
                  <a:srgbClr val="FF0000"/>
                </a:solidFill>
              </a:rPr>
              <a:t>Dezenfeksiyonda temel amaç, vücut için zararlı ve sık görülen mikroorganizmaların ortamdan temizlenmesidir</a:t>
            </a:r>
            <a:br>
              <a:rPr lang="tr-TR" sz="3100" b="1" dirty="0" smtClean="0">
                <a:solidFill>
                  <a:srgbClr val="FF0000"/>
                </a:solidFill>
              </a:rPr>
            </a:br>
            <a:endParaRPr lang="tr-TR" sz="31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b="1" dirty="0" smtClean="0"/>
              <a:t>Günümüzde insanlarda en çok hastalık yapan bakteri ve virüs türleri için, yaygın kullanılan dezenfeksiyon yöntemleri genellikle yeterlidir. </a:t>
            </a:r>
          </a:p>
          <a:p>
            <a:r>
              <a:rPr lang="tr-TR" b="1" dirty="0" smtClean="0"/>
              <a:t>Özellikle </a:t>
            </a:r>
            <a:r>
              <a:rPr lang="tr-TR" b="1" dirty="0" err="1" smtClean="0"/>
              <a:t>koronavirüs</a:t>
            </a:r>
            <a:r>
              <a:rPr lang="tr-TR" b="1" dirty="0" smtClean="0"/>
              <a:t> gibi zarflı virüsler, dış ortam şartlarında uzun süre varlıklarını sürdüremediklerinden, temel dezenfeksiyon ürünlerine karşı savunmasızdır ve ortamlardan giderilmesi mümkündür.</a:t>
            </a:r>
            <a:endParaRPr lang="tr-TR" b="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>
                <a:solidFill>
                  <a:srgbClr val="FF0000"/>
                </a:solidFill>
              </a:rPr>
              <a:t>Dezenfektanlar ile antiseptik maddeler uygulandıkları yüzeyler bakımından farklılık gösterir</a:t>
            </a:r>
            <a:endParaRPr lang="tr-TR" sz="2800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b="1" dirty="0" smtClean="0"/>
              <a:t>Dezenfektan ve antiseptik aynı şey değildir. </a:t>
            </a:r>
          </a:p>
          <a:p>
            <a:r>
              <a:rPr lang="tr-TR" b="1" dirty="0" smtClean="0"/>
              <a:t>Temel farkları, uygulandıkları yüzeyin canlı ya da cansız olmasıdır. 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Dezenfektanlar eşya ve yerler gibi cansız alanlar için kullanılırken, antiseptikler insan cildi ve yaralar gibi canlı dokulara kullanılır</a:t>
            </a:r>
          </a:p>
          <a:p>
            <a:r>
              <a:rPr lang="tr-TR" b="1" dirty="0" smtClean="0"/>
              <a:t>İki yöntemde farklı kimyasal maddelerden yararlanılır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Bu bakımdan aşağıdaki maddeler antiseptik olarak vücut yüzeylerine uygulanabilir</a:t>
            </a:r>
            <a:endParaRPr lang="tr-T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260648"/>
            <a:ext cx="8640960" cy="6192688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tr-TR" sz="9600" dirty="0" smtClean="0"/>
              <a:t/>
            </a:r>
            <a:br>
              <a:rPr lang="tr-TR" sz="9600" dirty="0" smtClean="0"/>
            </a:br>
            <a:r>
              <a:rPr lang="tr-TR" sz="9600" b="1" dirty="0" smtClean="0">
                <a:solidFill>
                  <a:srgbClr val="FF0000"/>
                </a:solidFill>
              </a:rPr>
              <a:t>Alkol:</a:t>
            </a:r>
            <a:r>
              <a:rPr lang="tr-TR" sz="9600" b="1" dirty="0" smtClean="0"/>
              <a:t> Etil alkol veya </a:t>
            </a:r>
            <a:r>
              <a:rPr lang="tr-TR" sz="9600" b="1" dirty="0" err="1" smtClean="0"/>
              <a:t>izopropil</a:t>
            </a:r>
            <a:r>
              <a:rPr lang="tr-TR" sz="9600" b="1" dirty="0" smtClean="0"/>
              <a:t> alkol özellikle %70’lik veya 80’lik çözelti şeklinde en yaygın kullanılan antiseptiklerin başında gelir. Hastane ortamında kullanılan el dezenfektanları alkol içeriklidir.</a:t>
            </a:r>
            <a:br>
              <a:rPr lang="tr-TR" sz="9600" b="1" dirty="0" smtClean="0"/>
            </a:br>
            <a:r>
              <a:rPr lang="tr-TR" sz="7400" b="1" dirty="0" smtClean="0"/>
              <a:t/>
            </a:r>
            <a:br>
              <a:rPr lang="tr-TR" sz="7400" b="1" dirty="0" smtClean="0"/>
            </a:br>
            <a:r>
              <a:rPr lang="tr-TR" sz="9600" b="1" dirty="0" err="1" smtClean="0">
                <a:solidFill>
                  <a:srgbClr val="FF0000"/>
                </a:solidFill>
              </a:rPr>
              <a:t>İyodofor</a:t>
            </a:r>
            <a:r>
              <a:rPr lang="tr-TR" sz="9600" b="1" dirty="0" smtClean="0">
                <a:solidFill>
                  <a:srgbClr val="FF0000"/>
                </a:solidFill>
              </a:rPr>
              <a:t>:</a:t>
            </a:r>
            <a:r>
              <a:rPr lang="tr-TR" sz="9600" b="1" dirty="0" smtClean="0"/>
              <a:t> </a:t>
            </a:r>
            <a:r>
              <a:rPr lang="tr-TR" sz="9600" b="1" dirty="0" err="1" smtClean="0"/>
              <a:t>Polividon</a:t>
            </a:r>
            <a:r>
              <a:rPr lang="tr-TR" sz="9600" b="1" dirty="0" smtClean="0"/>
              <a:t> </a:t>
            </a:r>
            <a:r>
              <a:rPr lang="tr-TR" sz="9600" b="1" dirty="0" err="1" smtClean="0"/>
              <a:t>iyodin</a:t>
            </a:r>
            <a:r>
              <a:rPr lang="tr-TR" sz="9600" b="1" dirty="0" smtClean="0"/>
              <a:t> olarak da bilinen </a:t>
            </a:r>
            <a:r>
              <a:rPr lang="tr-TR" sz="9600" b="1" dirty="0" err="1" smtClean="0"/>
              <a:t>iyodofor</a:t>
            </a:r>
            <a:r>
              <a:rPr lang="tr-TR" sz="9600" b="1" dirty="0" smtClean="0"/>
              <a:t> çözeltileri özellikleri yara bakımı ve pansumanlarda en sık kullanılan antiseptiktir.</a:t>
            </a:r>
            <a:r>
              <a:rPr lang="tr-TR" sz="7400" b="1" dirty="0" smtClean="0"/>
              <a:t/>
            </a:r>
            <a:br>
              <a:rPr lang="tr-TR" sz="7400" b="1" dirty="0" smtClean="0"/>
            </a:br>
            <a:r>
              <a:rPr lang="tr-TR" sz="7400" b="1" dirty="0" smtClean="0"/>
              <a:t/>
            </a:r>
            <a:br>
              <a:rPr lang="tr-TR" sz="7400" b="1" dirty="0" smtClean="0"/>
            </a:br>
            <a:r>
              <a:rPr lang="tr-TR" sz="9600" b="1" dirty="0" err="1" smtClean="0">
                <a:solidFill>
                  <a:srgbClr val="FF0000"/>
                </a:solidFill>
              </a:rPr>
              <a:t>Klorheksidin</a:t>
            </a:r>
            <a:r>
              <a:rPr lang="tr-TR" sz="9600" b="1" dirty="0" smtClean="0">
                <a:solidFill>
                  <a:srgbClr val="FF0000"/>
                </a:solidFill>
              </a:rPr>
              <a:t>:</a:t>
            </a:r>
            <a:r>
              <a:rPr lang="tr-TR" sz="9600" b="1" dirty="0" smtClean="0"/>
              <a:t> Alkole alternatif olarak el dezenfektanı olarak </a:t>
            </a:r>
            <a:r>
              <a:rPr lang="tr-TR" sz="9600" b="1" dirty="0" err="1" smtClean="0"/>
              <a:t>klorheksidinden</a:t>
            </a:r>
            <a:r>
              <a:rPr lang="tr-TR" sz="9600" b="1" dirty="0" smtClean="0"/>
              <a:t> yararlanılabilir.</a:t>
            </a:r>
            <a:br>
              <a:rPr lang="tr-TR" sz="9600" b="1" dirty="0" smtClean="0"/>
            </a:br>
            <a:r>
              <a:rPr lang="tr-TR" sz="7400" b="1" dirty="0" smtClean="0"/>
              <a:t/>
            </a:r>
            <a:br>
              <a:rPr lang="tr-TR" sz="7400" b="1" dirty="0" smtClean="0"/>
            </a:br>
            <a:r>
              <a:rPr lang="tr-TR" sz="9600" b="1" dirty="0" err="1" smtClean="0">
                <a:solidFill>
                  <a:srgbClr val="FF0000"/>
                </a:solidFill>
              </a:rPr>
              <a:t>Paraklor</a:t>
            </a:r>
            <a:r>
              <a:rPr lang="tr-TR" sz="9600" b="1" dirty="0" smtClean="0">
                <a:solidFill>
                  <a:srgbClr val="FF0000"/>
                </a:solidFill>
              </a:rPr>
              <a:t> Meta </a:t>
            </a:r>
            <a:r>
              <a:rPr lang="tr-TR" sz="9600" b="1" dirty="0" err="1" smtClean="0">
                <a:solidFill>
                  <a:srgbClr val="FF0000"/>
                </a:solidFill>
              </a:rPr>
              <a:t>Ksilenol</a:t>
            </a:r>
            <a:r>
              <a:rPr lang="tr-TR" sz="9600" b="1" dirty="0" smtClean="0"/>
              <a:t>: El yıkama ürünlerinde antiseptik olarak yer alır.</a:t>
            </a:r>
            <a:r>
              <a:rPr lang="tr-TR" sz="7400" b="1" dirty="0" smtClean="0"/>
              <a:t/>
            </a:r>
            <a:br>
              <a:rPr lang="tr-TR" sz="7400" b="1" dirty="0" smtClean="0"/>
            </a:br>
            <a:r>
              <a:rPr lang="tr-TR" sz="7400" b="1" dirty="0" smtClean="0"/>
              <a:t/>
            </a:r>
            <a:br>
              <a:rPr lang="tr-TR" sz="7400" b="1" dirty="0" smtClean="0"/>
            </a:br>
            <a:r>
              <a:rPr lang="tr-TR" sz="9600" b="1" dirty="0" err="1" smtClean="0">
                <a:solidFill>
                  <a:srgbClr val="FF0000"/>
                </a:solidFill>
              </a:rPr>
              <a:t>Triklosan</a:t>
            </a:r>
            <a:r>
              <a:rPr lang="tr-TR" sz="9600" b="1" dirty="0" smtClean="0"/>
              <a:t>: Özellikle diş macunları ve sabunlarda antiseptik özellik kazandırmak için bulunur.Bu maddelerin aksine aşağıdaki ürünler vücut yüzeylerinde tahrişe yol açtığından antisepside tercih edilmese de, cansız yüzeylerin temizlenmesinde dezenfektan olarak kullanılır:</a:t>
            </a:r>
            <a:br>
              <a:rPr lang="tr-TR" sz="9600" b="1" dirty="0" smtClean="0"/>
            </a:br>
            <a:r>
              <a:rPr lang="tr-TR" sz="7400" b="1" dirty="0" smtClean="0"/>
              <a:t/>
            </a:r>
            <a:br>
              <a:rPr lang="tr-TR" sz="7400" b="1" dirty="0" smtClean="0"/>
            </a:br>
            <a:endParaRPr lang="tr-TR" sz="7400" b="1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188640"/>
            <a:ext cx="8568952" cy="6336704"/>
          </a:xfrm>
        </p:spPr>
        <p:txBody>
          <a:bodyPr>
            <a:normAutofit fontScale="85000" lnSpcReduction="20000"/>
          </a:bodyPr>
          <a:lstStyle/>
          <a:p>
            <a:r>
              <a:rPr lang="tr-TR" b="1" dirty="0" err="1" smtClean="0">
                <a:solidFill>
                  <a:srgbClr val="FF0000"/>
                </a:solidFill>
              </a:rPr>
              <a:t>Gluteraldehit</a:t>
            </a:r>
            <a:r>
              <a:rPr lang="tr-TR" b="1" dirty="0" smtClean="0">
                <a:solidFill>
                  <a:srgbClr val="FF0000"/>
                </a:solidFill>
              </a:rPr>
              <a:t>:</a:t>
            </a:r>
            <a:r>
              <a:rPr lang="tr-TR" b="1" dirty="0" smtClean="0"/>
              <a:t> Aldehit içerikli dezenfektanlar özellikle hastanede kullanılan tıbbi ekipmanların dezenfeksiyonunda kullanılır.</a:t>
            </a:r>
          </a:p>
          <a:p>
            <a:pPr>
              <a:buNone/>
            </a:pPr>
            <a:endParaRPr lang="tr-TR" b="1" dirty="0" smtClean="0">
              <a:solidFill>
                <a:srgbClr val="FF0000"/>
              </a:solidFill>
            </a:endParaRPr>
          </a:p>
          <a:p>
            <a:r>
              <a:rPr lang="tr-TR" b="1" dirty="0" err="1" smtClean="0">
                <a:solidFill>
                  <a:srgbClr val="FF0000"/>
                </a:solidFill>
              </a:rPr>
              <a:t>Kloridler</a:t>
            </a:r>
            <a:r>
              <a:rPr lang="tr-TR" b="1" dirty="0" smtClean="0">
                <a:solidFill>
                  <a:srgbClr val="FF0000"/>
                </a:solidFill>
              </a:rPr>
              <a:t>: </a:t>
            </a:r>
            <a:r>
              <a:rPr lang="tr-TR" b="1" dirty="0" smtClean="0"/>
              <a:t>Yüzeylerin ve bazı aletlerin temizliğinde uygulanabilir.</a:t>
            </a:r>
            <a:br>
              <a:rPr lang="tr-TR" b="1" dirty="0" smtClean="0"/>
            </a:br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Hidrojen peroksit:</a:t>
            </a:r>
            <a:r>
              <a:rPr lang="tr-TR" b="1" dirty="0" smtClean="0"/>
              <a:t> Dezenfeksiyon için en yaygın kullanılan ürün çamaşır suyu olarak da bilinen hidrojen peroksittir. Özellikle cansız yüzeylerin, cerrahi </a:t>
            </a:r>
            <a:r>
              <a:rPr lang="tr-TR" b="1" dirty="0" err="1" smtClean="0"/>
              <a:t>implantların</a:t>
            </a:r>
            <a:r>
              <a:rPr lang="tr-TR" b="1" dirty="0" smtClean="0"/>
              <a:t> ve </a:t>
            </a:r>
            <a:r>
              <a:rPr lang="tr-TR" b="1" dirty="0" err="1" smtClean="0"/>
              <a:t>kontakt</a:t>
            </a:r>
            <a:r>
              <a:rPr lang="tr-TR" b="1" dirty="0" smtClean="0"/>
              <a:t> lenslerin temizliğinde kullanılır.</a:t>
            </a:r>
            <a:br>
              <a:rPr lang="tr-TR" b="1" dirty="0" smtClean="0"/>
            </a:br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Fenoller:</a:t>
            </a:r>
            <a:r>
              <a:rPr lang="tr-TR" b="1" dirty="0" smtClean="0"/>
              <a:t> Bazı yüzey temizliği için kullanılan sabunların içeriklerinde yer alır.</a:t>
            </a:r>
            <a:br>
              <a:rPr lang="tr-TR" b="1" dirty="0" smtClean="0"/>
            </a:br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err="1" smtClean="0">
                <a:solidFill>
                  <a:srgbClr val="FF0000"/>
                </a:solidFill>
              </a:rPr>
              <a:t>Quaterner</a:t>
            </a:r>
            <a:r>
              <a:rPr lang="tr-TR" b="1" dirty="0" smtClean="0">
                <a:solidFill>
                  <a:srgbClr val="FF0000"/>
                </a:solidFill>
              </a:rPr>
              <a:t> amonyum bileşikleri:</a:t>
            </a:r>
            <a:r>
              <a:rPr lang="tr-TR" b="1" dirty="0" smtClean="0"/>
              <a:t> Gıdaların ve yüzeylerin dezenfeksiyonunda yararlanılır.</a:t>
            </a:r>
            <a:endParaRPr lang="tr-TR" b="1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404664"/>
            <a:ext cx="8712968" cy="6264696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tr-TR" sz="2400" b="1" dirty="0" smtClean="0">
                <a:solidFill>
                  <a:srgbClr val="FF0000"/>
                </a:solidFill>
              </a:rPr>
              <a:t>DEZENFEKTAN KULLANIMI AŞAĞIDAKİ KONULARDA ÖNEMLİ FAYDALAR SAĞLAR</a:t>
            </a:r>
            <a:endParaRPr lang="tr-TR" sz="2200" b="1" dirty="0" smtClean="0">
              <a:solidFill>
                <a:srgbClr val="FF0000"/>
              </a:solidFill>
            </a:endParaRPr>
          </a:p>
          <a:p>
            <a:r>
              <a:rPr lang="tr-TR" sz="2300" b="1" dirty="0" smtClean="0">
                <a:solidFill>
                  <a:srgbClr val="FF0000"/>
                </a:solidFill>
              </a:rPr>
              <a:t>1-</a:t>
            </a:r>
            <a:r>
              <a:rPr lang="tr-TR" sz="2300" b="1" dirty="0" smtClean="0"/>
              <a:t>Hastane uygulamalarında enfeksiyon etkenlerinin bir hastadan bir diğerine bulaşmasının önlenmesinde antiseptikler kritik öneme sahiptir.</a:t>
            </a:r>
          </a:p>
          <a:p>
            <a:r>
              <a:rPr lang="tr-TR" sz="2300" b="1" dirty="0" smtClean="0">
                <a:solidFill>
                  <a:srgbClr val="FF0000"/>
                </a:solidFill>
              </a:rPr>
              <a:t>2-</a:t>
            </a:r>
            <a:r>
              <a:rPr lang="tr-TR" sz="2300" b="1" dirty="0" smtClean="0"/>
              <a:t>Cerrahi ve girişimsel işlemler dış ortamda bulunan </a:t>
            </a:r>
            <a:r>
              <a:rPr lang="tr-TR" sz="2300" b="1" dirty="0" err="1" smtClean="0"/>
              <a:t>mo</a:t>
            </a:r>
            <a:r>
              <a:rPr lang="tr-TR" sz="2300" b="1" dirty="0" smtClean="0"/>
              <a:t>.</a:t>
            </a:r>
            <a:r>
              <a:rPr lang="tr-TR" sz="2300" b="1" dirty="0" err="1" smtClean="0"/>
              <a:t>ların</a:t>
            </a:r>
            <a:r>
              <a:rPr lang="tr-TR" sz="2300" b="1" dirty="0" smtClean="0"/>
              <a:t> vücut içine ulaşmasında büyük risk olduğundan, bunun engellenmesinde dezenfeksiyon ve antisepsiden yararlanılır.</a:t>
            </a:r>
          </a:p>
          <a:p>
            <a:r>
              <a:rPr lang="tr-TR" sz="2300" b="1" dirty="0" smtClean="0">
                <a:solidFill>
                  <a:srgbClr val="FF0000"/>
                </a:solidFill>
              </a:rPr>
              <a:t>3-</a:t>
            </a:r>
            <a:r>
              <a:rPr lang="tr-TR" sz="2300" b="1" dirty="0" smtClean="0"/>
              <a:t>Günümüzde  Enfeksiyon hastalıkları ;temelde solunum ve ağız yoluyla bulaştığından, her iki bulaş yolunun önlenmesinde el temizliği hayati önemdedir. Bu nedenle el temizliğinin ideal koşullarda sağlanması antiseptiklerin doğru kullanımına bağlıdır.</a:t>
            </a:r>
          </a:p>
          <a:p>
            <a:r>
              <a:rPr lang="tr-TR" sz="2300" b="1" dirty="0" smtClean="0">
                <a:solidFill>
                  <a:srgbClr val="FF0000"/>
                </a:solidFill>
              </a:rPr>
              <a:t>4-</a:t>
            </a:r>
            <a:r>
              <a:rPr lang="tr-TR" sz="2300" b="1" dirty="0" smtClean="0"/>
              <a:t>Yaralanmalarda yara iyileşmesinin hızlandırılması ve yara bölgesinin temizliğinin sağlanması ve enfeksiyon etkenlerinden korunması oldukça önemlidir. </a:t>
            </a:r>
            <a:r>
              <a:rPr lang="tr-TR" sz="2300" b="1" dirty="0" smtClean="0">
                <a:solidFill>
                  <a:srgbClr val="FF0000"/>
                </a:solidFill>
              </a:rPr>
              <a:t>Bu bakımdan yara temizliği ve pansumanlarda antiseptik maddelerin kullanımı önemlidir.</a:t>
            </a:r>
          </a:p>
          <a:p>
            <a:pPr>
              <a:buNone/>
            </a:pPr>
            <a:endParaRPr lang="tr-TR" sz="2200" b="1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ANTİSEPTİKLER AŞAĞIDAKİ KOŞULLARDA VÜCUT YÜZEYİNE UYGULANMAMALIDIR</a:t>
            </a:r>
            <a:endParaRPr lang="tr-TR" sz="32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tr-TR" b="1" dirty="0" smtClean="0"/>
          </a:p>
          <a:p>
            <a:r>
              <a:rPr lang="tr-TR" b="1" dirty="0" smtClean="0"/>
              <a:t>Göz yaralanmaları</a:t>
            </a:r>
          </a:p>
          <a:p>
            <a:r>
              <a:rPr lang="tr-TR" b="1" dirty="0" smtClean="0"/>
              <a:t>Hayvan ısırıklarında</a:t>
            </a:r>
          </a:p>
          <a:p>
            <a:r>
              <a:rPr lang="tr-TR" b="1" dirty="0" smtClean="0"/>
              <a:t>Geniş veya derin yaralanmalarda</a:t>
            </a:r>
          </a:p>
          <a:p>
            <a:r>
              <a:rPr lang="tr-TR" b="1" dirty="0" smtClean="0"/>
              <a:t>Ciddi yanıklarda</a:t>
            </a:r>
          </a:p>
          <a:p>
            <a:r>
              <a:rPr lang="tr-TR" b="1" dirty="0" smtClean="0"/>
              <a:t>Yabancı madde içeren yaralanmalarda</a:t>
            </a:r>
          </a:p>
          <a:p>
            <a:r>
              <a:rPr lang="tr-TR" b="1" dirty="0" smtClean="0"/>
              <a:t>Dezenfektanın veya antiseptiğin maruz kalmaması gereken bölgelere ulaşması durumunda, bölgenin bol su ile yıkanması ve kimyasalın ortamdan uzaklaştırılması gerekir</a:t>
            </a:r>
          </a:p>
          <a:p>
            <a:r>
              <a:rPr lang="tr-TR" b="1" dirty="0" smtClean="0"/>
              <a:t>El dezenfektanı göze kaçarsa, göz ve çevresi bol su ile yıkanmalıdır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KİMYASAL DEZENFEKSİYON YÖNTEMLERİ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Dezenfeksiyonda daha çok tercih edilirler. Dezenfeksiyon işleminde kullanılan kimyasal madde ya da bileşiklere dezenfektan adı verilir</a:t>
            </a:r>
          </a:p>
          <a:p>
            <a:pPr>
              <a:buNone/>
            </a:pPr>
            <a:r>
              <a:rPr lang="tr-TR" b="1" dirty="0" smtClean="0"/>
              <a:t>			</a:t>
            </a:r>
            <a:r>
              <a:rPr lang="tr-TR" b="1" dirty="0" smtClean="0">
                <a:solidFill>
                  <a:srgbClr val="0070C0"/>
                </a:solidFill>
              </a:rPr>
              <a:t>Dezenfektanlar içerdikleri </a:t>
            </a:r>
          </a:p>
          <a:p>
            <a:r>
              <a:rPr lang="tr-TR" b="1" dirty="0" smtClean="0"/>
              <a:t>1-Etki mekanizmalarına göre </a:t>
            </a:r>
          </a:p>
          <a:p>
            <a:r>
              <a:rPr lang="tr-TR" b="1" dirty="0" smtClean="0"/>
              <a:t>2-Aktif bileşenlere göre </a:t>
            </a:r>
          </a:p>
          <a:p>
            <a:pPr>
              <a:buNone/>
            </a:pPr>
            <a:r>
              <a:rPr lang="tr-TR" b="1" dirty="0" smtClean="0"/>
              <a:t>					sınıflandırılabilir </a:t>
            </a:r>
            <a:endParaRPr lang="tr-TR" b="1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332656"/>
            <a:ext cx="8640960" cy="6264696"/>
          </a:xfrm>
        </p:spPr>
        <p:txBody>
          <a:bodyPr>
            <a:normAutofit fontScale="85000" lnSpcReduction="20000"/>
          </a:bodyPr>
          <a:lstStyle/>
          <a:p>
            <a:pPr algn="ctr">
              <a:buNone/>
            </a:pPr>
            <a:r>
              <a:rPr lang="tr-TR" sz="3800" b="1" dirty="0" smtClean="0">
                <a:solidFill>
                  <a:srgbClr val="FF0000"/>
                </a:solidFill>
              </a:rPr>
              <a:t>DEZENFEKTANLARIN ETKİ MEKANİZMALARINA GÖRE SINIFLANDIRILMASI</a:t>
            </a:r>
          </a:p>
          <a:p>
            <a:pPr>
              <a:buNone/>
            </a:pPr>
            <a:endParaRPr lang="tr-TR" b="1" dirty="0" smtClean="0">
              <a:solidFill>
                <a:srgbClr val="00B0F0"/>
              </a:solidFill>
            </a:endParaRPr>
          </a:p>
          <a:p>
            <a:r>
              <a:rPr lang="tr-TR" b="1" dirty="0" smtClean="0">
                <a:solidFill>
                  <a:srgbClr val="00B0F0"/>
                </a:solidFill>
              </a:rPr>
              <a:t>YÜKSEK DÜZEYDE DEZENFEKSİYON</a:t>
            </a:r>
            <a:r>
              <a:rPr lang="tr-TR" b="1" dirty="0" smtClean="0">
                <a:solidFill>
                  <a:srgbClr val="00B0F0"/>
                </a:solidFill>
              </a:rPr>
              <a:t>: </a:t>
            </a:r>
            <a:r>
              <a:rPr lang="tr-TR" b="1" dirty="0" smtClean="0"/>
              <a:t>Bakteri </a:t>
            </a:r>
            <a:r>
              <a:rPr lang="tr-TR" b="1" dirty="0" smtClean="0"/>
              <a:t>sporları hariç tüm bakterilerin öldürülmesi şeklidir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>
                <a:solidFill>
                  <a:srgbClr val="7030A0"/>
                </a:solidFill>
              </a:rPr>
              <a:t>ORTA DÜZEYDE DEZENFEKSİYON:</a:t>
            </a:r>
            <a:r>
              <a:rPr lang="tr-TR" dirty="0" smtClean="0">
                <a:solidFill>
                  <a:srgbClr val="7030A0"/>
                </a:solidFill>
              </a:rPr>
              <a:t> </a:t>
            </a:r>
            <a:r>
              <a:rPr lang="tr-TR" b="1" dirty="0" smtClean="0">
                <a:solidFill>
                  <a:srgbClr val="7030A0"/>
                </a:solidFill>
              </a:rPr>
              <a:t>Bakteri sporlarına etki göstermeyen fakat </a:t>
            </a:r>
            <a:r>
              <a:rPr lang="tr-TR" b="1" dirty="0" err="1" smtClean="0">
                <a:solidFill>
                  <a:srgbClr val="7030A0"/>
                </a:solidFill>
              </a:rPr>
              <a:t>mikobakterilere</a:t>
            </a:r>
            <a:r>
              <a:rPr lang="tr-TR" b="1" dirty="0" smtClean="0">
                <a:solidFill>
                  <a:srgbClr val="7030A0"/>
                </a:solidFill>
              </a:rPr>
              <a:t> etkili olabilen, diğer mikroorganizmaları </a:t>
            </a:r>
            <a:r>
              <a:rPr lang="tr-TR" b="1" dirty="0" err="1" smtClean="0">
                <a:solidFill>
                  <a:srgbClr val="7030A0"/>
                </a:solidFill>
              </a:rPr>
              <a:t>inaktive</a:t>
            </a:r>
            <a:r>
              <a:rPr lang="tr-TR" b="1" dirty="0" smtClean="0">
                <a:solidFill>
                  <a:srgbClr val="7030A0"/>
                </a:solidFill>
              </a:rPr>
              <a:t> eden dezenfeksiyon şeklidir</a:t>
            </a:r>
          </a:p>
          <a:p>
            <a:pPr>
              <a:buNone/>
            </a:pPr>
            <a:endParaRPr lang="tr-TR" b="1" dirty="0" smtClean="0">
              <a:solidFill>
                <a:srgbClr val="7030A0"/>
              </a:solidFill>
            </a:endParaRPr>
          </a:p>
          <a:p>
            <a:r>
              <a:rPr lang="tr-TR" b="1" dirty="0" smtClean="0">
                <a:solidFill>
                  <a:srgbClr val="00B050"/>
                </a:solidFill>
              </a:rPr>
              <a:t>DÜŞÜK DÜZEYDE DEZENFEKSİYON</a:t>
            </a:r>
            <a:r>
              <a:rPr lang="tr-TR" b="1" dirty="0" smtClean="0">
                <a:solidFill>
                  <a:srgbClr val="00B050"/>
                </a:solidFill>
              </a:rPr>
              <a:t>: Bakteri </a:t>
            </a:r>
            <a:r>
              <a:rPr lang="tr-TR" b="1" dirty="0" smtClean="0">
                <a:solidFill>
                  <a:srgbClr val="00B050"/>
                </a:solidFill>
              </a:rPr>
              <a:t>sporu, </a:t>
            </a:r>
            <a:r>
              <a:rPr lang="tr-TR" b="1" dirty="0" err="1" smtClean="0">
                <a:solidFill>
                  <a:srgbClr val="00B050"/>
                </a:solidFill>
              </a:rPr>
              <a:t>mikobakteri</a:t>
            </a:r>
            <a:r>
              <a:rPr lang="tr-TR" b="1" dirty="0" smtClean="0">
                <a:solidFill>
                  <a:srgbClr val="00B050"/>
                </a:solidFill>
              </a:rPr>
              <a:t> ve zarfsız virüslere etkisiz olan, ancak bir kısım </a:t>
            </a:r>
            <a:r>
              <a:rPr lang="tr-TR" b="1" dirty="0" err="1" smtClean="0">
                <a:solidFill>
                  <a:srgbClr val="00B050"/>
                </a:solidFill>
              </a:rPr>
              <a:t>vejetatif</a:t>
            </a:r>
            <a:r>
              <a:rPr lang="tr-TR" b="1" dirty="0" smtClean="0">
                <a:solidFill>
                  <a:srgbClr val="00B050"/>
                </a:solidFill>
              </a:rPr>
              <a:t> mikroorganizmalar ve zarflı büyük virüslere (genellikle ≤10 dakika) etkili olan dezenfeksiyon şeklidir</a:t>
            </a:r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DEZENFEKTANLAR HANGİ HÜCRE İŞLEVLERİNE ETKİ EDERLER</a:t>
            </a:r>
            <a:endParaRPr lang="tr-TR" sz="3200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 smtClean="0"/>
          </a:p>
          <a:p>
            <a:r>
              <a:rPr lang="tr-TR" b="1" dirty="0" smtClean="0"/>
              <a:t>Hücre zarına etki edenler </a:t>
            </a:r>
          </a:p>
          <a:p>
            <a:r>
              <a:rPr lang="tr-TR" b="1" dirty="0" smtClean="0"/>
              <a:t>Hücre proteinlerini </a:t>
            </a:r>
            <a:r>
              <a:rPr lang="tr-TR" b="1" dirty="0" err="1" smtClean="0"/>
              <a:t>denatüre</a:t>
            </a:r>
            <a:r>
              <a:rPr lang="tr-TR" b="1" dirty="0" smtClean="0"/>
              <a:t> edenler </a:t>
            </a:r>
          </a:p>
          <a:p>
            <a:r>
              <a:rPr lang="tr-TR" b="1" dirty="0" smtClean="0"/>
              <a:t>Enzimlerin işlevlerini bozanlar </a:t>
            </a:r>
          </a:p>
          <a:p>
            <a:r>
              <a:rPr lang="tr-TR" b="1" dirty="0" err="1" smtClean="0"/>
              <a:t>Nükleik</a:t>
            </a:r>
            <a:r>
              <a:rPr lang="tr-TR" b="1" dirty="0" smtClean="0"/>
              <a:t> asitlere etki edenler </a:t>
            </a:r>
          </a:p>
          <a:p>
            <a:endParaRPr lang="tr-TR" b="1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95536" y="476672"/>
            <a:ext cx="8208912" cy="583264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sz="3600" b="1" dirty="0" smtClean="0">
                <a:solidFill>
                  <a:srgbClr val="FF0000"/>
                </a:solidFill>
              </a:rPr>
              <a:t>    </a:t>
            </a:r>
            <a:r>
              <a:rPr lang="tr-TR" sz="3600" b="1" dirty="0" smtClean="0">
                <a:solidFill>
                  <a:srgbClr val="0070C0"/>
                </a:solidFill>
              </a:rPr>
              <a:t>Sterilizasyon</a:t>
            </a:r>
            <a:r>
              <a:rPr lang="tr-TR" sz="3600" b="1" dirty="0" smtClean="0">
                <a:solidFill>
                  <a:srgbClr val="0070C0"/>
                </a:solidFill>
              </a:rPr>
              <a:t>: ( Kritik malzemeler)</a:t>
            </a:r>
          </a:p>
          <a:p>
            <a:pPr>
              <a:buNone/>
            </a:pPr>
            <a:endParaRPr lang="tr-TR" sz="3600" b="1" dirty="0" smtClean="0">
              <a:solidFill>
                <a:srgbClr val="FF0000"/>
              </a:solidFill>
            </a:endParaRPr>
          </a:p>
          <a:p>
            <a:r>
              <a:rPr lang="tr-TR" sz="3600" b="1" dirty="0" smtClean="0">
                <a:solidFill>
                  <a:srgbClr val="FF0000"/>
                </a:solidFill>
              </a:rPr>
              <a:t>Yüksek </a:t>
            </a:r>
            <a:r>
              <a:rPr lang="tr-TR" sz="3600" b="1" dirty="0" smtClean="0">
                <a:solidFill>
                  <a:srgbClr val="FF0000"/>
                </a:solidFill>
              </a:rPr>
              <a:t>Düzey Dezenfektanlar                	(yarı kritik malzemeler)</a:t>
            </a:r>
          </a:p>
          <a:p>
            <a:r>
              <a:rPr lang="tr-TR" sz="3600" b="1" dirty="0" smtClean="0">
                <a:solidFill>
                  <a:srgbClr val="7030A0"/>
                </a:solidFill>
              </a:rPr>
              <a:t>Orta düzey dezenfeksiyon                   	(Yarı kritik malzemeler)</a:t>
            </a:r>
          </a:p>
          <a:p>
            <a:r>
              <a:rPr lang="tr-TR" sz="3600" b="1" dirty="0" smtClean="0">
                <a:solidFill>
                  <a:srgbClr val="00B050"/>
                </a:solidFill>
              </a:rPr>
              <a:t>Düşük düzey dezenfeksiyon             (Kritik olmayan malzemeler ve yüzeyler)</a:t>
            </a:r>
          </a:p>
          <a:p>
            <a:endParaRPr lang="tr-TR" sz="3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AKTİF BİLEŞENLERİNE GÖRE DEZENFEKTANLARIN SINIFLANDIRILMASI </a:t>
            </a:r>
            <a:endParaRPr lang="tr-TR" sz="3200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844824"/>
            <a:ext cx="7848872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İYOT BİLEŞİKLERİ 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İyot, proteinleri </a:t>
            </a:r>
            <a:r>
              <a:rPr lang="tr-TR" b="1" dirty="0" err="1" smtClean="0"/>
              <a:t>presipite</a:t>
            </a:r>
            <a:r>
              <a:rPr lang="tr-TR" b="1" dirty="0" smtClean="0"/>
              <a:t> edip, enzimleri </a:t>
            </a:r>
            <a:r>
              <a:rPr lang="tr-TR" b="1" dirty="0" err="1" smtClean="0"/>
              <a:t>oksidize</a:t>
            </a:r>
            <a:r>
              <a:rPr lang="tr-TR" b="1" dirty="0" smtClean="0"/>
              <a:t> ederek etki gösterir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Ameliyat öncesi deri temizliğinde kullanılır</a:t>
            </a:r>
            <a:endParaRPr lang="tr-T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KLOR BİLEŞİKLERİ 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r-TR" b="1" dirty="0" smtClean="0"/>
              <a:t>Yaygın kullanımlı dezenfektanlardır</a:t>
            </a:r>
          </a:p>
          <a:p>
            <a:r>
              <a:rPr lang="tr-TR" b="1" dirty="0" smtClean="0"/>
              <a:t>Sıvı solüsyonları hızlı </a:t>
            </a:r>
            <a:r>
              <a:rPr lang="tr-TR" b="1" dirty="0" err="1" smtClean="0"/>
              <a:t>bakterisidal</a:t>
            </a:r>
            <a:r>
              <a:rPr lang="tr-TR" b="1" dirty="0" smtClean="0"/>
              <a:t> etkilidir</a:t>
            </a:r>
          </a:p>
          <a:p>
            <a:r>
              <a:rPr lang="tr-TR" b="1" dirty="0" smtClean="0"/>
              <a:t>Çok sayıdaki klor bileşiği içerisinde en çok kullanılanı </a:t>
            </a:r>
            <a:r>
              <a:rPr lang="tr-TR" b="1" dirty="0" err="1" smtClean="0"/>
              <a:t>hipokloridlerdir</a:t>
            </a:r>
            <a:endParaRPr lang="tr-TR" b="1" dirty="0" smtClean="0"/>
          </a:p>
          <a:p>
            <a:r>
              <a:rPr lang="tr-TR" b="1" dirty="0" smtClean="0"/>
              <a:t>Sodyum </a:t>
            </a:r>
            <a:r>
              <a:rPr lang="tr-TR" b="1" dirty="0" err="1" smtClean="0"/>
              <a:t>hipoklorid</a:t>
            </a:r>
            <a:r>
              <a:rPr lang="tr-TR" b="1" dirty="0" smtClean="0"/>
              <a:t> sıvı solüsyonu </a:t>
            </a:r>
            <a:r>
              <a:rPr lang="tr-TR" b="1" dirty="0" smtClean="0">
                <a:solidFill>
                  <a:srgbClr val="FF0000"/>
                </a:solidFill>
              </a:rPr>
              <a:t>çamaşır suyu </a:t>
            </a:r>
            <a:r>
              <a:rPr lang="tr-TR" b="1" dirty="0" smtClean="0"/>
              <a:t>olarak bilinir</a:t>
            </a:r>
          </a:p>
          <a:p>
            <a:r>
              <a:rPr lang="tr-TR" b="1" dirty="0" smtClean="0"/>
              <a:t>Klor bileşikleri yüksek konsantrasyonlarda </a:t>
            </a:r>
            <a:r>
              <a:rPr lang="tr-TR" b="1" dirty="0" smtClean="0">
                <a:solidFill>
                  <a:srgbClr val="FF0000"/>
                </a:solidFill>
              </a:rPr>
              <a:t>bakteri sporları ve </a:t>
            </a:r>
            <a:r>
              <a:rPr lang="tr-TR" b="1" i="1" dirty="0" err="1" smtClean="0">
                <a:solidFill>
                  <a:srgbClr val="FF0000"/>
                </a:solidFill>
              </a:rPr>
              <a:t>M.tuberculosis’i</a:t>
            </a:r>
            <a:r>
              <a:rPr lang="tr-TR" b="1" i="1" dirty="0" smtClean="0">
                <a:solidFill>
                  <a:srgbClr val="FF0000"/>
                </a:solidFill>
              </a:rPr>
              <a:t> </a:t>
            </a:r>
            <a:r>
              <a:rPr lang="tr-TR" b="1" i="1" dirty="0" smtClean="0"/>
              <a:t>de içeren geniş </a:t>
            </a:r>
            <a:r>
              <a:rPr lang="tr-TR" b="1" i="1" dirty="0" err="1" smtClean="0"/>
              <a:t>mikrobisidal</a:t>
            </a:r>
            <a:r>
              <a:rPr lang="tr-TR" b="1" i="1" dirty="0" smtClean="0"/>
              <a:t> etki spektrumuna sahiptir</a:t>
            </a:r>
          </a:p>
          <a:p>
            <a:r>
              <a:rPr lang="tr-TR" b="1" i="1" dirty="0" smtClean="0">
                <a:solidFill>
                  <a:srgbClr val="FF0000"/>
                </a:solidFill>
              </a:rPr>
              <a:t>Bu nedenle yarı kritik cihazlarda yüksek düzey dezenfeksiyonda kullanılırlar</a:t>
            </a:r>
            <a:endParaRPr lang="tr-T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Sodyum </a:t>
            </a:r>
            <a:r>
              <a:rPr lang="tr-TR" b="1" dirty="0" err="1" smtClean="0">
                <a:solidFill>
                  <a:srgbClr val="FF0000"/>
                </a:solidFill>
              </a:rPr>
              <a:t>hipoklorid</a:t>
            </a:r>
            <a:r>
              <a:rPr lang="tr-TR" b="1" dirty="0" smtClean="0">
                <a:solidFill>
                  <a:srgbClr val="FF0000"/>
                </a:solidFill>
              </a:rPr>
              <a:t> sıvı solüsyonu çamaşır suyu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Hızlı etkili, boyayıcı olmayan, patlayıcı olmayan, pahalı olmayan bir dezenfektandır</a:t>
            </a:r>
          </a:p>
          <a:p>
            <a:r>
              <a:rPr lang="tr-TR" b="1" dirty="0" smtClean="0"/>
              <a:t>Aşındırıcı etkisi vardır, organik madde varlığında </a:t>
            </a:r>
            <a:r>
              <a:rPr lang="tr-TR" b="1" dirty="0" err="1" smtClean="0"/>
              <a:t>inaktive</a:t>
            </a:r>
            <a:r>
              <a:rPr lang="tr-TR" b="1" dirty="0" smtClean="0"/>
              <a:t> olur, stabil değildir</a:t>
            </a:r>
          </a:p>
          <a:p>
            <a:r>
              <a:rPr lang="tr-TR" b="1" dirty="0" smtClean="0"/>
              <a:t>Düşük konsantrasyonlarda (0.5 </a:t>
            </a:r>
            <a:r>
              <a:rPr lang="tr-TR" b="1" dirty="0" err="1" smtClean="0"/>
              <a:t>ppm</a:t>
            </a:r>
            <a:r>
              <a:rPr lang="tr-TR" b="1" dirty="0" smtClean="0"/>
              <a:t> serbest klor) içme sularının dezenfeksiyonunda kullanılır</a:t>
            </a:r>
            <a:endParaRPr lang="tr-TR" b="1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332656"/>
            <a:ext cx="8424862" cy="5976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188640"/>
            <a:ext cx="8712968" cy="64807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tr-TR" sz="2400" b="1" dirty="0" smtClean="0">
                <a:solidFill>
                  <a:srgbClr val="FF0000"/>
                </a:solidFill>
              </a:rPr>
              <a:t>			</a:t>
            </a:r>
            <a:r>
              <a:rPr lang="tr-TR" sz="3600" b="1" dirty="0" smtClean="0">
                <a:solidFill>
                  <a:srgbClr val="FF0000"/>
                </a:solidFill>
              </a:rPr>
              <a:t>	</a:t>
            </a:r>
            <a:r>
              <a:rPr lang="tr-TR" sz="4000" b="1" dirty="0" smtClean="0">
                <a:solidFill>
                  <a:srgbClr val="FF0000"/>
                </a:solidFill>
              </a:rPr>
              <a:t>ALKOLLER</a:t>
            </a:r>
            <a:endParaRPr lang="tr-TR" sz="2400" b="1" dirty="0" smtClean="0"/>
          </a:p>
          <a:p>
            <a:r>
              <a:rPr lang="tr-TR" sz="2600" b="1" dirty="0" smtClean="0"/>
              <a:t>Etanol &amp; </a:t>
            </a:r>
            <a:r>
              <a:rPr lang="tr-TR" sz="2600" b="1" dirty="0" err="1" smtClean="0"/>
              <a:t>isopropanol</a:t>
            </a:r>
            <a:r>
              <a:rPr lang="tr-TR" sz="2600" b="1" dirty="0" smtClean="0"/>
              <a:t> yaygın kullanımda olan alkollerdir</a:t>
            </a:r>
          </a:p>
          <a:p>
            <a:r>
              <a:rPr lang="tr-TR" sz="2600" b="1" dirty="0" err="1" smtClean="0">
                <a:solidFill>
                  <a:srgbClr val="FF0000"/>
                </a:solidFill>
              </a:rPr>
              <a:t>Vejetatif</a:t>
            </a:r>
            <a:r>
              <a:rPr lang="tr-TR" sz="2600" b="1" dirty="0" smtClean="0">
                <a:solidFill>
                  <a:srgbClr val="FF0000"/>
                </a:solidFill>
              </a:rPr>
              <a:t> bakteriler, </a:t>
            </a:r>
            <a:r>
              <a:rPr lang="tr-TR" sz="2600" b="1" dirty="0" err="1" smtClean="0">
                <a:solidFill>
                  <a:srgbClr val="FF0000"/>
                </a:solidFill>
              </a:rPr>
              <a:t>mikobakteriler</a:t>
            </a:r>
            <a:r>
              <a:rPr lang="tr-TR" sz="2600" b="1" dirty="0" smtClean="0">
                <a:solidFill>
                  <a:srgbClr val="FF0000"/>
                </a:solidFill>
              </a:rPr>
              <a:t>, mantarlar ve </a:t>
            </a:r>
            <a:r>
              <a:rPr lang="tr-TR" sz="2600" b="1" dirty="0" err="1" smtClean="0">
                <a:solidFill>
                  <a:srgbClr val="FF0000"/>
                </a:solidFill>
              </a:rPr>
              <a:t>lipid</a:t>
            </a:r>
            <a:r>
              <a:rPr lang="tr-TR" sz="2600" b="1" dirty="0" smtClean="0">
                <a:solidFill>
                  <a:srgbClr val="FF0000"/>
                </a:solidFill>
              </a:rPr>
              <a:t> içeren </a:t>
            </a:r>
            <a:r>
              <a:rPr lang="tr-TR" sz="2600" b="1" dirty="0" err="1" smtClean="0">
                <a:solidFill>
                  <a:srgbClr val="FF0000"/>
                </a:solidFill>
              </a:rPr>
              <a:t>viruslara</a:t>
            </a:r>
            <a:r>
              <a:rPr lang="tr-TR" sz="2600" b="1" dirty="0" smtClean="0">
                <a:solidFill>
                  <a:srgbClr val="FF0000"/>
                </a:solidFill>
              </a:rPr>
              <a:t> karşı hızla </a:t>
            </a:r>
            <a:r>
              <a:rPr lang="tr-TR" sz="2600" b="1" dirty="0" err="1" smtClean="0">
                <a:solidFill>
                  <a:srgbClr val="FF0000"/>
                </a:solidFill>
              </a:rPr>
              <a:t>bakterisidal</a:t>
            </a:r>
            <a:r>
              <a:rPr lang="tr-TR" sz="2600" b="1" dirty="0" smtClean="0">
                <a:solidFill>
                  <a:srgbClr val="FF0000"/>
                </a:solidFill>
              </a:rPr>
              <a:t> etki gösterir</a:t>
            </a:r>
          </a:p>
          <a:p>
            <a:r>
              <a:rPr lang="tr-TR" sz="2600" b="1" dirty="0" smtClean="0"/>
              <a:t>Aktivitesi su varlığında artar</a:t>
            </a:r>
          </a:p>
          <a:p>
            <a:r>
              <a:rPr lang="tr-TR" sz="2600" b="1" dirty="0" smtClean="0"/>
              <a:t>Bu nedenle %70’lik alkol, %95’likten daha etkilidir</a:t>
            </a:r>
          </a:p>
          <a:p>
            <a:r>
              <a:rPr lang="tr-TR" sz="2600" b="1" dirty="0" smtClean="0"/>
              <a:t>Yaygın kullanılan bir deri dezenfektanıdır; takiben bir </a:t>
            </a:r>
            <a:r>
              <a:rPr lang="tr-TR" sz="2600" b="1" dirty="0" err="1" smtClean="0"/>
              <a:t>iyodofor</a:t>
            </a:r>
            <a:r>
              <a:rPr lang="tr-TR" sz="2600" b="1" dirty="0" smtClean="0"/>
              <a:t> kullanılırsa etkinliği artar</a:t>
            </a:r>
          </a:p>
          <a:p>
            <a:r>
              <a:rPr lang="tr-TR" sz="2600" b="1" dirty="0" smtClean="0"/>
              <a:t>Uçucudur</a:t>
            </a:r>
          </a:p>
          <a:p>
            <a:r>
              <a:rPr lang="tr-TR" sz="2600" b="1" dirty="0" smtClean="0"/>
              <a:t>En büyük avantajı uygulandığı bölgede kalıntı bırakmamasıdır</a:t>
            </a:r>
          </a:p>
          <a:p>
            <a:r>
              <a:rPr lang="tr-TR" sz="2600" b="1" dirty="0" smtClean="0"/>
              <a:t>%70’lik etanol deri antisepsisi dışında, çalışma bankoları, </a:t>
            </a:r>
            <a:r>
              <a:rPr lang="tr-TR" sz="2600" b="1" dirty="0" err="1" smtClean="0"/>
              <a:t>biyogüvenlik</a:t>
            </a:r>
            <a:r>
              <a:rPr lang="tr-TR" sz="2600" b="1" dirty="0" smtClean="0"/>
              <a:t> kabinleri, termometreler ve küçük cerrahi aletlerin dezenfeksiyonunda kullanılabilir</a:t>
            </a:r>
            <a:endParaRPr lang="tr-TR" sz="2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775" y="332656"/>
            <a:ext cx="8785225" cy="604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476673"/>
            <a:ext cx="8712968" cy="5616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467545" y="836712"/>
            <a:ext cx="8390706" cy="5139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tr-TR" sz="3200" b="1" u="sng" dirty="0" smtClean="0">
                <a:solidFill>
                  <a:srgbClr val="FF0000"/>
                </a:solidFill>
                <a:latin typeface="+mn-lt"/>
              </a:rPr>
              <a:t>HIV VE HBV İLE KONTAMİNE MALZEMELERİN  DEZENFEKSİYONUNDA STANDART OLARAK</a:t>
            </a:r>
          </a:p>
          <a:p>
            <a:pPr>
              <a:spcBef>
                <a:spcPct val="50000"/>
              </a:spcBef>
              <a:defRPr/>
            </a:pPr>
            <a:r>
              <a:rPr lang="tr-TR" sz="2000" dirty="0" smtClean="0">
                <a:solidFill>
                  <a:srgbClr val="002060"/>
                </a:solidFill>
                <a:latin typeface="+mn-lt"/>
              </a:rPr>
              <a:t> </a:t>
            </a:r>
            <a:endParaRPr lang="tr-TR" sz="2000" dirty="0">
              <a:solidFill>
                <a:srgbClr val="002060"/>
              </a:solidFill>
              <a:latin typeface="+mn-lt"/>
            </a:endParaRPr>
          </a:p>
          <a:p>
            <a:pPr>
              <a:spcBef>
                <a:spcPct val="50000"/>
              </a:spcBef>
              <a:defRPr/>
            </a:pPr>
            <a:r>
              <a:rPr lang="tr-TR" sz="2800" b="1" dirty="0">
                <a:latin typeface="+mn-lt"/>
              </a:rPr>
              <a:t>1.000-10.000 </a:t>
            </a:r>
            <a:r>
              <a:rPr lang="tr-TR" sz="2800" b="1" dirty="0" err="1">
                <a:latin typeface="+mn-lt"/>
              </a:rPr>
              <a:t>ppm</a:t>
            </a:r>
            <a:r>
              <a:rPr lang="tr-TR" sz="2800" b="1" dirty="0">
                <a:latin typeface="+mn-lt"/>
              </a:rPr>
              <a:t> konsantrasyondaki </a:t>
            </a:r>
            <a:r>
              <a:rPr lang="tr-TR" sz="2800" b="1" dirty="0" smtClean="0">
                <a:latin typeface="+mn-lt"/>
              </a:rPr>
              <a:t>sodyum </a:t>
            </a:r>
            <a:r>
              <a:rPr lang="tr-TR" sz="2800" b="1" dirty="0" err="1" smtClean="0">
                <a:latin typeface="+mn-lt"/>
              </a:rPr>
              <a:t>hipoklorit</a:t>
            </a:r>
            <a:r>
              <a:rPr lang="tr-TR" sz="2800" b="1" dirty="0" smtClean="0">
                <a:latin typeface="+mn-lt"/>
              </a:rPr>
              <a:t> solüsyonları</a:t>
            </a:r>
          </a:p>
          <a:p>
            <a:pPr>
              <a:spcBef>
                <a:spcPct val="50000"/>
              </a:spcBef>
              <a:defRPr/>
            </a:pPr>
            <a:r>
              <a:rPr lang="tr-TR" sz="2000" b="1" dirty="0" smtClean="0"/>
              <a:t>1.000 - 10.000 </a:t>
            </a:r>
            <a:r>
              <a:rPr lang="tr-TR" sz="2000" b="1" dirty="0" err="1" smtClean="0"/>
              <a:t>ppm</a:t>
            </a:r>
            <a:r>
              <a:rPr lang="tr-TR" sz="2000" b="1" dirty="0" smtClean="0"/>
              <a:t> (genellikle 1/10 ila 1/100 oranında sulandırılmış) aktif klor sağlayan sodyum </a:t>
            </a:r>
            <a:r>
              <a:rPr lang="tr-TR" sz="2000" b="1" dirty="0" err="1" smtClean="0"/>
              <a:t>hipoklorit</a:t>
            </a:r>
            <a:r>
              <a:rPr lang="tr-TR" sz="2000" b="1" dirty="0" smtClean="0"/>
              <a:t> </a:t>
            </a:r>
          </a:p>
          <a:p>
            <a:pPr>
              <a:spcBef>
                <a:spcPct val="50000"/>
              </a:spcBef>
              <a:defRPr/>
            </a:pPr>
            <a:r>
              <a:rPr lang="tr-TR" sz="2000" b="1" dirty="0" smtClean="0"/>
              <a:t>(ev tipi çamaşır suyu) solüsyonları</a:t>
            </a:r>
            <a:endParaRPr lang="tr-TR" sz="2000" b="1" dirty="0">
              <a:latin typeface="+mn-lt"/>
            </a:endParaRPr>
          </a:p>
          <a:p>
            <a:pPr>
              <a:spcBef>
                <a:spcPct val="50000"/>
              </a:spcBef>
              <a:defRPr/>
            </a:pPr>
            <a:r>
              <a:rPr lang="tr-TR" sz="2800" b="1" dirty="0">
                <a:latin typeface="+mn-lt"/>
              </a:rPr>
              <a:t>%2 </a:t>
            </a:r>
            <a:r>
              <a:rPr lang="tr-TR" sz="2800" b="1" dirty="0" err="1">
                <a:latin typeface="+mn-lt"/>
              </a:rPr>
              <a:t>gluteraldehit</a:t>
            </a:r>
            <a:r>
              <a:rPr lang="tr-TR" sz="2800" b="1" dirty="0">
                <a:latin typeface="+mn-lt"/>
              </a:rPr>
              <a:t> </a:t>
            </a:r>
            <a:r>
              <a:rPr lang="tr-TR" sz="2800" b="1" dirty="0" smtClean="0">
                <a:latin typeface="+mn-lt"/>
              </a:rPr>
              <a:t>solüsyonu</a:t>
            </a:r>
            <a:endParaRPr lang="tr-TR" sz="2800" b="1" dirty="0">
              <a:latin typeface="+mn-lt"/>
            </a:endParaRPr>
          </a:p>
          <a:p>
            <a:pPr>
              <a:spcBef>
                <a:spcPct val="50000"/>
              </a:spcBef>
              <a:defRPr/>
            </a:pPr>
            <a:r>
              <a:rPr lang="tr-TR" sz="2800" b="1" dirty="0">
                <a:latin typeface="+mn-lt"/>
              </a:rPr>
              <a:t>% 70 </a:t>
            </a:r>
            <a:r>
              <a:rPr lang="tr-TR" sz="2800" b="1" dirty="0" err="1">
                <a:latin typeface="+mn-lt"/>
              </a:rPr>
              <a:t>lik</a:t>
            </a:r>
            <a:r>
              <a:rPr lang="tr-TR" sz="2800" b="1" dirty="0">
                <a:latin typeface="+mn-lt"/>
              </a:rPr>
              <a:t> etanol kullanılmalı</a:t>
            </a:r>
            <a:endParaRPr lang="en-US" sz="2800" b="1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476672"/>
            <a:ext cx="8496944" cy="60486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Kan ve Vücut Sıvısı Dökülmeleri</a:t>
            </a:r>
          </a:p>
          <a:p>
            <a:r>
              <a:rPr lang="tr-TR" b="1" dirty="0" smtClean="0"/>
              <a:t>Yoğun kirlenme ve yüksek risk durumunda 1/10 oranında (10.000 </a:t>
            </a:r>
            <a:r>
              <a:rPr lang="tr-TR" b="1" dirty="0" err="1" smtClean="0"/>
              <a:t>ppm</a:t>
            </a:r>
            <a:r>
              <a:rPr lang="tr-TR" b="1" dirty="0" smtClean="0"/>
              <a:t>) sodyum </a:t>
            </a:r>
            <a:r>
              <a:rPr lang="tr-TR" b="1" dirty="0" err="1" smtClean="0"/>
              <a:t>hipoklorit</a:t>
            </a:r>
            <a:r>
              <a:rPr lang="tr-TR" b="1" dirty="0" smtClean="0"/>
              <a:t> çözeltisi tercih edilir.</a:t>
            </a:r>
          </a:p>
          <a:p>
            <a:pPr algn="ctr"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</a:t>
            </a:r>
            <a:endParaRPr lang="tr-TR" b="1" dirty="0" smtClean="0">
              <a:solidFill>
                <a:srgbClr val="FF0000"/>
              </a:solidFill>
            </a:endParaRPr>
          </a:p>
          <a:p>
            <a:pPr algn="ctr">
              <a:buNone/>
            </a:pPr>
            <a:r>
              <a:rPr lang="tr-TR" b="1" dirty="0" smtClean="0">
                <a:solidFill>
                  <a:srgbClr val="FF0000"/>
                </a:solidFill>
              </a:rPr>
              <a:t>Standart </a:t>
            </a:r>
            <a:r>
              <a:rPr lang="tr-TR" b="1" dirty="0" smtClean="0">
                <a:solidFill>
                  <a:srgbClr val="FF0000"/>
                </a:solidFill>
              </a:rPr>
              <a:t>Yüzey ve Cansız Malzeme Temizliği</a:t>
            </a:r>
          </a:p>
          <a:p>
            <a:r>
              <a:rPr lang="tr-TR" b="1" dirty="0" smtClean="0"/>
              <a:t>Kan </a:t>
            </a:r>
            <a:r>
              <a:rPr lang="tr-TR" b="1" dirty="0" err="1" smtClean="0"/>
              <a:t>bulaşı</a:t>
            </a:r>
            <a:r>
              <a:rPr lang="tr-TR" b="1" dirty="0" smtClean="0"/>
              <a:t> olmayan veya rutin dezenfeksiyon gerektiren durumlarda 1/100 oranında (1.000 </a:t>
            </a:r>
            <a:r>
              <a:rPr lang="tr-TR" b="1" dirty="0" err="1" smtClean="0"/>
              <a:t>ppm</a:t>
            </a:r>
            <a:r>
              <a:rPr lang="tr-TR" b="1" dirty="0" smtClean="0"/>
              <a:t>) solüsyonlar kullanılır</a:t>
            </a:r>
          </a:p>
          <a:p>
            <a:endParaRPr lang="tr-TR" b="1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DİKKAT EDİLECEK KURALLAR</a:t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Taze Hazırlama: </a:t>
            </a:r>
            <a:r>
              <a:rPr lang="tr-TR" b="1" dirty="0" smtClean="0"/>
              <a:t>Klorlu solüsyonlar gün ışığında ve bekledikçe özelliklerini yitirdiği için her kullanım öncesi taze olarak hazırlanmalıdır. 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Organik Madde: </a:t>
            </a:r>
            <a:r>
              <a:rPr lang="tr-TR" b="1" dirty="0" smtClean="0"/>
              <a:t>Ortamda yoğun kan veya protein varsa klorun etkisi azalacağı için kaba kir kağıt havluyla alınıp ön temizlik yapıldıktan sonra dezenfeksiyon uygulanmalıdır.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Korozyon: </a:t>
            </a:r>
            <a:r>
              <a:rPr lang="tr-TR" b="1" dirty="0" smtClean="0"/>
              <a:t>Sodyum </a:t>
            </a:r>
            <a:r>
              <a:rPr lang="tr-TR" b="1" dirty="0" err="1" smtClean="0"/>
              <a:t>hipoklorit</a:t>
            </a:r>
            <a:r>
              <a:rPr lang="tr-TR" b="1" dirty="0" smtClean="0"/>
              <a:t> metallerde aşınmaya (korozyon) yol açabilir; bu nedenle alet uyumluluğuna dikkat edilmelidir</a:t>
            </a:r>
          </a:p>
          <a:p>
            <a:endParaRPr lang="tr-TR" b="1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KOROZYON</a:t>
            </a:r>
            <a:endParaRPr lang="tr-TR" sz="4000" b="1" dirty="0">
              <a:solidFill>
                <a:srgbClr val="FF0000"/>
              </a:solidFill>
            </a:endParaRP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700808"/>
            <a:ext cx="6753225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3717032"/>
            <a:ext cx="6753225" cy="2796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1230</Words>
  <Application>Microsoft Office PowerPoint</Application>
  <PresentationFormat>Ekran Gösterisi (4:3)</PresentationFormat>
  <Paragraphs>243</Paragraphs>
  <Slides>56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56</vt:i4>
      </vt:variant>
    </vt:vector>
  </HeadingPairs>
  <TitlesOfParts>
    <vt:vector size="57" baseType="lpstr">
      <vt:lpstr>Ofis Teması</vt:lpstr>
      <vt:lpstr>DEZENFEKSİYON  NEDİR?</vt:lpstr>
      <vt:lpstr>DEZENFEKSİYON</vt:lpstr>
      <vt:lpstr>DEZENFEKTAN</vt:lpstr>
      <vt:lpstr>Slayt 4</vt:lpstr>
      <vt:lpstr> İDEAL DEZENFEKTANIN ÖZELLİKLERİ</vt:lpstr>
      <vt:lpstr> DEZENFEKTAN YAN ETKİLERİ NELERDİR? </vt:lpstr>
      <vt:lpstr> DEZENFEKTAN KULLANIMI İLE İLGİLİ PROBLEMLER  </vt:lpstr>
      <vt:lpstr>  </vt:lpstr>
      <vt:lpstr>PASTÖRİZASYON</vt:lpstr>
      <vt:lpstr>Slayt 10</vt:lpstr>
      <vt:lpstr>HANGİ ÜRÜNLER PASTÖRİZASYON YAPILABİLİR</vt:lpstr>
      <vt:lpstr>TÜRK GIDA KODEKSİNE GÖRE PASTÖRİZASYON TANIMI</vt:lpstr>
      <vt:lpstr>Slayt 13</vt:lpstr>
      <vt:lpstr>Slayt 14</vt:lpstr>
      <vt:lpstr>Slayt 15</vt:lpstr>
      <vt:lpstr>Slayt 16</vt:lpstr>
      <vt:lpstr>Slayt 17</vt:lpstr>
      <vt:lpstr>Slayt 18</vt:lpstr>
      <vt:lpstr>Slayt 19</vt:lpstr>
      <vt:lpstr>Slayt 20</vt:lpstr>
      <vt:lpstr>Slayt 21</vt:lpstr>
      <vt:lpstr>Slayt 22</vt:lpstr>
      <vt:lpstr>DEZENFEKTAN M.O’DA NEREYİ TAHRİP EDER</vt:lpstr>
      <vt:lpstr>MİKROORGANİZMALAR MEKANİZMALAR GELİŞTİRDİ ONLARDA AKILLI </vt:lpstr>
      <vt:lpstr>BAZEN DOĞAL DİRENÇLİ OLABİLİRLER</vt:lpstr>
      <vt:lpstr>Dezenfektanlar ve antiseptikler</vt:lpstr>
      <vt:lpstr>Slayt 27</vt:lpstr>
      <vt:lpstr> DEZENFEKTANLARIN KULLANIM ALANLARI </vt:lpstr>
      <vt:lpstr> DEZENFEKTANLARIN ÖZELLİKLERİ </vt:lpstr>
      <vt:lpstr> ANTİSEPTİK NEDİR? </vt:lpstr>
      <vt:lpstr> ANTİSEPTİKLERİN KULLANIM ALANLARI </vt:lpstr>
      <vt:lpstr> ANTİSEPTİKLERİN ÖZELLİKLERİ </vt:lpstr>
      <vt:lpstr>Slayt 33</vt:lpstr>
      <vt:lpstr> ORTAK YÖNLERİ VE İSTİSNALAR </vt:lpstr>
      <vt:lpstr> Dezenfeksiyonda temel amaç, vücut için zararlı ve sık görülen mikroorganizmaların ortamdan temizlenmesidir </vt:lpstr>
      <vt:lpstr>Dezenfektanlar ile antiseptik maddeler uygulandıkları yüzeyler bakımından farklılık gösterir</vt:lpstr>
      <vt:lpstr>Slayt 37</vt:lpstr>
      <vt:lpstr>Slayt 38</vt:lpstr>
      <vt:lpstr>Slayt 39</vt:lpstr>
      <vt:lpstr>ANTİSEPTİKLER AŞAĞIDAKİ KOŞULLARDA VÜCUT YÜZEYİNE UYGULANMAMALIDIR</vt:lpstr>
      <vt:lpstr>KİMYASAL DEZENFEKSİYON YÖNTEMLERİ</vt:lpstr>
      <vt:lpstr>Slayt 42</vt:lpstr>
      <vt:lpstr>DEZENFEKTANLAR HANGİ HÜCRE İŞLEVLERİNE ETKİ EDERLER</vt:lpstr>
      <vt:lpstr>Slayt 44</vt:lpstr>
      <vt:lpstr>AKTİF BİLEŞENLERİNE GÖRE DEZENFEKTANLARIN SINIFLANDIRILMASI </vt:lpstr>
      <vt:lpstr>İYOT BİLEŞİKLERİ </vt:lpstr>
      <vt:lpstr>KLOR BİLEŞİKLERİ </vt:lpstr>
      <vt:lpstr>Sodyum hipoklorid sıvı solüsyonu çamaşır suyu</vt:lpstr>
      <vt:lpstr>Slayt 49</vt:lpstr>
      <vt:lpstr>Slayt 50</vt:lpstr>
      <vt:lpstr>Slayt 51</vt:lpstr>
      <vt:lpstr>Slayt 52</vt:lpstr>
      <vt:lpstr>Slayt 53</vt:lpstr>
      <vt:lpstr>Slayt 54</vt:lpstr>
      <vt:lpstr> DİKKAT EDİLECEK KURALLAR </vt:lpstr>
      <vt:lpstr>KOROZYON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Slayt 1</dc:title>
  <dc:creator>Pc</dc:creator>
  <cp:lastModifiedBy>tijen</cp:lastModifiedBy>
  <cp:revision>172</cp:revision>
  <dcterms:created xsi:type="dcterms:W3CDTF">2014-10-21T12:32:09Z</dcterms:created>
  <dcterms:modified xsi:type="dcterms:W3CDTF">2026-08-26T13:39:40Z</dcterms:modified>
</cp:coreProperties>
</file>