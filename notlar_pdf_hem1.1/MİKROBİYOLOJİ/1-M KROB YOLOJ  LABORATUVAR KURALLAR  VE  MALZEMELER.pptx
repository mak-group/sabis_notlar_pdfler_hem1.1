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5" r:id="rId8"/>
    <p:sldId id="264" r:id="rId9"/>
    <p:sldId id="266" r:id="rId10"/>
    <p:sldId id="268" r:id="rId11"/>
    <p:sldId id="270" r:id="rId12"/>
    <p:sldId id="269" r:id="rId13"/>
    <p:sldId id="267" r:id="rId14"/>
    <p:sldId id="271" r:id="rId15"/>
    <p:sldId id="274" r:id="rId16"/>
    <p:sldId id="273" r:id="rId17"/>
    <p:sldId id="276" r:id="rId18"/>
    <p:sldId id="277" r:id="rId19"/>
    <p:sldId id="278" r:id="rId20"/>
    <p:sldId id="280" r:id="rId21"/>
    <p:sldId id="279" r:id="rId22"/>
    <p:sldId id="281" r:id="rId23"/>
    <p:sldId id="282" r:id="rId24"/>
    <p:sldId id="284" r:id="rId25"/>
    <p:sldId id="283" r:id="rId26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1EEB4-423C-4AB9-9277-A27654CE7988}" type="datetimeFigureOut">
              <a:rPr lang="tr-TR" smtClean="0"/>
              <a:pPr/>
              <a:t>19.08.2026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DE477-7928-42A7-A8C0-86144B3F1C92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404664"/>
            <a:ext cx="8352928" cy="5721499"/>
          </a:xfrm>
        </p:spPr>
        <p:txBody>
          <a:bodyPr/>
          <a:lstStyle/>
          <a:p>
            <a:pPr algn="ctr">
              <a:buNone/>
            </a:pPr>
            <a:r>
              <a:rPr lang="tr-TR" b="1" dirty="0" smtClean="0"/>
              <a:t>  </a:t>
            </a:r>
            <a:r>
              <a:rPr lang="tr-TR" b="1" dirty="0" smtClean="0">
                <a:solidFill>
                  <a:srgbClr val="FF0000"/>
                </a:solidFill>
              </a:rPr>
              <a:t>MİKROBİYOLOJİ </a:t>
            </a:r>
            <a:r>
              <a:rPr lang="tr-TR" b="1" dirty="0">
                <a:solidFill>
                  <a:srgbClr val="FF0000"/>
                </a:solidFill>
              </a:rPr>
              <a:t>LABORATUVARINDA UYULMASI GEREKEN KURALLAR</a:t>
            </a:r>
            <a:endParaRPr lang="tr-TR" dirty="0">
              <a:solidFill>
                <a:srgbClr val="FF0000"/>
              </a:solidFill>
            </a:endParaRPr>
          </a:p>
          <a:p>
            <a:pPr algn="ctr"/>
            <a:endParaRPr lang="tr-TR" dirty="0"/>
          </a:p>
        </p:txBody>
      </p:sp>
      <p:pic>
        <p:nvPicPr>
          <p:cNvPr id="1026" name="Picture 2" descr="C:\Users\tijen\Desktop\1701224815387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1824954"/>
            <a:ext cx="5077473" cy="44843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KURALLAR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tr-TR" b="1" dirty="0"/>
              <a:t>Öncelikli olarak </a:t>
            </a:r>
            <a:r>
              <a:rPr lang="tr-TR" b="1" dirty="0" err="1"/>
              <a:t>laboratuvar</a:t>
            </a:r>
            <a:r>
              <a:rPr lang="tr-TR" b="1" dirty="0"/>
              <a:t> çalışması süresince, </a:t>
            </a:r>
            <a:r>
              <a:rPr lang="tr-TR" b="1" dirty="0" err="1"/>
              <a:t>laboratuvar</a:t>
            </a:r>
            <a:r>
              <a:rPr lang="tr-TR" b="1" dirty="0"/>
              <a:t> görevlilerinin ikaz ve isteklerine muhakkak uyulmalıdır. </a:t>
            </a:r>
            <a:endParaRPr lang="tr-TR" dirty="0"/>
          </a:p>
          <a:p>
            <a:pPr lvl="0"/>
            <a:r>
              <a:rPr lang="tr-TR" b="1" dirty="0"/>
              <a:t>Mikrobiyoloji </a:t>
            </a:r>
            <a:r>
              <a:rPr lang="tr-TR" b="1" dirty="0" err="1"/>
              <a:t>laboratuvarlarında</a:t>
            </a:r>
            <a:r>
              <a:rPr lang="tr-TR" b="1" dirty="0"/>
              <a:t> başlıca sorun </a:t>
            </a:r>
            <a:r>
              <a:rPr lang="tr-TR" b="1" dirty="0" err="1"/>
              <a:t>kontaminasyon</a:t>
            </a:r>
            <a:r>
              <a:rPr lang="tr-TR" b="1" dirty="0"/>
              <a:t> tehlikesidir. </a:t>
            </a:r>
            <a:endParaRPr lang="tr-TR" b="1" dirty="0" smtClean="0"/>
          </a:p>
          <a:p>
            <a:pPr lvl="0"/>
            <a:r>
              <a:rPr lang="tr-TR" b="1" dirty="0" smtClean="0"/>
              <a:t>Bu </a:t>
            </a:r>
            <a:r>
              <a:rPr lang="tr-TR" b="1" dirty="0"/>
              <a:t>yüzden, Mikrobiyoloji </a:t>
            </a:r>
            <a:r>
              <a:rPr lang="tr-TR" b="1" dirty="0" err="1"/>
              <a:t>laboratuvarında</a:t>
            </a:r>
            <a:r>
              <a:rPr lang="tr-TR" b="1" dirty="0"/>
              <a:t> çalışırken genel temizlik kurallarına mutlaka uyulmalıdır. </a:t>
            </a:r>
            <a:endParaRPr lang="tr-TR" b="1" dirty="0" smtClean="0"/>
          </a:p>
          <a:p>
            <a:pPr lvl="0"/>
            <a:r>
              <a:rPr lang="tr-TR" b="1" dirty="0" err="1" smtClean="0"/>
              <a:t>Laboratuvar</a:t>
            </a:r>
            <a:r>
              <a:rPr lang="tr-TR" b="1" dirty="0" smtClean="0"/>
              <a:t> önlüğü mutlaka giyilmelidir. </a:t>
            </a:r>
            <a:r>
              <a:rPr lang="tr-TR" b="1" dirty="0" err="1" smtClean="0"/>
              <a:t>Laboratuvara</a:t>
            </a:r>
            <a:r>
              <a:rPr lang="tr-TR" b="1" dirty="0" smtClean="0"/>
              <a:t> girmeden önlük giyilir ve dersin bitiminde önlük </a:t>
            </a:r>
            <a:r>
              <a:rPr lang="tr-TR" b="1" dirty="0" err="1" smtClean="0"/>
              <a:t>laboratuvardan</a:t>
            </a:r>
            <a:r>
              <a:rPr lang="tr-TR" b="1" dirty="0" smtClean="0"/>
              <a:t> çıkıldıktan sonra çıkarılır. </a:t>
            </a:r>
            <a:endParaRPr lang="tr-TR" dirty="0" smtClean="0"/>
          </a:p>
          <a:p>
            <a:pPr lvl="0"/>
            <a:r>
              <a:rPr lang="tr-TR" b="1" dirty="0" smtClean="0"/>
              <a:t>Çalışmaya başlamadan önce ve sonra eller bol sabunla ya da mümkünse antiseptik bir madde ile yıkanmalıdır. </a:t>
            </a:r>
            <a:endParaRPr lang="tr-TR" dirty="0" smtClean="0"/>
          </a:p>
          <a:p>
            <a:pPr lvl="0">
              <a:buNone/>
            </a:pPr>
            <a:endParaRPr lang="tr-TR" dirty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KURALLAR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tr-TR" b="1" dirty="0" smtClean="0"/>
              <a:t>Çalışmaya </a:t>
            </a:r>
            <a:r>
              <a:rPr lang="tr-TR" b="1" dirty="0"/>
              <a:t>başlamadan önce ve çalışma bitiminden sonra çalışma alanı dezenfektan bir madde ile muhakkak silinmelidir. </a:t>
            </a:r>
            <a:endParaRPr lang="tr-TR" dirty="0"/>
          </a:p>
          <a:p>
            <a:pPr lvl="0"/>
            <a:r>
              <a:rPr lang="tr-TR" b="1" dirty="0"/>
              <a:t>Mikrobiyolojik çalışmalar her zaman alev altında yapılmalıdır. Bu amaçla sıklıkla </a:t>
            </a:r>
            <a:r>
              <a:rPr lang="tr-TR" b="1" dirty="0" err="1"/>
              <a:t>Bunzen</a:t>
            </a:r>
            <a:r>
              <a:rPr lang="tr-TR" b="1" dirty="0"/>
              <a:t> beki kullanılmaktadır. </a:t>
            </a:r>
            <a:endParaRPr lang="tr-TR" dirty="0"/>
          </a:p>
          <a:p>
            <a:r>
              <a:rPr lang="tr-TR" b="1" dirty="0"/>
              <a:t>Cam araç gereçler hem açılırken hem de kapatılırken ağız kısımları muhakkak alevden geçirilmelidir. Alevden geçirilen ağzı açık eşya alevden </a:t>
            </a:r>
            <a:r>
              <a:rPr lang="tr-TR" b="1" dirty="0" smtClean="0"/>
              <a:t>uzaklaştırılmamalıdır.</a:t>
            </a:r>
          </a:p>
          <a:p>
            <a:pPr lvl="0"/>
            <a:r>
              <a:rPr lang="tr-TR" b="1" dirty="0"/>
              <a:t>Çalışmada platin öze kullanılıyorsa, kullanım öncesi ve sonrası özeler akkor haline gelinceye kadar ateşte tutulmalıdır. </a:t>
            </a:r>
            <a:endParaRPr lang="tr-TR" b="1" dirty="0" smtClean="0"/>
          </a:p>
          <a:p>
            <a:pPr lvl="0"/>
            <a:endParaRPr lang="tr-TR" dirty="0"/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KURALLAR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tr-TR" b="1" dirty="0"/>
              <a:t>Çalışma sonrası kullanılan araç gereçler ve </a:t>
            </a:r>
            <a:r>
              <a:rPr lang="tr-TR" b="1" dirty="0" err="1"/>
              <a:t>kontamine</a:t>
            </a:r>
            <a:r>
              <a:rPr lang="tr-TR" b="1" dirty="0"/>
              <a:t> olmuş çöpler direkt olarak çöp kutusuna kesinlikle atılmamalı, tekrardan sterilize edilmelidir.</a:t>
            </a:r>
            <a:endParaRPr lang="tr-TR" dirty="0"/>
          </a:p>
          <a:p>
            <a:pPr lvl="0"/>
            <a:r>
              <a:rPr lang="tr-TR" b="1" dirty="0"/>
              <a:t>Çalışırken </a:t>
            </a:r>
            <a:r>
              <a:rPr lang="tr-TR" b="1" dirty="0" err="1"/>
              <a:t>laboratuvar</a:t>
            </a:r>
            <a:r>
              <a:rPr lang="tr-TR" b="1" dirty="0"/>
              <a:t> kapı ve pencereleri kapalı tutularak hava akımından uzak durulmalıdır. Bek alevi etrafında ani hareketlerden kaçınılmalıdır. </a:t>
            </a:r>
            <a:endParaRPr lang="tr-TR" dirty="0"/>
          </a:p>
          <a:p>
            <a:pPr lvl="0"/>
            <a:r>
              <a:rPr lang="tr-TR" b="1" dirty="0"/>
              <a:t>Ellerde açık yara ve kesik gibi durumlar varsa patojen türlerle yapılan çalışmalarda eldiven giyilmeden hiçbir çalışmaya </a:t>
            </a:r>
            <a:r>
              <a:rPr lang="tr-TR" b="1" dirty="0" err="1"/>
              <a:t>katılınmamalıdır</a:t>
            </a:r>
            <a:r>
              <a:rPr lang="tr-TR" b="1" dirty="0"/>
              <a:t>. </a:t>
            </a:r>
            <a:endParaRPr lang="tr-TR" b="1" dirty="0" smtClean="0"/>
          </a:p>
          <a:p>
            <a:r>
              <a:rPr lang="tr-TR" b="1" dirty="0" err="1"/>
              <a:t>Laboratuvardan</a:t>
            </a:r>
            <a:r>
              <a:rPr lang="tr-TR" b="1" dirty="0"/>
              <a:t> ayrılmadan önce hem kendi </a:t>
            </a:r>
            <a:r>
              <a:rPr lang="tr-TR" b="1" dirty="0" err="1"/>
              <a:t>bençlerimizin</a:t>
            </a:r>
            <a:r>
              <a:rPr lang="tr-TR" b="1" dirty="0"/>
              <a:t> hem de bek alevi etrafındaki </a:t>
            </a:r>
            <a:r>
              <a:rPr lang="tr-TR" b="1" dirty="0" err="1"/>
              <a:t>bençlerin</a:t>
            </a:r>
            <a:r>
              <a:rPr lang="tr-TR" b="1" dirty="0"/>
              <a:t> temizliği gerçekleştirilmeli, musluklar ve gazların kapatıldığından kesin emin olunmalıdır.</a:t>
            </a:r>
            <a:endParaRPr lang="tr-TR" dirty="0"/>
          </a:p>
          <a:p>
            <a:pPr lvl="0">
              <a:buNone/>
            </a:pPr>
            <a:endParaRPr lang="tr-TR" dirty="0"/>
          </a:p>
          <a:p>
            <a:endParaRPr lang="tr-T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sz="3600" b="1" dirty="0" smtClean="0">
                <a:solidFill>
                  <a:srgbClr val="FF0000"/>
                </a:solidFill>
              </a:rPr>
              <a:t>MİKROBİYOLOJİ LABORATUARLARINDA SIKLIKLA KULLANILAN ARAÇ VE GEREÇLER </a:t>
            </a:r>
            <a:r>
              <a:rPr lang="tr-TR" sz="3600" dirty="0" smtClean="0">
                <a:solidFill>
                  <a:srgbClr val="FF0000"/>
                </a:solidFill>
              </a:rPr>
              <a:t/>
            </a:r>
            <a:br>
              <a:rPr lang="tr-TR" sz="3600" dirty="0" smtClean="0">
                <a:solidFill>
                  <a:srgbClr val="FF0000"/>
                </a:solidFill>
              </a:rPr>
            </a:br>
            <a:endParaRPr lang="tr-TR" sz="36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lvl="0"/>
            <a:r>
              <a:rPr lang="tr-TR" sz="2400" b="1" dirty="0"/>
              <a:t>Öze</a:t>
            </a:r>
            <a:endParaRPr lang="tr-TR" sz="2400" dirty="0"/>
          </a:p>
          <a:p>
            <a:pPr lvl="0"/>
            <a:r>
              <a:rPr lang="tr-TR" sz="2400" b="1" dirty="0"/>
              <a:t>Otoklav</a:t>
            </a:r>
            <a:endParaRPr lang="tr-TR" sz="2400" dirty="0"/>
          </a:p>
          <a:p>
            <a:pPr lvl="0"/>
            <a:r>
              <a:rPr lang="tr-TR" sz="2400" b="1" dirty="0"/>
              <a:t>Otoklav Şişeleri</a:t>
            </a:r>
            <a:endParaRPr lang="tr-TR" sz="2400" dirty="0"/>
          </a:p>
          <a:p>
            <a:pPr lvl="0"/>
            <a:r>
              <a:rPr lang="tr-TR" sz="2400" b="1" dirty="0"/>
              <a:t>Su </a:t>
            </a:r>
            <a:r>
              <a:rPr lang="tr-TR" sz="2400" b="1" dirty="0" err="1"/>
              <a:t>distilasyon</a:t>
            </a:r>
            <a:r>
              <a:rPr lang="tr-TR" sz="2400" b="1" dirty="0"/>
              <a:t> cihazı</a:t>
            </a:r>
            <a:endParaRPr lang="tr-TR" sz="2400" dirty="0"/>
          </a:p>
          <a:p>
            <a:pPr lvl="0"/>
            <a:r>
              <a:rPr lang="tr-TR" sz="2400" b="1" dirty="0"/>
              <a:t>Mezür</a:t>
            </a:r>
            <a:endParaRPr lang="tr-TR" sz="2400" dirty="0"/>
          </a:p>
          <a:p>
            <a:pPr lvl="0"/>
            <a:r>
              <a:rPr lang="tr-TR" sz="2400" b="1" dirty="0"/>
              <a:t>Hassas terazi</a:t>
            </a:r>
            <a:endParaRPr lang="tr-TR" sz="2400" dirty="0"/>
          </a:p>
          <a:p>
            <a:pPr lvl="0"/>
            <a:r>
              <a:rPr lang="tr-TR" sz="2400" b="1" dirty="0" err="1"/>
              <a:t>Spatul</a:t>
            </a:r>
            <a:endParaRPr lang="tr-TR" sz="2400" dirty="0"/>
          </a:p>
          <a:p>
            <a:pPr lvl="0"/>
            <a:r>
              <a:rPr lang="tr-TR" sz="2400" b="1" dirty="0"/>
              <a:t>Beher</a:t>
            </a:r>
            <a:endParaRPr lang="tr-TR" sz="2400" dirty="0"/>
          </a:p>
          <a:p>
            <a:pPr lvl="0"/>
            <a:r>
              <a:rPr lang="tr-TR" sz="2400" b="1" dirty="0"/>
              <a:t>Balonlar</a:t>
            </a:r>
            <a:endParaRPr lang="tr-TR" sz="2400" dirty="0"/>
          </a:p>
          <a:p>
            <a:pPr lvl="0"/>
            <a:r>
              <a:rPr lang="tr-TR" sz="2400" b="1" dirty="0"/>
              <a:t>Manyetik karıştırıcı ve ısıtıcı</a:t>
            </a:r>
            <a:endParaRPr lang="tr-TR" sz="2400" dirty="0"/>
          </a:p>
          <a:p>
            <a:pPr>
              <a:buNone/>
            </a:pPr>
            <a:endParaRPr lang="tr-TR" sz="2000" dirty="0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3096"/>
          </a:xfrm>
        </p:spPr>
        <p:txBody>
          <a:bodyPr>
            <a:noAutofit/>
          </a:bodyPr>
          <a:lstStyle/>
          <a:p>
            <a:pPr lvl="0"/>
            <a:r>
              <a:rPr lang="tr-TR" sz="2400" b="1" dirty="0" err="1" smtClean="0"/>
              <a:t>Petri</a:t>
            </a:r>
            <a:r>
              <a:rPr lang="tr-TR" sz="2400" b="1" dirty="0" smtClean="0"/>
              <a:t> kapları</a:t>
            </a:r>
            <a:endParaRPr lang="tr-TR" sz="2400" dirty="0" smtClean="0"/>
          </a:p>
          <a:p>
            <a:pPr lvl="0"/>
            <a:r>
              <a:rPr lang="tr-TR" sz="2400" b="1" dirty="0" err="1" smtClean="0"/>
              <a:t>pH</a:t>
            </a:r>
            <a:r>
              <a:rPr lang="tr-TR" sz="2400" b="1" dirty="0" smtClean="0"/>
              <a:t> metre</a:t>
            </a:r>
            <a:endParaRPr lang="tr-TR" sz="2400" dirty="0" smtClean="0"/>
          </a:p>
          <a:p>
            <a:pPr lvl="0"/>
            <a:r>
              <a:rPr lang="tr-TR" sz="2400" b="1" dirty="0"/>
              <a:t>Test tüpleri ve taşıyıcıları</a:t>
            </a:r>
            <a:endParaRPr lang="tr-TR" sz="2400" dirty="0"/>
          </a:p>
          <a:p>
            <a:pPr lvl="0"/>
            <a:r>
              <a:rPr lang="tr-TR" sz="2400" b="1" dirty="0" err="1"/>
              <a:t>Erlen</a:t>
            </a:r>
            <a:r>
              <a:rPr lang="tr-TR" sz="2400" b="1" dirty="0"/>
              <a:t> </a:t>
            </a:r>
            <a:r>
              <a:rPr lang="tr-TR" sz="2400" b="1" dirty="0" err="1"/>
              <a:t>mayer</a:t>
            </a:r>
            <a:endParaRPr lang="tr-TR" sz="2400" dirty="0"/>
          </a:p>
          <a:p>
            <a:pPr lvl="0"/>
            <a:r>
              <a:rPr lang="tr-TR" sz="2400" b="1" dirty="0"/>
              <a:t>Steril kabin</a:t>
            </a:r>
            <a:endParaRPr lang="tr-TR" sz="2400" dirty="0"/>
          </a:p>
          <a:p>
            <a:pPr lvl="0"/>
            <a:r>
              <a:rPr lang="tr-TR" sz="2400" b="1" dirty="0" err="1" smtClean="0"/>
              <a:t>Eküvyon</a:t>
            </a:r>
            <a:r>
              <a:rPr lang="tr-TR" sz="2400" b="1" dirty="0" smtClean="0"/>
              <a:t> </a:t>
            </a:r>
            <a:r>
              <a:rPr lang="tr-TR" sz="2400" b="1" dirty="0"/>
              <a:t>çubuğu</a:t>
            </a:r>
            <a:endParaRPr lang="tr-TR" sz="2400" dirty="0"/>
          </a:p>
          <a:p>
            <a:pPr lvl="0"/>
            <a:r>
              <a:rPr lang="tr-TR" sz="2400" b="1" dirty="0" err="1"/>
              <a:t>Bunzen</a:t>
            </a:r>
            <a:r>
              <a:rPr lang="tr-TR" sz="2400" b="1" dirty="0"/>
              <a:t> Beki</a:t>
            </a:r>
            <a:endParaRPr lang="tr-TR" sz="2400" dirty="0"/>
          </a:p>
          <a:p>
            <a:pPr lvl="0"/>
            <a:r>
              <a:rPr lang="tr-TR" sz="2400" b="1" dirty="0" err="1"/>
              <a:t>İnkübatör</a:t>
            </a:r>
            <a:endParaRPr lang="tr-TR" sz="2400" dirty="0"/>
          </a:p>
          <a:p>
            <a:pPr lvl="0"/>
            <a:r>
              <a:rPr lang="tr-TR" sz="2400" b="1" dirty="0"/>
              <a:t>Su banyosu</a:t>
            </a:r>
            <a:endParaRPr lang="tr-TR" sz="2400" dirty="0"/>
          </a:p>
          <a:p>
            <a:pPr lvl="0"/>
            <a:r>
              <a:rPr lang="tr-TR" sz="2400" b="1" dirty="0"/>
              <a:t>Etüv</a:t>
            </a:r>
            <a:endParaRPr lang="tr-TR" sz="2400" dirty="0"/>
          </a:p>
          <a:p>
            <a:pPr>
              <a:buNone/>
            </a:pPr>
            <a:endParaRPr lang="tr-TR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/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rgbClr val="FF0000"/>
                </a:solidFill>
              </a:rPr>
              <a:t>MİKROBİYOLOJİ LABORATUARLARINDA SIKLIKLA KULLANILAN ARAÇ VE GEREÇLER </a:t>
            </a:r>
            <a:r>
              <a:rPr lang="tr-TR" sz="3200" dirty="0" smtClean="0">
                <a:solidFill>
                  <a:srgbClr val="FF0000"/>
                </a:solidFill>
              </a:rPr>
              <a:t/>
            </a:r>
            <a:br>
              <a:rPr lang="tr-TR" sz="3200" dirty="0" smtClean="0">
                <a:solidFill>
                  <a:srgbClr val="FF0000"/>
                </a:solidFill>
              </a:rPr>
            </a:br>
            <a:endParaRPr lang="tr-TR" sz="3200" dirty="0"/>
          </a:p>
        </p:txBody>
      </p:sp>
      <p:sp>
        <p:nvSpPr>
          <p:cNvPr id="5" name="4 İçerik Yer Tutucusu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lang="tr-TR" sz="2400" b="1" dirty="0" smtClean="0"/>
              <a:t>Filtre üniteleri</a:t>
            </a:r>
            <a:endParaRPr lang="tr-TR" sz="2400" dirty="0" smtClean="0"/>
          </a:p>
          <a:p>
            <a:pPr lvl="0"/>
            <a:r>
              <a:rPr lang="tr-TR" sz="2400" b="1" dirty="0" smtClean="0"/>
              <a:t>Boya küveti</a:t>
            </a:r>
            <a:endParaRPr lang="tr-TR" sz="2400" dirty="0" smtClean="0"/>
          </a:p>
          <a:p>
            <a:pPr lvl="0"/>
            <a:r>
              <a:rPr lang="tr-TR" sz="2400" b="1" dirty="0"/>
              <a:t>Lam-lamel</a:t>
            </a:r>
            <a:endParaRPr lang="tr-TR" sz="2400" dirty="0"/>
          </a:p>
          <a:p>
            <a:pPr lvl="0"/>
            <a:r>
              <a:rPr lang="tr-TR" sz="2400" b="1" dirty="0" err="1"/>
              <a:t>Piset</a:t>
            </a:r>
            <a:endParaRPr lang="tr-TR" sz="2400" dirty="0"/>
          </a:p>
          <a:p>
            <a:pPr lvl="0"/>
            <a:r>
              <a:rPr lang="tr-TR" sz="2400" b="1" dirty="0"/>
              <a:t>Mikroskop</a:t>
            </a:r>
            <a:endParaRPr lang="tr-TR" sz="2400" dirty="0"/>
          </a:p>
          <a:p>
            <a:pPr lvl="0"/>
            <a:r>
              <a:rPr lang="tr-TR" sz="2400" b="1" dirty="0" err="1"/>
              <a:t>Pasteur</a:t>
            </a:r>
            <a:r>
              <a:rPr lang="tr-TR" sz="2400" b="1" dirty="0"/>
              <a:t> pipetleri</a:t>
            </a:r>
            <a:endParaRPr lang="tr-TR" sz="2400" dirty="0"/>
          </a:p>
          <a:p>
            <a:pPr lvl="0"/>
            <a:r>
              <a:rPr lang="tr-TR" sz="2400" b="1" dirty="0"/>
              <a:t>Pipet ve pipet </a:t>
            </a:r>
            <a:r>
              <a:rPr lang="tr-TR" sz="2400" b="1" dirty="0" err="1"/>
              <a:t>puarı</a:t>
            </a:r>
            <a:endParaRPr lang="tr-TR" sz="2400" dirty="0"/>
          </a:p>
          <a:p>
            <a:pPr lvl="0"/>
            <a:r>
              <a:rPr lang="tr-TR" sz="2400" b="1" dirty="0" err="1"/>
              <a:t>Mikropipet</a:t>
            </a:r>
            <a:r>
              <a:rPr lang="tr-TR" sz="2400" b="1" dirty="0"/>
              <a:t> ve pipet uçları</a:t>
            </a:r>
            <a:endParaRPr lang="tr-TR" sz="2400" dirty="0"/>
          </a:p>
          <a:p>
            <a:r>
              <a:rPr lang="tr-TR" sz="2400" b="1" dirty="0" err="1"/>
              <a:t>Eppendorf</a:t>
            </a:r>
            <a:r>
              <a:rPr lang="tr-TR" sz="2400" b="1" dirty="0"/>
              <a:t> tüpleri ve taşıyıcıları</a:t>
            </a:r>
            <a:endParaRPr lang="tr-TR" sz="2400" dirty="0"/>
          </a:p>
        </p:txBody>
      </p:sp>
      <p:sp>
        <p:nvSpPr>
          <p:cNvPr id="6" name="5 İçerik Yer Tutucusu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tr-TR" sz="2400" b="1" dirty="0"/>
              <a:t>Baget</a:t>
            </a:r>
            <a:endParaRPr lang="tr-TR" sz="2400" dirty="0"/>
          </a:p>
          <a:p>
            <a:pPr lvl="0"/>
            <a:r>
              <a:rPr lang="tr-TR" sz="2400" b="1" dirty="0" err="1"/>
              <a:t>Vorteks</a:t>
            </a:r>
            <a:endParaRPr lang="tr-TR" sz="2400" dirty="0"/>
          </a:p>
          <a:p>
            <a:pPr lvl="0"/>
            <a:r>
              <a:rPr lang="tr-TR" sz="2400" b="1" dirty="0"/>
              <a:t>Santrifüj</a:t>
            </a:r>
            <a:endParaRPr lang="tr-TR" sz="2400" dirty="0"/>
          </a:p>
          <a:p>
            <a:pPr lvl="0"/>
            <a:r>
              <a:rPr lang="tr-TR" sz="2400" b="1" dirty="0"/>
              <a:t>Huni</a:t>
            </a:r>
            <a:endParaRPr lang="tr-TR" sz="2400" dirty="0"/>
          </a:p>
          <a:p>
            <a:pPr lvl="0"/>
            <a:r>
              <a:rPr lang="tr-TR" sz="2400" b="1" dirty="0"/>
              <a:t>Havan</a:t>
            </a:r>
            <a:endParaRPr lang="tr-TR" sz="2400" dirty="0"/>
          </a:p>
          <a:p>
            <a:pPr lvl="0"/>
            <a:r>
              <a:rPr lang="tr-TR" sz="2400" b="1" dirty="0" err="1"/>
              <a:t>Durham</a:t>
            </a:r>
            <a:r>
              <a:rPr lang="tr-TR" sz="2400" b="1" dirty="0"/>
              <a:t> tüpleri</a:t>
            </a:r>
            <a:endParaRPr lang="tr-TR" sz="2400" dirty="0"/>
          </a:p>
          <a:p>
            <a:pPr lvl="0"/>
            <a:r>
              <a:rPr lang="tr-TR" sz="2400" b="1" dirty="0"/>
              <a:t>Renkli şişeler</a:t>
            </a:r>
            <a:endParaRPr lang="tr-TR" sz="2400" dirty="0"/>
          </a:p>
          <a:p>
            <a:pPr lvl="0"/>
            <a:r>
              <a:rPr lang="tr-TR" sz="2400" b="1" dirty="0" err="1"/>
              <a:t>Spektrofotometre</a:t>
            </a:r>
            <a:r>
              <a:rPr lang="tr-TR" sz="2400" b="1" dirty="0"/>
              <a:t> cihazı</a:t>
            </a:r>
            <a:endParaRPr lang="tr-TR" sz="2400" dirty="0"/>
          </a:p>
          <a:p>
            <a:endParaRPr lang="tr-T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ijen\Desktop\index_1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8604448" cy="61926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188640"/>
            <a:ext cx="8568952" cy="64807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	</a:t>
            </a:r>
            <a:r>
              <a:rPr lang="tr-TR" sz="4000" b="1" dirty="0" smtClean="0">
                <a:solidFill>
                  <a:srgbClr val="FF0000"/>
                </a:solidFill>
              </a:rPr>
              <a:t>	TEMEL CİHAZLAR</a:t>
            </a:r>
            <a:endParaRPr lang="tr-TR" sz="24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tr-TR" sz="2200" b="1" dirty="0" smtClean="0">
              <a:solidFill>
                <a:srgbClr val="FF0000"/>
              </a:solidFill>
            </a:endParaRPr>
          </a:p>
          <a:p>
            <a:r>
              <a:rPr lang="tr-TR" sz="2200" b="1" dirty="0" smtClean="0">
                <a:solidFill>
                  <a:srgbClr val="FF0000"/>
                </a:solidFill>
              </a:rPr>
              <a:t>OTOKLAV: </a:t>
            </a:r>
            <a:r>
              <a:rPr lang="tr-TR" sz="2200" b="1" dirty="0" smtClean="0"/>
              <a:t>Yüksek </a:t>
            </a:r>
            <a:r>
              <a:rPr lang="tr-TR" sz="2200" b="1" dirty="0"/>
              <a:t>basınç ve buharla sterilizasyon yapar.</a:t>
            </a:r>
          </a:p>
          <a:p>
            <a:r>
              <a:rPr lang="tr-TR" sz="2200" b="1" dirty="0" smtClean="0">
                <a:solidFill>
                  <a:srgbClr val="FF0000"/>
                </a:solidFill>
              </a:rPr>
              <a:t>İNKÜBATÖR (KULUÇKA MAKİNESİ): </a:t>
            </a:r>
            <a:r>
              <a:rPr lang="tr-TR" sz="2200" b="1" dirty="0" smtClean="0"/>
              <a:t>Mikroorganizmaları </a:t>
            </a:r>
            <a:r>
              <a:rPr lang="tr-TR" sz="2200" b="1" dirty="0"/>
              <a:t>ideal sıcaklıkta çoğaltır.</a:t>
            </a:r>
          </a:p>
          <a:p>
            <a:r>
              <a:rPr lang="tr-TR" sz="2200" b="1" dirty="0" smtClean="0">
                <a:solidFill>
                  <a:srgbClr val="FF0000"/>
                </a:solidFill>
              </a:rPr>
              <a:t>BİYOGÜVENLİK KABİNİ (LAMİNAR FLOW): </a:t>
            </a:r>
            <a:r>
              <a:rPr lang="tr-TR" sz="2200" b="1" dirty="0" smtClean="0"/>
              <a:t>Steril </a:t>
            </a:r>
            <a:r>
              <a:rPr lang="tr-TR" sz="2200" b="1" dirty="0"/>
              <a:t>hava akımıyla güvenli çalışma alanı sağlar.</a:t>
            </a:r>
          </a:p>
          <a:p>
            <a:r>
              <a:rPr lang="tr-TR" sz="2200" b="1" dirty="0" smtClean="0">
                <a:solidFill>
                  <a:srgbClr val="FF0000"/>
                </a:solidFill>
              </a:rPr>
              <a:t>IŞIK MİKROSKOBU: </a:t>
            </a:r>
            <a:r>
              <a:rPr lang="tr-TR" sz="2200" b="1" dirty="0" smtClean="0"/>
              <a:t>Hücre </a:t>
            </a:r>
            <a:r>
              <a:rPr lang="tr-TR" sz="2200" b="1" dirty="0"/>
              <a:t>ve mikroorganizmaları </a:t>
            </a:r>
            <a:r>
              <a:rPr lang="tr-TR" sz="2200" b="1" dirty="0" smtClean="0"/>
              <a:t>büyüterek </a:t>
            </a:r>
            <a:r>
              <a:rPr lang="tr-TR" sz="2200" b="1" dirty="0"/>
              <a:t>gösterir.</a:t>
            </a:r>
          </a:p>
          <a:p>
            <a:r>
              <a:rPr lang="tr-TR" sz="2200" b="1" dirty="0" smtClean="0">
                <a:solidFill>
                  <a:srgbClr val="FF0000"/>
                </a:solidFill>
              </a:rPr>
              <a:t>ETÜV / KURU HAVA STERİLİZATÖRÜ: </a:t>
            </a:r>
            <a:r>
              <a:rPr lang="tr-TR" sz="2200" b="1" dirty="0" smtClean="0"/>
              <a:t>Cam </a:t>
            </a:r>
            <a:r>
              <a:rPr lang="tr-TR" sz="2200" b="1" dirty="0"/>
              <a:t>eşyaları kuru sıcaklıkla sterilize eder.</a:t>
            </a:r>
          </a:p>
          <a:p>
            <a:r>
              <a:rPr lang="tr-TR" sz="2200" b="1" dirty="0" smtClean="0">
                <a:solidFill>
                  <a:srgbClr val="FF0000"/>
                </a:solidFill>
              </a:rPr>
              <a:t>SANTRİFÜJ: </a:t>
            </a:r>
            <a:r>
              <a:rPr lang="tr-TR" sz="2200" b="1" dirty="0" smtClean="0"/>
              <a:t>Sıvı </a:t>
            </a:r>
            <a:r>
              <a:rPr lang="tr-TR" sz="2200" b="1" dirty="0"/>
              <a:t>içindeki bileşenleri çökelterek ayrıştırır.</a:t>
            </a:r>
          </a:p>
          <a:p>
            <a:r>
              <a:rPr lang="tr-TR" sz="2200" b="1" dirty="0" smtClean="0">
                <a:solidFill>
                  <a:srgbClr val="FF0000"/>
                </a:solidFill>
              </a:rPr>
              <a:t>MANYETİK KARIŞTIRICI: </a:t>
            </a:r>
            <a:r>
              <a:rPr lang="tr-TR" sz="2200" b="1" dirty="0" err="1" smtClean="0"/>
              <a:t>Besiyeri</a:t>
            </a:r>
            <a:r>
              <a:rPr lang="tr-TR" sz="2200" b="1" dirty="0" smtClean="0"/>
              <a:t> </a:t>
            </a:r>
            <a:r>
              <a:rPr lang="tr-TR" sz="2200" b="1" dirty="0"/>
              <a:t>ve çözeltileri homojen karıştırır.</a:t>
            </a:r>
          </a:p>
          <a:p>
            <a:r>
              <a:rPr lang="tr-TR" sz="2200" b="1" dirty="0" smtClean="0">
                <a:solidFill>
                  <a:srgbClr val="FF0000"/>
                </a:solidFill>
              </a:rPr>
              <a:t>PH METRE: </a:t>
            </a:r>
            <a:r>
              <a:rPr lang="tr-TR" sz="2200" b="1" dirty="0" smtClean="0"/>
              <a:t>Çözeltilerin </a:t>
            </a:r>
            <a:r>
              <a:rPr lang="tr-TR" sz="2200" b="1" dirty="0"/>
              <a:t>asitlik/bazlık derecesini ölçer.</a:t>
            </a:r>
          </a:p>
          <a:p>
            <a:r>
              <a:rPr lang="tr-TR" sz="2200" b="1" dirty="0" smtClean="0">
                <a:solidFill>
                  <a:srgbClr val="FF0000"/>
                </a:solidFill>
              </a:rPr>
              <a:t>VORTEKS: </a:t>
            </a:r>
            <a:r>
              <a:rPr lang="tr-TR" sz="2200" b="1" dirty="0" smtClean="0"/>
              <a:t>Tüp </a:t>
            </a:r>
            <a:r>
              <a:rPr lang="tr-TR" sz="2200" b="1" dirty="0"/>
              <a:t>içerisindeki sıvıları hızlıca karıştırır</a:t>
            </a:r>
          </a:p>
          <a:p>
            <a:endParaRPr lang="tr-TR" sz="2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712968" cy="62646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	</a:t>
            </a:r>
            <a:r>
              <a:rPr lang="tr-TR" sz="4000" b="1" dirty="0" smtClean="0">
                <a:solidFill>
                  <a:srgbClr val="FF0000"/>
                </a:solidFill>
              </a:rPr>
              <a:t>CAM VE SARF MALZEMELER</a:t>
            </a:r>
            <a:endParaRPr lang="tr-TR" sz="2400" b="1" dirty="0"/>
          </a:p>
          <a:p>
            <a:r>
              <a:rPr lang="tr-TR" sz="2400" b="1" dirty="0" smtClean="0">
                <a:solidFill>
                  <a:srgbClr val="FF0000"/>
                </a:solidFill>
              </a:rPr>
              <a:t>ÖZE (İNOKÜLASYON HALKASI): </a:t>
            </a:r>
            <a:r>
              <a:rPr lang="tr-TR" sz="2400" b="1" dirty="0" smtClean="0"/>
              <a:t>Bakteri ekimi ve transferi yapar.</a:t>
            </a:r>
            <a:endParaRPr lang="tr-TR" sz="2400" b="1" dirty="0" smtClean="0">
              <a:solidFill>
                <a:srgbClr val="FF0000"/>
              </a:solidFill>
            </a:endParaRPr>
          </a:p>
          <a:p>
            <a:r>
              <a:rPr lang="tr-TR" sz="2400" b="1" dirty="0" smtClean="0">
                <a:solidFill>
                  <a:srgbClr val="FF0000"/>
                </a:solidFill>
              </a:rPr>
              <a:t>PETRİ KUTUSU: </a:t>
            </a:r>
            <a:r>
              <a:rPr lang="tr-TR" sz="2400" b="1" dirty="0" err="1" smtClean="0"/>
              <a:t>Besiyeri</a:t>
            </a:r>
            <a:r>
              <a:rPr lang="tr-TR" sz="2400" b="1" dirty="0" smtClean="0"/>
              <a:t> </a:t>
            </a:r>
            <a:r>
              <a:rPr lang="tr-TR" sz="2400" b="1" dirty="0"/>
              <a:t>döküp bakteri kültürü büyütmek için kullanılır.</a:t>
            </a:r>
          </a:p>
          <a:p>
            <a:r>
              <a:rPr lang="tr-TR" sz="2400" b="1" dirty="0" smtClean="0">
                <a:solidFill>
                  <a:srgbClr val="FF0000"/>
                </a:solidFill>
              </a:rPr>
              <a:t>LAM VE LAMEL</a:t>
            </a:r>
            <a:r>
              <a:rPr lang="tr-TR" sz="2400" b="1" dirty="0" smtClean="0"/>
              <a:t>: Mikroskopta inceleme yaparken numuneyi kapatır.</a:t>
            </a:r>
            <a:endParaRPr lang="tr-TR" sz="2400" b="1" dirty="0" smtClean="0">
              <a:solidFill>
                <a:srgbClr val="FF0000"/>
              </a:solidFill>
            </a:endParaRPr>
          </a:p>
          <a:p>
            <a:r>
              <a:rPr lang="tr-TR" sz="2400" b="1" dirty="0" smtClean="0">
                <a:solidFill>
                  <a:srgbClr val="FF0000"/>
                </a:solidFill>
              </a:rPr>
              <a:t>ERLENMAYER VE BEHERGLAS: </a:t>
            </a:r>
            <a:r>
              <a:rPr lang="tr-TR" sz="2400" b="1" dirty="0" smtClean="0"/>
              <a:t>Sıvı </a:t>
            </a:r>
            <a:r>
              <a:rPr lang="tr-TR" sz="2400" b="1" dirty="0"/>
              <a:t>ve </a:t>
            </a:r>
            <a:r>
              <a:rPr lang="tr-TR" sz="2400" b="1" dirty="0" err="1"/>
              <a:t>besiyeri</a:t>
            </a:r>
            <a:r>
              <a:rPr lang="tr-TR" sz="2400" b="1" dirty="0"/>
              <a:t> hazırlamada kullanılır.</a:t>
            </a:r>
          </a:p>
          <a:p>
            <a:r>
              <a:rPr lang="tr-TR" sz="2400" b="1" dirty="0" smtClean="0">
                <a:solidFill>
                  <a:srgbClr val="FF0000"/>
                </a:solidFill>
              </a:rPr>
              <a:t>DENEY TÜPÜ VE FALCON TÜP</a:t>
            </a:r>
            <a:r>
              <a:rPr lang="tr-TR" sz="2400" b="1" dirty="0" smtClean="0"/>
              <a:t>: </a:t>
            </a:r>
            <a:r>
              <a:rPr lang="tr-TR" sz="2400" b="1" dirty="0"/>
              <a:t>Numune saklama ve ekim işlemlerinde kullanılır.</a:t>
            </a:r>
          </a:p>
          <a:p>
            <a:r>
              <a:rPr lang="tr-TR" sz="2400" b="1" dirty="0" smtClean="0">
                <a:solidFill>
                  <a:srgbClr val="FF0000"/>
                </a:solidFill>
              </a:rPr>
              <a:t>PİPET VE MEZÜR: </a:t>
            </a:r>
            <a:r>
              <a:rPr lang="tr-TR" sz="2400" b="1" dirty="0" smtClean="0"/>
              <a:t>Sıvıların </a:t>
            </a:r>
            <a:r>
              <a:rPr lang="tr-TR" sz="2400" b="1" dirty="0"/>
              <a:t>hacim ölçümü ve aktarımı için kullanılır.</a:t>
            </a:r>
          </a:p>
          <a:p>
            <a:r>
              <a:rPr lang="tr-TR" sz="2400" b="1" dirty="0" smtClean="0">
                <a:solidFill>
                  <a:srgbClr val="FF0000"/>
                </a:solidFill>
              </a:rPr>
              <a:t>ETANOL / BUNSEN BRÜLÖRÜ: </a:t>
            </a:r>
            <a:r>
              <a:rPr lang="tr-TR" sz="2400" b="1" dirty="0" smtClean="0"/>
              <a:t>Çalışma </a:t>
            </a:r>
            <a:r>
              <a:rPr lang="tr-TR" sz="2400" b="1" dirty="0"/>
              <a:t>alanını ve öze alevle sterilize eder</a:t>
            </a:r>
          </a:p>
          <a:p>
            <a:pPr>
              <a:buNone/>
            </a:pPr>
            <a:endParaRPr lang="tr-TR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ijen\Desktop\images (1)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41082" y="188640"/>
            <a:ext cx="3168352" cy="3168352"/>
          </a:xfrm>
          <a:prstGeom prst="rect">
            <a:avLst/>
          </a:prstGeom>
          <a:noFill/>
        </p:spPr>
      </p:pic>
      <p:pic>
        <p:nvPicPr>
          <p:cNvPr id="3075" name="Picture 3" descr="C:\Users\tijen\Desktop\images (2).jf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60648"/>
            <a:ext cx="4686300" cy="3867150"/>
          </a:xfrm>
          <a:prstGeom prst="rect">
            <a:avLst/>
          </a:prstGeom>
          <a:noFill/>
        </p:spPr>
      </p:pic>
      <p:pic>
        <p:nvPicPr>
          <p:cNvPr id="3076" name="Picture 4" descr="C:\Users\tijen\Desktop\images (3).jf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1920" y="3212976"/>
            <a:ext cx="3952875" cy="32853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tijen\Desktop\images (4)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548680"/>
            <a:ext cx="6336703" cy="58957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tijen\Desktop\petri-kutusu-cam-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620688"/>
            <a:ext cx="4680520" cy="3200746"/>
          </a:xfrm>
          <a:prstGeom prst="rect">
            <a:avLst/>
          </a:prstGeom>
          <a:noFill/>
        </p:spPr>
      </p:pic>
      <p:pic>
        <p:nvPicPr>
          <p:cNvPr id="5123" name="Picture 3" descr="C:\Users\tijen\Desktop\images (5).jf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628800"/>
            <a:ext cx="3865662" cy="2577108"/>
          </a:xfrm>
          <a:prstGeom prst="rect">
            <a:avLst/>
          </a:prstGeom>
          <a:noFill/>
        </p:spPr>
      </p:pic>
      <p:pic>
        <p:nvPicPr>
          <p:cNvPr id="5124" name="Picture 4" descr="C:\Users\tijen\Desktop\PETRI-KABI-90-MM-GAMA-STERIL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3848" y="3501008"/>
            <a:ext cx="3024336" cy="2592288"/>
          </a:xfrm>
          <a:prstGeom prst="rect">
            <a:avLst/>
          </a:prstGeom>
          <a:noFill/>
        </p:spPr>
      </p:pic>
      <p:sp>
        <p:nvSpPr>
          <p:cNvPr id="5" name="4 Dikdörtgen"/>
          <p:cNvSpPr/>
          <p:nvPr/>
        </p:nvSpPr>
        <p:spPr>
          <a:xfrm>
            <a:off x="395537" y="476672"/>
            <a:ext cx="21602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 smtClean="0">
                <a:solidFill>
                  <a:srgbClr val="FF0000"/>
                </a:solidFill>
              </a:rPr>
              <a:t> PETRİ </a:t>
            </a:r>
            <a:r>
              <a:rPr lang="tr-TR" sz="2400" b="1" dirty="0" smtClean="0">
                <a:solidFill>
                  <a:srgbClr val="FF0000"/>
                </a:solidFill>
              </a:rPr>
              <a:t>KUTUSU</a:t>
            </a:r>
            <a:endParaRPr lang="tr-TR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5810" y="332656"/>
            <a:ext cx="5920658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 descr="C:\Users\tijen\Desktop\images (6).jf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3140968"/>
            <a:ext cx="3024336" cy="3024336"/>
          </a:xfrm>
          <a:prstGeom prst="rect">
            <a:avLst/>
          </a:prstGeom>
          <a:noFill/>
        </p:spPr>
      </p:pic>
      <p:pic>
        <p:nvPicPr>
          <p:cNvPr id="2052" name="Picture 4" descr="C:\Users\tijen\Desktop\images (7).jf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2924944"/>
            <a:ext cx="3438525" cy="3438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C:\Users\tijen\Desktop\etüv kalibrasyonu-3fc08084afa14154885fb90ff628c57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908720"/>
            <a:ext cx="4762500" cy="4762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ETÜV NEDİR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Etüv, </a:t>
            </a:r>
            <a:r>
              <a:rPr lang="tr-TR" b="1" dirty="0" err="1" smtClean="0"/>
              <a:t>laboratuvar</a:t>
            </a:r>
            <a:r>
              <a:rPr lang="tr-TR" b="1" dirty="0" smtClean="0"/>
              <a:t> ve tıp alanlarında kullanılan, nesneleri </a:t>
            </a:r>
            <a:r>
              <a:rPr lang="tr-TR" b="1" dirty="0"/>
              <a:t>kurutma, ısıtma, sterilize etme ve bakteri çoğaltma</a:t>
            </a:r>
            <a:r>
              <a:rPr lang="tr-TR" b="1" dirty="0" smtClean="0"/>
              <a:t> işlemlerini yapan sıcaklık kontrollü bir fırındır </a:t>
            </a:r>
          </a:p>
          <a:p>
            <a:r>
              <a:rPr lang="tr-TR" b="1" dirty="0" smtClean="0"/>
              <a:t>Genellikle 50°C ile 250-300°C arasında değişen sıcaklıklarda çalışır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Etüv ve </a:t>
            </a:r>
            <a:r>
              <a:rPr lang="tr-TR" b="1" dirty="0" err="1" smtClean="0">
                <a:solidFill>
                  <a:srgbClr val="FF0000"/>
                </a:solidFill>
              </a:rPr>
              <a:t>inkübatör</a:t>
            </a:r>
            <a:r>
              <a:rPr lang="tr-TR" b="1" dirty="0" smtClean="0">
                <a:solidFill>
                  <a:srgbClr val="FF0000"/>
                </a:solidFill>
              </a:rPr>
              <a:t>: </a:t>
            </a:r>
            <a:r>
              <a:rPr lang="tr-TR" b="1" dirty="0" smtClean="0"/>
              <a:t>Her iki alet de kuru ısı sterilizasyonunda tercih edilir.</a:t>
            </a:r>
          </a:p>
          <a:p>
            <a:pPr>
              <a:buNone/>
            </a:pPr>
            <a:endParaRPr lang="tr-TR" b="1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etin Yer Tutucusu"/>
          <p:cNvSpPr>
            <a:spLocks noGrp="1"/>
          </p:cNvSpPr>
          <p:nvPr>
            <p:ph type="body" idx="1"/>
          </p:nvPr>
        </p:nvSpPr>
        <p:spPr>
          <a:xfrm>
            <a:off x="457200" y="260648"/>
            <a:ext cx="4040188" cy="720079"/>
          </a:xfrm>
        </p:spPr>
        <p:txBody>
          <a:bodyPr>
            <a:normAutofit/>
          </a:bodyPr>
          <a:lstStyle/>
          <a:p>
            <a:pPr algn="ctr"/>
            <a:r>
              <a:rPr lang="tr-TR" dirty="0">
                <a:solidFill>
                  <a:srgbClr val="FF0000"/>
                </a:solidFill>
              </a:rPr>
              <a:t>ETÜV (KURUTMA FIRINI</a:t>
            </a:r>
            <a:r>
              <a:rPr lang="tr-TR" dirty="0" smtClean="0">
                <a:solidFill>
                  <a:srgbClr val="FF0000"/>
                </a:solidFill>
              </a:rPr>
              <a:t>)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half" idx="2"/>
          </p:nvPr>
        </p:nvSpPr>
        <p:spPr>
          <a:xfrm>
            <a:off x="457200" y="1196752"/>
            <a:ext cx="4040188" cy="4929411"/>
          </a:xfrm>
        </p:spPr>
        <p:txBody>
          <a:bodyPr>
            <a:normAutofit/>
          </a:bodyPr>
          <a:lstStyle/>
          <a:p>
            <a:r>
              <a:rPr lang="tr-TR" b="1" dirty="0" smtClean="0"/>
              <a:t>Genellikle </a:t>
            </a:r>
            <a:r>
              <a:rPr lang="tr-TR" b="1" dirty="0"/>
              <a:t>yüksek sıcaklıklarda (50 °C ile 250-300 °C arası) </a:t>
            </a:r>
            <a:r>
              <a:rPr lang="tr-TR" b="1" dirty="0" smtClean="0"/>
              <a:t>çalışır</a:t>
            </a:r>
            <a:endParaRPr lang="tr-TR" b="1" dirty="0"/>
          </a:p>
          <a:p>
            <a:r>
              <a:rPr lang="tr-TR" b="1" dirty="0"/>
              <a:t>Malzeme kurutma, ısıtma ve kuru hava ile sterilizasyon (cam malzemelerin </a:t>
            </a:r>
            <a:r>
              <a:rPr lang="tr-TR" b="1" dirty="0" smtClean="0"/>
              <a:t>steril edilmesi) </a:t>
            </a:r>
            <a:r>
              <a:rPr lang="tr-TR" b="1" dirty="0"/>
              <a:t>gibi işlemler için </a:t>
            </a:r>
            <a:r>
              <a:rPr lang="tr-TR" b="1" dirty="0" smtClean="0"/>
              <a:t>kullanılır</a:t>
            </a:r>
            <a:endParaRPr lang="tr-TR" b="1" dirty="0"/>
          </a:p>
          <a:p>
            <a:endParaRPr lang="tr-TR" b="1" dirty="0"/>
          </a:p>
        </p:txBody>
      </p:sp>
      <p:sp>
        <p:nvSpPr>
          <p:cNvPr id="6" name="5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404665"/>
            <a:ext cx="4041775" cy="72008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tr-TR" dirty="0" smtClean="0">
                <a:solidFill>
                  <a:srgbClr val="FF0000"/>
                </a:solidFill>
              </a:rPr>
              <a:t>İNKÜBATÖR</a:t>
            </a:r>
          </a:p>
          <a:p>
            <a:pPr algn="ctr"/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>
                <a:solidFill>
                  <a:srgbClr val="FF0000"/>
                </a:solidFill>
              </a:rPr>
              <a:t>(BAKTERİYOLOJİK ETÜV</a:t>
            </a:r>
            <a:r>
              <a:rPr lang="tr-TR" dirty="0" smtClean="0">
                <a:solidFill>
                  <a:srgbClr val="FF0000"/>
                </a:solidFill>
              </a:rPr>
              <a:t>)</a:t>
            </a:r>
            <a:endParaRPr lang="tr-TR" dirty="0"/>
          </a:p>
        </p:txBody>
      </p:sp>
      <p:sp>
        <p:nvSpPr>
          <p:cNvPr id="7" name="6 İçerik Yer Tutucusu"/>
          <p:cNvSpPr>
            <a:spLocks noGrp="1"/>
          </p:cNvSpPr>
          <p:nvPr>
            <p:ph sz="quarter" idx="4"/>
          </p:nvPr>
        </p:nvSpPr>
        <p:spPr>
          <a:xfrm>
            <a:off x="4645025" y="1124744"/>
            <a:ext cx="4041775" cy="5001419"/>
          </a:xfrm>
        </p:spPr>
        <p:txBody>
          <a:bodyPr>
            <a:normAutofit/>
          </a:bodyPr>
          <a:lstStyle/>
          <a:p>
            <a:r>
              <a:rPr lang="tr-TR" b="1" dirty="0" smtClean="0"/>
              <a:t>Daha düşük ve hassas sıcaklıklarda (genellikle 30 °C ile 40 °C arası, oda sıcaklığının biraz üstü) çalışır</a:t>
            </a:r>
          </a:p>
          <a:p>
            <a:r>
              <a:rPr lang="tr-TR" b="1" dirty="0" smtClean="0"/>
              <a:t>Canlı hücreleri öldürmek yerine, bakteri, maya veya hücre kültürlerinin güvenle büyümesi ve çoğalması (kuluçka/</a:t>
            </a:r>
            <a:r>
              <a:rPr lang="tr-TR" b="1" dirty="0" err="1" smtClean="0"/>
              <a:t>inkübasyon</a:t>
            </a:r>
            <a:r>
              <a:rPr lang="tr-TR" b="1" dirty="0" smtClean="0"/>
              <a:t>) için uygun ortamı sağlar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Users\tijen\Desktop\images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60648"/>
            <a:ext cx="6768752" cy="59426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tijen\Desktop\images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052736"/>
            <a:ext cx="7608565" cy="42706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tijen\Desktop\images (1)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60648"/>
            <a:ext cx="6427068" cy="60486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tijen\Desktop\Microbiology-La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666750"/>
            <a:ext cx="8382000" cy="5524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tijen\Desktop\tekno-istanbul-an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3" y="404664"/>
            <a:ext cx="8208912" cy="56886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tijen\Desktop\images (2)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61866" y="332657"/>
            <a:ext cx="4081129" cy="2880320"/>
          </a:xfrm>
          <a:prstGeom prst="rect">
            <a:avLst/>
          </a:prstGeom>
          <a:noFill/>
        </p:spPr>
      </p:pic>
      <p:pic>
        <p:nvPicPr>
          <p:cNvPr id="10243" name="Picture 3" descr="C:\Users\tijen\Desktop\images (3).jf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76672"/>
            <a:ext cx="38100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tijen\Desktop\images (2)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1675" y="980728"/>
            <a:ext cx="5200650" cy="45365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tijen\Desktop\images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7946" y="260648"/>
            <a:ext cx="4410490" cy="3528392"/>
          </a:xfrm>
          <a:prstGeom prst="rect">
            <a:avLst/>
          </a:prstGeom>
          <a:noFill/>
        </p:spPr>
      </p:pic>
      <p:pic>
        <p:nvPicPr>
          <p:cNvPr id="12291" name="Picture 3" descr="C:\Users\tijen\Desktop\images (1).jf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988840"/>
            <a:ext cx="4095750" cy="4429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C:\Users\tijen\Desktop\images (4)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332656"/>
            <a:ext cx="5112568" cy="61206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435</Words>
  <Application>Microsoft Office PowerPoint</Application>
  <PresentationFormat>Ekran Gösterisi (4:3)</PresentationFormat>
  <Paragraphs>88</Paragraphs>
  <Slides>25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26" baseType="lpstr">
      <vt:lpstr>Ofis Teması</vt:lpstr>
      <vt:lpstr>Slayt 1</vt:lpstr>
      <vt:lpstr>KURALLAR</vt:lpstr>
      <vt:lpstr>KURALLAR</vt:lpstr>
      <vt:lpstr>KURALLAR</vt:lpstr>
      <vt:lpstr> MİKROBİYOLOJİ LABORATUARLARINDA SIKLIKLA KULLANILAN ARAÇ VE GEREÇLER  </vt:lpstr>
      <vt:lpstr> MİKROBİYOLOJİ LABORATUARLARINDA SIKLIKLA KULLANILAN ARAÇ VE GEREÇLER  </vt:lpstr>
      <vt:lpstr>Slayt 7</vt:lpstr>
      <vt:lpstr>Slayt 8</vt:lpstr>
      <vt:lpstr> </vt:lpstr>
      <vt:lpstr>Slayt 10</vt:lpstr>
      <vt:lpstr>Slayt 11</vt:lpstr>
      <vt:lpstr>Slayt 12</vt:lpstr>
      <vt:lpstr>Slayt 13</vt:lpstr>
      <vt:lpstr>Slayt 14</vt:lpstr>
      <vt:lpstr>ETÜV NEDİR</vt:lpstr>
      <vt:lpstr>Slayt 16</vt:lpstr>
      <vt:lpstr>Slayt 17</vt:lpstr>
      <vt:lpstr>Slayt 18</vt:lpstr>
      <vt:lpstr>Slayt 19</vt:lpstr>
      <vt:lpstr>Slayt 20</vt:lpstr>
      <vt:lpstr>Slayt 21</vt:lpstr>
      <vt:lpstr>Slayt 22</vt:lpstr>
      <vt:lpstr>Slayt 23</vt:lpstr>
      <vt:lpstr>Slayt 24</vt:lpstr>
      <vt:lpstr>Slayt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tijen</dc:creator>
  <cp:lastModifiedBy>tijen</cp:lastModifiedBy>
  <cp:revision>17</cp:revision>
  <dcterms:created xsi:type="dcterms:W3CDTF">2026-08-07T07:24:57Z</dcterms:created>
  <dcterms:modified xsi:type="dcterms:W3CDTF">2026-08-19T07:58:09Z</dcterms:modified>
</cp:coreProperties>
</file>