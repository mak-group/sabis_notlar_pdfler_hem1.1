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4"/>
  </p:notesMasterIdLst>
  <p:sldIdLst>
    <p:sldId id="258" r:id="rId2"/>
    <p:sldId id="259" r:id="rId3"/>
    <p:sldId id="406" r:id="rId4"/>
    <p:sldId id="419" r:id="rId5"/>
    <p:sldId id="261" r:id="rId6"/>
    <p:sldId id="420" r:id="rId7"/>
    <p:sldId id="414" r:id="rId8"/>
    <p:sldId id="262" r:id="rId9"/>
    <p:sldId id="407" r:id="rId10"/>
    <p:sldId id="409" r:id="rId11"/>
    <p:sldId id="410" r:id="rId12"/>
    <p:sldId id="263" r:id="rId13"/>
    <p:sldId id="264" r:id="rId14"/>
    <p:sldId id="416" r:id="rId15"/>
    <p:sldId id="418" r:id="rId16"/>
    <p:sldId id="411" r:id="rId17"/>
    <p:sldId id="412" r:id="rId18"/>
    <p:sldId id="413" r:id="rId19"/>
    <p:sldId id="265" r:id="rId20"/>
    <p:sldId id="423" r:id="rId21"/>
    <p:sldId id="421" r:id="rId22"/>
    <p:sldId id="422" r:id="rId23"/>
    <p:sldId id="266" r:id="rId24"/>
    <p:sldId id="267" r:id="rId25"/>
    <p:sldId id="268" r:id="rId26"/>
    <p:sldId id="269" r:id="rId27"/>
    <p:sldId id="270" r:id="rId28"/>
    <p:sldId id="271" r:id="rId29"/>
    <p:sldId id="272" r:id="rId30"/>
    <p:sldId id="424" r:id="rId31"/>
    <p:sldId id="431" r:id="rId32"/>
    <p:sldId id="448" r:id="rId33"/>
    <p:sldId id="430" r:id="rId34"/>
    <p:sldId id="273" r:id="rId35"/>
    <p:sldId id="450" r:id="rId36"/>
    <p:sldId id="449" r:id="rId37"/>
    <p:sldId id="275" r:id="rId38"/>
    <p:sldId id="276" r:id="rId39"/>
    <p:sldId id="277" r:id="rId40"/>
    <p:sldId id="451" r:id="rId41"/>
    <p:sldId id="452" r:id="rId42"/>
    <p:sldId id="278" r:id="rId43"/>
    <p:sldId id="432" r:id="rId44"/>
    <p:sldId id="434" r:id="rId45"/>
    <p:sldId id="435" r:id="rId46"/>
    <p:sldId id="280" r:id="rId47"/>
    <p:sldId id="281" r:id="rId48"/>
    <p:sldId id="437" r:id="rId49"/>
    <p:sldId id="282" r:id="rId50"/>
    <p:sldId id="284" r:id="rId51"/>
    <p:sldId id="285" r:id="rId52"/>
    <p:sldId id="286" r:id="rId53"/>
    <p:sldId id="438" r:id="rId54"/>
    <p:sldId id="441" r:id="rId55"/>
    <p:sldId id="287" r:id="rId56"/>
    <p:sldId id="288" r:id="rId57"/>
    <p:sldId id="289" r:id="rId58"/>
    <p:sldId id="290" r:id="rId59"/>
    <p:sldId id="291" r:id="rId60"/>
    <p:sldId id="292" r:id="rId61"/>
    <p:sldId id="296" r:id="rId62"/>
    <p:sldId id="297" r:id="rId63"/>
    <p:sldId id="427" r:id="rId64"/>
    <p:sldId id="428" r:id="rId65"/>
    <p:sldId id="445" r:id="rId66"/>
    <p:sldId id="429" r:id="rId67"/>
    <p:sldId id="447" r:id="rId68"/>
    <p:sldId id="464" r:id="rId69"/>
    <p:sldId id="299" r:id="rId70"/>
    <p:sldId id="301" r:id="rId71"/>
    <p:sldId id="302" r:id="rId72"/>
    <p:sldId id="303" r:id="rId73"/>
    <p:sldId id="304" r:id="rId74"/>
    <p:sldId id="305" r:id="rId75"/>
    <p:sldId id="306" r:id="rId76"/>
    <p:sldId id="307" r:id="rId77"/>
    <p:sldId id="308" r:id="rId78"/>
    <p:sldId id="310" r:id="rId79"/>
    <p:sldId id="311" r:id="rId80"/>
    <p:sldId id="312" r:id="rId81"/>
    <p:sldId id="313" r:id="rId82"/>
    <p:sldId id="314" r:id="rId83"/>
    <p:sldId id="454" r:id="rId84"/>
    <p:sldId id="315" r:id="rId85"/>
    <p:sldId id="317" r:id="rId86"/>
    <p:sldId id="319" r:id="rId87"/>
    <p:sldId id="320" r:id="rId88"/>
    <p:sldId id="321" r:id="rId89"/>
    <p:sldId id="322" r:id="rId90"/>
    <p:sldId id="323" r:id="rId91"/>
    <p:sldId id="324" r:id="rId92"/>
    <p:sldId id="327" r:id="rId93"/>
    <p:sldId id="328" r:id="rId94"/>
    <p:sldId id="330" r:id="rId95"/>
    <p:sldId id="331" r:id="rId96"/>
    <p:sldId id="455" r:id="rId97"/>
    <p:sldId id="332" r:id="rId98"/>
    <p:sldId id="333" r:id="rId99"/>
    <p:sldId id="335" r:id="rId100"/>
    <p:sldId id="456" r:id="rId101"/>
    <p:sldId id="336" r:id="rId102"/>
    <p:sldId id="337" r:id="rId103"/>
    <p:sldId id="339" r:id="rId104"/>
    <p:sldId id="457" r:id="rId105"/>
    <p:sldId id="458" r:id="rId106"/>
    <p:sldId id="459" r:id="rId107"/>
    <p:sldId id="460" r:id="rId108"/>
    <p:sldId id="340" r:id="rId109"/>
    <p:sldId id="341" r:id="rId110"/>
    <p:sldId id="342" r:id="rId111"/>
    <p:sldId id="343" r:id="rId112"/>
    <p:sldId id="344" r:id="rId113"/>
    <p:sldId id="345" r:id="rId114"/>
    <p:sldId id="346" r:id="rId115"/>
    <p:sldId id="347" r:id="rId116"/>
    <p:sldId id="348" r:id="rId117"/>
    <p:sldId id="504" r:id="rId118"/>
    <p:sldId id="505" r:id="rId119"/>
    <p:sldId id="470" r:id="rId120"/>
    <p:sldId id="506" r:id="rId121"/>
    <p:sldId id="517" r:id="rId122"/>
    <p:sldId id="522" r:id="rId123"/>
    <p:sldId id="507" r:id="rId124"/>
    <p:sldId id="509" r:id="rId125"/>
    <p:sldId id="511" r:id="rId126"/>
    <p:sldId id="518" r:id="rId127"/>
    <p:sldId id="471" r:id="rId128"/>
    <p:sldId id="472" r:id="rId129"/>
    <p:sldId id="476" r:id="rId130"/>
    <p:sldId id="480" r:id="rId131"/>
    <p:sldId id="481" r:id="rId132"/>
    <p:sldId id="482" r:id="rId133"/>
    <p:sldId id="484" r:id="rId134"/>
    <p:sldId id="485" r:id="rId135"/>
    <p:sldId id="486" r:id="rId136"/>
    <p:sldId id="489" r:id="rId137"/>
    <p:sldId id="492" r:id="rId138"/>
    <p:sldId id="520" r:id="rId139"/>
    <p:sldId id="493" r:id="rId140"/>
    <p:sldId id="495" r:id="rId141"/>
    <p:sldId id="496" r:id="rId142"/>
    <p:sldId id="497" r:id="rId143"/>
    <p:sldId id="498" r:id="rId144"/>
    <p:sldId id="499" r:id="rId145"/>
    <p:sldId id="500" r:id="rId146"/>
    <p:sldId id="502" r:id="rId147"/>
    <p:sldId id="370" r:id="rId148"/>
    <p:sldId id="371" r:id="rId149"/>
    <p:sldId id="372" r:id="rId150"/>
    <p:sldId id="373" r:id="rId151"/>
    <p:sldId id="374" r:id="rId152"/>
    <p:sldId id="375" r:id="rId153"/>
    <p:sldId id="376" r:id="rId154"/>
    <p:sldId id="377" r:id="rId155"/>
    <p:sldId id="384" r:id="rId156"/>
    <p:sldId id="385" r:id="rId157"/>
    <p:sldId id="386" r:id="rId158"/>
    <p:sldId id="387" r:id="rId159"/>
    <p:sldId id="388" r:id="rId160"/>
    <p:sldId id="391" r:id="rId161"/>
    <p:sldId id="393" r:id="rId162"/>
    <p:sldId id="394" r:id="rId163"/>
    <p:sldId id="395" r:id="rId164"/>
    <p:sldId id="523" r:id="rId165"/>
    <p:sldId id="397" r:id="rId166"/>
    <p:sldId id="398" r:id="rId167"/>
    <p:sldId id="399" r:id="rId168"/>
    <p:sldId id="400" r:id="rId169"/>
    <p:sldId id="401" r:id="rId170"/>
    <p:sldId id="402" r:id="rId171"/>
    <p:sldId id="524" r:id="rId172"/>
    <p:sldId id="405" r:id="rId17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3399"/>
    <a:srgbClr val="66CCFF"/>
    <a:srgbClr val="3333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presProps" Target="presProps.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379B2A-6F68-458B-824E-B48C0A9301AA}" type="datetimeFigureOut">
              <a:rPr lang="tr-TR" smtClean="0"/>
              <a:pPr/>
              <a:t>16.12.2025</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35AE06-A843-4AC2-A25C-22C1FF297FED}"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2DA6469F-D85F-4C2B-A004-5E5887701298}" type="slidenum">
              <a:rPr lang="tr-TR" smtClean="0"/>
              <a:pPr/>
              <a:t>89</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E2E2B404-4E93-4DF0-B1CE-2C239A00DD07}" type="datetimeFigureOut">
              <a:rPr lang="tr-TR" smtClean="0"/>
              <a:pPr/>
              <a:t>16.12.2025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78BAAD40-F175-4155-8AE7-23DBC63ECB67}"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2B404-4E93-4DF0-B1CE-2C239A00DD07}" type="datetimeFigureOut">
              <a:rPr lang="tr-TR" smtClean="0"/>
              <a:pPr/>
              <a:t>16.12.2025</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BAAD40-F175-4155-8AE7-23DBC63ECB67}"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7.xml"/><Relationship Id="rId5" Type="http://schemas.openxmlformats.org/officeDocument/2006/relationships/image" Target="../media/image43.jpeg"/><Relationship Id="rId4" Type="http://schemas.openxmlformats.org/officeDocument/2006/relationships/image" Target="../media/image42.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 Id="rId5" Type="http://schemas.openxmlformats.org/officeDocument/2006/relationships/image" Target="../media/image55.jpeg"/><Relationship Id="rId4" Type="http://schemas.openxmlformats.org/officeDocument/2006/relationships/image" Target="../media/image54.jpe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7.xml"/><Relationship Id="rId4" Type="http://schemas.openxmlformats.org/officeDocument/2006/relationships/image" Target="../media/image58.jpeg"/></Relationships>
</file>

<file path=ppt/slides/_rels/slide9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77.jpeg"/></Relationships>
</file>

<file path=ppt/slides/_rels/slide11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7.xml"/><Relationship Id="rId4" Type="http://schemas.openxmlformats.org/officeDocument/2006/relationships/image" Target="../media/image80.jpe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gif"/><Relationship Id="rId1" Type="http://schemas.openxmlformats.org/officeDocument/2006/relationships/slideLayout" Target="../slideLayouts/slideLayout7.xml"/><Relationship Id="rId4" Type="http://schemas.openxmlformats.org/officeDocument/2006/relationships/image" Target="../media/image83.jpeg"/></Relationships>
</file>

<file path=ppt/slides/_rels/slide12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7.xml"/><Relationship Id="rId4" Type="http://schemas.openxmlformats.org/officeDocument/2006/relationships/image" Target="../media/image89.jpeg"/></Relationships>
</file>

<file path=ppt/slides/_rels/slide13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13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7.xml"/><Relationship Id="rId4" Type="http://schemas.openxmlformats.org/officeDocument/2006/relationships/image" Target="../media/image101.jpeg"/></Relationships>
</file>

<file path=ppt/slides/_rels/slide13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hyperlink" Target="https://docplayer.biz.tr/6426364-Sporotrikoz-dr-rabin-saba.html" TargetMode="Externa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slideLayout" Target="../slideLayouts/slideLayout7.xml"/><Relationship Id="rId4" Type="http://schemas.openxmlformats.org/officeDocument/2006/relationships/image" Target="../media/image109.jpe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jpeg"/><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16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jpe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defRPr/>
            </a:pPr>
            <a:r>
              <a:rPr lang="tr-TR" b="1" i="1" dirty="0" smtClean="0">
                <a:solidFill>
                  <a:srgbClr val="FF0000"/>
                </a:solidFill>
              </a:rPr>
              <a:t>MANTAR İNFEKSİYONLARI İÇİN HAZIRLAYICI FAKTÖRLER</a:t>
            </a:r>
            <a:endParaRPr lang="tr-TR" b="1" dirty="0" smtClean="0">
              <a:solidFill>
                <a:srgbClr val="FF0000"/>
              </a:solidFill>
            </a:endParaRPr>
          </a:p>
        </p:txBody>
      </p:sp>
      <p:sp>
        <p:nvSpPr>
          <p:cNvPr id="4099" name="Rectangle 3"/>
          <p:cNvSpPr>
            <a:spLocks noGrp="1" noChangeArrowheads="1"/>
          </p:cNvSpPr>
          <p:nvPr>
            <p:ph type="body" sz="half" idx="1"/>
          </p:nvPr>
        </p:nvSpPr>
        <p:spPr>
          <a:xfrm>
            <a:off x="457200" y="1773238"/>
            <a:ext cx="4038600" cy="4679950"/>
          </a:xfrm>
        </p:spPr>
        <p:txBody>
          <a:bodyPr>
            <a:normAutofit/>
          </a:bodyPr>
          <a:lstStyle/>
          <a:p>
            <a:pPr eaLnBrk="1" hangingPunct="1">
              <a:defRPr/>
            </a:pPr>
            <a:r>
              <a:rPr lang="tr-TR" sz="2600" b="1" i="1" dirty="0" smtClean="0"/>
              <a:t>Bazı mantarlar  insan vücudunun normal florasında bulunur</a:t>
            </a:r>
          </a:p>
          <a:p>
            <a:pPr eaLnBrk="1" hangingPunct="1">
              <a:defRPr/>
            </a:pPr>
            <a:r>
              <a:rPr lang="tr-TR" sz="2600" b="1" i="1" dirty="0" smtClean="0"/>
              <a:t>Vücut direnci kırılmış kişilerde florada bulunan mantarlar hastalık oluşturabilir</a:t>
            </a:r>
          </a:p>
          <a:p>
            <a:pPr eaLnBrk="1" hangingPunct="1">
              <a:defRPr/>
            </a:pPr>
            <a:r>
              <a:rPr lang="tr-TR" sz="2600" b="1" i="1" dirty="0" smtClean="0"/>
              <a:t>Mantarların oluşturduğu hastalıklara genel olarak </a:t>
            </a:r>
            <a:r>
              <a:rPr lang="tr-TR" sz="2600" b="1" i="1" dirty="0" smtClean="0">
                <a:solidFill>
                  <a:srgbClr val="FF0000"/>
                </a:solidFill>
              </a:rPr>
              <a:t>mikoz </a:t>
            </a:r>
            <a:r>
              <a:rPr lang="tr-TR" sz="2600" b="1" i="1" dirty="0" smtClean="0"/>
              <a:t>denilmektedir</a:t>
            </a:r>
          </a:p>
        </p:txBody>
      </p:sp>
      <p:sp>
        <p:nvSpPr>
          <p:cNvPr id="4100" name="Rectangle 4"/>
          <p:cNvSpPr>
            <a:spLocks noGrp="1" noChangeArrowheads="1"/>
          </p:cNvSpPr>
          <p:nvPr>
            <p:ph type="body" sz="half" idx="2"/>
          </p:nvPr>
        </p:nvSpPr>
        <p:spPr>
          <a:xfrm>
            <a:off x="4648200" y="1700213"/>
            <a:ext cx="4038600" cy="4824412"/>
          </a:xfrm>
        </p:spPr>
        <p:txBody>
          <a:bodyPr/>
          <a:lstStyle/>
          <a:p>
            <a:pPr lvl="1" eaLnBrk="1" hangingPunct="1">
              <a:defRPr/>
            </a:pPr>
            <a:r>
              <a:rPr lang="tr-TR" b="1" i="1" dirty="0" smtClean="0"/>
              <a:t>Cerrahi işlemler</a:t>
            </a:r>
          </a:p>
          <a:p>
            <a:pPr lvl="1" eaLnBrk="1" hangingPunct="1">
              <a:defRPr/>
            </a:pPr>
            <a:r>
              <a:rPr lang="tr-TR" b="1" i="1" dirty="0" err="1" smtClean="0"/>
              <a:t>İntravenöz</a:t>
            </a:r>
            <a:r>
              <a:rPr lang="tr-TR" b="1" i="1" dirty="0" smtClean="0"/>
              <a:t> girişimler</a:t>
            </a:r>
          </a:p>
          <a:p>
            <a:pPr lvl="1" eaLnBrk="1" hangingPunct="1">
              <a:defRPr/>
            </a:pPr>
            <a:r>
              <a:rPr lang="tr-TR" b="1" i="1" dirty="0" smtClean="0"/>
              <a:t>Total </a:t>
            </a:r>
            <a:r>
              <a:rPr lang="tr-TR" b="1" i="1" dirty="0" err="1" smtClean="0"/>
              <a:t>parenteral</a:t>
            </a:r>
            <a:r>
              <a:rPr lang="tr-TR" b="1" i="1" dirty="0" smtClean="0"/>
              <a:t> beslenme</a:t>
            </a:r>
          </a:p>
          <a:p>
            <a:pPr lvl="1" eaLnBrk="1" hangingPunct="1">
              <a:defRPr/>
            </a:pPr>
            <a:r>
              <a:rPr lang="tr-TR" b="1" i="1" dirty="0" smtClean="0"/>
              <a:t>Antibiyotik tedavisi</a:t>
            </a:r>
          </a:p>
          <a:p>
            <a:pPr lvl="1" eaLnBrk="1" hangingPunct="1">
              <a:defRPr/>
            </a:pPr>
            <a:r>
              <a:rPr lang="tr-TR" b="1" i="1" dirty="0" err="1" smtClean="0"/>
              <a:t>Nötropeni</a:t>
            </a:r>
            <a:endParaRPr lang="tr-TR" b="1" i="1" dirty="0" smtClean="0"/>
          </a:p>
          <a:p>
            <a:pPr lvl="1" eaLnBrk="1" hangingPunct="1">
              <a:defRPr/>
            </a:pPr>
            <a:r>
              <a:rPr lang="tr-TR" b="1" i="1" dirty="0" smtClean="0"/>
              <a:t>Hematolojik </a:t>
            </a:r>
            <a:r>
              <a:rPr lang="tr-TR" b="1" i="1" dirty="0" err="1" smtClean="0"/>
              <a:t>malignite</a:t>
            </a:r>
            <a:endParaRPr lang="tr-TR" b="1" i="1" dirty="0" smtClean="0"/>
          </a:p>
          <a:p>
            <a:pPr lvl="1" eaLnBrk="1" hangingPunct="1">
              <a:defRPr/>
            </a:pPr>
            <a:r>
              <a:rPr lang="tr-TR" b="1" i="1" dirty="0" err="1" smtClean="0"/>
              <a:t>Sitotoksik</a:t>
            </a:r>
            <a:r>
              <a:rPr lang="tr-TR" b="1" i="1" dirty="0" smtClean="0"/>
              <a:t> tedavi</a:t>
            </a:r>
          </a:p>
          <a:p>
            <a:pPr lvl="1" eaLnBrk="1" hangingPunct="1">
              <a:defRPr/>
            </a:pPr>
            <a:r>
              <a:rPr lang="tr-TR" b="1" i="1" dirty="0" err="1" smtClean="0"/>
              <a:t>Kortikosteroidler</a:t>
            </a:r>
            <a:endParaRPr lang="tr-TR" b="1" i="1" dirty="0" smtClean="0"/>
          </a:p>
          <a:p>
            <a:pPr lvl="1" eaLnBrk="1" hangingPunct="1">
              <a:defRPr/>
            </a:pPr>
            <a:r>
              <a:rPr lang="tr-TR" b="1" i="1" dirty="0" smtClean="0"/>
              <a:t>AIDS</a:t>
            </a:r>
            <a:endParaRPr lang="tr-TR" sz="2000" b="1" i="1"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MANTAR HASTALIKLARI</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solidFill>
                  <a:srgbClr val="333399"/>
                </a:solidFill>
              </a:rPr>
              <a:t>İnsanlar</a:t>
            </a:r>
          </a:p>
          <a:p>
            <a:r>
              <a:rPr lang="tr-TR" b="1" dirty="0" smtClean="0">
                <a:solidFill>
                  <a:srgbClr val="333399"/>
                </a:solidFill>
              </a:rPr>
              <a:t>Hayvanlar</a:t>
            </a:r>
          </a:p>
          <a:p>
            <a:r>
              <a:rPr lang="tr-TR" b="1" dirty="0" smtClean="0">
                <a:solidFill>
                  <a:srgbClr val="333399"/>
                </a:solidFill>
              </a:rPr>
              <a:t>Bitkiler</a:t>
            </a:r>
          </a:p>
          <a:p>
            <a:pPr lvl="1"/>
            <a:r>
              <a:rPr lang="tr-TR" b="1" dirty="0" smtClean="0">
                <a:solidFill>
                  <a:srgbClr val="333399"/>
                </a:solidFill>
              </a:rPr>
              <a:t>Hastalıklara neden olurlar</a:t>
            </a:r>
            <a:endParaRPr lang="tr-TR" b="1" dirty="0">
              <a:solidFill>
                <a:srgbClr val="33339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MİKOTOKSİN NEDİR</a:t>
            </a:r>
            <a:endParaRPr lang="tr-TR" dirty="0">
              <a:solidFill>
                <a:srgbClr val="FF0000"/>
              </a:solidFill>
            </a:endParaRPr>
          </a:p>
        </p:txBody>
      </p:sp>
      <p:sp>
        <p:nvSpPr>
          <p:cNvPr id="3" name="2 İçerik Yer Tutucusu"/>
          <p:cNvSpPr>
            <a:spLocks noGrp="1"/>
          </p:cNvSpPr>
          <p:nvPr>
            <p:ph idx="1"/>
          </p:nvPr>
        </p:nvSpPr>
        <p:spPr/>
        <p:txBody>
          <a:bodyPr/>
          <a:lstStyle/>
          <a:p>
            <a:r>
              <a:rPr lang="tr-TR" b="1" dirty="0" err="1" smtClean="0">
                <a:solidFill>
                  <a:srgbClr val="333399"/>
                </a:solidFill>
              </a:rPr>
              <a:t>Mikotoksinler</a:t>
            </a:r>
            <a:r>
              <a:rPr lang="tr-TR" b="1" dirty="0" smtClean="0">
                <a:solidFill>
                  <a:srgbClr val="333399"/>
                </a:solidFill>
              </a:rPr>
              <a:t>, </a:t>
            </a:r>
            <a:r>
              <a:rPr lang="tr-TR" b="1" i="1" dirty="0" err="1" smtClean="0">
                <a:solidFill>
                  <a:srgbClr val="333399"/>
                </a:solidFill>
              </a:rPr>
              <a:t>Aspergillus</a:t>
            </a:r>
            <a:r>
              <a:rPr lang="tr-TR" b="1" dirty="0" smtClean="0">
                <a:solidFill>
                  <a:srgbClr val="333399"/>
                </a:solidFill>
              </a:rPr>
              <a:t>, </a:t>
            </a:r>
            <a:r>
              <a:rPr lang="tr-TR" b="1" i="1" dirty="0" err="1" smtClean="0">
                <a:solidFill>
                  <a:srgbClr val="333399"/>
                </a:solidFill>
              </a:rPr>
              <a:t>Penicillium</a:t>
            </a:r>
            <a:r>
              <a:rPr lang="tr-TR" b="1" dirty="0" smtClean="0">
                <a:solidFill>
                  <a:srgbClr val="333399"/>
                </a:solidFill>
              </a:rPr>
              <a:t>,            </a:t>
            </a:r>
            <a:r>
              <a:rPr lang="tr-TR" b="1" i="1" dirty="0" err="1" smtClean="0">
                <a:solidFill>
                  <a:srgbClr val="333399"/>
                </a:solidFill>
              </a:rPr>
              <a:t>Fusarium</a:t>
            </a:r>
            <a:r>
              <a:rPr lang="tr-TR" b="1" dirty="0" smtClean="0">
                <a:solidFill>
                  <a:srgbClr val="333399"/>
                </a:solidFill>
              </a:rPr>
              <a:t> gibi belli küf (</a:t>
            </a:r>
            <a:r>
              <a:rPr lang="tr-TR" b="1" dirty="0" err="1" smtClean="0">
                <a:solidFill>
                  <a:srgbClr val="333399"/>
                </a:solidFill>
              </a:rPr>
              <a:t>fungus</a:t>
            </a:r>
            <a:r>
              <a:rPr lang="tr-TR" b="1" dirty="0" smtClean="0">
                <a:solidFill>
                  <a:srgbClr val="333399"/>
                </a:solidFill>
              </a:rPr>
              <a:t>) cinslerinin doğal olarak ürettiği </a:t>
            </a:r>
            <a:r>
              <a:rPr lang="tr-TR" b="1" dirty="0" err="1" smtClean="0">
                <a:solidFill>
                  <a:srgbClr val="333399"/>
                </a:solidFill>
              </a:rPr>
              <a:t>toksik</a:t>
            </a:r>
            <a:r>
              <a:rPr lang="tr-TR" b="1" dirty="0" smtClean="0">
                <a:solidFill>
                  <a:srgbClr val="333399"/>
                </a:solidFill>
              </a:rPr>
              <a:t> (zehirli) </a:t>
            </a:r>
            <a:r>
              <a:rPr lang="tr-TR" b="1" dirty="0" err="1" smtClean="0">
                <a:solidFill>
                  <a:srgbClr val="333399"/>
                </a:solidFill>
              </a:rPr>
              <a:t>metabolitler</a:t>
            </a:r>
            <a:r>
              <a:rPr lang="tr-TR" b="1" dirty="0" smtClean="0">
                <a:solidFill>
                  <a:srgbClr val="333399"/>
                </a:solidFill>
              </a:rPr>
              <a:t> olup</a:t>
            </a:r>
            <a:r>
              <a:rPr lang="tr-TR" b="1" dirty="0" smtClean="0"/>
              <a:t>; tahıl ve tahıl ürünleri, yağlı tohumlar, kuru meyveler, sert kabuklu meyveler, baharatlar, meyveler ve yem maddelerine bulaşabilmektedir</a:t>
            </a:r>
          </a:p>
          <a:p>
            <a:r>
              <a:rPr lang="tr-TR" b="1" dirty="0" smtClean="0">
                <a:solidFill>
                  <a:srgbClr val="7030A0"/>
                </a:solidFill>
              </a:rPr>
              <a:t>HAYVAN  YEMLERİ   ÖNEMLİ…</a:t>
            </a:r>
          </a:p>
          <a:p>
            <a:pPr>
              <a:buNone/>
            </a:pPr>
            <a:endParaRPr lang="tr-T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548680"/>
            <a:ext cx="8496944" cy="5577483"/>
          </a:xfrm>
        </p:spPr>
        <p:txBody>
          <a:bodyPr/>
          <a:lstStyle/>
          <a:p>
            <a:pPr>
              <a:buNone/>
            </a:pPr>
            <a:r>
              <a:rPr lang="tr-TR" b="1" dirty="0" smtClean="0">
                <a:solidFill>
                  <a:srgbClr val="7030A0"/>
                </a:solidFill>
              </a:rPr>
              <a:t>    </a:t>
            </a:r>
          </a:p>
          <a:p>
            <a:pPr>
              <a:buNone/>
            </a:pPr>
            <a:r>
              <a:rPr lang="tr-TR" b="1" dirty="0" smtClean="0">
                <a:solidFill>
                  <a:srgbClr val="7030A0"/>
                </a:solidFill>
              </a:rPr>
              <a:t>    </a:t>
            </a:r>
            <a:r>
              <a:rPr lang="tr-TR" b="1" dirty="0" err="1" smtClean="0">
                <a:solidFill>
                  <a:srgbClr val="7030A0"/>
                </a:solidFill>
              </a:rPr>
              <a:t>Aflatoksinler</a:t>
            </a:r>
            <a:r>
              <a:rPr lang="tr-TR" b="1" dirty="0" smtClean="0">
                <a:solidFill>
                  <a:srgbClr val="7030A0"/>
                </a:solidFill>
              </a:rPr>
              <a:t>, </a:t>
            </a:r>
            <a:r>
              <a:rPr lang="tr-TR" b="1" dirty="0" err="1" smtClean="0">
                <a:solidFill>
                  <a:srgbClr val="7030A0"/>
                </a:solidFill>
              </a:rPr>
              <a:t>Aspergillus</a:t>
            </a:r>
            <a:r>
              <a:rPr lang="tr-TR" b="1" dirty="0" smtClean="0">
                <a:solidFill>
                  <a:srgbClr val="7030A0"/>
                </a:solidFill>
              </a:rPr>
              <a:t> adı verilen küfler tarafından üretilen </a:t>
            </a:r>
            <a:r>
              <a:rPr lang="tr-TR" b="1" dirty="0" err="1" smtClean="0">
                <a:solidFill>
                  <a:srgbClr val="7030A0"/>
                </a:solidFill>
              </a:rPr>
              <a:t>mikotoksinlerdir</a:t>
            </a:r>
            <a:endParaRPr lang="tr-TR" b="1" dirty="0" smtClean="0">
              <a:solidFill>
                <a:srgbClr val="7030A0"/>
              </a:solidFill>
            </a:endParaRPr>
          </a:p>
          <a:p>
            <a:pPr>
              <a:buNone/>
            </a:pPr>
            <a:endParaRPr lang="tr-TR" b="1" dirty="0" smtClean="0">
              <a:solidFill>
                <a:srgbClr val="7030A0"/>
              </a:solidFill>
            </a:endParaRPr>
          </a:p>
          <a:p>
            <a:pPr>
              <a:buNone/>
            </a:pPr>
            <a:r>
              <a:rPr lang="tr-TR" b="1" dirty="0" smtClean="0">
                <a:solidFill>
                  <a:srgbClr val="FF0000"/>
                </a:solidFill>
              </a:rPr>
              <a:t>		HASAT SONRASINI BEKLEYEN TEHLİKE</a:t>
            </a:r>
            <a:endParaRPr lang="tr-TR" b="1" dirty="0">
              <a:solidFill>
                <a:srgbClr val="7030A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ASPERGİLLUS FLAVUS</a:t>
            </a:r>
            <a:endParaRPr lang="tr-TR" dirty="0">
              <a:solidFill>
                <a:srgbClr val="FF0000"/>
              </a:solidFill>
            </a:endParaRPr>
          </a:p>
        </p:txBody>
      </p:sp>
      <p:sp>
        <p:nvSpPr>
          <p:cNvPr id="3" name="2 İçerik Yer Tutucusu"/>
          <p:cNvSpPr>
            <a:spLocks noGrp="1"/>
          </p:cNvSpPr>
          <p:nvPr>
            <p:ph idx="1"/>
          </p:nvPr>
        </p:nvSpPr>
        <p:spPr>
          <a:xfrm>
            <a:off x="457200" y="1600200"/>
            <a:ext cx="8229600" cy="4853136"/>
          </a:xfrm>
        </p:spPr>
        <p:txBody>
          <a:bodyPr>
            <a:normAutofit lnSpcReduction="10000"/>
          </a:bodyPr>
          <a:lstStyle/>
          <a:p>
            <a:r>
              <a:rPr lang="tr-TR" b="1" dirty="0" smtClean="0">
                <a:solidFill>
                  <a:srgbClr val="333399"/>
                </a:solidFill>
              </a:rPr>
              <a:t>ASPERGİLLUS FLAVUS, bir küf mantarıdır</a:t>
            </a:r>
          </a:p>
          <a:p>
            <a:r>
              <a:rPr lang="tr-TR" b="1" dirty="0" err="1" smtClean="0">
                <a:solidFill>
                  <a:srgbClr val="333399"/>
                </a:solidFill>
              </a:rPr>
              <a:t>Saprofitik</a:t>
            </a:r>
            <a:r>
              <a:rPr lang="tr-TR" b="1" dirty="0" smtClean="0">
                <a:solidFill>
                  <a:srgbClr val="333399"/>
                </a:solidFill>
              </a:rPr>
              <a:t> küf mantarıdır</a:t>
            </a:r>
          </a:p>
          <a:p>
            <a:r>
              <a:rPr lang="tr-TR" b="1" dirty="0" smtClean="0"/>
              <a:t>Birçok küf türü gibi kanserojen bir madde olan AFLATOKSİN üretmektedir</a:t>
            </a:r>
          </a:p>
          <a:p>
            <a:r>
              <a:rPr lang="tr-TR" b="1" dirty="0" smtClean="0"/>
              <a:t>NORMALDE TOPRAKTA BULUNUR</a:t>
            </a:r>
          </a:p>
          <a:p>
            <a:r>
              <a:rPr lang="tr-TR" b="1" dirty="0" smtClean="0"/>
              <a:t>Hasat öncesinde ve depolama sırasında tahıla  bulaşıp çoğalabilir</a:t>
            </a:r>
          </a:p>
          <a:p>
            <a:r>
              <a:rPr lang="tr-TR" b="1" dirty="0" smtClean="0"/>
              <a:t>Bir patojen olup akciğere yerleşirse </a:t>
            </a:r>
            <a:r>
              <a:rPr lang="tr-TR" b="1" dirty="0" err="1" smtClean="0"/>
              <a:t>aspergillosize</a:t>
            </a:r>
            <a:r>
              <a:rPr lang="tr-TR" b="1" dirty="0" smtClean="0"/>
              <a:t> neden olabilir </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4294967295"/>
          </p:nvPr>
        </p:nvPicPr>
        <p:blipFill>
          <a:blip r:embed="rId2" cstate="print"/>
          <a:srcRect/>
          <a:stretch>
            <a:fillRect/>
          </a:stretch>
        </p:blipFill>
        <p:spPr bwMode="auto">
          <a:xfrm>
            <a:off x="467544" y="692696"/>
            <a:ext cx="7629525" cy="57213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847406" y="260648"/>
            <a:ext cx="7855418" cy="5904656"/>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rmAutofit fontScale="90000"/>
          </a:bodyPr>
          <a:lstStyle/>
          <a:p>
            <a:r>
              <a:rPr lang="tr-TR" b="1" dirty="0" smtClean="0"/>
              <a:t/>
            </a:r>
            <a:br>
              <a:rPr lang="tr-TR" b="1" dirty="0" smtClean="0"/>
            </a:br>
            <a:endParaRPr lang="tr-TR" dirty="0"/>
          </a:p>
        </p:txBody>
      </p:sp>
      <p:sp>
        <p:nvSpPr>
          <p:cNvPr id="3" name="2 İçerik Yer Tutucusu"/>
          <p:cNvSpPr>
            <a:spLocks noGrp="1"/>
          </p:cNvSpPr>
          <p:nvPr>
            <p:ph idx="4294967295"/>
          </p:nvPr>
        </p:nvSpPr>
        <p:spPr>
          <a:xfrm>
            <a:off x="323528" y="260648"/>
            <a:ext cx="8568952" cy="6336704"/>
          </a:xfrm>
        </p:spPr>
        <p:txBody>
          <a:bodyPr>
            <a:normAutofit/>
          </a:bodyPr>
          <a:lstStyle/>
          <a:p>
            <a:pPr>
              <a:buNone/>
            </a:pPr>
            <a:r>
              <a:rPr lang="tr-TR" sz="2800" b="1" dirty="0" smtClean="0"/>
              <a:t>		</a:t>
            </a:r>
            <a:r>
              <a:rPr lang="tr-TR" sz="3600" b="1" dirty="0" smtClean="0">
                <a:solidFill>
                  <a:srgbClr val="FF0000"/>
                </a:solidFill>
              </a:rPr>
              <a:t>  GÖRÜNMEZ ZEHİR; AFLATOKSİN!</a:t>
            </a:r>
            <a:r>
              <a:rPr lang="tr-TR" sz="2800" b="1" dirty="0" smtClean="0"/>
              <a:t/>
            </a:r>
            <a:br>
              <a:rPr lang="tr-TR" sz="2800" b="1" dirty="0" smtClean="0"/>
            </a:br>
            <a:endParaRPr lang="tr-TR" sz="2800" b="1" dirty="0" smtClean="0"/>
          </a:p>
          <a:p>
            <a:r>
              <a:rPr lang="tr-TR" sz="2800" b="1" dirty="0" smtClean="0"/>
              <a:t>Tahıl (Pirinç, Mısır, Buğday, Darı)</a:t>
            </a:r>
          </a:p>
          <a:p>
            <a:r>
              <a:rPr lang="tr-TR" sz="2800" b="1" dirty="0" smtClean="0"/>
              <a:t>Yağlı tohumlar (Pamuk, Soya fasulyesi, Yer fıstığı, Ayçiçeği) </a:t>
            </a:r>
          </a:p>
          <a:p>
            <a:r>
              <a:rPr lang="tr-TR" sz="2800" b="1" dirty="0" smtClean="0"/>
              <a:t>Baharat (Kırmızı biber, Kara biber, Kişniş, Zerdeçal, Zencefil) </a:t>
            </a:r>
          </a:p>
          <a:p>
            <a:r>
              <a:rPr lang="tr-TR" sz="2800" b="1" dirty="0" smtClean="0"/>
              <a:t>Kuru yemiş (Badem, Antep fıstığı, Ceviz, Fıstık)</a:t>
            </a:r>
          </a:p>
          <a:p>
            <a:r>
              <a:rPr lang="tr-TR" sz="2800" b="1" dirty="0" smtClean="0"/>
              <a:t>Meyve (İncir)</a:t>
            </a:r>
          </a:p>
          <a:p>
            <a:r>
              <a:rPr lang="tr-TR" sz="2800" b="1" dirty="0" smtClean="0"/>
              <a:t>Bunlarla beslenen hayvanların sütünde de aynı </a:t>
            </a:r>
            <a:r>
              <a:rPr lang="tr-TR" sz="2800" b="1" dirty="0" err="1" smtClean="0"/>
              <a:t>zehire</a:t>
            </a:r>
            <a:r>
              <a:rPr lang="tr-TR" sz="2800" b="1" dirty="0" smtClean="0"/>
              <a:t>  rastlanabilir</a:t>
            </a:r>
          </a:p>
          <a:p>
            <a:endParaRPr lang="tr-TR"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b="1" dirty="0" smtClean="0">
                <a:solidFill>
                  <a:srgbClr val="FF0000"/>
                </a:solidFill>
              </a:rPr>
              <a:t>GÖRÜNMEZ ZEHİR; AFLATOKSİN!</a:t>
            </a:r>
            <a:r>
              <a:rPr lang="tr-TR" sz="3600" b="1" dirty="0" smtClean="0"/>
              <a:t/>
            </a:r>
            <a:br>
              <a:rPr lang="tr-TR" sz="3600" b="1" dirty="0" smtClean="0"/>
            </a:br>
            <a:endParaRPr lang="tr-TR" dirty="0"/>
          </a:p>
        </p:txBody>
      </p:sp>
      <p:sp>
        <p:nvSpPr>
          <p:cNvPr id="3" name="2 İçerik Yer Tutucusu"/>
          <p:cNvSpPr>
            <a:spLocks noGrp="1"/>
          </p:cNvSpPr>
          <p:nvPr>
            <p:ph idx="1"/>
          </p:nvPr>
        </p:nvSpPr>
        <p:spPr/>
        <p:txBody>
          <a:bodyPr>
            <a:noAutofit/>
          </a:bodyPr>
          <a:lstStyle/>
          <a:p>
            <a:r>
              <a:rPr lang="tr-TR" sz="2800" b="1" dirty="0" err="1" smtClean="0"/>
              <a:t>Aflatoksinler</a:t>
            </a:r>
            <a:r>
              <a:rPr lang="tr-TR" sz="2800" b="1" dirty="0" smtClean="0"/>
              <a:t> hasat sırasında veya hasat sonrası ürünü işleme ve depolama aşamalarında gıda ve yemlere  bulaşabilmektedir</a:t>
            </a:r>
          </a:p>
          <a:p>
            <a:r>
              <a:rPr lang="tr-TR" sz="2800" b="1" dirty="0" smtClean="0"/>
              <a:t> </a:t>
            </a:r>
            <a:r>
              <a:rPr lang="tr-TR" sz="2800" b="1" dirty="0" err="1" smtClean="0"/>
              <a:t>Aflatoksin</a:t>
            </a:r>
            <a:r>
              <a:rPr lang="tr-TR" sz="2800" b="1" dirty="0" smtClean="0"/>
              <a:t> </a:t>
            </a:r>
            <a:r>
              <a:rPr lang="tr-TR" sz="2800" b="1" dirty="0" err="1" smtClean="0"/>
              <a:t>kontaminasyonu</a:t>
            </a:r>
            <a:r>
              <a:rPr lang="tr-TR" sz="2800" b="1" dirty="0" smtClean="0"/>
              <a:t> çok hızlı </a:t>
            </a:r>
            <a:r>
              <a:rPr lang="tr-TR" sz="2400" b="1" dirty="0" smtClean="0"/>
              <a:t>oluşabilmektedir</a:t>
            </a:r>
            <a:r>
              <a:rPr lang="tr-TR" sz="2800" b="1" dirty="0" smtClean="0"/>
              <a:t> </a:t>
            </a:r>
          </a:p>
          <a:p>
            <a:r>
              <a:rPr lang="tr-TR" sz="2800" b="1" dirty="0" smtClean="0"/>
              <a:t>Yapılan bir çalışmada, </a:t>
            </a:r>
            <a:r>
              <a:rPr lang="tr-TR" sz="2800" b="1" i="1" dirty="0" err="1" smtClean="0"/>
              <a:t>Aspergillus</a:t>
            </a:r>
            <a:r>
              <a:rPr lang="tr-TR" sz="2800" b="1" i="1" dirty="0" smtClean="0"/>
              <a:t> </a:t>
            </a:r>
            <a:r>
              <a:rPr lang="tr-TR" sz="2800" b="1" i="1" dirty="0" err="1" smtClean="0"/>
              <a:t>flavus</a:t>
            </a:r>
            <a:r>
              <a:rPr lang="tr-TR" sz="2800" b="1" i="1" dirty="0" smtClean="0"/>
              <a:t> </a:t>
            </a:r>
            <a:r>
              <a:rPr lang="tr-TR" sz="2800" b="1" dirty="0" err="1" smtClean="0"/>
              <a:t>inokule</a:t>
            </a:r>
            <a:r>
              <a:rPr lang="tr-TR" sz="2800" b="1" dirty="0" smtClean="0"/>
              <a:t> edilen bitkilerde iki gün sonra 0,3–2 </a:t>
            </a:r>
            <a:r>
              <a:rPr lang="tr-TR" sz="2800" b="1" dirty="0" err="1" smtClean="0"/>
              <a:t>ppb</a:t>
            </a:r>
            <a:r>
              <a:rPr lang="tr-TR" sz="2800" b="1" dirty="0" smtClean="0"/>
              <a:t> (milyarda bir), dört gün sonra 950–2.800 </a:t>
            </a:r>
            <a:r>
              <a:rPr lang="tr-TR" sz="2800" b="1" dirty="0" err="1" smtClean="0"/>
              <a:t>ppb</a:t>
            </a:r>
            <a:r>
              <a:rPr lang="tr-TR" sz="2800" b="1" dirty="0" smtClean="0"/>
              <a:t> ve yedi gün sonra ise 3.600–4.500 </a:t>
            </a:r>
            <a:r>
              <a:rPr lang="tr-TR" sz="2800" b="1" dirty="0" err="1" smtClean="0"/>
              <a:t>ppb</a:t>
            </a:r>
            <a:r>
              <a:rPr lang="tr-TR" sz="2800" b="1" dirty="0" smtClean="0"/>
              <a:t> miktarlarında </a:t>
            </a:r>
            <a:r>
              <a:rPr lang="tr-TR" sz="2800" b="1" dirty="0" err="1" smtClean="0"/>
              <a:t>aflatoksin</a:t>
            </a:r>
            <a:r>
              <a:rPr lang="tr-TR" sz="2800" b="1" dirty="0" smtClean="0"/>
              <a:t> varlığına rastlandığı belirtilmiştir</a:t>
            </a:r>
            <a:endParaRPr lang="tr-TR" sz="2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rmAutofit fontScale="90000"/>
          </a:bodyPr>
          <a:lstStyle/>
          <a:p>
            <a:r>
              <a:rPr lang="tr-TR" b="1" dirty="0" smtClean="0"/>
              <a:t/>
            </a:r>
            <a:br>
              <a:rPr lang="tr-TR" b="1" dirty="0" smtClean="0"/>
            </a:br>
            <a:endParaRPr lang="tr-TR" dirty="0">
              <a:solidFill>
                <a:srgbClr val="FF0000"/>
              </a:solidFill>
            </a:endParaRPr>
          </a:p>
        </p:txBody>
      </p:sp>
      <p:sp>
        <p:nvSpPr>
          <p:cNvPr id="3" name="2 İçerik Yer Tutucusu"/>
          <p:cNvSpPr>
            <a:spLocks noGrp="1"/>
          </p:cNvSpPr>
          <p:nvPr>
            <p:ph idx="4294967295"/>
          </p:nvPr>
        </p:nvSpPr>
        <p:spPr>
          <a:xfrm>
            <a:off x="179512" y="260648"/>
            <a:ext cx="8712968" cy="6264696"/>
          </a:xfrm>
        </p:spPr>
        <p:txBody>
          <a:bodyPr>
            <a:normAutofit fontScale="85000" lnSpcReduction="20000"/>
          </a:bodyPr>
          <a:lstStyle/>
          <a:p>
            <a:pPr>
              <a:buNone/>
            </a:pPr>
            <a:r>
              <a:rPr lang="tr-TR" b="1" dirty="0" smtClean="0">
                <a:solidFill>
                  <a:srgbClr val="FF0000"/>
                </a:solidFill>
              </a:rPr>
              <a:t>		     </a:t>
            </a:r>
            <a:r>
              <a:rPr lang="tr-TR" sz="4700" b="1" dirty="0" smtClean="0">
                <a:solidFill>
                  <a:srgbClr val="FF0000"/>
                </a:solidFill>
              </a:rPr>
              <a:t>AFLATOKSİN NASIL GELİŞİR?</a:t>
            </a:r>
            <a:endParaRPr lang="tr-TR" sz="4700" dirty="0" smtClean="0"/>
          </a:p>
          <a:p>
            <a:r>
              <a:rPr lang="tr-TR" sz="3300" b="1" dirty="0" err="1" smtClean="0"/>
              <a:t>Aflatoksinlerin</a:t>
            </a:r>
            <a:r>
              <a:rPr lang="tr-TR" sz="3300" b="1" dirty="0" smtClean="0"/>
              <a:t> gelişmesinde </a:t>
            </a:r>
            <a:r>
              <a:rPr lang="tr-TR" sz="3300" b="1" dirty="0" err="1" smtClean="0"/>
              <a:t>nisbi</a:t>
            </a:r>
            <a:r>
              <a:rPr lang="tr-TR" sz="3300" b="1" dirty="0" smtClean="0"/>
              <a:t> nem ve sıcaklık önemli parametrelerdir</a:t>
            </a:r>
          </a:p>
          <a:p>
            <a:r>
              <a:rPr lang="tr-TR" sz="3300" b="1" dirty="0" err="1" smtClean="0"/>
              <a:t>Aflatoksijenik</a:t>
            </a:r>
            <a:r>
              <a:rPr lang="tr-TR" sz="3300" b="1" dirty="0" smtClean="0"/>
              <a:t> küflerin gelişmesi için optimum şartlar; </a:t>
            </a:r>
            <a:r>
              <a:rPr lang="tr-TR" sz="3300" b="1" dirty="0" smtClean="0">
                <a:solidFill>
                  <a:srgbClr val="7030A0"/>
                </a:solidFill>
              </a:rPr>
              <a:t>24–35 °C sıcaklık ve %70’in üzerindeki </a:t>
            </a:r>
            <a:r>
              <a:rPr lang="tr-TR" sz="3300" b="1" dirty="0" err="1" smtClean="0">
                <a:solidFill>
                  <a:srgbClr val="7030A0"/>
                </a:solidFill>
              </a:rPr>
              <a:t>nisbi</a:t>
            </a:r>
            <a:r>
              <a:rPr lang="tr-TR" sz="3300" b="1" dirty="0" smtClean="0">
                <a:solidFill>
                  <a:srgbClr val="7030A0"/>
                </a:solidFill>
              </a:rPr>
              <a:t> nemdir</a:t>
            </a:r>
          </a:p>
          <a:p>
            <a:r>
              <a:rPr lang="tr-TR" sz="3300" b="1" dirty="0" err="1" smtClean="0"/>
              <a:t>Aflatoksinlerin</a:t>
            </a:r>
            <a:r>
              <a:rPr lang="tr-TR" sz="3300" b="1" dirty="0" smtClean="0"/>
              <a:t> oluşumu ve gelişimini kontrol altına almak için ileri teknoloji ve iyi uygulamalara önem verilmesi gerekmektedir</a:t>
            </a:r>
          </a:p>
          <a:p>
            <a:r>
              <a:rPr lang="tr-TR" sz="3300" b="1" dirty="0" smtClean="0"/>
              <a:t>Özellikle toprak ile temas eden ürünleri </a:t>
            </a:r>
            <a:r>
              <a:rPr lang="tr-TR" sz="3300" b="1" dirty="0" smtClean="0">
                <a:solidFill>
                  <a:srgbClr val="FF0000"/>
                </a:solidFill>
              </a:rPr>
              <a:t>KÜF ile temastan </a:t>
            </a:r>
            <a:r>
              <a:rPr lang="tr-TR" sz="3300" b="1" dirty="0" smtClean="0"/>
              <a:t>uzaklaştırmak oldukça zordur</a:t>
            </a:r>
          </a:p>
          <a:p>
            <a:r>
              <a:rPr lang="tr-TR" sz="3300" b="1" dirty="0" smtClean="0"/>
              <a:t>Dolayısıyla; küf sporlarının üründe gelişimini engellemek önemli hale gelmektedir</a:t>
            </a:r>
          </a:p>
          <a:p>
            <a:r>
              <a:rPr lang="tr-TR" sz="3300" b="1" dirty="0" smtClean="0"/>
              <a:t> </a:t>
            </a:r>
            <a:r>
              <a:rPr lang="tr-TR" sz="3300" b="1" i="1" dirty="0" err="1" smtClean="0">
                <a:solidFill>
                  <a:srgbClr val="333399"/>
                </a:solidFill>
              </a:rPr>
              <a:t>Aspergillus</a:t>
            </a:r>
            <a:r>
              <a:rPr lang="tr-TR" sz="3300" b="1" i="1" dirty="0" smtClean="0">
                <a:solidFill>
                  <a:srgbClr val="333399"/>
                </a:solidFill>
              </a:rPr>
              <a:t> </a:t>
            </a:r>
            <a:r>
              <a:rPr lang="tr-TR" sz="3300" b="1" i="1" dirty="0" err="1" smtClean="0">
                <a:solidFill>
                  <a:srgbClr val="333399"/>
                </a:solidFill>
              </a:rPr>
              <a:t>flavus</a:t>
            </a:r>
            <a:r>
              <a:rPr lang="tr-TR" sz="3300" b="1" dirty="0" smtClean="0">
                <a:solidFill>
                  <a:srgbClr val="333399"/>
                </a:solidFill>
              </a:rPr>
              <a:t> küfünün bir </a:t>
            </a:r>
            <a:r>
              <a:rPr lang="tr-TR" sz="3300" b="1" dirty="0" err="1" smtClean="0">
                <a:solidFill>
                  <a:srgbClr val="333399"/>
                </a:solidFill>
              </a:rPr>
              <a:t>mikotoksini</a:t>
            </a:r>
            <a:r>
              <a:rPr lang="tr-TR" sz="3300" b="1" dirty="0" smtClean="0">
                <a:solidFill>
                  <a:srgbClr val="333399"/>
                </a:solidFill>
              </a:rPr>
              <a:t> olan </a:t>
            </a:r>
            <a:r>
              <a:rPr lang="tr-TR" sz="3300" b="1" dirty="0" err="1" smtClean="0">
                <a:solidFill>
                  <a:srgbClr val="333399"/>
                </a:solidFill>
              </a:rPr>
              <a:t>aflatoksinin</a:t>
            </a:r>
            <a:r>
              <a:rPr lang="tr-TR" sz="3300" b="1" dirty="0" smtClean="0">
                <a:solidFill>
                  <a:srgbClr val="333399"/>
                </a:solidFill>
              </a:rPr>
              <a:t> oluşumunu engellemenin en önemli bir başka aşaması depolama şartlarıdır</a:t>
            </a:r>
            <a:endParaRPr lang="tr-TR" sz="3300" b="1" dirty="0">
              <a:solidFill>
                <a:srgbClr val="33339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12968" cy="6336704"/>
          </a:xfrm>
        </p:spPr>
        <p:txBody>
          <a:bodyPr>
            <a:normAutofit/>
          </a:bodyPr>
          <a:lstStyle/>
          <a:p>
            <a:pPr>
              <a:buNone/>
            </a:pPr>
            <a:r>
              <a:rPr lang="tr-TR" sz="2800" b="1" dirty="0" smtClean="0">
                <a:solidFill>
                  <a:srgbClr val="FF0000"/>
                </a:solidFill>
              </a:rPr>
              <a:t>		    </a:t>
            </a:r>
            <a:r>
              <a:rPr lang="tr-TR" sz="4000" b="1" dirty="0" smtClean="0">
                <a:solidFill>
                  <a:srgbClr val="FF0000"/>
                </a:solidFill>
              </a:rPr>
              <a:t>AFLATOKSİN NASIL GELİŞİR?</a:t>
            </a:r>
            <a:endParaRPr lang="tr-TR" sz="4000" b="1" dirty="0" smtClean="0"/>
          </a:p>
          <a:p>
            <a:r>
              <a:rPr lang="tr-TR" sz="2800" b="1" dirty="0" smtClean="0"/>
              <a:t>Depolama küflerin gelişimi için uygun koşullarda olursa </a:t>
            </a:r>
            <a:r>
              <a:rPr lang="tr-TR" sz="2800" b="1" dirty="0" err="1" smtClean="0"/>
              <a:t>aflatoksinlerle</a:t>
            </a:r>
            <a:r>
              <a:rPr lang="tr-TR" sz="2800" b="1" dirty="0" smtClean="0"/>
              <a:t> mücadele etmek zorlaşacaktır</a:t>
            </a:r>
          </a:p>
          <a:p>
            <a:r>
              <a:rPr lang="tr-TR" sz="2800" b="1" dirty="0" err="1" smtClean="0"/>
              <a:t>Aflatoksinler</a:t>
            </a:r>
            <a:r>
              <a:rPr lang="tr-TR" sz="2800" b="1" dirty="0" smtClean="0"/>
              <a:t> ısıya karşı oldukça dirençlidirler</a:t>
            </a:r>
          </a:p>
          <a:p>
            <a:r>
              <a:rPr lang="tr-TR" sz="2800" b="1" dirty="0" smtClean="0"/>
              <a:t>250-300 °C gibi yüksek sıcaklıklarda bile varlıklarını muhafaza edebilirler</a:t>
            </a:r>
          </a:p>
          <a:p>
            <a:r>
              <a:rPr lang="tr-TR" sz="2800" b="1" dirty="0" smtClean="0"/>
              <a:t>Bu yüzden kavrulmuş kuruyemişlerde de </a:t>
            </a:r>
            <a:r>
              <a:rPr lang="tr-TR" sz="2800" b="1" dirty="0" err="1" smtClean="0"/>
              <a:t>aflatoksin</a:t>
            </a:r>
            <a:r>
              <a:rPr lang="tr-TR" sz="2800" b="1" dirty="0" smtClean="0"/>
              <a:t> riski vardır</a:t>
            </a:r>
          </a:p>
          <a:p>
            <a:r>
              <a:rPr lang="tr-TR" sz="2800" b="1" dirty="0" err="1" smtClean="0"/>
              <a:t>Aflatoksinler</a:t>
            </a:r>
            <a:r>
              <a:rPr lang="tr-TR" sz="2800" b="1" dirty="0" smtClean="0"/>
              <a:t> 5 °</a:t>
            </a:r>
            <a:r>
              <a:rPr lang="tr-TR" sz="2800" b="1" dirty="0" err="1" smtClean="0"/>
              <a:t>C’nin</a:t>
            </a:r>
            <a:r>
              <a:rPr lang="tr-TR" sz="2800" b="1" dirty="0" smtClean="0"/>
              <a:t> altındaki sıcaklıklarda gelişemezler</a:t>
            </a:r>
          </a:p>
          <a:p>
            <a:r>
              <a:rPr lang="tr-TR" sz="2800" b="1" dirty="0" smtClean="0"/>
              <a:t>Örneğin pul biberleri dolapta muhafaza etmek </a:t>
            </a:r>
            <a:r>
              <a:rPr lang="tr-TR" sz="2800" b="1" dirty="0" err="1" smtClean="0"/>
              <a:t>aflatoksin</a:t>
            </a:r>
            <a:r>
              <a:rPr lang="tr-TR" sz="2800" b="1" dirty="0" smtClean="0"/>
              <a:t> gelişimi için engel olacaktır</a:t>
            </a:r>
          </a:p>
          <a:p>
            <a:endParaRPr lang="tr-TR" sz="2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user\Desktop\DHMUH5DXUAA-TmW.jpg"/>
          <p:cNvPicPr>
            <a:picLocks noGrp="1" noChangeAspect="1" noChangeArrowheads="1"/>
          </p:cNvPicPr>
          <p:nvPr>
            <p:ph idx="4294967295"/>
          </p:nvPr>
        </p:nvPicPr>
        <p:blipFill>
          <a:blip r:embed="rId2" cstate="print"/>
          <a:srcRect/>
          <a:stretch>
            <a:fillRect/>
          </a:stretch>
        </p:blipFill>
        <p:spPr bwMode="auto">
          <a:xfrm>
            <a:off x="4067944" y="404664"/>
            <a:ext cx="4657725" cy="2867025"/>
          </a:xfrm>
          <a:prstGeom prst="rect">
            <a:avLst/>
          </a:prstGeom>
          <a:noFill/>
        </p:spPr>
      </p:pic>
      <p:pic>
        <p:nvPicPr>
          <p:cNvPr id="1028" name="Picture 4" descr="C:\Users\user\Desktop\3243243241.jpg"/>
          <p:cNvPicPr>
            <a:picLocks noChangeAspect="1" noChangeArrowheads="1"/>
          </p:cNvPicPr>
          <p:nvPr/>
        </p:nvPicPr>
        <p:blipFill>
          <a:blip r:embed="rId3" cstate="print"/>
          <a:srcRect/>
          <a:stretch>
            <a:fillRect/>
          </a:stretch>
        </p:blipFill>
        <p:spPr bwMode="auto">
          <a:xfrm>
            <a:off x="1043608" y="3501008"/>
            <a:ext cx="6768752" cy="2828156"/>
          </a:xfrm>
          <a:prstGeom prst="rect">
            <a:avLst/>
          </a:prstGeom>
          <a:noFill/>
        </p:spPr>
      </p:pic>
      <p:pic>
        <p:nvPicPr>
          <p:cNvPr id="7" name="Picture 3" descr="C:\Users\user\Desktop\images.jpg"/>
          <p:cNvPicPr>
            <a:picLocks noChangeAspect="1" noChangeArrowheads="1"/>
          </p:cNvPicPr>
          <p:nvPr/>
        </p:nvPicPr>
        <p:blipFill>
          <a:blip r:embed="rId4" cstate="print"/>
          <a:srcRect/>
          <a:stretch>
            <a:fillRect/>
          </a:stretch>
        </p:blipFill>
        <p:spPr bwMode="auto">
          <a:xfrm>
            <a:off x="395536" y="476672"/>
            <a:ext cx="3456384" cy="287105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esktop\kuru-incir-site-300x169.png"/>
          <p:cNvPicPr>
            <a:picLocks noGrp="1" noChangeAspect="1" noChangeArrowheads="1"/>
          </p:cNvPicPr>
          <p:nvPr>
            <p:ph idx="4294967295"/>
          </p:nvPr>
        </p:nvPicPr>
        <p:blipFill>
          <a:blip r:embed="rId2" cstate="print"/>
          <a:srcRect/>
          <a:stretch>
            <a:fillRect/>
          </a:stretch>
        </p:blipFill>
        <p:spPr bwMode="auto">
          <a:xfrm>
            <a:off x="4860032" y="332656"/>
            <a:ext cx="3733551" cy="3046316"/>
          </a:xfrm>
          <a:prstGeom prst="rect">
            <a:avLst/>
          </a:prstGeom>
          <a:noFill/>
        </p:spPr>
      </p:pic>
      <p:pic>
        <p:nvPicPr>
          <p:cNvPr id="5124" name="Picture 4" descr="C:\Users\user\Desktop\Foodelphi.com-aflotoksin-310x165.jpg"/>
          <p:cNvPicPr>
            <a:picLocks noChangeAspect="1" noChangeArrowheads="1"/>
          </p:cNvPicPr>
          <p:nvPr/>
        </p:nvPicPr>
        <p:blipFill>
          <a:blip r:embed="rId3" cstate="print"/>
          <a:srcRect/>
          <a:stretch>
            <a:fillRect/>
          </a:stretch>
        </p:blipFill>
        <p:spPr bwMode="auto">
          <a:xfrm>
            <a:off x="251520" y="2276872"/>
            <a:ext cx="5472608" cy="416394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640960" cy="6336704"/>
          </a:xfrm>
        </p:spPr>
        <p:txBody>
          <a:bodyPr>
            <a:normAutofit fontScale="25000" lnSpcReduction="20000"/>
          </a:bodyPr>
          <a:lstStyle/>
          <a:p>
            <a:pPr fontAlgn="base">
              <a:buNone/>
            </a:pPr>
            <a:r>
              <a:rPr lang="tr-TR" b="1" dirty="0" smtClean="0">
                <a:solidFill>
                  <a:srgbClr val="FF0000"/>
                </a:solidFill>
              </a:rPr>
              <a:t>				</a:t>
            </a:r>
            <a:r>
              <a:rPr lang="tr-TR" sz="14400" b="1" dirty="0" smtClean="0">
                <a:solidFill>
                  <a:srgbClr val="FF0000"/>
                </a:solidFill>
              </a:rPr>
              <a:t>       İNCİR</a:t>
            </a:r>
            <a:endParaRPr lang="tr-TR" sz="14400" b="1" dirty="0" smtClean="0"/>
          </a:p>
          <a:p>
            <a:pPr fontAlgn="base"/>
            <a:r>
              <a:rPr lang="tr-TR" sz="11200" b="1" dirty="0" smtClean="0"/>
              <a:t>Doğru zamanda hasat ve kaliteli incir ayrımları toksin oluşmasının önüne büyük ölçüde engelleyecektir</a:t>
            </a:r>
          </a:p>
          <a:p>
            <a:pPr fontAlgn="base"/>
            <a:r>
              <a:rPr lang="tr-TR" sz="11200" b="1" dirty="0" smtClean="0"/>
              <a:t>İncirlerin kuruma işlemi, tünel altında ve kerevetler üzerinde olmalıdır</a:t>
            </a:r>
          </a:p>
          <a:p>
            <a:pPr fontAlgn="base"/>
            <a:r>
              <a:rPr lang="tr-TR" sz="11200" b="1" dirty="0" smtClean="0"/>
              <a:t>Buradaki amaç çevresel faktörlerden uzak tutmaya çalışmaktır(Rüzgar yağmur toprak vb. ) </a:t>
            </a:r>
          </a:p>
          <a:p>
            <a:pPr fontAlgn="base"/>
            <a:r>
              <a:rPr lang="tr-TR" sz="11200" b="1" dirty="0" smtClean="0"/>
              <a:t>Hasat sonrası toplanan incirlerin depolama şartları</a:t>
            </a:r>
          </a:p>
          <a:p>
            <a:pPr fontAlgn="base"/>
            <a:r>
              <a:rPr lang="tr-TR" sz="11200" b="1" dirty="0" smtClean="0"/>
              <a:t>Kasa kullanımı, ürünlerin direk zeminlere temas etmemesi</a:t>
            </a:r>
          </a:p>
          <a:p>
            <a:pPr fontAlgn="base"/>
            <a:r>
              <a:rPr lang="tr-TR" sz="11200" b="1" dirty="0" smtClean="0"/>
              <a:t>Sıcaklık ve Nem kontrollerine dikkat edilmesi </a:t>
            </a:r>
          </a:p>
          <a:p>
            <a:pPr fontAlgn="base"/>
            <a:r>
              <a:rPr lang="tr-TR" sz="11200" b="1" dirty="0" smtClean="0"/>
              <a:t>Kuru incirler İşletmelerde soğuk hava depolarında 4 ⁰C de depolanmalıdır</a:t>
            </a:r>
          </a:p>
          <a:p>
            <a:pPr fontAlgn="base"/>
            <a:r>
              <a:rPr lang="tr-TR" sz="11200" b="1" dirty="0" smtClean="0"/>
              <a:t>Kuru incir işletmelerinde toksinli incir ayrımları </a:t>
            </a:r>
            <a:r>
              <a:rPr lang="tr-TR" sz="11200" b="1" dirty="0" smtClean="0">
                <a:solidFill>
                  <a:srgbClr val="FF0000"/>
                </a:solidFill>
              </a:rPr>
              <a:t>karanlık odalarda UV ışık altında gerçekleşip hem yurt içi hem de yurtdışı pazarına sunuluyor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çok iyi duran bir incirin </a:t>
            </a:r>
            <a:r>
              <a:rPr lang="tr-TR" b="1" dirty="0" err="1" smtClean="0">
                <a:solidFill>
                  <a:srgbClr val="FF0000"/>
                </a:solidFill>
              </a:rPr>
              <a:t>aflatoksinli</a:t>
            </a:r>
            <a:r>
              <a:rPr lang="tr-TR" b="1" dirty="0" smtClean="0">
                <a:solidFill>
                  <a:srgbClr val="FF0000"/>
                </a:solidFill>
              </a:rPr>
              <a:t> olduğu ancak UV ışını altında anlarız</a:t>
            </a:r>
            <a:endParaRPr lang="tr-TR" b="1" dirty="0">
              <a:solidFill>
                <a:srgbClr val="FF0000"/>
              </a:solidFill>
            </a:endParaRPr>
          </a:p>
        </p:txBody>
      </p:sp>
      <p:pic>
        <p:nvPicPr>
          <p:cNvPr id="4" name="Picture 2"/>
          <p:cNvPicPr>
            <a:picLocks noGrp="1" noChangeAspect="1" noChangeArrowheads="1"/>
          </p:cNvPicPr>
          <p:nvPr>
            <p:ph idx="1"/>
          </p:nvPr>
        </p:nvPicPr>
        <p:blipFill>
          <a:blip r:embed="rId2" cstate="print"/>
          <a:srcRect/>
          <a:stretch>
            <a:fillRect/>
          </a:stretch>
        </p:blipFill>
        <p:spPr bwMode="auto">
          <a:xfrm>
            <a:off x="611560" y="1700808"/>
            <a:ext cx="7776863" cy="4752528"/>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user\Desktop\alfatoksin_clip_image001.jpg"/>
          <p:cNvPicPr>
            <a:picLocks noChangeAspect="1" noChangeArrowheads="1"/>
          </p:cNvPicPr>
          <p:nvPr/>
        </p:nvPicPr>
        <p:blipFill>
          <a:blip r:embed="rId2" cstate="print"/>
          <a:srcRect/>
          <a:stretch>
            <a:fillRect/>
          </a:stretch>
        </p:blipFill>
        <p:spPr bwMode="auto">
          <a:xfrm>
            <a:off x="395536" y="332656"/>
            <a:ext cx="8343405" cy="5976664"/>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sz="3100" b="1" dirty="0" smtClean="0">
                <a:solidFill>
                  <a:srgbClr val="FF0000"/>
                </a:solidFill>
              </a:rPr>
              <a:t>HAYVANLARIN ETLERİ, SÜTLERİ VE YUMURTALARI</a:t>
            </a:r>
            <a:r>
              <a:rPr lang="tr-TR" sz="3100" dirty="0" smtClean="0">
                <a:solidFill>
                  <a:srgbClr val="FF0000"/>
                </a:solidFill>
              </a:rPr>
              <a:t/>
            </a:r>
            <a:br>
              <a:rPr lang="tr-TR" sz="3100" dirty="0" smtClean="0">
                <a:solidFill>
                  <a:srgbClr val="FF0000"/>
                </a:solidFill>
              </a:rPr>
            </a:br>
            <a:r>
              <a:rPr lang="tr-TR" sz="3100" b="1" dirty="0" smtClean="0">
                <a:solidFill>
                  <a:srgbClr val="FF0000"/>
                </a:solidFill>
              </a:rPr>
              <a:t/>
            </a:r>
            <a:br>
              <a:rPr lang="tr-TR" sz="3100" b="1" dirty="0" smtClean="0">
                <a:solidFill>
                  <a:srgbClr val="FF0000"/>
                </a:solidFill>
              </a:rPr>
            </a:br>
            <a:endParaRPr lang="tr-TR" sz="3100" b="1" dirty="0">
              <a:solidFill>
                <a:srgbClr val="FF0000"/>
              </a:solidFill>
            </a:endParaRPr>
          </a:p>
        </p:txBody>
      </p:sp>
      <p:sp>
        <p:nvSpPr>
          <p:cNvPr id="3" name="2 İçerik Yer Tutucusu"/>
          <p:cNvSpPr>
            <a:spLocks noGrp="1"/>
          </p:cNvSpPr>
          <p:nvPr>
            <p:ph idx="1"/>
          </p:nvPr>
        </p:nvSpPr>
        <p:spPr/>
        <p:txBody>
          <a:bodyPr>
            <a:normAutofit fontScale="92500"/>
          </a:bodyPr>
          <a:lstStyle/>
          <a:p>
            <a:r>
              <a:rPr lang="tr-TR" b="1" dirty="0" err="1" smtClean="0">
                <a:solidFill>
                  <a:srgbClr val="333399"/>
                </a:solidFill>
              </a:rPr>
              <a:t>Aflatoksinli</a:t>
            </a:r>
            <a:r>
              <a:rPr lang="tr-TR" b="1" dirty="0" smtClean="0">
                <a:solidFill>
                  <a:srgbClr val="333399"/>
                </a:solidFill>
              </a:rPr>
              <a:t> yemler ile beslenen hayvanların etleri, sütleri ve yumurtalarında </a:t>
            </a:r>
            <a:r>
              <a:rPr lang="tr-TR" b="1" dirty="0" err="1" smtClean="0">
                <a:solidFill>
                  <a:srgbClr val="333399"/>
                </a:solidFill>
              </a:rPr>
              <a:t>aflatoksine</a:t>
            </a:r>
            <a:r>
              <a:rPr lang="tr-TR" b="1" dirty="0" smtClean="0">
                <a:solidFill>
                  <a:srgbClr val="333399"/>
                </a:solidFill>
              </a:rPr>
              <a:t> rastlamak mümkündür</a:t>
            </a:r>
          </a:p>
          <a:p>
            <a:r>
              <a:rPr lang="tr-TR" b="1" dirty="0" smtClean="0"/>
              <a:t>Bu yüzden birçok ülkede olduğu gibi ülkemizde de </a:t>
            </a:r>
            <a:r>
              <a:rPr lang="tr-TR" b="1" dirty="0" err="1" smtClean="0"/>
              <a:t>aflatoksinlerin</a:t>
            </a:r>
            <a:r>
              <a:rPr lang="tr-TR" b="1" dirty="0" smtClean="0"/>
              <a:t> yasal sınırları belirlenmiştir</a:t>
            </a:r>
          </a:p>
          <a:p>
            <a:r>
              <a:rPr lang="tr-TR" b="1" dirty="0" smtClean="0"/>
              <a:t>İhraç edilen gıda ürünleri yasal limitlere uymuyorsa, üreticiler önemli problemlerle karşılaşmakta ve ekonomik anlamda ciddi kayıplar yaşamaktadırlar</a:t>
            </a:r>
            <a:endParaRPr lang="tr-TR"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b="1" dirty="0" smtClean="0">
                <a:solidFill>
                  <a:srgbClr val="FF0000"/>
                </a:solidFill>
              </a:rPr>
              <a:t>AFLATOKSİNİN SAĞLIK ÜZERİNDEKİ ETKİLERİ</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a:xfrm>
            <a:off x="457200" y="1600200"/>
            <a:ext cx="8229600" cy="4925144"/>
          </a:xfrm>
        </p:spPr>
        <p:txBody>
          <a:bodyPr>
            <a:noAutofit/>
          </a:bodyPr>
          <a:lstStyle/>
          <a:p>
            <a:r>
              <a:rPr lang="tr-TR" sz="3000" b="1" dirty="0" err="1" smtClean="0"/>
              <a:t>Aflatoksinler</a:t>
            </a:r>
            <a:r>
              <a:rPr lang="tr-TR" sz="3000" b="1" dirty="0" smtClean="0"/>
              <a:t> </a:t>
            </a:r>
            <a:r>
              <a:rPr lang="tr-TR" sz="3000" b="1" dirty="0" err="1" smtClean="0"/>
              <a:t>kanserojenik</a:t>
            </a:r>
            <a:r>
              <a:rPr lang="tr-TR" sz="3000" b="1" dirty="0" smtClean="0"/>
              <a:t> </a:t>
            </a:r>
            <a:r>
              <a:rPr lang="tr-TR" sz="3000" b="1" dirty="0" err="1" smtClean="0"/>
              <a:t>karekteristiği</a:t>
            </a:r>
            <a:r>
              <a:rPr lang="tr-TR" sz="3000" b="1" dirty="0" smtClean="0"/>
              <a:t> nedeniyle insan hayatı için tehlikeli olabileceği belirtilmiştir</a:t>
            </a:r>
          </a:p>
          <a:p>
            <a:r>
              <a:rPr lang="tr-TR" sz="3000" b="1" dirty="0" smtClean="0"/>
              <a:t>Yüksek dozlarda veya sürekli tüketimde </a:t>
            </a:r>
            <a:r>
              <a:rPr lang="tr-TR" sz="3000" b="1" dirty="0" err="1" smtClean="0"/>
              <a:t>aflatoksinler</a:t>
            </a:r>
            <a:r>
              <a:rPr lang="tr-TR" sz="3000" b="1" dirty="0" smtClean="0"/>
              <a:t> akut zehirlenmeye yol açabilmektedir</a:t>
            </a:r>
          </a:p>
          <a:p>
            <a:r>
              <a:rPr lang="tr-TR" sz="3000" b="1" dirty="0" smtClean="0"/>
              <a:t>Genellikle karaciğere zarar vermektedirler </a:t>
            </a:r>
          </a:p>
          <a:p>
            <a:r>
              <a:rPr lang="tr-TR" sz="3000" b="1" dirty="0" err="1" smtClean="0"/>
              <a:t>Aflatoksinler</a:t>
            </a:r>
            <a:r>
              <a:rPr lang="tr-TR" sz="3000" b="1" dirty="0" smtClean="0"/>
              <a:t> </a:t>
            </a:r>
            <a:r>
              <a:rPr lang="tr-TR" sz="3000" b="1" dirty="0" err="1" smtClean="0"/>
              <a:t>genotoksik</a:t>
            </a:r>
            <a:r>
              <a:rPr lang="tr-TR" sz="3000" b="1" dirty="0" smtClean="0"/>
              <a:t> olduğu için yani DNA’ ya zarar verdiği için kansere neden olabilmektedir</a:t>
            </a:r>
            <a:endParaRPr lang="tr-TR" sz="30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sz="4000" b="1" dirty="0" smtClean="0">
                <a:solidFill>
                  <a:srgbClr val="FF0000"/>
                </a:solidFill>
              </a:rPr>
              <a:t>ÇAVDAR MAHMUZU</a:t>
            </a:r>
            <a:r>
              <a:rPr lang="tr-TR" sz="4000" dirty="0" smtClean="0">
                <a:solidFill>
                  <a:srgbClr val="FF0000"/>
                </a:solidFill>
              </a:rPr>
              <a:t> </a:t>
            </a:r>
            <a:br>
              <a:rPr lang="tr-TR" sz="4000" dirty="0" smtClean="0">
                <a:solidFill>
                  <a:srgbClr val="FF0000"/>
                </a:solidFill>
              </a:rPr>
            </a:br>
            <a:r>
              <a:rPr lang="tr-TR" sz="4000" b="1" dirty="0" smtClean="0">
                <a:solidFill>
                  <a:srgbClr val="FF0000"/>
                </a:solidFill>
              </a:rPr>
              <a:t>(CLAVİCEPS PURPUREA-ERGOT HASTALIĞI)</a:t>
            </a:r>
            <a:r>
              <a:rPr lang="tr-TR" dirty="0" smtClean="0">
                <a:solidFill>
                  <a:srgbClr val="FF0000"/>
                </a:solidFill>
              </a:rPr>
              <a:t/>
            </a:r>
            <a:br>
              <a:rPr lang="tr-TR"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noAutofit/>
          </a:bodyPr>
          <a:lstStyle/>
          <a:p>
            <a:r>
              <a:rPr lang="tr-TR" sz="2800" b="1" dirty="0" smtClean="0"/>
              <a:t>Tahıllarda yaşayan bir mantar türü</a:t>
            </a:r>
          </a:p>
          <a:p>
            <a:r>
              <a:rPr lang="tr-TR" sz="2800" b="1" dirty="0" smtClean="0"/>
              <a:t>1800'lerin ortalarına kadar çavdar'ın normal bir parçası olduğu düşünülmüştür</a:t>
            </a:r>
          </a:p>
          <a:p>
            <a:r>
              <a:rPr lang="tr-TR" sz="2800" b="1" dirty="0" smtClean="0"/>
              <a:t>En çok </a:t>
            </a:r>
            <a:r>
              <a:rPr lang="tr-TR" sz="2800" b="1" dirty="0" smtClean="0">
                <a:solidFill>
                  <a:srgbClr val="FF0000"/>
                </a:solidFill>
              </a:rPr>
              <a:t>çavdarda görülse de diğer tahıllara da yerleşebilir</a:t>
            </a:r>
          </a:p>
          <a:p>
            <a:r>
              <a:rPr lang="tr-TR" sz="2800" b="1" dirty="0" smtClean="0"/>
              <a:t>Koyu mor renkli ve birkaç santim uzunluğundadır</a:t>
            </a:r>
          </a:p>
          <a:p>
            <a:endParaRPr lang="tr-TR" sz="2400" b="1" dirty="0" smtClean="0"/>
          </a:p>
        </p:txBody>
      </p:sp>
      <p:pic>
        <p:nvPicPr>
          <p:cNvPr id="6146" name="Picture 2" descr="C:\Users\user\Desktop\çavdar-mahmuzu-800x531.jpg"/>
          <p:cNvPicPr>
            <a:picLocks noChangeAspect="1" noChangeArrowheads="1"/>
          </p:cNvPicPr>
          <p:nvPr/>
        </p:nvPicPr>
        <p:blipFill>
          <a:blip r:embed="rId2" cstate="print"/>
          <a:srcRect/>
          <a:stretch>
            <a:fillRect/>
          </a:stretch>
        </p:blipFill>
        <p:spPr bwMode="auto">
          <a:xfrm>
            <a:off x="5076056" y="4541231"/>
            <a:ext cx="3593976" cy="2064098"/>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4294967295"/>
          </p:nvPr>
        </p:nvPicPr>
        <p:blipFill>
          <a:blip r:embed="rId2" cstate="print"/>
          <a:srcRect/>
          <a:stretch>
            <a:fillRect/>
          </a:stretch>
        </p:blipFill>
        <p:spPr bwMode="auto">
          <a:xfrm>
            <a:off x="899592" y="764704"/>
            <a:ext cx="7489825" cy="540067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4294967295"/>
          </p:nvPr>
        </p:nvPicPr>
        <p:blipFill>
          <a:blip r:embed="rId2" cstate="print"/>
          <a:srcRect/>
          <a:stretch>
            <a:fillRect/>
          </a:stretch>
        </p:blipFill>
        <p:spPr bwMode="auto">
          <a:xfrm>
            <a:off x="539552" y="620688"/>
            <a:ext cx="8064500" cy="559276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C:\Users\tijen\Desktop\9BD5409B-5351-4E05-A1DF-FBBA08D73B7D-1024x723.jpeg"/>
          <p:cNvPicPr>
            <a:picLocks noChangeAspect="1" noChangeArrowheads="1"/>
          </p:cNvPicPr>
          <p:nvPr/>
        </p:nvPicPr>
        <p:blipFill>
          <a:blip r:embed="rId2" cstate="print"/>
          <a:srcRect/>
          <a:stretch>
            <a:fillRect/>
          </a:stretch>
        </p:blipFill>
        <p:spPr bwMode="auto">
          <a:xfrm>
            <a:off x="683568" y="764704"/>
            <a:ext cx="7613104" cy="5375269"/>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b="1" dirty="0" smtClean="0">
                <a:solidFill>
                  <a:srgbClr val="FF0000"/>
                </a:solidFill>
              </a:rPr>
              <a:t/>
            </a:r>
            <a:br>
              <a:rPr lang="tr-TR" b="1" dirty="0" smtClean="0">
                <a:solidFill>
                  <a:srgbClr val="FF0000"/>
                </a:solidFill>
              </a:rPr>
            </a:br>
            <a:r>
              <a:rPr lang="tr-TR" sz="4000" b="1" dirty="0" smtClean="0">
                <a:solidFill>
                  <a:srgbClr val="FF0000"/>
                </a:solidFill>
              </a:rPr>
              <a:t>ÇAVDAR MAHMUZU</a:t>
            </a:r>
            <a:r>
              <a:rPr lang="tr-TR" sz="4000" dirty="0" smtClean="0">
                <a:solidFill>
                  <a:srgbClr val="FF0000"/>
                </a:solidFill>
              </a:rPr>
              <a:t> </a:t>
            </a:r>
            <a:br>
              <a:rPr lang="tr-TR" sz="4000" dirty="0" smtClean="0">
                <a:solidFill>
                  <a:srgbClr val="FF0000"/>
                </a:solidFill>
              </a:rPr>
            </a:br>
            <a:r>
              <a:rPr lang="tr-TR" sz="4000" b="1" dirty="0" smtClean="0">
                <a:solidFill>
                  <a:srgbClr val="FF0000"/>
                </a:solidFill>
              </a:rPr>
              <a:t>(CLAVİCEPS PURPUREA-ERGOT HASTALIĞI)</a:t>
            </a:r>
            <a:r>
              <a:rPr lang="tr-TR" dirty="0" smtClean="0">
                <a:solidFill>
                  <a:srgbClr val="FF0000"/>
                </a:solidFill>
              </a:rPr>
              <a:t/>
            </a:r>
            <a:br>
              <a:rPr lang="tr-TR" dirty="0" smtClean="0">
                <a:solidFill>
                  <a:srgbClr val="FF0000"/>
                </a:solidFill>
              </a:rPr>
            </a:br>
            <a:r>
              <a:rPr lang="tr-TR" b="1" dirty="0" smtClean="0"/>
              <a:t/>
            </a:r>
            <a:br>
              <a:rPr lang="tr-TR" b="1" dirty="0" smtClean="0"/>
            </a:br>
            <a:endParaRPr lang="tr-TR" dirty="0"/>
          </a:p>
        </p:txBody>
      </p:sp>
      <p:sp>
        <p:nvSpPr>
          <p:cNvPr id="3" name="2 İçerik Yer Tutucusu"/>
          <p:cNvSpPr>
            <a:spLocks noGrp="1"/>
          </p:cNvSpPr>
          <p:nvPr>
            <p:ph idx="1"/>
          </p:nvPr>
        </p:nvSpPr>
        <p:spPr/>
        <p:txBody>
          <a:bodyPr>
            <a:normAutofit/>
          </a:bodyPr>
          <a:lstStyle/>
          <a:p>
            <a:r>
              <a:rPr lang="tr-TR" sz="2600" b="1" dirty="0" smtClean="0"/>
              <a:t>Çavdar mahmuzu zehirlenmesi ölümcül olabilir </a:t>
            </a:r>
          </a:p>
          <a:p>
            <a:r>
              <a:rPr lang="tr-TR" sz="2600" b="1" dirty="0" smtClean="0"/>
              <a:t>Bunun yanında delilik gibi ciddi psikiyatrik sorunlara da yol açabilir</a:t>
            </a:r>
          </a:p>
          <a:p>
            <a:r>
              <a:rPr lang="tr-TR" sz="2600" b="1" dirty="0" smtClean="0"/>
              <a:t>Pek çok çavdar mahmuzu </a:t>
            </a:r>
            <a:r>
              <a:rPr lang="tr-TR" sz="2600" b="1" dirty="0" err="1" smtClean="0"/>
              <a:t>alkaloidi</a:t>
            </a:r>
            <a:r>
              <a:rPr lang="tr-TR" sz="2600" b="1" dirty="0" smtClean="0"/>
              <a:t> </a:t>
            </a:r>
            <a:r>
              <a:rPr lang="tr-TR" sz="2600" b="1" dirty="0" err="1" smtClean="0"/>
              <a:t>nörotransmiter</a:t>
            </a:r>
            <a:r>
              <a:rPr lang="tr-TR" sz="2600" b="1" dirty="0" smtClean="0"/>
              <a:t> fonksiyonları etkileyerek merkezi sinir sistemi üzerinde zehirleyici etkilere neden olurlar</a:t>
            </a:r>
          </a:p>
          <a:p>
            <a:pPr>
              <a:buNone/>
            </a:pPr>
            <a:r>
              <a:rPr lang="tr-TR" sz="2600" b="1" dirty="0" smtClean="0">
                <a:solidFill>
                  <a:srgbClr val="333399"/>
                </a:solidFill>
              </a:rPr>
              <a:t>		HAYVANLARDA </a:t>
            </a:r>
          </a:p>
          <a:p>
            <a:r>
              <a:rPr lang="tr-TR" sz="2600" b="1" dirty="0" smtClean="0"/>
              <a:t>Yavru atma,kuyruk ve tırnakların kopup düşmesi ve sinir ve sindirim sistemi üzerinde bozukluklar görülür</a:t>
            </a:r>
          </a:p>
          <a:p>
            <a:endParaRPr lang="tr-TR"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260px-Ergot01.jpg"/>
          <p:cNvPicPr>
            <a:picLocks noGrp="1" noChangeAspect="1" noChangeArrowheads="1"/>
          </p:cNvPicPr>
          <p:nvPr>
            <p:ph idx="4294967295"/>
          </p:nvPr>
        </p:nvPicPr>
        <p:blipFill>
          <a:blip r:embed="rId2" cstate="print"/>
          <a:srcRect/>
          <a:stretch>
            <a:fillRect/>
          </a:stretch>
        </p:blipFill>
        <p:spPr bwMode="auto">
          <a:xfrm>
            <a:off x="1043608" y="332656"/>
            <a:ext cx="6858000" cy="6111875"/>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c\Desktop\claviceps-purpurea-19425156.jpg"/>
          <p:cNvPicPr>
            <a:picLocks noGrp="1" noChangeAspect="1" noChangeArrowheads="1"/>
          </p:cNvPicPr>
          <p:nvPr>
            <p:ph idx="4294967295"/>
          </p:nvPr>
        </p:nvPicPr>
        <p:blipFill>
          <a:blip r:embed="rId2" cstate="print"/>
          <a:srcRect/>
          <a:stretch>
            <a:fillRect/>
          </a:stretch>
        </p:blipFill>
        <p:spPr bwMode="auto">
          <a:xfrm>
            <a:off x="1691680" y="332656"/>
            <a:ext cx="6715125" cy="6289675"/>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Pc\Desktop\Claviceps_purpurea.JPG"/>
          <p:cNvPicPr>
            <a:picLocks noGrp="1" noChangeAspect="1" noChangeArrowheads="1"/>
          </p:cNvPicPr>
          <p:nvPr>
            <p:ph idx="4294967295"/>
          </p:nvPr>
        </p:nvPicPr>
        <p:blipFill>
          <a:blip r:embed="rId2" cstate="print"/>
          <a:srcRect/>
          <a:stretch>
            <a:fillRect/>
          </a:stretch>
        </p:blipFill>
        <p:spPr bwMode="auto">
          <a:xfrm>
            <a:off x="4572000" y="404664"/>
            <a:ext cx="4286250" cy="6034087"/>
          </a:xfrm>
          <a:prstGeom prst="rect">
            <a:avLst/>
          </a:prstGeom>
          <a:noFill/>
        </p:spPr>
      </p:pic>
      <p:pic>
        <p:nvPicPr>
          <p:cNvPr id="5122" name="Picture 2" descr="C:\Users\Pc\Desktop\Claviceps_purpurea_cause_of_Ergot_of_Rye.jpg"/>
          <p:cNvPicPr>
            <a:picLocks noChangeAspect="1" noChangeArrowheads="1"/>
          </p:cNvPicPr>
          <p:nvPr/>
        </p:nvPicPr>
        <p:blipFill>
          <a:blip r:embed="rId3" cstate="print"/>
          <a:srcRect/>
          <a:stretch>
            <a:fillRect/>
          </a:stretch>
        </p:blipFill>
        <p:spPr bwMode="auto">
          <a:xfrm>
            <a:off x="214282" y="714356"/>
            <a:ext cx="4143412" cy="5524549"/>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AMANİTA</a:t>
            </a:r>
            <a:endParaRPr lang="tr-TR" b="1" dirty="0">
              <a:solidFill>
                <a:srgbClr val="FF0000"/>
              </a:solidFill>
            </a:endParaRPr>
          </a:p>
        </p:txBody>
      </p:sp>
      <p:pic>
        <p:nvPicPr>
          <p:cNvPr id="3074" name="Picture 2" descr="C:\Users\Pc\Desktop\3396716610_b8c91a94ae.jpg"/>
          <p:cNvPicPr>
            <a:picLocks noGrp="1" noChangeAspect="1" noChangeArrowheads="1"/>
          </p:cNvPicPr>
          <p:nvPr>
            <p:ph idx="1"/>
          </p:nvPr>
        </p:nvPicPr>
        <p:blipFill>
          <a:blip r:embed="rId2" cstate="print"/>
          <a:srcRect/>
          <a:stretch>
            <a:fillRect/>
          </a:stretch>
        </p:blipFill>
        <p:spPr bwMode="auto">
          <a:xfrm>
            <a:off x="3857620" y="2786058"/>
            <a:ext cx="5120228" cy="3840171"/>
          </a:xfrm>
          <a:prstGeom prst="rect">
            <a:avLst/>
          </a:prstGeom>
          <a:noFill/>
        </p:spPr>
      </p:pic>
      <p:pic>
        <p:nvPicPr>
          <p:cNvPr id="3075" name="Picture 3" descr="C:\Users\Pc\Desktop\Basket_of_Amanita_muscaria.png"/>
          <p:cNvPicPr>
            <a:picLocks noChangeAspect="1" noChangeArrowheads="1"/>
          </p:cNvPicPr>
          <p:nvPr/>
        </p:nvPicPr>
        <p:blipFill>
          <a:blip r:embed="rId3" cstate="print"/>
          <a:srcRect/>
          <a:stretch>
            <a:fillRect/>
          </a:stretch>
        </p:blipFill>
        <p:spPr bwMode="auto">
          <a:xfrm>
            <a:off x="428596" y="1214422"/>
            <a:ext cx="3000396" cy="459783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AMANİTA</a:t>
            </a:r>
            <a:endParaRPr lang="tr-TR" dirty="0">
              <a:solidFill>
                <a:srgbClr val="FF0000"/>
              </a:solidFill>
            </a:endParaRPr>
          </a:p>
        </p:txBody>
      </p:sp>
      <p:sp>
        <p:nvSpPr>
          <p:cNvPr id="3" name="2 İçerik Yer Tutucusu"/>
          <p:cNvSpPr>
            <a:spLocks noGrp="1"/>
          </p:cNvSpPr>
          <p:nvPr>
            <p:ph idx="1"/>
          </p:nvPr>
        </p:nvSpPr>
        <p:spPr/>
        <p:txBody>
          <a:bodyPr>
            <a:normAutofit fontScale="92500"/>
          </a:bodyPr>
          <a:lstStyle/>
          <a:p>
            <a:r>
              <a:rPr lang="tr-TR" b="1" dirty="0" err="1" smtClean="0"/>
              <a:t>Amanita</a:t>
            </a:r>
            <a:r>
              <a:rPr lang="tr-TR" b="1" dirty="0" smtClean="0"/>
              <a:t>, </a:t>
            </a:r>
            <a:r>
              <a:rPr lang="tr-TR" b="1" dirty="0" err="1" smtClean="0"/>
              <a:t>Amanitaceae</a:t>
            </a:r>
            <a:r>
              <a:rPr lang="tr-TR" b="1" dirty="0" smtClean="0"/>
              <a:t> familyasından şapkalı mantar cinsi</a:t>
            </a:r>
          </a:p>
          <a:p>
            <a:r>
              <a:rPr lang="tr-TR" b="1" dirty="0" smtClean="0"/>
              <a:t>Bu cinsin en bilinen üyeleri beyaz benekli kırmızı şapkalı ve HALÜSİNOJEN BİR MANTAR olan </a:t>
            </a:r>
            <a:r>
              <a:rPr lang="tr-TR" b="1" i="1" dirty="0" err="1" smtClean="0"/>
              <a:t>Amanita</a:t>
            </a:r>
            <a:r>
              <a:rPr lang="tr-TR" b="1" i="1" dirty="0" smtClean="0"/>
              <a:t> </a:t>
            </a:r>
            <a:r>
              <a:rPr lang="tr-TR" b="1" i="1" dirty="0" err="1" smtClean="0"/>
              <a:t>muscaria</a:t>
            </a:r>
            <a:r>
              <a:rPr lang="tr-TR" b="1" i="1" dirty="0" smtClean="0"/>
              <a:t> </a:t>
            </a:r>
            <a:r>
              <a:rPr lang="tr-TR" b="1" dirty="0" smtClean="0"/>
              <a:t>zehirli ve </a:t>
            </a:r>
            <a:r>
              <a:rPr lang="tr-TR" b="1" dirty="0" err="1" smtClean="0"/>
              <a:t>halüsinojendir</a:t>
            </a:r>
            <a:endParaRPr lang="tr-TR" b="1" i="1" dirty="0" smtClean="0"/>
          </a:p>
          <a:p>
            <a:r>
              <a:rPr lang="tr-TR" b="1" dirty="0" smtClean="0"/>
              <a:t>Ve en tehlikeli zehirli mantarlardan olan </a:t>
            </a:r>
            <a:r>
              <a:rPr lang="tr-TR" b="1" i="1" dirty="0" err="1" smtClean="0"/>
              <a:t>Amanita</a:t>
            </a:r>
            <a:r>
              <a:rPr lang="tr-TR" b="1" i="1" dirty="0" smtClean="0"/>
              <a:t> </a:t>
            </a:r>
            <a:r>
              <a:rPr lang="tr-TR" b="1" i="1" dirty="0" err="1" smtClean="0"/>
              <a:t>phalloides</a:t>
            </a:r>
            <a:r>
              <a:rPr lang="tr-TR" b="1" dirty="0" smtClean="0"/>
              <a:t> ve </a:t>
            </a:r>
            <a:r>
              <a:rPr lang="tr-TR" b="1" i="1" dirty="0" err="1" smtClean="0"/>
              <a:t>Amanita</a:t>
            </a:r>
            <a:r>
              <a:rPr lang="tr-TR" b="1" i="1" dirty="0" smtClean="0"/>
              <a:t> </a:t>
            </a:r>
            <a:r>
              <a:rPr lang="tr-TR" b="1" i="1" dirty="0" err="1" smtClean="0"/>
              <a:t>virosa</a:t>
            </a:r>
            <a:r>
              <a:rPr lang="tr-TR" b="1" dirty="0" err="1" smtClean="0"/>
              <a:t>dır</a:t>
            </a:r>
            <a:r>
              <a:rPr lang="tr-TR" b="1" dirty="0" smtClean="0"/>
              <a:t> </a:t>
            </a:r>
          </a:p>
          <a:p>
            <a:r>
              <a:rPr lang="tr-TR" b="1" dirty="0" smtClean="0"/>
              <a:t>Türün bazı üyeleri zehirliyken bazı üyeleri de yenilebilmektedir</a:t>
            </a:r>
            <a:endParaRPr lang="tr-TR"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Desktop\krizatem-cicek.jpg"/>
          <p:cNvPicPr>
            <a:picLocks noGrp="1" noChangeAspect="1" noChangeArrowheads="1"/>
          </p:cNvPicPr>
          <p:nvPr>
            <p:ph idx="4294967295"/>
          </p:nvPr>
        </p:nvPicPr>
        <p:blipFill>
          <a:blip r:embed="rId2" cstate="print"/>
          <a:srcRect/>
          <a:stretch>
            <a:fillRect/>
          </a:stretch>
        </p:blipFill>
        <p:spPr bwMode="auto">
          <a:xfrm>
            <a:off x="971600" y="836712"/>
            <a:ext cx="6581775" cy="4986338"/>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DERMATOFİT NEDİR</a:t>
            </a:r>
            <a:endParaRPr lang="tr-TR" b="1"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a:bodyPr>
          <a:lstStyle/>
          <a:p>
            <a:r>
              <a:rPr lang="tr-TR" b="1" dirty="0" err="1" smtClean="0">
                <a:solidFill>
                  <a:srgbClr val="333399"/>
                </a:solidFill>
              </a:rPr>
              <a:t>Dermatofitler</a:t>
            </a:r>
            <a:r>
              <a:rPr lang="tr-TR" b="1" dirty="0" smtClean="0">
                <a:solidFill>
                  <a:srgbClr val="333399"/>
                </a:solidFill>
              </a:rPr>
              <a:t>; insan ve hayvanların deri, saç, kıl ve tırnak gibi </a:t>
            </a:r>
            <a:r>
              <a:rPr lang="tr-TR" b="1" dirty="0" err="1" smtClean="0">
                <a:solidFill>
                  <a:srgbClr val="333399"/>
                </a:solidFill>
              </a:rPr>
              <a:t>yüzeyel</a:t>
            </a:r>
            <a:r>
              <a:rPr lang="tr-TR" b="1" dirty="0" smtClean="0">
                <a:solidFill>
                  <a:srgbClr val="333399"/>
                </a:solidFill>
              </a:rPr>
              <a:t> </a:t>
            </a:r>
            <a:r>
              <a:rPr lang="tr-TR" b="1" dirty="0" err="1" smtClean="0">
                <a:solidFill>
                  <a:srgbClr val="333399"/>
                </a:solidFill>
              </a:rPr>
              <a:t>keratinize</a:t>
            </a:r>
            <a:r>
              <a:rPr lang="tr-TR" b="1" dirty="0" smtClean="0">
                <a:solidFill>
                  <a:srgbClr val="333399"/>
                </a:solidFill>
              </a:rPr>
              <a:t> dokularını tutan (</a:t>
            </a:r>
            <a:r>
              <a:rPr lang="tr-TR" b="1" dirty="0" err="1" smtClean="0">
                <a:solidFill>
                  <a:srgbClr val="7030A0"/>
                </a:solidFill>
              </a:rPr>
              <a:t>stratum</a:t>
            </a:r>
            <a:r>
              <a:rPr lang="tr-TR" b="1" dirty="0" smtClean="0">
                <a:solidFill>
                  <a:srgbClr val="7030A0"/>
                </a:solidFill>
              </a:rPr>
              <a:t> </a:t>
            </a:r>
            <a:r>
              <a:rPr lang="tr-TR" b="1" dirty="0" err="1" smtClean="0">
                <a:solidFill>
                  <a:srgbClr val="7030A0"/>
                </a:solidFill>
              </a:rPr>
              <a:t>korneum</a:t>
            </a:r>
            <a:r>
              <a:rPr lang="tr-TR" b="1" dirty="0" smtClean="0">
                <a:solidFill>
                  <a:srgbClr val="7030A0"/>
                </a:solidFill>
              </a:rPr>
              <a:t>) </a:t>
            </a:r>
            <a:r>
              <a:rPr lang="tr-TR" b="1" dirty="0" smtClean="0">
                <a:solidFill>
                  <a:srgbClr val="FF0000"/>
                </a:solidFill>
              </a:rPr>
              <a:t>küf mantarlarıdır</a:t>
            </a:r>
          </a:p>
          <a:p>
            <a:r>
              <a:rPr lang="tr-TR" b="1" dirty="0" smtClean="0"/>
              <a:t>Bu mantarlar derin dokulara yayılmaz, </a:t>
            </a:r>
            <a:r>
              <a:rPr lang="tr-TR" b="1" dirty="0" err="1" smtClean="0"/>
              <a:t>epidermiste</a:t>
            </a:r>
            <a:r>
              <a:rPr lang="tr-TR" b="1" dirty="0" smtClean="0"/>
              <a:t> lokalize olurlar</a:t>
            </a:r>
          </a:p>
          <a:p>
            <a:r>
              <a:rPr lang="tr-TR" b="1" dirty="0" err="1" smtClean="0"/>
              <a:t>Hifler</a:t>
            </a:r>
            <a:r>
              <a:rPr lang="tr-TR" b="1" dirty="0" smtClean="0"/>
              <a:t> ve </a:t>
            </a:r>
            <a:r>
              <a:rPr lang="tr-TR" b="1" dirty="0" err="1" smtClean="0"/>
              <a:t>artrosporlar</a:t>
            </a:r>
            <a:r>
              <a:rPr lang="tr-TR" b="1" dirty="0" smtClean="0"/>
              <a:t> oluşturarak ürerler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NEREDE HASTALIK YAPARLAR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err="1" smtClean="0"/>
              <a:t>Dermatofitler</a:t>
            </a:r>
            <a:r>
              <a:rPr lang="tr-TR" b="1" dirty="0" smtClean="0"/>
              <a:t> üremek için </a:t>
            </a:r>
            <a:r>
              <a:rPr lang="tr-TR" b="1" dirty="0" err="1" smtClean="0">
                <a:solidFill>
                  <a:srgbClr val="333399"/>
                </a:solidFill>
              </a:rPr>
              <a:t>keratini</a:t>
            </a:r>
            <a:r>
              <a:rPr lang="tr-TR" b="1" dirty="0" smtClean="0"/>
              <a:t> kullanan mantarlardır</a:t>
            </a:r>
          </a:p>
          <a:p>
            <a:r>
              <a:rPr lang="tr-TR" b="1" dirty="0" smtClean="0"/>
              <a:t>Derinin dış </a:t>
            </a:r>
            <a:r>
              <a:rPr lang="tr-TR" b="1" dirty="0" err="1" smtClean="0"/>
              <a:t>stratum</a:t>
            </a:r>
            <a:r>
              <a:rPr lang="tr-TR" b="1" dirty="0" smtClean="0"/>
              <a:t> </a:t>
            </a:r>
            <a:r>
              <a:rPr lang="tr-TR" b="1" dirty="0" err="1" smtClean="0"/>
              <a:t>corneum</a:t>
            </a:r>
            <a:r>
              <a:rPr lang="tr-TR" b="1" dirty="0" smtClean="0"/>
              <a:t> tabakası</a:t>
            </a:r>
          </a:p>
          <a:p>
            <a:r>
              <a:rPr lang="tr-TR" b="1" dirty="0" smtClean="0"/>
              <a:t>Tırnaklar, el</a:t>
            </a:r>
          </a:p>
          <a:p>
            <a:r>
              <a:rPr lang="tr-TR" b="1" dirty="0" smtClean="0"/>
              <a:t>İnsan ve hayvanların saç ve kılları gibi yüzeysel alanlarda </a:t>
            </a:r>
            <a:r>
              <a:rPr lang="tr-TR" b="1" dirty="0" err="1" smtClean="0"/>
              <a:t>infeksiyon</a:t>
            </a:r>
            <a:r>
              <a:rPr lang="tr-TR" b="1" dirty="0" smtClean="0"/>
              <a:t> oluştururlar</a:t>
            </a:r>
          </a:p>
          <a:p>
            <a:endParaRPr lang="tr-T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640960" cy="6192688"/>
          </a:xfrm>
        </p:spPr>
        <p:txBody>
          <a:bodyPr>
            <a:normAutofit fontScale="92500"/>
          </a:bodyPr>
          <a:lstStyle/>
          <a:p>
            <a:pPr algn="ctr">
              <a:buNone/>
            </a:pPr>
            <a:r>
              <a:rPr lang="tr-TR" b="1" dirty="0" smtClean="0">
                <a:solidFill>
                  <a:srgbClr val="FF0000"/>
                </a:solidFill>
              </a:rPr>
              <a:t>İNSANLARDA HASTALIK OLUŞTURAN DERMATOFİTLER</a:t>
            </a:r>
          </a:p>
          <a:p>
            <a:r>
              <a:rPr lang="tr-TR" b="1" dirty="0" err="1" smtClean="0"/>
              <a:t>Microsporium</a:t>
            </a:r>
            <a:endParaRPr lang="tr-TR" b="1" dirty="0" smtClean="0"/>
          </a:p>
          <a:p>
            <a:r>
              <a:rPr lang="tr-TR" b="1" dirty="0" err="1" smtClean="0"/>
              <a:t>Trichophyton</a:t>
            </a:r>
            <a:r>
              <a:rPr lang="tr-TR" b="1" dirty="0" smtClean="0"/>
              <a:t>  </a:t>
            </a:r>
          </a:p>
          <a:p>
            <a:r>
              <a:rPr lang="tr-TR" b="1" dirty="0" err="1" smtClean="0"/>
              <a:t>Epidermophyton</a:t>
            </a:r>
            <a:r>
              <a:rPr lang="tr-TR" b="1" dirty="0" smtClean="0"/>
              <a:t> </a:t>
            </a:r>
          </a:p>
          <a:p>
            <a:pPr lvl="1"/>
            <a:r>
              <a:rPr lang="tr-TR" b="1" dirty="0" smtClean="0"/>
              <a:t>olarak sınıflamıştır.</a:t>
            </a:r>
          </a:p>
          <a:p>
            <a:pPr lvl="1"/>
            <a:endParaRPr lang="tr-TR" b="1" dirty="0" smtClean="0"/>
          </a:p>
          <a:p>
            <a:r>
              <a:rPr lang="tr-TR" b="1" dirty="0" err="1" smtClean="0"/>
              <a:t>Microsporium</a:t>
            </a:r>
            <a:endParaRPr lang="tr-TR" b="1" dirty="0" smtClean="0"/>
          </a:p>
          <a:p>
            <a:r>
              <a:rPr lang="tr-TR" b="1" dirty="0" err="1" smtClean="0"/>
              <a:t>Trichophyton</a:t>
            </a:r>
            <a:r>
              <a:rPr lang="tr-TR" b="1" dirty="0" smtClean="0"/>
              <a:t>  </a:t>
            </a:r>
          </a:p>
          <a:p>
            <a:r>
              <a:rPr lang="tr-TR" b="1" dirty="0" err="1" smtClean="0"/>
              <a:t>Epidermophyton</a:t>
            </a:r>
            <a:r>
              <a:rPr lang="tr-TR" b="1" dirty="0" smtClean="0"/>
              <a:t> </a:t>
            </a:r>
          </a:p>
          <a:p>
            <a:pPr lvl="1"/>
            <a:r>
              <a:rPr lang="tr-TR" b="1" dirty="0" smtClean="0"/>
              <a:t>türleri tarafından meydana getirilen, </a:t>
            </a:r>
            <a:r>
              <a:rPr lang="tr-TR" b="1" dirty="0" err="1" smtClean="0"/>
              <a:t>keratinize</a:t>
            </a:r>
            <a:r>
              <a:rPr lang="tr-TR" b="1" dirty="0" smtClean="0"/>
              <a:t> dokular ile kıl, kıl kökleri ve </a:t>
            </a:r>
            <a:r>
              <a:rPr lang="tr-TR" b="1" dirty="0" err="1" smtClean="0">
                <a:solidFill>
                  <a:srgbClr val="333399"/>
                </a:solidFill>
              </a:rPr>
              <a:t>yüzeyel</a:t>
            </a:r>
            <a:r>
              <a:rPr lang="tr-TR" b="1" dirty="0" smtClean="0">
                <a:solidFill>
                  <a:srgbClr val="333399"/>
                </a:solidFill>
              </a:rPr>
              <a:t> </a:t>
            </a:r>
            <a:r>
              <a:rPr lang="tr-TR" b="1" dirty="0" err="1" smtClean="0">
                <a:solidFill>
                  <a:srgbClr val="333399"/>
                </a:solidFill>
              </a:rPr>
              <a:t>keratinize</a:t>
            </a:r>
            <a:r>
              <a:rPr lang="tr-TR" b="1" dirty="0" smtClean="0">
                <a:solidFill>
                  <a:srgbClr val="333399"/>
                </a:solidFill>
              </a:rPr>
              <a:t> dokularını tutan (</a:t>
            </a:r>
            <a:r>
              <a:rPr lang="tr-TR" b="1" dirty="0" err="1" smtClean="0"/>
              <a:t>stratum</a:t>
            </a:r>
            <a:r>
              <a:rPr lang="tr-TR" b="1" dirty="0" smtClean="0"/>
              <a:t> </a:t>
            </a:r>
            <a:r>
              <a:rPr lang="tr-TR" b="1" dirty="0" err="1" smtClean="0"/>
              <a:t>korneum</a:t>
            </a:r>
            <a:r>
              <a:rPr lang="tr-TR" b="1" dirty="0" smtClean="0"/>
              <a:t>) enfeksiyon’larına</a:t>
            </a:r>
            <a:r>
              <a:rPr lang="tr-TR" b="1" dirty="0" smtClean="0">
                <a:solidFill>
                  <a:srgbClr val="FF0000"/>
                </a:solidFill>
              </a:rPr>
              <a:t> DERMATOFİT </a:t>
            </a:r>
            <a:r>
              <a:rPr lang="tr-TR" b="1" dirty="0" smtClean="0"/>
              <a:t>denir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NASIL BELİRTİ VERİRLER</a:t>
            </a:r>
            <a:endParaRPr lang="tr-TR" b="1" dirty="0">
              <a:solidFill>
                <a:srgbClr val="FF0000"/>
              </a:solidFill>
            </a:endParaRPr>
          </a:p>
        </p:txBody>
      </p:sp>
      <p:sp>
        <p:nvSpPr>
          <p:cNvPr id="3" name="2 İçerik Yer Tutucusu"/>
          <p:cNvSpPr>
            <a:spLocks noGrp="1"/>
          </p:cNvSpPr>
          <p:nvPr>
            <p:ph idx="1"/>
          </p:nvPr>
        </p:nvSpPr>
        <p:spPr/>
        <p:txBody>
          <a:bodyPr/>
          <a:lstStyle/>
          <a:p>
            <a:pPr>
              <a:buNone/>
            </a:pPr>
            <a:r>
              <a:rPr lang="tr-TR" b="1" dirty="0" smtClean="0"/>
              <a:t>			Tutulum yerine göre</a:t>
            </a:r>
          </a:p>
          <a:p>
            <a:r>
              <a:rPr lang="tr-TR" b="1" dirty="0" smtClean="0"/>
              <a:t>Deride kepeklenme</a:t>
            </a:r>
          </a:p>
          <a:p>
            <a:r>
              <a:rPr lang="tr-TR" b="1" dirty="0" smtClean="0"/>
              <a:t>Vezikül oluşumu</a:t>
            </a:r>
          </a:p>
          <a:p>
            <a:r>
              <a:rPr lang="tr-TR" b="1" dirty="0" smtClean="0"/>
              <a:t>Kıl ve saçta kırılma</a:t>
            </a:r>
          </a:p>
          <a:p>
            <a:r>
              <a:rPr lang="tr-TR" b="1" dirty="0" smtClean="0"/>
              <a:t>Kıl ve saçta dökülme</a:t>
            </a:r>
          </a:p>
          <a:p>
            <a:r>
              <a:rPr lang="tr-TR" b="1" dirty="0" smtClean="0"/>
              <a:t>Tırnaklarda şekil ve yapı bozulması ortaya </a:t>
            </a:r>
          </a:p>
          <a:p>
            <a:pPr>
              <a:buNone/>
            </a:pPr>
            <a:r>
              <a:rPr lang="tr-TR" b="1" dirty="0" smtClean="0"/>
              <a:t>çıkar</a:t>
            </a:r>
          </a:p>
          <a:p>
            <a:endParaRPr lang="tr-T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188640"/>
            <a:ext cx="8784976" cy="6480720"/>
          </a:xfrm>
        </p:spPr>
        <p:txBody>
          <a:bodyPr>
            <a:normAutofit/>
          </a:bodyPr>
          <a:lstStyle/>
          <a:p>
            <a:pPr>
              <a:buNone/>
            </a:pPr>
            <a:r>
              <a:rPr lang="tr-TR" b="1" dirty="0" smtClean="0">
                <a:solidFill>
                  <a:srgbClr val="FF0000"/>
                </a:solidFill>
              </a:rPr>
              <a:t>			   RİNGWORM NEDİR</a:t>
            </a:r>
            <a:endParaRPr lang="tr-TR" b="1" dirty="0" smtClean="0"/>
          </a:p>
          <a:p>
            <a:r>
              <a:rPr lang="tr-TR" b="1" dirty="0" smtClean="0"/>
              <a:t>Klasik lezyonlar “</a:t>
            </a:r>
            <a:r>
              <a:rPr lang="tr-TR" b="1" dirty="0" err="1" smtClean="0"/>
              <a:t>ringworm</a:t>
            </a:r>
            <a:r>
              <a:rPr lang="tr-TR" b="1" dirty="0" smtClean="0"/>
              <a:t>” olarak adlandırılan dairesel yuvarlak ya da oval lezyonlar,mantar hastalığı</a:t>
            </a:r>
          </a:p>
          <a:p>
            <a:r>
              <a:rPr lang="tr-TR" sz="2800" b="1" dirty="0" smtClean="0"/>
              <a:t>Yüzeysel mantar enfeksiyonu</a:t>
            </a:r>
          </a:p>
          <a:p>
            <a:pPr>
              <a:buNone/>
            </a:pPr>
            <a:endParaRPr lang="tr-TR" b="1" dirty="0" smtClean="0"/>
          </a:p>
        </p:txBody>
      </p:sp>
      <p:pic>
        <p:nvPicPr>
          <p:cNvPr id="6" name="Picture 2"/>
          <p:cNvPicPr>
            <a:picLocks noChangeAspect="1" noChangeArrowheads="1"/>
          </p:cNvPicPr>
          <p:nvPr/>
        </p:nvPicPr>
        <p:blipFill>
          <a:blip r:embed="rId2" cstate="print"/>
          <a:srcRect/>
          <a:stretch>
            <a:fillRect/>
          </a:stretch>
        </p:blipFill>
        <p:spPr bwMode="auto">
          <a:xfrm>
            <a:off x="5220072" y="1988840"/>
            <a:ext cx="3744416" cy="1800200"/>
          </a:xfrm>
          <a:prstGeom prst="rect">
            <a:avLst/>
          </a:prstGeom>
          <a:noFill/>
          <a:ln w="9525">
            <a:noFill/>
            <a:miter lim="800000"/>
            <a:headEnd/>
            <a:tailEnd/>
          </a:ln>
        </p:spPr>
      </p:pic>
      <p:pic>
        <p:nvPicPr>
          <p:cNvPr id="7" name="Picture 2"/>
          <p:cNvPicPr>
            <a:picLocks noChangeAspect="1" noChangeArrowheads="1"/>
          </p:cNvPicPr>
          <p:nvPr/>
        </p:nvPicPr>
        <p:blipFill>
          <a:blip r:embed="rId3" cstate="print"/>
          <a:srcRect/>
          <a:stretch>
            <a:fillRect/>
          </a:stretch>
        </p:blipFill>
        <p:spPr bwMode="auto">
          <a:xfrm>
            <a:off x="467544" y="3717032"/>
            <a:ext cx="4968552" cy="2902053"/>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6084168" y="4005064"/>
            <a:ext cx="2791197" cy="257517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640960" cy="6264696"/>
          </a:xfrm>
        </p:spPr>
        <p:txBody>
          <a:bodyPr>
            <a:normAutofit/>
          </a:bodyPr>
          <a:lstStyle/>
          <a:p>
            <a:r>
              <a:rPr lang="tr-TR" b="1" dirty="0" smtClean="0">
                <a:solidFill>
                  <a:srgbClr val="333399"/>
                </a:solidFill>
              </a:rPr>
              <a:t>Mantar hastalıkları içinde </a:t>
            </a:r>
            <a:r>
              <a:rPr lang="tr-TR" b="1" dirty="0" err="1" smtClean="0">
                <a:solidFill>
                  <a:srgbClr val="333399"/>
                </a:solidFill>
              </a:rPr>
              <a:t>dermatofitler</a:t>
            </a:r>
            <a:r>
              <a:rPr lang="tr-TR" b="1" dirty="0" smtClean="0">
                <a:solidFill>
                  <a:srgbClr val="333399"/>
                </a:solidFill>
              </a:rPr>
              <a:t> bulaşıcı ve sadece deri, tırnak ve saçta, hayvanların boynuzumsu dokuları, kuşların tüyleri gibi </a:t>
            </a:r>
            <a:r>
              <a:rPr lang="tr-TR" b="1" dirty="0" err="1" smtClean="0">
                <a:solidFill>
                  <a:srgbClr val="333399"/>
                </a:solidFill>
              </a:rPr>
              <a:t>keratinize</a:t>
            </a:r>
            <a:r>
              <a:rPr lang="tr-TR" b="1" dirty="0" smtClean="0">
                <a:solidFill>
                  <a:srgbClr val="333399"/>
                </a:solidFill>
              </a:rPr>
              <a:t> dokusunda çoğalabilen mantar enfeksiyonlarıdır</a:t>
            </a:r>
          </a:p>
          <a:p>
            <a:r>
              <a:rPr lang="tr-TR" b="1" dirty="0" smtClean="0">
                <a:solidFill>
                  <a:srgbClr val="FF0000"/>
                </a:solidFill>
              </a:rPr>
              <a:t>Bunlar mukozada yaşayamazlar yani ağız ve vajinada çoğalamazlar</a:t>
            </a:r>
          </a:p>
          <a:p>
            <a:r>
              <a:rPr lang="tr-TR" b="1" dirty="0" smtClean="0">
                <a:solidFill>
                  <a:srgbClr val="7030A0"/>
                </a:solidFill>
              </a:rPr>
              <a:t>Yaptıkları enfeksiyon </a:t>
            </a:r>
            <a:r>
              <a:rPr lang="tr-TR" b="1" dirty="0" err="1" smtClean="0">
                <a:solidFill>
                  <a:srgbClr val="7030A0"/>
                </a:solidFill>
              </a:rPr>
              <a:t>yüzeyeldir</a:t>
            </a:r>
            <a:r>
              <a:rPr lang="tr-TR" b="1" dirty="0" smtClean="0">
                <a:solidFill>
                  <a:srgbClr val="7030A0"/>
                </a:solidFill>
              </a:rPr>
              <a:t> çok nadiren derine inerek sistemik tutulum gösterebilirler</a:t>
            </a:r>
          </a:p>
          <a:p>
            <a:r>
              <a:rPr lang="tr-TR" b="1" dirty="0" smtClean="0">
                <a:solidFill>
                  <a:srgbClr val="FF3399"/>
                </a:solidFill>
              </a:rPr>
              <a:t>Buda ancak </a:t>
            </a:r>
            <a:r>
              <a:rPr lang="tr-TR" b="1" dirty="0" err="1" smtClean="0">
                <a:solidFill>
                  <a:srgbClr val="FF3399"/>
                </a:solidFill>
              </a:rPr>
              <a:t>immün</a:t>
            </a:r>
            <a:r>
              <a:rPr lang="tr-TR" b="1" dirty="0" smtClean="0">
                <a:solidFill>
                  <a:srgbClr val="FF3399"/>
                </a:solidFill>
              </a:rPr>
              <a:t> sistemi baskı altında olan hastalarda gözlenmektedir</a:t>
            </a:r>
            <a:endParaRPr lang="tr-TR" b="1" dirty="0">
              <a:solidFill>
                <a:srgbClr val="FF339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DERMATOFİTLER HAYVANLARDA </a:t>
            </a:r>
            <a:br>
              <a:rPr lang="tr-TR" b="1" dirty="0" smtClean="0">
                <a:solidFill>
                  <a:srgbClr val="FF0000"/>
                </a:solidFill>
              </a:rPr>
            </a:br>
            <a:r>
              <a:rPr lang="tr-TR" b="1" dirty="0" smtClean="0">
                <a:solidFill>
                  <a:srgbClr val="FF0000"/>
                </a:solidFill>
              </a:rPr>
              <a:t>nerede enfeksiyon yaparlar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t>Hayvanların boynuzumsu dokuları, kuşların tüyleri gibi </a:t>
            </a:r>
            <a:r>
              <a:rPr lang="tr-TR" b="1" dirty="0" err="1" smtClean="0"/>
              <a:t>keratinize</a:t>
            </a:r>
            <a:r>
              <a:rPr lang="tr-TR" b="1" dirty="0" smtClean="0"/>
              <a:t> dokusunda çoğalabilen mantar enfeksiyonlarına da </a:t>
            </a:r>
            <a:r>
              <a:rPr lang="tr-TR" b="1" dirty="0" err="1" smtClean="0">
                <a:solidFill>
                  <a:srgbClr val="333399"/>
                </a:solidFill>
              </a:rPr>
              <a:t>Dermatofit</a:t>
            </a:r>
            <a:r>
              <a:rPr lang="tr-TR" b="1" dirty="0" smtClean="0"/>
              <a:t> denir</a:t>
            </a:r>
            <a:endParaRPr lang="tr-TR"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640960" cy="6191969"/>
          </a:xfrm>
        </p:spPr>
        <p:txBody>
          <a:bodyPr>
            <a:normAutofit lnSpcReduction="10000"/>
          </a:bodyPr>
          <a:lstStyle/>
          <a:p>
            <a:pPr algn="ctr">
              <a:buNone/>
            </a:pPr>
            <a:r>
              <a:rPr lang="tr-TR" sz="2800" b="1" dirty="0" smtClean="0"/>
              <a:t>	</a:t>
            </a:r>
            <a:r>
              <a:rPr lang="tr-TR" sz="2800" b="1" dirty="0" smtClean="0">
                <a:solidFill>
                  <a:srgbClr val="FF0000"/>
                </a:solidFill>
              </a:rPr>
              <a:t>MANTARLARIN HAYVANLAR ÜZERİNDE YAPTIĞI</a:t>
            </a:r>
            <a:br>
              <a:rPr lang="tr-TR" sz="2800" b="1" dirty="0" smtClean="0">
                <a:solidFill>
                  <a:srgbClr val="FF0000"/>
                </a:solidFill>
              </a:rPr>
            </a:br>
            <a:r>
              <a:rPr lang="tr-TR" sz="2800" b="1" dirty="0" smtClean="0">
                <a:solidFill>
                  <a:srgbClr val="FF0000"/>
                </a:solidFill>
              </a:rPr>
              <a:t>HASTALIKLAR</a:t>
            </a:r>
            <a:r>
              <a:rPr lang="tr-TR" sz="2800" b="1" dirty="0" smtClean="0"/>
              <a:t>	  </a:t>
            </a:r>
          </a:p>
          <a:p>
            <a:pPr algn="ctr">
              <a:buNone/>
            </a:pPr>
            <a:r>
              <a:rPr lang="tr-TR" sz="2800" b="1" dirty="0" smtClean="0"/>
              <a:t>  </a:t>
            </a:r>
            <a:r>
              <a:rPr lang="tr-TR" sz="2800" b="1" dirty="0" smtClean="0">
                <a:solidFill>
                  <a:srgbClr val="333399"/>
                </a:solidFill>
              </a:rPr>
              <a:t>KEDİ VE KÖPEKLERDE BULUNAN </a:t>
            </a:r>
          </a:p>
          <a:p>
            <a:r>
              <a:rPr lang="tr-TR" sz="2800" b="1" dirty="0" smtClean="0"/>
              <a:t>Deri, kıl ve tırnağın </a:t>
            </a:r>
            <a:r>
              <a:rPr lang="tr-TR" sz="2800" b="1" dirty="0" err="1" smtClean="0"/>
              <a:t>fungal</a:t>
            </a:r>
            <a:r>
              <a:rPr lang="tr-TR" sz="2800" b="1" dirty="0" smtClean="0"/>
              <a:t> (mantar) enfeksiyonu</a:t>
            </a:r>
          </a:p>
          <a:p>
            <a:pPr>
              <a:buNone/>
            </a:pPr>
            <a:endParaRPr lang="tr-TR" sz="2800" b="1" dirty="0" smtClean="0"/>
          </a:p>
          <a:p>
            <a:r>
              <a:rPr lang="tr-TR" sz="2800" b="1" dirty="0" smtClean="0"/>
              <a:t>Kedilerde yaygın görülen mantar türü </a:t>
            </a:r>
            <a:r>
              <a:rPr lang="tr-TR" sz="2800" b="1" i="1" dirty="0" err="1" smtClean="0"/>
              <a:t>Microsporum</a:t>
            </a:r>
            <a:r>
              <a:rPr lang="tr-TR" sz="2800" b="1" i="1" dirty="0" smtClean="0"/>
              <a:t> </a:t>
            </a:r>
            <a:r>
              <a:rPr lang="tr-TR" sz="2800" b="1" i="1" dirty="0" err="1" smtClean="0"/>
              <a:t>canis</a:t>
            </a:r>
            <a:endParaRPr lang="tr-TR" sz="2800" b="1" i="1" dirty="0" smtClean="0"/>
          </a:p>
          <a:p>
            <a:pPr>
              <a:buNone/>
            </a:pPr>
            <a:endParaRPr lang="tr-TR" sz="2800" b="1" dirty="0" smtClean="0"/>
          </a:p>
          <a:p>
            <a:r>
              <a:rPr lang="tr-TR" sz="2800" b="1" dirty="0" smtClean="0"/>
              <a:t>Köpeklerde ise </a:t>
            </a:r>
            <a:r>
              <a:rPr lang="tr-TR" sz="2800" b="1" i="1" dirty="0" err="1" smtClean="0"/>
              <a:t>Microsporum</a:t>
            </a:r>
            <a:r>
              <a:rPr lang="tr-TR" sz="2800" b="1" i="1" dirty="0" smtClean="0"/>
              <a:t> </a:t>
            </a:r>
            <a:r>
              <a:rPr lang="tr-TR" sz="2800" b="1" i="1" dirty="0" err="1" smtClean="0"/>
              <a:t>canis</a:t>
            </a:r>
            <a:r>
              <a:rPr lang="tr-TR" sz="2800" b="1" dirty="0" smtClean="0"/>
              <a:t> ve </a:t>
            </a:r>
            <a:r>
              <a:rPr lang="tr-TR" sz="2800" b="1" i="1" dirty="0" err="1" smtClean="0"/>
              <a:t>Microsporum</a:t>
            </a:r>
            <a:r>
              <a:rPr lang="tr-TR" sz="2800" b="1" i="1" dirty="0" smtClean="0"/>
              <a:t> </a:t>
            </a:r>
            <a:r>
              <a:rPr lang="tr-TR" sz="2800" b="1" i="1" dirty="0" err="1" smtClean="0"/>
              <a:t>gypseum</a:t>
            </a:r>
            <a:r>
              <a:rPr lang="tr-TR" sz="2800" b="1" dirty="0" smtClean="0"/>
              <a:t>’ dur</a:t>
            </a:r>
          </a:p>
          <a:p>
            <a:pPr>
              <a:buNone/>
            </a:pPr>
            <a:endParaRPr lang="tr-TR" sz="2800" b="1" dirty="0" smtClean="0"/>
          </a:p>
          <a:p>
            <a:r>
              <a:rPr lang="tr-TR" sz="2800" b="1" dirty="0" smtClean="0"/>
              <a:t>En çok görülen diğer bir mantar </a:t>
            </a:r>
            <a:r>
              <a:rPr lang="tr-TR" sz="2800" b="1" dirty="0" err="1" smtClean="0"/>
              <a:t>türüde</a:t>
            </a:r>
            <a:r>
              <a:rPr lang="tr-TR" sz="2800" b="1" dirty="0" smtClean="0"/>
              <a:t> </a:t>
            </a:r>
            <a:r>
              <a:rPr lang="tr-TR" sz="2800" b="1" i="1" dirty="0" err="1" smtClean="0"/>
              <a:t>Trictophyton</a:t>
            </a:r>
            <a:r>
              <a:rPr lang="tr-TR" sz="2800" b="1" i="1" dirty="0" smtClean="0"/>
              <a:t> </a:t>
            </a:r>
            <a:r>
              <a:rPr lang="tr-TR" sz="2800" b="1" i="1" dirty="0" err="1" smtClean="0"/>
              <a:t>spp</a:t>
            </a:r>
            <a:r>
              <a:rPr lang="tr-TR" sz="2800" b="1" dirty="0" smtClean="0"/>
              <a:t>‘ </a:t>
            </a:r>
            <a:r>
              <a:rPr lang="tr-TR" sz="2800" b="1" dirty="0" err="1" smtClean="0"/>
              <a:t>dir</a:t>
            </a:r>
            <a:endParaRPr lang="tr-TR" sz="2800" b="1" dirty="0" smtClean="0"/>
          </a:p>
          <a:p>
            <a:endParaRPr lang="tr-TR" sz="28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b="1" dirty="0" smtClean="0">
                <a:solidFill>
                  <a:srgbClr val="FF0000"/>
                </a:solidFill>
              </a:rPr>
              <a:t>KEDİDE</a:t>
            </a:r>
            <a:r>
              <a:rPr lang="tr-TR" dirty="0" smtClean="0">
                <a:solidFill>
                  <a:srgbClr val="FF0000"/>
                </a:solidFill>
              </a:rPr>
              <a:t> </a:t>
            </a:r>
            <a:r>
              <a:rPr lang="tr-TR" b="1" dirty="0" smtClean="0">
                <a:solidFill>
                  <a:srgbClr val="FF0000"/>
                </a:solidFill>
              </a:rPr>
              <a:t>RİNGWORM</a:t>
            </a:r>
            <a:r>
              <a:rPr lang="tr-TR" dirty="0" smtClean="0"/>
              <a:t/>
            </a:r>
            <a:br>
              <a:rPr lang="tr-TR" dirty="0" smtClean="0"/>
            </a:br>
            <a:endParaRPr lang="tr-TR" dirty="0"/>
          </a:p>
        </p:txBody>
      </p:sp>
      <p:pic>
        <p:nvPicPr>
          <p:cNvPr id="4098" name="Picture 2" descr="C:\Users\user\Desktop\kedilerde-ringworm-mantar-hastaligi.jpg"/>
          <p:cNvPicPr>
            <a:picLocks noGrp="1" noChangeAspect="1" noChangeArrowheads="1"/>
          </p:cNvPicPr>
          <p:nvPr>
            <p:ph idx="1"/>
          </p:nvPr>
        </p:nvPicPr>
        <p:blipFill>
          <a:blip r:embed="rId2" cstate="print"/>
          <a:srcRect/>
          <a:stretch>
            <a:fillRect/>
          </a:stretch>
        </p:blipFill>
        <p:spPr bwMode="auto">
          <a:xfrm>
            <a:off x="1043608" y="2204864"/>
            <a:ext cx="7143750" cy="4032448"/>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Desktop\mantar-kopek.jpg"/>
          <p:cNvPicPr>
            <a:picLocks noGrp="1" noChangeAspect="1" noChangeArrowheads="1"/>
          </p:cNvPicPr>
          <p:nvPr>
            <p:ph idx="4294967295"/>
          </p:nvPr>
        </p:nvPicPr>
        <p:blipFill>
          <a:blip r:embed="rId2" cstate="print"/>
          <a:srcRect/>
          <a:stretch>
            <a:fillRect/>
          </a:stretch>
        </p:blipFill>
        <p:spPr bwMode="auto">
          <a:xfrm>
            <a:off x="3923928" y="260648"/>
            <a:ext cx="4992315" cy="2867807"/>
          </a:xfrm>
          <a:prstGeom prst="rect">
            <a:avLst/>
          </a:prstGeom>
          <a:noFill/>
        </p:spPr>
      </p:pic>
      <p:pic>
        <p:nvPicPr>
          <p:cNvPr id="1027" name="Picture 3" descr="C:\Users\user\Desktop\mantar.jpg"/>
          <p:cNvPicPr>
            <a:picLocks noChangeAspect="1" noChangeArrowheads="1"/>
          </p:cNvPicPr>
          <p:nvPr/>
        </p:nvPicPr>
        <p:blipFill>
          <a:blip r:embed="rId3" cstate="print"/>
          <a:srcRect/>
          <a:stretch>
            <a:fillRect/>
          </a:stretch>
        </p:blipFill>
        <p:spPr bwMode="auto">
          <a:xfrm>
            <a:off x="323528" y="1844824"/>
            <a:ext cx="3943350" cy="462915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12968" cy="6264696"/>
          </a:xfrm>
        </p:spPr>
        <p:txBody>
          <a:bodyPr>
            <a:normAutofit fontScale="92500" lnSpcReduction="20000"/>
          </a:bodyPr>
          <a:lstStyle/>
          <a:p>
            <a:r>
              <a:rPr lang="tr-TR" b="1" dirty="0" smtClean="0"/>
              <a:t>Uzun tüylü kedilerde belirgin bir şikayet olmasa da, etkeni taşıyan kedi bulaştırıcı rol oynayabilir</a:t>
            </a:r>
          </a:p>
          <a:p>
            <a:r>
              <a:rPr lang="tr-TR" b="1" dirty="0" smtClean="0"/>
              <a:t>Yavru kedilerde erken dönemdeki klinik belirtiler; yüz, kulaklar ve patilerde başlayabilir</a:t>
            </a:r>
          </a:p>
          <a:p>
            <a:r>
              <a:rPr lang="tr-TR" b="1" dirty="0" smtClean="0"/>
              <a:t>Kedilerin yalanma alışkanlıkları ile de enfeksiyon, tüm vücuda hızlıca yayılabilir</a:t>
            </a:r>
          </a:p>
          <a:p>
            <a:r>
              <a:rPr lang="tr-TR" b="1" dirty="0" smtClean="0"/>
              <a:t>Hayvanın üzerinde bulunan mantar; onun yatağını, fırçalarını, oyuncaklarını yani çevresini de </a:t>
            </a:r>
            <a:r>
              <a:rPr lang="tr-TR" b="1" dirty="0" err="1" smtClean="0"/>
              <a:t>kontamine</a:t>
            </a:r>
            <a:r>
              <a:rPr lang="tr-TR" b="1" dirty="0" smtClean="0"/>
              <a:t> eder (bulaşıp yayılır)</a:t>
            </a:r>
          </a:p>
          <a:p>
            <a:r>
              <a:rPr lang="tr-TR" b="1" dirty="0" smtClean="0"/>
              <a:t>Yapılan çalışmalarda mantar sporlarının 18-24 ay boyunca bu ortamlarda canlı kaldığı görülmüştür</a:t>
            </a:r>
          </a:p>
          <a:p>
            <a:r>
              <a:rPr lang="tr-TR" b="1" dirty="0" smtClean="0"/>
              <a:t>Mantar sağlıklı deriyi </a:t>
            </a:r>
            <a:r>
              <a:rPr lang="tr-TR" b="1" dirty="0" err="1" smtClean="0"/>
              <a:t>enfekte</a:t>
            </a:r>
            <a:r>
              <a:rPr lang="tr-TR" b="1" dirty="0" smtClean="0"/>
              <a:t> eder. Ancak eğer deri üzerinde kaşıntılardan dolayı oluşan çizik ve yaralanma varsa, bu yüzeyleri daha çabuk </a:t>
            </a:r>
            <a:r>
              <a:rPr lang="tr-TR" b="1" dirty="0" err="1" smtClean="0"/>
              <a:t>enfekte</a:t>
            </a:r>
            <a:r>
              <a:rPr lang="tr-TR" b="1" dirty="0" smtClean="0"/>
              <a:t> ederler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712968" cy="6048672"/>
          </a:xfrm>
        </p:spPr>
        <p:txBody>
          <a:bodyPr>
            <a:normAutofit/>
          </a:bodyPr>
          <a:lstStyle/>
          <a:p>
            <a:r>
              <a:rPr lang="tr-TR" b="1" dirty="0" smtClean="0"/>
              <a:t>Kedilerin tüylerine bulaştığında öncelikle tüy kökünü zayıflatır ve dökülmelere neden olur</a:t>
            </a:r>
          </a:p>
          <a:p>
            <a:r>
              <a:rPr lang="tr-TR" b="1" dirty="0" smtClean="0"/>
              <a:t>İlerleyen zamanlarda geniş </a:t>
            </a:r>
            <a:r>
              <a:rPr lang="tr-TR" b="1" dirty="0" err="1" smtClean="0"/>
              <a:t>alopesik</a:t>
            </a:r>
            <a:r>
              <a:rPr lang="tr-TR" b="1" dirty="0" smtClean="0"/>
              <a:t> (tüysüz) alanlar oluşur</a:t>
            </a:r>
          </a:p>
          <a:p>
            <a:r>
              <a:rPr lang="tr-TR" b="1" dirty="0" smtClean="0"/>
              <a:t>İleri derece enfeksiyonlarda ise deride geniş alanlarda yangı, kepeklenme ve kabuklanmalar da </a:t>
            </a:r>
            <a:r>
              <a:rPr lang="tr-TR" b="1" dirty="0" err="1" smtClean="0"/>
              <a:t>şekilenir</a:t>
            </a:r>
            <a:r>
              <a:rPr lang="tr-TR" b="1" dirty="0" smtClean="0"/>
              <a:t/>
            </a:r>
            <a:br>
              <a:rPr lang="tr-TR" b="1" dirty="0" smtClean="0"/>
            </a:br>
            <a:r>
              <a:rPr lang="tr-TR" b="1" dirty="0" smtClean="0"/>
              <a:t>Eğer tırnaklar </a:t>
            </a:r>
            <a:r>
              <a:rPr lang="tr-TR" b="1" dirty="0" err="1" smtClean="0"/>
              <a:t>enfekte</a:t>
            </a:r>
            <a:r>
              <a:rPr lang="tr-TR" b="1" dirty="0" smtClean="0"/>
              <a:t> olursa, kolay kırılan ve deforme, şekli bozulmuş tırnak yapıları şekillenir</a:t>
            </a:r>
            <a:endParaRPr lang="tr-T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51520" y="274638"/>
            <a:ext cx="4032448" cy="1143000"/>
          </a:xfrm>
        </p:spPr>
        <p:txBody>
          <a:bodyPr>
            <a:normAutofit fontScale="90000"/>
          </a:bodyPr>
          <a:lstStyle/>
          <a:p>
            <a:pPr algn="l"/>
            <a:r>
              <a:rPr lang="tr-TR" sz="3600" b="1" dirty="0" smtClean="0">
                <a:solidFill>
                  <a:srgbClr val="FF0000"/>
                </a:solidFill>
              </a:rPr>
              <a:t>KÖPEKTE</a:t>
            </a:r>
            <a:r>
              <a:rPr lang="tr-TR" sz="3600" dirty="0" smtClean="0">
                <a:solidFill>
                  <a:srgbClr val="FF0000"/>
                </a:solidFill>
              </a:rPr>
              <a:t> </a:t>
            </a:r>
            <a:r>
              <a:rPr lang="tr-TR" sz="3600" b="1" dirty="0" smtClean="0">
                <a:solidFill>
                  <a:srgbClr val="FF0000"/>
                </a:solidFill>
              </a:rPr>
              <a:t>RİNGWORM</a:t>
            </a:r>
            <a:endParaRPr lang="tr-TR" sz="3600" dirty="0">
              <a:solidFill>
                <a:srgbClr val="FF0000"/>
              </a:solidFill>
            </a:endParaRPr>
          </a:p>
        </p:txBody>
      </p:sp>
      <p:pic>
        <p:nvPicPr>
          <p:cNvPr id="2050" name="Picture 2" descr="C:\Users\user\Desktop\9ef17ea3d78c3b4aede409184c7bdfc5.jpg"/>
          <p:cNvPicPr>
            <a:picLocks noGrp="1" noChangeAspect="1" noChangeArrowheads="1"/>
          </p:cNvPicPr>
          <p:nvPr>
            <p:ph idx="1"/>
          </p:nvPr>
        </p:nvPicPr>
        <p:blipFill>
          <a:blip r:embed="rId2" cstate="print"/>
          <a:srcRect/>
          <a:stretch>
            <a:fillRect/>
          </a:stretch>
        </p:blipFill>
        <p:spPr bwMode="auto">
          <a:xfrm>
            <a:off x="4860032" y="332656"/>
            <a:ext cx="3871640" cy="3876995"/>
          </a:xfrm>
          <a:prstGeom prst="rect">
            <a:avLst/>
          </a:prstGeom>
          <a:noFill/>
        </p:spPr>
      </p:pic>
      <p:pic>
        <p:nvPicPr>
          <p:cNvPr id="2051" name="Picture 3" descr="C:\Users\user\Desktop\kopeklerde-mantar.png"/>
          <p:cNvPicPr>
            <a:picLocks noChangeAspect="1" noChangeArrowheads="1"/>
          </p:cNvPicPr>
          <p:nvPr/>
        </p:nvPicPr>
        <p:blipFill>
          <a:blip r:embed="rId3" cstate="print"/>
          <a:srcRect/>
          <a:stretch>
            <a:fillRect/>
          </a:stretch>
        </p:blipFill>
        <p:spPr bwMode="auto">
          <a:xfrm>
            <a:off x="251520" y="2852936"/>
            <a:ext cx="5575027" cy="3600626"/>
          </a:xfrm>
          <a:prstGeom prst="rect">
            <a:avLst/>
          </a:prstGeom>
          <a:noFill/>
        </p:spPr>
      </p:pic>
      <p:pic>
        <p:nvPicPr>
          <p:cNvPr id="5" name="Picture 2" descr="C:\Users\tijen\Desktop\kopeklerde-sackiran.jpg"/>
          <p:cNvPicPr>
            <a:picLocks noChangeAspect="1" noChangeArrowheads="1"/>
          </p:cNvPicPr>
          <p:nvPr/>
        </p:nvPicPr>
        <p:blipFill>
          <a:blip r:embed="rId4" cstate="print"/>
          <a:srcRect/>
          <a:stretch>
            <a:fillRect/>
          </a:stretch>
        </p:blipFill>
        <p:spPr bwMode="auto">
          <a:xfrm>
            <a:off x="5364088" y="4221088"/>
            <a:ext cx="3396842" cy="234888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4294967295"/>
          </p:nvPr>
        </p:nvPicPr>
        <p:blipFill>
          <a:blip r:embed="rId2" cstate="print"/>
          <a:srcRect/>
          <a:stretch>
            <a:fillRect/>
          </a:stretch>
        </p:blipFill>
        <p:spPr bwMode="auto">
          <a:xfrm>
            <a:off x="1043608" y="620688"/>
            <a:ext cx="7148513" cy="53625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KÖPEKTE</a:t>
            </a:r>
            <a:r>
              <a:rPr lang="tr-TR" dirty="0" smtClean="0">
                <a:solidFill>
                  <a:srgbClr val="FF0000"/>
                </a:solidFill>
              </a:rPr>
              <a:t> </a:t>
            </a:r>
            <a:r>
              <a:rPr lang="tr-TR" b="1" dirty="0" smtClean="0">
                <a:solidFill>
                  <a:srgbClr val="FF0000"/>
                </a:solidFill>
              </a:rPr>
              <a:t>RİNGWORM</a:t>
            </a:r>
            <a:endParaRPr lang="tr-TR" dirty="0"/>
          </a:p>
        </p:txBody>
      </p:sp>
      <p:pic>
        <p:nvPicPr>
          <p:cNvPr id="4" name="Picture 2"/>
          <p:cNvPicPr>
            <a:picLocks noGrp="1" noChangeAspect="1" noChangeArrowheads="1"/>
          </p:cNvPicPr>
          <p:nvPr>
            <p:ph idx="1"/>
          </p:nvPr>
        </p:nvPicPr>
        <p:blipFill>
          <a:blip r:embed="rId2" cstate="print"/>
          <a:srcRect/>
          <a:stretch>
            <a:fillRect/>
          </a:stretch>
        </p:blipFill>
        <p:spPr bwMode="auto">
          <a:xfrm>
            <a:off x="683568" y="1556792"/>
            <a:ext cx="7701680" cy="4525963"/>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76672"/>
            <a:ext cx="8568952" cy="5832648"/>
          </a:xfrm>
        </p:spPr>
        <p:txBody>
          <a:bodyPr>
            <a:normAutofit/>
          </a:bodyPr>
          <a:lstStyle/>
          <a:p>
            <a:r>
              <a:rPr lang="tr-TR" sz="4400" b="1" dirty="0" err="1" smtClean="0">
                <a:solidFill>
                  <a:srgbClr val="FF3399"/>
                </a:solidFill>
              </a:rPr>
              <a:t>Fungusların</a:t>
            </a:r>
            <a:r>
              <a:rPr lang="tr-TR" sz="4400" b="1" dirty="0" smtClean="0">
                <a:solidFill>
                  <a:srgbClr val="FF3399"/>
                </a:solidFill>
              </a:rPr>
              <a:t> bazı türleri toprakta yaşamasına rağmen, toprağın eşelenmesi, üzerinde yürünmesi vb ile bulaşabildiğinden, </a:t>
            </a:r>
            <a:endParaRPr lang="tr-TR" sz="4400" b="1" dirty="0" smtClean="0">
              <a:solidFill>
                <a:srgbClr val="FF3399"/>
              </a:solidFill>
            </a:endParaRPr>
          </a:p>
          <a:p>
            <a:r>
              <a:rPr lang="tr-TR" sz="4400" b="1" dirty="0" smtClean="0">
                <a:solidFill>
                  <a:srgbClr val="FF3399"/>
                </a:solidFill>
              </a:rPr>
              <a:t>insan </a:t>
            </a:r>
            <a:r>
              <a:rPr lang="tr-TR" sz="4400" b="1" dirty="0" smtClean="0">
                <a:solidFill>
                  <a:srgbClr val="FF3399"/>
                </a:solidFill>
              </a:rPr>
              <a:t>ve hayvanlar için enfeksiyon kaynağı olma riskini taşımaktadır</a:t>
            </a:r>
            <a:endParaRPr lang="tr-TR" sz="4400" b="1" dirty="0">
              <a:solidFill>
                <a:srgbClr val="FF339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NEDEN OLABİLİR?</a:t>
            </a:r>
            <a:endParaRPr lang="tr-TR" b="1"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pPr fontAlgn="base"/>
            <a:r>
              <a:rPr lang="tr-TR" b="1" dirty="0" smtClean="0"/>
              <a:t>Güneşten uzak kalmalarına bağlı olarak güneşi sevmeyen mantarların enfeksiyon oluşturmasıyla, kedi veya köpeklerde mantar hastalığı şekillenebilmektedir</a:t>
            </a:r>
          </a:p>
          <a:p>
            <a:pPr fontAlgn="base"/>
            <a:r>
              <a:rPr lang="tr-TR" b="1" dirty="0" smtClean="0"/>
              <a:t>Yetersiz bakım ve beslemeye bağlı</a:t>
            </a:r>
          </a:p>
          <a:p>
            <a:pPr fontAlgn="base"/>
            <a:r>
              <a:rPr lang="tr-TR" b="1" dirty="0" smtClean="0"/>
              <a:t>Mantar olan başka bir kedi veya köpeğin sizin kedi veya köpeğiniz ile temas etmesiyle</a:t>
            </a:r>
          </a:p>
          <a:p>
            <a:pPr fontAlgn="base"/>
            <a:r>
              <a:rPr lang="tr-TR" b="1" dirty="0" smtClean="0"/>
              <a:t>Vitamin eksikliğine bağlı olabilir</a:t>
            </a:r>
          </a:p>
          <a:p>
            <a:pPr fontAlgn="base"/>
            <a:r>
              <a:rPr lang="tr-TR" b="1" dirty="0" smtClean="0"/>
              <a:t>Yoğun strese kalmalarına bağlı olabilir</a:t>
            </a:r>
          </a:p>
          <a:p>
            <a:pPr>
              <a:buNone/>
            </a:pPr>
            <a:endParaRPr lang="tr-T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04664"/>
            <a:ext cx="8496944" cy="6192688"/>
          </a:xfrm>
        </p:spPr>
        <p:txBody>
          <a:bodyPr>
            <a:normAutofit fontScale="92500" lnSpcReduction="20000"/>
          </a:bodyPr>
          <a:lstStyle/>
          <a:p>
            <a:pPr fontAlgn="base"/>
            <a:r>
              <a:rPr lang="tr-TR" b="1" dirty="0" smtClean="0"/>
              <a:t>Unutmayın; kediler en çok birbirlerine sürtünerek veya tüy ve deri döküntüleri ile temas sonucu hastalığı bulaştırırlar</a:t>
            </a:r>
          </a:p>
          <a:p>
            <a:pPr fontAlgn="base">
              <a:buNone/>
            </a:pPr>
            <a:endParaRPr lang="tr-TR" b="1" dirty="0" smtClean="0"/>
          </a:p>
          <a:p>
            <a:pPr fontAlgn="base"/>
            <a:r>
              <a:rPr lang="tr-TR" b="1" dirty="0" smtClean="0"/>
              <a:t>O nedenle genelde </a:t>
            </a:r>
            <a:r>
              <a:rPr lang="tr-TR" b="1" dirty="0" smtClean="0">
                <a:solidFill>
                  <a:srgbClr val="FF0000"/>
                </a:solidFill>
              </a:rPr>
              <a:t>sokaktan</a:t>
            </a:r>
            <a:r>
              <a:rPr lang="tr-TR" b="1" dirty="0" smtClean="0"/>
              <a:t> veya </a:t>
            </a:r>
            <a:r>
              <a:rPr lang="tr-TR" b="1" dirty="0" smtClean="0">
                <a:solidFill>
                  <a:srgbClr val="FF0000"/>
                </a:solidFill>
              </a:rPr>
              <a:t>pet </a:t>
            </a:r>
            <a:r>
              <a:rPr lang="tr-TR" b="1" dirty="0" err="1" smtClean="0">
                <a:solidFill>
                  <a:srgbClr val="FF0000"/>
                </a:solidFill>
              </a:rPr>
              <a:t>shop</a:t>
            </a:r>
            <a:r>
              <a:rPr lang="tr-TR" b="1" dirty="0" smtClean="0">
                <a:solidFill>
                  <a:srgbClr val="FF0000"/>
                </a:solidFill>
              </a:rPr>
              <a:t> gibi kedilerin toplu olarak bulunduğu yerden </a:t>
            </a:r>
            <a:r>
              <a:rPr lang="tr-TR" b="1" dirty="0" smtClean="0"/>
              <a:t>alınan kedilerde yüz, sırt, kuyruk, göğüs gibi yerlerde tüylerin döküldüğü ve halka şeklinde bir açılma meydana geldiği izlenir</a:t>
            </a:r>
          </a:p>
          <a:p>
            <a:pPr fontAlgn="base">
              <a:buNone/>
            </a:pPr>
            <a:endParaRPr lang="tr-TR" b="1" dirty="0" smtClean="0"/>
          </a:p>
          <a:p>
            <a:pPr fontAlgn="base"/>
            <a:r>
              <a:rPr lang="tr-TR" b="1" dirty="0" smtClean="0"/>
              <a:t>Vitamin noksanlıkları ve kış mevsimi hastalığın ortaya çıkmasını artırıcı nedenler içerisindedir</a:t>
            </a:r>
          </a:p>
          <a:p>
            <a:pPr fontAlgn="base">
              <a:buNone/>
            </a:pPr>
            <a:endParaRPr lang="tr-TR" b="1" dirty="0" smtClean="0"/>
          </a:p>
          <a:p>
            <a:pPr fontAlgn="base"/>
            <a:r>
              <a:rPr lang="tr-TR" b="1" dirty="0" smtClean="0"/>
              <a:t>Hijyen kurallarına uyulmadan yapılan </a:t>
            </a:r>
            <a:r>
              <a:rPr lang="tr-TR" b="1" dirty="0" err="1" smtClean="0">
                <a:solidFill>
                  <a:srgbClr val="FF0000"/>
                </a:solidFill>
              </a:rPr>
              <a:t>traşla</a:t>
            </a:r>
            <a:r>
              <a:rPr lang="tr-TR" b="1" dirty="0" err="1" smtClean="0"/>
              <a:t>r</a:t>
            </a:r>
            <a:r>
              <a:rPr lang="tr-TR" b="1" dirty="0" smtClean="0"/>
              <a:t> da hastalığın bir kediden diğerine aktarmada etkilidir</a:t>
            </a:r>
          </a:p>
          <a:p>
            <a:endParaRPr lang="tr-TR"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568952" cy="5865515"/>
          </a:xfrm>
        </p:spPr>
        <p:txBody>
          <a:bodyPr/>
          <a:lstStyle/>
          <a:p>
            <a:pPr>
              <a:buNone/>
            </a:pPr>
            <a:r>
              <a:rPr lang="tr-TR" b="1" dirty="0" smtClean="0"/>
              <a:t>				</a:t>
            </a:r>
            <a:r>
              <a:rPr lang="tr-TR" sz="3600" b="1" dirty="0" smtClean="0">
                <a:solidFill>
                  <a:srgbClr val="FF0000"/>
                </a:solidFill>
              </a:rPr>
              <a:t>UYARI</a:t>
            </a:r>
          </a:p>
          <a:p>
            <a:r>
              <a:rPr lang="tr-TR" b="1" dirty="0" smtClean="0"/>
              <a:t>Toplu yerlerden (</a:t>
            </a:r>
            <a:r>
              <a:rPr lang="tr-TR" b="1" dirty="0" err="1" smtClean="0"/>
              <a:t>petshop</a:t>
            </a:r>
            <a:r>
              <a:rPr lang="tr-TR" b="1" dirty="0" smtClean="0"/>
              <a:t>, barınak, sokak) alınan kedi ve köpeklerde çoğunlukla mantar enfeksiyonu veya </a:t>
            </a:r>
            <a:r>
              <a:rPr lang="tr-TR" b="1" dirty="0" err="1" smtClean="0"/>
              <a:t>viral</a:t>
            </a:r>
            <a:r>
              <a:rPr lang="tr-TR" b="1" dirty="0" smtClean="0"/>
              <a:t> hastalılar yaygın olarak bulunmaktadır aldıktan sonra veteriner kontrolü şarttır</a:t>
            </a:r>
            <a:endParaRPr lang="tr-TR"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İNSANLARA BULAŞIR</a:t>
            </a:r>
            <a:endParaRPr lang="tr-TR" b="1" dirty="0">
              <a:solidFill>
                <a:srgbClr val="FF0000"/>
              </a:solidFill>
            </a:endParaRPr>
          </a:p>
        </p:txBody>
      </p:sp>
      <p:sp>
        <p:nvSpPr>
          <p:cNvPr id="3" name="2 İçerik Yer Tutucusu"/>
          <p:cNvSpPr>
            <a:spLocks noGrp="1"/>
          </p:cNvSpPr>
          <p:nvPr>
            <p:ph idx="1"/>
          </p:nvPr>
        </p:nvSpPr>
        <p:spPr/>
        <p:txBody>
          <a:bodyPr>
            <a:normAutofit/>
          </a:bodyPr>
          <a:lstStyle/>
          <a:p>
            <a:pPr fontAlgn="base">
              <a:buNone/>
            </a:pPr>
            <a:r>
              <a:rPr lang="tr-TR" b="1" dirty="0" smtClean="0"/>
              <a:t>    Kedinin sahibine sürtündüğü boyun, ense, yanak, el gibi yerlerde de kedi derisindeki halka şeklindeki yara veya açılmaların aynısı görülür</a:t>
            </a:r>
          </a:p>
          <a:p>
            <a:pPr fontAlgn="base">
              <a:buNone/>
            </a:pPr>
            <a:endParaRPr lang="tr-TR" b="1" dirty="0"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282154"/>
          </a:xfrm>
        </p:spPr>
        <p:txBody>
          <a:bodyPr>
            <a:normAutofit fontScale="90000"/>
          </a:bodyPr>
          <a:lstStyle/>
          <a:p>
            <a:r>
              <a:rPr lang="tr-TR" b="1" dirty="0" smtClean="0"/>
              <a:t/>
            </a:r>
            <a:br>
              <a:rPr lang="tr-TR" b="1" dirty="0" smtClean="0"/>
            </a:br>
            <a:r>
              <a:rPr lang="tr-TR" sz="4000" b="1" dirty="0" smtClean="0">
                <a:solidFill>
                  <a:srgbClr val="FF0000"/>
                </a:solidFill>
              </a:rPr>
              <a:t>BÜYÜKBAŞ  HAYVANLARDA  MANTAR</a:t>
            </a:r>
            <a:br>
              <a:rPr lang="tr-TR" sz="4000" b="1" dirty="0" smtClean="0">
                <a:solidFill>
                  <a:srgbClr val="FF0000"/>
                </a:solidFill>
              </a:rPr>
            </a:br>
            <a:r>
              <a:rPr lang="tr-TR" sz="4000" b="1" dirty="0" smtClean="0">
                <a:solidFill>
                  <a:srgbClr val="FF0000"/>
                </a:solidFill>
              </a:rPr>
              <a:t>SAÇKIRAN (</a:t>
            </a:r>
            <a:r>
              <a:rPr lang="tr-TR" sz="4000" b="1" dirty="0" err="1" smtClean="0">
                <a:solidFill>
                  <a:srgbClr val="FF0000"/>
                </a:solidFill>
              </a:rPr>
              <a:t>Trichophytosis</a:t>
            </a:r>
            <a:r>
              <a:rPr lang="tr-TR" sz="4000" b="1" dirty="0" smtClean="0">
                <a:solidFill>
                  <a:srgbClr val="FF0000"/>
                </a:solidFill>
              </a:rPr>
              <a:t>)</a:t>
            </a:r>
            <a:br>
              <a:rPr lang="tr-TR" sz="4000" b="1" dirty="0" smtClean="0">
                <a:solidFill>
                  <a:srgbClr val="FF0000"/>
                </a:solidFill>
              </a:rPr>
            </a:br>
            <a:endParaRPr lang="tr-TR" sz="4000" dirty="0">
              <a:solidFill>
                <a:srgbClr val="FF0000"/>
              </a:solidFill>
            </a:endParaRPr>
          </a:p>
        </p:txBody>
      </p:sp>
      <p:pic>
        <p:nvPicPr>
          <p:cNvPr id="3074" name="Picture 2" descr="C:\Users\user\Desktop\strigushij-lishaj-trihofitiya-u-krs.jpg"/>
          <p:cNvPicPr>
            <a:picLocks noGrp="1" noChangeAspect="1" noChangeArrowheads="1"/>
          </p:cNvPicPr>
          <p:nvPr>
            <p:ph idx="1"/>
          </p:nvPr>
        </p:nvPicPr>
        <p:blipFill>
          <a:blip r:embed="rId2" cstate="print"/>
          <a:srcRect/>
          <a:stretch>
            <a:fillRect/>
          </a:stretch>
        </p:blipFill>
        <p:spPr bwMode="auto">
          <a:xfrm>
            <a:off x="971600" y="1916832"/>
            <a:ext cx="7076296" cy="4187259"/>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SIĞIRLARDA  MANTAR</a:t>
            </a:r>
            <a:endParaRPr lang="tr-TR" b="1" dirty="0">
              <a:solidFill>
                <a:srgbClr val="FF0000"/>
              </a:solidFill>
            </a:endParaRPr>
          </a:p>
        </p:txBody>
      </p:sp>
      <p:sp>
        <p:nvSpPr>
          <p:cNvPr id="3" name="2 İçerik Yer Tutucusu"/>
          <p:cNvSpPr>
            <a:spLocks noGrp="1"/>
          </p:cNvSpPr>
          <p:nvPr>
            <p:ph idx="1"/>
          </p:nvPr>
        </p:nvSpPr>
        <p:spPr/>
        <p:txBody>
          <a:bodyPr>
            <a:normAutofit/>
          </a:bodyPr>
          <a:lstStyle/>
          <a:p>
            <a:r>
              <a:rPr lang="tr-TR" sz="2800" b="1" dirty="0" smtClean="0"/>
              <a:t>Sığırlarda </a:t>
            </a:r>
            <a:r>
              <a:rPr lang="tr-TR" sz="2800" b="1" dirty="0" err="1" smtClean="0"/>
              <a:t>Trikofitoz</a:t>
            </a:r>
            <a:r>
              <a:rPr lang="tr-TR" sz="2800" b="1" dirty="0" smtClean="0"/>
              <a:t>, mantarlara maruz kalmanın bir sonucu olarak ortaya çıkar</a:t>
            </a:r>
          </a:p>
          <a:p>
            <a:r>
              <a:rPr lang="tr-TR" sz="2800" b="1" dirty="0" smtClean="0"/>
              <a:t>Mantar sporları cildi etkileyerek hasta bir ineğin şiddetli kaşınmasına neden olur</a:t>
            </a:r>
          </a:p>
          <a:p>
            <a:r>
              <a:rPr lang="tr-TR" sz="2800" b="1" dirty="0" smtClean="0"/>
              <a:t>Deride gri bir patine belirir, yün dökülür ve kabuk oluşur</a:t>
            </a:r>
          </a:p>
          <a:p>
            <a:r>
              <a:rPr lang="tr-TR" sz="2800" b="1" dirty="0" smtClean="0"/>
              <a:t>Çoğu zaman, ilk işaretler kafanın üzerindedir ve vücuda çabucak yayılır</a:t>
            </a:r>
          </a:p>
          <a:p>
            <a:r>
              <a:rPr lang="tr-TR" sz="2800" b="1" dirty="0" err="1" smtClean="0">
                <a:solidFill>
                  <a:srgbClr val="FF0000"/>
                </a:solidFill>
              </a:rPr>
              <a:t>Trichophytosis</a:t>
            </a:r>
            <a:r>
              <a:rPr lang="tr-TR" sz="2800" b="1" dirty="0" smtClean="0">
                <a:solidFill>
                  <a:srgbClr val="FF0000"/>
                </a:solidFill>
              </a:rPr>
              <a:t> </a:t>
            </a:r>
            <a:r>
              <a:rPr lang="tr-TR" sz="2800" b="1" dirty="0" smtClean="0"/>
              <a:t>da bulaşma vektörü farelerdir</a:t>
            </a:r>
            <a:endParaRPr lang="tr-TR" sz="2800"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620688"/>
            <a:ext cx="8568952" cy="5793507"/>
          </a:xfrm>
        </p:spPr>
        <p:txBody>
          <a:bodyPr/>
          <a:lstStyle/>
          <a:p>
            <a:r>
              <a:rPr lang="tr-TR" b="1" dirty="0" smtClean="0"/>
              <a:t>Sığırlarda</a:t>
            </a:r>
          </a:p>
          <a:p>
            <a:r>
              <a:rPr lang="tr-TR" b="1" dirty="0" smtClean="0"/>
              <a:t>Buzağıdan mahrum bırakma ile sonuçlanabilir</a:t>
            </a:r>
            <a:endParaRPr lang="tr-TR" b="1" dirty="0"/>
          </a:p>
        </p:txBody>
      </p:sp>
      <p:pic>
        <p:nvPicPr>
          <p:cNvPr id="5" name="Picture 2" descr="C:\Users\user\Desktop\dermatophilosis.jpg"/>
          <p:cNvPicPr>
            <a:picLocks noChangeAspect="1" noChangeArrowheads="1"/>
          </p:cNvPicPr>
          <p:nvPr/>
        </p:nvPicPr>
        <p:blipFill>
          <a:blip r:embed="rId2" cstate="print"/>
          <a:srcRect/>
          <a:stretch>
            <a:fillRect/>
          </a:stretch>
        </p:blipFill>
        <p:spPr bwMode="auto">
          <a:xfrm>
            <a:off x="1547664" y="2060848"/>
            <a:ext cx="5750396" cy="3634147"/>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b="1" dirty="0" smtClean="0">
                <a:solidFill>
                  <a:srgbClr val="FF0000"/>
                </a:solidFill>
              </a:rPr>
              <a:t>TRİCHOPHYTOSİS</a:t>
            </a:r>
            <a:r>
              <a:rPr lang="tr-TR" dirty="0" smtClean="0"/>
              <a:t/>
            </a:r>
            <a:br>
              <a:rPr lang="tr-TR" dirty="0" smtClean="0"/>
            </a:br>
            <a:endParaRPr lang="tr-TR" dirty="0"/>
          </a:p>
        </p:txBody>
      </p:sp>
      <p:sp>
        <p:nvSpPr>
          <p:cNvPr id="3" name="2 İçerik Yer Tutucusu"/>
          <p:cNvSpPr>
            <a:spLocks noGrp="1"/>
          </p:cNvSpPr>
          <p:nvPr>
            <p:ph idx="1"/>
          </p:nvPr>
        </p:nvSpPr>
        <p:spPr>
          <a:xfrm>
            <a:off x="457200" y="1600200"/>
            <a:ext cx="8229600" cy="4637112"/>
          </a:xfrm>
        </p:spPr>
        <p:txBody>
          <a:bodyPr>
            <a:normAutofit fontScale="92500" lnSpcReduction="20000"/>
          </a:bodyPr>
          <a:lstStyle/>
          <a:p>
            <a:r>
              <a:rPr lang="tr-TR" b="1" dirty="0" smtClean="0"/>
              <a:t>Köpeklerde </a:t>
            </a:r>
            <a:r>
              <a:rPr lang="tr-TR" b="1" dirty="0" err="1" smtClean="0"/>
              <a:t>tricophytosis’e</a:t>
            </a:r>
            <a:r>
              <a:rPr lang="tr-TR" b="1" dirty="0" smtClean="0"/>
              <a:t> neden olabilen bir çok mantar türü vardır. </a:t>
            </a:r>
          </a:p>
          <a:p>
            <a:r>
              <a:rPr lang="tr-TR" b="1" dirty="0" smtClean="0"/>
              <a:t>Etkenin kıl </a:t>
            </a:r>
            <a:r>
              <a:rPr lang="tr-TR" b="1" dirty="0" err="1" smtClean="0"/>
              <a:t>folliküllerin</a:t>
            </a:r>
            <a:r>
              <a:rPr lang="tr-TR" b="1" dirty="0" smtClean="0"/>
              <a:t> de yerleşmesi ve ikincil bakteriyel enfeksiyonların devreye girmesi sonucu hastalık ortaya çıkar ve </a:t>
            </a:r>
            <a:r>
              <a:rPr lang="tr-TR" b="1" dirty="0" err="1" smtClean="0"/>
              <a:t>follikulitis</a:t>
            </a:r>
            <a:r>
              <a:rPr lang="tr-TR" b="1" dirty="0" smtClean="0"/>
              <a:t> oluşur</a:t>
            </a:r>
          </a:p>
          <a:p>
            <a:r>
              <a:rPr lang="tr-TR" b="1" dirty="0" smtClean="0"/>
              <a:t>Hastalık daha çok genç köpeklerde görülür</a:t>
            </a:r>
          </a:p>
          <a:p>
            <a:r>
              <a:rPr lang="tr-TR" b="1" dirty="0" smtClean="0"/>
              <a:t>Hastalık direk temas yolu ile veya mantar etkenleri ile </a:t>
            </a:r>
            <a:r>
              <a:rPr lang="tr-TR" b="1" dirty="0" err="1" smtClean="0"/>
              <a:t>enfekte</a:t>
            </a:r>
            <a:r>
              <a:rPr lang="tr-TR" b="1" dirty="0" smtClean="0"/>
              <a:t> olan fırça, kafes gibi malzemelerle bulaşır</a:t>
            </a:r>
          </a:p>
          <a:p>
            <a:r>
              <a:rPr lang="tr-TR" b="1" dirty="0" smtClean="0"/>
              <a:t>Genellikle kedilerden insana geçtiği tespit edilmiştir</a:t>
            </a:r>
            <a:endParaRPr lang="tr-TR"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332656"/>
            <a:ext cx="8424936" cy="6192688"/>
          </a:xfrm>
        </p:spPr>
        <p:txBody>
          <a:bodyPr>
            <a:normAutofit/>
          </a:bodyPr>
          <a:lstStyle/>
          <a:p>
            <a:r>
              <a:rPr lang="tr-TR" b="1" dirty="0" smtClean="0"/>
              <a:t>Köpeklerde </a:t>
            </a:r>
            <a:r>
              <a:rPr lang="tr-TR" b="1" dirty="0" err="1" smtClean="0"/>
              <a:t>tricophytosis’e</a:t>
            </a:r>
            <a:r>
              <a:rPr lang="tr-TR" b="1" dirty="0" smtClean="0"/>
              <a:t> neden olabilen bir çok mantar türü vardır </a:t>
            </a:r>
          </a:p>
          <a:p>
            <a:pPr>
              <a:buNone/>
            </a:pPr>
            <a:r>
              <a:rPr lang="tr-TR" b="1" dirty="0" smtClean="0"/>
              <a:t>			</a:t>
            </a:r>
            <a:r>
              <a:rPr lang="tr-TR" b="1" dirty="0" smtClean="0">
                <a:solidFill>
                  <a:srgbClr val="FF0000"/>
                </a:solidFill>
              </a:rPr>
              <a:t>KÖPEK VE KEDİLERDE </a:t>
            </a:r>
          </a:p>
          <a:p>
            <a:r>
              <a:rPr lang="tr-TR" b="1" dirty="0" err="1" smtClean="0"/>
              <a:t>Microsporum</a:t>
            </a:r>
            <a:r>
              <a:rPr lang="tr-TR" b="1" dirty="0" smtClean="0"/>
              <a:t> </a:t>
            </a:r>
            <a:r>
              <a:rPr lang="tr-TR" b="1" dirty="0" err="1" smtClean="0"/>
              <a:t>canis</a:t>
            </a:r>
            <a:r>
              <a:rPr lang="tr-TR" b="1" dirty="0" smtClean="0"/>
              <a:t> </a:t>
            </a:r>
          </a:p>
          <a:p>
            <a:r>
              <a:rPr lang="tr-TR" b="1" dirty="0" err="1" smtClean="0"/>
              <a:t>Microsporum</a:t>
            </a:r>
            <a:r>
              <a:rPr lang="tr-TR" b="1" dirty="0" smtClean="0"/>
              <a:t> </a:t>
            </a:r>
            <a:r>
              <a:rPr lang="tr-TR" b="1" dirty="0" err="1" smtClean="0"/>
              <a:t>gypseum</a:t>
            </a:r>
            <a:endParaRPr lang="tr-TR" b="1" dirty="0" smtClean="0"/>
          </a:p>
          <a:p>
            <a:r>
              <a:rPr lang="tr-TR" b="1" dirty="0" err="1" smtClean="0"/>
              <a:t>Trichopyton</a:t>
            </a:r>
            <a:r>
              <a:rPr lang="tr-TR" b="1" dirty="0" smtClean="0"/>
              <a:t> </a:t>
            </a:r>
            <a:r>
              <a:rPr lang="tr-TR" b="1" dirty="0" err="1" smtClean="0"/>
              <a:t>mentagrophytes</a:t>
            </a:r>
            <a:endParaRPr lang="tr-TR" b="1" dirty="0" smtClean="0"/>
          </a:p>
          <a:p>
            <a:r>
              <a:rPr lang="tr-TR" b="1" dirty="0" err="1" smtClean="0"/>
              <a:t>Microsporum</a:t>
            </a:r>
            <a:r>
              <a:rPr lang="tr-TR" b="1" dirty="0" smtClean="0"/>
              <a:t> </a:t>
            </a:r>
            <a:r>
              <a:rPr lang="tr-TR" b="1" dirty="0" err="1" smtClean="0"/>
              <a:t>felis</a:t>
            </a:r>
            <a:r>
              <a:rPr lang="tr-TR" b="1" dirty="0" smtClean="0"/>
              <a:t> </a:t>
            </a:r>
          </a:p>
          <a:p>
            <a:pPr lvl="1"/>
            <a:r>
              <a:rPr lang="tr-TR" b="1" dirty="0" smtClean="0"/>
              <a:t>en fazla görülen mantar türleridir</a:t>
            </a:r>
          </a:p>
          <a:p>
            <a:endParaRPr lang="tr-T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user\Desktop\Arilarda-gorulen-hastalik-ve-zararlilar-49651.jpg"/>
          <p:cNvPicPr>
            <a:picLocks noGrp="1" noChangeAspect="1" noChangeArrowheads="1"/>
          </p:cNvPicPr>
          <p:nvPr>
            <p:ph idx="4294967295"/>
          </p:nvPr>
        </p:nvPicPr>
        <p:blipFill>
          <a:blip r:embed="rId2" cstate="print"/>
          <a:srcRect/>
          <a:stretch>
            <a:fillRect/>
          </a:stretch>
        </p:blipFill>
        <p:spPr bwMode="auto">
          <a:xfrm>
            <a:off x="827584" y="836712"/>
            <a:ext cx="7200800" cy="5102027"/>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ARILARDA MANTAR</a:t>
            </a:r>
            <a:endParaRPr lang="tr-TR" dirty="0">
              <a:solidFill>
                <a:srgbClr val="FF0000"/>
              </a:solidFill>
            </a:endParaRPr>
          </a:p>
        </p:txBody>
      </p:sp>
      <p:sp>
        <p:nvSpPr>
          <p:cNvPr id="3" name="2 İçerik Yer Tutucusu"/>
          <p:cNvSpPr>
            <a:spLocks noGrp="1"/>
          </p:cNvSpPr>
          <p:nvPr>
            <p:ph idx="1"/>
          </p:nvPr>
        </p:nvSpPr>
        <p:spPr>
          <a:xfrm>
            <a:off x="395536" y="1628800"/>
            <a:ext cx="8229600" cy="4968552"/>
          </a:xfrm>
        </p:spPr>
        <p:txBody>
          <a:bodyPr>
            <a:normAutofit fontScale="47500" lnSpcReduction="20000"/>
          </a:bodyPr>
          <a:lstStyle/>
          <a:p>
            <a:pPr fontAlgn="base">
              <a:buNone/>
            </a:pPr>
            <a:r>
              <a:rPr lang="tr-TR" sz="5800" b="1" dirty="0" smtClean="0">
                <a:solidFill>
                  <a:srgbClr val="333399"/>
                </a:solidFill>
              </a:rPr>
              <a:t>		KİREÇ HASTALIĞI</a:t>
            </a:r>
            <a:endParaRPr lang="tr-TR" dirty="0" smtClean="0"/>
          </a:p>
          <a:p>
            <a:pPr fontAlgn="base"/>
            <a:r>
              <a:rPr lang="tr-TR" sz="5500" b="1" dirty="0" smtClean="0"/>
              <a:t>Etkeni  </a:t>
            </a:r>
            <a:r>
              <a:rPr lang="tr-TR" sz="5500" b="1" dirty="0" err="1" smtClean="0">
                <a:solidFill>
                  <a:srgbClr val="FF0000"/>
                </a:solidFill>
              </a:rPr>
              <a:t>Ascosphaera</a:t>
            </a:r>
            <a:r>
              <a:rPr lang="tr-TR" sz="5500" b="1" dirty="0" smtClean="0">
                <a:solidFill>
                  <a:srgbClr val="FF0000"/>
                </a:solidFill>
              </a:rPr>
              <a:t> </a:t>
            </a:r>
            <a:r>
              <a:rPr lang="tr-TR" sz="5500" b="1" dirty="0" err="1" smtClean="0">
                <a:solidFill>
                  <a:srgbClr val="FF0000"/>
                </a:solidFill>
              </a:rPr>
              <a:t>apis</a:t>
            </a:r>
            <a:r>
              <a:rPr lang="tr-TR" sz="5500" b="1" dirty="0" smtClean="0">
                <a:solidFill>
                  <a:srgbClr val="FF0000"/>
                </a:solidFill>
              </a:rPr>
              <a:t> adlı bir </a:t>
            </a:r>
            <a:r>
              <a:rPr lang="tr-TR" sz="5500" b="1" dirty="0" err="1" smtClean="0">
                <a:solidFill>
                  <a:srgbClr val="FF0000"/>
                </a:solidFill>
              </a:rPr>
              <a:t>fungus</a:t>
            </a:r>
            <a:r>
              <a:rPr lang="tr-TR" sz="5500" b="1" dirty="0" smtClean="0">
                <a:solidFill>
                  <a:srgbClr val="FF0000"/>
                </a:solidFill>
              </a:rPr>
              <a:t> (mantar) olan yavru hastalığıdır. </a:t>
            </a:r>
          </a:p>
          <a:p>
            <a:pPr fontAlgn="base"/>
            <a:r>
              <a:rPr lang="tr-TR" sz="5500" b="1" dirty="0" smtClean="0"/>
              <a:t>Hastalıklı larvalar mumyalaşmış olup siyahımsı, gri veya beyaz renktedirler. Hastalığın ilk dönemlerinde beyazlaşmış larvalar iki parmak arasında ezilebildiği halde ileri dönemde pirinç tanesi gibi sertleşerek arılar tarafından kovan önüne ve uçuş tahtası üzerine atılırlar</a:t>
            </a:r>
          </a:p>
          <a:p>
            <a:pPr fontAlgn="base">
              <a:buNone/>
            </a:pPr>
            <a:endParaRPr lang="tr-TR" sz="5500" b="1" dirty="0" smtClean="0"/>
          </a:p>
          <a:p>
            <a:pPr fontAlgn="base"/>
            <a:r>
              <a:rPr lang="tr-TR" sz="5500" b="1" dirty="0" smtClean="0"/>
              <a:t>Hastalığın etkeni olan SPORLAR TOPRAK ALTINDA VE DEĞİŞİK ORTAMLARDA 15 YIL ETKİNLİĞİNİ SÜRDÜREBİLDİĞİNDEN ve rüzgarla sürüklenebildiğinden bu hastalıkla daha çok kültürel önlemlerle mücadele edilerek başarılı sonuçlar alınabilir</a:t>
            </a:r>
          </a:p>
          <a:p>
            <a:pPr>
              <a:buNone/>
            </a:pPr>
            <a:endParaRPr lang="tr-TR" sz="4700" dirty="0" smtClean="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200" b="1" dirty="0" smtClean="0">
                <a:solidFill>
                  <a:srgbClr val="FF0000"/>
                </a:solidFill>
              </a:rPr>
              <a:t>BU MANTAR HASTALIĞININ İLERLEYİŞİNE </a:t>
            </a:r>
            <a:br>
              <a:rPr lang="tr-TR" sz="3200" b="1" dirty="0" smtClean="0">
                <a:solidFill>
                  <a:srgbClr val="FF0000"/>
                </a:solidFill>
              </a:rPr>
            </a:br>
            <a:r>
              <a:rPr lang="tr-TR" sz="3200" b="1" dirty="0" smtClean="0">
                <a:solidFill>
                  <a:srgbClr val="FF0000"/>
                </a:solidFill>
              </a:rPr>
              <a:t>ADIM ADIM BAKALIM</a:t>
            </a:r>
            <a:endParaRPr lang="tr-TR" sz="3200" b="1" dirty="0">
              <a:solidFill>
                <a:srgbClr val="FF0000"/>
              </a:solidFill>
            </a:endParaRPr>
          </a:p>
        </p:txBody>
      </p:sp>
      <p:sp>
        <p:nvSpPr>
          <p:cNvPr id="3" name="2 İçerik Yer Tutucusu"/>
          <p:cNvSpPr>
            <a:spLocks noGrp="1"/>
          </p:cNvSpPr>
          <p:nvPr>
            <p:ph idx="1"/>
          </p:nvPr>
        </p:nvSpPr>
        <p:spPr>
          <a:xfrm>
            <a:off x="251520" y="1600200"/>
            <a:ext cx="8640960" cy="5069160"/>
          </a:xfrm>
        </p:spPr>
        <p:txBody>
          <a:bodyPr/>
          <a:lstStyle/>
          <a:p>
            <a:r>
              <a:rPr lang="tr-TR" b="1" dirty="0" smtClean="0"/>
              <a:t>Bu mantar daha çok nemli yerlerde ve 22-30 derece ısıda çoğalır</a:t>
            </a:r>
          </a:p>
          <a:p>
            <a:r>
              <a:rPr lang="tr-TR" b="1" dirty="0" smtClean="0"/>
              <a:t>Hastalığa yakalanmış petekleri önce kirli beyaz bir küf sarar</a:t>
            </a:r>
            <a:endParaRPr lang="tr-TR" b="1" dirty="0"/>
          </a:p>
        </p:txBody>
      </p:sp>
      <p:pic>
        <p:nvPicPr>
          <p:cNvPr id="4" name="Picture 2" descr="C:\Users\user\Desktop\hasta8.jpg"/>
          <p:cNvPicPr>
            <a:picLocks noChangeAspect="1" noChangeArrowheads="1"/>
          </p:cNvPicPr>
          <p:nvPr/>
        </p:nvPicPr>
        <p:blipFill>
          <a:blip r:embed="rId2" cstate="print"/>
          <a:srcRect/>
          <a:stretch>
            <a:fillRect/>
          </a:stretch>
        </p:blipFill>
        <p:spPr bwMode="auto">
          <a:xfrm>
            <a:off x="4788024" y="3284984"/>
            <a:ext cx="3912096" cy="3240360"/>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ARILARDA MANTAR </a:t>
            </a:r>
            <a:br>
              <a:rPr lang="tr-TR" sz="3600" b="1" dirty="0" smtClean="0">
                <a:solidFill>
                  <a:srgbClr val="FF0000"/>
                </a:solidFill>
              </a:rPr>
            </a:br>
            <a:r>
              <a:rPr lang="tr-TR" sz="3600" b="1" dirty="0" smtClean="0">
                <a:solidFill>
                  <a:srgbClr val="FF0000"/>
                </a:solidFill>
              </a:rPr>
              <a:t>KİREÇ HASTALIĞI</a:t>
            </a:r>
            <a:endParaRPr lang="tr-TR" sz="3600" dirty="0">
              <a:solidFill>
                <a:srgbClr val="FF0000"/>
              </a:solidFill>
            </a:endParaRPr>
          </a:p>
        </p:txBody>
      </p:sp>
      <p:sp>
        <p:nvSpPr>
          <p:cNvPr id="5" name="4 İçerik Yer Tutucusu"/>
          <p:cNvSpPr>
            <a:spLocks noGrp="1"/>
          </p:cNvSpPr>
          <p:nvPr>
            <p:ph idx="1"/>
          </p:nvPr>
        </p:nvSpPr>
        <p:spPr>
          <a:xfrm>
            <a:off x="457200" y="1600200"/>
            <a:ext cx="8435280" cy="5069160"/>
          </a:xfrm>
        </p:spPr>
        <p:txBody>
          <a:bodyPr>
            <a:normAutofit/>
          </a:bodyPr>
          <a:lstStyle/>
          <a:p>
            <a:r>
              <a:rPr lang="tr-TR" sz="2800" b="1" dirty="0" smtClean="0"/>
              <a:t>Bu küf zamanla gittikçe siyahlaşır</a:t>
            </a:r>
          </a:p>
          <a:p>
            <a:r>
              <a:rPr lang="tr-TR" sz="2800" b="1" dirty="0" smtClean="0"/>
              <a:t>Bu esnada larvaları etkileyerek ölmelerine neden olur</a:t>
            </a:r>
          </a:p>
          <a:p>
            <a:r>
              <a:rPr lang="tr-TR" sz="2800" b="1" dirty="0" smtClean="0"/>
              <a:t>Ölen larva beyazlaşarak kireç şeklinde sertleşmiş bir hal alır</a:t>
            </a:r>
            <a:endParaRPr lang="tr-TR" sz="2800" b="1" dirty="0"/>
          </a:p>
        </p:txBody>
      </p:sp>
      <p:pic>
        <p:nvPicPr>
          <p:cNvPr id="6" name="Picture 2" descr="C:\Users\user\Desktop\hasta9.jpg"/>
          <p:cNvPicPr>
            <a:picLocks noChangeAspect="1" noChangeArrowheads="1"/>
          </p:cNvPicPr>
          <p:nvPr/>
        </p:nvPicPr>
        <p:blipFill>
          <a:blip r:embed="rId2" cstate="print"/>
          <a:srcRect/>
          <a:stretch>
            <a:fillRect/>
          </a:stretch>
        </p:blipFill>
        <p:spPr bwMode="auto">
          <a:xfrm>
            <a:off x="4788024" y="3501008"/>
            <a:ext cx="3984104" cy="3056706"/>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ARILARDA MANTAR </a:t>
            </a:r>
            <a:br>
              <a:rPr lang="tr-TR" sz="3600" b="1" dirty="0" smtClean="0">
                <a:solidFill>
                  <a:srgbClr val="FF0000"/>
                </a:solidFill>
              </a:rPr>
            </a:br>
            <a:r>
              <a:rPr lang="tr-TR" sz="3600" b="1" dirty="0" smtClean="0">
                <a:solidFill>
                  <a:srgbClr val="FF0000"/>
                </a:solidFill>
              </a:rPr>
              <a:t>KİREÇ HASTALIĞI</a:t>
            </a:r>
            <a:endParaRPr lang="tr-TR" sz="3600" dirty="0">
              <a:solidFill>
                <a:srgbClr val="FF0000"/>
              </a:solidFill>
            </a:endParaRPr>
          </a:p>
        </p:txBody>
      </p:sp>
      <p:sp>
        <p:nvSpPr>
          <p:cNvPr id="5" name="4 İçerik Yer Tutucusu"/>
          <p:cNvSpPr>
            <a:spLocks noGrp="1"/>
          </p:cNvSpPr>
          <p:nvPr>
            <p:ph idx="1"/>
          </p:nvPr>
        </p:nvSpPr>
        <p:spPr>
          <a:xfrm>
            <a:off x="457200" y="1600200"/>
            <a:ext cx="8435280" cy="4997152"/>
          </a:xfrm>
        </p:spPr>
        <p:txBody>
          <a:bodyPr>
            <a:normAutofit/>
          </a:bodyPr>
          <a:lstStyle/>
          <a:p>
            <a:r>
              <a:rPr lang="tr-TR" sz="2800" b="1" dirty="0" smtClean="0"/>
              <a:t>Özellikle ilkbaharda müsait havalarda arılar kireç hastalığına yakalanmış larvaları kovan dışına taşırlar</a:t>
            </a:r>
          </a:p>
          <a:p>
            <a:r>
              <a:rPr lang="tr-TR" sz="2800" b="1" dirty="0" smtClean="0"/>
              <a:t>Hastalık kovan önünde beyaz mumya gibi larvaların belli bir sayıdan fazla görülmesiyle kolaylıkla teşhis edilir</a:t>
            </a:r>
            <a:endParaRPr lang="tr-TR" sz="2800" b="1" dirty="0"/>
          </a:p>
        </p:txBody>
      </p:sp>
      <p:pic>
        <p:nvPicPr>
          <p:cNvPr id="6" name="Picture 2" descr="C:\Users\user\Desktop\hasta10.jpg"/>
          <p:cNvPicPr>
            <a:picLocks noChangeAspect="1" noChangeArrowheads="1"/>
          </p:cNvPicPr>
          <p:nvPr/>
        </p:nvPicPr>
        <p:blipFill>
          <a:blip r:embed="rId2" cstate="print"/>
          <a:srcRect/>
          <a:stretch>
            <a:fillRect/>
          </a:stretch>
        </p:blipFill>
        <p:spPr bwMode="auto">
          <a:xfrm>
            <a:off x="4499992" y="3501008"/>
            <a:ext cx="4200128" cy="2885306"/>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b="1" dirty="0" smtClean="0"/>
              <a:t> </a:t>
            </a:r>
            <a:r>
              <a:rPr lang="tr-TR" sz="4000" b="1" dirty="0" smtClean="0">
                <a:solidFill>
                  <a:srgbClr val="FF0000"/>
                </a:solidFill>
              </a:rPr>
              <a:t>ARILARDA HASTALIĞA NEDEN OLAN FUNGUS</a:t>
            </a:r>
            <a:r>
              <a:rPr lang="tr-TR" dirty="0" smtClean="0"/>
              <a:t/>
            </a:r>
            <a:br>
              <a:rPr lang="tr-TR" dirty="0" smtClean="0"/>
            </a:br>
            <a:endParaRPr lang="tr-TR" dirty="0"/>
          </a:p>
        </p:txBody>
      </p:sp>
      <p:sp>
        <p:nvSpPr>
          <p:cNvPr id="3" name="2 İçerik Yer Tutucusu"/>
          <p:cNvSpPr>
            <a:spLocks noGrp="1"/>
          </p:cNvSpPr>
          <p:nvPr>
            <p:ph idx="1"/>
          </p:nvPr>
        </p:nvSpPr>
        <p:spPr>
          <a:xfrm>
            <a:off x="457200" y="1600200"/>
            <a:ext cx="8229600" cy="4781128"/>
          </a:xfrm>
        </p:spPr>
        <p:txBody>
          <a:bodyPr>
            <a:normAutofit lnSpcReduction="10000"/>
          </a:bodyPr>
          <a:lstStyle/>
          <a:p>
            <a:r>
              <a:rPr lang="tr-TR" sz="2800" b="1" dirty="0" smtClean="0">
                <a:solidFill>
                  <a:schemeClr val="accent6">
                    <a:lumMod val="50000"/>
                  </a:schemeClr>
                </a:solidFill>
              </a:rPr>
              <a:t>Yeterli havalandırmanın olmayışı sonucu kovanda biriken CO² ve nemli ortamda gelişir</a:t>
            </a:r>
          </a:p>
          <a:p>
            <a:pPr>
              <a:buNone/>
            </a:pPr>
            <a:endParaRPr lang="tr-TR" sz="2800" b="1" dirty="0" smtClean="0"/>
          </a:p>
          <a:p>
            <a:r>
              <a:rPr lang="tr-TR" sz="2800" b="1" dirty="0" smtClean="0">
                <a:solidFill>
                  <a:srgbClr val="333399"/>
                </a:solidFill>
              </a:rPr>
              <a:t>Bu nedenle kovanlar toprakla teması kesip sehpalar üzerine yerleştirilerek havalandırma sağlanmalı ve nemden korunmalıdır</a:t>
            </a:r>
          </a:p>
          <a:p>
            <a:pPr>
              <a:buNone/>
            </a:pPr>
            <a:endParaRPr lang="tr-TR" sz="2800" b="1" dirty="0" smtClean="0"/>
          </a:p>
          <a:p>
            <a:r>
              <a:rPr lang="tr-TR" sz="2800" b="1" dirty="0" smtClean="0">
                <a:solidFill>
                  <a:srgbClr val="FF3399"/>
                </a:solidFill>
              </a:rPr>
              <a:t>KİREÇ HASTALIĞINA karşı alınabilecek bir başka önlem, hastalığa yakalanan kolonilerin ana arılarının hastalığa yakalanmayan kolonilerden üretilen yeni ana arılarla değiştirilmesidir</a:t>
            </a:r>
            <a:endParaRPr lang="tr-TR" sz="2800" b="1" dirty="0">
              <a:solidFill>
                <a:srgbClr val="FF3399"/>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404664"/>
            <a:ext cx="8568952" cy="6048672"/>
          </a:xfrm>
        </p:spPr>
        <p:txBody>
          <a:bodyPr>
            <a:normAutofit/>
          </a:bodyPr>
          <a:lstStyle/>
          <a:p>
            <a:pPr>
              <a:buNone/>
            </a:pPr>
            <a:r>
              <a:rPr lang="tr-TR" sz="4800" b="1" dirty="0" smtClean="0"/>
              <a:t>		</a:t>
            </a:r>
          </a:p>
          <a:p>
            <a:pPr>
              <a:buNone/>
            </a:pPr>
            <a:r>
              <a:rPr lang="tr-TR" sz="5400" b="1" dirty="0" smtClean="0">
                <a:solidFill>
                  <a:srgbClr val="FF0000"/>
                </a:solidFill>
              </a:rPr>
              <a:t>			  MANTARLARIN  </a:t>
            </a:r>
          </a:p>
          <a:p>
            <a:pPr>
              <a:buNone/>
            </a:pPr>
            <a:r>
              <a:rPr lang="tr-TR" sz="5400" b="1" dirty="0" smtClean="0">
                <a:solidFill>
                  <a:srgbClr val="FF0000"/>
                </a:solidFill>
              </a:rPr>
              <a:t>				İNSANLAR 			      		ÜZERİNDE YAPTIĞI</a:t>
            </a:r>
            <a:br>
              <a:rPr lang="tr-TR" sz="5400" b="1" dirty="0" smtClean="0">
                <a:solidFill>
                  <a:srgbClr val="FF0000"/>
                </a:solidFill>
              </a:rPr>
            </a:br>
            <a:r>
              <a:rPr lang="tr-TR" sz="5400" b="1" dirty="0" smtClean="0">
                <a:solidFill>
                  <a:srgbClr val="FF0000"/>
                </a:solidFill>
              </a:rPr>
              <a:t>			HASTALIKLAR</a:t>
            </a:r>
            <a:endParaRPr lang="tr-TR" sz="5400" dirty="0">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4000" b="1" dirty="0" smtClean="0">
                <a:solidFill>
                  <a:srgbClr val="FF0000"/>
                </a:solidFill>
              </a:rPr>
              <a:t>İNSANLARDAKİ MANTAR HASTALIKLARI</a:t>
            </a:r>
            <a:endParaRPr lang="tr-TR" sz="4000" dirty="0">
              <a:solidFill>
                <a:srgbClr val="FF0000"/>
              </a:solidFill>
            </a:endParaRPr>
          </a:p>
        </p:txBody>
      </p:sp>
      <p:sp>
        <p:nvSpPr>
          <p:cNvPr id="3" name="2 İçerik Yer Tutucusu"/>
          <p:cNvSpPr>
            <a:spLocks noGrp="1"/>
          </p:cNvSpPr>
          <p:nvPr>
            <p:ph idx="1"/>
          </p:nvPr>
        </p:nvSpPr>
        <p:spPr>
          <a:xfrm>
            <a:off x="457200" y="1600200"/>
            <a:ext cx="8229600" cy="4853136"/>
          </a:xfrm>
        </p:spPr>
        <p:txBody>
          <a:bodyPr/>
          <a:lstStyle/>
          <a:p>
            <a:r>
              <a:rPr lang="tr-TR" b="1" dirty="0" smtClean="0"/>
              <a:t>İnsanlardaki mantar hastalıklarına “MİKOZ” denir</a:t>
            </a:r>
          </a:p>
          <a:p>
            <a:r>
              <a:rPr lang="tr-TR" b="1" dirty="0" smtClean="0"/>
              <a:t>Fırsatçı patojenler  (sayısı giderek artıyor)</a:t>
            </a:r>
          </a:p>
          <a:p>
            <a:pPr>
              <a:buNone/>
            </a:pPr>
            <a:endParaRPr lang="tr-TR" b="1" dirty="0" smtClean="0"/>
          </a:p>
          <a:p>
            <a:r>
              <a:rPr lang="tr-TR" b="1" dirty="0" smtClean="0"/>
              <a:t>Mantarların çoğu fırsatçı patojenler olup mantar </a:t>
            </a:r>
            <a:r>
              <a:rPr lang="tr-TR" b="1" dirty="0" err="1" smtClean="0"/>
              <a:t>infeksiyonlarının</a:t>
            </a:r>
            <a:r>
              <a:rPr lang="tr-TR" b="1" dirty="0" smtClean="0"/>
              <a:t> şekillenmesinde rol oynayan </a:t>
            </a:r>
            <a:r>
              <a:rPr lang="tr-TR" b="1" dirty="0" err="1" smtClean="0"/>
              <a:t>predispoze</a:t>
            </a:r>
            <a:r>
              <a:rPr lang="tr-TR" b="1" dirty="0" smtClean="0"/>
              <a:t> edici faktörler vardır</a:t>
            </a:r>
          </a:p>
          <a:p>
            <a:pPr>
              <a:buNone/>
            </a:pPr>
            <a:endParaRPr lang="tr-TR" b="1" dirty="0" smtClean="0"/>
          </a:p>
          <a:p>
            <a:endParaRPr lang="tr-TR" dirty="0" smtClean="0"/>
          </a:p>
          <a:p>
            <a:endParaRPr lang="tr-TR" b="1" dirty="0" smtClean="0"/>
          </a:p>
          <a:p>
            <a:endParaRPr lang="tr-T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b="1" dirty="0" smtClean="0">
                <a:solidFill>
                  <a:srgbClr val="FF0000"/>
                </a:solidFill>
              </a:rPr>
              <a:t>MANTAR KİMLERDE SIKLIKLA GÖRÜLÜR?</a:t>
            </a:r>
            <a:br>
              <a:rPr lang="tr-TR" b="1" dirty="0" smtClean="0">
                <a:solidFill>
                  <a:srgbClr val="FF0000"/>
                </a:solidFill>
              </a:rPr>
            </a:br>
            <a:endParaRPr lang="tr-TR" b="1" dirty="0">
              <a:solidFill>
                <a:srgbClr val="FF0000"/>
              </a:solidFill>
            </a:endParaRPr>
          </a:p>
        </p:txBody>
      </p:sp>
      <p:sp>
        <p:nvSpPr>
          <p:cNvPr id="3" name="2 İçerik Yer Tutucusu"/>
          <p:cNvSpPr>
            <a:spLocks noGrp="1"/>
          </p:cNvSpPr>
          <p:nvPr>
            <p:ph idx="1"/>
          </p:nvPr>
        </p:nvSpPr>
        <p:spPr>
          <a:xfrm>
            <a:off x="457200" y="1412776"/>
            <a:ext cx="8229600" cy="5256584"/>
          </a:xfrm>
        </p:spPr>
        <p:txBody>
          <a:bodyPr>
            <a:noAutofit/>
          </a:bodyPr>
          <a:lstStyle/>
          <a:p>
            <a:r>
              <a:rPr lang="tr-TR" sz="2400" b="1" dirty="0" smtClean="0"/>
              <a:t>Aşırı terleme problemi olanlarda</a:t>
            </a:r>
          </a:p>
          <a:p>
            <a:r>
              <a:rPr lang="tr-TR" sz="2400" b="1" dirty="0" smtClean="0"/>
              <a:t>Duş sonrasında vücudunu nemli bırakanlarda</a:t>
            </a:r>
          </a:p>
          <a:p>
            <a:r>
              <a:rPr lang="tr-TR" sz="2400" b="1" dirty="0" smtClean="0"/>
              <a:t>Ayakkabı, havlu gibi eşyaları başkalarıyla ortak kullananlarda</a:t>
            </a:r>
          </a:p>
          <a:p>
            <a:r>
              <a:rPr lang="tr-TR" sz="2400" b="1" dirty="0" smtClean="0"/>
              <a:t>AIDS gibi enfeksiyon hastalıkları bulunanlarda</a:t>
            </a:r>
          </a:p>
          <a:p>
            <a:r>
              <a:rPr lang="tr-TR" sz="2400" b="1" dirty="0" smtClean="0"/>
              <a:t>Ergenlik öncesi dönemde bulunan çocuklarda</a:t>
            </a:r>
          </a:p>
          <a:p>
            <a:r>
              <a:rPr lang="tr-TR" sz="2400" b="1" dirty="0" err="1" smtClean="0"/>
              <a:t>Obezite</a:t>
            </a:r>
            <a:r>
              <a:rPr lang="tr-TR" sz="2400" b="1" dirty="0" smtClean="0"/>
              <a:t> ya da diyabet hastalarında</a:t>
            </a:r>
          </a:p>
          <a:p>
            <a:r>
              <a:rPr lang="tr-TR" sz="2400" b="1" dirty="0" smtClean="0"/>
              <a:t>Hamilelerde</a:t>
            </a:r>
          </a:p>
          <a:p>
            <a:r>
              <a:rPr lang="tr-TR" sz="2400" b="1" dirty="0" smtClean="0"/>
              <a:t>İleri derecede kanser hastalarında</a:t>
            </a:r>
          </a:p>
          <a:p>
            <a:r>
              <a:rPr lang="tr-TR" sz="2400" b="1" dirty="0" smtClean="0"/>
              <a:t>Bağışıklık sistemi ve vücut direnci düşük kişilerde</a:t>
            </a:r>
          </a:p>
          <a:p>
            <a:r>
              <a:rPr lang="tr-TR" sz="2400" b="1" dirty="0" smtClean="0"/>
              <a:t>Elleri sürekli olarak ıslak kalan bireylerde mantar hastalığı görülme ihtimali daha fazladır</a:t>
            </a:r>
            <a:br>
              <a:rPr lang="tr-TR" sz="2400" b="1" dirty="0" smtClean="0"/>
            </a:br>
            <a:endParaRPr lang="tr-TR" sz="24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rmAutofit fontScale="90000"/>
          </a:bodyPr>
          <a:lstStyle/>
          <a:p>
            <a:r>
              <a:rPr lang="tr-TR" dirty="0" smtClean="0">
                <a:solidFill>
                  <a:srgbClr val="FF0000"/>
                </a:solidFill>
              </a:rPr>
              <a:t/>
            </a:r>
            <a:br>
              <a:rPr lang="tr-TR" dirty="0" smtClean="0">
                <a:solidFill>
                  <a:srgbClr val="FF0000"/>
                </a:solidFill>
              </a:rPr>
            </a:br>
            <a:endParaRPr lang="tr-TR" b="1" dirty="0">
              <a:solidFill>
                <a:srgbClr val="FF0000"/>
              </a:solidFill>
            </a:endParaRPr>
          </a:p>
        </p:txBody>
      </p:sp>
      <p:sp>
        <p:nvSpPr>
          <p:cNvPr id="3" name="2 İçerik Yer Tutucusu"/>
          <p:cNvSpPr>
            <a:spLocks noGrp="1"/>
          </p:cNvSpPr>
          <p:nvPr>
            <p:ph idx="4294967295"/>
          </p:nvPr>
        </p:nvSpPr>
        <p:spPr>
          <a:xfrm>
            <a:off x="251520" y="188640"/>
            <a:ext cx="8568952" cy="6480720"/>
          </a:xfrm>
        </p:spPr>
        <p:txBody>
          <a:bodyPr>
            <a:noAutofit/>
          </a:bodyPr>
          <a:lstStyle/>
          <a:p>
            <a:pPr algn="ctr">
              <a:buNone/>
            </a:pPr>
            <a:r>
              <a:rPr lang="tr-TR" sz="2000" b="1" dirty="0" smtClean="0">
                <a:solidFill>
                  <a:srgbClr val="FF0000"/>
                </a:solidFill>
              </a:rPr>
              <a:t>	MANTAR TÜRLERİ, CİLT YÜZEYİNDEKİ KERATİN HÜCRELERİNE ETKİ EDEREK DERİDE DEFORMASYONA NEDEN OLUR</a:t>
            </a:r>
          </a:p>
          <a:p>
            <a:pPr>
              <a:buNone/>
            </a:pPr>
            <a:r>
              <a:rPr lang="tr-TR" sz="2000" b="1" dirty="0" smtClean="0">
                <a:solidFill>
                  <a:srgbClr val="FF0000"/>
                </a:solidFill>
              </a:rPr>
              <a:t>	       MANTAR HASTALIKLARININ NEDENLERİ ARASINDA NELER VARDIR</a:t>
            </a:r>
          </a:p>
          <a:p>
            <a:r>
              <a:rPr lang="tr-TR" sz="2400" b="1" dirty="0" smtClean="0"/>
              <a:t>Aşırı nemli ve sıcak alanlarda bulunmak</a:t>
            </a:r>
          </a:p>
          <a:p>
            <a:r>
              <a:rPr lang="tr-TR" sz="2400" b="1" dirty="0" smtClean="0"/>
              <a:t>Aşırı terlemek</a:t>
            </a:r>
          </a:p>
          <a:p>
            <a:r>
              <a:rPr lang="tr-TR" sz="2400" b="1" dirty="0" smtClean="0"/>
              <a:t>Dar kıyafetler giymek</a:t>
            </a:r>
          </a:p>
          <a:p>
            <a:r>
              <a:rPr lang="tr-TR" sz="2400" b="1" dirty="0" smtClean="0"/>
              <a:t>Havlu, peçete, ayakkabı gibi kıyafetleri başkalarıyla ortak kullanmak</a:t>
            </a:r>
          </a:p>
          <a:p>
            <a:r>
              <a:rPr lang="tr-TR" sz="2400" b="1" dirty="0" err="1" smtClean="0"/>
              <a:t>Enfekte</a:t>
            </a:r>
            <a:r>
              <a:rPr lang="tr-TR" sz="2400" b="1" dirty="0" smtClean="0"/>
              <a:t> hayvanlarla temas etmek</a:t>
            </a:r>
          </a:p>
          <a:p>
            <a:r>
              <a:rPr lang="tr-TR" sz="2400" b="1" dirty="0" smtClean="0"/>
              <a:t>Cildi yeterince kuru tutmamak</a:t>
            </a:r>
          </a:p>
          <a:p>
            <a:r>
              <a:rPr lang="tr-TR" sz="2400" b="1" dirty="0" smtClean="0"/>
              <a:t>Deride sürekli nemli bölgelerin bulunması </a:t>
            </a:r>
          </a:p>
          <a:p>
            <a:r>
              <a:rPr lang="tr-TR" sz="2400" b="1" dirty="0" smtClean="0"/>
              <a:t>Bazı ilaçların kullanımı</a:t>
            </a:r>
          </a:p>
          <a:p>
            <a:r>
              <a:rPr lang="tr-TR" sz="2400" b="1" dirty="0" err="1" smtClean="0"/>
              <a:t>Obezite</a:t>
            </a:r>
            <a:endParaRPr lang="tr-TR" sz="2400" b="1" dirty="0" smtClean="0"/>
          </a:p>
          <a:p>
            <a:r>
              <a:rPr lang="tr-TR" sz="2400" b="1" dirty="0" smtClean="0"/>
              <a:t>Kadınlarda gebelik</a:t>
            </a:r>
          </a:p>
          <a:p>
            <a:r>
              <a:rPr lang="tr-TR" sz="2400" b="1" dirty="0" smtClean="0"/>
              <a:t>Hijyen kurallarına özen göstermemek bulunur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 MANTAR HASTALIKLARININ NEDENLERİ ARASINDA NELER VARDIR</a:t>
            </a:r>
            <a:endParaRPr lang="tr-TR" sz="3600" b="1" dirty="0"/>
          </a:p>
        </p:txBody>
      </p:sp>
      <p:sp>
        <p:nvSpPr>
          <p:cNvPr id="3" name="2 İçerik Yer Tutucusu"/>
          <p:cNvSpPr>
            <a:spLocks noGrp="1"/>
          </p:cNvSpPr>
          <p:nvPr>
            <p:ph idx="1"/>
          </p:nvPr>
        </p:nvSpPr>
        <p:spPr>
          <a:xfrm>
            <a:off x="457200" y="1600200"/>
            <a:ext cx="8229600" cy="4709120"/>
          </a:xfrm>
        </p:spPr>
        <p:txBody>
          <a:bodyPr>
            <a:normAutofit fontScale="85000" lnSpcReduction="20000"/>
          </a:bodyPr>
          <a:lstStyle/>
          <a:p>
            <a:r>
              <a:rPr lang="tr-TR" sz="3100" b="1" dirty="0" smtClean="0"/>
              <a:t>Uzun süreli antibiyotik kullanımı sonucu konakçının normal </a:t>
            </a:r>
            <a:r>
              <a:rPr lang="tr-TR" sz="3100" b="1" dirty="0" err="1" smtClean="0"/>
              <a:t>mikrobiyotasının</a:t>
            </a:r>
            <a:r>
              <a:rPr lang="tr-TR" sz="3100" b="1" dirty="0" smtClean="0"/>
              <a:t> değişmesi</a:t>
            </a:r>
          </a:p>
          <a:p>
            <a:r>
              <a:rPr lang="tr-TR" sz="3100" b="1" dirty="0" err="1" smtClean="0"/>
              <a:t>İmmunsupresyon</a:t>
            </a:r>
            <a:r>
              <a:rPr lang="tr-TR" sz="3100" b="1" dirty="0" smtClean="0"/>
              <a:t> </a:t>
            </a:r>
          </a:p>
          <a:p>
            <a:r>
              <a:rPr lang="tr-TR" sz="3100" b="1" dirty="0" smtClean="0"/>
              <a:t>Eş zamanlı </a:t>
            </a:r>
            <a:r>
              <a:rPr lang="tr-TR" sz="3100" b="1" dirty="0" err="1" smtClean="0"/>
              <a:t>infeksiyonlar</a:t>
            </a:r>
            <a:r>
              <a:rPr lang="tr-TR" sz="3100" b="1" dirty="0" smtClean="0"/>
              <a:t> </a:t>
            </a:r>
          </a:p>
          <a:p>
            <a:r>
              <a:rPr lang="tr-TR" sz="3100" b="1" dirty="0" smtClean="0"/>
              <a:t>Deri ve </a:t>
            </a:r>
            <a:r>
              <a:rPr lang="tr-TR" sz="3100" b="1" dirty="0" err="1" smtClean="0"/>
              <a:t>muköz</a:t>
            </a:r>
            <a:r>
              <a:rPr lang="tr-TR" sz="3100" b="1" dirty="0" smtClean="0"/>
              <a:t> </a:t>
            </a:r>
            <a:r>
              <a:rPr lang="tr-TR" sz="3100" b="1" dirty="0" err="1" smtClean="0"/>
              <a:t>membranlarda</a:t>
            </a:r>
            <a:r>
              <a:rPr lang="tr-TR" sz="3100" b="1" dirty="0" smtClean="0"/>
              <a:t> yaralanmalar veya deri bütünlüğünün bozulması </a:t>
            </a:r>
          </a:p>
          <a:p>
            <a:r>
              <a:rPr lang="tr-TR" sz="3100" b="1" dirty="0" smtClean="0"/>
              <a:t>Mantar türleri sıcak ve nemli hava ya da ortamlarda çok daha kolay çoğalabilir. Bu nedenle, mantar hastalığı genel olarak yaz aylarında daha çok görülür. Bunun en önemli nedeni hava sıcaklığının yüksek olmasıdır </a:t>
            </a:r>
          </a:p>
          <a:p>
            <a:r>
              <a:rPr lang="tr-TR" sz="3100" b="1" dirty="0" smtClean="0"/>
              <a:t>Bulaşıcı bir hastalık olduğu için yaygın nedenlerden biri de </a:t>
            </a:r>
            <a:r>
              <a:rPr lang="tr-TR" sz="3100" b="1" dirty="0" err="1" smtClean="0"/>
              <a:t>enfekte</a:t>
            </a:r>
            <a:r>
              <a:rPr lang="tr-TR" sz="3100" b="1" dirty="0" smtClean="0"/>
              <a:t> kişilerin eşyalarının ortak kullanılmasıdır</a:t>
            </a:r>
          </a:p>
          <a:p>
            <a:endParaRPr lang="tr-TR" sz="3100" b="1" dirty="0" smtClean="0"/>
          </a:p>
          <a:p>
            <a:pPr>
              <a:buNone/>
            </a:pPr>
            <a:endParaRPr lang="tr-TR" sz="3100" b="1" dirty="0" smtClean="0"/>
          </a:p>
          <a:p>
            <a:endParaRPr lang="tr-TR" sz="3100" b="1" dirty="0" smtClean="0"/>
          </a:p>
          <a:p>
            <a:pPr>
              <a:buNone/>
            </a:pPr>
            <a:endParaRPr lang="tr-TR" sz="3100" b="1" dirty="0" smtClean="0"/>
          </a:p>
          <a:p>
            <a:endParaRPr lang="tr-TR" sz="3100" b="1" dirty="0" smtClean="0"/>
          </a:p>
          <a:p>
            <a:endParaRPr lang="tr-TR" dirty="0" smtClean="0"/>
          </a:p>
          <a:p>
            <a:endParaRPr lang="tr-TR" dirty="0" smtClean="0"/>
          </a:p>
          <a:p>
            <a:endParaRPr lang="tr-TR" sz="2800" b="1" dirty="0" smtClean="0"/>
          </a:p>
          <a:p>
            <a:endParaRPr lang="tr-TR" sz="2800"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496944" cy="6408712"/>
          </a:xfrm>
        </p:spPr>
        <p:txBody>
          <a:bodyPr>
            <a:normAutofit fontScale="25000" lnSpcReduction="20000"/>
          </a:bodyPr>
          <a:lstStyle/>
          <a:p>
            <a:pPr>
              <a:buNone/>
            </a:pPr>
            <a:r>
              <a:rPr lang="tr-TR" dirty="0" smtClean="0"/>
              <a:t>		 </a:t>
            </a:r>
            <a:r>
              <a:rPr lang="tr-TR" sz="9600" b="1" dirty="0" smtClean="0">
                <a:solidFill>
                  <a:srgbClr val="FF0000"/>
                </a:solidFill>
              </a:rPr>
              <a:t>MANTAR BELİRTİLERİ NELERDİR?</a:t>
            </a:r>
          </a:p>
          <a:p>
            <a:r>
              <a:rPr lang="tr-TR" sz="9600" b="1" dirty="0" smtClean="0"/>
              <a:t>Mantar belirtileri, vücutta görülme bölgesine göre değişiklik gösterir</a:t>
            </a:r>
          </a:p>
          <a:p>
            <a:pPr>
              <a:buNone/>
            </a:pPr>
            <a:r>
              <a:rPr lang="tr-TR" sz="9600" b="1" dirty="0" smtClean="0"/>
              <a:t>			</a:t>
            </a:r>
            <a:r>
              <a:rPr lang="tr-TR" sz="9600" b="1" dirty="0" smtClean="0">
                <a:solidFill>
                  <a:srgbClr val="333399"/>
                </a:solidFill>
              </a:rPr>
              <a:t>Genel olarak görülen belirtiler </a:t>
            </a:r>
          </a:p>
          <a:p>
            <a:r>
              <a:rPr lang="tr-TR" sz="9600" b="1" dirty="0" smtClean="0"/>
              <a:t>Deri üzerinde halka şeklinde kızarıklık ve şişlik</a:t>
            </a:r>
          </a:p>
          <a:p>
            <a:r>
              <a:rPr lang="tr-TR" sz="9600" b="1" dirty="0" smtClean="0"/>
              <a:t>Pembe, kırmızı ya da kahverengi gibi cilt renginden farklı lezyonlar</a:t>
            </a:r>
          </a:p>
          <a:p>
            <a:r>
              <a:rPr lang="tr-TR" sz="9600" b="1" dirty="0" smtClean="0"/>
              <a:t>Ciltte iltihaplanma</a:t>
            </a:r>
          </a:p>
          <a:p>
            <a:r>
              <a:rPr lang="tr-TR" sz="9600" b="1" dirty="0" smtClean="0"/>
              <a:t>Cilt üzerinde pullanma ve dökülmeler</a:t>
            </a:r>
          </a:p>
          <a:p>
            <a:r>
              <a:rPr lang="tr-TR" sz="9600" b="1" dirty="0" smtClean="0"/>
              <a:t>Sürekli kaşıntı hissi</a:t>
            </a:r>
          </a:p>
          <a:p>
            <a:r>
              <a:rPr lang="tr-TR" sz="9600" b="1" dirty="0" smtClean="0"/>
              <a:t>Bu belirtilere ek olarak mantarın etki alanına göre farklı belirtiler de görülebilir</a:t>
            </a:r>
          </a:p>
          <a:p>
            <a:r>
              <a:rPr lang="tr-TR" sz="9600" b="1" dirty="0" smtClean="0"/>
              <a:t>Tırnak mantarları tırnak içinde renk değişikliklerine ve şekil bozukluklarına yol açar</a:t>
            </a:r>
          </a:p>
          <a:p>
            <a:r>
              <a:rPr lang="tr-TR" sz="9600" b="1" dirty="0" err="1" smtClean="0"/>
              <a:t>Vajinal</a:t>
            </a:r>
            <a:r>
              <a:rPr lang="tr-TR" sz="9600" b="1" dirty="0" smtClean="0"/>
              <a:t> mantarda ise kaşıntı, kızarıklık ve deri dökülmesine ek olarak kıvamlı akıntı görülebilir</a:t>
            </a:r>
          </a:p>
          <a:p>
            <a:r>
              <a:rPr lang="tr-TR" sz="9600" b="1" dirty="0" smtClean="0"/>
              <a:t>Vücuttaki yüzeysel mantarlarda ise içi sıvı ya da irin dolu büyük veya küçük kabarcıklar görülebilir</a:t>
            </a:r>
          </a:p>
          <a:p>
            <a:pPr>
              <a:buNone/>
            </a:pPr>
            <a:r>
              <a:rPr lang="tr-TR" sz="9600" b="1" dirty="0" smtClean="0"/>
              <a:t/>
            </a:r>
            <a:br>
              <a:rPr lang="tr-TR" sz="9600" b="1" dirty="0" smtClean="0"/>
            </a:br>
            <a:endParaRPr lang="tr-TR" sz="9600"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DERMATOFİT NEDİR</a:t>
            </a:r>
            <a:endParaRPr lang="tr-TR" b="1"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a:bodyPr>
          <a:lstStyle/>
          <a:p>
            <a:r>
              <a:rPr lang="tr-TR" b="1" dirty="0" err="1" smtClean="0">
                <a:solidFill>
                  <a:srgbClr val="333399"/>
                </a:solidFill>
              </a:rPr>
              <a:t>Dermatofitler</a:t>
            </a:r>
            <a:r>
              <a:rPr lang="tr-TR" b="1" dirty="0" smtClean="0">
                <a:solidFill>
                  <a:srgbClr val="333399"/>
                </a:solidFill>
              </a:rPr>
              <a:t>; insan ve hayvanların deri, saç, kıl ve tırnak gibi </a:t>
            </a:r>
            <a:r>
              <a:rPr lang="tr-TR" b="1" dirty="0" err="1" smtClean="0">
                <a:solidFill>
                  <a:srgbClr val="333399"/>
                </a:solidFill>
              </a:rPr>
              <a:t>yüzeyel</a:t>
            </a:r>
            <a:r>
              <a:rPr lang="tr-TR" b="1" dirty="0" smtClean="0">
                <a:solidFill>
                  <a:srgbClr val="333399"/>
                </a:solidFill>
              </a:rPr>
              <a:t> </a:t>
            </a:r>
            <a:r>
              <a:rPr lang="tr-TR" b="1" dirty="0" err="1" smtClean="0">
                <a:solidFill>
                  <a:srgbClr val="333399"/>
                </a:solidFill>
              </a:rPr>
              <a:t>keratinize</a:t>
            </a:r>
            <a:r>
              <a:rPr lang="tr-TR" b="1" dirty="0" smtClean="0">
                <a:solidFill>
                  <a:srgbClr val="333399"/>
                </a:solidFill>
              </a:rPr>
              <a:t> dokularını tutan </a:t>
            </a:r>
            <a:r>
              <a:rPr lang="tr-TR" sz="2400" b="1" dirty="0" smtClean="0">
                <a:solidFill>
                  <a:srgbClr val="333399"/>
                </a:solidFill>
              </a:rPr>
              <a:t>(</a:t>
            </a:r>
            <a:r>
              <a:rPr lang="tr-TR" sz="2400" b="1" dirty="0" err="1" smtClean="0">
                <a:solidFill>
                  <a:srgbClr val="7030A0"/>
                </a:solidFill>
              </a:rPr>
              <a:t>stratum</a:t>
            </a:r>
            <a:r>
              <a:rPr lang="tr-TR" sz="2400" b="1" dirty="0" smtClean="0">
                <a:solidFill>
                  <a:srgbClr val="7030A0"/>
                </a:solidFill>
              </a:rPr>
              <a:t> </a:t>
            </a:r>
            <a:r>
              <a:rPr lang="tr-TR" sz="2400" b="1" dirty="0" err="1" smtClean="0">
                <a:solidFill>
                  <a:srgbClr val="7030A0"/>
                </a:solidFill>
              </a:rPr>
              <a:t>korneum</a:t>
            </a:r>
            <a:r>
              <a:rPr lang="tr-TR" sz="2400" b="1" dirty="0" smtClean="0">
                <a:solidFill>
                  <a:srgbClr val="7030A0"/>
                </a:solidFill>
              </a:rPr>
              <a:t>) </a:t>
            </a:r>
            <a:r>
              <a:rPr lang="tr-TR" b="1" dirty="0" smtClean="0">
                <a:solidFill>
                  <a:srgbClr val="FF0000"/>
                </a:solidFill>
              </a:rPr>
              <a:t>küf mantarlarıdır</a:t>
            </a:r>
          </a:p>
          <a:p>
            <a:r>
              <a:rPr lang="tr-TR" b="1" dirty="0" err="1" smtClean="0"/>
              <a:t>Dermatofitler</a:t>
            </a:r>
            <a:r>
              <a:rPr lang="tr-TR" b="1" dirty="0" smtClean="0"/>
              <a:t> besin olarak </a:t>
            </a:r>
            <a:r>
              <a:rPr lang="tr-TR" b="1" dirty="0" err="1" smtClean="0"/>
              <a:t>keratini</a:t>
            </a:r>
            <a:r>
              <a:rPr lang="tr-TR" b="1" dirty="0" smtClean="0"/>
              <a:t> kullanırlar Bu nedenle </a:t>
            </a:r>
            <a:r>
              <a:rPr lang="tr-TR" b="1" dirty="0" err="1" smtClean="0"/>
              <a:t>epidermis</a:t>
            </a:r>
            <a:r>
              <a:rPr lang="tr-TR" b="1" dirty="0" smtClean="0"/>
              <a:t>, kıl ve tırnak gibi </a:t>
            </a:r>
            <a:r>
              <a:rPr lang="tr-TR" b="1" dirty="0" err="1" smtClean="0"/>
              <a:t>keratinize</a:t>
            </a:r>
            <a:r>
              <a:rPr lang="tr-TR" b="1" dirty="0" smtClean="0"/>
              <a:t> dokularda hastalık yaparlar</a:t>
            </a:r>
            <a:endParaRPr lang="tr-TR" b="1" dirty="0" smtClean="0">
              <a:solidFill>
                <a:srgbClr val="FF0000"/>
              </a:solidFill>
            </a:endParaRPr>
          </a:p>
          <a:p>
            <a:r>
              <a:rPr lang="tr-TR" b="1" dirty="0" smtClean="0"/>
              <a:t>Bu mantarlar derin dokulara yayılmaz, </a:t>
            </a:r>
            <a:r>
              <a:rPr lang="tr-TR" b="1" dirty="0" err="1" smtClean="0"/>
              <a:t>epidermiste</a:t>
            </a:r>
            <a:r>
              <a:rPr lang="tr-TR" b="1" dirty="0" smtClean="0"/>
              <a:t> lokalize olurlar</a:t>
            </a:r>
          </a:p>
          <a:p>
            <a:r>
              <a:rPr lang="tr-TR" b="1" dirty="0" err="1" smtClean="0"/>
              <a:t>Hifler</a:t>
            </a:r>
            <a:r>
              <a:rPr lang="tr-TR" b="1" dirty="0" smtClean="0"/>
              <a:t> ve </a:t>
            </a:r>
            <a:r>
              <a:rPr lang="tr-TR" b="1" dirty="0" err="1" smtClean="0"/>
              <a:t>artrosporlar</a:t>
            </a:r>
            <a:r>
              <a:rPr lang="tr-TR" b="1" dirty="0" smtClean="0"/>
              <a:t> oluşturarak ürerler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DERMATOFİT ETKENLERİ NELERDİR</a:t>
            </a:r>
            <a:br>
              <a:rPr lang="tr-TR" b="1" dirty="0" smtClean="0">
                <a:solidFill>
                  <a:srgbClr val="FF0000"/>
                </a:solidFill>
              </a:rPr>
            </a:br>
            <a:r>
              <a:rPr lang="tr-TR" b="1" dirty="0" smtClean="0">
                <a:solidFill>
                  <a:srgbClr val="FF0000"/>
                </a:solidFill>
              </a:rPr>
              <a:t> VE YERLEŞİM YERLERİ NERELERDİR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err="1" smtClean="0"/>
              <a:t>Microsporium</a:t>
            </a:r>
            <a:r>
              <a:rPr lang="tr-TR" b="1" dirty="0" smtClean="0"/>
              <a:t>: Saç ve deri </a:t>
            </a:r>
          </a:p>
          <a:p>
            <a:r>
              <a:rPr lang="tr-TR" b="1" dirty="0" err="1" smtClean="0"/>
              <a:t>Trichophyton</a:t>
            </a:r>
            <a:r>
              <a:rPr lang="tr-TR" b="1" dirty="0" smtClean="0"/>
              <a:t>: Saç, deri ve tırnak</a:t>
            </a:r>
          </a:p>
          <a:p>
            <a:r>
              <a:rPr lang="tr-TR" b="1" dirty="0" err="1" smtClean="0"/>
              <a:t>Epidermophyton</a:t>
            </a:r>
            <a:r>
              <a:rPr lang="tr-TR" b="1" dirty="0" smtClean="0"/>
              <a:t>: Deri ve tırnak</a:t>
            </a:r>
          </a:p>
          <a:p>
            <a:endParaRPr lang="tr-TR" b="1" dirty="0" smtClean="0"/>
          </a:p>
          <a:p>
            <a:endParaRPr lang="tr-TR" b="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b="1" dirty="0" smtClean="0">
                <a:solidFill>
                  <a:srgbClr val="FF0000"/>
                </a:solidFill>
              </a:rPr>
              <a:t>DERMATOFİTLERİ GENEL OLARAK </a:t>
            </a:r>
            <a:br>
              <a:rPr lang="tr-TR" b="1" dirty="0" smtClean="0">
                <a:solidFill>
                  <a:srgbClr val="FF0000"/>
                </a:solidFill>
              </a:rPr>
            </a:br>
            <a:r>
              <a:rPr lang="tr-TR" b="1" dirty="0" smtClean="0">
                <a:solidFill>
                  <a:srgbClr val="FF0000"/>
                </a:solidFill>
              </a:rPr>
              <a:t>3 BÖLÜMDE İNCELERİZ</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lstStyle/>
          <a:p>
            <a:pPr algn="ctr">
              <a:buNone/>
            </a:pPr>
            <a:r>
              <a:rPr lang="tr-TR" b="1" dirty="0" smtClean="0"/>
              <a:t>	</a:t>
            </a:r>
            <a:r>
              <a:rPr lang="tr-TR" b="1" dirty="0" smtClean="0">
                <a:solidFill>
                  <a:srgbClr val="0070C0"/>
                </a:solidFill>
              </a:rPr>
              <a:t>Bulundukları doğal ortamlarına ve bulaş şekillerine göre </a:t>
            </a:r>
          </a:p>
          <a:p>
            <a:r>
              <a:rPr lang="tr-TR" b="1" dirty="0" smtClean="0"/>
              <a:t>1-Daha çok insan deri ve </a:t>
            </a:r>
            <a:r>
              <a:rPr lang="tr-TR" b="1" dirty="0" err="1" smtClean="0"/>
              <a:t>keratinize</a:t>
            </a:r>
            <a:r>
              <a:rPr lang="tr-TR" b="1" dirty="0" smtClean="0"/>
              <a:t> dokularında bulunanlar   </a:t>
            </a:r>
            <a:r>
              <a:rPr lang="tr-TR" sz="2800" b="1" dirty="0" err="1" smtClean="0">
                <a:solidFill>
                  <a:srgbClr val="FF3399"/>
                </a:solidFill>
              </a:rPr>
              <a:t>Antrofofilik</a:t>
            </a:r>
            <a:endParaRPr lang="tr-TR" sz="2800" b="1" dirty="0" smtClean="0">
              <a:solidFill>
                <a:srgbClr val="FF3399"/>
              </a:solidFill>
            </a:endParaRPr>
          </a:p>
          <a:p>
            <a:r>
              <a:rPr lang="tr-TR" b="1" dirty="0" smtClean="0"/>
              <a:t>2-Hayvan kökenli olanlar   </a:t>
            </a:r>
            <a:r>
              <a:rPr lang="tr-TR" sz="2800" b="1" dirty="0" err="1" smtClean="0">
                <a:solidFill>
                  <a:srgbClr val="FF3399"/>
                </a:solidFill>
              </a:rPr>
              <a:t>Zoofilik</a:t>
            </a:r>
            <a:r>
              <a:rPr lang="tr-TR" sz="2800" b="1" dirty="0" smtClean="0">
                <a:solidFill>
                  <a:srgbClr val="FF3399"/>
                </a:solidFill>
              </a:rPr>
              <a:t> </a:t>
            </a:r>
          </a:p>
          <a:p>
            <a:r>
              <a:rPr lang="tr-TR" b="1" dirty="0" smtClean="0"/>
              <a:t>3-Toprak kökenli olanlar  </a:t>
            </a:r>
            <a:r>
              <a:rPr lang="tr-TR" sz="2800" b="1" dirty="0" smtClean="0">
                <a:solidFill>
                  <a:srgbClr val="FF3399"/>
                </a:solidFill>
              </a:rPr>
              <a:t> </a:t>
            </a:r>
            <a:r>
              <a:rPr lang="tr-TR" sz="2800" b="1" dirty="0" err="1" smtClean="0">
                <a:solidFill>
                  <a:srgbClr val="FF3399"/>
                </a:solidFill>
              </a:rPr>
              <a:t>Jeofilik</a:t>
            </a:r>
            <a:endParaRPr lang="tr-TR" sz="2800" b="1" dirty="0" smtClean="0">
              <a:solidFill>
                <a:srgbClr val="FF3399"/>
              </a:solidFill>
            </a:endParaRPr>
          </a:p>
          <a:p>
            <a:endParaRPr lang="tr-TR" b="1" dirty="0" smtClean="0"/>
          </a:p>
          <a:p>
            <a:pPr lvl="1"/>
            <a:r>
              <a:rPr lang="tr-TR" b="1" dirty="0" smtClean="0"/>
              <a:t>Olmak üzere ayrılırlar</a:t>
            </a:r>
            <a:endParaRPr lang="tr-TR"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tr-TR" b="1" dirty="0" smtClean="0">
                <a:solidFill>
                  <a:srgbClr val="FF0000"/>
                </a:solidFill>
              </a:rPr>
              <a:t>İNSANLARDAKİ MANTAR HASTALIKLAR</a:t>
            </a:r>
            <a:endParaRPr lang="tr-TR" b="1" dirty="0">
              <a:solidFill>
                <a:srgbClr val="FF0000"/>
              </a:solidFill>
            </a:endParaRPr>
          </a:p>
        </p:txBody>
      </p:sp>
      <p:sp>
        <p:nvSpPr>
          <p:cNvPr id="33795" name="Rectangle 3"/>
          <p:cNvSpPr>
            <a:spLocks noGrp="1" noChangeArrowheads="1"/>
          </p:cNvSpPr>
          <p:nvPr>
            <p:ph type="body" idx="1"/>
          </p:nvPr>
        </p:nvSpPr>
        <p:spPr>
          <a:xfrm>
            <a:off x="323850" y="1556792"/>
            <a:ext cx="8229600" cy="4896544"/>
          </a:xfrm>
        </p:spPr>
        <p:txBody>
          <a:bodyPr>
            <a:normAutofit/>
          </a:bodyPr>
          <a:lstStyle/>
          <a:p>
            <a:pPr>
              <a:buNone/>
            </a:pPr>
            <a:r>
              <a:rPr lang="tr-TR" dirty="0"/>
              <a:t>	</a:t>
            </a:r>
            <a:r>
              <a:rPr lang="tr-TR" sz="2800" b="1" dirty="0" smtClean="0"/>
              <a:t>Vücuda yerleştiği </a:t>
            </a:r>
            <a:r>
              <a:rPr lang="tr-TR" sz="2800" b="1" dirty="0"/>
              <a:t>yere göre </a:t>
            </a:r>
            <a:r>
              <a:rPr lang="tr-TR" sz="2800" b="1" dirty="0" smtClean="0"/>
              <a:t>isimlendirilir</a:t>
            </a:r>
          </a:p>
          <a:p>
            <a:pPr>
              <a:buNone/>
            </a:pPr>
            <a:endParaRPr lang="tr-TR" b="1" dirty="0"/>
          </a:p>
          <a:p>
            <a:pPr lvl="1"/>
            <a:r>
              <a:rPr lang="tr-TR" sz="3200" b="1" dirty="0" err="1"/>
              <a:t>Yüzeyel</a:t>
            </a:r>
            <a:r>
              <a:rPr lang="tr-TR" sz="3200" b="1" dirty="0"/>
              <a:t> mikozlar</a:t>
            </a:r>
          </a:p>
          <a:p>
            <a:pPr lvl="1"/>
            <a:r>
              <a:rPr lang="tr-TR" sz="3200" b="1" dirty="0" err="1" smtClean="0"/>
              <a:t>Subkutan</a:t>
            </a:r>
            <a:r>
              <a:rPr lang="tr-TR" sz="3200" b="1" dirty="0" smtClean="0"/>
              <a:t>  ( deri altı ) </a:t>
            </a:r>
            <a:r>
              <a:rPr lang="tr-TR" sz="3200" b="1" dirty="0"/>
              <a:t>mikozlar</a:t>
            </a:r>
          </a:p>
          <a:p>
            <a:pPr lvl="1"/>
            <a:r>
              <a:rPr lang="tr-TR" sz="3200" b="1" dirty="0"/>
              <a:t>Derin </a:t>
            </a:r>
            <a:r>
              <a:rPr lang="tr-TR" sz="3200" b="1" dirty="0" smtClean="0"/>
              <a:t>mikozlar VEYA Sistemik mikozlar </a:t>
            </a:r>
          </a:p>
          <a:p>
            <a:pPr lvl="1">
              <a:buNone/>
            </a:pPr>
            <a:r>
              <a:rPr lang="tr-TR" sz="3200" b="1" dirty="0" smtClean="0"/>
              <a:t>	</a:t>
            </a:r>
            <a:r>
              <a:rPr lang="tr-TR" sz="2400" b="1" dirty="0" smtClean="0"/>
              <a:t>(Vücudu tümüyle tutan,tüm vücudu etkileyen demektir)</a:t>
            </a:r>
            <a:r>
              <a:rPr lang="tr-TR" sz="3200" b="1" dirty="0" smtClean="0"/>
              <a:t>				</a:t>
            </a:r>
          </a:p>
          <a:p>
            <a:pPr lvl="1"/>
            <a:r>
              <a:rPr lang="tr-TR" sz="3200" b="1" dirty="0" smtClean="0"/>
              <a:t>Fırsatçı </a:t>
            </a:r>
            <a:r>
              <a:rPr lang="tr-TR" sz="3200" b="1" dirty="0"/>
              <a:t>mikozlar</a:t>
            </a:r>
          </a:p>
          <a:p>
            <a:pPr lvl="1">
              <a:buFontTx/>
              <a:buNone/>
            </a:pPr>
            <a:endParaRPr lang="tr-TR"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amond(in)">
                                      <p:cBhvr>
                                        <p:cTn id="7" dur="20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diamond(in)">
                                      <p:cBhvr>
                                        <p:cTn id="12" dur="2000"/>
                                        <p:tgtEl>
                                          <p:spTgt spid="337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diamond(in)">
                                      <p:cBhvr>
                                        <p:cTn id="17" dur="2000"/>
                                        <p:tgtEl>
                                          <p:spTgt spid="337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3795">
                                            <p:txEl>
                                              <p:pRg st="4" end="4"/>
                                            </p:txEl>
                                          </p:spTgt>
                                        </p:tgtEl>
                                        <p:attrNameLst>
                                          <p:attrName>style.visibility</p:attrName>
                                        </p:attrNameLst>
                                      </p:cBhvr>
                                      <p:to>
                                        <p:strVal val="visible"/>
                                      </p:to>
                                    </p:set>
                                    <p:animEffect transition="in" filter="diamond(in)">
                                      <p:cBhvr>
                                        <p:cTn id="22" dur="2000"/>
                                        <p:tgtEl>
                                          <p:spTgt spid="33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3795">
                                            <p:txEl>
                                              <p:pRg st="5" end="5"/>
                                            </p:txEl>
                                          </p:spTgt>
                                        </p:tgtEl>
                                        <p:attrNameLst>
                                          <p:attrName>style.visibility</p:attrName>
                                        </p:attrNameLst>
                                      </p:cBhvr>
                                      <p:to>
                                        <p:strVal val="visible"/>
                                      </p:to>
                                    </p:set>
                                    <p:animEffect transition="in" filter="diamond(in)">
                                      <p:cBhvr>
                                        <p:cTn id="27" dur="2000"/>
                                        <p:tgtEl>
                                          <p:spTgt spid="33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3795">
                                            <p:txEl>
                                              <p:pRg st="6" end="6"/>
                                            </p:txEl>
                                          </p:spTgt>
                                        </p:tgtEl>
                                        <p:attrNameLst>
                                          <p:attrName>style.visibility</p:attrName>
                                        </p:attrNameLst>
                                      </p:cBhvr>
                                      <p:to>
                                        <p:strVal val="visible"/>
                                      </p:to>
                                    </p:set>
                                    <p:animEffect transition="in" filter="diamond(in)">
                                      <p:cBhvr>
                                        <p:cTn id="32" dur="2000"/>
                                        <p:tgtEl>
                                          <p:spTgt spid="337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YÜZEYEL  MİKOZLAR</a:t>
            </a: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solidFill>
                  <a:srgbClr val="333399"/>
                </a:solidFill>
              </a:rPr>
              <a:t>1-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versicolor</a:t>
            </a:r>
            <a:r>
              <a:rPr lang="tr-TR" b="1" dirty="0" smtClean="0">
                <a:solidFill>
                  <a:srgbClr val="333399"/>
                </a:solidFill>
              </a:rPr>
              <a:t> </a:t>
            </a:r>
          </a:p>
          <a:p>
            <a:r>
              <a:rPr lang="tr-TR" b="1" dirty="0" smtClean="0">
                <a:solidFill>
                  <a:srgbClr val="333399"/>
                </a:solidFill>
              </a:rPr>
              <a:t>2-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pedis</a:t>
            </a:r>
            <a:r>
              <a:rPr lang="tr-TR" b="1" dirty="0" smtClean="0">
                <a:solidFill>
                  <a:srgbClr val="333399"/>
                </a:solidFill>
              </a:rPr>
              <a:t> </a:t>
            </a:r>
          </a:p>
          <a:p>
            <a:r>
              <a:rPr lang="tr-TR" b="1" dirty="0" smtClean="0">
                <a:solidFill>
                  <a:srgbClr val="333399"/>
                </a:solidFill>
              </a:rPr>
              <a:t>3-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corporis</a:t>
            </a:r>
            <a:endParaRPr lang="tr-TR" b="1" dirty="0" smtClean="0">
              <a:solidFill>
                <a:srgbClr val="333399"/>
              </a:solidFill>
            </a:endParaRPr>
          </a:p>
          <a:p>
            <a:r>
              <a:rPr lang="tr-TR" b="1" dirty="0" smtClean="0">
                <a:solidFill>
                  <a:srgbClr val="333399"/>
                </a:solidFill>
              </a:rPr>
              <a:t>4-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capitis</a:t>
            </a:r>
            <a:endParaRPr lang="tr-TR" b="1" dirty="0" smtClean="0">
              <a:solidFill>
                <a:srgbClr val="333399"/>
              </a:solidFill>
            </a:endParaRPr>
          </a:p>
          <a:p>
            <a:r>
              <a:rPr lang="tr-TR" b="1" dirty="0" smtClean="0">
                <a:solidFill>
                  <a:srgbClr val="333399"/>
                </a:solidFill>
              </a:rPr>
              <a:t>5-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barbae</a:t>
            </a:r>
            <a:endParaRPr lang="tr-TR" b="1" dirty="0" smtClean="0">
              <a:solidFill>
                <a:srgbClr val="333399"/>
              </a:solidFill>
            </a:endParaRPr>
          </a:p>
          <a:p>
            <a:r>
              <a:rPr lang="tr-TR" b="1" dirty="0" smtClean="0">
                <a:solidFill>
                  <a:srgbClr val="333399"/>
                </a:solidFill>
              </a:rPr>
              <a:t>6-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ungium</a:t>
            </a:r>
            <a:r>
              <a:rPr lang="tr-TR" b="1" dirty="0" smtClean="0">
                <a:solidFill>
                  <a:srgbClr val="333399"/>
                </a:solidFill>
              </a:rPr>
              <a:t> (</a:t>
            </a:r>
            <a:r>
              <a:rPr lang="tr-TR" b="1" dirty="0" err="1" smtClean="0">
                <a:solidFill>
                  <a:srgbClr val="333399"/>
                </a:solidFill>
              </a:rPr>
              <a:t>onikomikoz</a:t>
            </a:r>
            <a:r>
              <a:rPr lang="tr-TR" b="1" dirty="0" smtClean="0">
                <a:solidFill>
                  <a:srgbClr val="333399"/>
                </a:solidFill>
              </a:rPr>
              <a:t>)</a:t>
            </a:r>
            <a:endParaRPr lang="tr-TR" dirty="0" smtClean="0">
              <a:solidFill>
                <a:srgbClr val="333399"/>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a:t>
            </a:r>
            <a:br>
              <a:rPr lang="tr-TR" sz="4000" b="1" dirty="0" smtClean="0">
                <a:solidFill>
                  <a:srgbClr val="FF0000"/>
                </a:solidFill>
              </a:rPr>
            </a:br>
            <a:r>
              <a:rPr lang="tr-TR" sz="3100" b="1" dirty="0" smtClean="0">
                <a:solidFill>
                  <a:srgbClr val="FF0000"/>
                </a:solidFill>
              </a:rPr>
              <a:t>1-</a:t>
            </a: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  Nedir? Nerede Bulunur?</a:t>
            </a:r>
            <a:endParaRPr lang="tr-TR" sz="3100" dirty="0">
              <a:solidFill>
                <a:srgbClr val="FF0000"/>
              </a:solidFill>
            </a:endParaRPr>
          </a:p>
        </p:txBody>
      </p:sp>
      <p:sp>
        <p:nvSpPr>
          <p:cNvPr id="3" name="2 İçerik Yer Tutucusu"/>
          <p:cNvSpPr>
            <a:spLocks noGrp="1"/>
          </p:cNvSpPr>
          <p:nvPr>
            <p:ph idx="1"/>
          </p:nvPr>
        </p:nvSpPr>
        <p:spPr>
          <a:xfrm>
            <a:off x="457200" y="1600200"/>
            <a:ext cx="8229600" cy="4781128"/>
          </a:xfrm>
        </p:spPr>
        <p:txBody>
          <a:bodyPr>
            <a:noAutofit/>
          </a:bodyPr>
          <a:lstStyle/>
          <a:p>
            <a:r>
              <a:rPr lang="tr-TR" sz="2600" b="1" dirty="0" smtClean="0"/>
              <a:t>Halk arasında samyeli  denir</a:t>
            </a:r>
          </a:p>
          <a:p>
            <a:r>
              <a:rPr lang="tr-TR" sz="2800" b="1" dirty="0" err="1" smtClean="0"/>
              <a:t>Tinea</a:t>
            </a:r>
            <a:r>
              <a:rPr lang="tr-TR" sz="2800" b="1" dirty="0" smtClean="0"/>
              <a:t> </a:t>
            </a:r>
            <a:r>
              <a:rPr lang="tr-TR" sz="2800" b="1" dirty="0" err="1" smtClean="0"/>
              <a:t>versicolor</a:t>
            </a:r>
            <a:r>
              <a:rPr lang="tr-TR" sz="2800" b="1" dirty="0" smtClean="0"/>
              <a:t> olarak da bilinen samyeli mantarı, deride görülen ve sık rastlanan bir mantar enfeksiyonudur</a:t>
            </a:r>
          </a:p>
          <a:p>
            <a:r>
              <a:rPr lang="tr-TR" sz="2800" b="1" dirty="0" err="1" smtClean="0">
                <a:solidFill>
                  <a:srgbClr val="333399"/>
                </a:solidFill>
              </a:rPr>
              <a:t>Tinea</a:t>
            </a:r>
            <a:r>
              <a:rPr lang="tr-TR" sz="2800" b="1" dirty="0" smtClean="0">
                <a:solidFill>
                  <a:srgbClr val="333399"/>
                </a:solidFill>
              </a:rPr>
              <a:t> </a:t>
            </a:r>
            <a:r>
              <a:rPr lang="tr-TR" sz="2800" b="1" dirty="0" err="1" smtClean="0">
                <a:solidFill>
                  <a:srgbClr val="333399"/>
                </a:solidFill>
              </a:rPr>
              <a:t>versicolor’a</a:t>
            </a:r>
            <a:r>
              <a:rPr lang="tr-TR" sz="2800" b="1" dirty="0" smtClean="0">
                <a:solidFill>
                  <a:srgbClr val="333399"/>
                </a:solidFill>
              </a:rPr>
              <a:t> sebep olan </a:t>
            </a:r>
            <a:r>
              <a:rPr lang="tr-TR" sz="2800" b="1" dirty="0" err="1" smtClean="0">
                <a:solidFill>
                  <a:srgbClr val="333399"/>
                </a:solidFill>
              </a:rPr>
              <a:t>Malassezia</a:t>
            </a:r>
            <a:r>
              <a:rPr lang="tr-TR" sz="2800" b="1" dirty="0" smtClean="0">
                <a:solidFill>
                  <a:srgbClr val="333399"/>
                </a:solidFill>
              </a:rPr>
              <a:t> adlı mantar </a:t>
            </a:r>
            <a:r>
              <a:rPr lang="tr-TR" sz="2800" b="1" dirty="0" smtClean="0">
                <a:solidFill>
                  <a:srgbClr val="FF0000"/>
                </a:solidFill>
              </a:rPr>
              <a:t>türü hepimizin derisinde normal olarak bulunur</a:t>
            </a:r>
          </a:p>
          <a:p>
            <a:r>
              <a:rPr lang="tr-TR" sz="2800" b="1" dirty="0" smtClean="0"/>
              <a:t>Ancak sadece bazı insanlarda, bu mantarın aşırı üremesi sonucunda </a:t>
            </a:r>
            <a:r>
              <a:rPr lang="tr-TR" sz="2800" b="1" dirty="0" err="1" smtClean="0">
                <a:solidFill>
                  <a:srgbClr val="FF0000"/>
                </a:solidFill>
              </a:rPr>
              <a:t>tinea</a:t>
            </a:r>
            <a:r>
              <a:rPr lang="tr-TR" sz="2800" b="1" dirty="0" smtClean="0">
                <a:solidFill>
                  <a:srgbClr val="FF0000"/>
                </a:solidFill>
              </a:rPr>
              <a:t> </a:t>
            </a:r>
            <a:r>
              <a:rPr lang="tr-TR" sz="2800" b="1" dirty="0" err="1" smtClean="0">
                <a:solidFill>
                  <a:srgbClr val="FF0000"/>
                </a:solidFill>
              </a:rPr>
              <a:t>versicolor</a:t>
            </a:r>
            <a:r>
              <a:rPr lang="tr-TR" sz="2800" b="1" dirty="0" smtClean="0">
                <a:solidFill>
                  <a:srgbClr val="FF0000"/>
                </a:solidFill>
              </a:rPr>
              <a:t> adı verilen DERİNİN HASTALIĞI gelişir</a:t>
            </a:r>
          </a:p>
          <a:p>
            <a:pPr>
              <a:buNone/>
            </a:pPr>
            <a:endParaRPr lang="tr-TR" sz="2600" b="1" dirty="0" smtClean="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YÜZEYEL  MİKOZLAR</a:t>
            </a:r>
            <a:r>
              <a:rPr lang="tr-TR" sz="4000" b="1" dirty="0" smtClean="0">
                <a:solidFill>
                  <a:srgbClr val="FF0000"/>
                </a:solidFill>
              </a:rPr>
              <a:t/>
            </a:r>
            <a:br>
              <a:rPr lang="tr-TR" sz="4000" b="1" dirty="0" smtClean="0">
                <a:solidFill>
                  <a:srgbClr val="FF0000"/>
                </a:solidFill>
              </a:rPr>
            </a:br>
            <a:r>
              <a:rPr lang="tr-TR" sz="2800" b="1" dirty="0" err="1" smtClean="0">
                <a:solidFill>
                  <a:srgbClr val="FF0000"/>
                </a:solidFill>
              </a:rPr>
              <a:t>Tinea</a:t>
            </a:r>
            <a:r>
              <a:rPr lang="tr-TR" sz="2800" b="1" dirty="0" smtClean="0">
                <a:solidFill>
                  <a:srgbClr val="FF0000"/>
                </a:solidFill>
              </a:rPr>
              <a:t> </a:t>
            </a:r>
            <a:r>
              <a:rPr lang="tr-TR" sz="2800" b="1" dirty="0" err="1" smtClean="0">
                <a:solidFill>
                  <a:srgbClr val="FF0000"/>
                </a:solidFill>
              </a:rPr>
              <a:t>versicolor</a:t>
            </a:r>
            <a:r>
              <a:rPr lang="tr-TR" sz="2800" b="1" dirty="0" smtClean="0">
                <a:solidFill>
                  <a:srgbClr val="FF0000"/>
                </a:solidFill>
              </a:rPr>
              <a:t>  Ne yapar? </a:t>
            </a:r>
            <a:endParaRPr lang="tr-TR" sz="2800"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a:bodyPr>
          <a:lstStyle/>
          <a:p>
            <a:r>
              <a:rPr lang="tr-TR" sz="2600" b="1" dirty="0" smtClean="0"/>
              <a:t>Mantar, cildin normal </a:t>
            </a:r>
            <a:r>
              <a:rPr lang="tr-TR" sz="2600" b="1" dirty="0" err="1" smtClean="0"/>
              <a:t>pigmentasyonuna</a:t>
            </a:r>
            <a:r>
              <a:rPr lang="tr-TR" sz="2600" b="1" dirty="0" smtClean="0"/>
              <a:t> müdahale ederek, küçük ve renksiz yamalar veya etrafındaki deriden daha koyu  pigment alanlarına neden olur</a:t>
            </a:r>
          </a:p>
          <a:p>
            <a:r>
              <a:rPr lang="tr-TR" sz="2600" b="1" dirty="0" smtClean="0"/>
              <a:t>Sıklıkla gövde ve omuzları etkiler</a:t>
            </a:r>
          </a:p>
          <a:p>
            <a:r>
              <a:rPr lang="tr-TR" sz="2600" b="1" dirty="0" smtClean="0"/>
              <a:t>Ağrılı veya bulaşıcı değildir</a:t>
            </a:r>
          </a:p>
          <a:p>
            <a:r>
              <a:rPr lang="tr-TR" sz="2600" b="1" dirty="0" smtClean="0"/>
              <a:t>İnsandan insana bulaşmaz</a:t>
            </a:r>
            <a:endParaRPr lang="tr-TR" sz="2600" dirty="0"/>
          </a:p>
        </p:txBody>
      </p:sp>
      <p:pic>
        <p:nvPicPr>
          <p:cNvPr id="4098" name="Picture 2" descr="C:\Users\user\Desktop\tinea-hastaligi-nedir-h1480683481-d337cc.png"/>
          <p:cNvPicPr>
            <a:picLocks noChangeAspect="1" noChangeArrowheads="1"/>
          </p:cNvPicPr>
          <p:nvPr/>
        </p:nvPicPr>
        <p:blipFill>
          <a:blip r:embed="rId2" cstate="print"/>
          <a:srcRect/>
          <a:stretch>
            <a:fillRect/>
          </a:stretch>
        </p:blipFill>
        <p:spPr bwMode="auto">
          <a:xfrm>
            <a:off x="1187624" y="4437112"/>
            <a:ext cx="3077406" cy="1944216"/>
          </a:xfrm>
          <a:prstGeom prst="rect">
            <a:avLst/>
          </a:prstGeom>
          <a:noFill/>
        </p:spPr>
      </p:pic>
      <p:pic>
        <p:nvPicPr>
          <p:cNvPr id="4099" name="Picture 3" descr="C:\Users\user\Desktop\tinea-versicolor-6-27.jpg"/>
          <p:cNvPicPr>
            <a:picLocks noChangeAspect="1" noChangeArrowheads="1"/>
          </p:cNvPicPr>
          <p:nvPr/>
        </p:nvPicPr>
        <p:blipFill>
          <a:blip r:embed="rId3" cstate="print"/>
          <a:srcRect/>
          <a:stretch>
            <a:fillRect/>
          </a:stretch>
        </p:blipFill>
        <p:spPr bwMode="auto">
          <a:xfrm>
            <a:off x="5004048" y="3356992"/>
            <a:ext cx="3816424" cy="2952328"/>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Desktop\samyeli-mantari-1.jpg"/>
          <p:cNvPicPr>
            <a:picLocks noGrp="1" noChangeAspect="1" noChangeArrowheads="1"/>
          </p:cNvPicPr>
          <p:nvPr>
            <p:ph idx="4294967295"/>
          </p:nvPr>
        </p:nvPicPr>
        <p:blipFill>
          <a:blip r:embed="rId2" cstate="print"/>
          <a:srcRect/>
          <a:stretch>
            <a:fillRect/>
          </a:stretch>
        </p:blipFill>
        <p:spPr bwMode="auto">
          <a:xfrm>
            <a:off x="5076056" y="260648"/>
            <a:ext cx="3551237" cy="2663825"/>
          </a:xfrm>
          <a:prstGeom prst="rect">
            <a:avLst/>
          </a:prstGeom>
          <a:noFill/>
        </p:spPr>
      </p:pic>
      <p:pic>
        <p:nvPicPr>
          <p:cNvPr id="1027" name="Picture 3" descr="C:\Users\user\Desktop\smyeli-mantari.jpg"/>
          <p:cNvPicPr>
            <a:picLocks noChangeAspect="1" noChangeArrowheads="1"/>
          </p:cNvPicPr>
          <p:nvPr/>
        </p:nvPicPr>
        <p:blipFill>
          <a:blip r:embed="rId3" cstate="print"/>
          <a:srcRect/>
          <a:stretch>
            <a:fillRect/>
          </a:stretch>
        </p:blipFill>
        <p:spPr bwMode="auto">
          <a:xfrm>
            <a:off x="755576" y="404664"/>
            <a:ext cx="3672408" cy="2516280"/>
          </a:xfrm>
          <a:prstGeom prst="rect">
            <a:avLst/>
          </a:prstGeom>
          <a:noFill/>
        </p:spPr>
      </p:pic>
      <p:pic>
        <p:nvPicPr>
          <p:cNvPr id="1028" name="Picture 4" descr="C:\Users\user\Desktop\tinea-versicolor-03-cd493d6a13c3aa2d3aa697567dfc2f99.jpg"/>
          <p:cNvPicPr>
            <a:picLocks noChangeAspect="1" noChangeArrowheads="1"/>
          </p:cNvPicPr>
          <p:nvPr/>
        </p:nvPicPr>
        <p:blipFill>
          <a:blip r:embed="rId4" cstate="print"/>
          <a:srcRect/>
          <a:stretch>
            <a:fillRect/>
          </a:stretch>
        </p:blipFill>
        <p:spPr bwMode="auto">
          <a:xfrm>
            <a:off x="5508104" y="3284984"/>
            <a:ext cx="3062444" cy="3140968"/>
          </a:xfrm>
          <a:prstGeom prst="rect">
            <a:avLst/>
          </a:prstGeom>
          <a:noFill/>
        </p:spPr>
      </p:pic>
      <p:pic>
        <p:nvPicPr>
          <p:cNvPr id="1029" name="Picture 5" descr="C:\Users\user\Desktop\vericolor.jpg"/>
          <p:cNvPicPr>
            <a:picLocks noChangeAspect="1" noChangeArrowheads="1"/>
          </p:cNvPicPr>
          <p:nvPr/>
        </p:nvPicPr>
        <p:blipFill>
          <a:blip r:embed="rId5" cstate="print"/>
          <a:srcRect/>
          <a:stretch>
            <a:fillRect/>
          </a:stretch>
        </p:blipFill>
        <p:spPr bwMode="auto">
          <a:xfrm>
            <a:off x="323528" y="3356992"/>
            <a:ext cx="4850904" cy="3233936"/>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a:t>
            </a:r>
            <a:r>
              <a:rPr lang="tr-TR" sz="6000" b="1" dirty="0" smtClean="0">
                <a:solidFill>
                  <a:srgbClr val="FF0000"/>
                </a:solidFill>
              </a:rPr>
              <a:t/>
            </a:r>
            <a:br>
              <a:rPr lang="tr-TR" sz="60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  Ne yapar? </a:t>
            </a:r>
            <a:endParaRPr lang="tr-TR" sz="3100" dirty="0">
              <a:solidFill>
                <a:srgbClr val="FF0000"/>
              </a:solidFill>
            </a:endParaRPr>
          </a:p>
        </p:txBody>
      </p:sp>
      <p:sp>
        <p:nvSpPr>
          <p:cNvPr id="3" name="2 İçerik Yer Tutucusu"/>
          <p:cNvSpPr>
            <a:spLocks noGrp="1"/>
          </p:cNvSpPr>
          <p:nvPr>
            <p:ph idx="1"/>
          </p:nvPr>
        </p:nvSpPr>
        <p:spPr>
          <a:xfrm>
            <a:off x="457200" y="1600200"/>
            <a:ext cx="8229600" cy="4709120"/>
          </a:xfrm>
        </p:spPr>
        <p:txBody>
          <a:bodyPr>
            <a:noAutofit/>
          </a:bodyPr>
          <a:lstStyle/>
          <a:p>
            <a:r>
              <a:rPr lang="tr-TR" sz="2600" b="1" dirty="0" err="1" smtClean="0"/>
              <a:t>Tinea</a:t>
            </a:r>
            <a:r>
              <a:rPr lang="tr-TR" sz="2600" b="1" dirty="0" smtClean="0"/>
              <a:t> </a:t>
            </a:r>
            <a:r>
              <a:rPr lang="tr-TR" sz="2600" b="1" dirty="0" err="1" smtClean="0"/>
              <a:t>versicolor</a:t>
            </a:r>
            <a:r>
              <a:rPr lang="tr-TR" sz="2600" b="1" dirty="0" smtClean="0"/>
              <a:t>, özellikle sıcak ve nemli havalarda tekrar eder</a:t>
            </a:r>
          </a:p>
          <a:p>
            <a:r>
              <a:rPr lang="tr-TR" sz="2600" b="1" dirty="0" smtClean="0"/>
              <a:t>Bu nedenle güneşe maruz kalmak, sorunu daha belirgin hale getirebilir</a:t>
            </a:r>
          </a:p>
          <a:p>
            <a:r>
              <a:rPr lang="tr-TR" sz="2600" b="1" dirty="0" smtClean="0"/>
              <a:t>Yaz aylarında ve genellikle deniz tatilinden sonra ortaya çıktığı için hastaların geneli bu mantar </a:t>
            </a:r>
            <a:r>
              <a:rPr lang="tr-TR" sz="2600" b="1" dirty="0" err="1" smtClean="0"/>
              <a:t>infeksiyonunu</a:t>
            </a:r>
            <a:r>
              <a:rPr lang="tr-TR" sz="2600" b="1" dirty="0" smtClean="0"/>
              <a:t> denizden kaptıklarını düşünürler</a:t>
            </a:r>
          </a:p>
          <a:p>
            <a:r>
              <a:rPr lang="tr-TR" sz="2600" b="1" dirty="0" smtClean="0">
                <a:solidFill>
                  <a:srgbClr val="FF0000"/>
                </a:solidFill>
              </a:rPr>
              <a:t>Oysa samyeli mantarına sebep olan ajan, normalde insan florasında yaşayan sıcak, nem, bağışıklık sisteminin zayıflaması ve stres ile sayısı artan bir mantar türüdür</a:t>
            </a:r>
            <a:endParaRPr lang="tr-TR" sz="2600" b="1"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Tinea_Versicolor550_ab.jpg"/>
          <p:cNvPicPr>
            <a:picLocks noGrp="1"/>
          </p:cNvPicPr>
          <p:nvPr>
            <p:ph idx="4294967295"/>
          </p:nvPr>
        </p:nvPicPr>
        <p:blipFill>
          <a:blip r:embed="rId2" cstate="print"/>
          <a:srcRect/>
          <a:stretch>
            <a:fillRect/>
          </a:stretch>
        </p:blipFill>
        <p:spPr bwMode="auto">
          <a:xfrm>
            <a:off x="3059832" y="404664"/>
            <a:ext cx="5699125" cy="3527425"/>
          </a:xfrm>
          <a:prstGeom prst="rect">
            <a:avLst/>
          </a:prstGeom>
          <a:noFill/>
          <a:ln w="9525">
            <a:noFill/>
            <a:miter lim="800000"/>
            <a:headEnd/>
            <a:tailEnd/>
          </a:ln>
        </p:spPr>
      </p:pic>
      <p:pic>
        <p:nvPicPr>
          <p:cNvPr id="3074" name="Picture 2" descr="C:\Users\user\Desktop\tinea-1.jpg"/>
          <p:cNvPicPr>
            <a:picLocks noChangeAspect="1" noChangeArrowheads="1"/>
          </p:cNvPicPr>
          <p:nvPr/>
        </p:nvPicPr>
        <p:blipFill>
          <a:blip r:embed="rId3" cstate="print"/>
          <a:srcRect/>
          <a:stretch>
            <a:fillRect/>
          </a:stretch>
        </p:blipFill>
        <p:spPr bwMode="auto">
          <a:xfrm>
            <a:off x="179512" y="3429000"/>
            <a:ext cx="4286250" cy="3219450"/>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a:t>
            </a:r>
            <a:br>
              <a:rPr lang="tr-TR" sz="40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  Ne yapar? </a:t>
            </a:r>
            <a:endParaRPr lang="tr-TR" sz="3100" dirty="0">
              <a:solidFill>
                <a:srgbClr val="FF0000"/>
              </a:solidFill>
            </a:endParaRPr>
          </a:p>
        </p:txBody>
      </p:sp>
      <p:sp>
        <p:nvSpPr>
          <p:cNvPr id="3" name="2 İçerik Yer Tutucusu"/>
          <p:cNvSpPr>
            <a:spLocks noGrp="1"/>
          </p:cNvSpPr>
          <p:nvPr>
            <p:ph idx="1"/>
          </p:nvPr>
        </p:nvSpPr>
        <p:spPr/>
        <p:txBody>
          <a:bodyPr>
            <a:normAutofit fontScale="85000" lnSpcReduction="10000"/>
          </a:bodyPr>
          <a:lstStyle/>
          <a:p>
            <a:r>
              <a:rPr lang="tr-TR" b="1" dirty="0" err="1" smtClean="0"/>
              <a:t>Tinea</a:t>
            </a:r>
            <a:r>
              <a:rPr lang="tr-TR" b="1" dirty="0" smtClean="0"/>
              <a:t> </a:t>
            </a:r>
            <a:r>
              <a:rPr lang="tr-TR" b="1" dirty="0" err="1" smtClean="0"/>
              <a:t>versicolor</a:t>
            </a:r>
            <a:r>
              <a:rPr lang="tr-TR" b="1" dirty="0" smtClean="0"/>
              <a:t> </a:t>
            </a:r>
            <a:r>
              <a:rPr lang="tr-TR" b="1" dirty="0" smtClean="0"/>
              <a:t>deride küçük lekeler olarak başlar</a:t>
            </a:r>
          </a:p>
          <a:p>
            <a:r>
              <a:rPr lang="tr-TR" b="1" dirty="0" smtClean="0"/>
              <a:t>Zamanla genişleyen lekeler birleşerek daha geniş alanları etkileyebilir</a:t>
            </a:r>
          </a:p>
          <a:p>
            <a:r>
              <a:rPr lang="tr-TR" b="1" dirty="0" smtClean="0"/>
              <a:t>Lekelerin üzerinde ince KEPEKLER bulunur</a:t>
            </a:r>
          </a:p>
          <a:p>
            <a:r>
              <a:rPr lang="tr-TR" b="1" dirty="0" smtClean="0"/>
              <a:t>Lekeler genellikle, çevresindeki deriden daha açık renktedir, bazen daha koyu renkte de olabilir</a:t>
            </a:r>
          </a:p>
          <a:p>
            <a:r>
              <a:rPr lang="tr-TR" b="1" dirty="0" smtClean="0"/>
              <a:t>Beyaz, pembe, kahverengi veya deri renginde olabilir</a:t>
            </a:r>
          </a:p>
          <a:p>
            <a:r>
              <a:rPr lang="tr-TR" b="1" dirty="0" smtClean="0"/>
              <a:t>Derinin herhangi bir bölgesini etkileyebilir, ancak en sık sırt ve gövdenin üst bölümünde yerleşir</a:t>
            </a:r>
          </a:p>
          <a:p>
            <a:r>
              <a:rPr lang="tr-TR" b="1" dirty="0" smtClean="0"/>
              <a:t>Lekeler kaşıntıya sebep olabilir</a:t>
            </a:r>
            <a:endParaRPr lang="tr-TR"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a:t>
            </a:r>
            <a:br>
              <a:rPr lang="tr-TR" sz="40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  Risk Grubu Kimlerdir?</a:t>
            </a:r>
            <a:endParaRPr lang="tr-TR" dirty="0">
              <a:solidFill>
                <a:srgbClr val="FF0000"/>
              </a:solidFill>
            </a:endParaRPr>
          </a:p>
        </p:txBody>
      </p:sp>
      <p:sp>
        <p:nvSpPr>
          <p:cNvPr id="3" name="2 İçerik Yer Tutucusu"/>
          <p:cNvSpPr>
            <a:spLocks noGrp="1"/>
          </p:cNvSpPr>
          <p:nvPr>
            <p:ph idx="1"/>
          </p:nvPr>
        </p:nvSpPr>
        <p:spPr/>
        <p:txBody>
          <a:bodyPr/>
          <a:lstStyle/>
          <a:p>
            <a:r>
              <a:rPr lang="tr-TR" b="1" dirty="0" err="1" smtClean="0">
                <a:solidFill>
                  <a:srgbClr val="7030A0"/>
                </a:solidFill>
              </a:rPr>
              <a:t>Tinea</a:t>
            </a:r>
            <a:r>
              <a:rPr lang="tr-TR" b="1" dirty="0" smtClean="0">
                <a:solidFill>
                  <a:srgbClr val="7030A0"/>
                </a:solidFill>
              </a:rPr>
              <a:t> </a:t>
            </a:r>
            <a:r>
              <a:rPr lang="tr-TR" b="1" dirty="0" err="1" smtClean="0">
                <a:solidFill>
                  <a:srgbClr val="7030A0"/>
                </a:solidFill>
              </a:rPr>
              <a:t>versicolor</a:t>
            </a:r>
            <a:r>
              <a:rPr lang="tr-TR" b="1" dirty="0" smtClean="0">
                <a:solidFill>
                  <a:srgbClr val="7030A0"/>
                </a:solidFill>
              </a:rPr>
              <a:t> kimlerde görülür ? </a:t>
            </a:r>
            <a:endParaRPr lang="tr-TR" b="1" dirty="0" smtClean="0"/>
          </a:p>
          <a:p>
            <a:r>
              <a:rPr lang="tr-TR" sz="2800" b="1" dirty="0" smtClean="0"/>
              <a:t>Sıcak ve nemli ortam, aşırı terleme, yağlı deri yapısı gibi koşullarda mantarın üremesi artar</a:t>
            </a:r>
          </a:p>
          <a:p>
            <a:r>
              <a:rPr lang="tr-TR" sz="2800" b="1" dirty="0" smtClean="0"/>
              <a:t>Ergenler ve genç erişkinler, yaşlılar ve çocuklara göre daha yağlı deri yapısına sahip olduklarından, daha sık etkilenirler</a:t>
            </a:r>
          </a:p>
          <a:p>
            <a:r>
              <a:rPr lang="tr-TR" sz="2800" b="1" dirty="0" smtClean="0"/>
              <a:t>Ayrıca bağışıklık sistemi baskılanmış kişilerde de hastalık ortaya çıkabilir </a:t>
            </a:r>
            <a:endParaRPr lang="tr-TR" sz="2800"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a:t>
            </a:r>
            <a:br>
              <a:rPr lang="tr-TR" sz="40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  Nasıl bir hastalıktır ve Tedavisi </a:t>
            </a:r>
            <a:endParaRPr lang="tr-TR" dirty="0">
              <a:solidFill>
                <a:srgbClr val="FF0000"/>
              </a:solidFill>
            </a:endParaRPr>
          </a:p>
        </p:txBody>
      </p:sp>
      <p:sp>
        <p:nvSpPr>
          <p:cNvPr id="3" name="2 İçerik Yer Tutucusu"/>
          <p:cNvSpPr>
            <a:spLocks noGrp="1"/>
          </p:cNvSpPr>
          <p:nvPr>
            <p:ph idx="1"/>
          </p:nvPr>
        </p:nvSpPr>
        <p:spPr/>
        <p:txBody>
          <a:bodyPr>
            <a:normAutofit/>
          </a:bodyPr>
          <a:lstStyle/>
          <a:p>
            <a:pPr>
              <a:buNone/>
            </a:pPr>
            <a:endParaRPr lang="tr-TR" sz="2600" b="1" dirty="0" smtClean="0"/>
          </a:p>
          <a:p>
            <a:r>
              <a:rPr lang="tr-TR" sz="2600" b="1" dirty="0" smtClean="0"/>
              <a:t>Tekrarlayan, kronik bir enfeksiyondur</a:t>
            </a:r>
            <a:endParaRPr lang="tr-TR" sz="2600" dirty="0" smtClean="0"/>
          </a:p>
          <a:p>
            <a:r>
              <a:rPr lang="tr-TR" sz="2600" b="1" dirty="0" smtClean="0"/>
              <a:t>Tedavide ilaçlı şampuanlar, losyon ve kremler kullanılır</a:t>
            </a:r>
          </a:p>
          <a:p>
            <a:r>
              <a:rPr lang="tr-TR" sz="2600" b="1" dirty="0" smtClean="0"/>
              <a:t>Cildi güneşten ve yapay UV ışık kaynaklarından korumak tedaviye  yardımcı olur</a:t>
            </a:r>
          </a:p>
          <a:p>
            <a:r>
              <a:rPr lang="tr-TR" sz="2600" b="1" dirty="0" smtClean="0"/>
              <a:t>Hastalığın sık tekrar ettiği bireylerin, bol ve terlemeyi engelleyen giysiler tercih etmesi uygun olacaktır</a:t>
            </a:r>
            <a:endParaRPr lang="tr-TR" sz="26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251520" y="274638"/>
            <a:ext cx="4176464" cy="1143000"/>
          </a:xfrm>
        </p:spPr>
        <p:txBody>
          <a:bodyPr>
            <a:normAutofit fontScale="90000"/>
          </a:bodyPr>
          <a:lstStyle/>
          <a:p>
            <a:pPr algn="l"/>
            <a:r>
              <a:rPr lang="tr-TR" sz="4000" b="1" dirty="0" smtClean="0">
                <a:solidFill>
                  <a:srgbClr val="FF0000"/>
                </a:solidFill>
              </a:rPr>
              <a:t>YÜZEYEL  MİKOZLAR</a:t>
            </a:r>
            <a:r>
              <a:rPr lang="tr-TR" b="1" dirty="0" smtClean="0">
                <a:solidFill>
                  <a:srgbClr val="FF0000"/>
                </a:solidFill>
              </a:rPr>
              <a:t/>
            </a:r>
            <a:br>
              <a:rPr lang="tr-TR" b="1" dirty="0" smtClean="0">
                <a:solidFill>
                  <a:srgbClr val="FF0000"/>
                </a:solidFill>
              </a:rPr>
            </a:br>
            <a:r>
              <a:rPr lang="tr-TR" sz="3100" b="1" dirty="0" smtClean="0">
                <a:solidFill>
                  <a:srgbClr val="FF0000"/>
                </a:solidFill>
              </a:rPr>
              <a:t>(</a:t>
            </a: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versicolor</a:t>
            </a:r>
            <a:r>
              <a:rPr lang="tr-TR" sz="3100" b="1" dirty="0" smtClean="0">
                <a:solidFill>
                  <a:srgbClr val="FF0000"/>
                </a:solidFill>
              </a:rPr>
              <a:t>)</a:t>
            </a:r>
            <a:endParaRPr lang="tr-TR" dirty="0">
              <a:solidFill>
                <a:srgbClr val="FF0000"/>
              </a:solidFill>
            </a:endParaRPr>
          </a:p>
        </p:txBody>
      </p:sp>
      <p:pic>
        <p:nvPicPr>
          <p:cNvPr id="4" name="3 İçerik Yer Tutucusu" descr="C:\Users\oem\Desktop\Tinea_Versicolor-129.jpg"/>
          <p:cNvPicPr>
            <a:picLocks noGrp="1"/>
          </p:cNvPicPr>
          <p:nvPr>
            <p:ph idx="4294967295"/>
          </p:nvPr>
        </p:nvPicPr>
        <p:blipFill>
          <a:blip r:embed="rId2" cstate="print"/>
          <a:srcRect/>
          <a:stretch>
            <a:fillRect/>
          </a:stretch>
        </p:blipFill>
        <p:spPr bwMode="auto">
          <a:xfrm>
            <a:off x="4499992" y="1340768"/>
            <a:ext cx="4229100" cy="3857625"/>
          </a:xfrm>
          <a:prstGeom prst="rect">
            <a:avLst/>
          </a:prstGeom>
          <a:noFill/>
          <a:ln w="9525">
            <a:noFill/>
            <a:miter lim="800000"/>
            <a:headEnd/>
            <a:tailEnd/>
          </a:ln>
        </p:spPr>
      </p:pic>
      <p:pic>
        <p:nvPicPr>
          <p:cNvPr id="4098" name="Picture 2" descr="C:\Users\Pc\Desktop\untitled.png"/>
          <p:cNvPicPr>
            <a:picLocks noChangeAspect="1" noChangeArrowheads="1"/>
          </p:cNvPicPr>
          <p:nvPr/>
        </p:nvPicPr>
        <p:blipFill>
          <a:blip r:embed="rId3" cstate="print"/>
          <a:srcRect/>
          <a:stretch>
            <a:fillRect/>
          </a:stretch>
        </p:blipFill>
        <p:spPr bwMode="auto">
          <a:xfrm>
            <a:off x="323528" y="2852936"/>
            <a:ext cx="3643338" cy="3643338"/>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YÜZEYEL  MİKOZLAR </a:t>
            </a:r>
            <a:br>
              <a:rPr lang="tr-TR" sz="3600" b="1" dirty="0" smtClean="0">
                <a:solidFill>
                  <a:srgbClr val="FF0000"/>
                </a:solidFill>
              </a:rPr>
            </a:br>
            <a:r>
              <a:rPr lang="tr-TR" sz="2800" b="1" dirty="0" smtClean="0">
                <a:solidFill>
                  <a:srgbClr val="FF0000"/>
                </a:solidFill>
              </a:rPr>
              <a:t>2-</a:t>
            </a:r>
            <a:r>
              <a:rPr lang="tr-TR" sz="2800" b="1" dirty="0" err="1" smtClean="0">
                <a:solidFill>
                  <a:srgbClr val="FF0000"/>
                </a:solidFill>
              </a:rPr>
              <a:t>Tinea</a:t>
            </a:r>
            <a:r>
              <a:rPr lang="tr-TR" sz="2800" b="1" dirty="0" smtClean="0">
                <a:solidFill>
                  <a:srgbClr val="FF0000"/>
                </a:solidFill>
              </a:rPr>
              <a:t> </a:t>
            </a:r>
            <a:r>
              <a:rPr lang="tr-TR" sz="2800" b="1" dirty="0" err="1" smtClean="0">
                <a:solidFill>
                  <a:srgbClr val="FF0000"/>
                </a:solidFill>
              </a:rPr>
              <a:t>pedis</a:t>
            </a:r>
            <a:r>
              <a:rPr lang="tr-TR" sz="2800" b="1" dirty="0" smtClean="0">
                <a:solidFill>
                  <a:srgbClr val="FF0000"/>
                </a:solidFill>
              </a:rPr>
              <a:t>  (atlet ayağı)   Nedir? Nerede Bulunur?</a:t>
            </a:r>
            <a:endParaRPr lang="tr-TR" sz="2800" b="1" dirty="0">
              <a:solidFill>
                <a:srgbClr val="FF0000"/>
              </a:solidFill>
            </a:endParaRPr>
          </a:p>
        </p:txBody>
      </p:sp>
      <p:sp>
        <p:nvSpPr>
          <p:cNvPr id="3" name="2 İçerik Yer Tutucusu"/>
          <p:cNvSpPr>
            <a:spLocks noGrp="1"/>
          </p:cNvSpPr>
          <p:nvPr>
            <p:ph idx="1"/>
          </p:nvPr>
        </p:nvSpPr>
        <p:spPr>
          <a:xfrm>
            <a:off x="457200" y="1600200"/>
            <a:ext cx="8507288" cy="4997152"/>
          </a:xfrm>
        </p:spPr>
        <p:txBody>
          <a:bodyPr>
            <a:normAutofit/>
          </a:bodyPr>
          <a:lstStyle/>
          <a:p>
            <a:r>
              <a:rPr lang="tr-TR" sz="2400" b="1" dirty="0" smtClean="0"/>
              <a:t>Halk arasında  atlet ayağı  denir</a:t>
            </a:r>
          </a:p>
          <a:p>
            <a:r>
              <a:rPr lang="tr-TR" sz="2400" b="1" dirty="0" smtClean="0"/>
              <a:t>Dış ortamlarda bulunan</a:t>
            </a:r>
          </a:p>
          <a:p>
            <a:r>
              <a:rPr lang="tr-TR" sz="2400" b="1" dirty="0" smtClean="0"/>
              <a:t>insandan insana bulaşabilen </a:t>
            </a:r>
          </a:p>
          <a:p>
            <a:r>
              <a:rPr lang="tr-TR" sz="2400" b="1" dirty="0" smtClean="0"/>
              <a:t>Ve uygun sıcaklık (25-37°C), nem ve karbondioksit (CO²) koşullarında, hastalığa neden olan mantarlardır</a:t>
            </a:r>
          </a:p>
          <a:p>
            <a:r>
              <a:rPr lang="tr-TR" sz="2400" b="1" dirty="0" smtClean="0"/>
              <a:t>Nem mantarın çoğalması için en uygun ortamı sağlar</a:t>
            </a:r>
          </a:p>
          <a:p>
            <a:r>
              <a:rPr lang="tr-TR" sz="2400" b="1" dirty="0" smtClean="0"/>
              <a:t>En sık olarak  </a:t>
            </a:r>
            <a:r>
              <a:rPr lang="tr-TR" sz="2400" b="1" dirty="0" err="1" smtClean="0">
                <a:solidFill>
                  <a:srgbClr val="FF0000"/>
                </a:solidFill>
              </a:rPr>
              <a:t>Trichophyton</a:t>
            </a:r>
            <a:r>
              <a:rPr lang="tr-TR" sz="2400" b="1" dirty="0" smtClean="0">
                <a:solidFill>
                  <a:srgbClr val="FF0000"/>
                </a:solidFill>
              </a:rPr>
              <a:t> </a:t>
            </a:r>
            <a:r>
              <a:rPr lang="tr-TR" sz="2400" b="1" dirty="0" err="1" smtClean="0">
                <a:solidFill>
                  <a:srgbClr val="FF0000"/>
                </a:solidFill>
              </a:rPr>
              <a:t>rubrum</a:t>
            </a:r>
            <a:r>
              <a:rPr lang="tr-TR" sz="2400" b="1" dirty="0" smtClean="0">
                <a:solidFill>
                  <a:srgbClr val="FF0000"/>
                </a:solidFill>
              </a:rPr>
              <a:t>  </a:t>
            </a:r>
            <a:r>
              <a:rPr lang="tr-TR" sz="2400" b="1" dirty="0" smtClean="0"/>
              <a:t>tarafından kaynaklanır</a:t>
            </a:r>
          </a:p>
          <a:p>
            <a:pPr>
              <a:buNone/>
            </a:pPr>
            <a:endParaRPr lang="tr-TR" sz="2400" b="1" dirty="0"/>
          </a:p>
        </p:txBody>
      </p:sp>
      <p:pic>
        <p:nvPicPr>
          <p:cNvPr id="5" name="3 İçerik Yer Tutucusu" descr="C:\Users\oem\Desktop\mantar resimleri-\Tinea-Pedis.jpg"/>
          <p:cNvPicPr>
            <a:picLocks/>
          </p:cNvPicPr>
          <p:nvPr/>
        </p:nvPicPr>
        <p:blipFill>
          <a:blip r:embed="rId2" cstate="print"/>
          <a:srcRect/>
          <a:stretch>
            <a:fillRect/>
          </a:stretch>
        </p:blipFill>
        <p:spPr bwMode="auto">
          <a:xfrm>
            <a:off x="5364088" y="4809728"/>
            <a:ext cx="3436640" cy="1859632"/>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 </a:t>
            </a:r>
            <a:br>
              <a:rPr lang="tr-TR" sz="40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pedis</a:t>
            </a:r>
            <a:r>
              <a:rPr lang="tr-TR" sz="3100" b="1" dirty="0" smtClean="0">
                <a:solidFill>
                  <a:srgbClr val="FF0000"/>
                </a:solidFill>
              </a:rPr>
              <a:t>  (atlet ayağı)   Ne yapar? </a:t>
            </a:r>
            <a:endParaRPr lang="tr-TR" sz="3100" dirty="0">
              <a:solidFill>
                <a:srgbClr val="FF0000"/>
              </a:solidFill>
            </a:endParaRPr>
          </a:p>
        </p:txBody>
      </p:sp>
      <p:sp>
        <p:nvSpPr>
          <p:cNvPr id="3" name="2 İçerik Yer Tutucusu"/>
          <p:cNvSpPr>
            <a:spLocks noGrp="1"/>
          </p:cNvSpPr>
          <p:nvPr>
            <p:ph idx="1"/>
          </p:nvPr>
        </p:nvSpPr>
        <p:spPr/>
        <p:txBody>
          <a:bodyPr>
            <a:normAutofit/>
          </a:bodyPr>
          <a:lstStyle/>
          <a:p>
            <a:r>
              <a:rPr lang="tr-TR" sz="2800" b="1" dirty="0" smtClean="0"/>
              <a:t>Ayağın iç yüzü ve tabanına yerleşir</a:t>
            </a:r>
          </a:p>
          <a:p>
            <a:r>
              <a:rPr lang="tr-TR" sz="2800" b="1" dirty="0" smtClean="0"/>
              <a:t>Vezikülle başlar</a:t>
            </a:r>
          </a:p>
          <a:p>
            <a:r>
              <a:rPr lang="tr-TR" sz="2800" b="1" dirty="0" smtClean="0"/>
              <a:t>Ayak tabanı ve yan kısımlarında kuru, beyaz renkli kabuklanma</a:t>
            </a:r>
          </a:p>
          <a:p>
            <a:r>
              <a:rPr lang="tr-TR" sz="2800" b="1" dirty="0" smtClean="0"/>
              <a:t>Kaşıntı çok şiddetli olabilir ve kötü koku eşlik edebilir</a:t>
            </a:r>
          </a:p>
          <a:p>
            <a:r>
              <a:rPr lang="tr-TR" sz="2800" b="1" dirty="0" smtClean="0"/>
              <a:t>Halk arasında ‘’Mayasıl’’ adı verilen ayak parmak arası yerleşiminde kuru soyulmalar bazen de peynirimsi beyaz görünümde oluşabilir </a:t>
            </a:r>
            <a:endParaRPr lang="tr-TR" sz="28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395536" y="332656"/>
            <a:ext cx="8280400" cy="6121400"/>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esktop\tinea_pedis_high.jpg"/>
          <p:cNvPicPr>
            <a:picLocks noGrp="1" noChangeAspect="1" noChangeArrowheads="1"/>
          </p:cNvPicPr>
          <p:nvPr>
            <p:ph idx="4294967295"/>
          </p:nvPr>
        </p:nvPicPr>
        <p:blipFill>
          <a:blip r:embed="rId2" cstate="print"/>
          <a:srcRect/>
          <a:stretch>
            <a:fillRect/>
          </a:stretch>
        </p:blipFill>
        <p:spPr bwMode="auto">
          <a:xfrm>
            <a:off x="2987824" y="332656"/>
            <a:ext cx="5480050" cy="4038600"/>
          </a:xfrm>
          <a:prstGeom prst="rect">
            <a:avLst/>
          </a:prstGeom>
          <a:noFill/>
        </p:spPr>
      </p:pic>
      <p:pic>
        <p:nvPicPr>
          <p:cNvPr id="5125" name="Picture 5" descr="C:\Users\user\Desktop\ayakta-mantar-enfeksiyonu.jpg"/>
          <p:cNvPicPr>
            <a:picLocks noChangeAspect="1" noChangeArrowheads="1"/>
          </p:cNvPicPr>
          <p:nvPr/>
        </p:nvPicPr>
        <p:blipFill>
          <a:blip r:embed="rId3" cstate="print"/>
          <a:srcRect/>
          <a:stretch>
            <a:fillRect/>
          </a:stretch>
        </p:blipFill>
        <p:spPr bwMode="auto">
          <a:xfrm>
            <a:off x="251520" y="3140968"/>
            <a:ext cx="3528392" cy="3528392"/>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 </a:t>
            </a:r>
            <a:r>
              <a:rPr lang="tr-TR" sz="5400" b="1" dirty="0" smtClean="0">
                <a:solidFill>
                  <a:srgbClr val="FF0000"/>
                </a:solidFill>
              </a:rPr>
              <a:t/>
            </a:r>
            <a:br>
              <a:rPr lang="tr-TR" sz="54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pedis</a:t>
            </a:r>
            <a:r>
              <a:rPr lang="tr-TR" sz="3100" b="1" dirty="0" smtClean="0">
                <a:solidFill>
                  <a:srgbClr val="FF0000"/>
                </a:solidFill>
              </a:rPr>
              <a:t>  (atlet ayağı)   Özellikleri Nelerdir?</a:t>
            </a:r>
            <a:endParaRPr lang="tr-TR" sz="3100" dirty="0">
              <a:solidFill>
                <a:srgbClr val="FF0000"/>
              </a:solidFill>
            </a:endParaRPr>
          </a:p>
        </p:txBody>
      </p:sp>
      <p:sp>
        <p:nvSpPr>
          <p:cNvPr id="3" name="2 İçerik Yer Tutucusu"/>
          <p:cNvSpPr>
            <a:spLocks noGrp="1"/>
          </p:cNvSpPr>
          <p:nvPr>
            <p:ph idx="1"/>
          </p:nvPr>
        </p:nvSpPr>
        <p:spPr>
          <a:xfrm>
            <a:off x="467544" y="1628800"/>
            <a:ext cx="8229600" cy="4968552"/>
          </a:xfrm>
        </p:spPr>
        <p:txBody>
          <a:bodyPr>
            <a:noAutofit/>
          </a:bodyPr>
          <a:lstStyle/>
          <a:p>
            <a:r>
              <a:rPr lang="tr-TR" sz="2600" b="1" dirty="0" smtClean="0"/>
              <a:t>Nemli ortam enfeksiyon oluşumunda kolaylaştırıcı faktörlerin en başında yer alır</a:t>
            </a:r>
          </a:p>
          <a:p>
            <a:r>
              <a:rPr lang="tr-TR" sz="2600" b="1" dirty="0" smtClean="0"/>
              <a:t>Bu nedenle </a:t>
            </a:r>
            <a:r>
              <a:rPr lang="tr-TR" sz="2600" b="1" dirty="0" err="1" smtClean="0"/>
              <a:t>tinea</a:t>
            </a:r>
            <a:r>
              <a:rPr lang="tr-TR" sz="2600" b="1" dirty="0" smtClean="0"/>
              <a:t> </a:t>
            </a:r>
            <a:r>
              <a:rPr lang="tr-TR" sz="2600" b="1" dirty="0" err="1" smtClean="0"/>
              <a:t>pedis</a:t>
            </a:r>
            <a:r>
              <a:rPr lang="tr-TR" sz="2600" b="1" dirty="0" smtClean="0"/>
              <a:t> yaz aylarında ve tropikal iklimlerde yaygındır</a:t>
            </a:r>
          </a:p>
          <a:p>
            <a:r>
              <a:rPr lang="tr-TR" sz="2600" b="1" dirty="0" smtClean="0"/>
              <a:t>Ayağın yıkanma sonrası iyi kurulamama</a:t>
            </a:r>
          </a:p>
          <a:p>
            <a:r>
              <a:rPr lang="tr-TR" sz="2600" b="1" dirty="0" smtClean="0"/>
              <a:t>Sıkı çorap ve ayakkabılar </a:t>
            </a:r>
          </a:p>
          <a:p>
            <a:r>
              <a:rPr lang="tr-TR" sz="2600" b="1" dirty="0" smtClean="0"/>
              <a:t>Uzun süre kapalı ayakkabı giyenler,</a:t>
            </a:r>
          </a:p>
          <a:p>
            <a:r>
              <a:rPr lang="tr-TR" sz="2600" b="1" dirty="0" err="1" smtClean="0">
                <a:solidFill>
                  <a:srgbClr val="FF0000"/>
                </a:solidFill>
              </a:rPr>
              <a:t>Hiperhidrozu</a:t>
            </a:r>
            <a:r>
              <a:rPr lang="tr-TR" sz="2600" b="1" dirty="0" smtClean="0">
                <a:solidFill>
                  <a:srgbClr val="FF0000"/>
                </a:solidFill>
              </a:rPr>
              <a:t> olanlar ( ter bezlerinin aşırı aktivasyonu)</a:t>
            </a:r>
          </a:p>
          <a:p>
            <a:r>
              <a:rPr lang="tr-TR" sz="2600" b="1" dirty="0" smtClean="0"/>
              <a:t>Islak ortamda çalışanlar</a:t>
            </a:r>
          </a:p>
          <a:p>
            <a:r>
              <a:rPr lang="tr-TR" sz="2600" b="1" dirty="0" smtClean="0"/>
              <a:t>Ayakları yıkamayı takiben kurulamayanlarda hastalık daha fazla gözlenir </a:t>
            </a:r>
            <a:endParaRPr lang="tr-TR" sz="2600"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YÜZEYEL  MİKOZLAR </a:t>
            </a:r>
            <a:r>
              <a:rPr lang="tr-TR" sz="3100" b="1" dirty="0" smtClean="0">
                <a:solidFill>
                  <a:srgbClr val="FF0000"/>
                </a:solidFill>
              </a:rPr>
              <a:t/>
            </a:r>
            <a:br>
              <a:rPr lang="tr-TR" sz="3100" b="1" dirty="0" smtClean="0">
                <a:solidFill>
                  <a:srgbClr val="FF0000"/>
                </a:solidFill>
              </a:rPr>
            </a:br>
            <a:r>
              <a:rPr lang="tr-TR" sz="3100" b="1" dirty="0" err="1" smtClean="0">
                <a:solidFill>
                  <a:srgbClr val="FF0000"/>
                </a:solidFill>
              </a:rPr>
              <a:t>Tinea</a:t>
            </a:r>
            <a:r>
              <a:rPr lang="tr-TR" sz="3100" b="1" dirty="0" smtClean="0">
                <a:solidFill>
                  <a:srgbClr val="FF0000"/>
                </a:solidFill>
              </a:rPr>
              <a:t> </a:t>
            </a:r>
            <a:r>
              <a:rPr lang="tr-TR" sz="3100" b="1" dirty="0" err="1" smtClean="0">
                <a:solidFill>
                  <a:srgbClr val="FF0000"/>
                </a:solidFill>
              </a:rPr>
              <a:t>pedis</a:t>
            </a:r>
            <a:r>
              <a:rPr lang="tr-TR" sz="3100" b="1" dirty="0" smtClean="0">
                <a:solidFill>
                  <a:srgbClr val="FF0000"/>
                </a:solidFill>
              </a:rPr>
              <a:t>  (atlet ayağı) Risk Grubu Kimlerdir?</a:t>
            </a:r>
            <a:endParaRPr lang="tr-TR" sz="3100" dirty="0">
              <a:solidFill>
                <a:srgbClr val="FF0000"/>
              </a:solidFill>
            </a:endParaRPr>
          </a:p>
        </p:txBody>
      </p:sp>
      <p:sp>
        <p:nvSpPr>
          <p:cNvPr id="3" name="2 İçerik Yer Tutucusu"/>
          <p:cNvSpPr>
            <a:spLocks noGrp="1"/>
          </p:cNvSpPr>
          <p:nvPr>
            <p:ph idx="1"/>
          </p:nvPr>
        </p:nvSpPr>
        <p:spPr/>
        <p:txBody>
          <a:bodyPr>
            <a:normAutofit/>
          </a:bodyPr>
          <a:lstStyle/>
          <a:p>
            <a:r>
              <a:rPr lang="tr-TR" sz="2800" b="1" dirty="0" smtClean="0"/>
              <a:t>Bağışıklık sistemi baskılanmış kişiler,yaşlılar,çocuklar hassas grubu oluşturur</a:t>
            </a:r>
          </a:p>
          <a:p>
            <a:r>
              <a:rPr lang="tr-TR" sz="2800" b="1" dirty="0" smtClean="0"/>
              <a:t>Ortak terlik ve/veya ayakkabı kullanımı enfeksiyonun yayılımını artırır</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84976" cy="6408712"/>
          </a:xfrm>
        </p:spPr>
        <p:txBody>
          <a:bodyPr>
            <a:normAutofit fontScale="92500" lnSpcReduction="20000"/>
          </a:bodyPr>
          <a:lstStyle/>
          <a:p>
            <a:pPr algn="ctr">
              <a:buNone/>
            </a:pPr>
            <a:r>
              <a:rPr lang="tr-TR" sz="4400" b="1" dirty="0" smtClean="0">
                <a:solidFill>
                  <a:srgbClr val="FF0000"/>
                </a:solidFill>
              </a:rPr>
              <a:t>YÜZEYEL  MİKOZLAR </a:t>
            </a:r>
            <a:r>
              <a:rPr lang="tr-TR" sz="8000" b="1" dirty="0" smtClean="0">
                <a:solidFill>
                  <a:srgbClr val="FF0000"/>
                </a:solidFill>
              </a:rPr>
              <a:t/>
            </a:r>
            <a:br>
              <a:rPr lang="tr-TR" sz="8000" b="1" dirty="0" smtClean="0">
                <a:solidFill>
                  <a:srgbClr val="FF0000"/>
                </a:solidFill>
              </a:rPr>
            </a:br>
            <a:r>
              <a:rPr lang="tr-TR" b="1" dirty="0" err="1" smtClean="0">
                <a:solidFill>
                  <a:srgbClr val="FF0000"/>
                </a:solidFill>
              </a:rPr>
              <a:t>Tinea</a:t>
            </a:r>
            <a:r>
              <a:rPr lang="tr-TR" b="1" dirty="0" smtClean="0">
                <a:solidFill>
                  <a:srgbClr val="FF0000"/>
                </a:solidFill>
              </a:rPr>
              <a:t> </a:t>
            </a:r>
            <a:r>
              <a:rPr lang="tr-TR" b="1" dirty="0" err="1" smtClean="0">
                <a:solidFill>
                  <a:srgbClr val="FF0000"/>
                </a:solidFill>
              </a:rPr>
              <a:t>pedis</a:t>
            </a:r>
            <a:r>
              <a:rPr lang="tr-TR" b="1" dirty="0" smtClean="0">
                <a:solidFill>
                  <a:srgbClr val="FF0000"/>
                </a:solidFill>
              </a:rPr>
              <a:t> (atlet ayağı)</a:t>
            </a:r>
            <a:r>
              <a:rPr lang="tr-TR" sz="3600" b="1" dirty="0" smtClean="0">
                <a:solidFill>
                  <a:srgbClr val="FF0000"/>
                </a:solidFill>
              </a:rPr>
              <a:t> Bulaşıcı mıdır?</a:t>
            </a:r>
            <a:endParaRPr lang="tr-TR" b="1" dirty="0" smtClean="0"/>
          </a:p>
          <a:p>
            <a:r>
              <a:rPr lang="tr-TR" b="1" dirty="0" smtClean="0"/>
              <a:t>Mantar enfeksiyonları bulaşıcıdır; vücudun bir bölgesinden diğer bir bölgesine</a:t>
            </a:r>
          </a:p>
          <a:p>
            <a:r>
              <a:rPr lang="tr-TR" b="1" dirty="0" smtClean="0"/>
              <a:t>Eşyalardan insana </a:t>
            </a:r>
          </a:p>
          <a:p>
            <a:r>
              <a:rPr lang="tr-TR" b="1" dirty="0" smtClean="0"/>
              <a:t>insandan insana</a:t>
            </a:r>
          </a:p>
          <a:p>
            <a:r>
              <a:rPr lang="tr-TR" b="1" dirty="0" smtClean="0"/>
              <a:t>Hayvanlardan insanlara bulaşabilir</a:t>
            </a:r>
          </a:p>
          <a:p>
            <a:r>
              <a:rPr lang="tr-TR" b="1" dirty="0" smtClean="0"/>
              <a:t>Bulaşma doğrudan ayak ayağa sürtünme yoluyla olabileceği gibi terlik, çorap, ayakkabı, havlu gibi, ortak kullanılan eşyalardan veya banyo, küvet, plaj, hamam soyunma odaları, spor salonları gibi halka açık ortak kullanım alanlarından bulaşabilirler</a:t>
            </a:r>
          </a:p>
          <a:p>
            <a:r>
              <a:rPr lang="tr-TR" b="1" dirty="0" smtClean="0">
                <a:solidFill>
                  <a:srgbClr val="FF0000"/>
                </a:solidFill>
              </a:rPr>
              <a:t>Ayak tırnaklara bulaşma ise daha çok tırnak makası, törpü gibi tırnakta zedelenme de yapabilen ortak eşyalar aracılığıyla olur</a:t>
            </a:r>
            <a:endParaRPr lang="tr-TR" b="1" dirty="0">
              <a:solidFill>
                <a:srgbClr val="FF000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mantar resimleri-\Tinea-Pedis-Pictures.jpg"/>
          <p:cNvPicPr>
            <a:picLocks noGrp="1"/>
          </p:cNvPicPr>
          <p:nvPr>
            <p:ph idx="4294967295"/>
          </p:nvPr>
        </p:nvPicPr>
        <p:blipFill>
          <a:blip r:embed="rId2" cstate="print"/>
          <a:srcRect/>
          <a:stretch>
            <a:fillRect/>
          </a:stretch>
        </p:blipFill>
        <p:spPr bwMode="auto">
          <a:xfrm>
            <a:off x="4860032" y="260648"/>
            <a:ext cx="4063876" cy="2833688"/>
          </a:xfrm>
          <a:prstGeom prst="rect">
            <a:avLst/>
          </a:prstGeom>
          <a:noFill/>
          <a:ln w="9525">
            <a:noFill/>
            <a:miter lim="800000"/>
            <a:headEnd/>
            <a:tailEnd/>
          </a:ln>
        </p:spPr>
      </p:pic>
      <p:pic>
        <p:nvPicPr>
          <p:cNvPr id="6146" name="Picture 2" descr="C:\Users\Pc\Desktop\images17LXMMFU.jpg"/>
          <p:cNvPicPr>
            <a:picLocks noChangeAspect="1" noChangeArrowheads="1"/>
          </p:cNvPicPr>
          <p:nvPr/>
        </p:nvPicPr>
        <p:blipFill>
          <a:blip r:embed="rId3" cstate="print"/>
          <a:srcRect/>
          <a:stretch>
            <a:fillRect/>
          </a:stretch>
        </p:blipFill>
        <p:spPr bwMode="auto">
          <a:xfrm>
            <a:off x="539552" y="332656"/>
            <a:ext cx="4095779" cy="3071834"/>
          </a:xfrm>
          <a:prstGeom prst="rect">
            <a:avLst/>
          </a:prstGeom>
          <a:noFill/>
        </p:spPr>
      </p:pic>
      <p:pic>
        <p:nvPicPr>
          <p:cNvPr id="6147" name="Picture 3" descr="C:\Users\Pc\Desktop\imagesCXKLEDR5.jpg"/>
          <p:cNvPicPr>
            <a:picLocks noChangeAspect="1" noChangeArrowheads="1"/>
          </p:cNvPicPr>
          <p:nvPr/>
        </p:nvPicPr>
        <p:blipFill>
          <a:blip r:embed="rId4" cstate="print"/>
          <a:srcRect/>
          <a:stretch>
            <a:fillRect/>
          </a:stretch>
        </p:blipFill>
        <p:spPr bwMode="auto">
          <a:xfrm>
            <a:off x="5072066" y="3571876"/>
            <a:ext cx="3643306" cy="2533656"/>
          </a:xfrm>
          <a:prstGeom prst="rect">
            <a:avLst/>
          </a:prstGeom>
          <a:noFill/>
        </p:spPr>
      </p:pic>
      <p:pic>
        <p:nvPicPr>
          <p:cNvPr id="6149" name="Picture 5" descr="C:\Users\Pc\Desktop\imagesZYQCSHCF.jpg"/>
          <p:cNvPicPr>
            <a:picLocks noChangeAspect="1" noChangeArrowheads="1"/>
          </p:cNvPicPr>
          <p:nvPr/>
        </p:nvPicPr>
        <p:blipFill>
          <a:blip r:embed="rId5" cstate="print"/>
          <a:srcRect/>
          <a:stretch>
            <a:fillRect/>
          </a:stretch>
        </p:blipFill>
        <p:spPr bwMode="auto">
          <a:xfrm>
            <a:off x="320074" y="3786190"/>
            <a:ext cx="4394802" cy="2924541"/>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YÜZEYEL  MİKOZLAR </a:t>
            </a:r>
            <a:br>
              <a:rPr lang="tr-TR" sz="3600" b="1" dirty="0" smtClean="0">
                <a:solidFill>
                  <a:srgbClr val="FF0000"/>
                </a:solidFill>
              </a:rPr>
            </a:br>
            <a:r>
              <a:rPr lang="tr-TR" sz="2800" b="1" dirty="0" err="1" smtClean="0">
                <a:solidFill>
                  <a:srgbClr val="FF0000"/>
                </a:solidFill>
              </a:rPr>
              <a:t>Tiniea</a:t>
            </a:r>
            <a:r>
              <a:rPr lang="tr-TR" sz="2800" b="1" dirty="0" smtClean="0">
                <a:solidFill>
                  <a:srgbClr val="FF0000"/>
                </a:solidFill>
              </a:rPr>
              <a:t> </a:t>
            </a:r>
            <a:r>
              <a:rPr lang="tr-TR" sz="2800" b="1" dirty="0" err="1" smtClean="0">
                <a:solidFill>
                  <a:srgbClr val="FF0000"/>
                </a:solidFill>
              </a:rPr>
              <a:t>pedis</a:t>
            </a:r>
            <a:r>
              <a:rPr lang="tr-TR" sz="2800" b="1" dirty="0" smtClean="0">
                <a:solidFill>
                  <a:srgbClr val="FF0000"/>
                </a:solidFill>
              </a:rPr>
              <a:t>  (atlet ayağı) Tedavisi </a:t>
            </a:r>
            <a:endParaRPr lang="tr-TR" sz="2800"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r>
              <a:rPr lang="tr-TR" b="1" dirty="0" smtClean="0"/>
              <a:t>Tedavi, dermatologun önerdiği şekilde düzgün uygulanırsa çok daha kolay ve etkili olacaktır</a:t>
            </a:r>
          </a:p>
          <a:p>
            <a:r>
              <a:rPr lang="tr-TR" b="1" dirty="0" smtClean="0"/>
              <a:t>Hastalık şiddetine göre deri üzerine ilaç sürme veya ağızdan alınan tabletlerle tedavi uygulanır</a:t>
            </a:r>
          </a:p>
          <a:p>
            <a:r>
              <a:rPr lang="tr-TR" b="1" dirty="0" smtClean="0"/>
              <a:t>Ayak derisi için en az bir ay düzenli tedavi gerekecektir</a:t>
            </a:r>
          </a:p>
          <a:p>
            <a:r>
              <a:rPr lang="tr-TR" b="1" dirty="0" smtClean="0"/>
              <a:t>Tedavi yanında korunma önlemlerine uyulması hem tedavinin başarısını olumlu yönde etkileyecektir hem de bulaşma ve yinelemeleri önlemek için çok önemlidir</a:t>
            </a:r>
            <a:endParaRPr lang="tr-TR"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210146"/>
          </a:xfrm>
        </p:spPr>
        <p:txBody>
          <a:bodyPr>
            <a:normAutofit fontScale="90000"/>
          </a:bodyPr>
          <a:lstStyle/>
          <a:p>
            <a:r>
              <a:rPr lang="tr-TR" sz="4000" b="1" dirty="0" smtClean="0">
                <a:solidFill>
                  <a:srgbClr val="FF0000"/>
                </a:solidFill>
              </a:rPr>
              <a:t>YÜZEYEL  MİKOZLAR </a:t>
            </a:r>
            <a:br>
              <a:rPr lang="tr-TR" sz="4000" b="1" dirty="0" smtClean="0">
                <a:solidFill>
                  <a:srgbClr val="FF0000"/>
                </a:solidFill>
              </a:rPr>
            </a:br>
            <a:r>
              <a:rPr lang="tr-TR" sz="3100" b="1" dirty="0" err="1" smtClean="0">
                <a:solidFill>
                  <a:srgbClr val="FF0000"/>
                </a:solidFill>
              </a:rPr>
              <a:t>Tiniea</a:t>
            </a:r>
            <a:r>
              <a:rPr lang="tr-TR" sz="3100" b="1" dirty="0" smtClean="0">
                <a:solidFill>
                  <a:srgbClr val="FF0000"/>
                </a:solidFill>
              </a:rPr>
              <a:t> </a:t>
            </a:r>
            <a:r>
              <a:rPr lang="tr-TR" sz="3100" b="1" dirty="0" err="1" smtClean="0">
                <a:solidFill>
                  <a:srgbClr val="FF0000"/>
                </a:solidFill>
              </a:rPr>
              <a:t>pedis</a:t>
            </a:r>
            <a:r>
              <a:rPr lang="tr-TR" sz="3100" b="1" dirty="0" smtClean="0">
                <a:solidFill>
                  <a:srgbClr val="FF0000"/>
                </a:solidFill>
              </a:rPr>
              <a:t>  (atlet ayağı) Tedavisi Edilmezse </a:t>
            </a:r>
            <a:r>
              <a:rPr lang="tr-TR" sz="3200" b="1" dirty="0" smtClean="0">
                <a:solidFill>
                  <a:srgbClr val="FF0000"/>
                </a:solidFill>
              </a:rPr>
              <a:t>neler olabilir?</a:t>
            </a:r>
            <a:endParaRPr lang="tr-TR" sz="3100" dirty="0">
              <a:solidFill>
                <a:srgbClr val="FF0000"/>
              </a:solidFill>
            </a:endParaRPr>
          </a:p>
        </p:txBody>
      </p:sp>
      <p:sp>
        <p:nvSpPr>
          <p:cNvPr id="3" name="2 İçerik Yer Tutucusu"/>
          <p:cNvSpPr>
            <a:spLocks noGrp="1"/>
          </p:cNvSpPr>
          <p:nvPr>
            <p:ph idx="1"/>
          </p:nvPr>
        </p:nvSpPr>
        <p:spPr/>
        <p:txBody>
          <a:bodyPr>
            <a:noAutofit/>
          </a:bodyPr>
          <a:lstStyle/>
          <a:p>
            <a:r>
              <a:rPr lang="tr-TR" b="1" dirty="0" smtClean="0"/>
              <a:t>Kaşınma yoluyla sıyrıklar açılması bakteriler için giriş kapısı oluşturur</a:t>
            </a:r>
          </a:p>
          <a:p>
            <a:r>
              <a:rPr lang="tr-TR" b="1" dirty="0" smtClean="0">
                <a:solidFill>
                  <a:srgbClr val="7030A0"/>
                </a:solidFill>
              </a:rPr>
              <a:t>Şeker hastalığı, varisler gibi damar dolaşım bozukluğu olan kişilerde ayak bakımının kötü olması</a:t>
            </a:r>
          </a:p>
          <a:p>
            <a:r>
              <a:rPr lang="tr-TR" b="1" dirty="0" smtClean="0"/>
              <a:t>Ve ayak mantar hastalığı tekrarlayan </a:t>
            </a:r>
            <a:r>
              <a:rPr lang="tr-TR" b="1" dirty="0" err="1" smtClean="0"/>
              <a:t>selülit</a:t>
            </a:r>
            <a:r>
              <a:rPr lang="tr-TR" b="1" dirty="0" smtClean="0"/>
              <a:t> (derin deri </a:t>
            </a:r>
            <a:r>
              <a:rPr lang="tr-TR" b="1" dirty="0" err="1" smtClean="0"/>
              <a:t>infeksiyonu</a:t>
            </a:r>
            <a:r>
              <a:rPr lang="tr-TR" b="1" dirty="0" smtClean="0"/>
              <a:t>) ve </a:t>
            </a:r>
            <a:r>
              <a:rPr lang="tr-TR" b="1" dirty="0" err="1" smtClean="0"/>
              <a:t>osteomiyelit</a:t>
            </a:r>
            <a:r>
              <a:rPr lang="tr-TR" b="1" dirty="0" smtClean="0"/>
              <a:t> (kemik iltihabı) gibi ciddi sağlık problemlerine neden olabilir</a:t>
            </a:r>
            <a:endParaRPr lang="tr-TR" b="1"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188640"/>
            <a:ext cx="8568952" cy="6480720"/>
          </a:xfrm>
        </p:spPr>
        <p:txBody>
          <a:bodyPr>
            <a:noAutofit/>
          </a:bodyPr>
          <a:lstStyle/>
          <a:p>
            <a:pPr>
              <a:buNone/>
            </a:pPr>
            <a:r>
              <a:rPr lang="tr-TR" sz="2000" b="1" dirty="0" smtClean="0">
                <a:solidFill>
                  <a:srgbClr val="FF0000"/>
                </a:solidFill>
              </a:rPr>
              <a:t>	</a:t>
            </a:r>
            <a:r>
              <a:rPr lang="tr-TR" sz="2800" b="1" dirty="0" smtClean="0">
                <a:solidFill>
                  <a:srgbClr val="FF0000"/>
                </a:solidFill>
              </a:rPr>
              <a:t>AYAK MANTARINDAN KORUNMA YOLLARI NELERDİR?</a:t>
            </a:r>
            <a:endParaRPr lang="tr-TR" sz="2800" b="1" dirty="0" smtClean="0"/>
          </a:p>
          <a:p>
            <a:r>
              <a:rPr lang="tr-TR" sz="2400" b="1" dirty="0" smtClean="0"/>
              <a:t>Ayaklarınızı her gün yıkayın ve özellikle parmak aralarını iyice kurulayın </a:t>
            </a:r>
          </a:p>
          <a:p>
            <a:r>
              <a:rPr lang="tr-TR" sz="2400" b="1" dirty="0" smtClean="0"/>
              <a:t>Özellikle sıcak aylarda sıkı ayakkabı ve çoraplardan kaçının </a:t>
            </a:r>
          </a:p>
          <a:p>
            <a:r>
              <a:rPr lang="tr-TR" sz="2400" b="1" dirty="0" smtClean="0"/>
              <a:t>Teri emen pamuklu çoraplar giyin, günlük olarak veya nemliyse daha sık değiştirin</a:t>
            </a:r>
          </a:p>
          <a:p>
            <a:r>
              <a:rPr lang="tr-TR" sz="2400" b="1" dirty="0" smtClean="0"/>
              <a:t> Yaz aylarında ayakkabıların içine mantara karşı koruyucu toz      pudralardan kullanın </a:t>
            </a:r>
          </a:p>
          <a:p>
            <a:r>
              <a:rPr lang="tr-TR" sz="2400" b="1" dirty="0" smtClean="0"/>
              <a:t>Tırnak makası, terlik, çorap, ayak havlularınızı kimseyle paylaşmayın </a:t>
            </a:r>
          </a:p>
          <a:p>
            <a:r>
              <a:rPr lang="tr-TR" sz="2400" b="1" dirty="0" smtClean="0"/>
              <a:t> Tırnaklarınızı düzenli olarak kesin,tırnakta travma yaratmayın</a:t>
            </a:r>
          </a:p>
          <a:p>
            <a:r>
              <a:rPr lang="tr-TR" sz="2400" b="1" dirty="0" smtClean="0"/>
              <a:t> Eskimiş ayakkabılarınızı, sıklıkla çok sayıda </a:t>
            </a:r>
            <a:r>
              <a:rPr lang="tr-TR" sz="2400" b="1" dirty="0" err="1" smtClean="0"/>
              <a:t>enfeksiyöz</a:t>
            </a:r>
            <a:r>
              <a:rPr lang="tr-TR" sz="2400" b="1" dirty="0" smtClean="0"/>
              <a:t> mikroorganizma barındırdığı için kullanmamalı ya da dezenfektanlar veya </a:t>
            </a:r>
            <a:r>
              <a:rPr lang="tr-TR" sz="2400" b="1" dirty="0" err="1" smtClean="0"/>
              <a:t>antifungal</a:t>
            </a:r>
            <a:r>
              <a:rPr lang="tr-TR" sz="2400" b="1" dirty="0" smtClean="0"/>
              <a:t> 	pudralar ile işlemden geçirdikten sonra kullanmalısınız</a:t>
            </a:r>
          </a:p>
          <a:p>
            <a:r>
              <a:rPr lang="tr-TR" sz="2400" b="1" dirty="0" smtClean="0"/>
              <a:t> Kullandığınız yüzme havuzunun temiz olduğundan emin olun</a:t>
            </a:r>
            <a:endParaRPr lang="tr-TR" sz="24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800" b="1" dirty="0" smtClean="0">
                <a:solidFill>
                  <a:srgbClr val="FF0000"/>
                </a:solidFill>
              </a:rPr>
              <a:t>YÜZEYEL  MİKOZLAR </a:t>
            </a:r>
            <a:br>
              <a:rPr lang="tr-TR" sz="2800" b="1" dirty="0" smtClean="0">
                <a:solidFill>
                  <a:srgbClr val="FF0000"/>
                </a:solidFill>
              </a:rPr>
            </a:br>
            <a:r>
              <a:rPr lang="tr-TR" sz="2800" b="1" dirty="0" smtClean="0">
                <a:solidFill>
                  <a:srgbClr val="FF0000"/>
                </a:solidFill>
              </a:rPr>
              <a:t>3-</a:t>
            </a:r>
            <a:r>
              <a:rPr lang="tr-TR" sz="2800" b="1" dirty="0" err="1" smtClean="0">
                <a:solidFill>
                  <a:srgbClr val="FF0000"/>
                </a:solidFill>
              </a:rPr>
              <a:t>Tiniea</a:t>
            </a:r>
            <a:r>
              <a:rPr lang="tr-TR" sz="2800" b="1" dirty="0" smtClean="0">
                <a:solidFill>
                  <a:srgbClr val="FF0000"/>
                </a:solidFill>
              </a:rPr>
              <a:t> </a:t>
            </a:r>
            <a:r>
              <a:rPr lang="tr-TR" sz="2800" b="1" dirty="0" err="1" smtClean="0">
                <a:solidFill>
                  <a:srgbClr val="FF0000"/>
                </a:solidFill>
              </a:rPr>
              <a:t>corporis</a:t>
            </a:r>
            <a:endParaRPr lang="tr-TR" sz="2800" b="1" dirty="0">
              <a:solidFill>
                <a:srgbClr val="FF0000"/>
              </a:solidFill>
            </a:endParaRPr>
          </a:p>
        </p:txBody>
      </p:sp>
      <p:sp>
        <p:nvSpPr>
          <p:cNvPr id="3" name="2 İçerik Yer Tutucusu"/>
          <p:cNvSpPr>
            <a:spLocks noGrp="1"/>
          </p:cNvSpPr>
          <p:nvPr>
            <p:ph idx="1"/>
          </p:nvPr>
        </p:nvSpPr>
        <p:spPr>
          <a:xfrm>
            <a:off x="457200" y="1600200"/>
            <a:ext cx="8507288" cy="5069160"/>
          </a:xfrm>
        </p:spPr>
        <p:txBody>
          <a:bodyPr>
            <a:normAutofit/>
          </a:bodyPr>
          <a:lstStyle/>
          <a:p>
            <a:r>
              <a:rPr lang="tr-TR" b="1" dirty="0" smtClean="0"/>
              <a:t>En sık olarak  </a:t>
            </a:r>
            <a:r>
              <a:rPr lang="tr-TR" b="1" dirty="0" err="1" smtClean="0"/>
              <a:t>Tinea</a:t>
            </a:r>
            <a:r>
              <a:rPr lang="tr-TR" b="1" dirty="0" smtClean="0"/>
              <a:t> </a:t>
            </a:r>
            <a:r>
              <a:rPr lang="tr-TR" b="1" dirty="0" err="1" smtClean="0"/>
              <a:t>circinata</a:t>
            </a:r>
            <a:r>
              <a:rPr lang="tr-TR" b="1" dirty="0" smtClean="0"/>
              <a:t> tarafından kaynaklanır</a:t>
            </a:r>
          </a:p>
          <a:p>
            <a:r>
              <a:rPr lang="tr-TR" b="1" dirty="0" smtClean="0"/>
              <a:t>Gövde, boyun, kollar,  Kasık ve koltuk altına yerleşir</a:t>
            </a:r>
          </a:p>
          <a:p>
            <a:r>
              <a:rPr lang="tr-TR" b="1" dirty="0" smtClean="0"/>
              <a:t>Deri pul pul, kuru olabilir </a:t>
            </a:r>
          </a:p>
          <a:p>
            <a:r>
              <a:rPr lang="tr-TR" b="1" dirty="0" smtClean="0"/>
              <a:t>Kötü havalanma, nem</a:t>
            </a:r>
          </a:p>
          <a:p>
            <a:r>
              <a:rPr lang="tr-TR" b="1" dirty="0" smtClean="0"/>
              <a:t>Gövde ve/veya </a:t>
            </a:r>
            <a:r>
              <a:rPr lang="tr-TR" b="1" dirty="0" err="1" smtClean="0"/>
              <a:t>ekstremite</a:t>
            </a:r>
            <a:r>
              <a:rPr lang="tr-TR" b="1" dirty="0" smtClean="0"/>
              <a:t> yerleşimli</a:t>
            </a:r>
          </a:p>
          <a:p>
            <a:r>
              <a:rPr lang="tr-TR" b="1" dirty="0" smtClean="0"/>
              <a:t>Bacakların  iç yüzeyinde en sık görülür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467544" y="274638"/>
            <a:ext cx="4464496" cy="1143000"/>
          </a:xfrm>
        </p:spPr>
        <p:txBody>
          <a:bodyPr>
            <a:normAutofit fontScale="90000"/>
          </a:bodyPr>
          <a:lstStyle/>
          <a:p>
            <a:pPr algn="l"/>
            <a:r>
              <a:rPr lang="tr-TR" b="1" dirty="0" smtClean="0">
                <a:solidFill>
                  <a:srgbClr val="FF0000"/>
                </a:solidFill>
              </a:rPr>
              <a:t>YÜZEYEL  MİKOZLAR </a:t>
            </a:r>
            <a:br>
              <a:rPr lang="tr-TR" b="1" dirty="0" smtClean="0">
                <a:solidFill>
                  <a:srgbClr val="FF0000"/>
                </a:solidFill>
              </a:rPr>
            </a:br>
            <a:r>
              <a:rPr lang="tr-TR" b="1" dirty="0" err="1" smtClean="0">
                <a:solidFill>
                  <a:srgbClr val="FF0000"/>
                </a:solidFill>
              </a:rPr>
              <a:t>Tiniea</a:t>
            </a:r>
            <a:r>
              <a:rPr lang="tr-TR" b="1" dirty="0" smtClean="0">
                <a:solidFill>
                  <a:srgbClr val="FF0000"/>
                </a:solidFill>
              </a:rPr>
              <a:t> </a:t>
            </a:r>
            <a:r>
              <a:rPr lang="tr-TR" b="1" dirty="0" err="1" smtClean="0">
                <a:solidFill>
                  <a:srgbClr val="FF0000"/>
                </a:solidFill>
              </a:rPr>
              <a:t>corporis</a:t>
            </a:r>
            <a:endParaRPr lang="tr-TR" dirty="0">
              <a:solidFill>
                <a:srgbClr val="FF0000"/>
              </a:solidFill>
            </a:endParaRPr>
          </a:p>
        </p:txBody>
      </p:sp>
      <p:pic>
        <p:nvPicPr>
          <p:cNvPr id="3074" name="Picture 2" descr="C:\Users\user\Desktop\092616_0638_TineaCorpor8.jpg"/>
          <p:cNvPicPr>
            <a:picLocks noGrp="1" noChangeAspect="1" noChangeArrowheads="1"/>
          </p:cNvPicPr>
          <p:nvPr>
            <p:ph idx="4294967295"/>
          </p:nvPr>
        </p:nvPicPr>
        <p:blipFill>
          <a:blip r:embed="rId2" cstate="print"/>
          <a:srcRect/>
          <a:stretch>
            <a:fillRect/>
          </a:stretch>
        </p:blipFill>
        <p:spPr bwMode="auto">
          <a:xfrm>
            <a:off x="4568825" y="1196752"/>
            <a:ext cx="4575175" cy="2879725"/>
          </a:xfrm>
          <a:prstGeom prst="rect">
            <a:avLst/>
          </a:prstGeom>
          <a:noFill/>
        </p:spPr>
      </p:pic>
      <p:pic>
        <p:nvPicPr>
          <p:cNvPr id="3075" name="Picture 3" descr="C:\Users\user\Desktop\tcorp.jpg"/>
          <p:cNvPicPr>
            <a:picLocks noChangeAspect="1" noChangeArrowheads="1"/>
          </p:cNvPicPr>
          <p:nvPr/>
        </p:nvPicPr>
        <p:blipFill>
          <a:blip r:embed="rId3" cstate="print"/>
          <a:srcRect/>
          <a:stretch>
            <a:fillRect/>
          </a:stretch>
        </p:blipFill>
        <p:spPr bwMode="auto">
          <a:xfrm>
            <a:off x="827584" y="1988840"/>
            <a:ext cx="3232398" cy="2304256"/>
          </a:xfrm>
          <a:prstGeom prst="rect">
            <a:avLst/>
          </a:prstGeom>
          <a:noFill/>
        </p:spPr>
      </p:pic>
      <p:pic>
        <p:nvPicPr>
          <p:cNvPr id="7" name="6 Resim" descr="C:\Users\oem\Desktop\mantar resimleri-\TinCorp07.jpg"/>
          <p:cNvPicPr/>
          <p:nvPr/>
        </p:nvPicPr>
        <p:blipFill>
          <a:blip r:embed="rId4" cstate="print"/>
          <a:srcRect/>
          <a:stretch>
            <a:fillRect/>
          </a:stretch>
        </p:blipFill>
        <p:spPr bwMode="auto">
          <a:xfrm>
            <a:off x="4139952" y="4486697"/>
            <a:ext cx="3367286" cy="2371303"/>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Pc\Desktop\imagesXG5QUTED.jpg"/>
          <p:cNvPicPr>
            <a:picLocks noGrp="1" noChangeAspect="1" noChangeArrowheads="1"/>
          </p:cNvPicPr>
          <p:nvPr>
            <p:ph idx="4294967295"/>
          </p:nvPr>
        </p:nvPicPr>
        <p:blipFill>
          <a:blip r:embed="rId2" cstate="print"/>
          <a:srcRect/>
          <a:stretch>
            <a:fillRect/>
          </a:stretch>
        </p:blipFill>
        <p:spPr bwMode="auto">
          <a:xfrm>
            <a:off x="899592" y="332656"/>
            <a:ext cx="4429125" cy="3500437"/>
          </a:xfrm>
          <a:prstGeom prst="rect">
            <a:avLst/>
          </a:prstGeom>
          <a:noFill/>
        </p:spPr>
      </p:pic>
      <p:pic>
        <p:nvPicPr>
          <p:cNvPr id="4" name="3 Resim" descr="C:\Users\oem\Desktop\tineaCorporisRingwormofBody_13375_lg.jpg"/>
          <p:cNvPicPr/>
          <p:nvPr/>
        </p:nvPicPr>
        <p:blipFill>
          <a:blip r:embed="rId3" cstate="print"/>
          <a:srcRect/>
          <a:stretch>
            <a:fillRect/>
          </a:stretch>
        </p:blipFill>
        <p:spPr bwMode="auto">
          <a:xfrm>
            <a:off x="5786446" y="285728"/>
            <a:ext cx="3048000" cy="2276475"/>
          </a:xfrm>
          <a:prstGeom prst="rect">
            <a:avLst/>
          </a:prstGeom>
          <a:noFill/>
          <a:ln w="9525">
            <a:noFill/>
            <a:miter lim="800000"/>
            <a:headEnd/>
            <a:tailEnd/>
          </a:ln>
        </p:spPr>
      </p:pic>
      <p:pic>
        <p:nvPicPr>
          <p:cNvPr id="7171" name="Picture 3" descr="C:\Users\Pc\Desktop\imagesB9UNXERC.jpg"/>
          <p:cNvPicPr>
            <a:picLocks noChangeAspect="1" noChangeArrowheads="1"/>
          </p:cNvPicPr>
          <p:nvPr/>
        </p:nvPicPr>
        <p:blipFill>
          <a:blip r:embed="rId4" cstate="print"/>
          <a:srcRect/>
          <a:stretch>
            <a:fillRect/>
          </a:stretch>
        </p:blipFill>
        <p:spPr bwMode="auto">
          <a:xfrm>
            <a:off x="5529698" y="3071810"/>
            <a:ext cx="3328582" cy="3357586"/>
          </a:xfrm>
          <a:prstGeom prst="rect">
            <a:avLst/>
          </a:prstGeom>
          <a:noFill/>
        </p:spPr>
      </p:pic>
      <p:pic>
        <p:nvPicPr>
          <p:cNvPr id="7172" name="Picture 4" descr="C:\Users\Pc\Desktop\untitled.png"/>
          <p:cNvPicPr>
            <a:picLocks noChangeAspect="1" noChangeArrowheads="1"/>
          </p:cNvPicPr>
          <p:nvPr/>
        </p:nvPicPr>
        <p:blipFill>
          <a:blip r:embed="rId5" cstate="print"/>
          <a:srcRect/>
          <a:stretch>
            <a:fillRect/>
          </a:stretch>
        </p:blipFill>
        <p:spPr bwMode="auto">
          <a:xfrm>
            <a:off x="1285852" y="3786190"/>
            <a:ext cx="2143140" cy="307181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YÜZEYEL  MİKOZLAR </a:t>
            </a:r>
            <a:r>
              <a:rPr lang="tr-TR" sz="2400" b="1" dirty="0" smtClean="0">
                <a:solidFill>
                  <a:srgbClr val="FF0000"/>
                </a:solidFill>
              </a:rPr>
              <a:t/>
            </a:r>
            <a:br>
              <a:rPr lang="tr-TR" sz="2400" b="1" dirty="0" smtClean="0">
                <a:solidFill>
                  <a:srgbClr val="FF0000"/>
                </a:solidFill>
              </a:rPr>
            </a:br>
            <a:r>
              <a:rPr lang="tr-TR" sz="2400" b="1" dirty="0" smtClean="0">
                <a:solidFill>
                  <a:srgbClr val="FF0000"/>
                </a:solidFill>
              </a:rPr>
              <a:t>4-</a:t>
            </a:r>
            <a:r>
              <a:rPr lang="tr-TR" sz="2800" b="1" dirty="0" smtClean="0">
                <a:solidFill>
                  <a:srgbClr val="FF0000"/>
                </a:solidFill>
              </a:rPr>
              <a:t>TİNİEA CAPİTİS</a:t>
            </a:r>
            <a:endParaRPr lang="tr-TR" sz="2800" b="1" dirty="0">
              <a:solidFill>
                <a:srgbClr val="FF0000"/>
              </a:solidFill>
            </a:endParaRPr>
          </a:p>
        </p:txBody>
      </p:sp>
      <p:sp>
        <p:nvSpPr>
          <p:cNvPr id="3" name="2 İçerik Yer Tutucusu"/>
          <p:cNvSpPr>
            <a:spLocks noGrp="1"/>
          </p:cNvSpPr>
          <p:nvPr>
            <p:ph idx="1"/>
          </p:nvPr>
        </p:nvSpPr>
        <p:spPr>
          <a:xfrm>
            <a:off x="457200" y="1600200"/>
            <a:ext cx="8229600" cy="5069160"/>
          </a:xfrm>
        </p:spPr>
        <p:txBody>
          <a:bodyPr>
            <a:noAutofit/>
          </a:bodyPr>
          <a:lstStyle/>
          <a:p>
            <a:r>
              <a:rPr lang="tr-TR" sz="2800" b="1" i="1" dirty="0" err="1" smtClean="0">
                <a:solidFill>
                  <a:srgbClr val="333399"/>
                </a:solidFill>
              </a:rPr>
              <a:t>Trichophyton</a:t>
            </a:r>
            <a:r>
              <a:rPr lang="tr-TR" sz="2800" b="1" dirty="0" smtClean="0">
                <a:solidFill>
                  <a:srgbClr val="333399"/>
                </a:solidFill>
              </a:rPr>
              <a:t> ve </a:t>
            </a:r>
            <a:r>
              <a:rPr lang="tr-TR" sz="2800" b="1" i="1" dirty="0" err="1" smtClean="0">
                <a:solidFill>
                  <a:srgbClr val="333399"/>
                </a:solidFill>
              </a:rPr>
              <a:t>Microsporum</a:t>
            </a:r>
            <a:r>
              <a:rPr lang="tr-TR" sz="2800" b="1" i="1" dirty="0" smtClean="0">
                <a:solidFill>
                  <a:srgbClr val="333399"/>
                </a:solidFill>
              </a:rPr>
              <a:t>  etken olabilir</a:t>
            </a:r>
            <a:endParaRPr lang="tr-TR" sz="2800" b="1" i="1" dirty="0" smtClean="0"/>
          </a:p>
          <a:p>
            <a:r>
              <a:rPr lang="tr-TR" b="1" dirty="0" smtClean="0"/>
              <a:t>Kafa derisinde ortaya çıkan mantar türüdür. Saç mantarı kafa derisini etkilediği gibi saçı da etkiler. Saçın uzamasını engeller ya da kafa derisinin bazı bölgelerinde dökülmelere neden olur.</a:t>
            </a:r>
          </a:p>
          <a:p>
            <a:r>
              <a:rPr lang="tr-TR" b="1" dirty="0" smtClean="0"/>
              <a:t>Saçlı deride soluk </a:t>
            </a:r>
            <a:r>
              <a:rPr lang="tr-TR" b="1" dirty="0" err="1" smtClean="0"/>
              <a:t>eritemli</a:t>
            </a:r>
            <a:r>
              <a:rPr lang="tr-TR" b="1" dirty="0" smtClean="0"/>
              <a:t> zemin üzerinde görülür, yuvarlak veya oval yamalar şeklinde gözlenir. Hastalıklı bölge üzerinde gri mat renkli kırık saçlar gözlenir </a:t>
            </a:r>
          </a:p>
          <a:p>
            <a:pPr>
              <a:buNone/>
            </a:pPr>
            <a:endParaRPr lang="tr-TR" sz="2400" b="1" i="1" dirty="0" smtClean="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Resim" descr="C:\Users\oem\Desktop\mantar resimleri-\Tinea%20Capitis%20Patient%20-%20Vignett.jpg"/>
          <p:cNvPicPr/>
          <p:nvPr/>
        </p:nvPicPr>
        <p:blipFill>
          <a:blip r:embed="rId2" cstate="print"/>
          <a:srcRect/>
          <a:stretch>
            <a:fillRect/>
          </a:stretch>
        </p:blipFill>
        <p:spPr bwMode="auto">
          <a:xfrm>
            <a:off x="1691680" y="1124744"/>
            <a:ext cx="6048672" cy="4398662"/>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mantar resimleri-\tinea_capitis4.jpg"/>
          <p:cNvPicPr>
            <a:picLocks noGrp="1"/>
          </p:cNvPicPr>
          <p:nvPr>
            <p:ph idx="4294967295"/>
          </p:nvPr>
        </p:nvPicPr>
        <p:blipFill>
          <a:blip r:embed="rId2" cstate="print"/>
          <a:srcRect/>
          <a:stretch>
            <a:fillRect/>
          </a:stretch>
        </p:blipFill>
        <p:spPr bwMode="auto">
          <a:xfrm>
            <a:off x="4355976" y="332656"/>
            <a:ext cx="4494212" cy="4265612"/>
          </a:xfrm>
          <a:prstGeom prst="rect">
            <a:avLst/>
          </a:prstGeom>
          <a:noFill/>
          <a:ln w="9525">
            <a:noFill/>
            <a:miter lim="800000"/>
            <a:headEnd/>
            <a:tailEnd/>
          </a:ln>
        </p:spPr>
      </p:pic>
      <p:pic>
        <p:nvPicPr>
          <p:cNvPr id="8194" name="Picture 2" descr="C:\Users\Pc\Desktop\untitled.png"/>
          <p:cNvPicPr>
            <a:picLocks noChangeAspect="1" noChangeArrowheads="1"/>
          </p:cNvPicPr>
          <p:nvPr/>
        </p:nvPicPr>
        <p:blipFill>
          <a:blip r:embed="rId3" cstate="print"/>
          <a:srcRect/>
          <a:stretch>
            <a:fillRect/>
          </a:stretch>
        </p:blipFill>
        <p:spPr bwMode="auto">
          <a:xfrm>
            <a:off x="428596" y="571480"/>
            <a:ext cx="3528080" cy="2643206"/>
          </a:xfrm>
          <a:prstGeom prst="rect">
            <a:avLst/>
          </a:prstGeom>
          <a:noFill/>
        </p:spPr>
      </p:pic>
      <p:pic>
        <p:nvPicPr>
          <p:cNvPr id="8195" name="Picture 3" descr="C:\Users\Pc\Desktop\imagesC3OBRXMN.jpg"/>
          <p:cNvPicPr>
            <a:picLocks noChangeAspect="1" noChangeArrowheads="1"/>
          </p:cNvPicPr>
          <p:nvPr/>
        </p:nvPicPr>
        <p:blipFill>
          <a:blip r:embed="rId4" cstate="print"/>
          <a:srcRect/>
          <a:stretch>
            <a:fillRect/>
          </a:stretch>
        </p:blipFill>
        <p:spPr bwMode="auto">
          <a:xfrm>
            <a:off x="730223" y="3857628"/>
            <a:ext cx="3556025" cy="2143140"/>
          </a:xfrm>
          <a:prstGeom prst="rect">
            <a:avLst/>
          </a:prstGeom>
          <a:noFill/>
        </p:spPr>
      </p:pic>
      <p:pic>
        <p:nvPicPr>
          <p:cNvPr id="8196" name="Picture 4" descr="C:\Users\Pc\Desktop\untitled.png"/>
          <p:cNvPicPr>
            <a:picLocks noChangeAspect="1" noChangeArrowheads="1"/>
          </p:cNvPicPr>
          <p:nvPr/>
        </p:nvPicPr>
        <p:blipFill>
          <a:blip r:embed="rId5" cstate="print"/>
          <a:srcRect/>
          <a:stretch>
            <a:fillRect/>
          </a:stretch>
        </p:blipFill>
        <p:spPr bwMode="auto">
          <a:xfrm>
            <a:off x="5072066" y="4786322"/>
            <a:ext cx="2619375" cy="1743075"/>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a:t>
            </a:r>
            <a:br>
              <a:rPr lang="tr-TR" b="1" dirty="0" smtClean="0">
                <a:solidFill>
                  <a:srgbClr val="FF0000"/>
                </a:solidFill>
              </a:rPr>
            </a:br>
            <a:r>
              <a:rPr lang="tr-TR" b="1" dirty="0" smtClean="0">
                <a:solidFill>
                  <a:srgbClr val="FF0000"/>
                </a:solidFill>
              </a:rPr>
              <a:t>NEDİR? </a:t>
            </a:r>
            <a:endParaRPr lang="tr-TR" b="1" dirty="0">
              <a:solidFill>
                <a:srgbClr val="FF0000"/>
              </a:solidFill>
            </a:endParaRPr>
          </a:p>
        </p:txBody>
      </p:sp>
      <p:sp>
        <p:nvSpPr>
          <p:cNvPr id="3" name="2 İçerik Yer Tutucusu"/>
          <p:cNvSpPr>
            <a:spLocks noGrp="1"/>
          </p:cNvSpPr>
          <p:nvPr>
            <p:ph idx="1"/>
          </p:nvPr>
        </p:nvSpPr>
        <p:spPr>
          <a:xfrm>
            <a:off x="457200" y="1600200"/>
            <a:ext cx="8229600" cy="4853136"/>
          </a:xfrm>
        </p:spPr>
        <p:txBody>
          <a:bodyPr>
            <a:normAutofit fontScale="92500" lnSpcReduction="10000"/>
          </a:bodyPr>
          <a:lstStyle/>
          <a:p>
            <a:r>
              <a:rPr lang="tr-TR" b="1" dirty="0" err="1" smtClean="0"/>
              <a:t>Pediyatrik</a:t>
            </a:r>
            <a:r>
              <a:rPr lang="tr-TR" b="1" dirty="0" smtClean="0"/>
              <a:t> yaş grubunda en sık görülen </a:t>
            </a:r>
            <a:r>
              <a:rPr lang="tr-TR" b="1" dirty="0" err="1" smtClean="0"/>
              <a:t>dermatofitozdur</a:t>
            </a:r>
            <a:endParaRPr lang="tr-TR" b="1" dirty="0" smtClean="0"/>
          </a:p>
          <a:p>
            <a:r>
              <a:rPr lang="tr-TR" b="1" dirty="0" err="1" smtClean="0"/>
              <a:t>Puberte</a:t>
            </a:r>
            <a:r>
              <a:rPr lang="tr-TR" b="1" dirty="0" smtClean="0"/>
              <a:t> öncesi (12 yaş altı) daha sıktır</a:t>
            </a:r>
          </a:p>
          <a:p>
            <a:r>
              <a:rPr lang="tr-TR" b="1" dirty="0" err="1" smtClean="0"/>
              <a:t>Puberteyle</a:t>
            </a:r>
            <a:r>
              <a:rPr lang="tr-TR" b="1" dirty="0" smtClean="0"/>
              <a:t> birlikte </a:t>
            </a:r>
            <a:r>
              <a:rPr lang="tr-TR" b="1" dirty="0" err="1" smtClean="0"/>
              <a:t>sebase</a:t>
            </a:r>
            <a:r>
              <a:rPr lang="tr-TR" b="1" dirty="0" smtClean="0"/>
              <a:t> aktivitenin gelişimi engelleyicidir</a:t>
            </a:r>
          </a:p>
          <a:p>
            <a:r>
              <a:rPr lang="tr-TR" b="1" dirty="0" err="1" smtClean="0"/>
              <a:t>Püberte</a:t>
            </a:r>
            <a:r>
              <a:rPr lang="tr-TR" b="1" dirty="0" smtClean="0"/>
              <a:t> sonrasında nadir gözlenmesi, bu dönemden sonra değişiklik gösteren saçlı deri </a:t>
            </a:r>
            <a:r>
              <a:rPr lang="tr-TR" b="1" dirty="0" err="1" smtClean="0"/>
              <a:t>sebum</a:t>
            </a:r>
            <a:r>
              <a:rPr lang="tr-TR" b="1" dirty="0" smtClean="0"/>
              <a:t> yapısı ve serbest yağ asitlerinin </a:t>
            </a:r>
            <a:r>
              <a:rPr lang="tr-TR" b="1" dirty="0" err="1" smtClean="0"/>
              <a:t>fungusların</a:t>
            </a:r>
            <a:r>
              <a:rPr lang="tr-TR" b="1" dirty="0" smtClean="0"/>
              <a:t> büyümesini engelleyici özelliği ile ilişkilidir</a:t>
            </a:r>
          </a:p>
          <a:p>
            <a:pPr>
              <a:buNone/>
            </a:pPr>
            <a:endParaRPr lang="tr-TR" b="1" dirty="0" smtClean="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a:t>
            </a:r>
            <a:br>
              <a:rPr lang="tr-TR" b="1" dirty="0" smtClean="0">
                <a:solidFill>
                  <a:srgbClr val="FF0000"/>
                </a:solidFill>
              </a:rPr>
            </a:br>
            <a:r>
              <a:rPr lang="tr-TR" b="1" dirty="0" smtClean="0">
                <a:solidFill>
                  <a:srgbClr val="FF0000"/>
                </a:solidFill>
              </a:rPr>
              <a:t>SAÇTAKİ GÖRÜNÜMÜ </a:t>
            </a:r>
            <a:endParaRPr lang="tr-TR" dirty="0">
              <a:solidFill>
                <a:srgbClr val="FF0000"/>
              </a:solidFill>
            </a:endParaRPr>
          </a:p>
        </p:txBody>
      </p:sp>
      <p:sp>
        <p:nvSpPr>
          <p:cNvPr id="3" name="2 İçerik Yer Tutucusu"/>
          <p:cNvSpPr>
            <a:spLocks noGrp="1"/>
          </p:cNvSpPr>
          <p:nvPr>
            <p:ph idx="1"/>
          </p:nvPr>
        </p:nvSpPr>
        <p:spPr/>
        <p:txBody>
          <a:bodyPr>
            <a:normAutofit fontScale="92500" lnSpcReduction="20000"/>
          </a:bodyPr>
          <a:lstStyle/>
          <a:p>
            <a:r>
              <a:rPr lang="tr-TR" b="1" dirty="0" smtClean="0"/>
              <a:t>Kızarıklık ve pullanma yapar</a:t>
            </a:r>
          </a:p>
          <a:p>
            <a:r>
              <a:rPr lang="tr-TR" b="1" dirty="0" smtClean="0"/>
              <a:t>Saçları tutunca yağ gibi ele gelir ,ortası çukur gibi görüntü oluşur</a:t>
            </a:r>
          </a:p>
          <a:p>
            <a:r>
              <a:rPr lang="tr-TR" b="1" dirty="0" smtClean="0"/>
              <a:t>Kıl </a:t>
            </a:r>
            <a:r>
              <a:rPr lang="tr-TR" b="1" dirty="0" err="1" smtClean="0"/>
              <a:t>folikül</a:t>
            </a:r>
            <a:r>
              <a:rPr lang="tr-TR" b="1" dirty="0" smtClean="0"/>
              <a:t> hasarı yapar</a:t>
            </a:r>
          </a:p>
          <a:p>
            <a:r>
              <a:rPr lang="tr-TR" b="1" dirty="0" smtClean="0"/>
              <a:t>Lenf bezleri şişer</a:t>
            </a:r>
            <a:r>
              <a:rPr lang="tr-TR" b="1" dirty="0" smtClean="0">
                <a:solidFill>
                  <a:srgbClr val="FF0000"/>
                </a:solidFill>
              </a:rPr>
              <a:t>		</a:t>
            </a:r>
          </a:p>
          <a:p>
            <a:r>
              <a:rPr lang="tr-TR" b="1" dirty="0" smtClean="0"/>
              <a:t>İltihap kızarıklık fazla</a:t>
            </a:r>
          </a:p>
          <a:p>
            <a:r>
              <a:rPr lang="tr-TR" b="1" dirty="0" smtClean="0"/>
              <a:t>Saçta kırılarak dökülme</a:t>
            </a:r>
          </a:p>
          <a:p>
            <a:r>
              <a:rPr lang="tr-TR" b="1" dirty="0" smtClean="0"/>
              <a:t>Kaşıntı</a:t>
            </a:r>
          </a:p>
          <a:p>
            <a:r>
              <a:rPr lang="tr-TR" b="1" dirty="0" smtClean="0"/>
              <a:t>Kepeklenme  </a:t>
            </a:r>
          </a:p>
          <a:p>
            <a:r>
              <a:rPr lang="tr-TR" b="1" dirty="0" smtClean="0"/>
              <a:t>Kellik   (</a:t>
            </a:r>
            <a:r>
              <a:rPr lang="tr-TR" b="1" dirty="0" err="1" smtClean="0"/>
              <a:t>alopesi</a:t>
            </a:r>
            <a:r>
              <a:rPr lang="tr-TR" b="1" dirty="0" smtClean="0"/>
              <a:t> </a:t>
            </a:r>
            <a:r>
              <a:rPr lang="tr-TR" b="1" dirty="0" err="1" smtClean="0"/>
              <a:t>areata</a:t>
            </a:r>
            <a:r>
              <a:rPr lang="tr-TR" b="1" dirty="0" smtClean="0"/>
              <a:t> benzeri lezyonlar)</a:t>
            </a:r>
          </a:p>
          <a:p>
            <a:endParaRPr lang="tr-TR" b="1" dirty="0" smtClean="0"/>
          </a:p>
          <a:p>
            <a:endParaRPr lang="tr-TR"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TİNİEA CAPİTİS NASIL BULAŞIR?</a:t>
            </a:r>
            <a:endParaRPr lang="tr-TR" dirty="0"/>
          </a:p>
        </p:txBody>
      </p:sp>
      <p:sp>
        <p:nvSpPr>
          <p:cNvPr id="3" name="2 İçerik Yer Tutucusu"/>
          <p:cNvSpPr>
            <a:spLocks noGrp="1"/>
          </p:cNvSpPr>
          <p:nvPr>
            <p:ph idx="1"/>
          </p:nvPr>
        </p:nvSpPr>
        <p:spPr>
          <a:xfrm>
            <a:off x="457200" y="1600200"/>
            <a:ext cx="8229600" cy="4709120"/>
          </a:xfrm>
        </p:spPr>
        <p:txBody>
          <a:bodyPr>
            <a:normAutofit fontScale="92500"/>
          </a:bodyPr>
          <a:lstStyle/>
          <a:p>
            <a:r>
              <a:rPr lang="tr-TR" b="1" dirty="0" smtClean="0"/>
              <a:t>Saçlı deri mantar enfeksiyonu; çocukluk çağında, daha çok kırsal kesimde, sıklıkla hayvanlardan bulaşan mantarların neden olduğu, saçlarda kepeklenmeden iltihaplanmaya kadar çeşitli şekillerde karşımıza çıkan bir hastalıktır.</a:t>
            </a:r>
          </a:p>
          <a:p>
            <a:pPr>
              <a:buNone/>
            </a:pPr>
            <a:r>
              <a:rPr lang="tr-TR" b="1" dirty="0" smtClean="0">
                <a:solidFill>
                  <a:srgbClr val="FF0000"/>
                </a:solidFill>
              </a:rPr>
              <a:t> BULAŞ   DİREK TEMAS ile</a:t>
            </a:r>
          </a:p>
          <a:p>
            <a:r>
              <a:rPr lang="tr-TR" b="1" dirty="0" smtClean="0">
                <a:solidFill>
                  <a:srgbClr val="FF0000"/>
                </a:solidFill>
              </a:rPr>
              <a:t>İNSANLARDA:</a:t>
            </a:r>
            <a:r>
              <a:rPr lang="tr-TR" b="1" dirty="0" smtClean="0"/>
              <a:t> </a:t>
            </a:r>
            <a:r>
              <a:rPr lang="tr-TR" b="1" dirty="0" err="1" smtClean="0"/>
              <a:t>Enfekte</a:t>
            </a:r>
            <a:r>
              <a:rPr lang="tr-TR" b="1" dirty="0" smtClean="0"/>
              <a:t> materyalin ortak </a:t>
            </a:r>
            <a:r>
              <a:rPr lang="tr-TR" sz="3000" b="1" dirty="0" smtClean="0"/>
              <a:t>kullanımı </a:t>
            </a:r>
          </a:p>
          <a:p>
            <a:r>
              <a:rPr lang="tr-TR" b="1" dirty="0" smtClean="0">
                <a:solidFill>
                  <a:srgbClr val="FF0000"/>
                </a:solidFill>
              </a:rPr>
              <a:t>HAYVANLARDA:</a:t>
            </a:r>
            <a:r>
              <a:rPr lang="tr-TR" b="1" dirty="0" smtClean="0"/>
              <a:t> Sokak hayvanları, evcil hayvanlar  ile bulaşır</a:t>
            </a:r>
          </a:p>
          <a:p>
            <a:pPr>
              <a:buNone/>
            </a:pPr>
            <a:endParaRPr lang="tr-TR" b="1" dirty="0" smtClean="0"/>
          </a:p>
          <a:p>
            <a:endParaRPr lang="tr-TR" b="1"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323528" y="274638"/>
            <a:ext cx="2927672" cy="1143000"/>
          </a:xfrm>
        </p:spPr>
        <p:txBody>
          <a:bodyPr>
            <a:normAutofit fontScale="90000"/>
          </a:bodyPr>
          <a:lstStyle/>
          <a:p>
            <a:pPr algn="l"/>
            <a:r>
              <a:rPr lang="tr-TR" sz="3600" b="1" dirty="0" smtClean="0">
                <a:solidFill>
                  <a:srgbClr val="FF0000"/>
                </a:solidFill>
              </a:rPr>
              <a:t>TİNİEA CAPİTİS</a:t>
            </a:r>
            <a:endParaRPr lang="tr-TR" sz="3600" dirty="0">
              <a:solidFill>
                <a:srgbClr val="FF0000"/>
              </a:solidFill>
            </a:endParaRPr>
          </a:p>
        </p:txBody>
      </p:sp>
      <p:pic>
        <p:nvPicPr>
          <p:cNvPr id="4" name="Picture 2" descr="C:\Users\Pc\Desktop\untitled.png"/>
          <p:cNvPicPr>
            <a:picLocks noGrp="1" noChangeAspect="1" noChangeArrowheads="1"/>
          </p:cNvPicPr>
          <p:nvPr>
            <p:ph idx="4294967295"/>
          </p:nvPr>
        </p:nvPicPr>
        <p:blipFill>
          <a:blip r:embed="rId2" cstate="print"/>
          <a:stretch>
            <a:fillRect/>
          </a:stretch>
        </p:blipFill>
        <p:spPr bwMode="auto">
          <a:xfrm>
            <a:off x="4067944" y="332656"/>
            <a:ext cx="4722812" cy="3816350"/>
          </a:xfrm>
          <a:prstGeom prst="rect">
            <a:avLst/>
          </a:prstGeom>
          <a:noFill/>
        </p:spPr>
      </p:pic>
      <p:pic>
        <p:nvPicPr>
          <p:cNvPr id="6" name="Picture 2" descr="C:\Users\user\Desktop\display.jpg"/>
          <p:cNvPicPr>
            <a:picLocks noChangeAspect="1" noChangeArrowheads="1"/>
          </p:cNvPicPr>
          <p:nvPr/>
        </p:nvPicPr>
        <p:blipFill>
          <a:blip r:embed="rId3" cstate="print"/>
          <a:srcRect/>
          <a:stretch>
            <a:fillRect/>
          </a:stretch>
        </p:blipFill>
        <p:spPr bwMode="auto">
          <a:xfrm>
            <a:off x="179512" y="2348880"/>
            <a:ext cx="4601484" cy="4099185"/>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467544" y="274638"/>
            <a:ext cx="2999556" cy="1143000"/>
          </a:xfrm>
        </p:spPr>
        <p:txBody>
          <a:bodyPr>
            <a:normAutofit fontScale="90000"/>
          </a:bodyPr>
          <a:lstStyle/>
          <a:p>
            <a:pPr algn="l"/>
            <a:r>
              <a:rPr lang="tr-TR" sz="3600" b="1" dirty="0" smtClean="0">
                <a:solidFill>
                  <a:srgbClr val="FF0000"/>
                </a:solidFill>
              </a:rPr>
              <a:t>TİNİEA CAPİTİS</a:t>
            </a:r>
            <a:endParaRPr lang="tr-TR" sz="3600" dirty="0">
              <a:solidFill>
                <a:srgbClr val="FF0000"/>
              </a:solidFill>
            </a:endParaRPr>
          </a:p>
        </p:txBody>
      </p:sp>
      <p:pic>
        <p:nvPicPr>
          <p:cNvPr id="2051" name="Picture 3" descr="C:\Users\user\Desktop\28551tn.jpg"/>
          <p:cNvPicPr>
            <a:picLocks noGrp="1" noChangeAspect="1" noChangeArrowheads="1"/>
          </p:cNvPicPr>
          <p:nvPr>
            <p:ph idx="4294967295"/>
          </p:nvPr>
        </p:nvPicPr>
        <p:blipFill>
          <a:blip r:embed="rId2" cstate="print"/>
          <a:srcRect/>
          <a:stretch>
            <a:fillRect/>
          </a:stretch>
        </p:blipFill>
        <p:spPr bwMode="auto">
          <a:xfrm>
            <a:off x="4283968" y="260648"/>
            <a:ext cx="4098925" cy="3619500"/>
          </a:xfrm>
          <a:prstGeom prst="rect">
            <a:avLst/>
          </a:prstGeom>
          <a:noFill/>
        </p:spPr>
      </p:pic>
      <p:pic>
        <p:nvPicPr>
          <p:cNvPr id="2052" name="Picture 4" descr="C:\Users\user\Desktop\800wm.jpg"/>
          <p:cNvPicPr>
            <a:picLocks noChangeAspect="1" noChangeArrowheads="1"/>
          </p:cNvPicPr>
          <p:nvPr/>
        </p:nvPicPr>
        <p:blipFill>
          <a:blip r:embed="rId3" cstate="print"/>
          <a:srcRect/>
          <a:stretch>
            <a:fillRect/>
          </a:stretch>
        </p:blipFill>
        <p:spPr bwMode="auto">
          <a:xfrm>
            <a:off x="395536" y="3140968"/>
            <a:ext cx="4818112" cy="3270294"/>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TİNİEA CAPİTİS NASIL BULAŞIR?</a:t>
            </a:r>
            <a:endParaRPr lang="tr-TR"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fontScale="92500" lnSpcReduction="20000"/>
          </a:bodyPr>
          <a:lstStyle/>
          <a:p>
            <a:r>
              <a:rPr lang="tr-TR" b="1" dirty="0" smtClean="0"/>
              <a:t>Bulaş direk temasla olabileceği gibi bulaşmış şapka, tarak, makas gibi eşyaların ortak kullanımı ile de olabilmektedir</a:t>
            </a:r>
          </a:p>
          <a:p>
            <a:pPr>
              <a:buNone/>
            </a:pPr>
            <a:r>
              <a:rPr lang="tr-TR" b="1" dirty="0" smtClean="0"/>
              <a:t> </a:t>
            </a:r>
          </a:p>
          <a:p>
            <a:r>
              <a:rPr lang="tr-TR" b="1" dirty="0" smtClean="0">
                <a:solidFill>
                  <a:srgbClr val="FF0000"/>
                </a:solidFill>
              </a:rPr>
              <a:t>ZOOFİLİK DERMATOFİT TÜRLERİNDE </a:t>
            </a:r>
            <a:r>
              <a:rPr lang="tr-TR" b="1" dirty="0" smtClean="0"/>
              <a:t>ise sokak kedi ve köpeklerinin yanı sıra evcil yavru köpekler ve yavru kediler, tavşanlar ve diğer kemirgenler de önemli rol oynarlar</a:t>
            </a:r>
          </a:p>
          <a:p>
            <a:pPr>
              <a:buNone/>
            </a:pPr>
            <a:endParaRPr lang="tr-TR" b="1" dirty="0" smtClean="0"/>
          </a:p>
          <a:p>
            <a:r>
              <a:rPr lang="tr-TR" b="1" dirty="0" smtClean="0"/>
              <a:t>Etken; </a:t>
            </a:r>
            <a:r>
              <a:rPr lang="tr-TR" b="1" dirty="0" err="1" smtClean="0"/>
              <a:t>enfekte</a:t>
            </a:r>
            <a:r>
              <a:rPr lang="tr-TR" b="1" dirty="0" smtClean="0"/>
              <a:t> hayvan atıkları ile toprağa geçip uzun süre burada canlılığını koruyabilir</a:t>
            </a:r>
          </a:p>
          <a:p>
            <a:pPr>
              <a:buNone/>
            </a:pPr>
            <a:endParaRPr lang="tr-TR" b="1"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ÖNEMLİİİİİİİ</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solidFill>
                  <a:srgbClr val="FF0000"/>
                </a:solidFill>
              </a:rPr>
              <a:t>1-</a:t>
            </a:r>
            <a:r>
              <a:rPr lang="tr-TR" b="1" dirty="0" smtClean="0"/>
              <a:t>Saçlı deri mantarı yüzeysel olan; </a:t>
            </a:r>
            <a:r>
              <a:rPr lang="tr-TR" b="1" dirty="0" err="1" smtClean="0"/>
              <a:t>tinea</a:t>
            </a:r>
            <a:r>
              <a:rPr lang="tr-TR" b="1" dirty="0" smtClean="0"/>
              <a:t> </a:t>
            </a:r>
            <a:r>
              <a:rPr lang="tr-TR" b="1" dirty="0" err="1" smtClean="0"/>
              <a:t>kapitis</a:t>
            </a:r>
            <a:r>
              <a:rPr lang="tr-TR" b="1" dirty="0" smtClean="0"/>
              <a:t> </a:t>
            </a:r>
            <a:r>
              <a:rPr lang="tr-TR" b="1" dirty="0" err="1" smtClean="0"/>
              <a:t>süperfisialis</a:t>
            </a:r>
            <a:endParaRPr lang="tr-TR" b="1" dirty="0" smtClean="0"/>
          </a:p>
          <a:p>
            <a:r>
              <a:rPr lang="tr-TR" b="1" dirty="0" smtClean="0">
                <a:solidFill>
                  <a:srgbClr val="FF0000"/>
                </a:solidFill>
              </a:rPr>
              <a:t>2-</a:t>
            </a:r>
            <a:r>
              <a:rPr lang="tr-TR" b="1" dirty="0" smtClean="0"/>
              <a:t>İltihaplı ve derin formu; </a:t>
            </a:r>
            <a:r>
              <a:rPr lang="tr-TR" b="1" dirty="0" err="1" smtClean="0"/>
              <a:t>tinea</a:t>
            </a:r>
            <a:r>
              <a:rPr lang="tr-TR" b="1" dirty="0" smtClean="0"/>
              <a:t> </a:t>
            </a:r>
            <a:r>
              <a:rPr lang="tr-TR" b="1" dirty="0" err="1" smtClean="0"/>
              <a:t>kapitis</a:t>
            </a:r>
            <a:r>
              <a:rPr lang="tr-TR" b="1" dirty="0" smtClean="0"/>
              <a:t> </a:t>
            </a:r>
            <a:r>
              <a:rPr lang="tr-TR" b="1" dirty="0" err="1" smtClean="0"/>
              <a:t>profunda</a:t>
            </a:r>
            <a:endParaRPr lang="tr-TR" b="1" dirty="0" smtClean="0"/>
          </a:p>
          <a:p>
            <a:r>
              <a:rPr lang="tr-TR" b="1" dirty="0" smtClean="0">
                <a:solidFill>
                  <a:srgbClr val="FF0000"/>
                </a:solidFill>
              </a:rPr>
              <a:t>3-</a:t>
            </a:r>
            <a:r>
              <a:rPr lang="tr-TR" b="1" dirty="0" smtClean="0"/>
              <a:t>Kellik yapan ve günümüzde nadir görülen formu; </a:t>
            </a:r>
            <a:r>
              <a:rPr lang="tr-TR" b="1" dirty="0" err="1" smtClean="0"/>
              <a:t>tinea</a:t>
            </a:r>
            <a:r>
              <a:rPr lang="tr-TR" b="1" dirty="0" smtClean="0"/>
              <a:t> </a:t>
            </a:r>
            <a:r>
              <a:rPr lang="tr-TR" b="1" dirty="0" err="1" smtClean="0"/>
              <a:t>kapitis</a:t>
            </a:r>
            <a:r>
              <a:rPr lang="tr-TR" b="1" dirty="0" smtClean="0"/>
              <a:t> </a:t>
            </a:r>
            <a:r>
              <a:rPr lang="tr-TR" b="1" dirty="0" err="1" smtClean="0"/>
              <a:t>favoza</a:t>
            </a:r>
            <a:r>
              <a:rPr lang="tr-TR" b="1" dirty="0" smtClean="0"/>
              <a:t> (</a:t>
            </a:r>
            <a:r>
              <a:rPr lang="tr-TR" b="1" dirty="0" err="1" smtClean="0"/>
              <a:t>favus</a:t>
            </a:r>
            <a:r>
              <a:rPr lang="tr-TR" b="1" dirty="0" smtClean="0"/>
              <a:t>) olmak üzere 3 tipte görülmektedir</a:t>
            </a:r>
          </a:p>
          <a:p>
            <a:pPr>
              <a:buNone/>
            </a:pPr>
            <a:endParaRPr lang="tr-TR" b="1" dirty="0" smtClean="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err="1" smtClean="0">
                <a:solidFill>
                  <a:srgbClr val="FF0000"/>
                </a:solidFill>
              </a:rPr>
              <a:t>Tinea</a:t>
            </a:r>
            <a:r>
              <a:rPr lang="tr-TR" b="1" dirty="0" smtClean="0">
                <a:solidFill>
                  <a:srgbClr val="FF0000"/>
                </a:solidFill>
              </a:rPr>
              <a:t> </a:t>
            </a:r>
            <a:r>
              <a:rPr lang="tr-TR" b="1" dirty="0" err="1" smtClean="0">
                <a:solidFill>
                  <a:srgbClr val="FF0000"/>
                </a:solidFill>
              </a:rPr>
              <a:t>kapitis</a:t>
            </a:r>
            <a:r>
              <a:rPr lang="tr-TR" b="1" dirty="0" smtClean="0">
                <a:solidFill>
                  <a:srgbClr val="FF0000"/>
                </a:solidFill>
              </a:rPr>
              <a:t> </a:t>
            </a:r>
            <a:r>
              <a:rPr lang="tr-TR" b="1" dirty="0" err="1" smtClean="0">
                <a:solidFill>
                  <a:srgbClr val="FF0000"/>
                </a:solidFill>
              </a:rPr>
              <a:t>favosa</a:t>
            </a:r>
            <a:endParaRPr lang="tr-TR" dirty="0">
              <a:solidFill>
                <a:srgbClr val="FF0000"/>
              </a:solidFill>
            </a:endParaRPr>
          </a:p>
        </p:txBody>
      </p:sp>
      <p:sp>
        <p:nvSpPr>
          <p:cNvPr id="3" name="2 İçerik Yer Tutucusu"/>
          <p:cNvSpPr>
            <a:spLocks noGrp="1"/>
          </p:cNvSpPr>
          <p:nvPr>
            <p:ph idx="1"/>
          </p:nvPr>
        </p:nvSpPr>
        <p:spPr>
          <a:xfrm>
            <a:off x="457200" y="1600200"/>
            <a:ext cx="8229600" cy="4997152"/>
          </a:xfrm>
        </p:spPr>
        <p:txBody>
          <a:bodyPr/>
          <a:lstStyle/>
          <a:p>
            <a:pPr>
              <a:buNone/>
            </a:pPr>
            <a:r>
              <a:rPr lang="tr-TR" b="1" dirty="0" smtClean="0"/>
              <a:t>		  </a:t>
            </a:r>
            <a:r>
              <a:rPr lang="tr-TR" b="1" dirty="0" err="1" smtClean="0"/>
              <a:t>Tinea</a:t>
            </a:r>
            <a:r>
              <a:rPr lang="tr-TR" b="1" dirty="0" smtClean="0"/>
              <a:t> </a:t>
            </a:r>
            <a:r>
              <a:rPr lang="tr-TR" b="1" dirty="0" err="1" smtClean="0"/>
              <a:t>kapitis</a:t>
            </a:r>
            <a:r>
              <a:rPr lang="tr-TR" b="1" dirty="0" smtClean="0"/>
              <a:t> </a:t>
            </a:r>
            <a:r>
              <a:rPr lang="tr-TR" b="1" dirty="0" err="1" smtClean="0"/>
              <a:t>favosa</a:t>
            </a:r>
            <a:r>
              <a:rPr lang="tr-TR" b="1" dirty="0" smtClean="0"/>
              <a:t>, sıklıkla </a:t>
            </a:r>
          </a:p>
          <a:p>
            <a:r>
              <a:rPr lang="tr-TR" b="1" dirty="0" err="1" smtClean="0">
                <a:solidFill>
                  <a:srgbClr val="FF0000"/>
                </a:solidFill>
              </a:rPr>
              <a:t>Trichophyton</a:t>
            </a:r>
            <a:r>
              <a:rPr lang="tr-TR" b="1" dirty="0" smtClean="0">
                <a:solidFill>
                  <a:srgbClr val="FF0000"/>
                </a:solidFill>
              </a:rPr>
              <a:t> </a:t>
            </a:r>
            <a:r>
              <a:rPr lang="tr-TR" b="1" dirty="0" err="1" smtClean="0">
                <a:solidFill>
                  <a:srgbClr val="FF0000"/>
                </a:solidFill>
              </a:rPr>
              <a:t>schönleinii'ye</a:t>
            </a:r>
            <a:r>
              <a:rPr lang="tr-TR" b="1" dirty="0" smtClean="0">
                <a:solidFill>
                  <a:srgbClr val="FF0000"/>
                </a:solidFill>
              </a:rPr>
              <a:t> </a:t>
            </a:r>
            <a:r>
              <a:rPr lang="tr-TR" b="1" dirty="0" smtClean="0"/>
              <a:t>bağlı olarak gelişen, saçlı derinin kronik, </a:t>
            </a:r>
            <a:r>
              <a:rPr lang="tr-TR" b="1" dirty="0" err="1" smtClean="0"/>
              <a:t>inflamatuar</a:t>
            </a:r>
            <a:r>
              <a:rPr lang="tr-TR" b="1" dirty="0" smtClean="0"/>
              <a:t> </a:t>
            </a:r>
            <a:r>
              <a:rPr lang="tr-TR" b="1" dirty="0" err="1" smtClean="0"/>
              <a:t>dermatofitik</a:t>
            </a:r>
            <a:r>
              <a:rPr lang="tr-TR" b="1" dirty="0" smtClean="0"/>
              <a:t> bir hastalığıdır</a:t>
            </a:r>
          </a:p>
          <a:p>
            <a:r>
              <a:rPr lang="tr-TR" b="1" dirty="0" smtClean="0"/>
              <a:t>Nadiren saçlı deri dışındaki deri bölgelerini ve tırnakları da tutabilir</a:t>
            </a:r>
          </a:p>
          <a:p>
            <a:r>
              <a:rPr lang="tr-TR" b="1" dirty="0" smtClean="0"/>
              <a:t>Genellikle çocukluk çağının bir hastalığı olmakla birlikte nadiren erişkinlerde de görülmektedir</a:t>
            </a:r>
            <a:endParaRPr lang="tr-TR"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332656"/>
            <a:ext cx="8496944" cy="6049094"/>
          </a:xfrm>
        </p:spPr>
        <p:txBody>
          <a:bodyPr>
            <a:normAutofit/>
          </a:bodyPr>
          <a:lstStyle/>
          <a:p>
            <a:r>
              <a:rPr lang="tr-TR" b="1" dirty="0" smtClean="0"/>
              <a:t>Saçlı deri mantar enfeksiyonları çocukluk çağında görülür</a:t>
            </a:r>
          </a:p>
          <a:p>
            <a:r>
              <a:rPr lang="tr-TR" b="1" dirty="0" smtClean="0">
                <a:solidFill>
                  <a:srgbClr val="FF3399"/>
                </a:solidFill>
              </a:rPr>
              <a:t>Erişkinlerde görülmez. </a:t>
            </a:r>
            <a:r>
              <a:rPr lang="tr-TR" b="1" dirty="0" smtClean="0"/>
              <a:t>Nedeni saçın yapısının erişkin insanlarda mantarın çoğalmasına imkan vermemesidir</a:t>
            </a:r>
          </a:p>
          <a:p>
            <a:r>
              <a:rPr lang="tr-TR" b="1" dirty="0" smtClean="0">
                <a:solidFill>
                  <a:srgbClr val="333399"/>
                </a:solidFill>
              </a:rPr>
              <a:t>Ancak ‘’</a:t>
            </a:r>
            <a:r>
              <a:rPr lang="tr-TR" b="1" dirty="0" err="1" smtClean="0">
                <a:solidFill>
                  <a:srgbClr val="333399"/>
                </a:solidFill>
              </a:rPr>
              <a:t>Favus</a:t>
            </a:r>
            <a:r>
              <a:rPr lang="tr-TR" b="1" dirty="0" smtClean="0">
                <a:solidFill>
                  <a:srgbClr val="333399"/>
                </a:solidFill>
              </a:rPr>
              <a:t>’’( </a:t>
            </a:r>
            <a:r>
              <a:rPr lang="tr-TR" b="1" dirty="0" err="1" smtClean="0">
                <a:solidFill>
                  <a:srgbClr val="333399"/>
                </a:solidFill>
              </a:rPr>
              <a:t>tinea</a:t>
            </a:r>
            <a:r>
              <a:rPr lang="tr-TR" b="1" dirty="0" smtClean="0">
                <a:solidFill>
                  <a:srgbClr val="333399"/>
                </a:solidFill>
              </a:rPr>
              <a:t> </a:t>
            </a:r>
            <a:r>
              <a:rPr lang="tr-TR" b="1" dirty="0" err="1" smtClean="0">
                <a:solidFill>
                  <a:srgbClr val="333399"/>
                </a:solidFill>
              </a:rPr>
              <a:t>kapitis</a:t>
            </a:r>
            <a:r>
              <a:rPr lang="tr-TR" b="1" dirty="0" smtClean="0">
                <a:solidFill>
                  <a:srgbClr val="333399"/>
                </a:solidFill>
              </a:rPr>
              <a:t> </a:t>
            </a:r>
            <a:r>
              <a:rPr lang="tr-TR" b="1" dirty="0" err="1" smtClean="0">
                <a:solidFill>
                  <a:srgbClr val="333399"/>
                </a:solidFill>
              </a:rPr>
              <a:t>favoza</a:t>
            </a:r>
            <a:r>
              <a:rPr lang="tr-TR" b="1" dirty="0" smtClean="0">
                <a:solidFill>
                  <a:srgbClr val="333399"/>
                </a:solidFill>
              </a:rPr>
              <a:t>) adlı mantar enfeksiyonu çocukluk çağında başlayıp tedavi edilmez ise erişkin yaşta da devam edebilir.</a:t>
            </a:r>
            <a:endParaRPr lang="tr-TR" b="1" dirty="0">
              <a:solidFill>
                <a:srgbClr val="333399"/>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4716016" y="260648"/>
            <a:ext cx="3810000" cy="28575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179512" y="548680"/>
            <a:ext cx="4680520" cy="5760640"/>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TİNİEA CAPİTİS NASIL BULAŞIR?</a:t>
            </a:r>
            <a:endParaRPr lang="tr-TR"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t>Yapılmış olan bir çalışmadaki kültürlerde;</a:t>
            </a:r>
          </a:p>
          <a:p>
            <a:r>
              <a:rPr lang="tr-TR" b="1" dirty="0" smtClean="0"/>
              <a:t>Canlı mantar sporları; yerden, sandalyelerin yaslanılan kısımlarından</a:t>
            </a:r>
          </a:p>
          <a:p>
            <a:r>
              <a:rPr lang="tr-TR" b="1" dirty="0" smtClean="0"/>
              <a:t>Elbiselerden</a:t>
            </a:r>
          </a:p>
          <a:p>
            <a:r>
              <a:rPr lang="tr-TR" b="1" dirty="0" smtClean="0"/>
              <a:t>Yatak ve yastıklardan</a:t>
            </a:r>
          </a:p>
          <a:p>
            <a:r>
              <a:rPr lang="tr-TR" b="1" dirty="0" smtClean="0"/>
              <a:t>Perdeden</a:t>
            </a:r>
          </a:p>
          <a:p>
            <a:r>
              <a:rPr lang="tr-TR" b="1" dirty="0" smtClean="0"/>
              <a:t>Fırça tarak makas ve evde ortak kullanılan birçok eşyadan izole edilmiştir</a:t>
            </a:r>
          </a:p>
          <a:p>
            <a:pPr>
              <a:buNone/>
            </a:pPr>
            <a:endParaRPr lang="tr-TR" b="1" dirty="0" smtClean="0"/>
          </a:p>
          <a:p>
            <a:endParaRPr lang="tr-TR" b="1"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 TEDAVİSİ NASIL YAPILIR?</a:t>
            </a:r>
            <a:endParaRPr lang="tr-TR" dirty="0">
              <a:solidFill>
                <a:srgbClr val="FF0000"/>
              </a:solidFill>
            </a:endParaRPr>
          </a:p>
        </p:txBody>
      </p:sp>
      <p:sp>
        <p:nvSpPr>
          <p:cNvPr id="3" name="2 İçerik Yer Tutucusu"/>
          <p:cNvSpPr>
            <a:spLocks noGrp="1"/>
          </p:cNvSpPr>
          <p:nvPr>
            <p:ph idx="1"/>
          </p:nvPr>
        </p:nvSpPr>
        <p:spPr/>
        <p:txBody>
          <a:bodyPr>
            <a:normAutofit lnSpcReduction="10000"/>
          </a:bodyPr>
          <a:lstStyle/>
          <a:p>
            <a:r>
              <a:rPr lang="tr-TR" b="1" dirty="0" smtClean="0"/>
              <a:t>Tedavide kişisel bakım çok önemlidir</a:t>
            </a:r>
          </a:p>
          <a:p>
            <a:r>
              <a:rPr lang="tr-TR" b="1" dirty="0" smtClean="0"/>
              <a:t>Deri, temiz ve kuru tutulmalıdır</a:t>
            </a:r>
          </a:p>
          <a:p>
            <a:r>
              <a:rPr lang="tr-TR" b="1" dirty="0" smtClean="0"/>
              <a:t>Ciddi ve uzun süreli enfeksiyonlarda hekime başvurulmalıdır</a:t>
            </a:r>
          </a:p>
          <a:p>
            <a:r>
              <a:rPr lang="tr-TR" b="1" dirty="0" smtClean="0"/>
              <a:t>Hekim, ağızdan kullanılan veya cilde sürülen ilaçlar önerebilmektedir</a:t>
            </a:r>
          </a:p>
          <a:p>
            <a:r>
              <a:rPr lang="tr-TR" b="1" dirty="0" smtClean="0"/>
              <a:t>Tedavi edilmediği zaman üzerinde bakterilerin üremesi ile ikincil bakteriyel enfeksiyonlar olabilir</a:t>
            </a:r>
            <a:endParaRPr lang="tr-TR" b="1"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 KORUNMA NASIL OLMALI</a:t>
            </a: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t>Yıkanabilir eşyalar yıkanmalı</a:t>
            </a:r>
          </a:p>
          <a:p>
            <a:r>
              <a:rPr lang="tr-TR" b="1" dirty="0" smtClean="0"/>
              <a:t>Halılar vakumla yerler güçlü dezenfektanlarla temizlenmelidir</a:t>
            </a:r>
          </a:p>
          <a:p>
            <a:r>
              <a:rPr lang="tr-TR" b="1" dirty="0" smtClean="0"/>
              <a:t>Fırça, tarak ve diğer saç aksesuarları kullanıldıktan sonra mutlaka dezenfekte edilmelidir</a:t>
            </a:r>
          </a:p>
          <a:p>
            <a:endParaRPr lang="tr-TR" b="1" dirty="0" smtClean="0"/>
          </a:p>
          <a:p>
            <a:endParaRPr lang="tr-TR"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 BULAŞINI ÖNLEMEK İÇİN NE YAPILABİLİR? </a:t>
            </a:r>
            <a:endParaRPr lang="tr-TR" dirty="0">
              <a:solidFill>
                <a:srgbClr val="FF0000"/>
              </a:solidFill>
            </a:endParaRPr>
          </a:p>
        </p:txBody>
      </p:sp>
      <p:sp>
        <p:nvSpPr>
          <p:cNvPr id="3" name="2 İçerik Yer Tutucusu"/>
          <p:cNvSpPr>
            <a:spLocks noGrp="1"/>
          </p:cNvSpPr>
          <p:nvPr>
            <p:ph idx="1"/>
          </p:nvPr>
        </p:nvSpPr>
        <p:spPr>
          <a:xfrm>
            <a:off x="457200" y="1600200"/>
            <a:ext cx="8229600" cy="4997152"/>
          </a:xfrm>
        </p:spPr>
        <p:txBody>
          <a:bodyPr>
            <a:normAutofit fontScale="85000" lnSpcReduction="20000"/>
          </a:bodyPr>
          <a:lstStyle/>
          <a:p>
            <a:r>
              <a:rPr lang="tr-TR" b="1" dirty="0" smtClean="0"/>
              <a:t>Yüksek yoğunlukta mantar sporları içerebilecek yüzeylerde yalın ayak yürümekten kaçınılmalıdır (halı döşeli zeminler, banyo yerleri, duşlar, jimnastik salonları, soyunma odaları, yüzme salonları, hamamlar gibi)</a:t>
            </a:r>
          </a:p>
          <a:p>
            <a:pPr>
              <a:buNone/>
            </a:pPr>
            <a:endParaRPr lang="tr-TR" b="1" dirty="0" smtClean="0"/>
          </a:p>
          <a:p>
            <a:r>
              <a:rPr lang="tr-TR" b="1" dirty="0" smtClean="0"/>
              <a:t>Tırnaklar kısa ve düz kesilmelidir</a:t>
            </a:r>
          </a:p>
          <a:p>
            <a:pPr>
              <a:buNone/>
            </a:pPr>
            <a:endParaRPr lang="tr-TR" b="1" dirty="0" smtClean="0"/>
          </a:p>
          <a:p>
            <a:r>
              <a:rPr lang="tr-TR" b="1" dirty="0" smtClean="0"/>
              <a:t>Kenarları yuvarlak kesilmemelidir</a:t>
            </a:r>
          </a:p>
          <a:p>
            <a:pPr>
              <a:buNone/>
            </a:pPr>
            <a:endParaRPr lang="tr-TR" b="1" dirty="0" smtClean="0"/>
          </a:p>
          <a:p>
            <a:r>
              <a:rPr lang="tr-TR" b="1" dirty="0" smtClean="0"/>
              <a:t>Vücudun diğer kısımlarında olan </a:t>
            </a:r>
            <a:r>
              <a:rPr lang="tr-TR" b="1" dirty="0" err="1" smtClean="0"/>
              <a:t>tinea</a:t>
            </a:r>
            <a:r>
              <a:rPr lang="tr-TR" b="1" dirty="0" smtClean="0"/>
              <a:t> </a:t>
            </a:r>
            <a:r>
              <a:rPr lang="tr-TR" b="1" dirty="0" err="1" smtClean="0"/>
              <a:t>pedis</a:t>
            </a:r>
            <a:r>
              <a:rPr lang="tr-TR" b="1" dirty="0" smtClean="0"/>
              <a:t> ve yüzeysel mantar enfeksiyonlarına baktırıp tedavi ettirilmelidir</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TİNİEA CAPİTİS BULAŞINI ÖNLEMEK İÇİN NE YAPILABİLİR? </a:t>
            </a: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solidFill>
                  <a:srgbClr val="333399"/>
                </a:solidFill>
              </a:rPr>
              <a:t>Normal ve MANTARLI tırnakları kesmek için farklı tırnak makasları kullanılmalıdır</a:t>
            </a:r>
          </a:p>
          <a:p>
            <a:pPr>
              <a:buNone/>
            </a:pPr>
            <a:endParaRPr lang="tr-TR" b="1" dirty="0" smtClean="0"/>
          </a:p>
          <a:p>
            <a:r>
              <a:rPr lang="tr-TR" b="1" dirty="0" smtClean="0"/>
              <a:t>Aile üyeleri veya yakın arkadaşlar, temas eden kişiler </a:t>
            </a:r>
            <a:r>
              <a:rPr lang="tr-TR" b="1" dirty="0" err="1" smtClean="0"/>
              <a:t>Tinea</a:t>
            </a:r>
            <a:r>
              <a:rPr lang="tr-TR" b="1" dirty="0" smtClean="0"/>
              <a:t> </a:t>
            </a:r>
            <a:r>
              <a:rPr lang="tr-TR" b="1" dirty="0" err="1" smtClean="0"/>
              <a:t>pedis</a:t>
            </a:r>
            <a:r>
              <a:rPr lang="tr-TR" b="1" dirty="0" smtClean="0"/>
              <a:t> ve tırnak mantarı için tedavi edilmelidir</a:t>
            </a:r>
          </a:p>
          <a:p>
            <a:endParaRPr lang="tr-TR"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b="1" dirty="0" smtClean="0"/>
              <a:t> </a:t>
            </a:r>
            <a:r>
              <a:rPr lang="tr-TR" b="1" dirty="0" smtClean="0">
                <a:solidFill>
                  <a:srgbClr val="FF0000"/>
                </a:solidFill>
              </a:rPr>
              <a:t>YÜZEYEL  MİKOZLAR </a:t>
            </a:r>
            <a:br>
              <a:rPr lang="tr-TR" b="1" dirty="0" smtClean="0">
                <a:solidFill>
                  <a:srgbClr val="FF0000"/>
                </a:solidFill>
              </a:rPr>
            </a:br>
            <a:r>
              <a:rPr lang="tr-TR" b="1" dirty="0" smtClean="0">
                <a:solidFill>
                  <a:srgbClr val="FF0000"/>
                </a:solidFill>
              </a:rPr>
              <a:t>5- </a:t>
            </a:r>
            <a:r>
              <a:rPr lang="tr-TR" b="1" dirty="0" err="1" smtClean="0">
                <a:solidFill>
                  <a:srgbClr val="FF0000"/>
                </a:solidFill>
              </a:rPr>
              <a:t>Tinea</a:t>
            </a:r>
            <a:r>
              <a:rPr lang="tr-TR" b="1" dirty="0" smtClean="0">
                <a:solidFill>
                  <a:srgbClr val="FF0000"/>
                </a:solidFill>
              </a:rPr>
              <a:t> </a:t>
            </a:r>
            <a:r>
              <a:rPr lang="tr-TR" b="1" dirty="0" err="1" smtClean="0">
                <a:solidFill>
                  <a:srgbClr val="FF0000"/>
                </a:solidFill>
              </a:rPr>
              <a:t>barbae</a:t>
            </a:r>
            <a:r>
              <a:rPr lang="tr-TR" b="1" dirty="0" smtClean="0">
                <a:solidFill>
                  <a:srgbClr val="FF0000"/>
                </a:solidFill>
              </a:rPr>
              <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t>Sakal ve bıyıkların mantar enfeksiyonudur</a:t>
            </a:r>
          </a:p>
          <a:p>
            <a:endParaRPr lang="tr-TR" dirty="0"/>
          </a:p>
        </p:txBody>
      </p:sp>
      <p:pic>
        <p:nvPicPr>
          <p:cNvPr id="4" name="3 İçerik Yer Tutucusu" descr="C:\Users\oem\Desktop\mantar resimleri-\1.jpg"/>
          <p:cNvPicPr>
            <a:picLocks/>
          </p:cNvPicPr>
          <p:nvPr/>
        </p:nvPicPr>
        <p:blipFill>
          <a:blip r:embed="rId2" cstate="print"/>
          <a:srcRect/>
          <a:stretch>
            <a:fillRect/>
          </a:stretch>
        </p:blipFill>
        <p:spPr bwMode="auto">
          <a:xfrm>
            <a:off x="3131840" y="2492896"/>
            <a:ext cx="5697221" cy="3777283"/>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TİNEA BARBAE</a:t>
            </a:r>
            <a:endParaRPr lang="tr-TR" dirty="0">
              <a:solidFill>
                <a:srgbClr val="FF0000"/>
              </a:solidFill>
            </a:endParaRPr>
          </a:p>
        </p:txBody>
      </p:sp>
      <p:sp>
        <p:nvSpPr>
          <p:cNvPr id="5" name="4 İçerik Yer Tutucusu"/>
          <p:cNvSpPr>
            <a:spLocks noGrp="1"/>
          </p:cNvSpPr>
          <p:nvPr>
            <p:ph idx="1"/>
          </p:nvPr>
        </p:nvSpPr>
        <p:spPr>
          <a:xfrm>
            <a:off x="457200" y="1600200"/>
            <a:ext cx="8229600" cy="4709120"/>
          </a:xfrm>
        </p:spPr>
        <p:txBody>
          <a:bodyPr>
            <a:normAutofit fontScale="92500" lnSpcReduction="20000"/>
          </a:bodyPr>
          <a:lstStyle/>
          <a:p>
            <a:r>
              <a:rPr lang="tr-TR" b="1" dirty="0" smtClean="0"/>
              <a:t>Genellikle </a:t>
            </a:r>
            <a:r>
              <a:rPr lang="tr-TR" b="1" dirty="0" err="1" smtClean="0"/>
              <a:t>zoofilik</a:t>
            </a:r>
            <a:r>
              <a:rPr lang="tr-TR" b="1" dirty="0" smtClean="0"/>
              <a:t> </a:t>
            </a:r>
            <a:r>
              <a:rPr lang="tr-TR" b="1" dirty="0" err="1" smtClean="0"/>
              <a:t>dermatofitler</a:t>
            </a:r>
            <a:r>
              <a:rPr lang="tr-TR" b="1" dirty="0" smtClean="0"/>
              <a:t> etkendir</a:t>
            </a:r>
          </a:p>
          <a:p>
            <a:pPr>
              <a:buNone/>
            </a:pPr>
            <a:endParaRPr lang="tr-TR" b="1" dirty="0" smtClean="0"/>
          </a:p>
          <a:p>
            <a:r>
              <a:rPr lang="tr-TR" b="1" dirty="0" smtClean="0"/>
              <a:t>Hastalıklı bölge ile direk temas veya hastalıklı bölge ile temas etmiş </a:t>
            </a:r>
            <a:r>
              <a:rPr lang="tr-TR" b="1" dirty="0" err="1" smtClean="0"/>
              <a:t>materyeller</a:t>
            </a:r>
            <a:r>
              <a:rPr lang="tr-TR" b="1" dirty="0" smtClean="0"/>
              <a:t> ile </a:t>
            </a:r>
            <a:r>
              <a:rPr lang="tr-TR" b="1" dirty="0" err="1" smtClean="0"/>
              <a:t>indirek</a:t>
            </a:r>
            <a:r>
              <a:rPr lang="tr-TR" b="1" dirty="0" smtClean="0"/>
              <a:t> teması ile hayvandan bulaş olabileceği gibi</a:t>
            </a:r>
          </a:p>
          <a:p>
            <a:pPr>
              <a:buNone/>
            </a:pPr>
            <a:endParaRPr lang="tr-TR" b="1" dirty="0" smtClean="0"/>
          </a:p>
          <a:p>
            <a:r>
              <a:rPr lang="tr-TR" b="1" dirty="0" smtClean="0"/>
              <a:t>Hasta insandan başka bir insana da bulaşabilir</a:t>
            </a:r>
          </a:p>
          <a:p>
            <a:pPr>
              <a:buNone/>
            </a:pPr>
            <a:endParaRPr lang="tr-TR" b="1" dirty="0" smtClean="0"/>
          </a:p>
          <a:p>
            <a:r>
              <a:rPr lang="tr-TR" b="1" dirty="0" smtClean="0"/>
              <a:t>İnsandan insana </a:t>
            </a:r>
            <a:r>
              <a:rPr lang="tr-TR" b="1" dirty="0" err="1" smtClean="0"/>
              <a:t>bulaşta</a:t>
            </a:r>
            <a:r>
              <a:rPr lang="tr-TR" b="1" dirty="0" smtClean="0"/>
              <a:t> önemli bulaş yollarından biri </a:t>
            </a:r>
            <a:r>
              <a:rPr lang="tr-TR" b="1" dirty="0" err="1" smtClean="0"/>
              <a:t>kontamine</a:t>
            </a:r>
            <a:r>
              <a:rPr lang="tr-TR" b="1" dirty="0" smtClean="0"/>
              <a:t> olmuş tıraş malzemeleridir</a:t>
            </a:r>
            <a:endParaRPr lang="tr-TR" b="1"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mantar resimleri-\untitled.png"/>
          <p:cNvPicPr>
            <a:picLocks noGrp="1"/>
          </p:cNvPicPr>
          <p:nvPr>
            <p:ph idx="4294967295"/>
          </p:nvPr>
        </p:nvPicPr>
        <p:blipFill>
          <a:blip r:embed="rId2" cstate="print"/>
          <a:srcRect/>
          <a:stretch>
            <a:fillRect/>
          </a:stretch>
        </p:blipFill>
        <p:spPr bwMode="auto">
          <a:xfrm>
            <a:off x="3923928" y="188640"/>
            <a:ext cx="4695825" cy="3190875"/>
          </a:xfrm>
          <a:prstGeom prst="rect">
            <a:avLst/>
          </a:prstGeom>
          <a:noFill/>
          <a:ln w="9525">
            <a:noFill/>
            <a:miter lim="800000"/>
            <a:headEnd/>
            <a:tailEnd/>
          </a:ln>
        </p:spPr>
      </p:pic>
      <p:pic>
        <p:nvPicPr>
          <p:cNvPr id="10242" name="Picture 2" descr="C:\Users\Pc\Desktop\untitled.png"/>
          <p:cNvPicPr>
            <a:picLocks noChangeAspect="1" noChangeArrowheads="1"/>
          </p:cNvPicPr>
          <p:nvPr/>
        </p:nvPicPr>
        <p:blipFill>
          <a:blip r:embed="rId3" cstate="print"/>
          <a:srcRect/>
          <a:stretch>
            <a:fillRect/>
          </a:stretch>
        </p:blipFill>
        <p:spPr bwMode="auto">
          <a:xfrm>
            <a:off x="714348" y="214290"/>
            <a:ext cx="3071834" cy="2857496"/>
          </a:xfrm>
          <a:prstGeom prst="rect">
            <a:avLst/>
          </a:prstGeom>
          <a:noFill/>
        </p:spPr>
      </p:pic>
      <p:pic>
        <p:nvPicPr>
          <p:cNvPr id="10243" name="Picture 3" descr="C:\Users\Pc\Desktop\imagesVH0LBWTG.jpg"/>
          <p:cNvPicPr>
            <a:picLocks noChangeAspect="1" noChangeArrowheads="1"/>
          </p:cNvPicPr>
          <p:nvPr/>
        </p:nvPicPr>
        <p:blipFill>
          <a:blip r:embed="rId4" cstate="print"/>
          <a:srcRect/>
          <a:stretch>
            <a:fillRect/>
          </a:stretch>
        </p:blipFill>
        <p:spPr bwMode="auto">
          <a:xfrm>
            <a:off x="1835696" y="3356992"/>
            <a:ext cx="4121535" cy="3143272"/>
          </a:xfrm>
          <a:prstGeom prst="rect">
            <a:avLst/>
          </a:prstGeom>
          <a:noFill/>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indir (1).jpg"/>
          <p:cNvPicPr>
            <a:picLocks noGrp="1" noChangeAspect="1" noChangeArrowheads="1"/>
          </p:cNvPicPr>
          <p:nvPr>
            <p:ph idx="4294967295"/>
          </p:nvPr>
        </p:nvPicPr>
        <p:blipFill>
          <a:blip r:embed="rId2" cstate="print"/>
          <a:srcRect/>
          <a:stretch>
            <a:fillRect/>
          </a:stretch>
        </p:blipFill>
        <p:spPr bwMode="auto">
          <a:xfrm>
            <a:off x="5004048" y="332656"/>
            <a:ext cx="3708400" cy="2803525"/>
          </a:xfrm>
          <a:prstGeom prst="rect">
            <a:avLst/>
          </a:prstGeom>
          <a:noFill/>
        </p:spPr>
      </p:pic>
      <p:pic>
        <p:nvPicPr>
          <p:cNvPr id="3075" name="Picture 3" descr="C:\Users\user\Desktop\28548tn.jpg"/>
          <p:cNvPicPr>
            <a:picLocks noChangeAspect="1" noChangeArrowheads="1"/>
          </p:cNvPicPr>
          <p:nvPr/>
        </p:nvPicPr>
        <p:blipFill>
          <a:blip r:embed="rId3" cstate="print"/>
          <a:srcRect/>
          <a:stretch>
            <a:fillRect/>
          </a:stretch>
        </p:blipFill>
        <p:spPr bwMode="auto">
          <a:xfrm>
            <a:off x="539552" y="332656"/>
            <a:ext cx="4123556" cy="2602607"/>
          </a:xfrm>
          <a:prstGeom prst="rect">
            <a:avLst/>
          </a:prstGeom>
          <a:noFill/>
        </p:spPr>
      </p:pic>
      <p:pic>
        <p:nvPicPr>
          <p:cNvPr id="3076" name="Picture 4" descr="C:\Users\user\Desktop\indir.jpg"/>
          <p:cNvPicPr>
            <a:picLocks noChangeAspect="1" noChangeArrowheads="1"/>
          </p:cNvPicPr>
          <p:nvPr/>
        </p:nvPicPr>
        <p:blipFill>
          <a:blip r:embed="rId4" cstate="print"/>
          <a:srcRect/>
          <a:stretch>
            <a:fillRect/>
          </a:stretch>
        </p:blipFill>
        <p:spPr bwMode="auto">
          <a:xfrm>
            <a:off x="1979712" y="3284984"/>
            <a:ext cx="5616624" cy="3225527"/>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DERMATOFİT ETKENLERİ NELERDİR</a:t>
            </a:r>
            <a:br>
              <a:rPr lang="tr-TR" b="1" dirty="0" smtClean="0">
                <a:solidFill>
                  <a:srgbClr val="FF0000"/>
                </a:solidFill>
              </a:rPr>
            </a:br>
            <a:r>
              <a:rPr lang="tr-TR" b="1" dirty="0" smtClean="0">
                <a:solidFill>
                  <a:srgbClr val="FF0000"/>
                </a:solidFill>
              </a:rPr>
              <a:t> VE YERLEŞİM YERLERİ NERELERDİR</a:t>
            </a:r>
            <a:endParaRPr lang="tr-TR" b="1" dirty="0">
              <a:solidFill>
                <a:srgbClr val="FF0000"/>
              </a:solidFill>
            </a:endParaRPr>
          </a:p>
        </p:txBody>
      </p:sp>
      <p:sp>
        <p:nvSpPr>
          <p:cNvPr id="3" name="2 İçerik Yer Tutucusu"/>
          <p:cNvSpPr>
            <a:spLocks noGrp="1"/>
          </p:cNvSpPr>
          <p:nvPr>
            <p:ph idx="1"/>
          </p:nvPr>
        </p:nvSpPr>
        <p:spPr/>
        <p:txBody>
          <a:bodyPr>
            <a:normAutofit lnSpcReduction="10000"/>
          </a:bodyPr>
          <a:lstStyle/>
          <a:p>
            <a:r>
              <a:rPr lang="tr-TR" b="1" dirty="0" err="1" smtClean="0"/>
              <a:t>Microsporium</a:t>
            </a:r>
            <a:r>
              <a:rPr lang="tr-TR" b="1" dirty="0" smtClean="0"/>
              <a:t>: Saç ve deri </a:t>
            </a:r>
          </a:p>
          <a:p>
            <a:r>
              <a:rPr lang="tr-TR" b="1" dirty="0" err="1" smtClean="0"/>
              <a:t>Trichophyton</a:t>
            </a:r>
            <a:r>
              <a:rPr lang="tr-TR" b="1" dirty="0" smtClean="0"/>
              <a:t>: Saç, deri ve tırnak</a:t>
            </a:r>
          </a:p>
          <a:p>
            <a:r>
              <a:rPr lang="tr-TR" b="1" dirty="0" err="1" smtClean="0"/>
              <a:t>Epidermophyton</a:t>
            </a:r>
            <a:r>
              <a:rPr lang="tr-TR" b="1" dirty="0" smtClean="0"/>
              <a:t>: Deri ve tırnak</a:t>
            </a:r>
          </a:p>
          <a:p>
            <a:pPr>
              <a:buNone/>
            </a:pPr>
            <a:endParaRPr lang="tr-TR" b="1" dirty="0" smtClean="0"/>
          </a:p>
          <a:p>
            <a:r>
              <a:rPr lang="tr-TR" b="1" dirty="0" err="1" smtClean="0">
                <a:solidFill>
                  <a:srgbClr val="FF0000"/>
                </a:solidFill>
              </a:rPr>
              <a:t>Onikomikoza</a:t>
            </a:r>
            <a:r>
              <a:rPr lang="tr-TR" b="1" dirty="0" smtClean="0">
                <a:solidFill>
                  <a:srgbClr val="FF0000"/>
                </a:solidFill>
              </a:rPr>
              <a:t> sebep olurlar</a:t>
            </a:r>
          </a:p>
          <a:p>
            <a:endParaRPr lang="tr-TR" b="1" dirty="0" smtClean="0">
              <a:solidFill>
                <a:srgbClr val="FF0000"/>
              </a:solidFill>
            </a:endParaRPr>
          </a:p>
          <a:p>
            <a:r>
              <a:rPr lang="tr-TR" sz="2800" b="1" dirty="0" err="1" smtClean="0"/>
              <a:t>Candida</a:t>
            </a:r>
            <a:r>
              <a:rPr lang="tr-TR" sz="2800" b="1" dirty="0" smtClean="0"/>
              <a:t> gibi küf gurubu mantarlarda tırnaklarda</a:t>
            </a:r>
            <a:r>
              <a:rPr lang="tr-TR" b="1" dirty="0" smtClean="0"/>
              <a:t> mantarlara neden olmaktadır</a:t>
            </a:r>
          </a:p>
          <a:p>
            <a:endParaRPr lang="tr-TR" b="1"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YÜZEYEL  MİKOZLAR </a:t>
            </a:r>
            <a:br>
              <a:rPr lang="tr-TR" b="1" dirty="0" smtClean="0">
                <a:solidFill>
                  <a:srgbClr val="FF0000"/>
                </a:solidFill>
              </a:rPr>
            </a:br>
            <a:r>
              <a:rPr lang="tr-TR" b="1" dirty="0" smtClean="0">
                <a:solidFill>
                  <a:srgbClr val="FF0000"/>
                </a:solidFill>
              </a:rPr>
              <a:t>6- </a:t>
            </a:r>
            <a:r>
              <a:rPr lang="tr-TR" b="1" dirty="0" err="1" smtClean="0">
                <a:solidFill>
                  <a:srgbClr val="FF0000"/>
                </a:solidFill>
              </a:rPr>
              <a:t>Onikomikoz</a:t>
            </a:r>
            <a:endParaRPr lang="tr-TR" dirty="0"/>
          </a:p>
        </p:txBody>
      </p:sp>
      <p:sp>
        <p:nvSpPr>
          <p:cNvPr id="3" name="2 İçerik Yer Tutucusu"/>
          <p:cNvSpPr>
            <a:spLocks noGrp="1"/>
          </p:cNvSpPr>
          <p:nvPr>
            <p:ph idx="1"/>
          </p:nvPr>
        </p:nvSpPr>
        <p:spPr/>
        <p:txBody>
          <a:bodyPr>
            <a:normAutofit/>
          </a:bodyPr>
          <a:lstStyle/>
          <a:p>
            <a:r>
              <a:rPr lang="tr-TR" b="1" dirty="0" smtClean="0">
                <a:solidFill>
                  <a:srgbClr val="FF3399"/>
                </a:solidFill>
              </a:rPr>
              <a:t>Tırnak mantar hastalıkları “</a:t>
            </a:r>
            <a:r>
              <a:rPr lang="tr-TR" b="1" dirty="0" err="1" smtClean="0">
                <a:solidFill>
                  <a:srgbClr val="FF3399"/>
                </a:solidFill>
              </a:rPr>
              <a:t>Onikomikoz</a:t>
            </a:r>
            <a:r>
              <a:rPr lang="tr-TR" b="1" dirty="0" smtClean="0">
                <a:solidFill>
                  <a:srgbClr val="FF3399"/>
                </a:solidFill>
              </a:rPr>
              <a:t>” olarak tanımlanmaktadır. Enfeksiyona tırnak yatağı, </a:t>
            </a:r>
            <a:r>
              <a:rPr lang="tr-TR" b="1" dirty="0" err="1" smtClean="0">
                <a:solidFill>
                  <a:srgbClr val="FF3399"/>
                </a:solidFill>
              </a:rPr>
              <a:t>matriksi</a:t>
            </a:r>
            <a:r>
              <a:rPr lang="tr-TR" b="1" dirty="0" smtClean="0">
                <a:solidFill>
                  <a:srgbClr val="FF3399"/>
                </a:solidFill>
              </a:rPr>
              <a:t> ve plağı tek tek veya birlikte yakalanmış olabilir</a:t>
            </a:r>
          </a:p>
          <a:p>
            <a:r>
              <a:rPr lang="tr-TR" b="1" dirty="0" err="1" smtClean="0">
                <a:solidFill>
                  <a:schemeClr val="accent6">
                    <a:lumMod val="50000"/>
                  </a:schemeClr>
                </a:solidFill>
              </a:rPr>
              <a:t>Onikomikoz</a:t>
            </a:r>
            <a:r>
              <a:rPr lang="tr-TR" b="1" dirty="0" smtClean="0">
                <a:solidFill>
                  <a:schemeClr val="accent6">
                    <a:lumMod val="50000"/>
                  </a:schemeClr>
                </a:solidFill>
              </a:rPr>
              <a:t> terimi sadece </a:t>
            </a:r>
            <a:r>
              <a:rPr lang="tr-TR" b="1" dirty="0" err="1" smtClean="0">
                <a:solidFill>
                  <a:schemeClr val="accent6">
                    <a:lumMod val="50000"/>
                  </a:schemeClr>
                </a:solidFill>
              </a:rPr>
              <a:t>dermatofitlerle</a:t>
            </a:r>
            <a:r>
              <a:rPr lang="tr-TR" b="1" dirty="0" smtClean="0">
                <a:solidFill>
                  <a:schemeClr val="accent6">
                    <a:lumMod val="50000"/>
                  </a:schemeClr>
                </a:solidFill>
              </a:rPr>
              <a:t> oluşan tırnak mikozlarını değil, maya ve küf mantarlarının yaptıklarını da kapsamaktadır</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76672"/>
            <a:ext cx="8496944" cy="5649491"/>
          </a:xfrm>
        </p:spPr>
        <p:txBody>
          <a:bodyPr/>
          <a:lstStyle/>
          <a:p>
            <a:endParaRPr lang="tr-TR" b="1" dirty="0" smtClean="0"/>
          </a:p>
          <a:p>
            <a:endParaRPr lang="tr-TR" b="1" dirty="0" smtClean="0"/>
          </a:p>
          <a:p>
            <a:r>
              <a:rPr lang="tr-TR" b="1" dirty="0" smtClean="0"/>
              <a:t>Enfeksiyona tırnak yatağı, </a:t>
            </a:r>
            <a:r>
              <a:rPr lang="tr-TR" b="1" dirty="0" err="1" smtClean="0"/>
              <a:t>matriksi</a:t>
            </a:r>
            <a:r>
              <a:rPr lang="tr-TR" b="1" dirty="0" smtClean="0"/>
              <a:t> ve plağı tek tek veya birlikte yakalanmış olabilir</a:t>
            </a:r>
          </a:p>
          <a:p>
            <a:endParaRPr lang="tr-TR" b="1" dirty="0" smtClean="0"/>
          </a:p>
          <a:p>
            <a:r>
              <a:rPr lang="tr-TR" b="1" dirty="0" err="1" smtClean="0">
                <a:solidFill>
                  <a:srgbClr val="FF0066"/>
                </a:solidFill>
              </a:rPr>
              <a:t>Tinea</a:t>
            </a:r>
            <a:r>
              <a:rPr lang="tr-TR" b="1" dirty="0" smtClean="0">
                <a:solidFill>
                  <a:srgbClr val="FF0066"/>
                </a:solidFill>
              </a:rPr>
              <a:t> </a:t>
            </a:r>
            <a:r>
              <a:rPr lang="tr-TR" b="1" dirty="0" err="1" smtClean="0">
                <a:solidFill>
                  <a:srgbClr val="FF0066"/>
                </a:solidFill>
              </a:rPr>
              <a:t>unguiumlu</a:t>
            </a:r>
            <a:r>
              <a:rPr lang="tr-TR" b="1" dirty="0" smtClean="0">
                <a:solidFill>
                  <a:srgbClr val="FF0066"/>
                </a:solidFill>
              </a:rPr>
              <a:t> olguların % 80’inde başka vücut bölgelerinde </a:t>
            </a:r>
            <a:r>
              <a:rPr lang="tr-TR" b="1" dirty="0" err="1" smtClean="0">
                <a:solidFill>
                  <a:srgbClr val="FF0066"/>
                </a:solidFill>
              </a:rPr>
              <a:t>dermatofit</a:t>
            </a:r>
            <a:r>
              <a:rPr lang="tr-TR" b="1" dirty="0" smtClean="0">
                <a:solidFill>
                  <a:srgbClr val="FF0066"/>
                </a:solidFill>
              </a:rPr>
              <a:t> enfeksiyonu vardır, </a:t>
            </a:r>
            <a:r>
              <a:rPr lang="tr-TR" b="1" dirty="0" smtClean="0">
                <a:solidFill>
                  <a:srgbClr val="000099"/>
                </a:solidFill>
              </a:rPr>
              <a:t>BU ODAK SIKLIKLA TİNEA PEDİS’DİR</a:t>
            </a:r>
          </a:p>
          <a:p>
            <a:endParaRPr lang="tr-TR" b="1"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568952" cy="6264696"/>
          </a:xfrm>
        </p:spPr>
        <p:txBody>
          <a:bodyPr>
            <a:normAutofit lnSpcReduction="10000"/>
          </a:bodyPr>
          <a:lstStyle/>
          <a:p>
            <a:r>
              <a:rPr lang="tr-TR" b="1" dirty="0" smtClean="0">
                <a:solidFill>
                  <a:schemeClr val="accent6">
                    <a:lumMod val="50000"/>
                  </a:schemeClr>
                </a:solidFill>
              </a:rPr>
              <a:t>Tırnak mantarı, ya da diğer adıyla </a:t>
            </a:r>
            <a:r>
              <a:rPr lang="tr-TR" b="1" dirty="0" err="1" smtClean="0">
                <a:solidFill>
                  <a:schemeClr val="accent6">
                    <a:lumMod val="50000"/>
                  </a:schemeClr>
                </a:solidFill>
              </a:rPr>
              <a:t>onikomikoz</a:t>
            </a:r>
            <a:r>
              <a:rPr lang="tr-TR" b="1" dirty="0" smtClean="0">
                <a:solidFill>
                  <a:schemeClr val="accent6">
                    <a:lumMod val="50000"/>
                  </a:schemeClr>
                </a:solidFill>
              </a:rPr>
              <a:t>, bireyin el veya ayak tırnaklarının uç kısmının hemen altında beyaz veya sarı bir nokta olarak başlayan ve yaygın olarak görülen bir mantar enfeksiyonudur</a:t>
            </a:r>
          </a:p>
          <a:p>
            <a:r>
              <a:rPr lang="tr-TR" b="1" dirty="0" smtClean="0">
                <a:solidFill>
                  <a:srgbClr val="333399"/>
                </a:solidFill>
              </a:rPr>
              <a:t>Tırnak mantarı tek bir tırnak ile sınırlı kalabileceği gibi, birden fazla tırnağı aynı anda etkileyebilir</a:t>
            </a:r>
          </a:p>
          <a:p>
            <a:r>
              <a:rPr lang="tr-TR" b="1" dirty="0" smtClean="0">
                <a:solidFill>
                  <a:srgbClr val="333399"/>
                </a:solidFill>
              </a:rPr>
              <a:t>Eğer tırnaklarda bulunan mantar enfeksiyonu genişler ve ayak parmaklarını ile ayakların arasındaki bölgeye bulaşırsa bu duruma atlet veya sporcu ayağı ya da tıbbi adıyla </a:t>
            </a:r>
            <a:r>
              <a:rPr lang="tr-TR" b="1" dirty="0" err="1" smtClean="0">
                <a:solidFill>
                  <a:srgbClr val="FF0000"/>
                </a:solidFill>
              </a:rPr>
              <a:t>tinea</a:t>
            </a:r>
            <a:r>
              <a:rPr lang="tr-TR" b="1" dirty="0" smtClean="0">
                <a:solidFill>
                  <a:srgbClr val="FF0000"/>
                </a:solidFill>
              </a:rPr>
              <a:t> </a:t>
            </a:r>
            <a:r>
              <a:rPr lang="tr-TR" b="1" dirty="0" err="1" smtClean="0">
                <a:solidFill>
                  <a:srgbClr val="FF0000"/>
                </a:solidFill>
              </a:rPr>
              <a:t>pedis</a:t>
            </a:r>
            <a:r>
              <a:rPr lang="tr-TR" b="1" dirty="0" smtClean="0"/>
              <a:t> denir</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TIRNAKLARA MANTAR</a:t>
            </a:r>
            <a:br>
              <a:rPr lang="tr-TR" b="1" dirty="0" smtClean="0">
                <a:solidFill>
                  <a:srgbClr val="FF0000"/>
                </a:solidFill>
              </a:rPr>
            </a:br>
            <a:r>
              <a:rPr lang="tr-TR" b="1" dirty="0" smtClean="0">
                <a:solidFill>
                  <a:srgbClr val="FF0000"/>
                </a:solidFill>
              </a:rPr>
              <a:t>NASIL BULAŞIR?</a:t>
            </a:r>
            <a:endParaRPr lang="tr-TR" b="1"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fontScale="92500" lnSpcReduction="20000"/>
          </a:bodyPr>
          <a:lstStyle/>
          <a:p>
            <a:r>
              <a:rPr lang="tr-TR" b="1" dirty="0" smtClean="0"/>
              <a:t>El ve ayak derisindeki mantar hastalığının yayılarak tırnaklara yerleşmesi ile</a:t>
            </a:r>
          </a:p>
          <a:p>
            <a:r>
              <a:rPr lang="tr-TR" b="1" dirty="0" smtClean="0"/>
              <a:t>Mantar etkenlerinin direkt tırnağa yerleşmesi ile olmaktadır</a:t>
            </a:r>
          </a:p>
          <a:p>
            <a:r>
              <a:rPr lang="tr-TR" b="1" dirty="0" smtClean="0">
                <a:solidFill>
                  <a:srgbClr val="FF3399"/>
                </a:solidFill>
              </a:rPr>
              <a:t>Mantarın tırnağa yerleşmesi için tırnak bütünlüğünün bozulması gerekmektedir. Bunu kolaylaştıran nedenler;</a:t>
            </a:r>
          </a:p>
          <a:p>
            <a:pPr lvl="1"/>
            <a:r>
              <a:rPr lang="tr-TR" b="1" dirty="0" smtClean="0">
                <a:solidFill>
                  <a:schemeClr val="accent6">
                    <a:lumMod val="50000"/>
                  </a:schemeClr>
                </a:solidFill>
              </a:rPr>
              <a:t>El/ayak tırnağına sert bir cisimle vurulması</a:t>
            </a:r>
          </a:p>
          <a:p>
            <a:pPr lvl="1"/>
            <a:r>
              <a:rPr lang="tr-TR" b="1" dirty="0" smtClean="0">
                <a:solidFill>
                  <a:schemeClr val="accent6">
                    <a:lumMod val="50000"/>
                  </a:schemeClr>
                </a:solidFill>
              </a:rPr>
              <a:t>Ayak tırnağına basılması</a:t>
            </a:r>
          </a:p>
          <a:p>
            <a:pPr lvl="1"/>
            <a:r>
              <a:rPr lang="tr-TR" b="1" dirty="0" smtClean="0">
                <a:solidFill>
                  <a:schemeClr val="accent6">
                    <a:lumMod val="50000"/>
                  </a:schemeClr>
                </a:solidFill>
              </a:rPr>
              <a:t>Tırnakların çok dipten kesilmesi</a:t>
            </a:r>
          </a:p>
          <a:p>
            <a:pPr lvl="1"/>
            <a:r>
              <a:rPr lang="tr-TR" b="1" dirty="0" smtClean="0">
                <a:solidFill>
                  <a:schemeClr val="accent6">
                    <a:lumMod val="50000"/>
                  </a:schemeClr>
                </a:solidFill>
              </a:rPr>
              <a:t>Ayak parmaklarını sıkıştıran küçük/ucu sivri ayakkabılar</a:t>
            </a:r>
          </a:p>
          <a:p>
            <a:endParaRPr lang="tr-TR" b="1"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dirty="0"/>
          </a:p>
        </p:txBody>
      </p:sp>
      <p:sp>
        <p:nvSpPr>
          <p:cNvPr id="3" name="2 İçerik Yer Tutucusu"/>
          <p:cNvSpPr>
            <a:spLocks noGrp="1"/>
          </p:cNvSpPr>
          <p:nvPr>
            <p:ph idx="1"/>
          </p:nvPr>
        </p:nvSpPr>
        <p:spPr/>
        <p:txBody>
          <a:bodyPr/>
          <a:lstStyle/>
          <a:p>
            <a:r>
              <a:rPr lang="tr-TR" b="1" dirty="0" err="1" smtClean="0">
                <a:solidFill>
                  <a:srgbClr val="FF3399"/>
                </a:solidFill>
              </a:rPr>
              <a:t>Microsporum</a:t>
            </a:r>
            <a:endParaRPr lang="tr-TR" b="1" dirty="0" smtClean="0">
              <a:solidFill>
                <a:srgbClr val="FF3399"/>
              </a:solidFill>
            </a:endParaRPr>
          </a:p>
          <a:p>
            <a:r>
              <a:rPr lang="tr-TR" b="1" dirty="0" err="1" smtClean="0">
                <a:solidFill>
                  <a:srgbClr val="FF3399"/>
                </a:solidFill>
              </a:rPr>
              <a:t>Trichophyton</a:t>
            </a:r>
            <a:r>
              <a:rPr lang="tr-TR" b="1" dirty="0" smtClean="0">
                <a:solidFill>
                  <a:srgbClr val="FF3399"/>
                </a:solidFill>
              </a:rPr>
              <a:t> </a:t>
            </a:r>
            <a:r>
              <a:rPr lang="tr-TR" b="1" dirty="0" err="1" smtClean="0">
                <a:solidFill>
                  <a:srgbClr val="FF3399"/>
                </a:solidFill>
              </a:rPr>
              <a:t>rubrum</a:t>
            </a:r>
            <a:r>
              <a:rPr lang="tr-TR" b="1" dirty="0" smtClean="0">
                <a:solidFill>
                  <a:srgbClr val="FF3399"/>
                </a:solidFill>
              </a:rPr>
              <a:t>(en sık neden)</a:t>
            </a:r>
          </a:p>
          <a:p>
            <a:r>
              <a:rPr lang="tr-TR" b="1" dirty="0" err="1" smtClean="0">
                <a:solidFill>
                  <a:srgbClr val="FF3399"/>
                </a:solidFill>
              </a:rPr>
              <a:t>Epidermophyton</a:t>
            </a:r>
            <a:r>
              <a:rPr lang="tr-TR" b="1" dirty="0" smtClean="0">
                <a:solidFill>
                  <a:srgbClr val="FF3399"/>
                </a:solidFill>
              </a:rPr>
              <a:t> </a:t>
            </a:r>
            <a:r>
              <a:rPr lang="tr-TR" b="1" dirty="0" err="1" smtClean="0">
                <a:solidFill>
                  <a:srgbClr val="FF3399"/>
                </a:solidFill>
              </a:rPr>
              <a:t>floccosum</a:t>
            </a:r>
            <a:endParaRPr lang="tr-TR" b="1" dirty="0" smtClean="0">
              <a:solidFill>
                <a:srgbClr val="FF3399"/>
              </a:solidFill>
            </a:endParaRPr>
          </a:p>
          <a:p>
            <a:r>
              <a:rPr lang="tr-TR" b="1" dirty="0" err="1" smtClean="0">
                <a:solidFill>
                  <a:srgbClr val="FF3399"/>
                </a:solidFill>
              </a:rPr>
              <a:t>Candida</a:t>
            </a:r>
            <a:r>
              <a:rPr lang="tr-TR" b="1" dirty="0" smtClean="0">
                <a:solidFill>
                  <a:srgbClr val="FF3399"/>
                </a:solidFill>
              </a:rPr>
              <a:t> </a:t>
            </a:r>
            <a:r>
              <a:rPr lang="tr-TR" b="1" dirty="0" err="1" smtClean="0">
                <a:solidFill>
                  <a:srgbClr val="FF3399"/>
                </a:solidFill>
              </a:rPr>
              <a:t>albicans</a:t>
            </a:r>
            <a:r>
              <a:rPr lang="tr-TR" b="1" dirty="0" smtClean="0">
                <a:solidFill>
                  <a:srgbClr val="FF3399"/>
                </a:solidFill>
              </a:rPr>
              <a:t> </a:t>
            </a:r>
          </a:p>
          <a:p>
            <a:endParaRPr lang="tr-TR" b="1" dirty="0" smtClean="0">
              <a:solidFill>
                <a:srgbClr val="FF3399"/>
              </a:solidFill>
            </a:endParaRPr>
          </a:p>
          <a:p>
            <a:pPr>
              <a:buNone/>
            </a:pPr>
            <a:endParaRPr lang="tr-TR" b="1" dirty="0" smtClean="0">
              <a:solidFill>
                <a:srgbClr val="FF3399"/>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600" dirty="0" smtClean="0"/>
              <a:t/>
            </a:r>
            <a:br>
              <a:rPr lang="tr-TR" sz="3600" dirty="0" smtClean="0"/>
            </a:br>
            <a:r>
              <a:rPr lang="tr-TR" sz="3600" b="1" dirty="0" smtClean="0">
                <a:solidFill>
                  <a:srgbClr val="333399"/>
                </a:solidFill>
              </a:rPr>
              <a:t>BAZI KİŞİLER TIRNAK MANTAR ENFEKSİYONUNA DAHA DUYARLIDIRLAR</a:t>
            </a:r>
            <a:r>
              <a:rPr lang="tr-TR" b="1" dirty="0" smtClean="0">
                <a:solidFill>
                  <a:srgbClr val="333399"/>
                </a:solidFill>
              </a:rPr>
              <a:t/>
            </a:r>
            <a:br>
              <a:rPr lang="tr-TR" b="1" dirty="0" smtClean="0">
                <a:solidFill>
                  <a:srgbClr val="333399"/>
                </a:solidFill>
              </a:rPr>
            </a:br>
            <a:endParaRPr lang="tr-TR" b="1" dirty="0">
              <a:solidFill>
                <a:srgbClr val="333399"/>
              </a:solidFill>
            </a:endParaRPr>
          </a:p>
        </p:txBody>
      </p:sp>
      <p:sp>
        <p:nvSpPr>
          <p:cNvPr id="3" name="2 İçerik Yer Tutucusu"/>
          <p:cNvSpPr>
            <a:spLocks noGrp="1"/>
          </p:cNvSpPr>
          <p:nvPr>
            <p:ph idx="1"/>
          </p:nvPr>
        </p:nvSpPr>
        <p:spPr/>
        <p:txBody>
          <a:bodyPr>
            <a:normAutofit fontScale="92500" lnSpcReduction="10000"/>
          </a:bodyPr>
          <a:lstStyle/>
          <a:p>
            <a:r>
              <a:rPr lang="tr-TR" b="1" dirty="0" err="1" smtClean="0"/>
              <a:t>Diabeti</a:t>
            </a:r>
            <a:r>
              <a:rPr lang="tr-TR" b="1" dirty="0" smtClean="0"/>
              <a:t>-şeker hastalığı olanlar</a:t>
            </a:r>
          </a:p>
          <a:p>
            <a:r>
              <a:rPr lang="tr-TR" b="1" dirty="0" smtClean="0"/>
              <a:t>Dolaşım sorunları olanlar</a:t>
            </a:r>
          </a:p>
          <a:p>
            <a:r>
              <a:rPr lang="tr-TR" b="1" dirty="0" smtClean="0"/>
              <a:t>Bağışıklık yetersizliği (örn., AIDS/HIV enfeksiyonu) olanlar</a:t>
            </a:r>
          </a:p>
          <a:p>
            <a:r>
              <a:rPr lang="tr-TR" b="1" dirty="0" smtClean="0"/>
              <a:t>65 yaş ve üzeri olanlar</a:t>
            </a:r>
          </a:p>
          <a:p>
            <a:r>
              <a:rPr lang="tr-TR" b="1" dirty="0" smtClean="0"/>
              <a:t>Ayak derisinde mantar enfeksiyonu olanlar</a:t>
            </a:r>
          </a:p>
          <a:p>
            <a:r>
              <a:rPr lang="tr-TR" b="1" dirty="0" smtClean="0"/>
              <a:t>Ayakları çok terleyen veya sürekli nemli kalanlar</a:t>
            </a:r>
          </a:p>
          <a:p>
            <a:r>
              <a:rPr lang="tr-TR" b="1" dirty="0" smtClean="0"/>
              <a:t>Atletler, koşucular ve dansçılar gibi, ayaklarına fazla yüklenenler</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404664"/>
            <a:ext cx="8229600" cy="1143000"/>
          </a:xfrm>
        </p:spPr>
        <p:txBody>
          <a:bodyPr>
            <a:normAutofit fontScale="90000"/>
          </a:bodyPr>
          <a:lstStyle/>
          <a:p>
            <a:r>
              <a:rPr lang="tr-TR" sz="2800" dirty="0" smtClean="0"/>
              <a:t/>
            </a:r>
            <a:br>
              <a:rPr lang="tr-TR" sz="2800" dirty="0" smtClean="0"/>
            </a:br>
            <a:r>
              <a:rPr lang="tr-TR" sz="2800" b="1" dirty="0" smtClean="0">
                <a:solidFill>
                  <a:srgbClr val="333399"/>
                </a:solidFill>
              </a:rPr>
              <a:t>TIRNAK MANTAR HASTALIĞI BULAŞICIDIR. </a:t>
            </a:r>
            <a:br>
              <a:rPr lang="tr-TR" sz="2800" b="1" dirty="0" smtClean="0">
                <a:solidFill>
                  <a:srgbClr val="333399"/>
                </a:solidFill>
              </a:rPr>
            </a:br>
            <a:r>
              <a:rPr lang="tr-TR" sz="2800" b="1" dirty="0" smtClean="0">
                <a:solidFill>
                  <a:srgbClr val="FF0000"/>
                </a:solidFill>
              </a:rPr>
              <a:t>ENFEKSİYONA NEDEN OLAN MANTARLAR ORTAK KULLANIMA AÇIK, ILIK VE NEMLİ YERLERDE BULUNURLAR</a:t>
            </a:r>
            <a:r>
              <a:rPr lang="tr-TR" sz="2800" b="1" dirty="0" smtClean="0">
                <a:solidFill>
                  <a:srgbClr val="333399"/>
                </a:solidFill>
              </a:rPr>
              <a:t/>
            </a:r>
            <a:br>
              <a:rPr lang="tr-TR" sz="2800" b="1" dirty="0" smtClean="0">
                <a:solidFill>
                  <a:srgbClr val="333399"/>
                </a:solidFill>
              </a:rPr>
            </a:br>
            <a:endParaRPr lang="tr-TR" sz="2800" b="1" dirty="0">
              <a:solidFill>
                <a:srgbClr val="333399"/>
              </a:solidFill>
            </a:endParaRPr>
          </a:p>
        </p:txBody>
      </p:sp>
      <p:sp>
        <p:nvSpPr>
          <p:cNvPr id="3" name="2 İçerik Yer Tutucusu"/>
          <p:cNvSpPr>
            <a:spLocks noGrp="1"/>
          </p:cNvSpPr>
          <p:nvPr>
            <p:ph idx="1"/>
          </p:nvPr>
        </p:nvSpPr>
        <p:spPr/>
        <p:txBody>
          <a:bodyPr>
            <a:normAutofit/>
          </a:bodyPr>
          <a:lstStyle/>
          <a:p>
            <a:r>
              <a:rPr lang="tr-TR" b="1" dirty="0" smtClean="0"/>
              <a:t>Soyunma odaları</a:t>
            </a:r>
          </a:p>
          <a:p>
            <a:r>
              <a:rPr lang="tr-TR" b="1" dirty="0" smtClean="0"/>
              <a:t>Ayakkabı içerisinde</a:t>
            </a:r>
          </a:p>
          <a:p>
            <a:r>
              <a:rPr lang="tr-TR" b="1" dirty="0" smtClean="0"/>
              <a:t>Yüzme havuzu</a:t>
            </a:r>
          </a:p>
          <a:p>
            <a:r>
              <a:rPr lang="tr-TR" b="1" dirty="0" smtClean="0"/>
              <a:t>Ortak kullanılan duş ve banyolar</a:t>
            </a:r>
          </a:p>
          <a:p>
            <a:r>
              <a:rPr lang="tr-TR" b="1" dirty="0" smtClean="0"/>
              <a:t>Bahçe</a:t>
            </a:r>
          </a:p>
          <a:p>
            <a:r>
              <a:rPr lang="tr-TR" b="1" dirty="0" smtClean="0"/>
              <a:t>Sterilize edilmemiş manikür veya pedikür aletlerinde</a:t>
            </a:r>
            <a:br>
              <a:rPr lang="tr-TR" b="1" dirty="0" smtClean="0"/>
            </a:br>
            <a:endParaRPr lang="tr-TR" b="1"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075240" cy="1282154"/>
          </a:xfrm>
        </p:spPr>
        <p:txBody>
          <a:bodyPr>
            <a:normAutofit fontScale="90000"/>
          </a:bodyPr>
          <a:lstStyle/>
          <a:p>
            <a:r>
              <a:rPr lang="tr-TR" sz="3600" b="1" dirty="0" smtClean="0">
                <a:solidFill>
                  <a:srgbClr val="FF0000"/>
                </a:solidFill>
              </a:rPr>
              <a:t/>
            </a:r>
            <a:br>
              <a:rPr lang="tr-TR" sz="3600" b="1" dirty="0" smtClean="0">
                <a:solidFill>
                  <a:srgbClr val="FF0000"/>
                </a:solidFill>
              </a:rPr>
            </a:br>
            <a:r>
              <a:rPr lang="tr-TR" sz="3600" b="1" dirty="0" smtClean="0">
                <a:solidFill>
                  <a:srgbClr val="FF0000"/>
                </a:solidFill>
              </a:rPr>
              <a:t> MANTAR </a:t>
            </a:r>
            <a:br>
              <a:rPr lang="tr-TR" sz="3600" b="1" dirty="0" smtClean="0">
                <a:solidFill>
                  <a:srgbClr val="FF0000"/>
                </a:solidFill>
              </a:rPr>
            </a:br>
            <a:r>
              <a:rPr lang="tr-TR" sz="3600" b="1" dirty="0" smtClean="0">
                <a:solidFill>
                  <a:srgbClr val="FF0000"/>
                </a:solidFill>
              </a:rPr>
              <a:t>TIRNAKLARDA NASIL DEĞİŞİKLİK YAPAR</a:t>
            </a:r>
            <a:br>
              <a:rPr lang="tr-TR" sz="3600" b="1" dirty="0" smtClean="0">
                <a:solidFill>
                  <a:srgbClr val="FF0000"/>
                </a:solidFill>
              </a:rPr>
            </a:br>
            <a:endParaRPr lang="tr-TR" sz="3600" b="1" dirty="0">
              <a:solidFill>
                <a:srgbClr val="FF0000"/>
              </a:solidFill>
            </a:endParaRPr>
          </a:p>
        </p:txBody>
      </p:sp>
      <p:sp>
        <p:nvSpPr>
          <p:cNvPr id="3" name="2 İçerik Yer Tutucusu"/>
          <p:cNvSpPr>
            <a:spLocks noGrp="1"/>
          </p:cNvSpPr>
          <p:nvPr>
            <p:ph idx="1"/>
          </p:nvPr>
        </p:nvSpPr>
        <p:spPr/>
        <p:txBody>
          <a:bodyPr/>
          <a:lstStyle/>
          <a:p>
            <a:r>
              <a:rPr lang="tr-TR" b="1" dirty="0" smtClean="0"/>
              <a:t>Tırnaklarda sarı-yeşil veya kahverengi renklenme</a:t>
            </a:r>
          </a:p>
          <a:p>
            <a:r>
              <a:rPr lang="tr-TR" b="1" dirty="0" smtClean="0"/>
              <a:t>Tırnaklarda pul pul kalkma</a:t>
            </a:r>
          </a:p>
          <a:p>
            <a:r>
              <a:rPr lang="tr-TR" b="1" dirty="0" smtClean="0"/>
              <a:t>Tırnak altında deri kalınlaşması ile tırnağın </a:t>
            </a:r>
            <a:r>
              <a:rPr lang="tr-TR" b="1" dirty="0" err="1" smtClean="0"/>
              <a:t>opaklanarak</a:t>
            </a:r>
            <a:r>
              <a:rPr lang="tr-TR" b="1" dirty="0" smtClean="0"/>
              <a:t> kabalaşması</a:t>
            </a:r>
          </a:p>
          <a:p>
            <a:r>
              <a:rPr lang="tr-TR" b="1" dirty="0" smtClean="0"/>
              <a:t>Ayaklarda kötü koku</a:t>
            </a:r>
          </a:p>
          <a:p>
            <a:r>
              <a:rPr lang="tr-TR" b="1" dirty="0" smtClean="0"/>
              <a:t>Ayak tırnaklarında acı/hassasiyet artışı</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b="1" dirty="0" smtClean="0">
                <a:solidFill>
                  <a:srgbClr val="FF0000"/>
                </a:solidFill>
              </a:rPr>
              <a:t> </a:t>
            </a:r>
            <a:r>
              <a:rPr lang="tr-TR" sz="3600" b="1" dirty="0" smtClean="0">
                <a:solidFill>
                  <a:srgbClr val="FF0000"/>
                </a:solidFill>
              </a:rPr>
              <a:t>MANTAR </a:t>
            </a:r>
            <a:br>
              <a:rPr lang="tr-TR" sz="3600" b="1" dirty="0" smtClean="0">
                <a:solidFill>
                  <a:srgbClr val="FF0000"/>
                </a:solidFill>
              </a:rPr>
            </a:br>
            <a:r>
              <a:rPr lang="tr-TR" sz="3600" b="1" dirty="0" smtClean="0">
                <a:solidFill>
                  <a:srgbClr val="FF0000"/>
                </a:solidFill>
              </a:rPr>
              <a:t>TIRNAKLARDA NASIL DEĞİŞİKLİK YAPAR</a:t>
            </a:r>
            <a:br>
              <a:rPr lang="tr-TR" sz="3600" b="1" dirty="0" smtClean="0">
                <a:solidFill>
                  <a:srgbClr val="FF0000"/>
                </a:solidFill>
              </a:rPr>
            </a:br>
            <a:endParaRPr lang="tr-TR" sz="3600" dirty="0"/>
          </a:p>
        </p:txBody>
      </p:sp>
      <p:sp>
        <p:nvSpPr>
          <p:cNvPr id="3" name="2 İçerik Yer Tutucusu"/>
          <p:cNvSpPr>
            <a:spLocks noGrp="1"/>
          </p:cNvSpPr>
          <p:nvPr>
            <p:ph idx="1"/>
          </p:nvPr>
        </p:nvSpPr>
        <p:spPr/>
        <p:txBody>
          <a:bodyPr>
            <a:normAutofit lnSpcReduction="10000"/>
          </a:bodyPr>
          <a:lstStyle/>
          <a:p>
            <a:r>
              <a:rPr lang="tr-TR" b="1" dirty="0" smtClean="0"/>
              <a:t>Tırnak mantar hastalıkları bulaşıcı ve ciddi estetik problemlere neden olmaktadır</a:t>
            </a:r>
          </a:p>
          <a:p>
            <a:pPr>
              <a:buNone/>
            </a:pPr>
            <a:endParaRPr lang="tr-TR" b="1" dirty="0" smtClean="0"/>
          </a:p>
          <a:p>
            <a:r>
              <a:rPr lang="tr-TR" b="1" dirty="0" smtClean="0"/>
              <a:t>Özellikle şeker hastalarında</a:t>
            </a:r>
          </a:p>
          <a:p>
            <a:r>
              <a:rPr lang="tr-TR" b="1" dirty="0" smtClean="0"/>
              <a:t>Damar problemleri </a:t>
            </a:r>
          </a:p>
          <a:p>
            <a:r>
              <a:rPr lang="tr-TR" b="1" dirty="0" err="1" smtClean="0"/>
              <a:t>Nöropatik</a:t>
            </a:r>
            <a:r>
              <a:rPr lang="tr-TR" b="1" dirty="0" smtClean="0"/>
              <a:t> hastalıkları olanlarda </a:t>
            </a:r>
          </a:p>
          <a:p>
            <a:pPr lvl="1"/>
            <a:r>
              <a:rPr lang="tr-TR" b="1" dirty="0" smtClean="0"/>
              <a:t>İkincil mikrobik hastalıklarla gelişebilecek ciddi problemlere neden olmaları nedenleri ile mutlaka tedavi yapılmalıdır</a:t>
            </a:r>
          </a:p>
          <a:p>
            <a:pPr>
              <a:buNone/>
            </a:pPr>
            <a:endParaRPr lang="tr-TR" b="1" dirty="0" smtClean="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ayak-tirnaginda-iltihap.gif"/>
          <p:cNvPicPr>
            <a:picLocks noGrp="1" noChangeAspect="1" noChangeArrowheads="1"/>
          </p:cNvPicPr>
          <p:nvPr>
            <p:ph idx="4294967295"/>
          </p:nvPr>
        </p:nvPicPr>
        <p:blipFill>
          <a:blip r:embed="rId2" cstate="print"/>
          <a:srcRect/>
          <a:stretch>
            <a:fillRect/>
          </a:stretch>
        </p:blipFill>
        <p:spPr bwMode="auto">
          <a:xfrm>
            <a:off x="4860032" y="188640"/>
            <a:ext cx="3955801" cy="3455988"/>
          </a:xfrm>
          <a:prstGeom prst="rect">
            <a:avLst/>
          </a:prstGeom>
          <a:noFill/>
        </p:spPr>
      </p:pic>
      <p:pic>
        <p:nvPicPr>
          <p:cNvPr id="1026" name="Picture 2" descr="C:\Users\user\Desktop\yanlis-dogru-tirnak-kesimi.jpg"/>
          <p:cNvPicPr>
            <a:picLocks noChangeAspect="1" noChangeArrowheads="1"/>
          </p:cNvPicPr>
          <p:nvPr/>
        </p:nvPicPr>
        <p:blipFill>
          <a:blip r:embed="rId3" cstate="print"/>
          <a:srcRect/>
          <a:stretch>
            <a:fillRect/>
          </a:stretch>
        </p:blipFill>
        <p:spPr bwMode="auto">
          <a:xfrm>
            <a:off x="539552" y="3501008"/>
            <a:ext cx="4627811" cy="2836570"/>
          </a:xfrm>
          <a:prstGeom prst="rect">
            <a:avLst/>
          </a:prstGeom>
          <a:noFill/>
        </p:spPr>
      </p:pic>
      <p:pic>
        <p:nvPicPr>
          <p:cNvPr id="1027" name="Picture 3" descr="C:\Users\user\Desktop\ayak-tırnak-kesimi-300x134.jpg"/>
          <p:cNvPicPr>
            <a:picLocks noChangeAspect="1" noChangeArrowheads="1"/>
          </p:cNvPicPr>
          <p:nvPr/>
        </p:nvPicPr>
        <p:blipFill>
          <a:blip r:embed="rId4" cstate="print"/>
          <a:srcRect/>
          <a:stretch>
            <a:fillRect/>
          </a:stretch>
        </p:blipFill>
        <p:spPr bwMode="auto">
          <a:xfrm>
            <a:off x="251520" y="260648"/>
            <a:ext cx="4644008" cy="2232248"/>
          </a:xfrm>
          <a:prstGeom prst="rect">
            <a:avLst/>
          </a:prstGeom>
          <a:noFill/>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kişisel-hijyeniniz-için-ipuçları-1.jpg"/>
          <p:cNvPicPr>
            <a:picLocks noGrp="1" noChangeAspect="1" noChangeArrowheads="1"/>
          </p:cNvPicPr>
          <p:nvPr>
            <p:ph idx="4294967295"/>
          </p:nvPr>
        </p:nvPicPr>
        <p:blipFill>
          <a:blip r:embed="rId2" cstate="print"/>
          <a:srcRect/>
          <a:stretch>
            <a:fillRect/>
          </a:stretch>
        </p:blipFill>
        <p:spPr bwMode="auto">
          <a:xfrm>
            <a:off x="2267744" y="260648"/>
            <a:ext cx="6191250" cy="3429000"/>
          </a:xfrm>
          <a:prstGeom prst="rect">
            <a:avLst/>
          </a:prstGeom>
          <a:noFill/>
        </p:spPr>
      </p:pic>
      <p:pic>
        <p:nvPicPr>
          <p:cNvPr id="2051" name="Picture 3" descr="C:\Users\user\Desktop\tırnak-batması1.jpg"/>
          <p:cNvPicPr>
            <a:picLocks noChangeAspect="1" noChangeArrowheads="1"/>
          </p:cNvPicPr>
          <p:nvPr/>
        </p:nvPicPr>
        <p:blipFill>
          <a:blip r:embed="rId3" cstate="print"/>
          <a:srcRect/>
          <a:stretch>
            <a:fillRect/>
          </a:stretch>
        </p:blipFill>
        <p:spPr bwMode="auto">
          <a:xfrm>
            <a:off x="395536" y="3429000"/>
            <a:ext cx="4762500" cy="3048000"/>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Desktop\tirnak-mantari-1.jpg"/>
          <p:cNvPicPr>
            <a:picLocks noGrp="1" noChangeAspect="1" noChangeArrowheads="1"/>
          </p:cNvPicPr>
          <p:nvPr>
            <p:ph idx="4294967295"/>
          </p:nvPr>
        </p:nvPicPr>
        <p:blipFill>
          <a:blip r:embed="rId2" cstate="print"/>
          <a:srcRect/>
          <a:stretch>
            <a:fillRect/>
          </a:stretch>
        </p:blipFill>
        <p:spPr bwMode="auto">
          <a:xfrm>
            <a:off x="899592" y="332656"/>
            <a:ext cx="7561262" cy="6065837"/>
          </a:xfrm>
          <a:prstGeom prst="rect">
            <a:avLst/>
          </a:prstGeom>
          <a:noFill/>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c\Desktop\230px-Toefungus.jpg"/>
          <p:cNvPicPr>
            <a:picLocks noGrp="1" noChangeAspect="1" noChangeArrowheads="1"/>
          </p:cNvPicPr>
          <p:nvPr>
            <p:ph idx="4294967295"/>
          </p:nvPr>
        </p:nvPicPr>
        <p:blipFill>
          <a:blip r:embed="rId2" cstate="print"/>
          <a:srcRect/>
          <a:stretch>
            <a:fillRect/>
          </a:stretch>
        </p:blipFill>
        <p:spPr bwMode="auto">
          <a:xfrm>
            <a:off x="5148064" y="836712"/>
            <a:ext cx="2921000" cy="3898900"/>
          </a:xfrm>
          <a:prstGeom prst="rect">
            <a:avLst/>
          </a:prstGeom>
          <a:noFill/>
        </p:spPr>
      </p:pic>
      <p:pic>
        <p:nvPicPr>
          <p:cNvPr id="5" name="4 Resim" descr="C:\Users\oem\Desktop\mantar resimleri-\mantar[1].jpg"/>
          <p:cNvPicPr/>
          <p:nvPr/>
        </p:nvPicPr>
        <p:blipFill>
          <a:blip r:embed="rId3" cstate="print"/>
          <a:srcRect/>
          <a:stretch>
            <a:fillRect/>
          </a:stretch>
        </p:blipFill>
        <p:spPr bwMode="auto">
          <a:xfrm>
            <a:off x="899592" y="188640"/>
            <a:ext cx="3071834" cy="2143140"/>
          </a:xfrm>
          <a:prstGeom prst="rect">
            <a:avLst/>
          </a:prstGeom>
          <a:noFill/>
          <a:ln w="9525">
            <a:noFill/>
            <a:miter lim="800000"/>
            <a:headEnd/>
            <a:tailEnd/>
          </a:ln>
        </p:spPr>
      </p:pic>
      <p:pic>
        <p:nvPicPr>
          <p:cNvPr id="6" name="5 Resim" descr="C:\Users\oem\Desktop\mantar resimleri-\nail-fungus15.jpg"/>
          <p:cNvPicPr/>
          <p:nvPr/>
        </p:nvPicPr>
        <p:blipFill>
          <a:blip r:embed="rId4" cstate="print"/>
          <a:srcRect/>
          <a:stretch>
            <a:fillRect/>
          </a:stretch>
        </p:blipFill>
        <p:spPr bwMode="auto">
          <a:xfrm>
            <a:off x="500034" y="2786058"/>
            <a:ext cx="3871915" cy="3429024"/>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755576" y="332656"/>
            <a:ext cx="7345363" cy="5689600"/>
          </a:xfrm>
          <a:prstGeom prst="rect">
            <a:avLst/>
          </a:prstGeom>
          <a:noFill/>
          <a:ln w="9525">
            <a:noFill/>
            <a:miter lim="800000"/>
            <a:headEnd/>
            <a:tailEnd/>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4294967295"/>
          </p:nvPr>
        </p:nvPicPr>
        <p:blipFill>
          <a:blip r:embed="rId2" cstate="print"/>
          <a:srcRect/>
          <a:stretch>
            <a:fillRect/>
          </a:stretch>
        </p:blipFill>
        <p:spPr bwMode="auto">
          <a:xfrm>
            <a:off x="827584" y="404664"/>
            <a:ext cx="7559675" cy="5576888"/>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3923928" y="260648"/>
            <a:ext cx="4862512" cy="39338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51520" y="188640"/>
            <a:ext cx="3349352" cy="3896842"/>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827584" y="4149080"/>
            <a:ext cx="7056784" cy="2448272"/>
          </a:xfrm>
          <a:prstGeom prst="rect">
            <a:avLst/>
          </a:prstGeom>
          <a:noFill/>
          <a:ln w="9525">
            <a:noFill/>
            <a:miter lim="800000"/>
            <a:headEnd/>
            <a:tailEnd/>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mantar resimleri-\toenail-fungus-by-chefranden.jpg"/>
          <p:cNvPicPr>
            <a:picLocks noGrp="1"/>
          </p:cNvPicPr>
          <p:nvPr>
            <p:ph idx="4294967295"/>
          </p:nvPr>
        </p:nvPicPr>
        <p:blipFill>
          <a:blip r:embed="rId2" cstate="print"/>
          <a:srcRect/>
          <a:stretch>
            <a:fillRect/>
          </a:stretch>
        </p:blipFill>
        <p:spPr bwMode="auto">
          <a:xfrm>
            <a:off x="4572000" y="260648"/>
            <a:ext cx="4197350" cy="3714750"/>
          </a:xfrm>
          <a:prstGeom prst="rect">
            <a:avLst/>
          </a:prstGeom>
          <a:noFill/>
          <a:ln w="9525">
            <a:noFill/>
            <a:miter lim="800000"/>
            <a:headEnd/>
            <a:tailEnd/>
          </a:ln>
        </p:spPr>
      </p:pic>
      <p:pic>
        <p:nvPicPr>
          <p:cNvPr id="5" name="4 Resim" descr="C:\Users\oem\Desktop\mantar resimleri-\img0031.jpg"/>
          <p:cNvPicPr/>
          <p:nvPr/>
        </p:nvPicPr>
        <p:blipFill>
          <a:blip r:embed="rId3" cstate="print"/>
          <a:srcRect/>
          <a:stretch>
            <a:fillRect/>
          </a:stretch>
        </p:blipFill>
        <p:spPr bwMode="auto">
          <a:xfrm>
            <a:off x="214282" y="3214686"/>
            <a:ext cx="5238750" cy="3343275"/>
          </a:xfrm>
          <a:prstGeom prst="rect">
            <a:avLst/>
          </a:prstGeom>
          <a:noFill/>
          <a:ln w="9525">
            <a:noFill/>
            <a:miter lim="800000"/>
            <a:headEnd/>
            <a:tailEn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4294967295"/>
          </p:nvPr>
        </p:nvPicPr>
        <p:blipFill>
          <a:blip r:embed="rId2" cstate="print"/>
          <a:srcRect/>
          <a:stretch>
            <a:fillRect/>
          </a:stretch>
        </p:blipFill>
        <p:spPr bwMode="auto">
          <a:xfrm>
            <a:off x="4139952" y="404664"/>
            <a:ext cx="4562475" cy="4054475"/>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323528" y="1196752"/>
            <a:ext cx="3676650" cy="4904978"/>
          </a:xfrm>
          <a:prstGeom prst="rect">
            <a:avLst/>
          </a:prstGeom>
          <a:noFill/>
          <a:ln w="9525">
            <a:noFill/>
            <a:miter lim="800000"/>
            <a:headEnd/>
            <a:tailEnd/>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Pc\Desktop\imagesFNKHZ9F0.jpg"/>
          <p:cNvPicPr>
            <a:picLocks noGrp="1" noChangeAspect="1" noChangeArrowheads="1"/>
          </p:cNvPicPr>
          <p:nvPr>
            <p:ph idx="4294967295"/>
          </p:nvPr>
        </p:nvPicPr>
        <p:blipFill>
          <a:blip r:embed="rId2" cstate="print"/>
          <a:srcRect/>
          <a:stretch>
            <a:fillRect/>
          </a:stretch>
        </p:blipFill>
        <p:spPr bwMode="auto">
          <a:xfrm>
            <a:off x="4788024" y="620688"/>
            <a:ext cx="3929062" cy="4464050"/>
          </a:xfrm>
          <a:prstGeom prst="rect">
            <a:avLst/>
          </a:prstGeom>
          <a:noFill/>
        </p:spPr>
      </p:pic>
      <p:pic>
        <p:nvPicPr>
          <p:cNvPr id="5123" name="Picture 3" descr="C:\Users\Pc\Desktop\images4114RTU7.jpg"/>
          <p:cNvPicPr>
            <a:picLocks noChangeAspect="1" noChangeArrowheads="1"/>
          </p:cNvPicPr>
          <p:nvPr/>
        </p:nvPicPr>
        <p:blipFill>
          <a:blip r:embed="rId3" cstate="print"/>
          <a:srcRect/>
          <a:stretch>
            <a:fillRect/>
          </a:stretch>
        </p:blipFill>
        <p:spPr bwMode="auto">
          <a:xfrm>
            <a:off x="323528" y="332656"/>
            <a:ext cx="3991943" cy="2954038"/>
          </a:xfrm>
          <a:prstGeom prst="rect">
            <a:avLst/>
          </a:prstGeom>
          <a:noFill/>
        </p:spPr>
      </p:pic>
      <p:pic>
        <p:nvPicPr>
          <p:cNvPr id="5124" name="Picture 4" descr="C:\Users\Pc\Desktop\imagesJNFJCU8H.jpg"/>
          <p:cNvPicPr>
            <a:picLocks noChangeAspect="1" noChangeArrowheads="1"/>
          </p:cNvPicPr>
          <p:nvPr/>
        </p:nvPicPr>
        <p:blipFill>
          <a:blip r:embed="rId4" cstate="print"/>
          <a:srcRect/>
          <a:stretch>
            <a:fillRect/>
          </a:stretch>
        </p:blipFill>
        <p:spPr bwMode="auto">
          <a:xfrm>
            <a:off x="785786" y="3387274"/>
            <a:ext cx="3570190" cy="3113560"/>
          </a:xfrm>
          <a:prstGeom prst="rect">
            <a:avLst/>
          </a:prstGeom>
          <a:noFill/>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esktop\tırnak-mantarı-2.png"/>
          <p:cNvPicPr>
            <a:picLocks noGrp="1" noChangeAspect="1" noChangeArrowheads="1"/>
          </p:cNvPicPr>
          <p:nvPr>
            <p:ph idx="4294967295"/>
          </p:nvPr>
        </p:nvPicPr>
        <p:blipFill>
          <a:blip r:embed="rId2" cstate="print"/>
          <a:srcRect/>
          <a:stretch>
            <a:fillRect/>
          </a:stretch>
        </p:blipFill>
        <p:spPr bwMode="auto">
          <a:xfrm>
            <a:off x="5220072" y="260648"/>
            <a:ext cx="3402012" cy="3416300"/>
          </a:xfrm>
          <a:prstGeom prst="rect">
            <a:avLst/>
          </a:prstGeom>
          <a:noFill/>
        </p:spPr>
      </p:pic>
      <p:pic>
        <p:nvPicPr>
          <p:cNvPr id="5123" name="Picture 3" descr="C:\Users\user\Desktop\images.jpg"/>
          <p:cNvPicPr>
            <a:picLocks noChangeAspect="1" noChangeArrowheads="1"/>
          </p:cNvPicPr>
          <p:nvPr/>
        </p:nvPicPr>
        <p:blipFill>
          <a:blip r:embed="rId3" cstate="print"/>
          <a:srcRect/>
          <a:stretch>
            <a:fillRect/>
          </a:stretch>
        </p:blipFill>
        <p:spPr bwMode="auto">
          <a:xfrm>
            <a:off x="395536" y="1988840"/>
            <a:ext cx="4937757" cy="4107705"/>
          </a:xfrm>
          <a:prstGeom prst="rect">
            <a:avLst/>
          </a:prstGeom>
          <a:noFill/>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sz="3600" b="1" dirty="0" smtClean="0">
                <a:solidFill>
                  <a:srgbClr val="FF0000"/>
                </a:solidFill>
              </a:rPr>
              <a:t>TEDAVİ SIRASINDA VE TEDAVİDEN SONRA TIRNAKLARI KORUMAK İÇİN NELER YAPILABİLİR</a:t>
            </a:r>
            <a:r>
              <a:rPr lang="tr-TR" b="1" dirty="0" smtClean="0">
                <a:solidFill>
                  <a:srgbClr val="FF0000"/>
                </a:solidFill>
              </a:rPr>
              <a:t/>
            </a:r>
            <a:br>
              <a:rPr lang="tr-TR" b="1" dirty="0" smtClean="0">
                <a:solidFill>
                  <a:srgbClr val="FF0000"/>
                </a:solidFill>
              </a:rPr>
            </a:br>
            <a:endParaRPr lang="tr-TR" b="1"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fontScale="70000" lnSpcReduction="20000"/>
          </a:bodyPr>
          <a:lstStyle/>
          <a:p>
            <a:r>
              <a:rPr lang="tr-TR" sz="3300" b="1" dirty="0" smtClean="0">
                <a:solidFill>
                  <a:schemeClr val="accent6">
                    <a:lumMod val="50000"/>
                  </a:schemeClr>
                </a:solidFill>
              </a:rPr>
              <a:t>Ayaklarınızı olabildiğince temiz ve kuru tutun</a:t>
            </a:r>
          </a:p>
          <a:p>
            <a:r>
              <a:rPr lang="tr-TR" sz="3300" b="1" dirty="0" smtClean="0">
                <a:solidFill>
                  <a:srgbClr val="333399"/>
                </a:solidFill>
              </a:rPr>
              <a:t>Halka açık yüzme havuzu ve duş alanlarında size ait terlik kullanın</a:t>
            </a:r>
          </a:p>
          <a:p>
            <a:r>
              <a:rPr lang="tr-TR" sz="3300" b="1" dirty="0" smtClean="0">
                <a:solidFill>
                  <a:srgbClr val="FF3399"/>
                </a:solidFill>
              </a:rPr>
              <a:t>Ayak tırnaklarınızı, parmağın ucunu geçmeyecek şekilde düz olarak kesin</a:t>
            </a:r>
          </a:p>
          <a:p>
            <a:r>
              <a:rPr lang="tr-TR" sz="3300" b="1" dirty="0" smtClean="0">
                <a:solidFill>
                  <a:srgbClr val="0000CC"/>
                </a:solidFill>
              </a:rPr>
              <a:t>Manikür ve pedikür için sterilize aletler veya en iyisi kendi aletlerinizi kullandırın</a:t>
            </a:r>
          </a:p>
          <a:p>
            <a:r>
              <a:rPr lang="tr-TR" sz="3300" b="1" dirty="0" smtClean="0"/>
              <a:t>Ayağınıza uyan, sivri burunlu olmayan rahat ayakkabılar giyin</a:t>
            </a:r>
          </a:p>
          <a:p>
            <a:r>
              <a:rPr lang="tr-TR" sz="3300" b="1" dirty="0" smtClean="0">
                <a:solidFill>
                  <a:schemeClr val="accent6">
                    <a:lumMod val="75000"/>
                  </a:schemeClr>
                </a:solidFill>
              </a:rPr>
              <a:t>Ev içinde kullanılan havluların kişiye özel olmasına dikkat edin</a:t>
            </a:r>
          </a:p>
          <a:p>
            <a:r>
              <a:rPr lang="tr-TR" sz="3300" b="1" dirty="0" smtClean="0">
                <a:solidFill>
                  <a:srgbClr val="C00000"/>
                </a:solidFill>
              </a:rPr>
              <a:t>Ayaklarınız çok fazla terliyor/nemli kalıyor ise gün içinde çoraplarınızı değiştirin</a:t>
            </a:r>
          </a:p>
          <a:p>
            <a:r>
              <a:rPr lang="tr-TR" sz="3300" b="1" dirty="0" smtClean="0"/>
              <a:t>Ayak, çorap ve ayakkabı için mantardan koruyucu spreyler kullanın</a:t>
            </a:r>
          </a:p>
          <a:p>
            <a:pPr>
              <a:buNone/>
            </a:pPr>
            <a:endParaRPr lang="tr-TR" sz="3300" b="1"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MANTARDAN KORUNMA YÖNTEMLERİ ÖNERİLER</a:t>
            </a:r>
            <a:endParaRPr lang="tr-TR" sz="3600"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solidFill>
                  <a:srgbClr val="7030A0"/>
                </a:solidFill>
              </a:rPr>
              <a:t>Vücudun diğer kısımlarında olan </a:t>
            </a:r>
            <a:r>
              <a:rPr lang="tr-TR" b="1" dirty="0" err="1" smtClean="0">
                <a:solidFill>
                  <a:srgbClr val="7030A0"/>
                </a:solidFill>
              </a:rPr>
              <a:t>tinea</a:t>
            </a:r>
            <a:r>
              <a:rPr lang="tr-TR" b="1" dirty="0" smtClean="0">
                <a:solidFill>
                  <a:srgbClr val="7030A0"/>
                </a:solidFill>
              </a:rPr>
              <a:t> </a:t>
            </a:r>
            <a:r>
              <a:rPr lang="tr-TR" b="1" dirty="0" err="1" smtClean="0">
                <a:solidFill>
                  <a:srgbClr val="7030A0"/>
                </a:solidFill>
              </a:rPr>
              <a:t>pedis</a:t>
            </a:r>
            <a:r>
              <a:rPr lang="tr-TR" b="1" dirty="0" smtClean="0">
                <a:solidFill>
                  <a:srgbClr val="7030A0"/>
                </a:solidFill>
              </a:rPr>
              <a:t> ve yüzeysel mantar enfeksiyonlarına baktırıp tedavi ettirilmelidir</a:t>
            </a:r>
          </a:p>
          <a:p>
            <a:r>
              <a:rPr lang="tr-TR" b="1" dirty="0" smtClean="0"/>
              <a:t>Aile üyeleri veya yakın arkadaşlar, temas eden kişiler </a:t>
            </a:r>
            <a:r>
              <a:rPr lang="tr-TR" b="1" dirty="0" err="1" smtClean="0"/>
              <a:t>Tinea</a:t>
            </a:r>
            <a:r>
              <a:rPr lang="tr-TR" b="1" dirty="0" smtClean="0"/>
              <a:t> </a:t>
            </a:r>
            <a:r>
              <a:rPr lang="tr-TR" b="1" dirty="0" err="1" smtClean="0"/>
              <a:t>pedis</a:t>
            </a:r>
            <a:r>
              <a:rPr lang="tr-TR" b="1" dirty="0" smtClean="0"/>
              <a:t> ve tırnak mantarı için tedavi edilmelidir </a:t>
            </a:r>
          </a:p>
          <a:p>
            <a:r>
              <a:rPr lang="tr-TR" b="1" dirty="0" err="1" smtClean="0"/>
              <a:t>Enfekte</a:t>
            </a:r>
            <a:r>
              <a:rPr lang="tr-TR" b="1" dirty="0" smtClean="0"/>
              <a:t> bölgeyi temiz ve kuru tutun </a:t>
            </a:r>
          </a:p>
          <a:p>
            <a:endParaRPr lang="tr-TR" sz="2400" b="1"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MANTARDAN KORUNMA YÖNTEMLERİ ÖNERİLER</a:t>
            </a:r>
            <a:endParaRPr lang="tr-TR" sz="3600" dirty="0"/>
          </a:p>
        </p:txBody>
      </p:sp>
      <p:sp>
        <p:nvSpPr>
          <p:cNvPr id="3" name="2 İçerik Yer Tutucusu"/>
          <p:cNvSpPr>
            <a:spLocks noGrp="1"/>
          </p:cNvSpPr>
          <p:nvPr>
            <p:ph idx="1"/>
          </p:nvPr>
        </p:nvSpPr>
        <p:spPr/>
        <p:txBody>
          <a:bodyPr>
            <a:normAutofit/>
          </a:bodyPr>
          <a:lstStyle/>
          <a:p>
            <a:r>
              <a:rPr lang="tr-TR" b="1" dirty="0" smtClean="0">
                <a:solidFill>
                  <a:srgbClr val="7030A0"/>
                </a:solidFill>
              </a:rPr>
              <a:t>TIRNAKLAR KISA VE DÜZ KESİLMELİDİR</a:t>
            </a:r>
          </a:p>
          <a:p>
            <a:r>
              <a:rPr lang="tr-TR" b="1" dirty="0" smtClean="0">
                <a:solidFill>
                  <a:srgbClr val="FF0066"/>
                </a:solidFill>
              </a:rPr>
              <a:t>KENARLARI YUVARLAK KESİLMEMELİDİR</a:t>
            </a:r>
          </a:p>
          <a:p>
            <a:r>
              <a:rPr lang="tr-TR" b="1" dirty="0" smtClean="0"/>
              <a:t>Ayak tırnaklarınızı, parmağın ucunu geçmeyecek şekilde düz olarak kesin</a:t>
            </a:r>
            <a:endParaRPr lang="tr-TR" b="1" dirty="0" smtClean="0">
              <a:solidFill>
                <a:srgbClr val="FF0066"/>
              </a:solidFill>
            </a:endParaRPr>
          </a:p>
          <a:p>
            <a:r>
              <a:rPr lang="tr-TR" b="1" dirty="0" smtClean="0"/>
              <a:t>Normal ve anormal tırnakları kesmek için farklı tırnak makasları kullanılmalıdır</a:t>
            </a:r>
          </a:p>
          <a:p>
            <a:r>
              <a:rPr lang="tr-TR" b="1" dirty="0" smtClean="0"/>
              <a:t>Manikür ve pedikür için sterilize aletler veya en iyisi kendi aletlerinizi kullandırın</a:t>
            </a:r>
          </a:p>
          <a:p>
            <a:endParaRPr lang="tr-TR"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MANTARDAN KORUNMA YÖNTEMLERİ ÖNERİLER</a:t>
            </a:r>
            <a:endParaRPr lang="tr-TR" sz="3600"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t>Ayaklarınızı olabildiğince temiz ve kuru tutun</a:t>
            </a:r>
          </a:p>
          <a:p>
            <a:r>
              <a:rPr lang="es-ES" b="1" dirty="0" smtClean="0"/>
              <a:t>Günde en az bir defa yıkayın </a:t>
            </a:r>
          </a:p>
          <a:p>
            <a:r>
              <a:rPr lang="tr-TR" b="1" dirty="0" smtClean="0"/>
              <a:t>Özellikle başparmak çevresini ve deri </a:t>
            </a:r>
            <a:r>
              <a:rPr lang="tr-TR" b="1" dirty="0" err="1" smtClean="0"/>
              <a:t>katlantı</a:t>
            </a:r>
            <a:r>
              <a:rPr lang="tr-TR" b="1" dirty="0" smtClean="0"/>
              <a:t> bölgeleri iyice kurulayın </a:t>
            </a:r>
          </a:p>
          <a:p>
            <a:r>
              <a:rPr lang="tr-TR" b="1" dirty="0" smtClean="0"/>
              <a:t>Çorap ve ayakkabı giymeden önce ayaklarınızın tamamen kuru olduğundan emin olun </a:t>
            </a:r>
          </a:p>
          <a:p>
            <a:r>
              <a:rPr lang="tr-TR" b="1" dirty="0" smtClean="0"/>
              <a:t>Pamuklu çoraplar kullanın </a:t>
            </a:r>
          </a:p>
          <a:p>
            <a:pPr>
              <a:buNone/>
            </a:pPr>
            <a:endParaRPr lang="tr-TR" b="1" dirty="0" smtClean="0"/>
          </a:p>
          <a:p>
            <a:endParaRPr lang="tr-TR" b="1"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MANTARDAN KORUNMA YÖNTEMLERİ ÖNERİLER</a:t>
            </a:r>
            <a:endParaRPr lang="tr-TR" sz="3600" dirty="0"/>
          </a:p>
        </p:txBody>
      </p:sp>
      <p:sp>
        <p:nvSpPr>
          <p:cNvPr id="3" name="2 İçerik Yer Tutucusu"/>
          <p:cNvSpPr>
            <a:spLocks noGrp="1"/>
          </p:cNvSpPr>
          <p:nvPr>
            <p:ph idx="1"/>
          </p:nvPr>
        </p:nvSpPr>
        <p:spPr/>
        <p:txBody>
          <a:bodyPr/>
          <a:lstStyle/>
          <a:p>
            <a:r>
              <a:rPr lang="tr-TR" b="1" dirty="0" smtClean="0"/>
              <a:t>Çorabınızı günlük olarak değiştirin </a:t>
            </a:r>
          </a:p>
          <a:p>
            <a:r>
              <a:rPr lang="tr-TR" b="1" dirty="0" smtClean="0"/>
              <a:t>Sentetik materyalden yapılmış ayakkabı, bot vb. kullanmamaya çalışın, deri tercih edin </a:t>
            </a:r>
          </a:p>
          <a:p>
            <a:r>
              <a:rPr lang="tr-TR" b="1" dirty="0" smtClean="0"/>
              <a:t>Mümkünse her gün farklı ayakkabı giymeye çalışın (diğerinin içi iyice kurusun) </a:t>
            </a:r>
          </a:p>
          <a:p>
            <a:r>
              <a:rPr lang="tr-TR" b="1" dirty="0" err="1" smtClean="0"/>
              <a:t>Antifungal</a:t>
            </a:r>
            <a:r>
              <a:rPr lang="tr-TR" b="1" dirty="0" smtClean="0"/>
              <a:t> pudralarla ayağınızı ve ayakkabınızın içini pudralayın </a:t>
            </a:r>
          </a:p>
          <a:p>
            <a:r>
              <a:rPr lang="tr-TR" b="1" dirty="0" smtClean="0"/>
              <a:t>Ayağınızı havalandırın </a:t>
            </a:r>
          </a:p>
          <a:p>
            <a:pPr>
              <a:buNone/>
            </a:pPr>
            <a:endParaRPr lang="tr-TR" b="1"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MANTARDAN KORUNMA YÖNTEMLERİ ÖNERİLER</a:t>
            </a:r>
            <a:endParaRPr lang="tr-TR" sz="3600" dirty="0"/>
          </a:p>
        </p:txBody>
      </p:sp>
      <p:sp>
        <p:nvSpPr>
          <p:cNvPr id="3" name="2 İçerik Yer Tutucusu"/>
          <p:cNvSpPr>
            <a:spLocks noGrp="1"/>
          </p:cNvSpPr>
          <p:nvPr>
            <p:ph idx="1"/>
          </p:nvPr>
        </p:nvSpPr>
        <p:spPr/>
        <p:txBody>
          <a:bodyPr>
            <a:normAutofit fontScale="92500" lnSpcReduction="10000"/>
          </a:bodyPr>
          <a:lstStyle/>
          <a:p>
            <a:r>
              <a:rPr lang="tr-TR" b="1" dirty="0" smtClean="0"/>
              <a:t>Halka açık yüzme havuzu ve duş alanlarında size ait terlik kullanın</a:t>
            </a:r>
          </a:p>
          <a:p>
            <a:r>
              <a:rPr lang="tr-TR" b="1" dirty="0" smtClean="0"/>
              <a:t>Kişiye özel havlu kullanın </a:t>
            </a:r>
          </a:p>
          <a:p>
            <a:r>
              <a:rPr lang="tr-TR" b="1" dirty="0" smtClean="0"/>
              <a:t>Duş, banyo ve buralarda kullanılan paspasları dezenfektanlarla yıkayın </a:t>
            </a:r>
          </a:p>
          <a:p>
            <a:r>
              <a:rPr lang="tr-TR" b="1" dirty="0" smtClean="0"/>
              <a:t>Çorap,havlu, banyo paspası ve benzeri materyalleri en az 60 °C’ de yıkayın </a:t>
            </a:r>
          </a:p>
          <a:p>
            <a:r>
              <a:rPr lang="tr-TR" b="1" dirty="0" smtClean="0"/>
              <a:t>Çıplak ayakla gezilen yerleri düzenli olarak temizleyin </a:t>
            </a:r>
          </a:p>
          <a:p>
            <a:pPr>
              <a:buNone/>
            </a:pPr>
            <a:endParaRPr lang="tr-TR" b="1"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user\Desktop\tirnakta-duzelme.jpg"/>
          <p:cNvPicPr>
            <a:picLocks noGrp="1" noChangeAspect="1" noChangeArrowheads="1"/>
          </p:cNvPicPr>
          <p:nvPr>
            <p:ph idx="4294967295"/>
          </p:nvPr>
        </p:nvPicPr>
        <p:blipFill>
          <a:blip r:embed="rId2" cstate="print"/>
          <a:srcRect/>
          <a:stretch>
            <a:fillRect/>
          </a:stretch>
        </p:blipFill>
        <p:spPr bwMode="auto">
          <a:xfrm>
            <a:off x="827584" y="332656"/>
            <a:ext cx="7559675" cy="6192837"/>
          </a:xfrm>
          <a:prstGeom prst="rect">
            <a:avLst/>
          </a:prstGeom>
          <a:noFill/>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600" b="1" dirty="0" smtClean="0">
                <a:solidFill>
                  <a:srgbClr val="FF0066"/>
                </a:solidFill>
              </a:rPr>
              <a:t>TIRNAK MANTARI TEDAVİ EDİLMEZSE SONUÇLAR NELER OLABİLİR?</a:t>
            </a:r>
            <a:endParaRPr lang="tr-TR" sz="3600" b="1" dirty="0">
              <a:solidFill>
                <a:srgbClr val="FF0066"/>
              </a:solidFill>
            </a:endParaRPr>
          </a:p>
        </p:txBody>
      </p:sp>
      <p:sp>
        <p:nvSpPr>
          <p:cNvPr id="3" name="2 İçerik Yer Tutucusu"/>
          <p:cNvSpPr>
            <a:spLocks noGrp="1"/>
          </p:cNvSpPr>
          <p:nvPr>
            <p:ph idx="1"/>
          </p:nvPr>
        </p:nvSpPr>
        <p:spPr/>
        <p:txBody>
          <a:bodyPr/>
          <a:lstStyle/>
          <a:p>
            <a:r>
              <a:rPr lang="tr-TR" b="1" dirty="0" smtClean="0"/>
              <a:t>Tedavi edilmediği zaman üzerinde bakterilerin üremesi ile ikincil bakteriyel enfeksiyonlar olabilir</a:t>
            </a:r>
          </a:p>
        </p:txBody>
      </p:sp>
      <p:pic>
        <p:nvPicPr>
          <p:cNvPr id="4" name="Picture 3" descr="C:\Users\user\Desktop\tirnak-mantari-tedavisi.jpg"/>
          <p:cNvPicPr>
            <a:picLocks noChangeAspect="1" noChangeArrowheads="1"/>
          </p:cNvPicPr>
          <p:nvPr/>
        </p:nvPicPr>
        <p:blipFill>
          <a:blip r:embed="rId2" cstate="print"/>
          <a:srcRect/>
          <a:stretch>
            <a:fillRect/>
          </a:stretch>
        </p:blipFill>
        <p:spPr bwMode="auto">
          <a:xfrm>
            <a:off x="2843808" y="3429000"/>
            <a:ext cx="5614285" cy="3107829"/>
          </a:xfrm>
          <a:prstGeom prst="rect">
            <a:avLst/>
          </a:prstGeom>
          <a:noFill/>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tr-TR" b="1" dirty="0" smtClean="0">
                <a:solidFill>
                  <a:srgbClr val="FF0000"/>
                </a:solidFill>
              </a:rPr>
              <a:t>İNSANLARDAKİ MANTAR HASTALIKLAR</a:t>
            </a:r>
            <a:endParaRPr lang="tr-TR" b="1" dirty="0">
              <a:solidFill>
                <a:srgbClr val="FF0000"/>
              </a:solidFill>
            </a:endParaRPr>
          </a:p>
        </p:txBody>
      </p:sp>
      <p:sp>
        <p:nvSpPr>
          <p:cNvPr id="33795" name="Rectangle 3"/>
          <p:cNvSpPr>
            <a:spLocks noGrp="1" noChangeArrowheads="1"/>
          </p:cNvSpPr>
          <p:nvPr>
            <p:ph type="body" idx="1"/>
          </p:nvPr>
        </p:nvSpPr>
        <p:spPr>
          <a:xfrm>
            <a:off x="323850" y="1844824"/>
            <a:ext cx="8229600" cy="4608512"/>
          </a:xfrm>
        </p:spPr>
        <p:txBody>
          <a:bodyPr>
            <a:normAutofit lnSpcReduction="10000"/>
          </a:bodyPr>
          <a:lstStyle/>
          <a:p>
            <a:pPr>
              <a:buNone/>
            </a:pPr>
            <a:r>
              <a:rPr lang="tr-TR" dirty="0"/>
              <a:t>	</a:t>
            </a:r>
            <a:r>
              <a:rPr lang="tr-TR" b="1" dirty="0" smtClean="0"/>
              <a:t>Vücuda </a:t>
            </a:r>
            <a:r>
              <a:rPr lang="tr-TR" b="1" dirty="0"/>
              <a:t>direkt </a:t>
            </a:r>
            <a:r>
              <a:rPr lang="tr-TR" b="1" dirty="0" smtClean="0"/>
              <a:t>yerleşerek</a:t>
            </a:r>
          </a:p>
          <a:p>
            <a:pPr>
              <a:buNone/>
            </a:pPr>
            <a:r>
              <a:rPr lang="tr-TR" b="1" dirty="0" smtClean="0"/>
              <a:t>			(</a:t>
            </a:r>
            <a:r>
              <a:rPr lang="tr-TR" b="1" dirty="0"/>
              <a:t>yerleştiği yere göre isimlendirilir</a:t>
            </a:r>
            <a:r>
              <a:rPr lang="tr-TR" b="1" dirty="0" smtClean="0"/>
              <a:t>)</a:t>
            </a:r>
          </a:p>
          <a:p>
            <a:pPr>
              <a:buNone/>
            </a:pPr>
            <a:endParaRPr lang="tr-TR" b="1" dirty="0"/>
          </a:p>
          <a:p>
            <a:pPr lvl="1"/>
            <a:r>
              <a:rPr lang="tr-TR" b="1" dirty="0" err="1"/>
              <a:t>Yüzeyel</a:t>
            </a:r>
            <a:r>
              <a:rPr lang="tr-TR" b="1" dirty="0"/>
              <a:t> mikozlar</a:t>
            </a:r>
          </a:p>
          <a:p>
            <a:pPr lvl="1"/>
            <a:r>
              <a:rPr lang="tr-TR" b="1" dirty="0" err="1" smtClean="0"/>
              <a:t>Subkutan</a:t>
            </a:r>
            <a:r>
              <a:rPr lang="tr-TR" b="1" dirty="0" smtClean="0"/>
              <a:t>  ("deri altı ) </a:t>
            </a:r>
            <a:r>
              <a:rPr lang="tr-TR" b="1" dirty="0"/>
              <a:t>mikozlar</a:t>
            </a:r>
          </a:p>
          <a:p>
            <a:pPr lvl="1"/>
            <a:r>
              <a:rPr lang="tr-TR" b="1" dirty="0"/>
              <a:t>Derin </a:t>
            </a:r>
            <a:r>
              <a:rPr lang="tr-TR" b="1" dirty="0" smtClean="0"/>
              <a:t>mikozlar VEYA Sistemik mikozlar </a:t>
            </a:r>
          </a:p>
          <a:p>
            <a:pPr lvl="1">
              <a:buNone/>
            </a:pPr>
            <a:r>
              <a:rPr lang="tr-TR" b="1" dirty="0" smtClean="0"/>
              <a:t>	(</a:t>
            </a:r>
            <a:r>
              <a:rPr lang="tr-TR" sz="2000" b="1" dirty="0" smtClean="0"/>
              <a:t>Vücudu tümüyle tutan,tüm vücudu etkileyen demektir)				</a:t>
            </a:r>
          </a:p>
          <a:p>
            <a:pPr lvl="1"/>
            <a:r>
              <a:rPr lang="tr-TR" b="1" dirty="0" smtClean="0"/>
              <a:t>Fırsatçı </a:t>
            </a:r>
            <a:r>
              <a:rPr lang="tr-TR" b="1" dirty="0"/>
              <a:t>mikozlar</a:t>
            </a:r>
          </a:p>
          <a:p>
            <a:pPr lvl="1">
              <a:buFontTx/>
              <a:buNone/>
            </a:pPr>
            <a:endParaRPr lang="tr-TR"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amond(in)">
                                      <p:cBhvr>
                                        <p:cTn id="7" dur="20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diamond(in)">
                                      <p:cBhvr>
                                        <p:cTn id="12" dur="20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diamond(in)">
                                      <p:cBhvr>
                                        <p:cTn id="17" dur="2000"/>
                                        <p:tgtEl>
                                          <p:spTgt spid="337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3795">
                                            <p:txEl>
                                              <p:pRg st="4" end="4"/>
                                            </p:txEl>
                                          </p:spTgt>
                                        </p:tgtEl>
                                        <p:attrNameLst>
                                          <p:attrName>style.visibility</p:attrName>
                                        </p:attrNameLst>
                                      </p:cBhvr>
                                      <p:to>
                                        <p:strVal val="visible"/>
                                      </p:to>
                                    </p:set>
                                    <p:animEffect transition="in" filter="diamond(in)">
                                      <p:cBhvr>
                                        <p:cTn id="22" dur="2000"/>
                                        <p:tgtEl>
                                          <p:spTgt spid="33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3795">
                                            <p:txEl>
                                              <p:pRg st="5" end="5"/>
                                            </p:txEl>
                                          </p:spTgt>
                                        </p:tgtEl>
                                        <p:attrNameLst>
                                          <p:attrName>style.visibility</p:attrName>
                                        </p:attrNameLst>
                                      </p:cBhvr>
                                      <p:to>
                                        <p:strVal val="visible"/>
                                      </p:to>
                                    </p:set>
                                    <p:animEffect transition="in" filter="diamond(in)">
                                      <p:cBhvr>
                                        <p:cTn id="27" dur="2000"/>
                                        <p:tgtEl>
                                          <p:spTgt spid="33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3795">
                                            <p:txEl>
                                              <p:pRg st="6" end="6"/>
                                            </p:txEl>
                                          </p:spTgt>
                                        </p:tgtEl>
                                        <p:attrNameLst>
                                          <p:attrName>style.visibility</p:attrName>
                                        </p:attrNameLst>
                                      </p:cBhvr>
                                      <p:to>
                                        <p:strVal val="visible"/>
                                      </p:to>
                                    </p:set>
                                    <p:animEffect transition="in" filter="diamond(in)">
                                      <p:cBhvr>
                                        <p:cTn id="32" dur="2000"/>
                                        <p:tgtEl>
                                          <p:spTgt spid="337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3795">
                                            <p:txEl>
                                              <p:pRg st="7" end="7"/>
                                            </p:txEl>
                                          </p:spTgt>
                                        </p:tgtEl>
                                        <p:attrNameLst>
                                          <p:attrName>style.visibility</p:attrName>
                                        </p:attrNameLst>
                                      </p:cBhvr>
                                      <p:to>
                                        <p:strVal val="visible"/>
                                      </p:to>
                                    </p:set>
                                    <p:animEffect transition="in" filter="diamond(in)">
                                      <p:cBhvr>
                                        <p:cTn id="37" dur="20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tr-TR" b="1" dirty="0" smtClean="0">
                <a:solidFill>
                  <a:srgbClr val="FF0000"/>
                </a:solidFill>
              </a:rPr>
              <a:t>İNSANLARDAKİ MANTAR HASTALIKLAR</a:t>
            </a:r>
            <a:endParaRPr lang="tr-TR" b="1" dirty="0">
              <a:solidFill>
                <a:srgbClr val="FF0000"/>
              </a:solidFill>
            </a:endParaRPr>
          </a:p>
        </p:txBody>
      </p:sp>
      <p:sp>
        <p:nvSpPr>
          <p:cNvPr id="33795" name="Rectangle 3"/>
          <p:cNvSpPr>
            <a:spLocks noGrp="1" noChangeArrowheads="1"/>
          </p:cNvSpPr>
          <p:nvPr>
            <p:ph type="body" idx="1"/>
          </p:nvPr>
        </p:nvSpPr>
        <p:spPr>
          <a:xfrm>
            <a:off x="323850" y="1844824"/>
            <a:ext cx="8229600" cy="4608512"/>
          </a:xfrm>
        </p:spPr>
        <p:txBody>
          <a:bodyPr>
            <a:normAutofit lnSpcReduction="10000"/>
          </a:bodyPr>
          <a:lstStyle/>
          <a:p>
            <a:pPr>
              <a:buNone/>
            </a:pPr>
            <a:r>
              <a:rPr lang="tr-TR" dirty="0"/>
              <a:t>	</a:t>
            </a:r>
            <a:r>
              <a:rPr lang="tr-TR" b="1" dirty="0" smtClean="0"/>
              <a:t>Vücuda </a:t>
            </a:r>
            <a:r>
              <a:rPr lang="tr-TR" b="1" dirty="0"/>
              <a:t>direkt </a:t>
            </a:r>
            <a:r>
              <a:rPr lang="tr-TR" b="1" dirty="0" smtClean="0"/>
              <a:t>yerleşerek</a:t>
            </a:r>
          </a:p>
          <a:p>
            <a:pPr>
              <a:buNone/>
            </a:pPr>
            <a:r>
              <a:rPr lang="tr-TR" b="1" dirty="0" smtClean="0"/>
              <a:t>			(</a:t>
            </a:r>
            <a:r>
              <a:rPr lang="tr-TR" b="1" dirty="0"/>
              <a:t>yerleştiği yere göre isimlendirilir</a:t>
            </a:r>
            <a:r>
              <a:rPr lang="tr-TR" b="1" dirty="0" smtClean="0"/>
              <a:t>)</a:t>
            </a:r>
          </a:p>
          <a:p>
            <a:pPr>
              <a:buNone/>
            </a:pPr>
            <a:endParaRPr lang="tr-TR" b="1" dirty="0"/>
          </a:p>
          <a:p>
            <a:pPr lvl="1"/>
            <a:r>
              <a:rPr lang="tr-TR" b="1" dirty="0" err="1"/>
              <a:t>Yüzeyel</a:t>
            </a:r>
            <a:r>
              <a:rPr lang="tr-TR" b="1" dirty="0"/>
              <a:t> mikozlar</a:t>
            </a:r>
          </a:p>
          <a:p>
            <a:pPr lvl="1"/>
            <a:r>
              <a:rPr lang="tr-TR" b="1" dirty="0" err="1" smtClean="0"/>
              <a:t>Subkutan</a:t>
            </a:r>
            <a:r>
              <a:rPr lang="tr-TR" b="1" dirty="0" smtClean="0"/>
              <a:t>  ( deri altı ) </a:t>
            </a:r>
            <a:r>
              <a:rPr lang="tr-TR" b="1" dirty="0"/>
              <a:t>mikozlar</a:t>
            </a:r>
          </a:p>
          <a:p>
            <a:pPr lvl="1"/>
            <a:r>
              <a:rPr lang="tr-TR" b="1" dirty="0"/>
              <a:t>Derin </a:t>
            </a:r>
            <a:r>
              <a:rPr lang="tr-TR" b="1" dirty="0" smtClean="0"/>
              <a:t>mikozlar VEYA Sistemik mikozlar </a:t>
            </a:r>
          </a:p>
          <a:p>
            <a:pPr lvl="1">
              <a:buNone/>
            </a:pPr>
            <a:r>
              <a:rPr lang="tr-TR" b="1" dirty="0" smtClean="0"/>
              <a:t>	(</a:t>
            </a:r>
            <a:r>
              <a:rPr lang="tr-TR" sz="2000" b="1" dirty="0" smtClean="0"/>
              <a:t>Vücudu tümüyle tutan,tüm vücudu etkileyen demektir)				</a:t>
            </a:r>
          </a:p>
          <a:p>
            <a:pPr lvl="1"/>
            <a:r>
              <a:rPr lang="tr-TR" b="1" dirty="0" smtClean="0"/>
              <a:t>Fırsatçı </a:t>
            </a:r>
            <a:r>
              <a:rPr lang="tr-TR" b="1" dirty="0"/>
              <a:t>mikozlar</a:t>
            </a:r>
          </a:p>
          <a:p>
            <a:pPr lvl="1">
              <a:buFontTx/>
              <a:buNone/>
            </a:pPr>
            <a:endParaRPr lang="tr-TR"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amond(in)">
                                      <p:cBhvr>
                                        <p:cTn id="7" dur="20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diamond(in)">
                                      <p:cBhvr>
                                        <p:cTn id="12" dur="20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diamond(in)">
                                      <p:cBhvr>
                                        <p:cTn id="17" dur="2000"/>
                                        <p:tgtEl>
                                          <p:spTgt spid="337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3795">
                                            <p:txEl>
                                              <p:pRg st="4" end="4"/>
                                            </p:txEl>
                                          </p:spTgt>
                                        </p:tgtEl>
                                        <p:attrNameLst>
                                          <p:attrName>style.visibility</p:attrName>
                                        </p:attrNameLst>
                                      </p:cBhvr>
                                      <p:to>
                                        <p:strVal val="visible"/>
                                      </p:to>
                                    </p:set>
                                    <p:animEffect transition="in" filter="diamond(in)">
                                      <p:cBhvr>
                                        <p:cTn id="22" dur="2000"/>
                                        <p:tgtEl>
                                          <p:spTgt spid="33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3795">
                                            <p:txEl>
                                              <p:pRg st="5" end="5"/>
                                            </p:txEl>
                                          </p:spTgt>
                                        </p:tgtEl>
                                        <p:attrNameLst>
                                          <p:attrName>style.visibility</p:attrName>
                                        </p:attrNameLst>
                                      </p:cBhvr>
                                      <p:to>
                                        <p:strVal val="visible"/>
                                      </p:to>
                                    </p:set>
                                    <p:animEffect transition="in" filter="diamond(in)">
                                      <p:cBhvr>
                                        <p:cTn id="27" dur="2000"/>
                                        <p:tgtEl>
                                          <p:spTgt spid="33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3795">
                                            <p:txEl>
                                              <p:pRg st="6" end="6"/>
                                            </p:txEl>
                                          </p:spTgt>
                                        </p:tgtEl>
                                        <p:attrNameLst>
                                          <p:attrName>style.visibility</p:attrName>
                                        </p:attrNameLst>
                                      </p:cBhvr>
                                      <p:to>
                                        <p:strVal val="visible"/>
                                      </p:to>
                                    </p:set>
                                    <p:animEffect transition="in" filter="diamond(in)">
                                      <p:cBhvr>
                                        <p:cTn id="32" dur="2000"/>
                                        <p:tgtEl>
                                          <p:spTgt spid="337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3795">
                                            <p:txEl>
                                              <p:pRg st="7" end="7"/>
                                            </p:txEl>
                                          </p:spTgt>
                                        </p:tgtEl>
                                        <p:attrNameLst>
                                          <p:attrName>style.visibility</p:attrName>
                                        </p:attrNameLst>
                                      </p:cBhvr>
                                      <p:to>
                                        <p:strVal val="visible"/>
                                      </p:to>
                                    </p:set>
                                    <p:animEffect transition="in" filter="diamond(in)">
                                      <p:cBhvr>
                                        <p:cTn id="37" dur="20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pPr lvl="1" algn="ctr" rtl="0">
              <a:spcBef>
                <a:spcPct val="0"/>
              </a:spcBef>
            </a:pPr>
            <a:r>
              <a:rPr lang="tr-TR" sz="4000" b="1" dirty="0" smtClean="0"/>
              <a:t/>
            </a:r>
            <a:br>
              <a:rPr lang="tr-TR" sz="4000" b="1" dirty="0" smtClean="0"/>
            </a:br>
            <a:r>
              <a:rPr lang="tr-TR" sz="4000" b="1" dirty="0" smtClean="0">
                <a:solidFill>
                  <a:srgbClr val="FF0000"/>
                </a:solidFill>
              </a:rPr>
              <a:t>SUBKUTAN  </a:t>
            </a:r>
            <a:br>
              <a:rPr lang="tr-TR" sz="4000" b="1" dirty="0" smtClean="0">
                <a:solidFill>
                  <a:srgbClr val="FF0000"/>
                </a:solidFill>
              </a:rPr>
            </a:br>
            <a:r>
              <a:rPr lang="tr-TR" sz="4000" b="1" dirty="0" smtClean="0">
                <a:solidFill>
                  <a:srgbClr val="FF0000"/>
                </a:solidFill>
              </a:rPr>
              <a:t>DERİ ALTI MİKOZLAR</a:t>
            </a:r>
            <a:r>
              <a:rPr lang="tr-TR" sz="4000" b="1" dirty="0" smtClean="0"/>
              <a:t/>
            </a:r>
            <a:br>
              <a:rPr lang="tr-TR" sz="4000" b="1" dirty="0" smtClean="0"/>
            </a:br>
            <a:endParaRPr lang="tr-TR" sz="4000" dirty="0"/>
          </a:p>
        </p:txBody>
      </p:sp>
      <p:sp>
        <p:nvSpPr>
          <p:cNvPr id="3" name="2 İçerik Yer Tutucusu"/>
          <p:cNvSpPr>
            <a:spLocks noGrp="1"/>
          </p:cNvSpPr>
          <p:nvPr>
            <p:ph idx="1"/>
          </p:nvPr>
        </p:nvSpPr>
        <p:spPr/>
        <p:txBody>
          <a:bodyPr>
            <a:normAutofit/>
          </a:bodyPr>
          <a:lstStyle/>
          <a:p>
            <a:r>
              <a:rPr lang="tr-TR" b="1" dirty="0" smtClean="0"/>
              <a:t>Deri yoluyla girer</a:t>
            </a:r>
          </a:p>
          <a:p>
            <a:r>
              <a:rPr lang="tr-TR" b="1" dirty="0" smtClean="0"/>
              <a:t>Deri altı doku,kas ve zarın dahil olduğu enfeksiyonlardır</a:t>
            </a:r>
          </a:p>
          <a:p>
            <a:r>
              <a:rPr lang="tr-TR" b="1" dirty="0" smtClean="0"/>
              <a:t>Tedavisi zor </a:t>
            </a:r>
            <a:r>
              <a:rPr lang="tr-TR" b="1" dirty="0" err="1" smtClean="0"/>
              <a:t>debridman</a:t>
            </a:r>
            <a:r>
              <a:rPr lang="tr-TR" b="1" dirty="0" smtClean="0"/>
              <a:t> gerekebilir</a:t>
            </a:r>
          </a:p>
          <a:p>
            <a:r>
              <a:rPr lang="tr-TR" b="1" dirty="0" smtClean="0"/>
              <a:t>Derin </a:t>
            </a:r>
            <a:r>
              <a:rPr lang="tr-TR" b="1" dirty="0" err="1" smtClean="0"/>
              <a:t>dermis</a:t>
            </a:r>
            <a:r>
              <a:rPr lang="tr-TR" b="1" dirty="0" smtClean="0"/>
              <a:t> ve deri altı dokuda </a:t>
            </a:r>
            <a:r>
              <a:rPr lang="tr-TR" b="1" dirty="0" err="1" smtClean="0"/>
              <a:t>infeksiyon</a:t>
            </a:r>
            <a:r>
              <a:rPr lang="tr-TR" b="1" dirty="0" smtClean="0"/>
              <a:t> yaparlar</a:t>
            </a:r>
          </a:p>
          <a:p>
            <a:pPr>
              <a:buNone/>
            </a:pPr>
            <a:r>
              <a:rPr lang="tr-TR" dirty="0" smtClean="0"/>
              <a:t>		</a:t>
            </a:r>
            <a:endParaRPr lang="tr-TR"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NASIL BULAŞIR VE EN ÇOK KİMLERDE GÖRÜLÜR?</a:t>
            </a:r>
            <a:endParaRPr lang="tr-TR" sz="3600" b="1" dirty="0">
              <a:solidFill>
                <a:srgbClr val="FF0000"/>
              </a:solidFill>
            </a:endParaRPr>
          </a:p>
        </p:txBody>
      </p:sp>
      <p:sp>
        <p:nvSpPr>
          <p:cNvPr id="3" name="2 İçerik Yer Tutucusu"/>
          <p:cNvSpPr>
            <a:spLocks noGrp="1"/>
          </p:cNvSpPr>
          <p:nvPr>
            <p:ph idx="1"/>
          </p:nvPr>
        </p:nvSpPr>
        <p:spPr>
          <a:xfrm>
            <a:off x="457200" y="1600200"/>
            <a:ext cx="8229600" cy="4781128"/>
          </a:xfrm>
        </p:spPr>
        <p:txBody>
          <a:bodyPr>
            <a:normAutofit fontScale="92500" lnSpcReduction="20000"/>
          </a:bodyPr>
          <a:lstStyle/>
          <a:p>
            <a:r>
              <a:rPr lang="tr-TR" b="1" dirty="0" smtClean="0"/>
              <a:t>Toprakta yaygın halde bulunurlar</a:t>
            </a:r>
          </a:p>
          <a:p>
            <a:pPr>
              <a:buNone/>
            </a:pPr>
            <a:endParaRPr lang="tr-TR" b="1" dirty="0" smtClean="0"/>
          </a:p>
          <a:p>
            <a:r>
              <a:rPr lang="tr-TR" b="1" dirty="0" smtClean="0"/>
              <a:t>Küf gül dikenlerinde, bataklık yosununda ve toprakta bulunur</a:t>
            </a:r>
          </a:p>
          <a:p>
            <a:pPr>
              <a:buNone/>
            </a:pPr>
            <a:endParaRPr lang="tr-TR" b="1" dirty="0" smtClean="0"/>
          </a:p>
          <a:p>
            <a:r>
              <a:rPr lang="tr-TR" b="1" dirty="0" smtClean="0"/>
              <a:t>Bu yüzden enfeksiyon en çok güllerle, yosunla, samanla ve toprakla çalışan bahçıvanlar arasında görülür</a:t>
            </a:r>
          </a:p>
          <a:p>
            <a:r>
              <a:rPr lang="tr-TR" b="1" dirty="0" smtClean="0"/>
              <a:t>Çiftçiler, fidanlık çalışanları, bahçeciler ve bahçıvanlar bu hastalıkta yüksek risk grubunu oluşturur</a:t>
            </a:r>
          </a:p>
          <a:p>
            <a:pPr>
              <a:buNone/>
            </a:pPr>
            <a:endParaRPr lang="tr-TR" b="1"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b="1" dirty="0" smtClean="0">
                <a:solidFill>
                  <a:srgbClr val="FF0000"/>
                </a:solidFill>
              </a:rPr>
              <a:t>ÖRNEK VEREREK AÇIKLAYALIM</a:t>
            </a:r>
            <a:r>
              <a:rPr lang="tr-TR" dirty="0" smtClean="0">
                <a:solidFill>
                  <a:srgbClr val="FF0000"/>
                </a:solidFill>
              </a:rPr>
              <a:t/>
            </a:r>
            <a:br>
              <a:rPr lang="tr-TR"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pPr>
              <a:buNone/>
            </a:pPr>
            <a:r>
              <a:rPr lang="tr-TR" b="1" dirty="0" smtClean="0">
                <a:solidFill>
                  <a:srgbClr val="7030A0"/>
                </a:solidFill>
              </a:rPr>
              <a:t>			SPOROTRİCHOSİS</a:t>
            </a:r>
          </a:p>
          <a:p>
            <a:pPr>
              <a:buNone/>
            </a:pPr>
            <a:endParaRPr lang="tr-TR" b="1" dirty="0" smtClean="0"/>
          </a:p>
          <a:p>
            <a:r>
              <a:rPr lang="tr-TR" b="1" dirty="0" err="1" smtClean="0">
                <a:solidFill>
                  <a:srgbClr val="FF0000"/>
                </a:solidFill>
              </a:rPr>
              <a:t>Sporothrix</a:t>
            </a:r>
            <a:r>
              <a:rPr lang="tr-TR" b="1" dirty="0" smtClean="0">
                <a:solidFill>
                  <a:srgbClr val="FF0000"/>
                </a:solidFill>
              </a:rPr>
              <a:t>  </a:t>
            </a:r>
            <a:r>
              <a:rPr lang="tr-TR" b="1" dirty="0" err="1" smtClean="0">
                <a:solidFill>
                  <a:srgbClr val="FF0000"/>
                </a:solidFill>
              </a:rPr>
              <a:t>schenckii</a:t>
            </a:r>
            <a:r>
              <a:rPr lang="tr-TR" b="1" dirty="0" smtClean="0">
                <a:solidFill>
                  <a:srgbClr val="FF0000"/>
                </a:solidFill>
              </a:rPr>
              <a:t>  </a:t>
            </a:r>
            <a:r>
              <a:rPr lang="tr-TR" b="1" dirty="0" smtClean="0"/>
              <a:t>tarafından oluşturulan, deri ve deri altı bağ dokunun yaygın ve </a:t>
            </a:r>
            <a:r>
              <a:rPr lang="tr-TR" b="1" dirty="0" err="1" smtClean="0"/>
              <a:t>pyogranülomlu</a:t>
            </a:r>
            <a:r>
              <a:rPr lang="tr-TR" b="1" dirty="0" smtClean="0"/>
              <a:t> yangısıyla belirgin kronik seyirli mantar hastalığıdır</a:t>
            </a:r>
          </a:p>
          <a:p>
            <a:pPr>
              <a:buNone/>
            </a:pPr>
            <a:endParaRPr lang="tr-TR" dirty="0" smtClean="0"/>
          </a:p>
          <a:p>
            <a:pPr>
              <a:buNone/>
            </a:pPr>
            <a:r>
              <a:rPr lang="tr-TR" dirty="0" smtClean="0">
                <a:hlinkClick r:id="rId2"/>
              </a:rPr>
              <a:t/>
            </a:r>
            <a:br>
              <a:rPr lang="tr-TR" dirty="0" smtClean="0">
                <a:hlinkClick r:id="rId2"/>
              </a:rPr>
            </a:br>
            <a:endParaRPr lang="tr-TR"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188640"/>
            <a:ext cx="8568952" cy="6336704"/>
          </a:xfrm>
        </p:spPr>
        <p:txBody>
          <a:bodyPr>
            <a:normAutofit fontScale="92500" lnSpcReduction="20000"/>
          </a:bodyPr>
          <a:lstStyle/>
          <a:p>
            <a:pPr>
              <a:buNone/>
            </a:pPr>
            <a:r>
              <a:rPr lang="tr-TR" b="1" dirty="0" smtClean="0">
                <a:solidFill>
                  <a:srgbClr val="FF0000"/>
                </a:solidFill>
              </a:rPr>
              <a:t>				</a:t>
            </a:r>
            <a:r>
              <a:rPr lang="tr-TR" sz="3900" b="1" dirty="0" smtClean="0">
                <a:solidFill>
                  <a:srgbClr val="FF0000"/>
                </a:solidFill>
              </a:rPr>
              <a:t>SPOROTRİKOZ</a:t>
            </a:r>
            <a:endParaRPr lang="tr-TR" sz="3900" b="1" dirty="0" smtClean="0"/>
          </a:p>
          <a:p>
            <a:r>
              <a:rPr lang="tr-TR" b="1" dirty="0" err="1" smtClean="0"/>
              <a:t>Sporotrikoz</a:t>
            </a:r>
            <a:r>
              <a:rPr lang="tr-TR" b="1" dirty="0" smtClean="0"/>
              <a:t> genellikle bir gül dikeni veya keskin bir kıymık yüzünden küf sporlarının deri altına girmesiyle başlar</a:t>
            </a:r>
          </a:p>
          <a:p>
            <a:pPr>
              <a:buNone/>
            </a:pPr>
            <a:endParaRPr lang="tr-TR" b="1" dirty="0" smtClean="0"/>
          </a:p>
          <a:p>
            <a:r>
              <a:rPr lang="tr-TR" b="1" dirty="0" smtClean="0"/>
              <a:t>Ayrıca hasarsız cildin küflü saman veya yosunla temasından sonra da başlayabilir</a:t>
            </a:r>
          </a:p>
          <a:p>
            <a:pPr>
              <a:buNone/>
            </a:pPr>
            <a:endParaRPr lang="tr-TR" b="1" dirty="0" smtClean="0"/>
          </a:p>
          <a:p>
            <a:r>
              <a:rPr lang="tr-TR" b="1" dirty="0" smtClean="0"/>
              <a:t>Çok nadir olmak üzere, kediler ve tespih böcekleri de hastalığı taşıyabilir</a:t>
            </a:r>
          </a:p>
          <a:p>
            <a:pPr>
              <a:buNone/>
            </a:pPr>
            <a:endParaRPr lang="tr-TR" b="1" dirty="0" smtClean="0"/>
          </a:p>
          <a:p>
            <a:r>
              <a:rPr lang="tr-TR" b="1" dirty="0" smtClean="0"/>
              <a:t>Nadir vakalarda söz konusu organizma solunum veya sindirim yoluyla alınabilir, bu durumda vücudun deri dışındaki kısımları etkilenir</a:t>
            </a:r>
          </a:p>
          <a:p>
            <a:pPr>
              <a:buNone/>
            </a:pPr>
            <a:endParaRPr lang="tr-TR" b="1" dirty="0" smtClean="0"/>
          </a:p>
          <a:p>
            <a:pPr>
              <a:buNone/>
            </a:pPr>
            <a:endParaRPr lang="tr-TR" b="1"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1259632" y="274638"/>
            <a:ext cx="6969968" cy="850106"/>
          </a:xfrm>
        </p:spPr>
        <p:txBody>
          <a:bodyPr>
            <a:noAutofit/>
          </a:bodyPr>
          <a:lstStyle/>
          <a:p>
            <a:r>
              <a:rPr lang="tr-TR" sz="3600" b="1" dirty="0" smtClean="0">
                <a:solidFill>
                  <a:srgbClr val="FF0000"/>
                </a:solidFill>
              </a:rPr>
              <a:t/>
            </a:r>
            <a:br>
              <a:rPr lang="tr-TR" sz="3600" b="1" dirty="0" smtClean="0">
                <a:solidFill>
                  <a:srgbClr val="FF0000"/>
                </a:solidFill>
              </a:rPr>
            </a:br>
            <a:r>
              <a:rPr lang="tr-TR" sz="3600" b="1" dirty="0" smtClean="0">
                <a:solidFill>
                  <a:srgbClr val="FF0000"/>
                </a:solidFill>
              </a:rPr>
              <a:t>SPOROTRİCHOSİS</a:t>
            </a:r>
            <a:r>
              <a:rPr lang="tr-TR" sz="3600" dirty="0" smtClean="0">
                <a:solidFill>
                  <a:srgbClr val="FF0000"/>
                </a:solidFill>
              </a:rPr>
              <a:t/>
            </a:r>
            <a:br>
              <a:rPr lang="tr-TR" sz="3600" dirty="0" smtClean="0">
                <a:solidFill>
                  <a:srgbClr val="FF0000"/>
                </a:solidFill>
              </a:rPr>
            </a:br>
            <a:endParaRPr lang="tr-TR" sz="3600" dirty="0">
              <a:solidFill>
                <a:srgbClr val="FF0000"/>
              </a:solidFill>
            </a:endParaRPr>
          </a:p>
        </p:txBody>
      </p:sp>
      <p:pic>
        <p:nvPicPr>
          <p:cNvPr id="4" name="3 İçerik Yer Tutucusu" descr="C:\Users\oem\Desktop\sporotrichosis.jpg"/>
          <p:cNvPicPr>
            <a:picLocks noGrp="1"/>
          </p:cNvPicPr>
          <p:nvPr>
            <p:ph idx="4294967295"/>
          </p:nvPr>
        </p:nvPicPr>
        <p:blipFill>
          <a:blip r:embed="rId2" cstate="print"/>
          <a:srcRect/>
          <a:stretch>
            <a:fillRect/>
          </a:stretch>
        </p:blipFill>
        <p:spPr bwMode="auto">
          <a:xfrm>
            <a:off x="827584" y="1340768"/>
            <a:ext cx="7900988" cy="4752975"/>
          </a:xfrm>
          <a:prstGeom prst="rect">
            <a:avLst/>
          </a:prstGeom>
          <a:noFill/>
          <a:ln w="9525">
            <a:noFill/>
            <a:miter lim="800000"/>
            <a:headEnd/>
            <a:tailEnd/>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1811-Sporotrichosis-642x361-Sporotrichosis.jpg"/>
          <p:cNvPicPr>
            <a:picLocks noGrp="1" noChangeAspect="1" noChangeArrowheads="1"/>
          </p:cNvPicPr>
          <p:nvPr>
            <p:ph idx="4294967295"/>
          </p:nvPr>
        </p:nvPicPr>
        <p:blipFill>
          <a:blip r:embed="rId2" cstate="print"/>
          <a:srcRect/>
          <a:stretch>
            <a:fillRect/>
          </a:stretch>
        </p:blipFill>
        <p:spPr bwMode="auto">
          <a:xfrm>
            <a:off x="3923928" y="332656"/>
            <a:ext cx="4679950" cy="3521075"/>
          </a:xfrm>
          <a:prstGeom prst="rect">
            <a:avLst/>
          </a:prstGeom>
          <a:noFill/>
        </p:spPr>
      </p:pic>
      <p:sp>
        <p:nvSpPr>
          <p:cNvPr id="2" name="1 Başlık"/>
          <p:cNvSpPr>
            <a:spLocks noGrp="1"/>
          </p:cNvSpPr>
          <p:nvPr>
            <p:ph type="title" idx="4294967295"/>
          </p:nvPr>
        </p:nvSpPr>
        <p:spPr>
          <a:xfrm>
            <a:off x="251520" y="274638"/>
            <a:ext cx="3312368" cy="1143000"/>
          </a:xfrm>
        </p:spPr>
        <p:txBody>
          <a:bodyPr>
            <a:normAutofit/>
          </a:bodyPr>
          <a:lstStyle/>
          <a:p>
            <a:pPr algn="l"/>
            <a:r>
              <a:rPr lang="tr-TR" sz="3200" b="1" dirty="0" smtClean="0">
                <a:solidFill>
                  <a:srgbClr val="FF0000"/>
                </a:solidFill>
              </a:rPr>
              <a:t>SPOROTRİCHOSİS</a:t>
            </a:r>
            <a:endParaRPr lang="tr-TR" sz="3200" dirty="0">
              <a:solidFill>
                <a:srgbClr val="FF0000"/>
              </a:solidFill>
            </a:endParaRPr>
          </a:p>
        </p:txBody>
      </p:sp>
      <p:pic>
        <p:nvPicPr>
          <p:cNvPr id="2051" name="Picture 3" descr="C:\Users\user\Desktop\ch2089.fig2_.jpg"/>
          <p:cNvPicPr>
            <a:picLocks noChangeAspect="1" noChangeArrowheads="1"/>
          </p:cNvPicPr>
          <p:nvPr/>
        </p:nvPicPr>
        <p:blipFill>
          <a:blip r:embed="rId3" cstate="print"/>
          <a:srcRect/>
          <a:stretch>
            <a:fillRect/>
          </a:stretch>
        </p:blipFill>
        <p:spPr bwMode="auto">
          <a:xfrm>
            <a:off x="467544" y="3212976"/>
            <a:ext cx="4805772" cy="3203848"/>
          </a:xfrm>
          <a:prstGeom prst="rect">
            <a:avLst/>
          </a:prstGeom>
          <a:noFill/>
        </p:spPr>
      </p:pic>
      <p:pic>
        <p:nvPicPr>
          <p:cNvPr id="5" name="Picture 2" descr="C:\Users\user\Desktop\44410tn.jpg"/>
          <p:cNvPicPr>
            <a:picLocks noChangeAspect="1" noChangeArrowheads="1"/>
          </p:cNvPicPr>
          <p:nvPr/>
        </p:nvPicPr>
        <p:blipFill>
          <a:blip r:embed="rId4" cstate="print"/>
          <a:srcRect/>
          <a:stretch>
            <a:fillRect/>
          </a:stretch>
        </p:blipFill>
        <p:spPr bwMode="auto">
          <a:xfrm>
            <a:off x="5364088" y="4077072"/>
            <a:ext cx="3619500" cy="2495550"/>
          </a:xfrm>
          <a:prstGeom prst="rect">
            <a:avLst/>
          </a:prstGeom>
          <a:noFill/>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SPOROTRİCHOSİS</a:t>
            </a:r>
            <a:endParaRPr lang="tr-TR" sz="3600" dirty="0">
              <a:solidFill>
                <a:srgbClr val="FF0000"/>
              </a:solidFill>
            </a:endParaRPr>
          </a:p>
        </p:txBody>
      </p:sp>
      <p:sp>
        <p:nvSpPr>
          <p:cNvPr id="3" name="2 İçerik Yer Tutucusu"/>
          <p:cNvSpPr>
            <a:spLocks noGrp="1"/>
          </p:cNvSpPr>
          <p:nvPr>
            <p:ph idx="1"/>
          </p:nvPr>
        </p:nvSpPr>
        <p:spPr>
          <a:xfrm>
            <a:off x="457200" y="1412776"/>
            <a:ext cx="8229600" cy="4968552"/>
          </a:xfrm>
        </p:spPr>
        <p:txBody>
          <a:bodyPr>
            <a:normAutofit fontScale="77500" lnSpcReduction="20000"/>
          </a:bodyPr>
          <a:lstStyle/>
          <a:p>
            <a:r>
              <a:rPr lang="tr-TR" b="1" dirty="0" smtClean="0"/>
              <a:t>Küf sporları deriye girdikten sonra hastalığın gelişmesi günler ile aylar sürer</a:t>
            </a:r>
          </a:p>
          <a:p>
            <a:r>
              <a:rPr lang="tr-TR" b="1" dirty="0" smtClean="0"/>
              <a:t>İlk belirti pembeyle morumsu renklerde ciltteki sert bir yumrudur. Bu nodül genellikle ağrısızdır ve dokununca da çok hafif bir ağrı verir</a:t>
            </a:r>
          </a:p>
          <a:p>
            <a:r>
              <a:rPr lang="tr-TR" b="1" dirty="0" smtClean="0"/>
              <a:t>Zaman içinde nodül açık bir yaraya dönüşerek yaradan şeffaf bir sıvı akabilir</a:t>
            </a:r>
          </a:p>
          <a:p>
            <a:r>
              <a:rPr lang="tr-TR" b="1" dirty="0" smtClean="0"/>
              <a:t>Tedavi edilmezse nodül ve ülser kronikleşir, yıllarca iyileşmeden kalabilir</a:t>
            </a:r>
          </a:p>
          <a:p>
            <a:r>
              <a:rPr lang="tr-TR" b="1" dirty="0" smtClean="0"/>
              <a:t>Vakaların yaklaşık yüzde 60’ında küf, lenf notları boyunca ilerler</a:t>
            </a:r>
          </a:p>
          <a:p>
            <a:r>
              <a:rPr lang="tr-TR" b="1" dirty="0" smtClean="0"/>
              <a:t>Zaman içinde yeni nodüller ve yaralar hastalık bulaşmış bacak veya kolda hizalı bir şekilde çıkabilir. Bu durumda yıllarca devam edebilir</a:t>
            </a:r>
          </a:p>
          <a:p>
            <a:endParaRPr lang="tr-TR" b="1"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tr-TR" b="1" dirty="0" smtClean="0">
                <a:solidFill>
                  <a:srgbClr val="FF0000"/>
                </a:solidFill>
              </a:rPr>
              <a:t>İNSANLARDAKİ MANTAR HASTALIKLAR</a:t>
            </a:r>
            <a:endParaRPr lang="tr-TR" b="1" dirty="0">
              <a:solidFill>
                <a:srgbClr val="FF0000"/>
              </a:solidFill>
            </a:endParaRPr>
          </a:p>
        </p:txBody>
      </p:sp>
      <p:sp>
        <p:nvSpPr>
          <p:cNvPr id="33795" name="Rectangle 3"/>
          <p:cNvSpPr>
            <a:spLocks noGrp="1" noChangeArrowheads="1"/>
          </p:cNvSpPr>
          <p:nvPr>
            <p:ph type="body" idx="1"/>
          </p:nvPr>
        </p:nvSpPr>
        <p:spPr>
          <a:xfrm>
            <a:off x="323850" y="1844824"/>
            <a:ext cx="8229600" cy="4608512"/>
          </a:xfrm>
        </p:spPr>
        <p:txBody>
          <a:bodyPr>
            <a:normAutofit lnSpcReduction="10000"/>
          </a:bodyPr>
          <a:lstStyle/>
          <a:p>
            <a:pPr>
              <a:buNone/>
            </a:pPr>
            <a:r>
              <a:rPr lang="tr-TR" dirty="0"/>
              <a:t>	</a:t>
            </a:r>
            <a:r>
              <a:rPr lang="tr-TR" b="1" dirty="0" smtClean="0"/>
              <a:t>Vücuda </a:t>
            </a:r>
            <a:r>
              <a:rPr lang="tr-TR" b="1" dirty="0"/>
              <a:t>direkt </a:t>
            </a:r>
            <a:r>
              <a:rPr lang="tr-TR" b="1" dirty="0" smtClean="0"/>
              <a:t>yerleşerek</a:t>
            </a:r>
          </a:p>
          <a:p>
            <a:pPr>
              <a:buNone/>
            </a:pPr>
            <a:r>
              <a:rPr lang="tr-TR" b="1" dirty="0" smtClean="0"/>
              <a:t>			(</a:t>
            </a:r>
            <a:r>
              <a:rPr lang="tr-TR" b="1" dirty="0"/>
              <a:t>yerleştiği yere göre isimlendirilir</a:t>
            </a:r>
            <a:r>
              <a:rPr lang="tr-TR" b="1" dirty="0" smtClean="0"/>
              <a:t>)</a:t>
            </a:r>
          </a:p>
          <a:p>
            <a:pPr>
              <a:buNone/>
            </a:pPr>
            <a:endParaRPr lang="tr-TR" b="1" dirty="0"/>
          </a:p>
          <a:p>
            <a:pPr lvl="1"/>
            <a:r>
              <a:rPr lang="tr-TR" b="1" dirty="0" err="1"/>
              <a:t>Yüzeyel</a:t>
            </a:r>
            <a:r>
              <a:rPr lang="tr-TR" b="1" dirty="0"/>
              <a:t> mikozlar</a:t>
            </a:r>
          </a:p>
          <a:p>
            <a:pPr lvl="1"/>
            <a:r>
              <a:rPr lang="tr-TR" b="1" dirty="0" err="1" smtClean="0"/>
              <a:t>Subkutan</a:t>
            </a:r>
            <a:r>
              <a:rPr lang="tr-TR" b="1" dirty="0" smtClean="0"/>
              <a:t>  ("deri altı ) </a:t>
            </a:r>
            <a:r>
              <a:rPr lang="tr-TR" b="1" dirty="0"/>
              <a:t>mikozlar</a:t>
            </a:r>
          </a:p>
          <a:p>
            <a:pPr lvl="1"/>
            <a:r>
              <a:rPr lang="tr-TR" b="1" dirty="0"/>
              <a:t>Derin </a:t>
            </a:r>
            <a:r>
              <a:rPr lang="tr-TR" b="1" dirty="0" smtClean="0"/>
              <a:t>mikozlar VEYA Sistemik mikozlar </a:t>
            </a:r>
          </a:p>
          <a:p>
            <a:pPr lvl="1">
              <a:buNone/>
            </a:pPr>
            <a:r>
              <a:rPr lang="tr-TR" b="1" dirty="0" smtClean="0"/>
              <a:t>	(</a:t>
            </a:r>
            <a:r>
              <a:rPr lang="tr-TR" sz="2000" b="1" dirty="0" smtClean="0"/>
              <a:t>Vücudu tümüyle tutan,tüm vücudu etkileyen demektir)				</a:t>
            </a:r>
          </a:p>
          <a:p>
            <a:pPr lvl="1"/>
            <a:r>
              <a:rPr lang="tr-TR" b="1" dirty="0" smtClean="0"/>
              <a:t>Fırsatçı mikozlar</a:t>
            </a:r>
          </a:p>
          <a:p>
            <a:pPr lvl="1">
              <a:buFontTx/>
              <a:buNone/>
            </a:pPr>
            <a:endParaRPr lang="tr-TR"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amond(in)">
                                      <p:cBhvr>
                                        <p:cTn id="7" dur="20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diamond(in)">
                                      <p:cBhvr>
                                        <p:cTn id="12" dur="20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diamond(in)">
                                      <p:cBhvr>
                                        <p:cTn id="17" dur="2000"/>
                                        <p:tgtEl>
                                          <p:spTgt spid="337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3795">
                                            <p:txEl>
                                              <p:pRg st="4" end="4"/>
                                            </p:txEl>
                                          </p:spTgt>
                                        </p:tgtEl>
                                        <p:attrNameLst>
                                          <p:attrName>style.visibility</p:attrName>
                                        </p:attrNameLst>
                                      </p:cBhvr>
                                      <p:to>
                                        <p:strVal val="visible"/>
                                      </p:to>
                                    </p:set>
                                    <p:animEffect transition="in" filter="diamond(in)">
                                      <p:cBhvr>
                                        <p:cTn id="22" dur="2000"/>
                                        <p:tgtEl>
                                          <p:spTgt spid="33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3795">
                                            <p:txEl>
                                              <p:pRg st="5" end="5"/>
                                            </p:txEl>
                                          </p:spTgt>
                                        </p:tgtEl>
                                        <p:attrNameLst>
                                          <p:attrName>style.visibility</p:attrName>
                                        </p:attrNameLst>
                                      </p:cBhvr>
                                      <p:to>
                                        <p:strVal val="visible"/>
                                      </p:to>
                                    </p:set>
                                    <p:animEffect transition="in" filter="diamond(in)">
                                      <p:cBhvr>
                                        <p:cTn id="27" dur="2000"/>
                                        <p:tgtEl>
                                          <p:spTgt spid="33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3795">
                                            <p:txEl>
                                              <p:pRg st="6" end="6"/>
                                            </p:txEl>
                                          </p:spTgt>
                                        </p:tgtEl>
                                        <p:attrNameLst>
                                          <p:attrName>style.visibility</p:attrName>
                                        </p:attrNameLst>
                                      </p:cBhvr>
                                      <p:to>
                                        <p:strVal val="visible"/>
                                      </p:to>
                                    </p:set>
                                    <p:animEffect transition="in" filter="diamond(in)">
                                      <p:cBhvr>
                                        <p:cTn id="32" dur="2000"/>
                                        <p:tgtEl>
                                          <p:spTgt spid="337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3795">
                                            <p:txEl>
                                              <p:pRg st="7" end="7"/>
                                            </p:txEl>
                                          </p:spTgt>
                                        </p:tgtEl>
                                        <p:attrNameLst>
                                          <p:attrName>style.visibility</p:attrName>
                                        </p:attrNameLst>
                                      </p:cBhvr>
                                      <p:to>
                                        <p:strVal val="visible"/>
                                      </p:to>
                                    </p:set>
                                    <p:animEffect transition="in" filter="diamond(in)">
                                      <p:cBhvr>
                                        <p:cTn id="37" dur="20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200" b="1" dirty="0" smtClean="0">
                <a:solidFill>
                  <a:srgbClr val="FF0000"/>
                </a:solidFill>
              </a:rPr>
              <a:t>DERİN MİKOZLAR VEYA SİSTEMİK MİKOZLAR</a:t>
            </a:r>
            <a:endParaRPr lang="tr-TR" sz="3200" b="1" dirty="0">
              <a:solidFill>
                <a:srgbClr val="FF0000"/>
              </a:solidFill>
            </a:endParaRPr>
          </a:p>
        </p:txBody>
      </p:sp>
      <p:sp>
        <p:nvSpPr>
          <p:cNvPr id="3" name="2 İçerik Yer Tutucusu"/>
          <p:cNvSpPr>
            <a:spLocks noGrp="1"/>
          </p:cNvSpPr>
          <p:nvPr>
            <p:ph idx="1"/>
          </p:nvPr>
        </p:nvSpPr>
        <p:spPr/>
        <p:txBody>
          <a:bodyPr>
            <a:noAutofit/>
          </a:bodyPr>
          <a:lstStyle/>
          <a:p>
            <a:r>
              <a:rPr lang="tr-TR" b="1" dirty="0" smtClean="0"/>
              <a:t>İç organları etkiler</a:t>
            </a:r>
          </a:p>
          <a:p>
            <a:r>
              <a:rPr lang="tr-TR" b="1" dirty="0" smtClean="0"/>
              <a:t>Ölümle sonuçlanır</a:t>
            </a:r>
          </a:p>
          <a:p>
            <a:r>
              <a:rPr lang="tr-TR" b="1" dirty="0" smtClean="0"/>
              <a:t>En çok solunum yolu ile vücuda girerler</a:t>
            </a:r>
          </a:p>
          <a:p>
            <a:r>
              <a:rPr lang="tr-TR" b="1" dirty="0" smtClean="0"/>
              <a:t>Etkenler toprak,çürüyen bitkisel ürünler,hayvan gübresinde bulunur</a:t>
            </a:r>
          </a:p>
          <a:p>
            <a:r>
              <a:rPr lang="tr-TR" b="1" dirty="0" smtClean="0"/>
              <a:t>Mantar sporları; kuruduğunda kolayca havaya dağılır ve rüzgârla veya kuş ve yarasalarla da taşınabilir </a:t>
            </a:r>
          </a:p>
          <a:p>
            <a:pPr>
              <a:buNone/>
            </a:pPr>
            <a:r>
              <a:rPr lang="tr-TR" b="1" dirty="0" smtClean="0"/>
              <a:t>	</a:t>
            </a:r>
            <a:endParaRPr lang="tr-TR" b="1"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200" b="1" dirty="0" smtClean="0">
                <a:solidFill>
                  <a:srgbClr val="FF0000"/>
                </a:solidFill>
              </a:rPr>
              <a:t>DERİN MİKOZLAR VEYA SİSTEMİK MİKOZLAR</a:t>
            </a:r>
            <a:endParaRPr lang="tr-TR" sz="3200" dirty="0">
              <a:solidFill>
                <a:srgbClr val="FF0000"/>
              </a:solidFill>
            </a:endParaRPr>
          </a:p>
        </p:txBody>
      </p:sp>
      <p:sp>
        <p:nvSpPr>
          <p:cNvPr id="3" name="2 İçerik Yer Tutucusu"/>
          <p:cNvSpPr>
            <a:spLocks noGrp="1"/>
          </p:cNvSpPr>
          <p:nvPr>
            <p:ph idx="1"/>
          </p:nvPr>
        </p:nvSpPr>
        <p:spPr>
          <a:xfrm>
            <a:off x="457200" y="1600200"/>
            <a:ext cx="8229600" cy="4781128"/>
          </a:xfrm>
        </p:spPr>
        <p:txBody>
          <a:bodyPr>
            <a:normAutofit/>
          </a:bodyPr>
          <a:lstStyle/>
          <a:p>
            <a:pPr>
              <a:buNone/>
            </a:pPr>
            <a:r>
              <a:rPr lang="tr-TR" b="1" dirty="0" smtClean="0"/>
              <a:t>			</a:t>
            </a:r>
            <a:r>
              <a:rPr lang="tr-TR" b="1" dirty="0" smtClean="0">
                <a:solidFill>
                  <a:srgbClr val="7030A0"/>
                </a:solidFill>
              </a:rPr>
              <a:t>ÖRNEK VERELİM</a:t>
            </a:r>
          </a:p>
          <a:p>
            <a:pPr>
              <a:buNone/>
            </a:pPr>
            <a:r>
              <a:rPr lang="tr-TR" b="1" dirty="0" smtClean="0">
                <a:solidFill>
                  <a:srgbClr val="7030A0"/>
                </a:solidFill>
              </a:rPr>
              <a:t>		HİSTOPLAZMOZ </a:t>
            </a:r>
          </a:p>
          <a:p>
            <a:r>
              <a:rPr lang="tr-TR" b="1" dirty="0" smtClean="0"/>
              <a:t>İnsan ve hayvanda mantara bağlı olarak görülen akciğer hastalıklarının en önemli nedenlerindendir</a:t>
            </a:r>
          </a:p>
          <a:p>
            <a:r>
              <a:rPr lang="tr-TR" b="1" dirty="0" err="1" smtClean="0"/>
              <a:t>Histoplasma</a:t>
            </a:r>
            <a:r>
              <a:rPr lang="tr-TR" b="1" dirty="0" smtClean="0"/>
              <a:t> </a:t>
            </a:r>
            <a:r>
              <a:rPr lang="tr-TR" b="1" dirty="0" err="1" smtClean="0"/>
              <a:t>capsulatum</a:t>
            </a:r>
            <a:r>
              <a:rPr lang="tr-TR" b="1" dirty="0" smtClean="0"/>
              <a:t> solunum yolu ile girer</a:t>
            </a:r>
          </a:p>
          <a:p>
            <a:r>
              <a:rPr lang="tr-TR" b="1" dirty="0" smtClean="0"/>
              <a:t>Akciğerde lezyonlar oluşturur</a:t>
            </a:r>
          </a:p>
          <a:p>
            <a:endParaRPr lang="tr-TR" b="1" dirty="0" smtClean="0"/>
          </a:p>
          <a:p>
            <a:pPr>
              <a:buNone/>
            </a:pPr>
            <a:endParaRPr lang="tr-TR" b="1" dirty="0" smtClean="0"/>
          </a:p>
          <a:p>
            <a:pPr>
              <a:buNone/>
            </a:pPr>
            <a:endParaRPr lang="tr-TR" b="1"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b="1" dirty="0" smtClean="0">
                <a:solidFill>
                  <a:srgbClr val="FF0000"/>
                </a:solidFill>
              </a:rPr>
              <a:t>HİSTOPLAZMOZ </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normAutofit lnSpcReduction="10000"/>
          </a:bodyPr>
          <a:lstStyle/>
          <a:p>
            <a:r>
              <a:rPr lang="tr-TR" b="1" dirty="0" err="1" smtClean="0"/>
              <a:t>Histoplazma</a:t>
            </a:r>
            <a:r>
              <a:rPr lang="tr-TR" b="1" dirty="0" smtClean="0"/>
              <a:t> </a:t>
            </a:r>
            <a:r>
              <a:rPr lang="tr-TR" b="1" dirty="0" err="1" smtClean="0"/>
              <a:t>capsulatum</a:t>
            </a:r>
            <a:r>
              <a:rPr lang="tr-TR" b="1" dirty="0" smtClean="0"/>
              <a:t> doğada azot içeriği yüksek toprakta bulunur</a:t>
            </a:r>
          </a:p>
          <a:p>
            <a:r>
              <a:rPr lang="tr-TR" b="1" dirty="0" smtClean="0"/>
              <a:t>Yarasa ve kuş türlerinin yaşadığı yerler azot içeriği yüksek yerlerdir</a:t>
            </a:r>
          </a:p>
          <a:p>
            <a:r>
              <a:rPr lang="tr-TR" b="1" dirty="0" err="1" smtClean="0"/>
              <a:t>Histoplazma</a:t>
            </a:r>
            <a:r>
              <a:rPr lang="tr-TR" b="1" dirty="0" smtClean="0"/>
              <a:t> </a:t>
            </a:r>
            <a:r>
              <a:rPr lang="tr-TR" b="1" dirty="0" err="1" smtClean="0"/>
              <a:t>capsulatum</a:t>
            </a:r>
            <a:r>
              <a:rPr lang="tr-TR" b="1" dirty="0" smtClean="0"/>
              <a:t> kuş pisliği, tavuk kümesleri, yarasaların yaşadığı mağaralar ve benzeri yerlerden izole edilebilir</a:t>
            </a:r>
          </a:p>
          <a:p>
            <a:r>
              <a:rPr lang="tr-TR" b="1" dirty="0" smtClean="0"/>
              <a:t>Özellikle; kuş dışkılarının yığınlar halinde en yaygın bulunduğu yerlerden</a:t>
            </a:r>
          </a:p>
          <a:p>
            <a:endParaRPr lang="tr-TR" b="1"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çerik Yer Tutucusu" descr="C:\Users\oem\Desktop\17222.jpg"/>
          <p:cNvPicPr>
            <a:picLocks noGrp="1"/>
          </p:cNvPicPr>
          <p:nvPr>
            <p:ph idx="4294967295"/>
          </p:nvPr>
        </p:nvPicPr>
        <p:blipFill>
          <a:blip r:embed="rId2" cstate="print"/>
          <a:srcRect/>
          <a:stretch>
            <a:fillRect/>
          </a:stretch>
        </p:blipFill>
        <p:spPr bwMode="auto">
          <a:xfrm>
            <a:off x="467544" y="476672"/>
            <a:ext cx="8136904" cy="5832648"/>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SİSTEMİK MİKOZLARA BAŞKA BİR ÖRNEK</a:t>
            </a:r>
            <a:endParaRPr lang="tr-TR" dirty="0">
              <a:solidFill>
                <a:srgbClr val="FF0000"/>
              </a:solidFill>
            </a:endParaRPr>
          </a:p>
        </p:txBody>
      </p:sp>
      <p:sp>
        <p:nvSpPr>
          <p:cNvPr id="3" name="2 İçerik Yer Tutucusu"/>
          <p:cNvSpPr>
            <a:spLocks noGrp="1"/>
          </p:cNvSpPr>
          <p:nvPr>
            <p:ph idx="1"/>
          </p:nvPr>
        </p:nvSpPr>
        <p:spPr>
          <a:xfrm>
            <a:off x="467544" y="1628800"/>
            <a:ext cx="8229600" cy="4752528"/>
          </a:xfrm>
        </p:spPr>
        <p:txBody>
          <a:bodyPr>
            <a:noAutofit/>
          </a:bodyPr>
          <a:lstStyle/>
          <a:p>
            <a:pPr>
              <a:buNone/>
            </a:pPr>
            <a:r>
              <a:rPr lang="tr-TR" b="1" dirty="0" smtClean="0"/>
              <a:t>			</a:t>
            </a:r>
            <a:r>
              <a:rPr lang="tr-TR" b="1" dirty="0" smtClean="0">
                <a:solidFill>
                  <a:srgbClr val="FF0000"/>
                </a:solidFill>
              </a:rPr>
              <a:t>	ASPERGİLLOZ </a:t>
            </a:r>
          </a:p>
          <a:p>
            <a:pPr>
              <a:buNone/>
            </a:pPr>
            <a:r>
              <a:rPr lang="tr-TR" b="1" dirty="0" smtClean="0">
                <a:solidFill>
                  <a:srgbClr val="333399"/>
                </a:solidFill>
              </a:rPr>
              <a:t>ASPERGİLLUS FLAVUS, bir küf mantarıdır</a:t>
            </a:r>
            <a:endParaRPr lang="tr-TR" b="1" dirty="0" smtClean="0"/>
          </a:p>
          <a:p>
            <a:r>
              <a:rPr lang="tr-TR" b="1" dirty="0" smtClean="0"/>
              <a:t>Bağışıklık sistemi baskılanmış hastalarda hayatı tehdit eden enfeksiyonlara yol açan, </a:t>
            </a:r>
            <a:r>
              <a:rPr lang="tr-TR" b="1" dirty="0" err="1" smtClean="0"/>
              <a:t>hiyalin</a:t>
            </a:r>
            <a:r>
              <a:rPr lang="tr-TR" b="1" dirty="0" smtClean="0"/>
              <a:t> </a:t>
            </a:r>
            <a:r>
              <a:rPr lang="tr-TR" b="1" dirty="0" err="1" smtClean="0"/>
              <a:t>filamentöz</a:t>
            </a:r>
            <a:r>
              <a:rPr lang="tr-TR" b="1" dirty="0" smtClean="0"/>
              <a:t> bir küf mantarıdır</a:t>
            </a:r>
          </a:p>
          <a:p>
            <a:r>
              <a:rPr lang="tr-TR" b="1" dirty="0" err="1" smtClean="0"/>
              <a:t>Aspergillus</a:t>
            </a:r>
            <a:r>
              <a:rPr lang="tr-TR" b="1" dirty="0" smtClean="0"/>
              <a:t> Antarktika dâhil dünyanın her yerinde bulunur</a:t>
            </a:r>
          </a:p>
          <a:p>
            <a:pPr>
              <a:buNone/>
            </a:pPr>
            <a:endParaRPr lang="tr-TR" b="1" dirty="0" smtClean="0"/>
          </a:p>
          <a:p>
            <a:pPr>
              <a:buNone/>
            </a:pPr>
            <a:endParaRPr lang="tr-TR" b="1" dirty="0" smtClean="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lvl="1" algn="ctr" rtl="0">
              <a:spcBef>
                <a:spcPct val="0"/>
              </a:spcBef>
            </a:pPr>
            <a:r>
              <a:rPr lang="tr-TR" sz="4000" b="1" dirty="0" smtClean="0">
                <a:solidFill>
                  <a:srgbClr val="FF0000"/>
                </a:solidFill>
              </a:rPr>
              <a:t>FIRSATÇI MİKOZLAR</a:t>
            </a:r>
            <a:r>
              <a:rPr lang="tr-TR" b="1" dirty="0" smtClean="0">
                <a:solidFill>
                  <a:srgbClr val="FF0000"/>
                </a:solidFill>
              </a:rPr>
              <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pPr>
              <a:buNone/>
            </a:pPr>
            <a:endParaRPr lang="tr-TR" dirty="0" smtClean="0"/>
          </a:p>
          <a:p>
            <a:r>
              <a:rPr lang="tr-TR" sz="3500" b="1" dirty="0" smtClean="0"/>
              <a:t>Doğada bulunan mantarların hepsi fırsatçı mikoza neden olabilir</a:t>
            </a:r>
          </a:p>
          <a:p>
            <a:pPr>
              <a:buNone/>
            </a:pPr>
            <a:endParaRPr lang="tr-TR" sz="3500" b="1" dirty="0" smtClean="0"/>
          </a:p>
          <a:p>
            <a:r>
              <a:rPr lang="tr-TR" sz="3500" b="1" dirty="0" smtClean="0"/>
              <a:t>Sağlıklı kişilerde hastalık yapmazlar</a:t>
            </a:r>
          </a:p>
          <a:p>
            <a:pPr>
              <a:buNone/>
            </a:pPr>
            <a:endParaRPr lang="tr-TR" sz="3500" b="1" dirty="0" smtClean="0"/>
          </a:p>
          <a:p>
            <a:r>
              <a:rPr lang="tr-TR" sz="3500" b="1" dirty="0" smtClean="0"/>
              <a:t>Bağışıklık sistemi çökmüş kişilerde enfeksiyon oluştururlar</a:t>
            </a:r>
            <a:br>
              <a:rPr lang="tr-TR" sz="3500" b="1" dirty="0" smtClean="0"/>
            </a:br>
            <a:endParaRPr lang="tr-TR" sz="3500" b="1"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Desktop\page_2.jpg"/>
          <p:cNvPicPr>
            <a:picLocks noGrp="1" noChangeAspect="1" noChangeArrowheads="1"/>
          </p:cNvPicPr>
          <p:nvPr>
            <p:ph idx="4294967295"/>
          </p:nvPr>
        </p:nvPicPr>
        <p:blipFill>
          <a:blip r:embed="rId2" cstate="print"/>
          <a:srcRect/>
          <a:stretch>
            <a:fillRect/>
          </a:stretch>
        </p:blipFill>
        <p:spPr bwMode="auto">
          <a:xfrm>
            <a:off x="395536" y="548680"/>
            <a:ext cx="8424936" cy="5904656"/>
          </a:xfrm>
          <a:prstGeom prst="rect">
            <a:avLst/>
          </a:prstGeom>
          <a:noFill/>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EN ÇOK GÖRÜLEN YERLER</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t>Ağız,ağız içi ve çevresi</a:t>
            </a:r>
          </a:p>
          <a:p>
            <a:r>
              <a:rPr lang="tr-TR" b="1" dirty="0" smtClean="0"/>
              <a:t>Kadınlarda </a:t>
            </a:r>
            <a:r>
              <a:rPr lang="tr-TR" b="1" dirty="0" err="1" smtClean="0"/>
              <a:t>genital</a:t>
            </a:r>
            <a:r>
              <a:rPr lang="tr-TR" b="1" dirty="0" smtClean="0"/>
              <a:t> Bölge vulva ve </a:t>
            </a:r>
            <a:r>
              <a:rPr lang="tr-TR" b="1" dirty="0" err="1" smtClean="0"/>
              <a:t>vagen</a:t>
            </a:r>
            <a:endParaRPr lang="tr-TR" b="1" dirty="0" smtClean="0"/>
          </a:p>
          <a:p>
            <a:r>
              <a:rPr lang="tr-TR" b="1" dirty="0" smtClean="0"/>
              <a:t>Deri ve tırnak</a:t>
            </a:r>
          </a:p>
          <a:p>
            <a:endParaRPr lang="tr-TR" b="1"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err="1" smtClean="0">
                <a:solidFill>
                  <a:srgbClr val="FF0000"/>
                </a:solidFill>
              </a:rPr>
              <a:t>Candida</a:t>
            </a:r>
            <a:r>
              <a:rPr lang="tr-TR" b="1" dirty="0" smtClean="0">
                <a:solidFill>
                  <a:srgbClr val="FF0000"/>
                </a:solidFill>
              </a:rPr>
              <a:t> </a:t>
            </a:r>
            <a:r>
              <a:rPr lang="tr-TR" b="1" dirty="0" err="1" smtClean="0">
                <a:solidFill>
                  <a:srgbClr val="FF0000"/>
                </a:solidFill>
              </a:rPr>
              <a:t>albicans</a:t>
            </a:r>
            <a:r>
              <a:rPr lang="tr-TR" b="1" dirty="0" smtClean="0"/>
              <a:t> </a:t>
            </a:r>
            <a:br>
              <a:rPr lang="tr-TR" b="1" dirty="0" smtClean="0"/>
            </a:br>
            <a:r>
              <a:rPr lang="tr-TR" sz="3100" b="1" dirty="0" smtClean="0">
                <a:solidFill>
                  <a:srgbClr val="FF0000"/>
                </a:solidFill>
              </a:rPr>
              <a:t>PAMUKÇUK</a:t>
            </a:r>
            <a:endParaRPr lang="tr-TR" dirty="0"/>
          </a:p>
        </p:txBody>
      </p:sp>
      <p:sp>
        <p:nvSpPr>
          <p:cNvPr id="3" name="2 İçerik Yer Tutucusu"/>
          <p:cNvSpPr>
            <a:spLocks noGrp="1"/>
          </p:cNvSpPr>
          <p:nvPr>
            <p:ph idx="1"/>
          </p:nvPr>
        </p:nvSpPr>
        <p:spPr/>
        <p:txBody>
          <a:bodyPr>
            <a:normAutofit fontScale="92500" lnSpcReduction="10000"/>
          </a:bodyPr>
          <a:lstStyle/>
          <a:p>
            <a:r>
              <a:rPr lang="tr-TR" b="1" dirty="0" err="1" smtClean="0"/>
              <a:t>Candida</a:t>
            </a:r>
            <a:r>
              <a:rPr lang="tr-TR" b="1" dirty="0" smtClean="0"/>
              <a:t> </a:t>
            </a:r>
            <a:r>
              <a:rPr lang="tr-TR" b="1" dirty="0" err="1" smtClean="0"/>
              <a:t>albicans</a:t>
            </a:r>
            <a:r>
              <a:rPr lang="tr-TR" b="1" dirty="0" smtClean="0"/>
              <a:t> grubu mantarların ağzın mukozasında oluşturduğu bir enfeksiyondur</a:t>
            </a:r>
          </a:p>
          <a:p>
            <a:pPr>
              <a:buNone/>
            </a:pPr>
            <a:endParaRPr lang="tr-TR" b="1" dirty="0" smtClean="0"/>
          </a:p>
          <a:p>
            <a:r>
              <a:rPr lang="tr-TR" b="1" dirty="0" smtClean="0"/>
              <a:t>Bu terim hem erişkinlerin ağız ve boğazlarında ortaya çıkan </a:t>
            </a:r>
            <a:r>
              <a:rPr lang="tr-TR" b="1" dirty="0" err="1" smtClean="0"/>
              <a:t>Candida</a:t>
            </a:r>
            <a:r>
              <a:rPr lang="tr-TR" b="1" dirty="0" smtClean="0"/>
              <a:t> enfeksiyonunu</a:t>
            </a:r>
          </a:p>
          <a:p>
            <a:pPr>
              <a:buNone/>
            </a:pPr>
            <a:endParaRPr lang="tr-TR" b="1" dirty="0" smtClean="0"/>
          </a:p>
          <a:p>
            <a:r>
              <a:rPr lang="tr-TR" b="1" dirty="0" smtClean="0"/>
              <a:t>Hem de bebeklerin ağzında oluşan tekrarlayıcı </a:t>
            </a:r>
            <a:r>
              <a:rPr lang="tr-TR" b="1" dirty="0" err="1" smtClean="0"/>
              <a:t>Candida</a:t>
            </a:r>
            <a:r>
              <a:rPr lang="tr-TR" b="1" dirty="0" smtClean="0"/>
              <a:t> enfeksiyonunu tanımlamakta kullanılmaktadır</a:t>
            </a:r>
          </a:p>
          <a:p>
            <a:pPr>
              <a:buNone/>
            </a:pPr>
            <a:endParaRPr lang="tr-TR"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user\Desktop\752x395-pamukcuk-nedir-pamukcuk-nasil-gecer-1556658178699.jpg"/>
          <p:cNvPicPr>
            <a:picLocks noGrp="1" noChangeAspect="1" noChangeArrowheads="1"/>
          </p:cNvPicPr>
          <p:nvPr>
            <p:ph idx="4294967295"/>
          </p:nvPr>
        </p:nvPicPr>
        <p:blipFill>
          <a:blip r:embed="rId2" cstate="print"/>
          <a:srcRect/>
          <a:stretch>
            <a:fillRect/>
          </a:stretch>
        </p:blipFill>
        <p:spPr bwMode="auto">
          <a:xfrm>
            <a:off x="683568" y="764704"/>
            <a:ext cx="7488832" cy="5400600"/>
          </a:xfrm>
          <a:prstGeom prst="rect">
            <a:avLst/>
          </a:prstGeom>
          <a:noFill/>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user\Desktop\1307-aft-640x480.jpg"/>
          <p:cNvPicPr>
            <a:picLocks noGrp="1" noChangeAspect="1" noChangeArrowheads="1"/>
          </p:cNvPicPr>
          <p:nvPr>
            <p:ph idx="4294967295"/>
          </p:nvPr>
        </p:nvPicPr>
        <p:blipFill>
          <a:blip r:embed="rId2" cstate="print"/>
          <a:srcRect/>
          <a:stretch>
            <a:fillRect/>
          </a:stretch>
        </p:blipFill>
        <p:spPr bwMode="auto">
          <a:xfrm>
            <a:off x="971600" y="476672"/>
            <a:ext cx="7173912" cy="5662613"/>
          </a:xfrm>
          <a:prstGeom prst="rect">
            <a:avLst/>
          </a:prstGeom>
          <a:noFill/>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imagesE7MKXM3J.jpg"/>
          <p:cNvPicPr>
            <a:picLocks noGrp="1" noChangeAspect="1" noChangeArrowheads="1"/>
          </p:cNvPicPr>
          <p:nvPr>
            <p:ph idx="4294967295"/>
          </p:nvPr>
        </p:nvPicPr>
        <p:blipFill>
          <a:blip r:embed="rId2" cstate="print"/>
          <a:srcRect/>
          <a:stretch>
            <a:fillRect/>
          </a:stretch>
        </p:blipFill>
        <p:spPr bwMode="auto">
          <a:xfrm>
            <a:off x="3635896" y="260648"/>
            <a:ext cx="5286375" cy="4000500"/>
          </a:xfrm>
          <a:prstGeom prst="rect">
            <a:avLst/>
          </a:prstGeom>
          <a:noFill/>
        </p:spPr>
      </p:pic>
      <p:pic>
        <p:nvPicPr>
          <p:cNvPr id="2051" name="Picture 3" descr="C:\Users\Pc\Desktop\untitled 1.png"/>
          <p:cNvPicPr>
            <a:picLocks noChangeAspect="1" noChangeArrowheads="1"/>
          </p:cNvPicPr>
          <p:nvPr/>
        </p:nvPicPr>
        <p:blipFill>
          <a:blip r:embed="rId3" cstate="print"/>
          <a:srcRect/>
          <a:stretch>
            <a:fillRect/>
          </a:stretch>
        </p:blipFill>
        <p:spPr bwMode="auto">
          <a:xfrm>
            <a:off x="251520" y="3429000"/>
            <a:ext cx="3714744" cy="3038484"/>
          </a:xfrm>
          <a:prstGeom prst="rect">
            <a:avLst/>
          </a:prstGeom>
          <a:noFill/>
        </p:spPr>
      </p:pic>
      <p:pic>
        <p:nvPicPr>
          <p:cNvPr id="2052" name="Picture 4" descr="C:\Users\Pc\Desktop\untitled 2.png"/>
          <p:cNvPicPr>
            <a:picLocks noChangeAspect="1" noChangeArrowheads="1"/>
          </p:cNvPicPr>
          <p:nvPr/>
        </p:nvPicPr>
        <p:blipFill>
          <a:blip r:embed="rId4" cstate="print"/>
          <a:srcRect/>
          <a:stretch>
            <a:fillRect/>
          </a:stretch>
        </p:blipFill>
        <p:spPr bwMode="auto">
          <a:xfrm>
            <a:off x="253597" y="428604"/>
            <a:ext cx="3274911" cy="2786082"/>
          </a:xfrm>
          <a:prstGeom prst="rect">
            <a:avLst/>
          </a:prstGeom>
          <a:noFill/>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Pc\Desktop\untitled.png"/>
          <p:cNvPicPr>
            <a:picLocks noGrp="1" noChangeAspect="1" noChangeArrowheads="1"/>
          </p:cNvPicPr>
          <p:nvPr>
            <p:ph idx="4294967295"/>
          </p:nvPr>
        </p:nvPicPr>
        <p:blipFill>
          <a:blip r:embed="rId2" cstate="print"/>
          <a:srcRect/>
          <a:stretch>
            <a:fillRect/>
          </a:stretch>
        </p:blipFill>
        <p:spPr bwMode="auto">
          <a:xfrm>
            <a:off x="5148064" y="332656"/>
            <a:ext cx="3643312" cy="3714750"/>
          </a:xfrm>
          <a:prstGeom prst="rect">
            <a:avLst/>
          </a:prstGeom>
          <a:noFill/>
        </p:spPr>
      </p:pic>
      <p:pic>
        <p:nvPicPr>
          <p:cNvPr id="3075" name="Picture 3" descr="C:\Users\Pc\Desktop\1.png"/>
          <p:cNvPicPr>
            <a:picLocks noChangeAspect="1" noChangeArrowheads="1"/>
          </p:cNvPicPr>
          <p:nvPr/>
        </p:nvPicPr>
        <p:blipFill>
          <a:blip r:embed="rId3" cstate="print"/>
          <a:srcRect/>
          <a:stretch>
            <a:fillRect/>
          </a:stretch>
        </p:blipFill>
        <p:spPr bwMode="auto">
          <a:xfrm>
            <a:off x="285720" y="785794"/>
            <a:ext cx="4458290" cy="3133735"/>
          </a:xfrm>
          <a:prstGeom prst="rect">
            <a:avLst/>
          </a:prstGeom>
          <a:noFill/>
        </p:spPr>
      </p:pic>
      <p:pic>
        <p:nvPicPr>
          <p:cNvPr id="3076" name="Picture 4" descr="C:\Users\Pc\Desktop\images4INLWSAE.jpg"/>
          <p:cNvPicPr>
            <a:picLocks noChangeAspect="1" noChangeArrowheads="1"/>
          </p:cNvPicPr>
          <p:nvPr/>
        </p:nvPicPr>
        <p:blipFill>
          <a:blip r:embed="rId4" cstate="print"/>
          <a:srcRect/>
          <a:stretch>
            <a:fillRect/>
          </a:stretch>
        </p:blipFill>
        <p:spPr bwMode="auto">
          <a:xfrm>
            <a:off x="2051720" y="3789040"/>
            <a:ext cx="4143404" cy="2870748"/>
          </a:xfrm>
          <a:prstGeom prst="rect">
            <a:avLst/>
          </a:prstGeom>
          <a:noFill/>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MANTARLAR</a:t>
            </a:r>
            <a:br>
              <a:rPr lang="tr-TR" sz="4000" b="1" dirty="0" smtClean="0">
                <a:solidFill>
                  <a:srgbClr val="FF0000"/>
                </a:solidFill>
              </a:rPr>
            </a:br>
            <a:r>
              <a:rPr lang="tr-TR" sz="4000" b="1" dirty="0" smtClean="0">
                <a:solidFill>
                  <a:srgbClr val="FF0000"/>
                </a:solidFill>
              </a:rPr>
              <a:t> TANI YÖNTEMLERİ</a:t>
            </a:r>
            <a:endParaRPr lang="tr-TR" sz="4000" b="1" dirty="0">
              <a:solidFill>
                <a:srgbClr val="FF0000"/>
              </a:solidFill>
            </a:endParaRPr>
          </a:p>
        </p:txBody>
      </p:sp>
      <p:sp>
        <p:nvSpPr>
          <p:cNvPr id="3" name="2 İçerik Yer Tutucusu"/>
          <p:cNvSpPr>
            <a:spLocks noGrp="1"/>
          </p:cNvSpPr>
          <p:nvPr>
            <p:ph idx="1"/>
          </p:nvPr>
        </p:nvSpPr>
        <p:spPr/>
        <p:txBody>
          <a:bodyPr/>
          <a:lstStyle/>
          <a:p>
            <a:r>
              <a:rPr lang="tr-TR" b="1" dirty="0" smtClean="0"/>
              <a:t>Mikroskobik incelemede en iyi </a:t>
            </a:r>
            <a:r>
              <a:rPr lang="tr-TR" b="1" dirty="0" err="1" smtClean="0"/>
              <a:t>laktafenol</a:t>
            </a:r>
            <a:r>
              <a:rPr lang="tr-TR" b="1" dirty="0" smtClean="0"/>
              <a:t> pamuk mavisi ile boyanarak görülürler</a:t>
            </a:r>
          </a:p>
          <a:p>
            <a:r>
              <a:rPr lang="tr-TR" b="1" dirty="0" smtClean="0"/>
              <a:t>Tırnak gibi katı materyal için % 10 </a:t>
            </a:r>
            <a:r>
              <a:rPr lang="tr-TR" b="1" dirty="0" err="1" smtClean="0"/>
              <a:t>luk</a:t>
            </a:r>
            <a:r>
              <a:rPr lang="tr-TR" b="1" dirty="0" smtClean="0"/>
              <a:t> KOH kullanılır</a:t>
            </a:r>
          </a:p>
          <a:p>
            <a:r>
              <a:rPr lang="tr-TR" b="1" dirty="0" smtClean="0"/>
              <a:t>Muayene maddeleri saç,kıl tırnak </a:t>
            </a:r>
          </a:p>
          <a:p>
            <a:r>
              <a:rPr lang="tr-TR" b="1" dirty="0" smtClean="0"/>
              <a:t>Kültür için besi yeri </a:t>
            </a:r>
            <a:r>
              <a:rPr lang="tr-TR" b="1" dirty="0" err="1" smtClean="0"/>
              <a:t>Sabouraud</a:t>
            </a:r>
            <a:r>
              <a:rPr lang="tr-TR" b="1" dirty="0" smtClean="0"/>
              <a:t> besi yeridir</a:t>
            </a:r>
          </a:p>
          <a:p>
            <a:r>
              <a:rPr lang="tr-TR" b="1" dirty="0" err="1" smtClean="0"/>
              <a:t>Siklohegzimid</a:t>
            </a:r>
            <a:r>
              <a:rPr lang="tr-TR" b="1" dirty="0" smtClean="0"/>
              <a:t> katılabilir</a:t>
            </a:r>
            <a:endParaRPr lang="tr-TR" b="1"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user\Desktop\derinin-yuzeysel-mantar-hastaliklari-02-15c8391727f56cb31513b6f17b2fd4c5.jpg"/>
          <p:cNvPicPr>
            <a:picLocks noGrp="1" noChangeAspect="1" noChangeArrowheads="1"/>
          </p:cNvPicPr>
          <p:nvPr>
            <p:ph idx="4294967295"/>
          </p:nvPr>
        </p:nvPicPr>
        <p:blipFill>
          <a:blip r:embed="rId2" cstate="print"/>
          <a:srcRect/>
          <a:stretch>
            <a:fillRect/>
          </a:stretch>
        </p:blipFill>
        <p:spPr bwMode="auto">
          <a:xfrm>
            <a:off x="989538" y="620688"/>
            <a:ext cx="7809678" cy="5184576"/>
          </a:xfrm>
          <a:prstGeom prst="rect">
            <a:avLst/>
          </a:prstGeom>
          <a:noFill/>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MANTARLAR</a:t>
            </a:r>
            <a:br>
              <a:rPr lang="tr-TR" sz="3600" b="1" dirty="0" smtClean="0">
                <a:solidFill>
                  <a:srgbClr val="FF0000"/>
                </a:solidFill>
              </a:rPr>
            </a:br>
            <a:r>
              <a:rPr lang="tr-TR" sz="3600" b="1" dirty="0" smtClean="0">
                <a:solidFill>
                  <a:srgbClr val="FF0000"/>
                </a:solidFill>
              </a:rPr>
              <a:t> TANI YÖNTEMLERİ</a:t>
            </a:r>
            <a:endParaRPr lang="tr-TR" sz="3600" dirty="0"/>
          </a:p>
        </p:txBody>
      </p:sp>
      <p:sp>
        <p:nvSpPr>
          <p:cNvPr id="3" name="2 İçerik Yer Tutucusu"/>
          <p:cNvSpPr>
            <a:spLocks noGrp="1"/>
          </p:cNvSpPr>
          <p:nvPr>
            <p:ph idx="1"/>
          </p:nvPr>
        </p:nvSpPr>
        <p:spPr/>
        <p:txBody>
          <a:bodyPr/>
          <a:lstStyle/>
          <a:p>
            <a:r>
              <a:rPr lang="tr-TR" b="1" dirty="0" smtClean="0">
                <a:cs typeface="Arial" charset="0"/>
              </a:rPr>
              <a:t>GÜNÜMÜZDE</a:t>
            </a:r>
          </a:p>
          <a:p>
            <a:pPr lvl="2"/>
            <a:r>
              <a:rPr lang="tr-TR" sz="3600" b="1" dirty="0" err="1" smtClean="0"/>
              <a:t>Serolojik</a:t>
            </a:r>
            <a:r>
              <a:rPr lang="tr-TR" sz="3600" b="1" dirty="0" smtClean="0"/>
              <a:t> yöntemler</a:t>
            </a:r>
          </a:p>
          <a:p>
            <a:pPr lvl="2"/>
            <a:r>
              <a:rPr lang="tr-TR" sz="3600" b="1" dirty="0" smtClean="0"/>
              <a:t>ELISA</a:t>
            </a:r>
            <a:endParaRPr lang="en-US" sz="3600" b="1" dirty="0" smtClean="0">
              <a:cs typeface="Arial" charset="0"/>
            </a:endParaRPr>
          </a:p>
          <a:p>
            <a:endParaRPr lang="tr-TR"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C:\Users\user\Desktop\krizantem-650x443.jpg"/>
          <p:cNvPicPr>
            <a:picLocks noGrp="1" noChangeAspect="1" noChangeArrowheads="1"/>
          </p:cNvPicPr>
          <p:nvPr>
            <p:ph idx="4294967295"/>
          </p:nvPr>
        </p:nvPicPr>
        <p:blipFill>
          <a:blip r:embed="rId2" cstate="print"/>
          <a:srcRect/>
          <a:stretch>
            <a:fillRect/>
          </a:stretch>
        </p:blipFill>
        <p:spPr bwMode="auto">
          <a:xfrm>
            <a:off x="3491880" y="404664"/>
            <a:ext cx="4859337" cy="3313113"/>
          </a:xfrm>
          <a:prstGeom prst="rect">
            <a:avLst/>
          </a:prstGeom>
          <a:noFill/>
        </p:spPr>
      </p:pic>
      <p:pic>
        <p:nvPicPr>
          <p:cNvPr id="9220" name="Picture 4" descr="C:\Users\user\Desktop\mevsimlik-cicekler-310x174.png"/>
          <p:cNvPicPr>
            <a:picLocks noChangeAspect="1" noChangeArrowheads="1"/>
          </p:cNvPicPr>
          <p:nvPr/>
        </p:nvPicPr>
        <p:blipFill>
          <a:blip r:embed="rId3" cstate="print"/>
          <a:srcRect/>
          <a:stretch>
            <a:fillRect/>
          </a:stretch>
        </p:blipFill>
        <p:spPr bwMode="auto">
          <a:xfrm>
            <a:off x="395536" y="3573016"/>
            <a:ext cx="5259895" cy="2952328"/>
          </a:xfrm>
          <a:prstGeom prst="rect">
            <a:avLst/>
          </a:prstGeom>
          <a:noFill/>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1404</TotalTime>
  <Words>3294</Words>
  <Application>Microsoft Office PowerPoint</Application>
  <PresentationFormat>Ekran Gösterisi (4:3)</PresentationFormat>
  <Paragraphs>697</Paragraphs>
  <Slides>172</Slides>
  <Notes>1</Notes>
  <HiddenSlides>0</HiddenSlides>
  <MMClips>0</MMClips>
  <ScaleCrop>false</ScaleCrop>
  <HeadingPairs>
    <vt:vector size="4" baseType="variant">
      <vt:variant>
        <vt:lpstr>Tema</vt:lpstr>
      </vt:variant>
      <vt:variant>
        <vt:i4>1</vt:i4>
      </vt:variant>
      <vt:variant>
        <vt:lpstr>Slayt Başlıkları</vt:lpstr>
      </vt:variant>
      <vt:variant>
        <vt:i4>172</vt:i4>
      </vt:variant>
    </vt:vector>
  </HeadingPairs>
  <TitlesOfParts>
    <vt:vector size="173" baseType="lpstr">
      <vt:lpstr>Ofis Teması</vt:lpstr>
      <vt:lpstr>MANTAR İNFEKSİYONLARI İÇİN HAZIRLAYICI FAKTÖRLER</vt:lpstr>
      <vt:lpstr>MANTAR HASTALIKLARI</vt:lpstr>
      <vt:lpstr>MİKOTOKSİN NEDİR</vt:lpstr>
      <vt:lpstr>Slayt 4</vt:lpstr>
      <vt:lpstr>ASPERGİLLUS FLAVUS</vt:lpstr>
      <vt:lpstr>Slayt 6</vt:lpstr>
      <vt:lpstr>Slayt 7</vt:lpstr>
      <vt:lpstr> </vt:lpstr>
      <vt:lpstr> GÖRÜNMEZ ZEHİR; AFLATOKSİN! </vt:lpstr>
      <vt:lpstr> </vt:lpstr>
      <vt:lpstr>Slayt 11</vt:lpstr>
      <vt:lpstr>Slayt 12</vt:lpstr>
      <vt:lpstr>Slayt 13</vt:lpstr>
      <vt:lpstr>Slayt 14</vt:lpstr>
      <vt:lpstr>çok iyi duran bir incirin aflatoksinli olduğu ancak UV ışını altında anlarız</vt:lpstr>
      <vt:lpstr>Slayt 16</vt:lpstr>
      <vt:lpstr> HAYVANLARIN ETLERİ, SÜTLERİ VE YUMURTALARI  </vt:lpstr>
      <vt:lpstr> AFLATOKSİNİN SAĞLIK ÜZERİNDEKİ ETKİLERİ </vt:lpstr>
      <vt:lpstr> ÇAVDAR MAHMUZU  (CLAVİCEPS PURPUREA-ERGOT HASTALIĞI) </vt:lpstr>
      <vt:lpstr>Slayt 20</vt:lpstr>
      <vt:lpstr>Slayt 21</vt:lpstr>
      <vt:lpstr>Slayt 22</vt:lpstr>
      <vt:lpstr>  ÇAVDAR MAHMUZU  (CLAVİCEPS PURPUREA-ERGOT HASTALIĞI)  </vt:lpstr>
      <vt:lpstr>Slayt 24</vt:lpstr>
      <vt:lpstr>Slayt 25</vt:lpstr>
      <vt:lpstr>Slayt 26</vt:lpstr>
      <vt:lpstr>AMANİTA</vt:lpstr>
      <vt:lpstr>AMANİTA</vt:lpstr>
      <vt:lpstr>Slayt 29</vt:lpstr>
      <vt:lpstr>DERMATOFİT NEDİR</vt:lpstr>
      <vt:lpstr>NEREDE HASTALIK YAPARLAR</vt:lpstr>
      <vt:lpstr>Slayt 32</vt:lpstr>
      <vt:lpstr>NASIL BELİRTİ VERİRLER</vt:lpstr>
      <vt:lpstr>Slayt 34</vt:lpstr>
      <vt:lpstr>Slayt 35</vt:lpstr>
      <vt:lpstr>DERMATOFİTLER HAYVANLARDA  nerede enfeksiyon yaparlar</vt:lpstr>
      <vt:lpstr>Slayt 37</vt:lpstr>
      <vt:lpstr> KEDİDE RİNGWORM </vt:lpstr>
      <vt:lpstr>Slayt 39</vt:lpstr>
      <vt:lpstr>Slayt 40</vt:lpstr>
      <vt:lpstr>Slayt 41</vt:lpstr>
      <vt:lpstr>KÖPEKTE RİNGWORM</vt:lpstr>
      <vt:lpstr>Slayt 43</vt:lpstr>
      <vt:lpstr>KÖPEKTE RİNGWORM</vt:lpstr>
      <vt:lpstr>Slayt 45</vt:lpstr>
      <vt:lpstr>NEDEN OLABİLİR?</vt:lpstr>
      <vt:lpstr>Slayt 47</vt:lpstr>
      <vt:lpstr>Slayt 48</vt:lpstr>
      <vt:lpstr>İNSANLARA BULAŞIR</vt:lpstr>
      <vt:lpstr> BÜYÜKBAŞ  HAYVANLARDA  MANTAR SAÇKIRAN (Trichophytosis) </vt:lpstr>
      <vt:lpstr>SIĞIRLARDA  MANTAR</vt:lpstr>
      <vt:lpstr>Slayt 52</vt:lpstr>
      <vt:lpstr> TRİCHOPHYTOSİS </vt:lpstr>
      <vt:lpstr>Slayt 54</vt:lpstr>
      <vt:lpstr>Slayt 55</vt:lpstr>
      <vt:lpstr>ARILARDA MANTAR</vt:lpstr>
      <vt:lpstr>BU MANTAR HASTALIĞININ İLERLEYİŞİNE  ADIM ADIM BAKALIM</vt:lpstr>
      <vt:lpstr>ARILARDA MANTAR  KİREÇ HASTALIĞI</vt:lpstr>
      <vt:lpstr>ARILARDA MANTAR  KİREÇ HASTALIĞI</vt:lpstr>
      <vt:lpstr>  ARILARDA HASTALIĞA NEDEN OLAN FUNGUS </vt:lpstr>
      <vt:lpstr>Slayt 61</vt:lpstr>
      <vt:lpstr>İNSANLARDAKİ MANTAR HASTALIKLARI</vt:lpstr>
      <vt:lpstr> MANTAR KİMLERDE SIKLIKLA GÖRÜLÜR? </vt:lpstr>
      <vt:lpstr> </vt:lpstr>
      <vt:lpstr> MANTAR HASTALIKLARININ NEDENLERİ ARASINDA NELER VARDIR</vt:lpstr>
      <vt:lpstr>Slayt 66</vt:lpstr>
      <vt:lpstr>DERMATOFİT NEDİR</vt:lpstr>
      <vt:lpstr>DERMATOFİT ETKENLERİ NELERDİR  VE YERLEŞİM YERLERİ NERELERDİR</vt:lpstr>
      <vt:lpstr> DERMATOFİTLERİ GENEL OLARAK  3 BÖLÜMDE İNCELERİZ </vt:lpstr>
      <vt:lpstr>İNSANLARDAKİ MANTAR HASTALIKLAR</vt:lpstr>
      <vt:lpstr>YÜZEYEL  MİKOZLAR</vt:lpstr>
      <vt:lpstr>YÜZEYEL  MİKOZLAR 1-Tinea versicolor  Nedir? Nerede Bulunur?</vt:lpstr>
      <vt:lpstr>YÜZEYEL  MİKOZLAR Tinea versicolor  Ne yapar? </vt:lpstr>
      <vt:lpstr>Slayt 74</vt:lpstr>
      <vt:lpstr>YÜZEYEL  MİKOZLAR Tinea versicolor  Ne yapar? </vt:lpstr>
      <vt:lpstr>Slayt 76</vt:lpstr>
      <vt:lpstr>YÜZEYEL  MİKOZLAR Tinea versicolor  Ne yapar? </vt:lpstr>
      <vt:lpstr>YÜZEYEL  MİKOZLAR Tinea versicolor  Risk Grubu Kimlerdir?</vt:lpstr>
      <vt:lpstr>YÜZEYEL  MİKOZLAR Tinea versicolor  Nasıl bir hastalıktır ve Tedavisi </vt:lpstr>
      <vt:lpstr>YÜZEYEL  MİKOZLAR (Tinea versicolor)</vt:lpstr>
      <vt:lpstr>YÜZEYEL  MİKOZLAR  2-Tinea pedis  (atlet ayağı)   Nedir? Nerede Bulunur?</vt:lpstr>
      <vt:lpstr>YÜZEYEL  MİKOZLAR  Tinea pedis  (atlet ayağı)   Ne yapar? </vt:lpstr>
      <vt:lpstr>Slayt 83</vt:lpstr>
      <vt:lpstr>Slayt 84</vt:lpstr>
      <vt:lpstr>YÜZEYEL  MİKOZLAR  Tinea pedis  (atlet ayağı)   Özellikleri Nelerdir?</vt:lpstr>
      <vt:lpstr>YÜZEYEL  MİKOZLAR  Tinea pedis  (atlet ayağı) Risk Grubu Kimlerdir?</vt:lpstr>
      <vt:lpstr>Slayt 87</vt:lpstr>
      <vt:lpstr>Slayt 88</vt:lpstr>
      <vt:lpstr>YÜZEYEL  MİKOZLAR  Tiniea pedis  (atlet ayağı) Tedavisi </vt:lpstr>
      <vt:lpstr>YÜZEYEL  MİKOZLAR  Tiniea pedis  (atlet ayağı) Tedavisi Edilmezse neler olabilir?</vt:lpstr>
      <vt:lpstr>Slayt 91</vt:lpstr>
      <vt:lpstr>YÜZEYEL  MİKOZLAR  3-Tiniea corporis</vt:lpstr>
      <vt:lpstr>YÜZEYEL  MİKOZLAR  Tiniea corporis</vt:lpstr>
      <vt:lpstr>Slayt 94</vt:lpstr>
      <vt:lpstr>YÜZEYEL  MİKOZLAR  4-TİNİEA CAPİTİS</vt:lpstr>
      <vt:lpstr>Slayt 96</vt:lpstr>
      <vt:lpstr>Slayt 97</vt:lpstr>
      <vt:lpstr>TİNİEA CAPİTİS NEDİR? </vt:lpstr>
      <vt:lpstr>TİNİEA CAPİTİS SAÇTAKİ GÖRÜNÜMÜ </vt:lpstr>
      <vt:lpstr>TİNİEA CAPİTİS NASIL BULAŞIR?</vt:lpstr>
      <vt:lpstr>TİNİEA CAPİTİS</vt:lpstr>
      <vt:lpstr>TİNİEA CAPİTİS</vt:lpstr>
      <vt:lpstr>TİNİEA CAPİTİS NASIL BULAŞIR?</vt:lpstr>
      <vt:lpstr>ÖNEMLİİİİİİİ</vt:lpstr>
      <vt:lpstr>Tinea kapitis favosa</vt:lpstr>
      <vt:lpstr>Slayt 106</vt:lpstr>
      <vt:lpstr>Slayt 107</vt:lpstr>
      <vt:lpstr>TİNİEA CAPİTİS NASIL BULAŞIR?</vt:lpstr>
      <vt:lpstr>TİNİEA CAPİTİS TEDAVİSİ NASIL YAPILIR?</vt:lpstr>
      <vt:lpstr>TİNİEA CAPİTİS KORUNMA NASIL OLMALI</vt:lpstr>
      <vt:lpstr>TİNİEA CAPİTİS BULAŞINI ÖNLEMEK İÇİN NE YAPILABİLİR? </vt:lpstr>
      <vt:lpstr>TİNİEA CAPİTİS BULAŞINI ÖNLEMEK İÇİN NE YAPILABİLİR? </vt:lpstr>
      <vt:lpstr>  YÜZEYEL  MİKOZLAR  5- Tinea barbae </vt:lpstr>
      <vt:lpstr>TİNEA BARBAE</vt:lpstr>
      <vt:lpstr>Slayt 115</vt:lpstr>
      <vt:lpstr>Slayt 116</vt:lpstr>
      <vt:lpstr>DERMATOFİT ETKENLERİ NELERDİR  VE YERLEŞİM YERLERİ NERELERDİR</vt:lpstr>
      <vt:lpstr>YÜZEYEL  MİKOZLAR  6- Onikomikoz</vt:lpstr>
      <vt:lpstr>Slayt 119</vt:lpstr>
      <vt:lpstr>Slayt 120</vt:lpstr>
      <vt:lpstr>TIRNAKLARA MANTAR NASIL BULAŞIR?</vt:lpstr>
      <vt:lpstr>Slayt 122</vt:lpstr>
      <vt:lpstr> BAZI KİŞİLER TIRNAK MANTAR ENFEKSİYONUNA DAHA DUYARLIDIRLAR </vt:lpstr>
      <vt:lpstr> TIRNAK MANTAR HASTALIĞI BULAŞICIDIR.  ENFEKSİYONA NEDEN OLAN MANTARLAR ORTAK KULLANIMA AÇIK, ILIK VE NEMLİ YERLERDE BULUNURLAR </vt:lpstr>
      <vt:lpstr>  MANTAR  TIRNAKLARDA NASIL DEĞİŞİKLİK YAPAR </vt:lpstr>
      <vt:lpstr>  MANTAR  TIRNAKLARDA NASIL DEĞİŞİKLİK YAPAR </vt:lpstr>
      <vt:lpstr>Slayt 127</vt:lpstr>
      <vt:lpstr>Slayt 128</vt:lpstr>
      <vt:lpstr>Slayt 129</vt:lpstr>
      <vt:lpstr>Slayt 130</vt:lpstr>
      <vt:lpstr>Slayt 131</vt:lpstr>
      <vt:lpstr>Slayt 132</vt:lpstr>
      <vt:lpstr>Slayt 133</vt:lpstr>
      <vt:lpstr>Slayt 134</vt:lpstr>
      <vt:lpstr>Slayt 135</vt:lpstr>
      <vt:lpstr>Slayt 136</vt:lpstr>
      <vt:lpstr>Slayt 137</vt:lpstr>
      <vt:lpstr> TEDAVİ SIRASINDA VE TEDAVİDEN SONRA TIRNAKLARI KORUMAK İÇİN NELER YAPILABİLİR </vt:lpstr>
      <vt:lpstr>MANTARDAN KORUNMA YÖNTEMLERİ ÖNERİLER</vt:lpstr>
      <vt:lpstr>MANTARDAN KORUNMA YÖNTEMLERİ ÖNERİLER</vt:lpstr>
      <vt:lpstr>MANTARDAN KORUNMA YÖNTEMLERİ ÖNERİLER</vt:lpstr>
      <vt:lpstr>MANTARDAN KORUNMA YÖNTEMLERİ ÖNERİLER</vt:lpstr>
      <vt:lpstr>MANTARDAN KORUNMA YÖNTEMLERİ ÖNERİLER</vt:lpstr>
      <vt:lpstr>Slayt 144</vt:lpstr>
      <vt:lpstr>TIRNAK MANTARI TEDAVİ EDİLMEZSE SONUÇLAR NELER OLABİLİR?</vt:lpstr>
      <vt:lpstr>İNSANLARDAKİ MANTAR HASTALIKLAR</vt:lpstr>
      <vt:lpstr>İNSANLARDAKİ MANTAR HASTALIKLAR</vt:lpstr>
      <vt:lpstr> SUBKUTAN   DERİ ALTI MİKOZLAR </vt:lpstr>
      <vt:lpstr>NASIL BULAŞIR VE EN ÇOK KİMLERDE GÖRÜLÜR?</vt:lpstr>
      <vt:lpstr> ÖRNEK VEREREK AÇIKLAYALIM </vt:lpstr>
      <vt:lpstr>Slayt 151</vt:lpstr>
      <vt:lpstr> SPOROTRİCHOSİS </vt:lpstr>
      <vt:lpstr>SPOROTRİCHOSİS</vt:lpstr>
      <vt:lpstr>SPOROTRİCHOSİS</vt:lpstr>
      <vt:lpstr>İNSANLARDAKİ MANTAR HASTALIKLAR</vt:lpstr>
      <vt:lpstr>DERİN MİKOZLAR VEYA SİSTEMİK MİKOZLAR</vt:lpstr>
      <vt:lpstr>DERİN MİKOZLAR VEYA SİSTEMİK MİKOZLAR</vt:lpstr>
      <vt:lpstr> HİSTOPLAZMOZ  </vt:lpstr>
      <vt:lpstr>Slayt 159</vt:lpstr>
      <vt:lpstr>SİSTEMİK MİKOZLARA BAŞKA BİR ÖRNEK</vt:lpstr>
      <vt:lpstr>FIRSATÇI MİKOZLAR </vt:lpstr>
      <vt:lpstr>Slayt 162</vt:lpstr>
      <vt:lpstr>EN ÇOK GÖRÜLEN YERLER</vt:lpstr>
      <vt:lpstr>Candida albicans  PAMUKÇUK</vt:lpstr>
      <vt:lpstr>Slayt 165</vt:lpstr>
      <vt:lpstr>Slayt 166</vt:lpstr>
      <vt:lpstr>Slayt 167</vt:lpstr>
      <vt:lpstr>Slayt 168</vt:lpstr>
      <vt:lpstr>MANTARLAR  TANI YÖNTEMLERİ</vt:lpstr>
      <vt:lpstr>Slayt 170</vt:lpstr>
      <vt:lpstr>MANTARLAR  TANI YÖNTEMLERİ</vt:lpstr>
      <vt:lpstr>Slayt 172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Tijen NEMUT</dc:creator>
  <cp:lastModifiedBy>tijen</cp:lastModifiedBy>
  <cp:revision>314</cp:revision>
  <dcterms:created xsi:type="dcterms:W3CDTF">2023-11-19T13:14:53Z</dcterms:created>
  <dcterms:modified xsi:type="dcterms:W3CDTF">2025-12-16T14:20:33Z</dcterms:modified>
</cp:coreProperties>
</file>