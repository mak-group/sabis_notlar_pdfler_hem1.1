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8"/>
  </p:notesMasterIdLst>
  <p:sldIdLst>
    <p:sldId id="257" r:id="rId2"/>
    <p:sldId id="346" r:id="rId3"/>
    <p:sldId id="379" r:id="rId4"/>
    <p:sldId id="380" r:id="rId5"/>
    <p:sldId id="384" r:id="rId6"/>
    <p:sldId id="532" r:id="rId7"/>
    <p:sldId id="554" r:id="rId8"/>
    <p:sldId id="390" r:id="rId9"/>
    <p:sldId id="391" r:id="rId10"/>
    <p:sldId id="392" r:id="rId11"/>
    <p:sldId id="393" r:id="rId12"/>
    <p:sldId id="394" r:id="rId13"/>
    <p:sldId id="395" r:id="rId14"/>
    <p:sldId id="396" r:id="rId15"/>
    <p:sldId id="397" r:id="rId16"/>
    <p:sldId id="534" r:id="rId17"/>
    <p:sldId id="510" r:id="rId18"/>
    <p:sldId id="509" r:id="rId19"/>
    <p:sldId id="402" r:id="rId20"/>
    <p:sldId id="535" r:id="rId21"/>
    <p:sldId id="405" r:id="rId22"/>
    <p:sldId id="536" r:id="rId23"/>
    <p:sldId id="283" r:id="rId24"/>
    <p:sldId id="406" r:id="rId25"/>
    <p:sldId id="530" r:id="rId26"/>
    <p:sldId id="285" r:id="rId27"/>
    <p:sldId id="411" r:id="rId28"/>
    <p:sldId id="537" r:id="rId29"/>
    <p:sldId id="512" r:id="rId30"/>
    <p:sldId id="286" r:id="rId31"/>
    <p:sldId id="261" r:id="rId32"/>
    <p:sldId id="262" r:id="rId33"/>
    <p:sldId id="263" r:id="rId34"/>
    <p:sldId id="515" r:id="rId35"/>
    <p:sldId id="264" r:id="rId36"/>
    <p:sldId id="265" r:id="rId37"/>
    <p:sldId id="415" r:id="rId38"/>
    <p:sldId id="266" r:id="rId39"/>
    <p:sldId id="412" r:id="rId40"/>
    <p:sldId id="267" r:id="rId41"/>
    <p:sldId id="418" r:id="rId42"/>
    <p:sldId id="516" r:id="rId43"/>
    <p:sldId id="269" r:id="rId44"/>
    <p:sldId id="519" r:id="rId45"/>
    <p:sldId id="511" r:id="rId46"/>
    <p:sldId id="292" r:id="rId47"/>
    <p:sldId id="290" r:id="rId48"/>
    <p:sldId id="413" r:id="rId49"/>
    <p:sldId id="421" r:id="rId50"/>
    <p:sldId id="275" r:id="rId51"/>
    <p:sldId id="277" r:id="rId52"/>
    <p:sldId id="538" r:id="rId53"/>
    <p:sldId id="539" r:id="rId54"/>
    <p:sldId id="541" r:id="rId55"/>
    <p:sldId id="540" r:id="rId56"/>
    <p:sldId id="524" r:id="rId57"/>
    <p:sldId id="523" r:id="rId58"/>
    <p:sldId id="525" r:id="rId59"/>
    <p:sldId id="521" r:id="rId60"/>
    <p:sldId id="306" r:id="rId61"/>
    <p:sldId id="303" r:id="rId62"/>
    <p:sldId id="301" r:id="rId63"/>
    <p:sldId id="308" r:id="rId64"/>
    <p:sldId id="307" r:id="rId65"/>
    <p:sldId id="310" r:id="rId66"/>
    <p:sldId id="312" r:id="rId67"/>
    <p:sldId id="430" r:id="rId68"/>
    <p:sldId id="309" r:id="rId69"/>
    <p:sldId id="441" r:id="rId70"/>
    <p:sldId id="440" r:id="rId71"/>
    <p:sldId id="432" r:id="rId72"/>
    <p:sldId id="461" r:id="rId73"/>
    <p:sldId id="316" r:id="rId74"/>
    <p:sldId id="317" r:id="rId75"/>
    <p:sldId id="527" r:id="rId76"/>
    <p:sldId id="528" r:id="rId77"/>
    <p:sldId id="348" r:id="rId78"/>
    <p:sldId id="543" r:id="rId79"/>
    <p:sldId id="378" r:id="rId80"/>
    <p:sldId id="320" r:id="rId81"/>
    <p:sldId id="522" r:id="rId82"/>
    <p:sldId id="322" r:id="rId83"/>
    <p:sldId id="545" r:id="rId84"/>
    <p:sldId id="460" r:id="rId85"/>
    <p:sldId id="454" r:id="rId86"/>
    <p:sldId id="453" r:id="rId87"/>
    <p:sldId id="326" r:id="rId88"/>
    <p:sldId id="439" r:id="rId89"/>
    <p:sldId id="448" r:id="rId90"/>
    <p:sldId id="449" r:id="rId91"/>
    <p:sldId id="450" r:id="rId92"/>
    <p:sldId id="315" r:id="rId93"/>
    <p:sldId id="456" r:id="rId94"/>
    <p:sldId id="468" r:id="rId95"/>
    <p:sldId id="470" r:id="rId96"/>
    <p:sldId id="552" r:id="rId97"/>
    <p:sldId id="547" r:id="rId98"/>
    <p:sldId id="548" r:id="rId99"/>
    <p:sldId id="549" r:id="rId100"/>
    <p:sldId id="550" r:id="rId101"/>
    <p:sldId id="551" r:id="rId102"/>
    <p:sldId id="474" r:id="rId103"/>
    <p:sldId id="477" r:id="rId104"/>
    <p:sldId id="483" r:id="rId105"/>
    <p:sldId id="485" r:id="rId106"/>
    <p:sldId id="340" r:id="rId107"/>
    <p:sldId id="492" r:id="rId108"/>
    <p:sldId id="365" r:id="rId109"/>
    <p:sldId id="496" r:id="rId110"/>
    <p:sldId id="493" r:id="rId111"/>
    <p:sldId id="495" r:id="rId112"/>
    <p:sldId id="367" r:id="rId113"/>
    <p:sldId id="369" r:id="rId114"/>
    <p:sldId id="368" r:id="rId115"/>
    <p:sldId id="370" r:id="rId116"/>
    <p:sldId id="371" r:id="rId117"/>
    <p:sldId id="502" r:id="rId118"/>
    <p:sldId id="372" r:id="rId119"/>
    <p:sldId id="498" r:id="rId120"/>
    <p:sldId id="499" r:id="rId121"/>
    <p:sldId id="373" r:id="rId122"/>
    <p:sldId id="374" r:id="rId123"/>
    <p:sldId id="501" r:id="rId124"/>
    <p:sldId id="503" r:id="rId125"/>
    <p:sldId id="376" r:id="rId126"/>
    <p:sldId id="377" r:id="rId127"/>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0AC6"/>
    <a:srgbClr val="9A067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EB6A47-8372-40BE-800F-99EDCFF3FBFF}" type="datetimeFigureOut">
              <a:rPr lang="tr-TR" smtClean="0"/>
              <a:pPr/>
              <a:t>13.12.2025</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9C0475-4014-4753-91B2-EBBAC0AF8EE6}"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3 Veri Yer Tutucusu"/>
          <p:cNvSpPr>
            <a:spLocks noGrp="1"/>
          </p:cNvSpPr>
          <p:nvPr>
            <p:ph type="dt" sz="half" idx="10"/>
          </p:nvPr>
        </p:nvSpPr>
        <p:spPr/>
        <p:txBody>
          <a:bodyPr/>
          <a:lstStyle/>
          <a:p>
            <a:fld id="{129434EA-042C-4F06-B36D-3663665E9230}" type="datetimeFigureOut">
              <a:rPr lang="tr-TR" smtClean="0"/>
              <a:pPr/>
              <a:t>13.12.2025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DF842D4-6E70-44F9-8B48-1CFA899315DA}"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129434EA-042C-4F06-B36D-3663665E9230}" type="datetimeFigureOut">
              <a:rPr lang="tr-TR" smtClean="0"/>
              <a:pPr/>
              <a:t>13.12.2025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DF842D4-6E70-44F9-8B48-1CFA899315DA}"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3 Veri Yer Tutucusu"/>
          <p:cNvSpPr>
            <a:spLocks noGrp="1"/>
          </p:cNvSpPr>
          <p:nvPr>
            <p:ph type="dt" sz="half" idx="10"/>
          </p:nvPr>
        </p:nvSpPr>
        <p:spPr/>
        <p:txBody>
          <a:bodyPr/>
          <a:lstStyle/>
          <a:p>
            <a:fld id="{129434EA-042C-4F06-B36D-3663665E9230}" type="datetimeFigureOut">
              <a:rPr lang="tr-TR" smtClean="0"/>
              <a:pPr/>
              <a:t>13.12.2025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DF842D4-6E70-44F9-8B48-1CFA899315DA}"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Veri Yer Tutucusu"/>
          <p:cNvSpPr>
            <a:spLocks noGrp="1"/>
          </p:cNvSpPr>
          <p:nvPr>
            <p:ph type="dt" sz="half" idx="10"/>
          </p:nvPr>
        </p:nvSpPr>
        <p:spPr/>
        <p:txBody>
          <a:bodyPr/>
          <a:lstStyle/>
          <a:p>
            <a:fld id="{129434EA-042C-4F06-B36D-3663665E9230}" type="datetimeFigureOut">
              <a:rPr lang="tr-TR" smtClean="0"/>
              <a:pPr/>
              <a:t>13.12.2025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FDF842D4-6E70-44F9-8B48-1CFA899315DA}"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6 Veri Yer Tutucusu"/>
          <p:cNvSpPr>
            <a:spLocks noGrp="1"/>
          </p:cNvSpPr>
          <p:nvPr>
            <p:ph type="dt" sz="half" idx="10"/>
          </p:nvPr>
        </p:nvSpPr>
        <p:spPr/>
        <p:txBody>
          <a:bodyPr/>
          <a:lstStyle/>
          <a:p>
            <a:fld id="{129434EA-042C-4F06-B36D-3663665E9230}" type="datetimeFigureOut">
              <a:rPr lang="tr-TR" smtClean="0"/>
              <a:pPr/>
              <a:t>13.12.2025</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FDF842D4-6E70-44F9-8B48-1CFA899315DA}"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p>
            <a:fld id="{129434EA-042C-4F06-B36D-3663665E9230}" type="datetimeFigureOut">
              <a:rPr lang="tr-TR" smtClean="0"/>
              <a:pPr/>
              <a:t>13.12.2025</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FDF842D4-6E70-44F9-8B48-1CFA899315DA}"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129434EA-042C-4F06-B36D-3663665E9230}" type="datetimeFigureOut">
              <a:rPr lang="tr-TR" smtClean="0"/>
              <a:pPr/>
              <a:t>13.12.2025</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FDF842D4-6E70-44F9-8B48-1CFA899315DA}"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129434EA-042C-4F06-B36D-3663665E9230}" type="datetimeFigureOut">
              <a:rPr lang="tr-TR" smtClean="0"/>
              <a:pPr/>
              <a:t>13.12.2025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FDF842D4-6E70-44F9-8B48-1CFA899315DA}"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129434EA-042C-4F06-B36D-3663665E9230}" type="datetimeFigureOut">
              <a:rPr lang="tr-TR" smtClean="0"/>
              <a:pPr/>
              <a:t>13.12.2025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FDF842D4-6E70-44F9-8B48-1CFA899315DA}"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129434EA-042C-4F06-B36D-3663665E9230}" type="datetimeFigureOut">
              <a:rPr lang="tr-TR" smtClean="0"/>
              <a:pPr/>
              <a:t>13.12.2025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DF842D4-6E70-44F9-8B48-1CFA899315DA}"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129434EA-042C-4F06-B36D-3663665E9230}" type="datetimeFigureOut">
              <a:rPr lang="tr-TR" smtClean="0"/>
              <a:pPr/>
              <a:t>13.12.2025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DF842D4-6E70-44F9-8B48-1CFA899315DA}"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9434EA-042C-4F06-B36D-3663665E9230}" type="datetimeFigureOut">
              <a:rPr lang="tr-TR" smtClean="0"/>
              <a:pPr/>
              <a:t>13.12.2025</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F842D4-6E70-44F9-8B48-1CFA899315DA}"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jpeg"/><Relationship Id="rId4"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en.wikipedia.org/wiki/Diptera" TargetMode="External"/><Relationship Id="rId2" Type="http://schemas.openxmlformats.org/officeDocument/2006/relationships/hyperlink" Target="https://en.wikipedia.org/wiki/Blood-sucking" TargetMode="Externa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hyperlink" Target="https://en.wikipedia.org/wiki/Genu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7.xml"/><Relationship Id="rId4" Type="http://schemas.openxmlformats.org/officeDocument/2006/relationships/image" Target="../media/image41.jpeg"/></Relationships>
</file>

<file path=ppt/slides/_rels/slide6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hyperlink" Target="https://www.semanticscholar.org/author/Hicham-Laraqui/3869638" TargetMode="External"/><Relationship Id="rId2" Type="http://schemas.openxmlformats.org/officeDocument/2006/relationships/hyperlink" Target="https://www.semanticscholar.org/author/M.-Najih/2011044" TargetMode="External"/><Relationship Id="rId1" Type="http://schemas.openxmlformats.org/officeDocument/2006/relationships/slideLayout" Target="../slideLayouts/slideLayout2.xml"/><Relationship Id="rId5" Type="http://schemas.openxmlformats.org/officeDocument/2006/relationships/hyperlink" Target="https://doi.org/10.11604/pamj.2016.25.200.11003" TargetMode="External"/><Relationship Id="rId4" Type="http://schemas.openxmlformats.org/officeDocument/2006/relationships/hyperlink" Target="https://www.semanticscholar.org/author/A.-Mrani-Zentar/6351311"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Layout" Target="../slideLayouts/slideLayout7.xml"/><Relationship Id="rId4" Type="http://schemas.openxmlformats.org/officeDocument/2006/relationships/image" Target="../media/image73.jpe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jpeg"/><Relationship Id="rId1" Type="http://schemas.openxmlformats.org/officeDocument/2006/relationships/slideLayout" Target="../slideLayouts/slideLayout7.xml"/><Relationship Id="rId5" Type="http://schemas.openxmlformats.org/officeDocument/2006/relationships/image" Target="../media/image77.png"/><Relationship Id="rId4" Type="http://schemas.openxmlformats.org/officeDocument/2006/relationships/image" Target="../media/image76.jpeg"/></Relationships>
</file>

<file path=ppt/slides/_rels/slide107.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jpe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hyperlink" Target="http://photos1.blogger.com/img/265/947/640/AscarisYUCKS.jpg" TargetMode="Externa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jpeg"/><Relationship Id="rId1" Type="http://schemas.openxmlformats.org/officeDocument/2006/relationships/slideLayout" Target="../slideLayouts/slideLayout7.xml"/><Relationship Id="rId4" Type="http://schemas.openxmlformats.org/officeDocument/2006/relationships/image" Target="../media/image90.jpeg"/></Relationships>
</file>

<file path=ppt/slides/_rels/slide119.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hyperlink" Target="http://tr.wikipedia.org/wiki/Ba%C4%9F%C4%B1rsak" TargetMode="Externa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jpeg"/><Relationship Id="rId1" Type="http://schemas.openxmlformats.org/officeDocument/2006/relationships/slideLayout" Target="../slideLayouts/slideLayout7.xml"/><Relationship Id="rId4" Type="http://schemas.openxmlformats.org/officeDocument/2006/relationships/image" Target="../media/image96.jpeg"/></Relationships>
</file>

<file path=ppt/slides/_rels/slide126.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467544" y="476672"/>
            <a:ext cx="8208912" cy="6120680"/>
          </a:xfrm>
        </p:spPr>
        <p:txBody>
          <a:bodyPr/>
          <a:lstStyle/>
          <a:p>
            <a:pPr>
              <a:buNone/>
            </a:pPr>
            <a:r>
              <a:rPr lang="tr-TR" b="1" dirty="0"/>
              <a:t>	</a:t>
            </a:r>
            <a:r>
              <a:rPr lang="tr-TR" b="1" dirty="0" smtClean="0"/>
              <a:t>		</a:t>
            </a:r>
            <a:r>
              <a:rPr lang="tr-TR" b="1" dirty="0" smtClean="0">
                <a:solidFill>
                  <a:srgbClr val="FF0000"/>
                </a:solidFill>
              </a:rPr>
              <a:t>PARAZİTOLOJİ  NEDİR?</a:t>
            </a:r>
          </a:p>
          <a:p>
            <a:pPr>
              <a:buNone/>
            </a:pPr>
            <a:endParaRPr lang="tr-TR" b="1" dirty="0">
              <a:solidFill>
                <a:srgbClr val="FF0000"/>
              </a:solidFill>
            </a:endParaRPr>
          </a:p>
          <a:p>
            <a:pPr>
              <a:buNone/>
            </a:pPr>
            <a:r>
              <a:rPr lang="tr-TR" b="1" dirty="0" smtClean="0">
                <a:solidFill>
                  <a:srgbClr val="FF0000"/>
                </a:solidFill>
              </a:rPr>
              <a:t>			PROTOZOON,HELMİNT </a:t>
            </a:r>
          </a:p>
          <a:p>
            <a:pPr>
              <a:buNone/>
            </a:pPr>
            <a:r>
              <a:rPr lang="tr-TR" b="1" dirty="0" smtClean="0">
                <a:solidFill>
                  <a:srgbClr val="FF0000"/>
                </a:solidFill>
              </a:rPr>
              <a:t>				       NEDİR? 	</a:t>
            </a:r>
          </a:p>
          <a:p>
            <a:pPr>
              <a:buNone/>
            </a:pPr>
            <a:endParaRPr lang="tr-TR" b="1" dirty="0" smtClean="0">
              <a:solidFill>
                <a:srgbClr val="FF0000"/>
              </a:solidFill>
            </a:endParaRPr>
          </a:p>
          <a:p>
            <a:pPr>
              <a:buNone/>
            </a:pPr>
            <a:r>
              <a:rPr lang="tr-TR" b="1" dirty="0" smtClean="0">
                <a:solidFill>
                  <a:srgbClr val="FF0000"/>
                </a:solidFill>
              </a:rPr>
              <a:t> BUNLARLA OLUŞAN GÜNÜMÜZ HASTALIKLARI</a:t>
            </a:r>
          </a:p>
          <a:p>
            <a:endParaRPr lang="tr-TR"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rganization Chart 2"/>
          <p:cNvGrpSpPr>
            <a:grpSpLocks noChangeAspect="1"/>
          </p:cNvGrpSpPr>
          <p:nvPr/>
        </p:nvGrpSpPr>
        <p:grpSpPr bwMode="auto">
          <a:xfrm>
            <a:off x="468313" y="404813"/>
            <a:ext cx="8088312" cy="5357812"/>
            <a:chOff x="624" y="1247"/>
            <a:chExt cx="1592" cy="1636"/>
          </a:xfrm>
          <a:solidFill>
            <a:schemeClr val="accent4">
              <a:lumMod val="40000"/>
              <a:lumOff val="60000"/>
            </a:schemeClr>
          </a:solidFill>
        </p:grpSpPr>
        <p:cxnSp>
          <p:nvCxnSpPr>
            <p:cNvPr id="17412" name="_s28677"/>
            <p:cNvCxnSpPr>
              <a:cxnSpLocks noChangeShapeType="1"/>
              <a:stCxn id="17418" idx="1"/>
              <a:endCxn id="21511" idx="2"/>
            </p:cNvCxnSpPr>
            <p:nvPr/>
          </p:nvCxnSpPr>
          <p:spPr bwMode="auto">
            <a:xfrm rot="10800000">
              <a:off x="1056" y="1569"/>
              <a:ext cx="245" cy="738"/>
            </a:xfrm>
            <a:prstGeom prst="bentConnector2">
              <a:avLst/>
            </a:prstGeom>
            <a:grpFill/>
            <a:ln w="28575">
              <a:solidFill>
                <a:schemeClr val="tx1"/>
              </a:solidFill>
              <a:miter lim="800000"/>
              <a:headEnd/>
              <a:tailEnd/>
            </a:ln>
          </p:spPr>
        </p:cxnSp>
        <p:cxnSp>
          <p:nvCxnSpPr>
            <p:cNvPr id="17413" name="_s28678"/>
            <p:cNvCxnSpPr>
              <a:cxnSpLocks noChangeShapeType="1"/>
              <a:stCxn id="17417" idx="1"/>
              <a:endCxn id="21511" idx="2"/>
            </p:cNvCxnSpPr>
            <p:nvPr/>
          </p:nvCxnSpPr>
          <p:spPr bwMode="auto">
            <a:xfrm rot="10800000">
              <a:off x="1056" y="1569"/>
              <a:ext cx="245" cy="1170"/>
            </a:xfrm>
            <a:prstGeom prst="bentConnector2">
              <a:avLst/>
            </a:prstGeom>
            <a:grpFill/>
            <a:ln w="28575">
              <a:solidFill>
                <a:schemeClr val="tx1"/>
              </a:solidFill>
              <a:miter lim="800000"/>
              <a:headEnd/>
              <a:tailEnd/>
            </a:ln>
          </p:spPr>
        </p:cxnSp>
        <p:cxnSp>
          <p:nvCxnSpPr>
            <p:cNvPr id="17414" name="_s28679"/>
            <p:cNvCxnSpPr>
              <a:cxnSpLocks noChangeShapeType="1"/>
              <a:stCxn id="17416" idx="1"/>
              <a:endCxn id="21511" idx="2"/>
            </p:cNvCxnSpPr>
            <p:nvPr/>
          </p:nvCxnSpPr>
          <p:spPr bwMode="auto">
            <a:xfrm rot="10800000">
              <a:off x="1056" y="1569"/>
              <a:ext cx="245" cy="306"/>
            </a:xfrm>
            <a:prstGeom prst="bentConnector2">
              <a:avLst/>
            </a:prstGeom>
            <a:grpFill/>
            <a:ln w="28575">
              <a:solidFill>
                <a:schemeClr val="tx1"/>
              </a:solidFill>
              <a:miter lim="800000"/>
              <a:headEnd/>
              <a:tailEnd/>
            </a:ln>
          </p:spPr>
        </p:cxnSp>
        <p:sp>
          <p:nvSpPr>
            <p:cNvPr id="21511" name="_s28680"/>
            <p:cNvSpPr>
              <a:spLocks noChangeArrowheads="1"/>
            </p:cNvSpPr>
            <p:nvPr/>
          </p:nvSpPr>
          <p:spPr bwMode="auto">
            <a:xfrm>
              <a:off x="624" y="1247"/>
              <a:ext cx="864" cy="322"/>
            </a:xfrm>
            <a:prstGeom prst="rect">
              <a:avLst/>
            </a:prstGeom>
            <a:grpFill/>
            <a:ln w="57150">
              <a:solidFill>
                <a:schemeClr val="accent1"/>
              </a:solidFill>
              <a:miter lim="800000"/>
              <a:headEnd/>
              <a:tailEnd/>
            </a:ln>
          </p:spPr>
          <p:txBody>
            <a:bodyPr wrap="none" lIns="91621" tIns="45811" rIns="91621" bIns="45811" anchor="ctr"/>
            <a:lstStyle/>
            <a:p>
              <a:pPr algn="ctr" eaLnBrk="1" hangingPunct="1">
                <a:defRPr/>
              </a:pPr>
              <a:r>
                <a:rPr lang="tr-TR" sz="2800" b="1" i="1" dirty="0">
                  <a:solidFill>
                    <a:srgbClr val="C00000"/>
                  </a:solidFill>
                  <a:latin typeface="+mj-lt"/>
                </a:rPr>
                <a:t>PARAZİTOLOJİ</a:t>
              </a:r>
            </a:p>
          </p:txBody>
        </p:sp>
        <p:sp>
          <p:nvSpPr>
            <p:cNvPr id="17416" name="_s28681"/>
            <p:cNvSpPr>
              <a:spLocks noChangeArrowheads="1"/>
            </p:cNvSpPr>
            <p:nvPr/>
          </p:nvSpPr>
          <p:spPr bwMode="auto">
            <a:xfrm>
              <a:off x="1301" y="1731"/>
              <a:ext cx="915" cy="288"/>
            </a:xfrm>
            <a:prstGeom prst="rect">
              <a:avLst/>
            </a:prstGeom>
            <a:grpFill/>
            <a:ln w="57150">
              <a:solidFill>
                <a:schemeClr val="accent2"/>
              </a:solidFill>
              <a:miter lim="800000"/>
              <a:headEnd/>
              <a:tailEnd/>
            </a:ln>
          </p:spPr>
          <p:txBody>
            <a:bodyPr wrap="none" lIns="91621" tIns="45811" rIns="91621" bIns="45811" anchor="ctr"/>
            <a:lstStyle/>
            <a:p>
              <a:pPr algn="ctr" eaLnBrk="1" hangingPunct="1">
                <a:defRPr/>
              </a:pPr>
              <a:r>
                <a:rPr lang="tr-TR" b="1" dirty="0">
                  <a:solidFill>
                    <a:schemeClr val="bg1"/>
                  </a:solidFill>
                  <a:latin typeface="Arial" charset="0"/>
                </a:rPr>
                <a:t>PROTOZOOLOJİ</a:t>
              </a:r>
              <a:endParaRPr lang="tr-TR" sz="1900" b="1" dirty="0">
                <a:solidFill>
                  <a:schemeClr val="bg1"/>
                </a:solidFill>
                <a:latin typeface="Arial" charset="0"/>
              </a:endParaRPr>
            </a:p>
          </p:txBody>
        </p:sp>
        <p:sp>
          <p:nvSpPr>
            <p:cNvPr id="17417" name="_s28682"/>
            <p:cNvSpPr>
              <a:spLocks noChangeArrowheads="1"/>
            </p:cNvSpPr>
            <p:nvPr/>
          </p:nvSpPr>
          <p:spPr bwMode="auto">
            <a:xfrm>
              <a:off x="1301" y="2595"/>
              <a:ext cx="915" cy="288"/>
            </a:xfrm>
            <a:prstGeom prst="rect">
              <a:avLst/>
            </a:prstGeom>
            <a:grpFill/>
            <a:ln w="57150">
              <a:solidFill>
                <a:schemeClr val="accent2"/>
              </a:solidFill>
              <a:miter lim="800000"/>
              <a:headEnd/>
              <a:tailEnd/>
            </a:ln>
          </p:spPr>
          <p:txBody>
            <a:bodyPr wrap="none" lIns="91621" tIns="45811" rIns="91621" bIns="45811" anchor="ctr"/>
            <a:lstStyle/>
            <a:p>
              <a:pPr algn="ctr" eaLnBrk="1" hangingPunct="1">
                <a:defRPr/>
              </a:pPr>
              <a:endParaRPr lang="tr-TR" sz="2100" b="1">
                <a:solidFill>
                  <a:srgbClr val="FFFF00"/>
                </a:solidFill>
                <a:latin typeface="Arial" charset="0"/>
              </a:endParaRPr>
            </a:p>
            <a:p>
              <a:pPr algn="ctr" eaLnBrk="1" hangingPunct="1">
                <a:defRPr/>
              </a:pPr>
              <a:endParaRPr lang="tr-TR" sz="2100" b="1">
                <a:solidFill>
                  <a:srgbClr val="FFFF00"/>
                </a:solidFill>
                <a:latin typeface="Arial" charset="0"/>
              </a:endParaRPr>
            </a:p>
          </p:txBody>
        </p:sp>
        <p:sp>
          <p:nvSpPr>
            <p:cNvPr id="17418" name="_s28683"/>
            <p:cNvSpPr>
              <a:spLocks noChangeArrowheads="1"/>
            </p:cNvSpPr>
            <p:nvPr/>
          </p:nvSpPr>
          <p:spPr bwMode="auto">
            <a:xfrm>
              <a:off x="1301" y="2163"/>
              <a:ext cx="864" cy="288"/>
            </a:xfrm>
            <a:prstGeom prst="rect">
              <a:avLst/>
            </a:prstGeom>
            <a:grpFill/>
            <a:ln w="57150">
              <a:solidFill>
                <a:schemeClr val="accent2"/>
              </a:solidFill>
              <a:miter lim="800000"/>
              <a:headEnd/>
              <a:tailEnd/>
            </a:ln>
          </p:spPr>
          <p:txBody>
            <a:bodyPr wrap="none" lIns="0" tIns="0" rIns="0" bIns="0" anchor="ctr"/>
            <a:lstStyle/>
            <a:p>
              <a:pPr algn="ctr" eaLnBrk="1" hangingPunct="1">
                <a:defRPr/>
              </a:pPr>
              <a:r>
                <a:rPr lang="tr-TR" b="1" dirty="0">
                  <a:solidFill>
                    <a:schemeClr val="bg1"/>
                  </a:solidFill>
                  <a:latin typeface="Times New Roman" pitchFamily="18" charset="0"/>
                </a:rPr>
                <a:t>HELMİNTOLOJİ</a:t>
              </a:r>
            </a:p>
          </p:txBody>
        </p:sp>
      </p:grpSp>
      <p:sp>
        <p:nvSpPr>
          <p:cNvPr id="25603" name="Rectangle 17"/>
          <p:cNvSpPr>
            <a:spLocks noChangeArrowheads="1"/>
          </p:cNvSpPr>
          <p:nvPr/>
        </p:nvSpPr>
        <p:spPr bwMode="auto">
          <a:xfrm>
            <a:off x="4932363" y="5084763"/>
            <a:ext cx="2884487" cy="457200"/>
          </a:xfrm>
          <a:prstGeom prst="rect">
            <a:avLst/>
          </a:prstGeom>
          <a:noFill/>
          <a:ln w="9525">
            <a:noFill/>
            <a:miter lim="800000"/>
            <a:headEnd/>
            <a:tailEnd/>
          </a:ln>
        </p:spPr>
        <p:txBody>
          <a:bodyPr>
            <a:spAutoFit/>
          </a:bodyPr>
          <a:lstStyle/>
          <a:p>
            <a:r>
              <a:rPr lang="tr-TR" b="1">
                <a:solidFill>
                  <a:schemeClr val="bg1"/>
                </a:solidFill>
                <a:latin typeface="Times New Roman" pitchFamily="18" charset="0"/>
              </a:rPr>
              <a:t>ARTROPODOLOJİ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PARAZİTOLOJİ  NEDİR?</a:t>
            </a:r>
            <a:endParaRPr lang="tr-TR" b="1" dirty="0">
              <a:solidFill>
                <a:srgbClr val="FF0000"/>
              </a:solidFill>
            </a:endParaRPr>
          </a:p>
        </p:txBody>
      </p:sp>
      <p:pic>
        <p:nvPicPr>
          <p:cNvPr id="4" name="Picture 2" descr="C:\Users\casper\Desktop\parazit.png"/>
          <p:cNvPicPr>
            <a:picLocks noGrp="1" noChangeAspect="1" noChangeArrowheads="1"/>
          </p:cNvPicPr>
          <p:nvPr>
            <p:ph idx="1"/>
          </p:nvPr>
        </p:nvPicPr>
        <p:blipFill>
          <a:blip r:embed="rId2" cstate="print"/>
          <a:srcRect/>
          <a:stretch>
            <a:fillRect/>
          </a:stretch>
        </p:blipFill>
        <p:spPr bwMode="auto">
          <a:xfrm>
            <a:off x="1763688" y="1844824"/>
            <a:ext cx="6062216" cy="4176464"/>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PARAZİTOLOJİ  NEDİR?</a:t>
            </a:r>
            <a:endParaRPr lang="tr-TR" dirty="0">
              <a:solidFill>
                <a:srgbClr val="FF0000"/>
              </a:solidFill>
            </a:endParaRPr>
          </a:p>
        </p:txBody>
      </p:sp>
      <p:sp>
        <p:nvSpPr>
          <p:cNvPr id="3" name="2 İçerik Yer Tutucusu"/>
          <p:cNvSpPr>
            <a:spLocks noGrp="1"/>
          </p:cNvSpPr>
          <p:nvPr>
            <p:ph idx="1"/>
          </p:nvPr>
        </p:nvSpPr>
        <p:spPr/>
        <p:txBody>
          <a:bodyPr/>
          <a:lstStyle/>
          <a:p>
            <a:pPr>
              <a:buNone/>
            </a:pPr>
            <a:r>
              <a:rPr lang="tr-TR" b="1" dirty="0" smtClean="0"/>
              <a:t>		Başka bir canlının üzerinde besin ve yaşam ortamı bulan canlıları ve bunların konakları ile ilişkilerini inceleyen bilim dalıdır</a:t>
            </a:r>
          </a:p>
        </p:txBody>
      </p:sp>
      <p:pic>
        <p:nvPicPr>
          <p:cNvPr id="4" name="Picture 2" descr="C:\Users\casper\Desktop\parazit.png"/>
          <p:cNvPicPr>
            <a:picLocks noChangeAspect="1" noChangeArrowheads="1"/>
          </p:cNvPicPr>
          <p:nvPr/>
        </p:nvPicPr>
        <p:blipFill>
          <a:blip r:embed="rId2" cstate="print"/>
          <a:srcRect/>
          <a:stretch>
            <a:fillRect/>
          </a:stretch>
        </p:blipFill>
        <p:spPr bwMode="auto">
          <a:xfrm>
            <a:off x="3779912" y="3429000"/>
            <a:ext cx="4550048" cy="3168352"/>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332656"/>
            <a:ext cx="8712968" cy="6264696"/>
          </a:xfrm>
        </p:spPr>
        <p:txBody>
          <a:bodyPr>
            <a:normAutofit/>
          </a:bodyPr>
          <a:lstStyle/>
          <a:p>
            <a:pPr>
              <a:buNone/>
            </a:pPr>
            <a:r>
              <a:rPr lang="tr-TR" dirty="0" smtClean="0"/>
              <a:t>	</a:t>
            </a:r>
            <a:r>
              <a:rPr lang="tr-TR" dirty="0" smtClean="0">
                <a:solidFill>
                  <a:srgbClr val="FF0000"/>
                </a:solidFill>
              </a:rPr>
              <a:t>	</a:t>
            </a:r>
            <a:r>
              <a:rPr lang="tr-TR" sz="2800" b="1" dirty="0" smtClean="0"/>
              <a:t>		</a:t>
            </a:r>
            <a:r>
              <a:rPr lang="tr-TR" b="1" dirty="0" smtClean="0">
                <a:solidFill>
                  <a:srgbClr val="FF0000"/>
                </a:solidFill>
              </a:rPr>
              <a:t>VEKTÖR</a:t>
            </a:r>
          </a:p>
          <a:p>
            <a:r>
              <a:rPr lang="tr-TR" sz="2800" b="1" dirty="0" smtClean="0"/>
              <a:t>Bir omurgalıdan diğer omurgalılara parazit taşıyan </a:t>
            </a:r>
            <a:r>
              <a:rPr lang="tr-TR" sz="2800" b="1" dirty="0" err="1" smtClean="0"/>
              <a:t>arthropod</a:t>
            </a:r>
            <a:r>
              <a:rPr lang="tr-TR" sz="2800" b="1" dirty="0" smtClean="0"/>
              <a:t> veya omurgasız hayvana verilen isimdir</a:t>
            </a:r>
          </a:p>
          <a:p>
            <a:pPr>
              <a:buNone/>
            </a:pPr>
            <a:r>
              <a:rPr lang="tr-TR" b="1" dirty="0" smtClean="0"/>
              <a:t>	</a:t>
            </a:r>
            <a:r>
              <a:rPr lang="tr-TR" dirty="0" smtClean="0"/>
              <a:t>			</a:t>
            </a:r>
            <a:r>
              <a:rPr lang="tr-TR" altLang="tr-TR" b="1" dirty="0" smtClean="0">
                <a:solidFill>
                  <a:srgbClr val="FF0000"/>
                </a:solidFill>
                <a:cs typeface="Arial" pitchFamily="34" charset="0"/>
              </a:rPr>
              <a:t>PARAZİT</a:t>
            </a:r>
          </a:p>
          <a:p>
            <a:pPr>
              <a:buNone/>
            </a:pPr>
            <a:r>
              <a:rPr lang="tr-TR" altLang="tr-TR" sz="2800" b="1" dirty="0" smtClean="0">
                <a:cs typeface="Arial" pitchFamily="34" charset="0"/>
              </a:rPr>
              <a:t>Başka bir canlının zararına yaşayabilen canlılar olup, </a:t>
            </a:r>
          </a:p>
          <a:p>
            <a:pPr>
              <a:buNone/>
            </a:pPr>
            <a:r>
              <a:rPr lang="tr-TR" altLang="tr-TR" sz="2800" b="1" dirty="0" smtClean="0">
                <a:cs typeface="Arial" pitchFamily="34" charset="0"/>
              </a:rPr>
              <a:t>genellikle organizmayı öldürmezler</a:t>
            </a:r>
          </a:p>
          <a:p>
            <a:pPr>
              <a:buNone/>
            </a:pPr>
            <a:endParaRPr lang="tr-TR" sz="2800" b="1" dirty="0"/>
          </a:p>
        </p:txBody>
      </p:sp>
      <p:pic>
        <p:nvPicPr>
          <p:cNvPr id="4" name="Picture 2" descr="C:\Users\Pc\Desktop\imagesRWHDF1H9.jpg"/>
          <p:cNvPicPr>
            <a:picLocks noChangeAspect="1" noChangeArrowheads="1"/>
          </p:cNvPicPr>
          <p:nvPr/>
        </p:nvPicPr>
        <p:blipFill>
          <a:blip r:embed="rId2" cstate="print"/>
          <a:srcRect/>
          <a:stretch>
            <a:fillRect/>
          </a:stretch>
        </p:blipFill>
        <p:spPr bwMode="auto">
          <a:xfrm>
            <a:off x="5220072" y="3861048"/>
            <a:ext cx="3600400" cy="2714255"/>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332656"/>
            <a:ext cx="8712968" cy="6264696"/>
          </a:xfrm>
        </p:spPr>
        <p:txBody>
          <a:bodyPr>
            <a:normAutofit/>
          </a:bodyPr>
          <a:lstStyle/>
          <a:p>
            <a:pPr>
              <a:buNone/>
            </a:pPr>
            <a:r>
              <a:rPr lang="tr-TR" altLang="tr-TR" b="1" dirty="0" smtClean="0">
                <a:latin typeface="Calibri" pitchFamily="34" charset="0"/>
                <a:cs typeface="Times New Roman" pitchFamily="18" charset="0"/>
              </a:rPr>
              <a:t>				</a:t>
            </a:r>
            <a:r>
              <a:rPr lang="tr-TR" altLang="tr-TR" b="1" dirty="0" smtClean="0">
                <a:solidFill>
                  <a:srgbClr val="FF0000"/>
                </a:solidFill>
                <a:latin typeface="Calibri" pitchFamily="34" charset="0"/>
                <a:cs typeface="Times New Roman" pitchFamily="18" charset="0"/>
              </a:rPr>
              <a:t>SAPROFİTLİK</a:t>
            </a:r>
          </a:p>
          <a:p>
            <a:r>
              <a:rPr lang="tr-TR" altLang="tr-TR" b="1" dirty="0" smtClean="0">
                <a:latin typeface="Calibri" pitchFamily="34" charset="0"/>
                <a:cs typeface="Times New Roman" pitchFamily="18" charset="0"/>
              </a:rPr>
              <a:t>Canlı organizmaların cansız maddeler üzerinde yaşayarak gelişmesi</a:t>
            </a:r>
          </a:p>
          <a:p>
            <a:pPr>
              <a:buNone/>
            </a:pPr>
            <a:r>
              <a:rPr lang="tr-TR" altLang="tr-TR" b="1" dirty="0" smtClean="0">
                <a:latin typeface="Calibri" pitchFamily="34" charset="0"/>
                <a:cs typeface="Times New Roman" pitchFamily="18" charset="0"/>
              </a:rPr>
              <a:t>				</a:t>
            </a:r>
            <a:r>
              <a:rPr lang="tr-TR" altLang="tr-TR" b="1" dirty="0" smtClean="0">
                <a:solidFill>
                  <a:srgbClr val="FF0000"/>
                </a:solidFill>
                <a:latin typeface="Calibri" pitchFamily="34" charset="0"/>
                <a:cs typeface="Times New Roman" pitchFamily="18" charset="0"/>
              </a:rPr>
              <a:t>KONAK</a:t>
            </a:r>
          </a:p>
          <a:p>
            <a:r>
              <a:rPr lang="tr-TR" altLang="tr-TR" b="1" dirty="0" smtClean="0">
                <a:latin typeface="Calibri" pitchFamily="34" charset="0"/>
                <a:cs typeface="Times New Roman" pitchFamily="18" charset="0"/>
              </a:rPr>
              <a:t>Parazitin üzerinde yaşadığı canlıya verilen addır. Bu genellikle daha büyük bir canlıdır</a:t>
            </a:r>
          </a:p>
          <a:p>
            <a:pPr>
              <a:buNone/>
            </a:pPr>
            <a:r>
              <a:rPr lang="tr-TR" altLang="tr-TR" b="1" dirty="0" smtClean="0">
                <a:latin typeface="Calibri" pitchFamily="34" charset="0"/>
                <a:cs typeface="Times New Roman" pitchFamily="18" charset="0"/>
              </a:rPr>
              <a:t>				</a:t>
            </a:r>
            <a:r>
              <a:rPr lang="tr-TR" altLang="tr-TR" b="1" dirty="0" smtClean="0">
                <a:solidFill>
                  <a:srgbClr val="FF0000"/>
                </a:solidFill>
                <a:latin typeface="Calibri" pitchFamily="34" charset="0"/>
                <a:cs typeface="Times New Roman" pitchFamily="18" charset="0"/>
              </a:rPr>
              <a:t>SON KONAK (KESİN KONAK)</a:t>
            </a:r>
          </a:p>
          <a:p>
            <a:r>
              <a:rPr lang="tr-TR" altLang="tr-TR" b="1" dirty="0" smtClean="0">
                <a:latin typeface="Calibri" pitchFamily="34" charset="0"/>
                <a:cs typeface="Times New Roman" pitchFamily="18" charset="0"/>
              </a:rPr>
              <a:t>Parazitin olgun şeklini barındıran konaktır</a:t>
            </a:r>
          </a:p>
          <a:p>
            <a:pPr>
              <a:buNone/>
            </a:pPr>
            <a:r>
              <a:rPr lang="tr-TR" altLang="tr-TR" b="1" dirty="0" smtClean="0">
                <a:latin typeface="Calibri" pitchFamily="34" charset="0"/>
                <a:cs typeface="Times New Roman" pitchFamily="18" charset="0"/>
              </a:rPr>
              <a:t>				</a:t>
            </a:r>
            <a:r>
              <a:rPr lang="tr-TR" altLang="tr-TR" b="1" dirty="0" smtClean="0">
                <a:solidFill>
                  <a:srgbClr val="FF0000"/>
                </a:solidFill>
                <a:latin typeface="Calibri" pitchFamily="34" charset="0"/>
                <a:cs typeface="Times New Roman" pitchFamily="18" charset="0"/>
              </a:rPr>
              <a:t>ARA KONAK</a:t>
            </a:r>
          </a:p>
          <a:p>
            <a:r>
              <a:rPr lang="tr-TR" altLang="tr-TR" b="1" dirty="0" smtClean="0">
                <a:latin typeface="Calibri" pitchFamily="34" charset="0"/>
                <a:cs typeface="Times New Roman" pitchFamily="18" charset="0"/>
              </a:rPr>
              <a:t>Parazitin larva, yani henüz erişkin hale gelmemiş şeklini barındıran konaktır</a:t>
            </a:r>
          </a:p>
          <a:p>
            <a:pPr>
              <a:buNone/>
            </a:pPr>
            <a:endParaRPr lang="tr-T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476672"/>
            <a:ext cx="8424936" cy="6048672"/>
          </a:xfrm>
        </p:spPr>
        <p:txBody>
          <a:bodyPr>
            <a:normAutofit/>
          </a:bodyPr>
          <a:lstStyle/>
          <a:p>
            <a:r>
              <a:rPr lang="tr-TR" altLang="tr-TR" b="1" dirty="0" smtClean="0">
                <a:solidFill>
                  <a:srgbClr val="7030A0"/>
                </a:solidFill>
                <a:latin typeface="Calibri" pitchFamily="34" charset="0"/>
                <a:cs typeface="Times New Roman" pitchFamily="18" charset="0"/>
              </a:rPr>
              <a:t>Doğada farklı cins ve türden iki canlının birlikte yaşamasına </a:t>
            </a:r>
            <a:r>
              <a:rPr lang="tr-TR" altLang="tr-TR" dirty="0" smtClean="0">
                <a:solidFill>
                  <a:srgbClr val="7030A0"/>
                </a:solidFill>
                <a:latin typeface="Calibri" pitchFamily="34" charset="0"/>
                <a:cs typeface="Times New Roman" pitchFamily="18" charset="0"/>
              </a:rPr>
              <a:t>“</a:t>
            </a:r>
            <a:r>
              <a:rPr lang="tr-TR" altLang="tr-TR" b="1" dirty="0" err="1" smtClean="0">
                <a:solidFill>
                  <a:srgbClr val="FF0000"/>
                </a:solidFill>
                <a:latin typeface="Calibri" pitchFamily="34" charset="0"/>
                <a:cs typeface="Times New Roman" pitchFamily="18" charset="0"/>
              </a:rPr>
              <a:t>simbiyoz</a:t>
            </a:r>
            <a:r>
              <a:rPr lang="tr-TR" altLang="tr-TR" dirty="0" smtClean="0">
                <a:solidFill>
                  <a:srgbClr val="7030A0"/>
                </a:solidFill>
                <a:latin typeface="Calibri" pitchFamily="34" charset="0"/>
                <a:cs typeface="Times New Roman" pitchFamily="18" charset="0"/>
              </a:rPr>
              <a:t>” denir </a:t>
            </a:r>
          </a:p>
          <a:p>
            <a:endParaRPr lang="tr-TR" altLang="tr-TR" b="1" dirty="0" smtClean="0">
              <a:latin typeface="Calibri" pitchFamily="34" charset="0"/>
              <a:cs typeface="Times New Roman" pitchFamily="18" charset="0"/>
            </a:endParaRPr>
          </a:p>
          <a:p>
            <a:pPr>
              <a:lnSpc>
                <a:spcPct val="80000"/>
              </a:lnSpc>
            </a:pPr>
            <a:r>
              <a:rPr lang="tr-TR" altLang="tr-TR" b="1" dirty="0" smtClean="0">
                <a:solidFill>
                  <a:schemeClr val="accent6">
                    <a:lumMod val="50000"/>
                  </a:schemeClr>
                </a:solidFill>
                <a:latin typeface="Calibri" pitchFamily="34" charset="0"/>
                <a:cs typeface="Times New Roman" pitchFamily="18" charset="0"/>
              </a:rPr>
              <a:t>1-</a:t>
            </a:r>
            <a:r>
              <a:rPr lang="tr-TR" altLang="tr-TR" b="1" dirty="0" err="1" smtClean="0">
                <a:solidFill>
                  <a:schemeClr val="accent6">
                    <a:lumMod val="50000"/>
                  </a:schemeClr>
                </a:solidFill>
                <a:latin typeface="Calibri" pitchFamily="34" charset="0"/>
                <a:cs typeface="Times New Roman" pitchFamily="18" charset="0"/>
              </a:rPr>
              <a:t>Mutuallik</a:t>
            </a:r>
            <a:r>
              <a:rPr lang="tr-TR" altLang="tr-TR" b="1" dirty="0" smtClean="0">
                <a:solidFill>
                  <a:schemeClr val="accent6">
                    <a:lumMod val="50000"/>
                  </a:schemeClr>
                </a:solidFill>
                <a:latin typeface="Calibri" pitchFamily="34" charset="0"/>
                <a:cs typeface="Times New Roman" pitchFamily="18" charset="0"/>
              </a:rPr>
              <a:t>= yardımlaşma </a:t>
            </a:r>
            <a:r>
              <a:rPr lang="tr-TR" dirty="0" smtClean="0"/>
              <a:t> </a:t>
            </a:r>
          </a:p>
          <a:p>
            <a:pPr lvl="1">
              <a:lnSpc>
                <a:spcPct val="80000"/>
              </a:lnSpc>
            </a:pPr>
            <a:r>
              <a:rPr lang="tr-TR" b="1" dirty="0" smtClean="0"/>
              <a:t>farklı türlerden iki canlının karşılıklı yardımlaşarak her iki tarafa da yarar sağlamasına dayalı olan bir ortak yaşam biçimidir</a:t>
            </a:r>
            <a:endParaRPr lang="tr-TR" altLang="tr-TR" b="1" dirty="0" smtClean="0">
              <a:solidFill>
                <a:schemeClr val="accent6">
                  <a:lumMod val="50000"/>
                </a:schemeClr>
              </a:solidFill>
              <a:latin typeface="Calibri" pitchFamily="34" charset="0"/>
              <a:cs typeface="Times New Roman" pitchFamily="18" charset="0"/>
            </a:endParaRPr>
          </a:p>
          <a:p>
            <a:pPr>
              <a:lnSpc>
                <a:spcPct val="80000"/>
              </a:lnSpc>
            </a:pPr>
            <a:endParaRPr lang="tr-TR" altLang="tr-TR" b="1" dirty="0" smtClean="0">
              <a:latin typeface="Calibri" pitchFamily="34" charset="0"/>
              <a:cs typeface="Times New Roman" pitchFamily="18" charset="0"/>
            </a:endParaRPr>
          </a:p>
          <a:p>
            <a:pPr>
              <a:lnSpc>
                <a:spcPct val="80000"/>
              </a:lnSpc>
            </a:pPr>
            <a:r>
              <a:rPr lang="tr-TR" altLang="tr-TR" b="1" dirty="0" smtClean="0">
                <a:solidFill>
                  <a:srgbClr val="FF0000"/>
                </a:solidFill>
                <a:latin typeface="Calibri" pitchFamily="34" charset="0"/>
                <a:cs typeface="Times New Roman" pitchFamily="18" charset="0"/>
              </a:rPr>
              <a:t>2-</a:t>
            </a:r>
            <a:r>
              <a:rPr lang="tr-TR" altLang="tr-TR" b="1" dirty="0" err="1" smtClean="0">
                <a:solidFill>
                  <a:srgbClr val="FF0000"/>
                </a:solidFill>
                <a:latin typeface="Calibri" pitchFamily="34" charset="0"/>
                <a:cs typeface="Times New Roman" pitchFamily="18" charset="0"/>
              </a:rPr>
              <a:t>Kommensallik</a:t>
            </a:r>
            <a:r>
              <a:rPr lang="tr-TR" altLang="tr-TR" b="1" dirty="0" smtClean="0">
                <a:solidFill>
                  <a:srgbClr val="FF0000"/>
                </a:solidFill>
                <a:latin typeface="Calibri" pitchFamily="34" charset="0"/>
                <a:cs typeface="Times New Roman" pitchFamily="18" charset="0"/>
              </a:rPr>
              <a:t>=sığıntılık</a:t>
            </a:r>
            <a:r>
              <a:rPr lang="tr-TR" dirty="0" smtClean="0"/>
              <a:t> </a:t>
            </a:r>
          </a:p>
          <a:p>
            <a:pPr lvl="1">
              <a:lnSpc>
                <a:spcPct val="80000"/>
              </a:lnSpc>
            </a:pPr>
            <a:r>
              <a:rPr lang="tr-TR" b="1" dirty="0" smtClean="0"/>
              <a:t>bir canlının yarar sağladığı, diğerininse bu ortaklıktan etkilenmediği yaşam türü</a:t>
            </a:r>
            <a:endParaRPr lang="tr-TR" altLang="tr-TR" b="1" dirty="0" smtClean="0">
              <a:solidFill>
                <a:srgbClr val="FF0000"/>
              </a:solidFill>
              <a:latin typeface="Calibri" pitchFamily="34" charset="0"/>
              <a:cs typeface="Times New Roman" pitchFamily="18" charset="0"/>
            </a:endParaRPr>
          </a:p>
          <a:p>
            <a:pPr>
              <a:lnSpc>
                <a:spcPct val="80000"/>
              </a:lnSpc>
            </a:pPr>
            <a:endParaRPr lang="tr-TR" altLang="tr-TR" b="1" dirty="0" smtClean="0">
              <a:latin typeface="Calibri" pitchFamily="34" charset="0"/>
              <a:cs typeface="Times New Roman" pitchFamily="18" charset="0"/>
            </a:endParaRPr>
          </a:p>
          <a:p>
            <a:pPr>
              <a:lnSpc>
                <a:spcPct val="80000"/>
              </a:lnSpc>
            </a:pPr>
            <a:r>
              <a:rPr lang="tr-TR" altLang="tr-TR" b="1" dirty="0" smtClean="0">
                <a:latin typeface="Calibri" pitchFamily="34" charset="0"/>
                <a:cs typeface="Times New Roman" pitchFamily="18" charset="0"/>
              </a:rPr>
              <a:t>3-Parazitlik: zarar verici </a:t>
            </a:r>
          </a:p>
          <a:p>
            <a:pPr>
              <a:buNone/>
            </a:pPr>
            <a:endParaRPr lang="tr-TR" altLang="tr-TR" dirty="0" smtClean="0">
              <a:latin typeface="Calibri" pitchFamily="34" charset="0"/>
              <a:cs typeface="Times New Roman" pitchFamily="18" charset="0"/>
            </a:endParaRPr>
          </a:p>
          <a:p>
            <a:endParaRPr lang="tr-T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PARAZİT ENFEKSİYONLARININ BULAŞMA YOLLARI</a:t>
            </a:r>
            <a:endParaRPr lang="tr-TR" b="1" dirty="0">
              <a:solidFill>
                <a:srgbClr val="FF0000"/>
              </a:solidFill>
            </a:endParaRPr>
          </a:p>
        </p:txBody>
      </p:sp>
      <p:sp>
        <p:nvSpPr>
          <p:cNvPr id="3" name="2 İçerik Yer Tutucusu"/>
          <p:cNvSpPr>
            <a:spLocks noGrp="1"/>
          </p:cNvSpPr>
          <p:nvPr>
            <p:ph idx="1"/>
          </p:nvPr>
        </p:nvSpPr>
        <p:spPr>
          <a:xfrm>
            <a:off x="323528" y="1556792"/>
            <a:ext cx="8229600" cy="5040560"/>
          </a:xfrm>
        </p:spPr>
        <p:txBody>
          <a:bodyPr/>
          <a:lstStyle/>
          <a:p>
            <a:pPr>
              <a:buNone/>
            </a:pPr>
            <a:r>
              <a:rPr lang="tr-TR" b="1" dirty="0" smtClean="0">
                <a:solidFill>
                  <a:srgbClr val="7030A0"/>
                </a:solidFill>
              </a:rPr>
              <a:t>	1-Besinler</a:t>
            </a:r>
          </a:p>
          <a:p>
            <a:r>
              <a:rPr lang="tr-TR" b="1" dirty="0" smtClean="0"/>
              <a:t>Kirli besinler parazitlerin kist,yumurta ve larvalarını taşırlar</a:t>
            </a:r>
            <a:endParaRPr lang="tr-TR" b="1" dirty="0"/>
          </a:p>
        </p:txBody>
      </p:sp>
      <p:pic>
        <p:nvPicPr>
          <p:cNvPr id="1026" name="Picture 2" descr="C:\Users\casper\Desktop\kirli 1.png"/>
          <p:cNvPicPr>
            <a:picLocks noChangeAspect="1" noChangeArrowheads="1"/>
          </p:cNvPicPr>
          <p:nvPr/>
        </p:nvPicPr>
        <p:blipFill>
          <a:blip r:embed="rId2" cstate="print"/>
          <a:srcRect/>
          <a:stretch>
            <a:fillRect/>
          </a:stretch>
        </p:blipFill>
        <p:spPr bwMode="auto">
          <a:xfrm>
            <a:off x="1979712" y="3429000"/>
            <a:ext cx="4968552" cy="288032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476672"/>
            <a:ext cx="8568952" cy="5721499"/>
          </a:xfrm>
        </p:spPr>
        <p:txBody>
          <a:bodyPr/>
          <a:lstStyle/>
          <a:p>
            <a:pPr>
              <a:buNone/>
            </a:pPr>
            <a:r>
              <a:rPr lang="tr-TR" b="1" dirty="0" smtClean="0"/>
              <a:t>	</a:t>
            </a:r>
            <a:r>
              <a:rPr lang="tr-TR" b="1" dirty="0" smtClean="0">
                <a:solidFill>
                  <a:srgbClr val="7030A0"/>
                </a:solidFill>
              </a:rPr>
              <a:t>2-Su </a:t>
            </a:r>
          </a:p>
          <a:p>
            <a:r>
              <a:rPr lang="tr-TR" b="1" dirty="0" smtClean="0"/>
              <a:t>İçme sularına pis suların karışması</a:t>
            </a:r>
            <a:endParaRPr lang="tr-TR" b="1" dirty="0"/>
          </a:p>
        </p:txBody>
      </p:sp>
      <p:pic>
        <p:nvPicPr>
          <p:cNvPr id="1026" name="Picture 2" descr="C:\Users\casper\Desktop\kirli besin.jpg"/>
          <p:cNvPicPr>
            <a:picLocks noChangeAspect="1" noChangeArrowheads="1"/>
          </p:cNvPicPr>
          <p:nvPr/>
        </p:nvPicPr>
        <p:blipFill>
          <a:blip r:embed="rId2" cstate="print"/>
          <a:srcRect/>
          <a:stretch>
            <a:fillRect/>
          </a:stretch>
        </p:blipFill>
        <p:spPr bwMode="auto">
          <a:xfrm>
            <a:off x="2339752" y="2060848"/>
            <a:ext cx="5904656" cy="3616582"/>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casper\Desktop\imagesCAM9T1JF.jpg"/>
          <p:cNvPicPr>
            <a:picLocks noGrp="1" noChangeAspect="1" noChangeArrowheads="1"/>
          </p:cNvPicPr>
          <p:nvPr>
            <p:ph idx="4294967295"/>
          </p:nvPr>
        </p:nvPicPr>
        <p:blipFill>
          <a:blip r:embed="rId2" cstate="print"/>
          <a:srcRect/>
          <a:stretch>
            <a:fillRect/>
          </a:stretch>
        </p:blipFill>
        <p:spPr bwMode="auto">
          <a:xfrm>
            <a:off x="4572000" y="332656"/>
            <a:ext cx="4033837" cy="3168650"/>
          </a:xfrm>
          <a:prstGeom prst="rect">
            <a:avLst/>
          </a:prstGeom>
          <a:noFill/>
        </p:spPr>
      </p:pic>
      <p:pic>
        <p:nvPicPr>
          <p:cNvPr id="2050" name="Picture 2" descr="C:\Users\casper\Desktop\kanalizasyon.jpg"/>
          <p:cNvPicPr>
            <a:picLocks noChangeAspect="1" noChangeArrowheads="1"/>
          </p:cNvPicPr>
          <p:nvPr/>
        </p:nvPicPr>
        <p:blipFill>
          <a:blip r:embed="rId3" cstate="print"/>
          <a:srcRect/>
          <a:stretch>
            <a:fillRect/>
          </a:stretch>
        </p:blipFill>
        <p:spPr bwMode="auto">
          <a:xfrm>
            <a:off x="611560" y="332656"/>
            <a:ext cx="3816424" cy="3168352"/>
          </a:xfrm>
          <a:prstGeom prst="rect">
            <a:avLst/>
          </a:prstGeom>
          <a:noFill/>
        </p:spPr>
      </p:pic>
      <p:pic>
        <p:nvPicPr>
          <p:cNvPr id="2051" name="Picture 3" descr="C:\Users\casper\Desktop\a1.jpg"/>
          <p:cNvPicPr>
            <a:picLocks noChangeAspect="1" noChangeArrowheads="1"/>
          </p:cNvPicPr>
          <p:nvPr/>
        </p:nvPicPr>
        <p:blipFill>
          <a:blip r:embed="rId4" cstate="print"/>
          <a:srcRect/>
          <a:stretch>
            <a:fillRect/>
          </a:stretch>
        </p:blipFill>
        <p:spPr bwMode="auto">
          <a:xfrm>
            <a:off x="251520" y="3861048"/>
            <a:ext cx="8676456" cy="27940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260648"/>
            <a:ext cx="8712968" cy="6336704"/>
          </a:xfrm>
        </p:spPr>
        <p:txBody>
          <a:bodyPr/>
          <a:lstStyle/>
          <a:p>
            <a:pPr>
              <a:buNone/>
            </a:pPr>
            <a:r>
              <a:rPr lang="tr-TR" b="1" dirty="0" smtClean="0">
                <a:solidFill>
                  <a:srgbClr val="7030A0"/>
                </a:solidFill>
              </a:rPr>
              <a:t>	3-Toprak</a:t>
            </a:r>
          </a:p>
          <a:p>
            <a:r>
              <a:rPr lang="tr-TR" b="1" dirty="0" smtClean="0"/>
              <a:t>Parazitler toprağa değen çıplak deriden girebilirler</a:t>
            </a:r>
            <a:endParaRPr lang="tr-TR" b="1" dirty="0"/>
          </a:p>
        </p:txBody>
      </p:sp>
      <p:pic>
        <p:nvPicPr>
          <p:cNvPr id="1026" name="Picture 2" descr="C:\Users\casper\Desktop\toprak.jpg"/>
          <p:cNvPicPr>
            <a:picLocks noChangeAspect="1" noChangeArrowheads="1"/>
          </p:cNvPicPr>
          <p:nvPr/>
        </p:nvPicPr>
        <p:blipFill>
          <a:blip r:embed="rId2" cstate="print"/>
          <a:srcRect/>
          <a:stretch>
            <a:fillRect/>
          </a:stretch>
        </p:blipFill>
        <p:spPr bwMode="auto">
          <a:xfrm>
            <a:off x="467544" y="2564904"/>
            <a:ext cx="4320480" cy="3528392"/>
          </a:xfrm>
          <a:prstGeom prst="rect">
            <a:avLst/>
          </a:prstGeom>
          <a:noFill/>
        </p:spPr>
      </p:pic>
      <p:pic>
        <p:nvPicPr>
          <p:cNvPr id="5" name="Picture 2" descr="C:\Users\user\Desktop\toprak ve el.jpg"/>
          <p:cNvPicPr>
            <a:picLocks noChangeAspect="1" noChangeArrowheads="1"/>
          </p:cNvPicPr>
          <p:nvPr/>
        </p:nvPicPr>
        <p:blipFill>
          <a:blip r:embed="rId3" cstate="print"/>
          <a:srcRect/>
          <a:stretch>
            <a:fillRect/>
          </a:stretch>
        </p:blipFill>
        <p:spPr bwMode="auto">
          <a:xfrm>
            <a:off x="4932040" y="1700808"/>
            <a:ext cx="3848638" cy="3456384"/>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548680"/>
            <a:ext cx="8640960" cy="6120680"/>
          </a:xfrm>
        </p:spPr>
        <p:txBody>
          <a:bodyPr/>
          <a:lstStyle/>
          <a:p>
            <a:pPr>
              <a:buNone/>
            </a:pPr>
            <a:r>
              <a:rPr lang="tr-TR" b="1" dirty="0" smtClean="0"/>
              <a:t>	</a:t>
            </a:r>
            <a:r>
              <a:rPr lang="tr-TR" b="1" dirty="0" smtClean="0">
                <a:solidFill>
                  <a:srgbClr val="7030A0"/>
                </a:solidFill>
              </a:rPr>
              <a:t>4-Deri</a:t>
            </a:r>
          </a:p>
          <a:p>
            <a:r>
              <a:rPr lang="tr-TR" b="1" dirty="0" smtClean="0"/>
              <a:t>Parazitler vücudun çıplak kısımlarından ve eller aracılığı ile girerler</a:t>
            </a:r>
            <a:endParaRPr lang="tr-TR" b="1" dirty="0"/>
          </a:p>
        </p:txBody>
      </p:sp>
      <p:pic>
        <p:nvPicPr>
          <p:cNvPr id="1026" name="Picture 2" descr="C:\Users\casper\Desktop\imagesCAHRPF9V.jpg"/>
          <p:cNvPicPr>
            <a:picLocks noChangeAspect="1" noChangeArrowheads="1"/>
          </p:cNvPicPr>
          <p:nvPr/>
        </p:nvPicPr>
        <p:blipFill>
          <a:blip r:embed="rId2" cstate="print"/>
          <a:srcRect/>
          <a:stretch>
            <a:fillRect/>
          </a:stretch>
        </p:blipFill>
        <p:spPr bwMode="auto">
          <a:xfrm>
            <a:off x="467544" y="2924944"/>
            <a:ext cx="4680520" cy="2880320"/>
          </a:xfrm>
          <a:prstGeom prst="rect">
            <a:avLst/>
          </a:prstGeom>
          <a:noFill/>
        </p:spPr>
      </p:pic>
      <p:pic>
        <p:nvPicPr>
          <p:cNvPr id="4" name="Picture 2" descr="C:\Users\user\Desktop\indir.jpg"/>
          <p:cNvPicPr>
            <a:picLocks noChangeAspect="1" noChangeArrowheads="1"/>
          </p:cNvPicPr>
          <p:nvPr/>
        </p:nvPicPr>
        <p:blipFill>
          <a:blip r:embed="rId3" cstate="print"/>
          <a:srcRect/>
          <a:stretch>
            <a:fillRect/>
          </a:stretch>
        </p:blipFill>
        <p:spPr bwMode="auto">
          <a:xfrm>
            <a:off x="5364088" y="2708920"/>
            <a:ext cx="3195439" cy="3024336"/>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95536" y="476672"/>
            <a:ext cx="8496944" cy="6048672"/>
          </a:xfrm>
        </p:spPr>
        <p:txBody>
          <a:bodyPr/>
          <a:lstStyle/>
          <a:p>
            <a:pPr>
              <a:buNone/>
            </a:pPr>
            <a:r>
              <a:rPr lang="tr-TR" b="1" dirty="0" smtClean="0"/>
              <a:t>	</a:t>
            </a:r>
            <a:r>
              <a:rPr lang="tr-TR" b="1" dirty="0" smtClean="0">
                <a:solidFill>
                  <a:srgbClr val="7030A0"/>
                </a:solidFill>
              </a:rPr>
              <a:t>5-Eşya ve Aletler</a:t>
            </a:r>
          </a:p>
          <a:p>
            <a:r>
              <a:rPr lang="tr-TR" b="1" dirty="0" smtClean="0"/>
              <a:t>Tarak, çamaşırlar,yatak takımlar vs..</a:t>
            </a:r>
            <a:endParaRPr lang="tr-TR" b="1" dirty="0"/>
          </a:p>
        </p:txBody>
      </p:sp>
      <p:pic>
        <p:nvPicPr>
          <p:cNvPr id="1026" name="Picture 2" descr="C:\Users\casper\Desktop\Ruyada-Tarak-Gormek.jpg"/>
          <p:cNvPicPr>
            <a:picLocks noChangeAspect="1" noChangeArrowheads="1"/>
          </p:cNvPicPr>
          <p:nvPr/>
        </p:nvPicPr>
        <p:blipFill>
          <a:blip r:embed="rId2" cstate="print"/>
          <a:srcRect/>
          <a:stretch>
            <a:fillRect/>
          </a:stretch>
        </p:blipFill>
        <p:spPr bwMode="auto">
          <a:xfrm>
            <a:off x="1259632" y="2636912"/>
            <a:ext cx="2381250" cy="2381250"/>
          </a:xfrm>
          <a:prstGeom prst="rect">
            <a:avLst/>
          </a:prstGeom>
          <a:noFill/>
        </p:spPr>
      </p:pic>
      <p:pic>
        <p:nvPicPr>
          <p:cNvPr id="1027" name="Picture 3" descr="C:\Users\casper\Desktop\yatak-carsafi.jpg"/>
          <p:cNvPicPr>
            <a:picLocks noChangeAspect="1" noChangeArrowheads="1"/>
          </p:cNvPicPr>
          <p:nvPr/>
        </p:nvPicPr>
        <p:blipFill>
          <a:blip r:embed="rId3" cstate="print"/>
          <a:srcRect/>
          <a:stretch>
            <a:fillRect/>
          </a:stretch>
        </p:blipFill>
        <p:spPr bwMode="auto">
          <a:xfrm>
            <a:off x="4639000" y="2168627"/>
            <a:ext cx="3810000" cy="378904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404664"/>
            <a:ext cx="8568952" cy="6120680"/>
          </a:xfrm>
        </p:spPr>
        <p:txBody>
          <a:bodyPr>
            <a:normAutofit/>
          </a:bodyPr>
          <a:lstStyle/>
          <a:p>
            <a:pPr>
              <a:buNone/>
            </a:pPr>
            <a:r>
              <a:rPr lang="tr-TR" b="1" dirty="0" smtClean="0">
                <a:solidFill>
                  <a:srgbClr val="7030A0"/>
                </a:solidFill>
              </a:rPr>
              <a:t>	6-</a:t>
            </a:r>
            <a:r>
              <a:rPr lang="tr-TR" b="1" dirty="0" err="1" smtClean="0">
                <a:solidFill>
                  <a:srgbClr val="7030A0"/>
                </a:solidFill>
              </a:rPr>
              <a:t>Arthropoda</a:t>
            </a:r>
            <a:endParaRPr lang="tr-TR" b="1" dirty="0" smtClean="0"/>
          </a:p>
          <a:p>
            <a:pPr>
              <a:buNone/>
            </a:pPr>
            <a:r>
              <a:rPr lang="tr-TR" b="1" dirty="0" smtClean="0"/>
              <a:t>			Bu 2 yolla olur</a:t>
            </a:r>
          </a:p>
          <a:p>
            <a:pPr>
              <a:buNone/>
            </a:pPr>
            <a:endParaRPr lang="tr-TR" b="1" dirty="0" smtClean="0"/>
          </a:p>
          <a:p>
            <a:r>
              <a:rPr lang="tr-TR" b="1" dirty="0" smtClean="0">
                <a:solidFill>
                  <a:srgbClr val="FF0000"/>
                </a:solidFill>
              </a:rPr>
              <a:t>A)Mekanik Bulaşma</a:t>
            </a:r>
          </a:p>
          <a:p>
            <a:pPr>
              <a:buNone/>
            </a:pPr>
            <a:r>
              <a:rPr lang="tr-TR" b="1" dirty="0" smtClean="0"/>
              <a:t>			Taşıma yolu ile (karasinek)</a:t>
            </a:r>
          </a:p>
          <a:p>
            <a:pPr>
              <a:buNone/>
            </a:pPr>
            <a:endParaRPr lang="tr-TR" b="1" dirty="0" smtClean="0"/>
          </a:p>
          <a:p>
            <a:r>
              <a:rPr lang="tr-TR" b="1" dirty="0" smtClean="0">
                <a:solidFill>
                  <a:srgbClr val="FF0000"/>
                </a:solidFill>
              </a:rPr>
              <a:t>B)Biyolojik Bulaşma</a:t>
            </a:r>
          </a:p>
          <a:p>
            <a:pPr>
              <a:buNone/>
            </a:pPr>
            <a:r>
              <a:rPr lang="tr-TR" b="1" dirty="0" smtClean="0"/>
              <a:t>			Konak ödevi gören </a:t>
            </a:r>
            <a:r>
              <a:rPr lang="tr-TR" b="1" dirty="0" err="1" smtClean="0"/>
              <a:t>arthropodun</a:t>
            </a:r>
            <a:r>
              <a:rPr lang="tr-TR" b="1" dirty="0" smtClean="0"/>
              <a:t> kan emerken bulaştırması (sivrisinek-sıtma)</a:t>
            </a:r>
            <a:endParaRPr lang="tr-TR" b="1"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casper\Desktop\sivrisinek.jpg"/>
          <p:cNvPicPr>
            <a:picLocks noGrp="1" noChangeAspect="1" noChangeArrowheads="1"/>
          </p:cNvPicPr>
          <p:nvPr>
            <p:ph idx="4294967295"/>
          </p:nvPr>
        </p:nvPicPr>
        <p:blipFill>
          <a:blip r:embed="rId2" cstate="print"/>
          <a:srcRect/>
          <a:stretch>
            <a:fillRect/>
          </a:stretch>
        </p:blipFill>
        <p:spPr bwMode="auto">
          <a:xfrm>
            <a:off x="395536" y="2132856"/>
            <a:ext cx="4214813" cy="4357687"/>
          </a:xfrm>
          <a:prstGeom prst="rect">
            <a:avLst/>
          </a:prstGeom>
          <a:noFill/>
        </p:spPr>
      </p:pic>
      <p:pic>
        <p:nvPicPr>
          <p:cNvPr id="1026" name="Picture 2" descr="C:\Users\casper\Desktop\karasinek.jpg"/>
          <p:cNvPicPr>
            <a:picLocks noChangeAspect="1" noChangeArrowheads="1"/>
          </p:cNvPicPr>
          <p:nvPr/>
        </p:nvPicPr>
        <p:blipFill>
          <a:blip r:embed="rId3" cstate="print"/>
          <a:srcRect/>
          <a:stretch>
            <a:fillRect/>
          </a:stretch>
        </p:blipFill>
        <p:spPr bwMode="auto">
          <a:xfrm>
            <a:off x="4211960" y="188640"/>
            <a:ext cx="4729655" cy="34290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ltLang="tr-TR" b="1" dirty="0" smtClean="0">
                <a:solidFill>
                  <a:srgbClr val="FF0000"/>
                </a:solidFill>
              </a:rPr>
              <a:t>PARAZİTLERİN KAYNAKLARI</a:t>
            </a:r>
            <a:endParaRPr lang="tr-TR" dirty="0">
              <a:solidFill>
                <a:srgbClr val="FF0000"/>
              </a:solidFill>
            </a:endParaRPr>
          </a:p>
        </p:txBody>
      </p:sp>
      <p:sp>
        <p:nvSpPr>
          <p:cNvPr id="3" name="2 İçerik Yer Tutucusu"/>
          <p:cNvSpPr>
            <a:spLocks noGrp="1"/>
          </p:cNvSpPr>
          <p:nvPr>
            <p:ph idx="1"/>
          </p:nvPr>
        </p:nvSpPr>
        <p:spPr>
          <a:xfrm>
            <a:off x="457200" y="1412776"/>
            <a:ext cx="8229600" cy="4713387"/>
          </a:xfrm>
        </p:spPr>
        <p:txBody>
          <a:bodyPr/>
          <a:lstStyle/>
          <a:p>
            <a:pPr>
              <a:buNone/>
            </a:pPr>
            <a:r>
              <a:rPr lang="tr-TR" altLang="tr-TR" b="1" dirty="0" smtClean="0">
                <a:solidFill>
                  <a:srgbClr val="00B050"/>
                </a:solidFill>
                <a:latin typeface="Calibri" pitchFamily="34" charset="0"/>
                <a:cs typeface="Times New Roman" pitchFamily="18" charset="0"/>
              </a:rPr>
              <a:t>			CANLI KAYNAKLAR</a:t>
            </a:r>
          </a:p>
          <a:p>
            <a:r>
              <a:rPr lang="tr-TR" altLang="tr-TR" b="1" dirty="0" smtClean="0">
                <a:latin typeface="Calibri" pitchFamily="34" charset="0"/>
                <a:cs typeface="Times New Roman" pitchFamily="18" charset="0"/>
              </a:rPr>
              <a:t>İnsan ve hayvanlardır. </a:t>
            </a:r>
          </a:p>
          <a:p>
            <a:r>
              <a:rPr lang="tr-TR" altLang="tr-TR" b="1" dirty="0" smtClean="0">
                <a:latin typeface="Calibri" pitchFamily="34" charset="0"/>
                <a:cs typeface="Times New Roman" pitchFamily="18" charset="0"/>
              </a:rPr>
              <a:t>Bunlar taşıyıcı veya hasta olabilirler</a:t>
            </a:r>
          </a:p>
          <a:p>
            <a:r>
              <a:rPr lang="tr-TR" altLang="tr-TR" b="1" dirty="0" smtClean="0">
                <a:latin typeface="Calibri" pitchFamily="34" charset="0"/>
                <a:cs typeface="Times New Roman" pitchFamily="18" charset="0"/>
              </a:rPr>
              <a:t>Parazitler insan veya hayvan vücudundan dışkı, idrar, balgam, </a:t>
            </a:r>
            <a:r>
              <a:rPr lang="tr-TR" altLang="tr-TR" b="1" dirty="0" err="1" smtClean="0">
                <a:latin typeface="Calibri" pitchFamily="34" charset="0"/>
                <a:cs typeface="Times New Roman" pitchFamily="18" charset="0"/>
              </a:rPr>
              <a:t>genital</a:t>
            </a:r>
            <a:r>
              <a:rPr lang="tr-TR" altLang="tr-TR" b="1" dirty="0" smtClean="0">
                <a:latin typeface="Calibri" pitchFamily="34" charset="0"/>
                <a:cs typeface="Times New Roman" pitchFamily="18" charset="0"/>
              </a:rPr>
              <a:t> organ salgıları, deri lezyonları veya kanla çıkabilir</a:t>
            </a:r>
            <a:endParaRPr lang="tr-TR" altLang="tr-TR" b="1" u="sng" dirty="0" smtClean="0">
              <a:latin typeface="Calibri" pitchFamily="34" charset="0"/>
              <a:cs typeface="Times New Roman" pitchFamily="18" charset="0"/>
            </a:endParaRPr>
          </a:p>
          <a:p>
            <a:pPr>
              <a:buNone/>
            </a:pPr>
            <a:r>
              <a:rPr lang="tr-TR" altLang="tr-TR" b="1" dirty="0" smtClean="0">
                <a:solidFill>
                  <a:srgbClr val="00B050"/>
                </a:solidFill>
                <a:latin typeface="Calibri" pitchFamily="34" charset="0"/>
                <a:cs typeface="Times New Roman" pitchFamily="18" charset="0"/>
              </a:rPr>
              <a:t>			CANSIZ KAYNAKLAR</a:t>
            </a:r>
          </a:p>
          <a:p>
            <a:r>
              <a:rPr lang="tr-TR" altLang="tr-TR" b="1" dirty="0" smtClean="0">
                <a:latin typeface="Calibri" pitchFamily="34" charset="0"/>
                <a:cs typeface="Times New Roman" pitchFamily="18" charset="0"/>
              </a:rPr>
              <a:t>Toprak, barınak, giyim eşyası gibi maddelerdir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PARAZİTOZLARDA TANI</a:t>
            </a:r>
            <a:endParaRPr lang="tr-TR" dirty="0"/>
          </a:p>
        </p:txBody>
      </p:sp>
      <p:sp>
        <p:nvSpPr>
          <p:cNvPr id="3" name="2 İçerik Yer Tutucusu"/>
          <p:cNvSpPr>
            <a:spLocks noGrp="1"/>
          </p:cNvSpPr>
          <p:nvPr>
            <p:ph idx="1"/>
          </p:nvPr>
        </p:nvSpPr>
        <p:spPr/>
        <p:txBody>
          <a:bodyPr/>
          <a:lstStyle/>
          <a:p>
            <a:r>
              <a:rPr lang="tr-TR" b="1" dirty="0" smtClean="0"/>
              <a:t>Parazitin veya onun evrim dönemlerinden birinin görülmesi esastır</a:t>
            </a:r>
          </a:p>
          <a:p>
            <a:r>
              <a:rPr lang="tr-TR" b="1" dirty="0" smtClean="0"/>
              <a:t>Böyle saptanamaz ise </a:t>
            </a:r>
            <a:r>
              <a:rPr lang="tr-TR" b="1" dirty="0" err="1" smtClean="0"/>
              <a:t>indirekt</a:t>
            </a:r>
            <a:r>
              <a:rPr lang="tr-TR" b="1" dirty="0" smtClean="0"/>
              <a:t> tanıya gidilir</a:t>
            </a:r>
          </a:p>
          <a:p>
            <a:r>
              <a:rPr lang="tr-TR" b="1" dirty="0" err="1" smtClean="0"/>
              <a:t>Serolojik</a:t>
            </a:r>
            <a:r>
              <a:rPr lang="tr-TR" b="1" dirty="0" smtClean="0"/>
              <a:t> yöntemlerle tanıya gidilir</a:t>
            </a:r>
          </a:p>
          <a:p>
            <a:r>
              <a:rPr lang="tr-TR" b="1" dirty="0" smtClean="0"/>
              <a:t>Deri testleri yapılır</a:t>
            </a:r>
          </a:p>
          <a:p>
            <a:pPr lvl="1"/>
            <a:r>
              <a:rPr lang="tr-TR" b="1" dirty="0" smtClean="0"/>
              <a:t>Geç aşırı duyarlık esasına dayanan testlerdir</a:t>
            </a:r>
          </a:p>
          <a:p>
            <a:pPr lvl="1">
              <a:buNone/>
            </a:pPr>
            <a:endParaRPr lang="tr-TR" altLang="tr-TR" b="1" dirty="0" smtClean="0"/>
          </a:p>
          <a:p>
            <a:pPr lvl="1">
              <a:buNone/>
            </a:pPr>
            <a:r>
              <a:rPr lang="tr-TR" altLang="tr-TR" b="1" dirty="0" smtClean="0">
                <a:solidFill>
                  <a:srgbClr val="7030A0"/>
                </a:solidFill>
              </a:rPr>
              <a:t>Çok az sayıda parazitin kültürü yapılabilmektedir</a:t>
            </a:r>
            <a:endParaRPr lang="tr-TR" b="1" dirty="0">
              <a:solidFill>
                <a:srgbClr val="7030A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188640"/>
            <a:ext cx="8784976" cy="6480720"/>
          </a:xfrm>
        </p:spPr>
        <p:txBody>
          <a:bodyPr>
            <a:normAutofit fontScale="70000" lnSpcReduction="20000"/>
          </a:bodyPr>
          <a:lstStyle/>
          <a:p>
            <a:pPr>
              <a:buNone/>
            </a:pPr>
            <a:r>
              <a:rPr lang="tr-TR" dirty="0" smtClean="0"/>
              <a:t>	</a:t>
            </a:r>
            <a:r>
              <a:rPr lang="tr-TR" sz="2600" dirty="0" smtClean="0"/>
              <a:t>		</a:t>
            </a:r>
            <a:r>
              <a:rPr lang="tr-TR" sz="3400" b="1" dirty="0" smtClean="0">
                <a:solidFill>
                  <a:srgbClr val="FF0000"/>
                </a:solidFill>
              </a:rPr>
              <a:t>1-ETKENLE TANI (DİREKT TANI)</a:t>
            </a:r>
          </a:p>
          <a:p>
            <a:r>
              <a:rPr lang="tr-TR" sz="2800" b="1" dirty="0" smtClean="0"/>
              <a:t>Hastadan alınan örnekte, parazitin kendisi ve/veya ürünleri (kist, yumurta, larva vb.) aranır</a:t>
            </a:r>
          </a:p>
          <a:p>
            <a:pPr>
              <a:buNone/>
            </a:pPr>
            <a:r>
              <a:rPr lang="tr-TR" sz="2800" dirty="0" smtClean="0"/>
              <a:t>		</a:t>
            </a:r>
            <a:r>
              <a:rPr lang="tr-TR" sz="3400" dirty="0" smtClean="0"/>
              <a:t>	</a:t>
            </a:r>
            <a:r>
              <a:rPr lang="tr-TR" sz="3400" b="1" dirty="0" smtClean="0">
                <a:solidFill>
                  <a:srgbClr val="FF0000"/>
                </a:solidFill>
              </a:rPr>
              <a:t>2-İNDİREKT TANI</a:t>
            </a:r>
          </a:p>
          <a:p>
            <a:r>
              <a:rPr lang="tr-TR" sz="2800" b="1" dirty="0" smtClean="0"/>
              <a:t>Burada, parazitin kendisine veya ürünlerine karşı konakta oluşan tepki ürünleri ya da parazit antijenlerinin varlığı anlaşılır</a:t>
            </a:r>
          </a:p>
          <a:p>
            <a:r>
              <a:rPr lang="tr-TR" sz="3400" b="1" dirty="0" smtClean="0">
                <a:solidFill>
                  <a:srgbClr val="7030A0"/>
                </a:solidFill>
              </a:rPr>
              <a:t>ANTİKOR ARAŞTIRILMASI</a:t>
            </a:r>
          </a:p>
          <a:p>
            <a:pPr lvl="1"/>
            <a:r>
              <a:rPr lang="tr-TR" b="1" dirty="0" smtClean="0"/>
              <a:t>Hastanın serumunda parazite veya antijenlerine karşı oluşmuş özgül antikorların olup olmadığı çeşitli </a:t>
            </a:r>
            <a:r>
              <a:rPr lang="tr-TR" b="1" dirty="0" err="1" smtClean="0"/>
              <a:t>serolojik</a:t>
            </a:r>
            <a:r>
              <a:rPr lang="tr-TR" b="1" dirty="0" smtClean="0"/>
              <a:t> deneylerle araştırılır</a:t>
            </a:r>
          </a:p>
          <a:p>
            <a:r>
              <a:rPr lang="tr-TR" sz="3400" b="1" dirty="0" smtClean="0">
                <a:solidFill>
                  <a:srgbClr val="7030A0"/>
                </a:solidFill>
              </a:rPr>
              <a:t>HÜCRESEL BAĞIŞIKLIĞIN ARAŞTIRILMASI</a:t>
            </a:r>
          </a:p>
          <a:p>
            <a:pPr lvl="1"/>
            <a:r>
              <a:rPr lang="tr-TR" b="1" dirty="0" smtClean="0"/>
              <a:t>Parazit antijenleriyle yapılan cilt testlerinde, konakta parazitin antijenlerine karşı herhangi bir hücresel bağışıklık gelişip gelişmediği araştırılır</a:t>
            </a:r>
          </a:p>
          <a:p>
            <a:r>
              <a:rPr lang="tr-TR" sz="3400" b="1" dirty="0" smtClean="0">
                <a:solidFill>
                  <a:srgbClr val="7030A0"/>
                </a:solidFill>
              </a:rPr>
              <a:t>PARAZİT ANTİJENLERİNİN ARAŞTIRILMASI</a:t>
            </a:r>
          </a:p>
          <a:p>
            <a:pPr lvl="1"/>
            <a:r>
              <a:rPr lang="tr-TR" b="1" dirty="0" smtClean="0"/>
              <a:t>Bilinen antikorlar kullanılarak hastanın serum örneği, dışkı veya diğer çıkartı materyallerinde parazit antijenlerinin bulunup bulunmadığı araştırılır</a:t>
            </a:r>
          </a:p>
          <a:p>
            <a:r>
              <a:rPr lang="tr-TR" b="1" dirty="0" smtClean="0">
                <a:solidFill>
                  <a:srgbClr val="7030A0"/>
                </a:solidFill>
              </a:rPr>
              <a:t>MOLEKÜLER TESTLER</a:t>
            </a:r>
          </a:p>
          <a:p>
            <a:pPr lvl="1"/>
            <a:r>
              <a:rPr lang="tr-TR" b="1" dirty="0" smtClean="0"/>
              <a:t>Parazitin DNA, RNA veya protein materyalinin tespitine dayanan moleküler testler son yıllarda artan bir şekilde parazitolojik tanıda kullanılmaktadır</a:t>
            </a:r>
          </a:p>
          <a:p>
            <a:endParaRPr lang="tr-TR"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332656"/>
            <a:ext cx="8568952" cy="6192688"/>
          </a:xfrm>
        </p:spPr>
        <p:txBody>
          <a:bodyPr>
            <a:normAutofit lnSpcReduction="10000"/>
          </a:bodyPr>
          <a:lstStyle/>
          <a:p>
            <a:pPr algn="ctr">
              <a:buNone/>
            </a:pPr>
            <a:r>
              <a:rPr lang="tr-TR" b="1" dirty="0" smtClean="0">
                <a:solidFill>
                  <a:srgbClr val="FF0000"/>
                </a:solidFill>
              </a:rPr>
              <a:t>ETKENİ GÖSTERMEK İÇİN KULLANILAN MUAYENE MADDELERİ ŞUNLARDIR</a:t>
            </a:r>
          </a:p>
          <a:p>
            <a:pPr>
              <a:buNone/>
            </a:pPr>
            <a:r>
              <a:rPr lang="tr-TR" b="1" dirty="0" smtClean="0"/>
              <a:t>	Kan</a:t>
            </a:r>
          </a:p>
          <a:p>
            <a:pPr>
              <a:buNone/>
            </a:pPr>
            <a:r>
              <a:rPr lang="tr-TR" b="1" dirty="0" smtClean="0"/>
              <a:t>	Dışkı</a:t>
            </a:r>
          </a:p>
          <a:p>
            <a:pPr>
              <a:buNone/>
            </a:pPr>
            <a:r>
              <a:rPr lang="tr-TR" b="1" dirty="0" smtClean="0"/>
              <a:t>	İdrar </a:t>
            </a:r>
          </a:p>
          <a:p>
            <a:pPr>
              <a:buNone/>
            </a:pPr>
            <a:r>
              <a:rPr lang="tr-TR" dirty="0" smtClean="0"/>
              <a:t>    </a:t>
            </a:r>
            <a:r>
              <a:rPr lang="tr-TR" b="1" dirty="0" smtClean="0"/>
              <a:t>Deri kazıntısı</a:t>
            </a:r>
          </a:p>
          <a:p>
            <a:pPr>
              <a:buNone/>
            </a:pPr>
            <a:r>
              <a:rPr lang="tr-TR" b="1" dirty="0" smtClean="0"/>
              <a:t>	</a:t>
            </a:r>
            <a:r>
              <a:rPr lang="tr-TR" b="1" dirty="0" err="1" smtClean="0"/>
              <a:t>Vagına</a:t>
            </a:r>
            <a:r>
              <a:rPr lang="tr-TR" b="1" dirty="0" smtClean="0"/>
              <a:t> salgıları</a:t>
            </a:r>
          </a:p>
          <a:p>
            <a:pPr>
              <a:buNone/>
            </a:pPr>
            <a:r>
              <a:rPr lang="tr-TR" b="1" dirty="0" smtClean="0"/>
              <a:t>	Ponksiyon sıvıları</a:t>
            </a:r>
          </a:p>
          <a:p>
            <a:pPr>
              <a:buNone/>
            </a:pPr>
            <a:r>
              <a:rPr lang="tr-TR" b="1" dirty="0" smtClean="0"/>
              <a:t>	Balgam</a:t>
            </a:r>
          </a:p>
          <a:p>
            <a:pPr>
              <a:buNone/>
            </a:pPr>
            <a:r>
              <a:rPr lang="tr-TR" b="1" dirty="0" smtClean="0"/>
              <a:t>	Biyopsi materyali </a:t>
            </a:r>
          </a:p>
          <a:p>
            <a:pPr>
              <a:buNone/>
            </a:pPr>
            <a:r>
              <a:rPr lang="tr-TR" b="1" dirty="0" smtClean="0"/>
              <a:t>	Otopsi materyali</a:t>
            </a:r>
          </a:p>
          <a:p>
            <a:endParaRPr lang="tr-T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PARAZİTLER</a:t>
            </a:r>
            <a:endParaRPr lang="tr-TR" b="1" dirty="0">
              <a:solidFill>
                <a:srgbClr val="FF0000"/>
              </a:solidFill>
            </a:endParaRPr>
          </a:p>
        </p:txBody>
      </p:sp>
      <p:sp>
        <p:nvSpPr>
          <p:cNvPr id="3" name="2 İçerik Yer Tutucusu"/>
          <p:cNvSpPr>
            <a:spLocks noGrp="1"/>
          </p:cNvSpPr>
          <p:nvPr>
            <p:ph idx="1"/>
          </p:nvPr>
        </p:nvSpPr>
        <p:spPr>
          <a:xfrm>
            <a:off x="457200" y="1412776"/>
            <a:ext cx="8229600" cy="5112568"/>
          </a:xfrm>
        </p:spPr>
        <p:txBody>
          <a:bodyPr>
            <a:normAutofit fontScale="92500" lnSpcReduction="10000"/>
          </a:bodyPr>
          <a:lstStyle/>
          <a:p>
            <a:r>
              <a:rPr lang="tr-TR" b="1" dirty="0" smtClean="0">
                <a:solidFill>
                  <a:srgbClr val="0070C0"/>
                </a:solidFill>
              </a:rPr>
              <a:t>1-  TEK HÜCRELİLER</a:t>
            </a:r>
          </a:p>
          <a:p>
            <a:pPr>
              <a:buNone/>
            </a:pPr>
            <a:r>
              <a:rPr lang="tr-TR" dirty="0" smtClean="0"/>
              <a:t>			</a:t>
            </a:r>
            <a:r>
              <a:rPr lang="tr-TR" b="1" dirty="0" err="1" smtClean="0"/>
              <a:t>Protozoonlar</a:t>
            </a:r>
            <a:endParaRPr lang="tr-TR" b="1" dirty="0" smtClean="0"/>
          </a:p>
          <a:p>
            <a:pPr>
              <a:buNone/>
            </a:pPr>
            <a:endParaRPr lang="tr-TR" b="1" dirty="0" smtClean="0">
              <a:solidFill>
                <a:srgbClr val="0070C0"/>
              </a:solidFill>
            </a:endParaRPr>
          </a:p>
          <a:p>
            <a:r>
              <a:rPr lang="tr-TR" b="1" dirty="0" smtClean="0">
                <a:solidFill>
                  <a:srgbClr val="0070C0"/>
                </a:solidFill>
              </a:rPr>
              <a:t>2- ÇOK HÜCRELİLER</a:t>
            </a:r>
          </a:p>
          <a:p>
            <a:pPr>
              <a:buNone/>
            </a:pPr>
            <a:endParaRPr lang="tr-TR" b="1" dirty="0" smtClean="0">
              <a:solidFill>
                <a:srgbClr val="0070C0"/>
              </a:solidFill>
            </a:endParaRPr>
          </a:p>
          <a:p>
            <a:pPr>
              <a:buNone/>
            </a:pPr>
            <a:r>
              <a:rPr lang="tr-TR" b="1" dirty="0" smtClean="0">
                <a:solidFill>
                  <a:srgbClr val="00B050"/>
                </a:solidFill>
              </a:rPr>
              <a:t>  HELMİNTLER</a:t>
            </a:r>
          </a:p>
          <a:p>
            <a:pPr marL="914400" lvl="1" indent="-457200">
              <a:buNone/>
            </a:pPr>
            <a:r>
              <a:rPr lang="tr-TR" sz="3200" dirty="0" smtClean="0"/>
              <a:t>		</a:t>
            </a:r>
            <a:r>
              <a:rPr lang="tr-TR" sz="3200" b="1" dirty="0" err="1" smtClean="0"/>
              <a:t>Nematodlar</a:t>
            </a:r>
            <a:endParaRPr lang="tr-TR" sz="3200" b="1" dirty="0" smtClean="0"/>
          </a:p>
          <a:p>
            <a:pPr marL="914400" lvl="1" indent="-457200">
              <a:buNone/>
            </a:pPr>
            <a:r>
              <a:rPr lang="tr-TR" sz="3200" b="1" dirty="0" smtClean="0"/>
              <a:t>		</a:t>
            </a:r>
            <a:r>
              <a:rPr lang="tr-TR" sz="3200" b="1" dirty="0" err="1" smtClean="0"/>
              <a:t>Sestodlar</a:t>
            </a:r>
            <a:endParaRPr lang="tr-TR" sz="3200" b="1" dirty="0" smtClean="0"/>
          </a:p>
          <a:p>
            <a:pPr marL="914400" lvl="1" indent="-457200">
              <a:buNone/>
            </a:pPr>
            <a:r>
              <a:rPr lang="tr-TR" sz="3200" b="1" dirty="0" smtClean="0"/>
              <a:t>		</a:t>
            </a:r>
            <a:r>
              <a:rPr lang="tr-TR" sz="3200" b="1" dirty="0" err="1" smtClean="0"/>
              <a:t>Trematodlar</a:t>
            </a:r>
            <a:endParaRPr lang="tr-TR" sz="3200" b="1" dirty="0" smtClean="0"/>
          </a:p>
          <a:p>
            <a:pPr fontAlgn="t">
              <a:buNone/>
            </a:pPr>
            <a:r>
              <a:rPr lang="tr-TR" sz="1800" dirty="0" smtClean="0">
                <a:solidFill>
                  <a:srgbClr val="00B050"/>
                </a:solidFill>
              </a:rPr>
              <a:t>    </a:t>
            </a:r>
            <a:r>
              <a:rPr lang="tr-TR" b="1" dirty="0" smtClean="0">
                <a:solidFill>
                  <a:srgbClr val="00B050"/>
                </a:solidFill>
              </a:rPr>
              <a:t>ARTROPODLAR</a:t>
            </a:r>
          </a:p>
          <a:p>
            <a:pPr marL="914400" lvl="1" indent="-457200">
              <a:buFont typeface="Arial" panose="020B0604020202020204" pitchFamily="34" charset="0"/>
              <a:buChar char="•"/>
            </a:pPr>
            <a:endParaRPr lang="tr-TR" sz="3200" dirty="0" smtClean="0"/>
          </a:p>
          <a:p>
            <a:pPr marL="914400" lvl="1" indent="-457200">
              <a:buFont typeface="Arial" panose="020B0604020202020204" pitchFamily="34" charset="0"/>
              <a:buChar char="•"/>
            </a:pPr>
            <a:endParaRPr lang="tr-TR" sz="3200" dirty="0" smtClean="0"/>
          </a:p>
          <a:p>
            <a:endParaRPr lang="tr-T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user\Desktop\03_171.jpg"/>
          <p:cNvPicPr>
            <a:picLocks noGrp="1" noChangeAspect="1" noChangeArrowheads="1"/>
          </p:cNvPicPr>
          <p:nvPr>
            <p:ph idx="4294967295"/>
          </p:nvPr>
        </p:nvPicPr>
        <p:blipFill>
          <a:blip r:embed="rId2" cstate="print"/>
          <a:srcRect/>
          <a:stretch>
            <a:fillRect/>
          </a:stretch>
        </p:blipFill>
        <p:spPr bwMode="auto">
          <a:xfrm>
            <a:off x="1763688" y="908720"/>
            <a:ext cx="5903913" cy="5040313"/>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PROTOZOONLAR KİMLERDİR?</a:t>
            </a:r>
            <a:endParaRPr lang="tr-TR" dirty="0"/>
          </a:p>
        </p:txBody>
      </p:sp>
      <p:sp>
        <p:nvSpPr>
          <p:cNvPr id="3" name="2 İçerik Yer Tutucusu"/>
          <p:cNvSpPr>
            <a:spLocks noGrp="1"/>
          </p:cNvSpPr>
          <p:nvPr>
            <p:ph idx="1"/>
          </p:nvPr>
        </p:nvSpPr>
        <p:spPr/>
        <p:txBody>
          <a:bodyPr>
            <a:noAutofit/>
          </a:bodyPr>
          <a:lstStyle/>
          <a:p>
            <a:r>
              <a:rPr lang="tr-TR" altLang="tr-TR" sz="3600" b="1" dirty="0" smtClean="0"/>
              <a:t>Sularda</a:t>
            </a:r>
          </a:p>
          <a:p>
            <a:r>
              <a:rPr lang="tr-TR" altLang="tr-TR" sz="3600" b="1" dirty="0" smtClean="0"/>
              <a:t>Islak topraklarda özgür yaşayan</a:t>
            </a:r>
          </a:p>
          <a:p>
            <a:pPr>
              <a:buFont typeface="Wingdings" pitchFamily="2" charset="2"/>
              <a:buNone/>
            </a:pPr>
            <a:r>
              <a:rPr lang="tr-TR" altLang="tr-TR" sz="3600" b="1" dirty="0" smtClean="0"/>
              <a:t>         </a:t>
            </a:r>
            <a:r>
              <a:rPr lang="tr-TR" altLang="tr-TR" sz="3600" b="1" dirty="0" smtClean="0">
                <a:solidFill>
                  <a:srgbClr val="00B0F0"/>
                </a:solidFill>
              </a:rPr>
              <a:t>CANLILARDA</a:t>
            </a:r>
          </a:p>
          <a:p>
            <a:r>
              <a:rPr lang="tr-TR" altLang="tr-TR" sz="3600" b="1" dirty="0" smtClean="0"/>
              <a:t>Sığıntı</a:t>
            </a:r>
          </a:p>
          <a:p>
            <a:r>
              <a:rPr lang="tr-TR" altLang="tr-TR" sz="3600" b="1" dirty="0" smtClean="0"/>
              <a:t>Yardımlaşıcı</a:t>
            </a:r>
          </a:p>
          <a:p>
            <a:r>
              <a:rPr lang="tr-TR" altLang="tr-TR" sz="3600" b="1" dirty="0" smtClean="0"/>
              <a:t>Parazit </a:t>
            </a:r>
          </a:p>
          <a:p>
            <a:pPr>
              <a:buFont typeface="Wingdings" pitchFamily="2" charset="2"/>
              <a:buNone/>
            </a:pPr>
            <a:r>
              <a:rPr lang="tr-TR" altLang="tr-TR" sz="3600" b="1" dirty="0" smtClean="0"/>
              <a:t>                			Yaşarlar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354162"/>
          </a:xfrm>
        </p:spPr>
        <p:txBody>
          <a:bodyPr/>
          <a:lstStyle/>
          <a:p>
            <a:r>
              <a:rPr lang="tr-TR" b="1" dirty="0" smtClean="0">
                <a:solidFill>
                  <a:srgbClr val="FF0000"/>
                </a:solidFill>
              </a:rPr>
              <a:t>PROTOZOONLAR KİMLERDİR?</a:t>
            </a:r>
            <a:endParaRPr lang="tr-TR" b="1" dirty="0">
              <a:solidFill>
                <a:srgbClr val="FF0000"/>
              </a:solidFill>
            </a:endParaRPr>
          </a:p>
        </p:txBody>
      </p:sp>
      <p:sp>
        <p:nvSpPr>
          <p:cNvPr id="3" name="2 İçerik Yer Tutucusu"/>
          <p:cNvSpPr>
            <a:spLocks noGrp="1"/>
          </p:cNvSpPr>
          <p:nvPr>
            <p:ph idx="1"/>
          </p:nvPr>
        </p:nvSpPr>
        <p:spPr>
          <a:xfrm>
            <a:off x="457200" y="1628800"/>
            <a:ext cx="8229600" cy="4896544"/>
          </a:xfrm>
        </p:spPr>
        <p:txBody>
          <a:bodyPr>
            <a:noAutofit/>
          </a:bodyPr>
          <a:lstStyle/>
          <a:p>
            <a:r>
              <a:rPr lang="tr-TR" sz="2800" b="1" dirty="0" smtClean="0"/>
              <a:t>Bir hücreliler</a:t>
            </a:r>
            <a:r>
              <a:rPr lang="tr-TR" sz="2800" dirty="0" smtClean="0"/>
              <a:t>, </a:t>
            </a:r>
            <a:r>
              <a:rPr lang="tr-TR" sz="2800" b="1" dirty="0" smtClean="0"/>
              <a:t>genellikle mikroskobik, bir hücreli ve </a:t>
            </a:r>
            <a:r>
              <a:rPr lang="tr-TR" sz="2800" b="1" dirty="0" err="1" smtClean="0"/>
              <a:t>ökaryotik</a:t>
            </a:r>
            <a:r>
              <a:rPr lang="tr-TR" sz="2800" b="1" dirty="0" smtClean="0"/>
              <a:t> canlıları  içeren bir </a:t>
            </a:r>
            <a:r>
              <a:rPr lang="tr-TR" sz="2800" b="1" dirty="0" err="1" smtClean="0"/>
              <a:t>protista</a:t>
            </a:r>
            <a:r>
              <a:rPr lang="tr-TR" sz="2800" b="1" dirty="0" smtClean="0"/>
              <a:t> alt alemidir</a:t>
            </a:r>
          </a:p>
          <a:p>
            <a:r>
              <a:rPr lang="tr-TR" sz="2800" b="1" dirty="0" smtClean="0"/>
              <a:t>Hayvansal tek hücreli organizmalardır</a:t>
            </a:r>
          </a:p>
          <a:p>
            <a:pPr>
              <a:buNone/>
            </a:pPr>
            <a:endParaRPr lang="tr-TR" sz="2800" b="1" dirty="0" smtClean="0"/>
          </a:p>
          <a:p>
            <a:r>
              <a:rPr lang="tr-TR" sz="2800" b="1" dirty="0" smtClean="0"/>
              <a:t>PROTOZOONLAR, HAYVANLAR ALEMİNİN TEK HÜCRELİ VE EN BASİT ELEMANLARIDIR</a:t>
            </a:r>
          </a:p>
          <a:p>
            <a:pPr>
              <a:buNone/>
            </a:pPr>
            <a:endParaRPr lang="tr-TR" sz="2800" b="1" dirty="0" smtClean="0"/>
          </a:p>
          <a:p>
            <a:r>
              <a:rPr lang="tr-TR" sz="2800" b="1" dirty="0" err="1" smtClean="0"/>
              <a:t>Entamoeba</a:t>
            </a:r>
            <a:r>
              <a:rPr lang="tr-TR" sz="2800" b="1" dirty="0" smtClean="0"/>
              <a:t> </a:t>
            </a:r>
            <a:r>
              <a:rPr lang="tr-TR" sz="2800" b="1" dirty="0" err="1" smtClean="0"/>
              <a:t>histolytica</a:t>
            </a:r>
            <a:r>
              <a:rPr lang="tr-TR" sz="2800" b="1" dirty="0" smtClean="0"/>
              <a:t>, </a:t>
            </a:r>
            <a:r>
              <a:rPr lang="tr-TR" sz="2800" b="1" dirty="0" err="1" smtClean="0"/>
              <a:t>Dientamoeba</a:t>
            </a:r>
            <a:r>
              <a:rPr lang="tr-TR" sz="2800" b="1" dirty="0" smtClean="0"/>
              <a:t> </a:t>
            </a:r>
            <a:r>
              <a:rPr lang="tr-TR" sz="2800" b="1" dirty="0" err="1" smtClean="0"/>
              <a:t>fragilis</a:t>
            </a:r>
            <a:r>
              <a:rPr lang="tr-TR" sz="2800" b="1" dirty="0" smtClean="0"/>
              <a:t>, </a:t>
            </a:r>
            <a:r>
              <a:rPr lang="tr-TR" sz="2800" b="1" dirty="0" err="1" smtClean="0"/>
              <a:t>Balantidium</a:t>
            </a:r>
            <a:r>
              <a:rPr lang="tr-TR" sz="2800" b="1" dirty="0" smtClean="0"/>
              <a:t> </a:t>
            </a:r>
            <a:r>
              <a:rPr lang="tr-TR" sz="2800" b="1" dirty="0" err="1" smtClean="0"/>
              <a:t>coli</a:t>
            </a:r>
            <a:r>
              <a:rPr lang="tr-TR" sz="2800" b="1" dirty="0" smtClean="0"/>
              <a:t> ve </a:t>
            </a:r>
            <a:r>
              <a:rPr lang="tr-TR" sz="2800" b="1" dirty="0" err="1" smtClean="0"/>
              <a:t>Giardia</a:t>
            </a:r>
            <a:r>
              <a:rPr lang="tr-TR" sz="2800" b="1" dirty="0" smtClean="0"/>
              <a:t> </a:t>
            </a:r>
            <a:r>
              <a:rPr lang="tr-TR" sz="2800" b="1" dirty="0" err="1" smtClean="0"/>
              <a:t>lamblia</a:t>
            </a:r>
            <a:r>
              <a:rPr lang="tr-TR" sz="2800" b="1" dirty="0" smtClean="0"/>
              <a:t>, </a:t>
            </a:r>
            <a:r>
              <a:rPr lang="tr-TR" sz="2800" b="1" dirty="0" err="1" smtClean="0"/>
              <a:t>Leishmania</a:t>
            </a:r>
            <a:r>
              <a:rPr lang="tr-TR" sz="2800" b="1" dirty="0" smtClean="0"/>
              <a:t> insan için patojen türlerdir</a:t>
            </a:r>
            <a:endParaRPr lang="tr-TR" sz="28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332656"/>
            <a:ext cx="8712968" cy="6336432"/>
          </a:xfrm>
        </p:spPr>
        <p:txBody>
          <a:bodyPr>
            <a:noAutofit/>
          </a:bodyPr>
          <a:lstStyle/>
          <a:p>
            <a:pPr>
              <a:buNone/>
            </a:pPr>
            <a:r>
              <a:rPr lang="tr-TR" b="1" dirty="0" smtClean="0">
                <a:solidFill>
                  <a:srgbClr val="FF0000"/>
                </a:solidFill>
              </a:rPr>
              <a:t>				</a:t>
            </a:r>
            <a:r>
              <a:rPr lang="tr-TR" sz="4000" b="1" dirty="0" smtClean="0">
                <a:solidFill>
                  <a:srgbClr val="FF0000"/>
                </a:solidFill>
              </a:rPr>
              <a:t>PROTOZOONLAR</a:t>
            </a:r>
            <a:endParaRPr lang="tr-TR" sz="4000" b="1" dirty="0" smtClean="0"/>
          </a:p>
          <a:p>
            <a:pPr>
              <a:buNone/>
            </a:pPr>
            <a:r>
              <a:rPr lang="tr-TR" sz="2800" b="1" dirty="0" smtClean="0"/>
              <a:t>İnsanda hastalık yaparlar</a:t>
            </a:r>
            <a:endParaRPr lang="tr-TR" altLang="tr-TR" sz="2800" dirty="0" smtClean="0">
              <a:solidFill>
                <a:srgbClr val="00FFFF"/>
              </a:solidFill>
            </a:endParaRPr>
          </a:p>
          <a:p>
            <a:r>
              <a:rPr lang="tr-TR" altLang="tr-TR" sz="2800" b="1" dirty="0" smtClean="0">
                <a:solidFill>
                  <a:srgbClr val="7030A0"/>
                </a:solidFill>
              </a:rPr>
              <a:t>Vücut boşluklarında</a:t>
            </a:r>
          </a:p>
          <a:p>
            <a:r>
              <a:rPr lang="tr-TR" altLang="tr-TR" sz="2800" b="1" dirty="0" smtClean="0">
                <a:solidFill>
                  <a:srgbClr val="7030A0"/>
                </a:solidFill>
              </a:rPr>
              <a:t>Kanda </a:t>
            </a:r>
          </a:p>
          <a:p>
            <a:r>
              <a:rPr lang="tr-TR" altLang="tr-TR" sz="2800" b="1" dirty="0" smtClean="0">
                <a:solidFill>
                  <a:srgbClr val="7030A0"/>
                </a:solidFill>
              </a:rPr>
              <a:t>İç organlarda</a:t>
            </a:r>
          </a:p>
          <a:p>
            <a:pPr>
              <a:buFont typeface="Wingdings" pitchFamily="2" charset="2"/>
              <a:buNone/>
            </a:pPr>
            <a:r>
              <a:rPr lang="tr-TR" altLang="tr-TR" sz="2800" b="1" dirty="0" smtClean="0"/>
              <a:t>  			</a:t>
            </a:r>
            <a:r>
              <a:rPr lang="tr-TR" altLang="tr-TR" sz="2800" b="1" dirty="0" err="1" smtClean="0"/>
              <a:t>infeksiyon</a:t>
            </a:r>
            <a:r>
              <a:rPr lang="tr-TR" altLang="tr-TR" sz="2800" b="1" dirty="0" smtClean="0"/>
              <a:t> oluştururlar</a:t>
            </a:r>
            <a:endParaRPr lang="tr-TR" sz="3000" b="1" dirty="0" smtClean="0"/>
          </a:p>
          <a:p>
            <a:pPr>
              <a:buNone/>
            </a:pPr>
            <a:r>
              <a:rPr lang="tr-TR" sz="3000" b="1" dirty="0" smtClean="0"/>
              <a:t>	</a:t>
            </a:r>
            <a:r>
              <a:rPr lang="tr-TR" sz="2400" b="1" dirty="0" smtClean="0"/>
              <a:t>Hastalık yaptığı bilinen bir </a:t>
            </a:r>
            <a:r>
              <a:rPr lang="tr-TR" sz="2400" b="1" dirty="0" err="1" smtClean="0"/>
              <a:t>protozoon</a:t>
            </a:r>
            <a:r>
              <a:rPr lang="tr-TR" sz="2400" b="1" dirty="0" smtClean="0"/>
              <a:t> başka bir insan da hastalık yapmadan </a:t>
            </a:r>
            <a:r>
              <a:rPr lang="tr-TR" sz="2400" b="1" dirty="0" err="1" smtClean="0"/>
              <a:t>kommensal</a:t>
            </a:r>
            <a:r>
              <a:rPr lang="tr-TR" sz="2400" b="1" dirty="0" smtClean="0"/>
              <a:t> olarak bulunabilir</a:t>
            </a:r>
          </a:p>
          <a:p>
            <a:pPr>
              <a:buNone/>
            </a:pPr>
            <a:r>
              <a:rPr lang="tr-TR" sz="2400" b="1" dirty="0" smtClean="0"/>
              <a:t>	En sık sindirim yolundan bulaşır</a:t>
            </a:r>
          </a:p>
          <a:p>
            <a:pPr>
              <a:buNone/>
            </a:pPr>
            <a:r>
              <a:rPr lang="tr-TR" sz="2400" b="1" dirty="0" smtClean="0"/>
              <a:t>	Kirlenmiş besin maddeleri bulaşmada çok önemli</a:t>
            </a:r>
          </a:p>
          <a:p>
            <a:pPr>
              <a:buNone/>
            </a:pPr>
            <a:r>
              <a:rPr lang="tr-TR" sz="2400" b="1" dirty="0" err="1" smtClean="0">
                <a:solidFill>
                  <a:schemeClr val="accent6">
                    <a:lumMod val="50000"/>
                  </a:schemeClr>
                </a:solidFill>
              </a:rPr>
              <a:t>Kommensalizm</a:t>
            </a:r>
            <a:r>
              <a:rPr lang="tr-TR" sz="2400" b="1" dirty="0" smtClean="0">
                <a:solidFill>
                  <a:schemeClr val="accent6">
                    <a:lumMod val="50000"/>
                  </a:schemeClr>
                </a:solidFill>
              </a:rPr>
              <a:t>, iki organizmanın kurduğu ortak yaşamda, bir canlının yarar sağladığı, diğerininse bu ortaklıktan etkilenmediği yaşam türüdür.</a:t>
            </a:r>
          </a:p>
          <a:p>
            <a:pPr>
              <a:buNone/>
            </a:pPr>
            <a:endParaRPr lang="tr-TR" sz="24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476672"/>
            <a:ext cx="8424936" cy="6048672"/>
          </a:xfrm>
        </p:spPr>
        <p:txBody>
          <a:bodyPr/>
          <a:lstStyle/>
          <a:p>
            <a:r>
              <a:rPr lang="tr-TR" altLang="tr-TR" dirty="0" smtClean="0">
                <a:solidFill>
                  <a:srgbClr val="7030A0"/>
                </a:solidFill>
                <a:latin typeface="Calibri" pitchFamily="34" charset="0"/>
                <a:cs typeface="Times New Roman" pitchFamily="18" charset="0"/>
              </a:rPr>
              <a:t>Doğada farklı cins ve türden iki canlının birlikte yaşamasına “</a:t>
            </a:r>
            <a:r>
              <a:rPr lang="tr-TR" altLang="tr-TR" b="1" dirty="0" err="1" smtClean="0">
                <a:solidFill>
                  <a:srgbClr val="7030A0"/>
                </a:solidFill>
                <a:latin typeface="Calibri" pitchFamily="34" charset="0"/>
                <a:cs typeface="Times New Roman" pitchFamily="18" charset="0"/>
              </a:rPr>
              <a:t>simbiyoz</a:t>
            </a:r>
            <a:r>
              <a:rPr lang="tr-TR" altLang="tr-TR" dirty="0" smtClean="0">
                <a:solidFill>
                  <a:srgbClr val="7030A0"/>
                </a:solidFill>
                <a:latin typeface="Calibri" pitchFamily="34" charset="0"/>
                <a:cs typeface="Times New Roman" pitchFamily="18" charset="0"/>
              </a:rPr>
              <a:t>” denir </a:t>
            </a:r>
          </a:p>
          <a:p>
            <a:endParaRPr lang="tr-TR" altLang="tr-TR" b="1" dirty="0" smtClean="0">
              <a:latin typeface="Calibri" pitchFamily="34" charset="0"/>
              <a:cs typeface="Times New Roman" pitchFamily="18" charset="0"/>
            </a:endParaRPr>
          </a:p>
          <a:p>
            <a:pPr>
              <a:lnSpc>
                <a:spcPct val="80000"/>
              </a:lnSpc>
            </a:pPr>
            <a:r>
              <a:rPr lang="tr-TR" altLang="tr-TR" b="1" dirty="0" smtClean="0">
                <a:solidFill>
                  <a:schemeClr val="accent6">
                    <a:lumMod val="50000"/>
                  </a:schemeClr>
                </a:solidFill>
                <a:latin typeface="Calibri" pitchFamily="34" charset="0"/>
                <a:cs typeface="Times New Roman" pitchFamily="18" charset="0"/>
              </a:rPr>
              <a:t>1-</a:t>
            </a:r>
            <a:r>
              <a:rPr lang="tr-TR" altLang="tr-TR" b="1" dirty="0" err="1" smtClean="0">
                <a:solidFill>
                  <a:schemeClr val="accent6">
                    <a:lumMod val="50000"/>
                  </a:schemeClr>
                </a:solidFill>
                <a:latin typeface="Calibri" pitchFamily="34" charset="0"/>
                <a:cs typeface="Times New Roman" pitchFamily="18" charset="0"/>
              </a:rPr>
              <a:t>Mutuallik</a:t>
            </a:r>
            <a:r>
              <a:rPr lang="tr-TR" altLang="tr-TR" b="1" dirty="0" smtClean="0">
                <a:solidFill>
                  <a:schemeClr val="accent6">
                    <a:lumMod val="50000"/>
                  </a:schemeClr>
                </a:solidFill>
                <a:latin typeface="Calibri" pitchFamily="34" charset="0"/>
                <a:cs typeface="Times New Roman" pitchFamily="18" charset="0"/>
              </a:rPr>
              <a:t>= yardımlaşma </a:t>
            </a:r>
          </a:p>
          <a:p>
            <a:pPr>
              <a:lnSpc>
                <a:spcPct val="80000"/>
              </a:lnSpc>
            </a:pPr>
            <a:endParaRPr lang="tr-TR" altLang="tr-TR" b="1" dirty="0" smtClean="0">
              <a:latin typeface="Calibri" pitchFamily="34" charset="0"/>
              <a:cs typeface="Times New Roman" pitchFamily="18" charset="0"/>
            </a:endParaRPr>
          </a:p>
          <a:p>
            <a:pPr>
              <a:lnSpc>
                <a:spcPct val="80000"/>
              </a:lnSpc>
            </a:pPr>
            <a:r>
              <a:rPr lang="tr-TR" altLang="tr-TR" b="1" dirty="0" smtClean="0">
                <a:solidFill>
                  <a:srgbClr val="FF0000"/>
                </a:solidFill>
                <a:latin typeface="Calibri" pitchFamily="34" charset="0"/>
                <a:cs typeface="Times New Roman" pitchFamily="18" charset="0"/>
              </a:rPr>
              <a:t>2-</a:t>
            </a:r>
            <a:r>
              <a:rPr lang="tr-TR" altLang="tr-TR" b="1" dirty="0" err="1" smtClean="0">
                <a:solidFill>
                  <a:srgbClr val="FF0000"/>
                </a:solidFill>
                <a:latin typeface="Calibri" pitchFamily="34" charset="0"/>
                <a:cs typeface="Times New Roman" pitchFamily="18" charset="0"/>
              </a:rPr>
              <a:t>Kommensallik</a:t>
            </a:r>
            <a:r>
              <a:rPr lang="tr-TR" altLang="tr-TR" b="1" dirty="0" smtClean="0">
                <a:solidFill>
                  <a:srgbClr val="FF0000"/>
                </a:solidFill>
                <a:latin typeface="Calibri" pitchFamily="34" charset="0"/>
                <a:cs typeface="Times New Roman" pitchFamily="18" charset="0"/>
              </a:rPr>
              <a:t>=sığıntılık</a:t>
            </a:r>
          </a:p>
          <a:p>
            <a:pPr>
              <a:lnSpc>
                <a:spcPct val="80000"/>
              </a:lnSpc>
            </a:pPr>
            <a:endParaRPr lang="tr-TR" altLang="tr-TR" b="1" dirty="0" smtClean="0">
              <a:latin typeface="Calibri" pitchFamily="34" charset="0"/>
              <a:cs typeface="Times New Roman" pitchFamily="18" charset="0"/>
            </a:endParaRPr>
          </a:p>
          <a:p>
            <a:pPr>
              <a:lnSpc>
                <a:spcPct val="80000"/>
              </a:lnSpc>
            </a:pPr>
            <a:r>
              <a:rPr lang="tr-TR" altLang="tr-TR" b="1" dirty="0" smtClean="0">
                <a:latin typeface="Calibri" pitchFamily="34" charset="0"/>
                <a:cs typeface="Times New Roman" pitchFamily="18" charset="0"/>
              </a:rPr>
              <a:t>3-Parazitlik: zarar verici </a:t>
            </a:r>
          </a:p>
          <a:p>
            <a:endParaRPr lang="tr-TR" altLang="tr-TR" dirty="0" smtClean="0">
              <a:latin typeface="Calibri" pitchFamily="34" charset="0"/>
              <a:cs typeface="Times New Roman" pitchFamily="18" charset="0"/>
            </a:endParaRPr>
          </a:p>
          <a:p>
            <a:endParaRPr lang="tr-T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PROTOZOONLAR </a:t>
            </a:r>
            <a:endParaRPr lang="tr-TR" dirty="0">
              <a:solidFill>
                <a:srgbClr val="FF0000"/>
              </a:solidFill>
            </a:endParaRPr>
          </a:p>
        </p:txBody>
      </p:sp>
      <p:sp>
        <p:nvSpPr>
          <p:cNvPr id="3" name="2 İçerik Yer Tutucusu"/>
          <p:cNvSpPr>
            <a:spLocks noGrp="1"/>
          </p:cNvSpPr>
          <p:nvPr>
            <p:ph idx="1"/>
          </p:nvPr>
        </p:nvSpPr>
        <p:spPr>
          <a:xfrm>
            <a:off x="457200" y="1600200"/>
            <a:ext cx="8229600" cy="4925144"/>
          </a:xfrm>
        </p:spPr>
        <p:txBody>
          <a:bodyPr>
            <a:normAutofit fontScale="92500" lnSpcReduction="10000"/>
          </a:bodyPr>
          <a:lstStyle/>
          <a:p>
            <a:r>
              <a:rPr lang="tr-TR" b="1" dirty="0" smtClean="0"/>
              <a:t>Enfeksiyon </a:t>
            </a:r>
            <a:r>
              <a:rPr lang="tr-TR" b="1" dirty="0" smtClean="0">
                <a:solidFill>
                  <a:srgbClr val="7030A0"/>
                </a:solidFill>
              </a:rPr>
              <a:t>genellikle dışkı ile </a:t>
            </a:r>
            <a:r>
              <a:rPr lang="tr-TR" b="1" dirty="0" err="1" smtClean="0">
                <a:solidFill>
                  <a:srgbClr val="7030A0"/>
                </a:solidFill>
              </a:rPr>
              <a:t>kontamine</a:t>
            </a:r>
            <a:r>
              <a:rPr lang="tr-TR" b="1" dirty="0" smtClean="0">
                <a:solidFill>
                  <a:srgbClr val="7030A0"/>
                </a:solidFill>
              </a:rPr>
              <a:t> su ve besinlerin ağız yolu ile alınması ile bulaşır</a:t>
            </a:r>
          </a:p>
          <a:p>
            <a:pPr>
              <a:buNone/>
            </a:pPr>
            <a:endParaRPr lang="tr-TR" b="1" dirty="0" smtClean="0"/>
          </a:p>
          <a:p>
            <a:r>
              <a:rPr lang="tr-TR" b="1" dirty="0" smtClean="0"/>
              <a:t>Sanitasyon koşullarının iyi olmadığı ülkelerde </a:t>
            </a:r>
            <a:r>
              <a:rPr lang="tr-TR" b="1" dirty="0" err="1" smtClean="0"/>
              <a:t>protozoon</a:t>
            </a:r>
            <a:r>
              <a:rPr lang="tr-TR" b="1" dirty="0" smtClean="0"/>
              <a:t> enfeksiyonları daha sıktır</a:t>
            </a:r>
          </a:p>
          <a:p>
            <a:pPr>
              <a:buNone/>
            </a:pPr>
            <a:endParaRPr lang="tr-TR" b="1" dirty="0" smtClean="0"/>
          </a:p>
          <a:p>
            <a:r>
              <a:rPr lang="tr-TR" b="1" dirty="0" smtClean="0"/>
              <a:t>Sosyoekonomik ve hijyenik standartların kötü olduğu bölgelerde özellikle </a:t>
            </a:r>
            <a:r>
              <a:rPr lang="tr-TR" b="1" dirty="0" err="1" smtClean="0"/>
              <a:t>Entamoeba</a:t>
            </a:r>
            <a:r>
              <a:rPr lang="tr-TR" b="1" dirty="0" smtClean="0"/>
              <a:t> </a:t>
            </a:r>
            <a:r>
              <a:rPr lang="tr-TR" b="1" dirty="0" err="1" smtClean="0"/>
              <a:t>histolytica’ya</a:t>
            </a:r>
            <a:r>
              <a:rPr lang="tr-TR" b="1" dirty="0" smtClean="0"/>
              <a:t> bağlı </a:t>
            </a:r>
            <a:r>
              <a:rPr lang="tr-TR" b="1" dirty="0" err="1" smtClean="0"/>
              <a:t>amibiazis</a:t>
            </a:r>
            <a:r>
              <a:rPr lang="tr-TR" b="1" dirty="0" smtClean="0"/>
              <a:t> endemik odaklar oluşturur</a:t>
            </a:r>
          </a:p>
          <a:p>
            <a:endParaRPr lang="tr-TR"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188640"/>
            <a:ext cx="8496944" cy="6336704"/>
          </a:xfrm>
        </p:spPr>
        <p:txBody>
          <a:bodyPr>
            <a:normAutofit fontScale="92500" lnSpcReduction="10000"/>
          </a:bodyPr>
          <a:lstStyle/>
          <a:p>
            <a:pPr>
              <a:buNone/>
            </a:pPr>
            <a:r>
              <a:rPr lang="tr-TR" b="1" dirty="0" smtClean="0"/>
              <a:t>			</a:t>
            </a:r>
            <a:r>
              <a:rPr lang="tr-TR" altLang="tr-TR" sz="4300" b="1" dirty="0" smtClean="0">
                <a:solidFill>
                  <a:srgbClr val="FF0000"/>
                </a:solidFill>
              </a:rPr>
              <a:t>PROTOZOONLAR</a:t>
            </a:r>
            <a:r>
              <a:rPr lang="tr-TR" sz="4300" b="1" dirty="0" smtClean="0"/>
              <a:t>	</a:t>
            </a:r>
          </a:p>
          <a:p>
            <a:pPr>
              <a:buNone/>
            </a:pPr>
            <a:r>
              <a:rPr lang="tr-TR" b="1" dirty="0" smtClean="0">
                <a:solidFill>
                  <a:srgbClr val="0070C0"/>
                </a:solidFill>
              </a:rPr>
              <a:t>KİST FORMU</a:t>
            </a:r>
          </a:p>
          <a:p>
            <a:r>
              <a:rPr lang="tr-TR" sz="3000" b="1" dirty="0" smtClean="0"/>
              <a:t>Kist </a:t>
            </a:r>
            <a:r>
              <a:rPr lang="tr-TR" sz="3000" b="1" dirty="0" err="1" smtClean="0"/>
              <a:t>protozoo’nun</a:t>
            </a:r>
            <a:r>
              <a:rPr lang="tr-TR" sz="3000" b="1" dirty="0" smtClean="0"/>
              <a:t> ; </a:t>
            </a:r>
            <a:r>
              <a:rPr lang="tr-TR" altLang="tr-TR" sz="3000" b="1" dirty="0" smtClean="0"/>
              <a:t>Sert veya kalın duvarı olan, olumsuz koşullara dirençli, dışarıdan besin almayan, büyümeyen ve </a:t>
            </a:r>
            <a:r>
              <a:rPr lang="tr-TR" sz="3000" b="1" dirty="0" smtClean="0"/>
              <a:t>uygun olmayan koşulları geçirmesini sağlayan formu</a:t>
            </a:r>
          </a:p>
          <a:p>
            <a:endParaRPr lang="tr-TR" b="1" dirty="0" smtClean="0"/>
          </a:p>
          <a:p>
            <a:pPr>
              <a:buNone/>
            </a:pPr>
            <a:r>
              <a:rPr lang="tr-TR" b="1" dirty="0" smtClean="0">
                <a:solidFill>
                  <a:srgbClr val="0070C0"/>
                </a:solidFill>
              </a:rPr>
              <a:t>TROFOZOİT veya VEGETATİF FORMU</a:t>
            </a:r>
          </a:p>
          <a:p>
            <a:r>
              <a:rPr lang="tr-TR" sz="3000" b="1" dirty="0" err="1" smtClean="0"/>
              <a:t>Protozoan’un</a:t>
            </a:r>
            <a:r>
              <a:rPr lang="tr-TR" sz="3000" b="1" dirty="0" smtClean="0"/>
              <a:t> </a:t>
            </a:r>
            <a:r>
              <a:rPr lang="tr-TR" altLang="tr-TR" sz="3000" b="1" dirty="0" smtClean="0"/>
              <a:t>Dışarıdan besin alıp büyüyebilen, </a:t>
            </a:r>
            <a:r>
              <a:rPr lang="tr-TR" sz="3000" b="1" dirty="0" smtClean="0"/>
              <a:t>hareketli olup ,çoğalabilen şekli</a:t>
            </a:r>
          </a:p>
          <a:p>
            <a:pPr>
              <a:buNone/>
            </a:pPr>
            <a:endParaRPr lang="tr-TR" sz="2400" b="1" dirty="0" smtClean="0"/>
          </a:p>
          <a:p>
            <a:pPr>
              <a:buNone/>
            </a:pPr>
            <a:r>
              <a:rPr lang="tr-TR" sz="2400" b="1" dirty="0" smtClean="0"/>
              <a:t>     </a:t>
            </a:r>
            <a:r>
              <a:rPr lang="tr-TR" sz="2400" b="1" dirty="0" smtClean="0">
                <a:solidFill>
                  <a:schemeClr val="accent6">
                    <a:lumMod val="50000"/>
                  </a:schemeClr>
                </a:solidFill>
              </a:rPr>
              <a:t>Mikroorganizmaların normal </a:t>
            </a:r>
            <a:r>
              <a:rPr lang="tr-TR" sz="2400" b="1" dirty="0" err="1" smtClean="0">
                <a:solidFill>
                  <a:schemeClr val="accent6">
                    <a:lumMod val="50000"/>
                  </a:schemeClr>
                </a:solidFill>
              </a:rPr>
              <a:t>metabolik</a:t>
            </a:r>
            <a:r>
              <a:rPr lang="tr-TR" sz="2400" b="1" dirty="0" smtClean="0">
                <a:solidFill>
                  <a:schemeClr val="accent6">
                    <a:lumMod val="50000"/>
                  </a:schemeClr>
                </a:solidFill>
              </a:rPr>
              <a:t> faaliyetlerini devam ettirdiği, stres koşulları altında bulunmayan formdur. Organizma beslenme, hareket etme, üreme ve protein sentezleme gibi işlevlerini sürdürür.</a:t>
            </a:r>
            <a:endParaRPr lang="tr-TR" sz="2400" b="1" dirty="0">
              <a:solidFill>
                <a:schemeClr val="accent6">
                  <a:lumMod val="50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0070C0"/>
                </a:solidFill>
              </a:rPr>
              <a:t>ÖNEMLİ</a:t>
            </a:r>
            <a:endParaRPr lang="tr-TR" b="1" dirty="0">
              <a:solidFill>
                <a:srgbClr val="0070C0"/>
              </a:solidFill>
            </a:endParaRPr>
          </a:p>
        </p:txBody>
      </p:sp>
      <p:sp>
        <p:nvSpPr>
          <p:cNvPr id="3" name="2 İçerik Yer Tutucusu"/>
          <p:cNvSpPr>
            <a:spLocks noGrp="1"/>
          </p:cNvSpPr>
          <p:nvPr>
            <p:ph idx="1"/>
          </p:nvPr>
        </p:nvSpPr>
        <p:spPr/>
        <p:txBody>
          <a:bodyPr/>
          <a:lstStyle/>
          <a:p>
            <a:r>
              <a:rPr lang="tr-TR" altLang="tr-TR" b="1" dirty="0" smtClean="0">
                <a:solidFill>
                  <a:schemeClr val="hlink"/>
                </a:solidFill>
              </a:rPr>
              <a:t>Kistler</a:t>
            </a:r>
            <a:r>
              <a:rPr lang="tr-TR" altLang="tr-TR" b="1" dirty="0" smtClean="0"/>
              <a:t> bulaştırmadan</a:t>
            </a:r>
          </a:p>
          <a:p>
            <a:r>
              <a:rPr lang="tr-TR" altLang="tr-TR" b="1" dirty="0" err="1" smtClean="0">
                <a:solidFill>
                  <a:schemeClr val="hlink"/>
                </a:solidFill>
              </a:rPr>
              <a:t>Trofozoitler</a:t>
            </a:r>
            <a:r>
              <a:rPr lang="tr-TR" altLang="tr-TR" b="1" dirty="0" smtClean="0"/>
              <a:t> ise </a:t>
            </a:r>
            <a:r>
              <a:rPr lang="tr-TR" altLang="tr-TR" b="1" dirty="0" err="1" smtClean="0"/>
              <a:t>invazyon</a:t>
            </a:r>
            <a:r>
              <a:rPr lang="tr-TR" altLang="tr-TR" b="1" dirty="0" smtClean="0"/>
              <a:t> ve hastalık belirtilerinden sorumludur</a:t>
            </a:r>
          </a:p>
          <a:p>
            <a:r>
              <a:rPr lang="tr-TR" altLang="tr-TR" b="1" dirty="0" err="1" smtClean="0"/>
              <a:t>Trofozoitler</a:t>
            </a:r>
            <a:r>
              <a:rPr lang="tr-TR" altLang="tr-TR" b="1" dirty="0" smtClean="0"/>
              <a:t> dış ortama dayanıklı olmadığı için bulaştırmada rol almazlar</a:t>
            </a:r>
            <a:endParaRPr lang="tr-TR"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 </a:t>
            </a:r>
            <a:r>
              <a:rPr lang="tr-TR" sz="4000" b="1" dirty="0" smtClean="0">
                <a:solidFill>
                  <a:srgbClr val="FF0000"/>
                </a:solidFill>
              </a:rPr>
              <a:t>PROTOZOONLARIN VÜCUTTA YERLEŞİM YERLERİ</a:t>
            </a:r>
            <a:endParaRPr lang="tr-TR" sz="4000" dirty="0">
              <a:solidFill>
                <a:srgbClr val="FF0000"/>
              </a:solidFill>
            </a:endParaRPr>
          </a:p>
        </p:txBody>
      </p:sp>
      <p:sp>
        <p:nvSpPr>
          <p:cNvPr id="3" name="2 İçerik Yer Tutucusu"/>
          <p:cNvSpPr>
            <a:spLocks noGrp="1"/>
          </p:cNvSpPr>
          <p:nvPr>
            <p:ph idx="1"/>
          </p:nvPr>
        </p:nvSpPr>
        <p:spPr/>
        <p:txBody>
          <a:bodyPr>
            <a:normAutofit fontScale="92500" lnSpcReduction="20000"/>
          </a:bodyPr>
          <a:lstStyle/>
          <a:p>
            <a:pPr>
              <a:buNone/>
            </a:pPr>
            <a:r>
              <a:rPr lang="tr-TR" dirty="0" smtClean="0"/>
              <a:t>		     </a:t>
            </a:r>
            <a:r>
              <a:rPr lang="tr-TR" b="1" dirty="0" smtClean="0">
                <a:solidFill>
                  <a:srgbClr val="7030A0"/>
                </a:solidFill>
              </a:rPr>
              <a:t>LÜMENDE YAŞAYAN PROTOZOONLAR</a:t>
            </a:r>
          </a:p>
          <a:p>
            <a:r>
              <a:rPr lang="tr-TR" b="1" dirty="0" smtClean="0"/>
              <a:t>Ağızda yerleşen</a:t>
            </a:r>
          </a:p>
          <a:p>
            <a:r>
              <a:rPr lang="tr-TR" b="1" dirty="0" smtClean="0"/>
              <a:t>Bağırsakta yerleşen</a:t>
            </a:r>
          </a:p>
          <a:p>
            <a:r>
              <a:rPr lang="tr-TR" b="1" dirty="0" err="1" smtClean="0"/>
              <a:t>Ürogenital</a:t>
            </a:r>
            <a:r>
              <a:rPr lang="tr-TR" b="1" dirty="0" smtClean="0"/>
              <a:t> sistemde yerleşen</a:t>
            </a:r>
          </a:p>
          <a:p>
            <a:pPr>
              <a:buNone/>
            </a:pPr>
            <a:r>
              <a:rPr lang="tr-TR" dirty="0" smtClean="0"/>
              <a:t>		     </a:t>
            </a:r>
            <a:r>
              <a:rPr lang="tr-TR" b="1" dirty="0" smtClean="0">
                <a:solidFill>
                  <a:srgbClr val="7030A0"/>
                </a:solidFill>
              </a:rPr>
              <a:t>KANDA VE DOKULARDA YERLEŞEN</a:t>
            </a:r>
          </a:p>
          <a:p>
            <a:r>
              <a:rPr lang="tr-TR" b="1" dirty="0" smtClean="0"/>
              <a:t>Kanda</a:t>
            </a:r>
          </a:p>
          <a:p>
            <a:r>
              <a:rPr lang="tr-TR" b="1" dirty="0" err="1" smtClean="0"/>
              <a:t>Retikuloendotelial</a:t>
            </a:r>
            <a:r>
              <a:rPr lang="tr-TR" b="1" dirty="0" smtClean="0"/>
              <a:t> sistemde</a:t>
            </a:r>
            <a:r>
              <a:rPr lang="tr-TR" dirty="0" smtClean="0"/>
              <a:t> </a:t>
            </a:r>
            <a:r>
              <a:rPr lang="tr-TR" dirty="0" smtClean="0">
                <a:solidFill>
                  <a:srgbClr val="00B0F0"/>
                </a:solidFill>
              </a:rPr>
              <a:t>(</a:t>
            </a:r>
            <a:r>
              <a:rPr lang="tr-TR" sz="3000" b="1" dirty="0" smtClean="0">
                <a:solidFill>
                  <a:srgbClr val="00B0F0"/>
                </a:solidFill>
              </a:rPr>
              <a:t>fagositoz yapabilen hücreler sistemi)</a:t>
            </a:r>
          </a:p>
          <a:p>
            <a:r>
              <a:rPr lang="tr-TR" b="1" dirty="0" smtClean="0"/>
              <a:t>Deride, Mukozalarda</a:t>
            </a:r>
          </a:p>
          <a:p>
            <a:r>
              <a:rPr lang="tr-TR" b="1" dirty="0" smtClean="0"/>
              <a:t>Akciğer, kalp, </a:t>
            </a:r>
            <a:r>
              <a:rPr lang="tr-TR" b="1" dirty="0" err="1" smtClean="0"/>
              <a:t>lenfoid</a:t>
            </a:r>
            <a:r>
              <a:rPr lang="tr-TR" b="1" dirty="0" smtClean="0"/>
              <a:t> doku, santral sinir sistemi</a:t>
            </a:r>
            <a:endParaRPr lang="tr-TR"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PROTOZOONLAR </a:t>
            </a:r>
            <a:endParaRPr lang="tr-TR" dirty="0">
              <a:solidFill>
                <a:srgbClr val="FF0000"/>
              </a:solidFill>
            </a:endParaRPr>
          </a:p>
        </p:txBody>
      </p:sp>
      <p:sp>
        <p:nvSpPr>
          <p:cNvPr id="3" name="2 İçerik Yer Tutucusu"/>
          <p:cNvSpPr>
            <a:spLocks noGrp="1"/>
          </p:cNvSpPr>
          <p:nvPr>
            <p:ph idx="1"/>
          </p:nvPr>
        </p:nvSpPr>
        <p:spPr/>
        <p:txBody>
          <a:bodyPr/>
          <a:lstStyle/>
          <a:p>
            <a:r>
              <a:rPr lang="tr-TR" b="1" dirty="0" smtClean="0"/>
              <a:t>Tropikal ve </a:t>
            </a:r>
            <a:r>
              <a:rPr lang="tr-TR" b="1" dirty="0" err="1" smtClean="0"/>
              <a:t>subtropikal</a:t>
            </a:r>
            <a:r>
              <a:rPr lang="tr-TR" b="1" dirty="0" smtClean="0"/>
              <a:t> bölgelerde </a:t>
            </a:r>
            <a:r>
              <a:rPr lang="tr-TR" b="1" dirty="0" err="1" smtClean="0"/>
              <a:t>amibiazis</a:t>
            </a:r>
            <a:r>
              <a:rPr lang="tr-TR" b="1" dirty="0" smtClean="0"/>
              <a:t> sıktır</a:t>
            </a:r>
          </a:p>
          <a:p>
            <a:r>
              <a:rPr lang="tr-TR" b="1" dirty="0" err="1" smtClean="0"/>
              <a:t>Entamoeba</a:t>
            </a:r>
            <a:r>
              <a:rPr lang="tr-TR" b="1" dirty="0" smtClean="0"/>
              <a:t> cinsi   Tek hücrelidir</a:t>
            </a:r>
          </a:p>
          <a:p>
            <a:pPr>
              <a:buNone/>
            </a:pPr>
            <a:endParaRPr lang="tr-TR" b="1"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idx="4294967295"/>
          </p:nvPr>
        </p:nvSpPr>
        <p:spPr>
          <a:xfrm>
            <a:off x="1619672" y="2492896"/>
            <a:ext cx="6152728" cy="1107554"/>
          </a:xfrm>
        </p:spPr>
        <p:txBody>
          <a:bodyPr>
            <a:normAutofit/>
          </a:bodyPr>
          <a:lstStyle/>
          <a:p>
            <a:r>
              <a:rPr lang="tr-TR" b="1" dirty="0" smtClean="0">
                <a:solidFill>
                  <a:srgbClr val="FF0000"/>
                </a:solidFill>
                <a:latin typeface="+mn-lt"/>
              </a:rPr>
              <a:t>DYSENTERİAE</a:t>
            </a:r>
            <a:endParaRPr lang="tr-TR" b="1" dirty="0">
              <a:solidFill>
                <a:srgbClr val="FF0000"/>
              </a:solidFill>
              <a:latin typeface="+mn-lt"/>
            </a:endParaRPr>
          </a:p>
        </p:txBody>
      </p:sp>
      <p:pic>
        <p:nvPicPr>
          <p:cNvPr id="3074" name="Picture 2" descr="C:\Users\aidata\Desktop\Shigella_dysenteriae.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292080" y="3717032"/>
            <a:ext cx="3573760" cy="2893044"/>
          </a:xfrm>
          <a:prstGeom prst="rect">
            <a:avLst/>
          </a:prstGeom>
          <a:noFill/>
          <a:extLst>
            <a:ext uri="{909E8E84-426E-40DD-AFC4-6F175D3DCCD1}">
              <a14:hiddenFill xmlns="" xmlns:a14="http://schemas.microsoft.com/office/drawing/2010/main">
                <a:solidFill>
                  <a:srgbClr val="FFFFFF"/>
                </a:solidFill>
              </a14:hiddenFill>
            </a:ext>
          </a:extLst>
        </p:spPr>
      </p:pic>
      <p:pic>
        <p:nvPicPr>
          <p:cNvPr id="1026" name="Picture 2" descr="C:\Users\user\Desktop\Amipli-Dizanteri-Nasil-Bulasir-17.jpg"/>
          <p:cNvPicPr>
            <a:picLocks noChangeAspect="1" noChangeArrowheads="1"/>
          </p:cNvPicPr>
          <p:nvPr/>
        </p:nvPicPr>
        <p:blipFill>
          <a:blip r:embed="rId3" cstate="print"/>
          <a:srcRect/>
          <a:stretch>
            <a:fillRect/>
          </a:stretch>
        </p:blipFill>
        <p:spPr bwMode="auto">
          <a:xfrm>
            <a:off x="323528" y="188640"/>
            <a:ext cx="3384376" cy="2090448"/>
          </a:xfrm>
          <a:prstGeom prst="rect">
            <a:avLst/>
          </a:prstGeom>
          <a:noFill/>
        </p:spPr>
      </p:pic>
    </p:spTree>
    <p:extLst>
      <p:ext uri="{BB962C8B-B14F-4D97-AF65-F5344CB8AC3E}">
        <p14:creationId xmlns="" xmlns:p14="http://schemas.microsoft.com/office/powerpoint/2010/main" val="24220023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b="1" dirty="0" smtClean="0">
                <a:solidFill>
                  <a:srgbClr val="FF0000"/>
                </a:solidFill>
              </a:rPr>
              <a:t>DİZANTERİ  NEDİR?</a:t>
            </a:r>
            <a:endParaRPr lang="tr-TR" b="1" dirty="0">
              <a:solidFill>
                <a:srgbClr val="FF0000"/>
              </a:solidFill>
            </a:endParaRPr>
          </a:p>
        </p:txBody>
      </p:sp>
      <p:sp>
        <p:nvSpPr>
          <p:cNvPr id="3" name="İçerik Yer Tutucusu 2"/>
          <p:cNvSpPr>
            <a:spLocks noGrp="1"/>
          </p:cNvSpPr>
          <p:nvPr>
            <p:ph idx="1"/>
          </p:nvPr>
        </p:nvSpPr>
        <p:spPr/>
        <p:txBody>
          <a:bodyPr>
            <a:normAutofit/>
          </a:bodyPr>
          <a:lstStyle/>
          <a:p>
            <a:r>
              <a:rPr lang="tr-TR" b="1" dirty="0"/>
              <a:t>Dizanteri, </a:t>
            </a:r>
            <a:r>
              <a:rPr lang="tr-TR" b="1" dirty="0" smtClean="0"/>
              <a:t>insanda</a:t>
            </a:r>
            <a:r>
              <a:rPr lang="tr-TR" b="1" dirty="0"/>
              <a:t> sık ve kanlı ishal, genellikle şiddetli karın ağrısı, gerekmediği halde dışkılama isteği duyma, bağırsak </a:t>
            </a:r>
            <a:r>
              <a:rPr lang="tr-TR" b="1" dirty="0" smtClean="0"/>
              <a:t>yaraları yapan hastalık</a:t>
            </a:r>
          </a:p>
          <a:p>
            <a:pPr>
              <a:buNone/>
            </a:pPr>
            <a:endParaRPr lang="tr-TR" b="1" dirty="0" smtClean="0"/>
          </a:p>
          <a:p>
            <a:r>
              <a:rPr lang="tr-TR" b="1" dirty="0" smtClean="0"/>
              <a:t>Kanlı ve mukuslu ishalin eşlik ettiği; mide bulantısı, ani kusma ve ani mide krampları ile karakterizedir</a:t>
            </a:r>
          </a:p>
          <a:p>
            <a:endParaRPr lang="tr-TR" b="1" dirty="0" smtClean="0"/>
          </a:p>
        </p:txBody>
      </p:sp>
    </p:spTree>
    <p:extLst>
      <p:ext uri="{BB962C8B-B14F-4D97-AF65-F5344CB8AC3E}">
        <p14:creationId xmlns="" xmlns:p14="http://schemas.microsoft.com/office/powerpoint/2010/main" val="13195662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4294967295"/>
          </p:nvPr>
        </p:nvSpPr>
        <p:spPr>
          <a:xfrm>
            <a:off x="611560" y="404664"/>
            <a:ext cx="7920880" cy="5721499"/>
          </a:xfrm>
        </p:spPr>
        <p:txBody>
          <a:bodyPr/>
          <a:lstStyle/>
          <a:p>
            <a:pPr marL="0" indent="0" algn="ctr">
              <a:buNone/>
            </a:pPr>
            <a:endParaRPr lang="tr-TR" b="1" dirty="0" smtClean="0"/>
          </a:p>
          <a:p>
            <a:pPr marL="0" indent="0" algn="ctr">
              <a:buNone/>
            </a:pPr>
            <a:endParaRPr lang="tr-TR" b="1" dirty="0"/>
          </a:p>
          <a:p>
            <a:pPr marL="0" indent="0" algn="ctr">
              <a:buNone/>
            </a:pPr>
            <a:r>
              <a:rPr lang="tr-TR" sz="4800" b="1" dirty="0" smtClean="0">
                <a:solidFill>
                  <a:srgbClr val="FF0000"/>
                </a:solidFill>
              </a:rPr>
              <a:t>1- BASİLLİ DİZANTERİ</a:t>
            </a:r>
          </a:p>
          <a:p>
            <a:pPr marL="0" indent="0" algn="ctr">
              <a:buNone/>
            </a:pPr>
            <a:r>
              <a:rPr lang="tr-TR" sz="4800" b="1" dirty="0" smtClean="0">
                <a:solidFill>
                  <a:srgbClr val="FF0000"/>
                </a:solidFill>
              </a:rPr>
              <a:t>2- AMİPLİ DİZANTERİ</a:t>
            </a:r>
            <a:endParaRPr lang="tr-TR" sz="4800" b="1" dirty="0">
              <a:solidFill>
                <a:srgbClr val="FF0000"/>
              </a:solidFill>
            </a:endParaRPr>
          </a:p>
        </p:txBody>
      </p:sp>
    </p:spTree>
    <p:extLst>
      <p:ext uri="{BB962C8B-B14F-4D97-AF65-F5344CB8AC3E}">
        <p14:creationId xmlns="" xmlns:p14="http://schemas.microsoft.com/office/powerpoint/2010/main" val="225274447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260648"/>
            <a:ext cx="8784976" cy="6336704"/>
          </a:xfrm>
        </p:spPr>
        <p:txBody>
          <a:bodyPr>
            <a:normAutofit fontScale="85000" lnSpcReduction="20000"/>
          </a:bodyPr>
          <a:lstStyle/>
          <a:p>
            <a:pPr>
              <a:buNone/>
            </a:pPr>
            <a:r>
              <a:rPr lang="tr-TR" b="1" dirty="0" smtClean="0"/>
              <a:t>		</a:t>
            </a:r>
            <a:r>
              <a:rPr lang="tr-TR" sz="4100" b="1" dirty="0" smtClean="0">
                <a:solidFill>
                  <a:srgbClr val="FF0000"/>
                </a:solidFill>
              </a:rPr>
              <a:t>İNSAN VÜCUDUNDA YERLEŞEN AMİPLER</a:t>
            </a:r>
            <a:endParaRPr lang="tr-TR" sz="4100" dirty="0" smtClean="0">
              <a:solidFill>
                <a:srgbClr val="FF0000"/>
              </a:solidFill>
            </a:endParaRPr>
          </a:p>
          <a:p>
            <a:r>
              <a:rPr lang="tr-TR" b="1" dirty="0" smtClean="0">
                <a:solidFill>
                  <a:srgbClr val="7030A0"/>
                </a:solidFill>
              </a:rPr>
              <a:t>1</a:t>
            </a:r>
            <a:r>
              <a:rPr lang="tr-TR" sz="3100" b="1" dirty="0" smtClean="0">
                <a:solidFill>
                  <a:srgbClr val="7030A0"/>
                </a:solidFill>
              </a:rPr>
              <a:t>- </a:t>
            </a:r>
            <a:r>
              <a:rPr lang="tr-TR" sz="3100" b="1" dirty="0" err="1" smtClean="0">
                <a:solidFill>
                  <a:srgbClr val="7030A0"/>
                </a:solidFill>
              </a:rPr>
              <a:t>Entamoeba</a:t>
            </a:r>
            <a:r>
              <a:rPr lang="tr-TR" sz="3100" b="1" dirty="0" smtClean="0">
                <a:solidFill>
                  <a:srgbClr val="7030A0"/>
                </a:solidFill>
              </a:rPr>
              <a:t> </a:t>
            </a:r>
            <a:r>
              <a:rPr lang="tr-TR" sz="3100" b="1" dirty="0" err="1" smtClean="0">
                <a:solidFill>
                  <a:srgbClr val="7030A0"/>
                </a:solidFill>
              </a:rPr>
              <a:t>gingivalis</a:t>
            </a:r>
            <a:r>
              <a:rPr lang="tr-TR" sz="3100" b="1" dirty="0" smtClean="0">
                <a:solidFill>
                  <a:srgbClr val="7030A0"/>
                </a:solidFill>
              </a:rPr>
              <a:t> : Ağızda yerleşir, genelde </a:t>
            </a:r>
            <a:r>
              <a:rPr lang="tr-TR" sz="3100" b="1" dirty="0" err="1" smtClean="0">
                <a:solidFill>
                  <a:srgbClr val="7030A0"/>
                </a:solidFill>
              </a:rPr>
              <a:t>apatojen</a:t>
            </a:r>
            <a:r>
              <a:rPr lang="tr-TR" sz="3100" b="1" dirty="0" smtClean="0">
                <a:solidFill>
                  <a:srgbClr val="7030A0"/>
                </a:solidFill>
              </a:rPr>
              <a:t>.</a:t>
            </a:r>
          </a:p>
          <a:p>
            <a:r>
              <a:rPr lang="tr-TR" sz="3100" b="1" dirty="0" smtClean="0">
                <a:solidFill>
                  <a:schemeClr val="accent6">
                    <a:lumMod val="50000"/>
                  </a:schemeClr>
                </a:solidFill>
              </a:rPr>
              <a:t>2- </a:t>
            </a:r>
            <a:r>
              <a:rPr lang="tr-TR" sz="3100" b="1" dirty="0" err="1" smtClean="0">
                <a:solidFill>
                  <a:schemeClr val="accent6">
                    <a:lumMod val="50000"/>
                  </a:schemeClr>
                </a:solidFill>
              </a:rPr>
              <a:t>Entamoeba</a:t>
            </a:r>
            <a:r>
              <a:rPr lang="tr-TR" sz="3100" b="1" dirty="0" smtClean="0">
                <a:solidFill>
                  <a:schemeClr val="accent6">
                    <a:lumMod val="50000"/>
                  </a:schemeClr>
                </a:solidFill>
              </a:rPr>
              <a:t> </a:t>
            </a:r>
            <a:r>
              <a:rPr lang="tr-TR" sz="3100" b="1" dirty="0" err="1" smtClean="0">
                <a:solidFill>
                  <a:schemeClr val="accent6">
                    <a:lumMod val="50000"/>
                  </a:schemeClr>
                </a:solidFill>
              </a:rPr>
              <a:t>histolytica</a:t>
            </a:r>
            <a:r>
              <a:rPr lang="tr-TR" sz="3100" b="1" dirty="0" smtClean="0">
                <a:solidFill>
                  <a:schemeClr val="accent6">
                    <a:lumMod val="50000"/>
                  </a:schemeClr>
                </a:solidFill>
              </a:rPr>
              <a:t> : Kalın bağırsakta yaşar, buradan diğer organlara geçebilir, patojen</a:t>
            </a:r>
          </a:p>
          <a:p>
            <a:r>
              <a:rPr lang="tr-TR" sz="3100" b="1" dirty="0" smtClean="0">
                <a:solidFill>
                  <a:srgbClr val="00B050"/>
                </a:solidFill>
              </a:rPr>
              <a:t>3- </a:t>
            </a:r>
            <a:r>
              <a:rPr lang="tr-TR" sz="3100" b="1" dirty="0" err="1" smtClean="0">
                <a:solidFill>
                  <a:srgbClr val="00B050"/>
                </a:solidFill>
              </a:rPr>
              <a:t>Entamoeba</a:t>
            </a:r>
            <a:r>
              <a:rPr lang="tr-TR" sz="3100" b="1" dirty="0" smtClean="0">
                <a:solidFill>
                  <a:srgbClr val="00B050"/>
                </a:solidFill>
              </a:rPr>
              <a:t> </a:t>
            </a:r>
            <a:r>
              <a:rPr lang="tr-TR" sz="3100" b="1" dirty="0" err="1" smtClean="0">
                <a:solidFill>
                  <a:srgbClr val="00B050"/>
                </a:solidFill>
              </a:rPr>
              <a:t>hartmanni</a:t>
            </a:r>
            <a:r>
              <a:rPr lang="tr-TR" sz="3100" b="1" dirty="0" smtClean="0">
                <a:solidFill>
                  <a:srgbClr val="00B050"/>
                </a:solidFill>
              </a:rPr>
              <a:t> : : Kalın bağırsakta yaşar, </a:t>
            </a:r>
            <a:r>
              <a:rPr lang="tr-TR" sz="3100" b="1" dirty="0" err="1" smtClean="0">
                <a:solidFill>
                  <a:srgbClr val="00B050"/>
                </a:solidFill>
              </a:rPr>
              <a:t>apatojen</a:t>
            </a:r>
            <a:endParaRPr lang="tr-TR" sz="3100" b="1" dirty="0" smtClean="0">
              <a:solidFill>
                <a:srgbClr val="00B050"/>
              </a:solidFill>
            </a:endParaRPr>
          </a:p>
          <a:p>
            <a:r>
              <a:rPr lang="tr-TR" sz="3100" b="1" dirty="0" smtClean="0">
                <a:solidFill>
                  <a:srgbClr val="C00000"/>
                </a:solidFill>
              </a:rPr>
              <a:t>4- </a:t>
            </a:r>
            <a:r>
              <a:rPr lang="tr-TR" sz="3100" b="1" dirty="0" err="1" smtClean="0">
                <a:solidFill>
                  <a:srgbClr val="C00000"/>
                </a:solidFill>
              </a:rPr>
              <a:t>Entamoeba</a:t>
            </a:r>
            <a:r>
              <a:rPr lang="tr-TR" sz="3100" b="1" dirty="0" smtClean="0">
                <a:solidFill>
                  <a:srgbClr val="C00000"/>
                </a:solidFill>
              </a:rPr>
              <a:t> </a:t>
            </a:r>
            <a:r>
              <a:rPr lang="tr-TR" sz="3100" b="1" dirty="0" err="1" smtClean="0">
                <a:solidFill>
                  <a:srgbClr val="C00000"/>
                </a:solidFill>
              </a:rPr>
              <a:t>coli</a:t>
            </a:r>
            <a:r>
              <a:rPr lang="tr-TR" sz="3100" b="1" dirty="0" smtClean="0">
                <a:solidFill>
                  <a:srgbClr val="C00000"/>
                </a:solidFill>
              </a:rPr>
              <a:t> : : Kalın bağırsakta yaşar, genelde </a:t>
            </a:r>
            <a:r>
              <a:rPr lang="tr-TR" sz="3100" b="1" dirty="0" err="1" smtClean="0">
                <a:solidFill>
                  <a:srgbClr val="C00000"/>
                </a:solidFill>
              </a:rPr>
              <a:t>apatojen</a:t>
            </a:r>
            <a:r>
              <a:rPr lang="tr-TR" sz="3100" b="1" dirty="0" smtClean="0">
                <a:solidFill>
                  <a:srgbClr val="C00000"/>
                </a:solidFill>
              </a:rPr>
              <a:t>.</a:t>
            </a:r>
          </a:p>
          <a:p>
            <a:r>
              <a:rPr lang="tr-TR" sz="3100" b="1" dirty="0" smtClean="0">
                <a:solidFill>
                  <a:srgbClr val="9A0670"/>
                </a:solidFill>
              </a:rPr>
              <a:t>5- </a:t>
            </a:r>
            <a:r>
              <a:rPr lang="tr-TR" sz="3100" b="1" dirty="0" err="1" smtClean="0">
                <a:solidFill>
                  <a:srgbClr val="9A0670"/>
                </a:solidFill>
              </a:rPr>
              <a:t>Entamoeba</a:t>
            </a:r>
            <a:r>
              <a:rPr lang="tr-TR" sz="3100" b="1" dirty="0" smtClean="0">
                <a:solidFill>
                  <a:srgbClr val="9A0670"/>
                </a:solidFill>
              </a:rPr>
              <a:t> </a:t>
            </a:r>
            <a:r>
              <a:rPr lang="tr-TR" sz="3100" b="1" dirty="0" err="1" smtClean="0">
                <a:solidFill>
                  <a:srgbClr val="9A0670"/>
                </a:solidFill>
              </a:rPr>
              <a:t>polecki</a:t>
            </a:r>
            <a:r>
              <a:rPr lang="tr-TR" sz="3100" b="1" dirty="0" smtClean="0">
                <a:solidFill>
                  <a:srgbClr val="9A0670"/>
                </a:solidFill>
              </a:rPr>
              <a:t> : : Domuzların ve maymunların kalın </a:t>
            </a:r>
            <a:r>
              <a:rPr lang="tr-TR" sz="3100" b="1" dirty="0" err="1" smtClean="0">
                <a:solidFill>
                  <a:srgbClr val="9A0670"/>
                </a:solidFill>
              </a:rPr>
              <a:t>barsağındayaşar</a:t>
            </a:r>
            <a:r>
              <a:rPr lang="tr-TR" sz="3100" b="1" dirty="0" smtClean="0">
                <a:solidFill>
                  <a:srgbClr val="9A0670"/>
                </a:solidFill>
              </a:rPr>
              <a:t>, insan için patojen olduğu bildirilmiştir. Yurdumuzda görülmemiştir.</a:t>
            </a:r>
          </a:p>
          <a:p>
            <a:r>
              <a:rPr lang="tr-TR" sz="3100" b="1" dirty="0" smtClean="0">
                <a:solidFill>
                  <a:srgbClr val="170AC6"/>
                </a:solidFill>
              </a:rPr>
              <a:t>6- </a:t>
            </a:r>
            <a:r>
              <a:rPr lang="tr-TR" sz="3100" b="1" dirty="0" err="1" smtClean="0">
                <a:solidFill>
                  <a:srgbClr val="170AC6"/>
                </a:solidFill>
              </a:rPr>
              <a:t>Endolimax</a:t>
            </a:r>
            <a:r>
              <a:rPr lang="tr-TR" sz="3100" b="1" dirty="0" smtClean="0">
                <a:solidFill>
                  <a:srgbClr val="170AC6"/>
                </a:solidFill>
              </a:rPr>
              <a:t> </a:t>
            </a:r>
            <a:r>
              <a:rPr lang="tr-TR" sz="3100" b="1" dirty="0" err="1" smtClean="0">
                <a:solidFill>
                  <a:srgbClr val="170AC6"/>
                </a:solidFill>
              </a:rPr>
              <a:t>nana</a:t>
            </a:r>
            <a:r>
              <a:rPr lang="tr-TR" sz="3100" b="1" dirty="0" smtClean="0">
                <a:solidFill>
                  <a:srgbClr val="170AC6"/>
                </a:solidFill>
              </a:rPr>
              <a:t> :: Kalın bağırsakta yaşar, </a:t>
            </a:r>
            <a:r>
              <a:rPr lang="tr-TR" sz="3100" b="1" dirty="0" err="1" smtClean="0">
                <a:solidFill>
                  <a:srgbClr val="170AC6"/>
                </a:solidFill>
              </a:rPr>
              <a:t>apatojen</a:t>
            </a:r>
            <a:endParaRPr lang="tr-TR" sz="3100" b="1" dirty="0" smtClean="0">
              <a:solidFill>
                <a:srgbClr val="170AC6"/>
              </a:solidFill>
            </a:endParaRPr>
          </a:p>
          <a:p>
            <a:r>
              <a:rPr lang="tr-TR" sz="3100" b="1" dirty="0" smtClean="0"/>
              <a:t>7- </a:t>
            </a:r>
            <a:r>
              <a:rPr lang="tr-TR" sz="3100" b="1" dirty="0" err="1" smtClean="0"/>
              <a:t>Iodamoeba</a:t>
            </a:r>
            <a:r>
              <a:rPr lang="tr-TR" sz="3100" b="1" dirty="0" smtClean="0"/>
              <a:t> </a:t>
            </a:r>
            <a:r>
              <a:rPr lang="tr-TR" sz="3100" b="1" dirty="0" err="1" smtClean="0"/>
              <a:t>bütschlii</a:t>
            </a:r>
            <a:r>
              <a:rPr lang="tr-TR" sz="3100" b="1" dirty="0" smtClean="0"/>
              <a:t> : : Kalın bağırsakta yaşar, </a:t>
            </a:r>
            <a:r>
              <a:rPr lang="tr-TR" sz="3100" b="1" dirty="0" err="1" smtClean="0"/>
              <a:t>apatojen</a:t>
            </a:r>
            <a:endParaRPr lang="tr-TR" sz="3100" b="1" dirty="0" smtClean="0"/>
          </a:p>
          <a:p>
            <a:r>
              <a:rPr lang="tr-TR" sz="3100" b="1" dirty="0" smtClean="0">
                <a:solidFill>
                  <a:srgbClr val="FF0000"/>
                </a:solidFill>
              </a:rPr>
              <a:t>8- </a:t>
            </a:r>
            <a:r>
              <a:rPr lang="tr-TR" sz="3100" b="1" dirty="0" err="1" smtClean="0">
                <a:solidFill>
                  <a:srgbClr val="FF0000"/>
                </a:solidFill>
              </a:rPr>
              <a:t>Naegleria</a:t>
            </a:r>
            <a:r>
              <a:rPr lang="tr-TR" sz="3100" b="1" dirty="0" smtClean="0">
                <a:solidFill>
                  <a:srgbClr val="FF0000"/>
                </a:solidFill>
              </a:rPr>
              <a:t> </a:t>
            </a:r>
            <a:r>
              <a:rPr lang="tr-TR" sz="3100" b="1" dirty="0" err="1" smtClean="0">
                <a:solidFill>
                  <a:srgbClr val="FF0000"/>
                </a:solidFill>
              </a:rPr>
              <a:t>fowleri</a:t>
            </a:r>
            <a:r>
              <a:rPr lang="tr-TR" sz="3100" b="1" dirty="0" smtClean="0">
                <a:solidFill>
                  <a:srgbClr val="FF0000"/>
                </a:solidFill>
              </a:rPr>
              <a:t> : : Merkezi sinir sisteminde yerleşir, patojen ve ölümcüldür.</a:t>
            </a:r>
          </a:p>
          <a:p>
            <a:r>
              <a:rPr lang="tr-TR" sz="3100" b="1" dirty="0" smtClean="0">
                <a:solidFill>
                  <a:srgbClr val="00B050"/>
                </a:solidFill>
              </a:rPr>
              <a:t>9- </a:t>
            </a:r>
            <a:r>
              <a:rPr lang="tr-TR" sz="3100" b="1" dirty="0" err="1" smtClean="0">
                <a:solidFill>
                  <a:srgbClr val="00B050"/>
                </a:solidFill>
              </a:rPr>
              <a:t>Acanthamoeba</a:t>
            </a:r>
            <a:r>
              <a:rPr lang="tr-TR" sz="3100" b="1" dirty="0" smtClean="0">
                <a:solidFill>
                  <a:srgbClr val="00B050"/>
                </a:solidFill>
              </a:rPr>
              <a:t> türleri : : Merkezi sinir sistemi, kornea, kemik ve deride yerleşir, patojen</a:t>
            </a:r>
            <a:r>
              <a:rPr lang="tr-TR" sz="3100" b="1" dirty="0" smtClean="0"/>
              <a:t/>
            </a:r>
            <a:br>
              <a:rPr lang="tr-TR" sz="3100" b="1" dirty="0" smtClean="0"/>
            </a:br>
            <a:endParaRPr lang="tr-TR" sz="3100"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smtClean="0"/>
              <a:t/>
            </a:r>
            <a:br>
              <a:rPr lang="tr-TR" dirty="0" smtClean="0"/>
            </a:br>
            <a:r>
              <a:rPr lang="tr-TR" sz="4900" b="1" dirty="0" smtClean="0">
                <a:solidFill>
                  <a:srgbClr val="FF0000"/>
                </a:solidFill>
              </a:rPr>
              <a:t>AMİPLİ </a:t>
            </a:r>
            <a:r>
              <a:rPr lang="tr-TR" sz="4900" b="1" dirty="0">
                <a:solidFill>
                  <a:srgbClr val="FF0000"/>
                </a:solidFill>
              </a:rPr>
              <a:t>DİZANTERİ</a:t>
            </a:r>
            <a:r>
              <a:rPr lang="tr-TR" sz="4900" dirty="0">
                <a:solidFill>
                  <a:srgbClr val="FF0000"/>
                </a:solidFill>
              </a:rPr>
              <a:t/>
            </a:r>
            <a:br>
              <a:rPr lang="tr-TR" sz="4900" dirty="0">
                <a:solidFill>
                  <a:srgbClr val="FF0000"/>
                </a:solidFill>
              </a:rPr>
            </a:br>
            <a:endParaRPr lang="tr-TR" sz="4900" dirty="0">
              <a:solidFill>
                <a:srgbClr val="FF0000"/>
              </a:solidFill>
            </a:endParaRPr>
          </a:p>
        </p:txBody>
      </p:sp>
      <p:sp>
        <p:nvSpPr>
          <p:cNvPr id="3" name="İçerik Yer Tutucusu 2"/>
          <p:cNvSpPr>
            <a:spLocks noGrp="1"/>
          </p:cNvSpPr>
          <p:nvPr>
            <p:ph idx="1"/>
          </p:nvPr>
        </p:nvSpPr>
        <p:spPr>
          <a:xfrm>
            <a:off x="457200" y="1600200"/>
            <a:ext cx="8229600" cy="4997152"/>
          </a:xfrm>
        </p:spPr>
        <p:txBody>
          <a:bodyPr/>
          <a:lstStyle/>
          <a:p>
            <a:pPr marL="0" indent="0">
              <a:buNone/>
            </a:pPr>
            <a:r>
              <a:rPr lang="tr-TR" b="1" dirty="0" smtClean="0">
                <a:solidFill>
                  <a:srgbClr val="FF0000"/>
                </a:solidFill>
              </a:rPr>
              <a:t>AMİBİASİS</a:t>
            </a:r>
            <a:endParaRPr lang="tr-TR" b="1" dirty="0">
              <a:solidFill>
                <a:srgbClr val="FF0000"/>
              </a:solidFill>
            </a:endParaRPr>
          </a:p>
        </p:txBody>
      </p:sp>
      <p:pic>
        <p:nvPicPr>
          <p:cNvPr id="4" name="Picture 2" descr="C:\Users\aidata\Desktop\Remedios Caseros para la Amebiasis.pn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499992" y="2204864"/>
            <a:ext cx="3871452" cy="4293096"/>
          </a:xfrm>
          <a:prstGeom prst="rect">
            <a:avLst/>
          </a:prstGeom>
          <a:noFill/>
          <a:extLst>
            <a:ext uri="{909E8E84-426E-40DD-AFC4-6F175D3DCCD1}">
              <a14:hiddenFill xmlns="" xmlns:a14="http://schemas.microsoft.com/office/drawing/2010/main">
                <a:solidFill>
                  <a:srgbClr val="FFFFFF"/>
                </a:solidFill>
              </a14:hiddenFill>
            </a:ext>
          </a:extLst>
        </p:spPr>
      </p:pic>
      <p:pic>
        <p:nvPicPr>
          <p:cNvPr id="5" name="6 İçerik Yer Tutucusu" descr="Ehistdisp_cyst_wtmt.jpg"/>
          <p:cNvPicPr>
            <a:picLocks noChangeAspect="1"/>
          </p:cNvPicPr>
          <p:nvPr/>
        </p:nvPicPr>
        <p:blipFill>
          <a:blip r:embed="rId3" cstate="print"/>
          <a:stretch>
            <a:fillRect/>
          </a:stretch>
        </p:blipFill>
        <p:spPr>
          <a:xfrm>
            <a:off x="539552" y="3645024"/>
            <a:ext cx="2940078" cy="2477988"/>
          </a:xfrm>
          <a:prstGeom prst="rect">
            <a:avLst/>
          </a:prstGeom>
        </p:spPr>
      </p:pic>
    </p:spTree>
    <p:extLst>
      <p:ext uri="{BB962C8B-B14F-4D97-AF65-F5344CB8AC3E}">
        <p14:creationId xmlns="" xmlns:p14="http://schemas.microsoft.com/office/powerpoint/2010/main" val="11828572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aidata\Desktop\health17.jpg"/>
          <p:cNvPicPr>
            <a:picLocks noGrp="1" noChangeAspect="1" noChangeArrowheads="1"/>
          </p:cNvPicPr>
          <p:nvPr>
            <p:ph idx="4294967295"/>
          </p:nvPr>
        </p:nvPicPr>
        <p:blipFill>
          <a:blip r:embed="rId2" cstate="print">
            <a:extLst>
              <a:ext uri="{28A0092B-C50C-407E-A947-70E740481C1C}">
                <a14:useLocalDpi xmlns="" xmlns:a14="http://schemas.microsoft.com/office/drawing/2010/main" val="0"/>
              </a:ext>
            </a:extLst>
          </a:blip>
          <a:srcRect/>
          <a:stretch>
            <a:fillRect/>
          </a:stretch>
        </p:blipFill>
        <p:spPr bwMode="auto">
          <a:xfrm>
            <a:off x="1259632" y="260648"/>
            <a:ext cx="6623050" cy="640873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67400666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user\Desktop\AMİPLER.jpg"/>
          <p:cNvPicPr>
            <a:picLocks noGrp="1" noChangeAspect="1" noChangeArrowheads="1"/>
          </p:cNvPicPr>
          <p:nvPr>
            <p:ph idx="4294967295"/>
          </p:nvPr>
        </p:nvPicPr>
        <p:blipFill>
          <a:blip r:embed="rId2" cstate="print"/>
          <a:srcRect/>
          <a:stretch>
            <a:fillRect/>
          </a:stretch>
        </p:blipFill>
        <p:spPr bwMode="auto">
          <a:xfrm>
            <a:off x="1547664" y="1052736"/>
            <a:ext cx="6034088" cy="4525962"/>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8229600" cy="922114"/>
          </a:xfrm>
        </p:spPr>
        <p:txBody>
          <a:bodyPr/>
          <a:lstStyle/>
          <a:p>
            <a:r>
              <a:rPr lang="tr-TR" b="1" dirty="0" smtClean="0">
                <a:solidFill>
                  <a:srgbClr val="FF0000"/>
                </a:solidFill>
              </a:rPr>
              <a:t>ETKEN</a:t>
            </a:r>
            <a:endParaRPr lang="tr-TR" b="1" dirty="0">
              <a:solidFill>
                <a:srgbClr val="FF0000"/>
              </a:solidFill>
            </a:endParaRPr>
          </a:p>
        </p:txBody>
      </p:sp>
      <p:sp>
        <p:nvSpPr>
          <p:cNvPr id="3" name="İçerik Yer Tutucusu 2"/>
          <p:cNvSpPr>
            <a:spLocks noGrp="1"/>
          </p:cNvSpPr>
          <p:nvPr>
            <p:ph idx="1"/>
          </p:nvPr>
        </p:nvSpPr>
        <p:spPr>
          <a:xfrm>
            <a:off x="457200" y="1268760"/>
            <a:ext cx="8229600" cy="5112568"/>
          </a:xfrm>
        </p:spPr>
        <p:txBody>
          <a:bodyPr/>
          <a:lstStyle/>
          <a:p>
            <a:r>
              <a:rPr lang="tr-TR" b="1" dirty="0" err="1"/>
              <a:t>Entamoeba</a:t>
            </a:r>
            <a:r>
              <a:rPr lang="tr-TR" b="1" dirty="0"/>
              <a:t> </a:t>
            </a:r>
            <a:r>
              <a:rPr lang="tr-TR" b="1" dirty="0" err="1" smtClean="0"/>
              <a:t>histolytica</a:t>
            </a:r>
            <a:endParaRPr lang="tr-TR" b="1" dirty="0" smtClean="0"/>
          </a:p>
          <a:p>
            <a:r>
              <a:rPr lang="tr-TR" b="1" dirty="0" smtClean="0"/>
              <a:t>Tek hücreli </a:t>
            </a:r>
            <a:r>
              <a:rPr lang="tr-TR" b="1" dirty="0" err="1" smtClean="0"/>
              <a:t>protozoon</a:t>
            </a:r>
            <a:endParaRPr lang="tr-TR" b="1" dirty="0" smtClean="0"/>
          </a:p>
          <a:p>
            <a:pPr>
              <a:buNone/>
            </a:pPr>
            <a:endParaRPr lang="tr-TR" dirty="0" smtClean="0"/>
          </a:p>
          <a:p>
            <a:pPr>
              <a:buNone/>
            </a:pPr>
            <a:endParaRPr lang="tr-TR" dirty="0"/>
          </a:p>
        </p:txBody>
      </p:sp>
      <p:pic>
        <p:nvPicPr>
          <p:cNvPr id="7170" name="Picture 2" descr="C:\Users\aidata\Desktop\koyunde-icinde-akan-lagim-sulari-koyluleri-ha-3685773_o.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619672" y="2564904"/>
            <a:ext cx="5832648" cy="352863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09751752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AMİPLİ DİZANTERİ NE YAPAR?</a:t>
            </a:r>
            <a:endParaRPr lang="tr-TR" dirty="0">
              <a:solidFill>
                <a:srgbClr val="FF0000"/>
              </a:solidFill>
            </a:endParaRPr>
          </a:p>
        </p:txBody>
      </p:sp>
      <p:sp>
        <p:nvSpPr>
          <p:cNvPr id="3" name="2 İçerik Yer Tutucusu"/>
          <p:cNvSpPr>
            <a:spLocks noGrp="1"/>
          </p:cNvSpPr>
          <p:nvPr>
            <p:ph idx="1"/>
          </p:nvPr>
        </p:nvSpPr>
        <p:spPr>
          <a:xfrm>
            <a:off x="457200" y="1600200"/>
            <a:ext cx="8229600" cy="4781128"/>
          </a:xfrm>
        </p:spPr>
        <p:txBody>
          <a:bodyPr>
            <a:normAutofit fontScale="92500" lnSpcReduction="10000"/>
          </a:bodyPr>
          <a:lstStyle/>
          <a:p>
            <a:r>
              <a:rPr lang="tr-TR" b="1" dirty="0" err="1" smtClean="0">
                <a:solidFill>
                  <a:srgbClr val="7030A0"/>
                </a:solidFill>
              </a:rPr>
              <a:t>Entamoeba</a:t>
            </a:r>
            <a:r>
              <a:rPr lang="tr-TR" altLang="tr-TR" b="1" dirty="0" smtClean="0"/>
              <a:t> </a:t>
            </a:r>
            <a:r>
              <a:rPr lang="tr-TR" altLang="tr-TR" b="1" dirty="0" err="1" smtClean="0">
                <a:solidFill>
                  <a:srgbClr val="7030A0"/>
                </a:solidFill>
              </a:rPr>
              <a:t>histolytica</a:t>
            </a:r>
            <a:r>
              <a:rPr lang="tr-TR" altLang="tr-TR" b="1" dirty="0" smtClean="0"/>
              <a:t> iki </a:t>
            </a:r>
            <a:r>
              <a:rPr lang="tr-TR" altLang="tr-TR" b="1" dirty="0" err="1" smtClean="0"/>
              <a:t>grub</a:t>
            </a:r>
            <a:r>
              <a:rPr lang="tr-TR" altLang="tr-TR" b="1" dirty="0" smtClean="0"/>
              <a:t> hastalık yapar</a:t>
            </a:r>
          </a:p>
          <a:p>
            <a:pPr lvl="1"/>
            <a:r>
              <a:rPr lang="tr-TR" altLang="tr-TR" sz="3200" b="1" dirty="0" smtClean="0"/>
              <a:t>Barsak </a:t>
            </a:r>
            <a:r>
              <a:rPr lang="tr-TR" altLang="tr-TR" sz="3200" b="1" dirty="0" err="1" smtClean="0"/>
              <a:t>amebiyazı</a:t>
            </a:r>
            <a:endParaRPr lang="tr-TR" altLang="tr-TR" sz="3200" b="1" dirty="0" smtClean="0"/>
          </a:p>
          <a:p>
            <a:pPr lvl="2"/>
            <a:r>
              <a:rPr lang="tr-TR" altLang="tr-TR" sz="2600" b="1" dirty="0" smtClean="0">
                <a:solidFill>
                  <a:srgbClr val="0070C0"/>
                </a:solidFill>
              </a:rPr>
              <a:t>dizanteri/ishal</a:t>
            </a:r>
          </a:p>
          <a:p>
            <a:pPr lvl="1"/>
            <a:r>
              <a:rPr lang="tr-TR" altLang="tr-TR" sz="3200" b="1" dirty="0" smtClean="0"/>
              <a:t>Barsak dışı </a:t>
            </a:r>
            <a:r>
              <a:rPr lang="tr-TR" altLang="tr-TR" sz="3200" b="1" dirty="0" err="1" smtClean="0"/>
              <a:t>amebiyaz</a:t>
            </a:r>
            <a:endParaRPr lang="tr-TR" altLang="tr-TR" sz="3200" b="1" dirty="0" smtClean="0"/>
          </a:p>
          <a:p>
            <a:pPr lvl="2"/>
            <a:r>
              <a:rPr lang="tr-TR" altLang="tr-TR" sz="2600" b="1" dirty="0" smtClean="0">
                <a:solidFill>
                  <a:srgbClr val="0070C0"/>
                </a:solidFill>
              </a:rPr>
              <a:t>Karaciğer </a:t>
            </a:r>
            <a:r>
              <a:rPr lang="tr-TR" altLang="tr-TR" sz="2600" b="1" dirty="0" err="1" smtClean="0">
                <a:solidFill>
                  <a:srgbClr val="0070C0"/>
                </a:solidFill>
              </a:rPr>
              <a:t>abse</a:t>
            </a:r>
            <a:endParaRPr lang="tr-TR" b="1" dirty="0" smtClean="0"/>
          </a:p>
          <a:p>
            <a:r>
              <a:rPr lang="tr-TR" b="1" dirty="0" smtClean="0"/>
              <a:t>Hiç belirti vermeyen portörlükten</a:t>
            </a:r>
          </a:p>
          <a:p>
            <a:r>
              <a:rPr lang="tr-TR" b="1" dirty="0" smtClean="0"/>
              <a:t>Şiddetli seyreden Akut Amipli Dizanteriye ve hızlı barsak hareketlerine neden olur</a:t>
            </a:r>
          </a:p>
          <a:p>
            <a:r>
              <a:rPr lang="tr-TR" b="1" dirty="0" smtClean="0"/>
              <a:t>Kana karışan amip’ler Karaciğer, Akciğer, Beyin, Dalak gibi organlarda </a:t>
            </a:r>
            <a:r>
              <a:rPr lang="tr-TR" b="1" dirty="0" err="1" smtClean="0"/>
              <a:t>abselere</a:t>
            </a:r>
            <a:r>
              <a:rPr lang="tr-TR" b="1" dirty="0" smtClean="0"/>
              <a:t> neden olur</a:t>
            </a:r>
          </a:p>
          <a:p>
            <a:endParaRPr lang="tr-TR" b="1" dirty="0" smtClean="0"/>
          </a:p>
          <a:p>
            <a:endParaRPr lang="tr-T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aidata\Desktop\lefkosanin-gobeginde-lagim-sulari-akiyor-2012-07-07_m.jpg"/>
          <p:cNvPicPr>
            <a:picLocks noGrp="1" noChangeAspect="1" noChangeArrowheads="1"/>
          </p:cNvPicPr>
          <p:nvPr>
            <p:ph idx="4294967295"/>
          </p:nvPr>
        </p:nvPicPr>
        <p:blipFill>
          <a:blip r:embed="rId2" cstate="print">
            <a:extLst>
              <a:ext uri="{28A0092B-C50C-407E-A947-70E740481C1C}">
                <a14:useLocalDpi xmlns="" xmlns:a14="http://schemas.microsoft.com/office/drawing/2010/main" val="0"/>
              </a:ext>
            </a:extLst>
          </a:blip>
          <a:srcRect/>
          <a:stretch>
            <a:fillRect/>
          </a:stretch>
        </p:blipFill>
        <p:spPr bwMode="auto">
          <a:xfrm>
            <a:off x="4572000" y="332656"/>
            <a:ext cx="4095750" cy="2857500"/>
          </a:xfrm>
          <a:prstGeom prst="rect">
            <a:avLst/>
          </a:prstGeom>
          <a:noFill/>
          <a:extLst>
            <a:ext uri="{909E8E84-426E-40DD-AFC4-6F175D3DCCD1}">
              <a14:hiddenFill xmlns="" xmlns:a14="http://schemas.microsoft.com/office/drawing/2010/main">
                <a:solidFill>
                  <a:srgbClr val="FFFFFF"/>
                </a:solidFill>
              </a14:hiddenFill>
            </a:ext>
          </a:extLst>
        </p:spPr>
      </p:pic>
      <p:pic>
        <p:nvPicPr>
          <p:cNvPr id="8196" name="Picture 4" descr="C:\Users\aidata\Desktop\3115-lagim-suyu-flash.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51520" y="3068960"/>
            <a:ext cx="6049482" cy="336933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01063425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332656"/>
            <a:ext cx="8964488" cy="6336704"/>
          </a:xfrm>
        </p:spPr>
        <p:txBody>
          <a:bodyPr/>
          <a:lstStyle/>
          <a:p>
            <a:r>
              <a:rPr lang="tr-TR" b="1" dirty="0" smtClean="0"/>
              <a:t>Kuluçka  süresi  3-4 gün arası</a:t>
            </a:r>
          </a:p>
          <a:p>
            <a:pPr>
              <a:buNone/>
            </a:pPr>
            <a:endParaRPr lang="tr-TR" b="1" dirty="0" smtClean="0"/>
          </a:p>
          <a:p>
            <a:endParaRPr lang="tr-TR" dirty="0"/>
          </a:p>
        </p:txBody>
      </p:sp>
      <p:pic>
        <p:nvPicPr>
          <p:cNvPr id="4" name="Picture 2" descr="C:\Users\Pc\Desktop\kolera2-300x214.png"/>
          <p:cNvPicPr>
            <a:picLocks noChangeAspect="1" noChangeArrowheads="1"/>
          </p:cNvPicPr>
          <p:nvPr/>
        </p:nvPicPr>
        <p:blipFill>
          <a:blip r:embed="rId2" cstate="print"/>
          <a:srcRect/>
          <a:stretch>
            <a:fillRect/>
          </a:stretch>
        </p:blipFill>
        <p:spPr bwMode="auto">
          <a:xfrm>
            <a:off x="971600" y="980728"/>
            <a:ext cx="3689473" cy="2631824"/>
          </a:xfrm>
          <a:prstGeom prst="rect">
            <a:avLst/>
          </a:prstGeom>
          <a:noFill/>
        </p:spPr>
      </p:pic>
      <p:pic>
        <p:nvPicPr>
          <p:cNvPr id="5" name="Picture 3" descr="C:\Users\Pc\Desktop\images.jpg"/>
          <p:cNvPicPr>
            <a:picLocks noChangeAspect="1" noChangeArrowheads="1"/>
          </p:cNvPicPr>
          <p:nvPr/>
        </p:nvPicPr>
        <p:blipFill>
          <a:blip r:embed="rId3" cstate="print"/>
          <a:srcRect/>
          <a:stretch>
            <a:fillRect/>
          </a:stretch>
        </p:blipFill>
        <p:spPr bwMode="auto">
          <a:xfrm>
            <a:off x="5724128" y="4149080"/>
            <a:ext cx="2952328" cy="2423574"/>
          </a:xfrm>
          <a:prstGeom prst="rect">
            <a:avLst/>
          </a:prstGeom>
          <a:noFill/>
        </p:spPr>
      </p:pic>
      <p:pic>
        <p:nvPicPr>
          <p:cNvPr id="6" name="Picture 2" descr="C:\Users\user\Desktop\iran-su-krizi.png"/>
          <p:cNvPicPr>
            <a:picLocks noChangeAspect="1" noChangeArrowheads="1"/>
          </p:cNvPicPr>
          <p:nvPr/>
        </p:nvPicPr>
        <p:blipFill>
          <a:blip r:embed="rId4" cstate="print"/>
          <a:srcRect/>
          <a:stretch>
            <a:fillRect/>
          </a:stretch>
        </p:blipFill>
        <p:spPr bwMode="auto">
          <a:xfrm>
            <a:off x="5004048" y="1124744"/>
            <a:ext cx="3759985" cy="2664296"/>
          </a:xfrm>
          <a:prstGeom prst="rect">
            <a:avLst/>
          </a:prstGeom>
          <a:noFill/>
        </p:spPr>
      </p:pic>
      <p:pic>
        <p:nvPicPr>
          <p:cNvPr id="7" name="Picture 3" descr="C:\Users\user\Desktop\b416c784-5a63-4b50-931f-e2c699941bc8.jpg"/>
          <p:cNvPicPr>
            <a:picLocks noChangeAspect="1" noChangeArrowheads="1"/>
          </p:cNvPicPr>
          <p:nvPr/>
        </p:nvPicPr>
        <p:blipFill>
          <a:blip r:embed="rId5" cstate="print"/>
          <a:srcRect/>
          <a:stretch>
            <a:fillRect/>
          </a:stretch>
        </p:blipFill>
        <p:spPr bwMode="auto">
          <a:xfrm>
            <a:off x="179512" y="3717032"/>
            <a:ext cx="5293894" cy="2716808"/>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188640"/>
            <a:ext cx="8640960" cy="6480720"/>
          </a:xfrm>
        </p:spPr>
        <p:txBody>
          <a:bodyPr>
            <a:normAutofit fontScale="62500" lnSpcReduction="20000"/>
          </a:bodyPr>
          <a:lstStyle/>
          <a:p>
            <a:pPr>
              <a:buNone/>
            </a:pPr>
            <a:r>
              <a:rPr lang="tr-TR" b="1" dirty="0" smtClean="0">
                <a:solidFill>
                  <a:srgbClr val="FF0000"/>
                </a:solidFill>
              </a:rPr>
              <a:t>			      </a:t>
            </a:r>
            <a:r>
              <a:rPr lang="tr-TR" sz="6400" b="1" dirty="0" smtClean="0">
                <a:solidFill>
                  <a:srgbClr val="FF0000"/>
                </a:solidFill>
              </a:rPr>
              <a:t>BULAŞMA YOLU</a:t>
            </a:r>
            <a:endParaRPr lang="tr-TR" sz="6400" dirty="0" smtClean="0"/>
          </a:p>
          <a:p>
            <a:pPr algn="just">
              <a:lnSpc>
                <a:spcPct val="90000"/>
              </a:lnSpc>
            </a:pPr>
            <a:r>
              <a:rPr lang="tr-TR" sz="4300" b="1" dirty="0" err="1" smtClean="0"/>
              <a:t>Enfekte</a:t>
            </a:r>
            <a:r>
              <a:rPr lang="tr-TR" sz="4300" b="1" dirty="0" smtClean="0"/>
              <a:t> insan dışkısı ile kirlenmiş besinler ve içme sularındaki </a:t>
            </a:r>
            <a:r>
              <a:rPr lang="tr-TR" sz="4400" b="1" dirty="0" smtClean="0">
                <a:latin typeface="Calibri" pitchFamily="34" charset="0"/>
                <a:cs typeface="Times New Roman" pitchFamily="18" charset="0"/>
              </a:rPr>
              <a:t>K</a:t>
            </a:r>
            <a:r>
              <a:rPr lang="tr-TR" altLang="tr-TR" sz="4400" b="1" dirty="0" smtClean="0">
                <a:latin typeface="Calibri" pitchFamily="34" charset="0"/>
                <a:cs typeface="Times New Roman" pitchFamily="18" charset="0"/>
              </a:rPr>
              <a:t>istlerin ağızdan alınması ile bulaşır</a:t>
            </a:r>
            <a:endParaRPr lang="tr-TR" sz="4300" b="1" dirty="0" smtClean="0"/>
          </a:p>
          <a:p>
            <a:r>
              <a:rPr lang="tr-TR" sz="4300" b="1" dirty="0" smtClean="0"/>
              <a:t>Dışkının gübre olarak kullanıldığı yerlerde yetiştirilen sebze ve meyveler</a:t>
            </a:r>
          </a:p>
          <a:p>
            <a:r>
              <a:rPr lang="tr-TR" sz="4300" b="1" dirty="0" smtClean="0"/>
              <a:t>İnsan dışkısının gübre olarak kullanılması</a:t>
            </a:r>
          </a:p>
          <a:p>
            <a:r>
              <a:rPr lang="tr-TR" sz="4300" b="1" dirty="0" smtClean="0"/>
              <a:t>Kirli ellerle hazırlanan besinler</a:t>
            </a:r>
          </a:p>
          <a:p>
            <a:r>
              <a:rPr lang="tr-TR" sz="4300" b="1" dirty="0" smtClean="0"/>
              <a:t>Bir aile içinde bir kişinin hastalanması (özellikle ev kadınlarının) ailenin diğer fertlerini de tehlikeye sokar</a:t>
            </a:r>
          </a:p>
          <a:p>
            <a:r>
              <a:rPr lang="tr-TR" sz="4300" b="1" dirty="0" smtClean="0"/>
              <a:t>Aynı zamanda kist çıkaran sesiz enfeksiyonlu kimselerin besin maddelerini hazırlaması veya satmasının da tehlikesi büyüktür</a:t>
            </a:r>
          </a:p>
          <a:p>
            <a:r>
              <a:rPr lang="tr-TR" sz="4300" b="1" dirty="0" smtClean="0"/>
              <a:t>Karasinek ve hamam böceği gibi böcekler kistleri ağız oluşumları ile taşıyarak bulaştırdıkları besinler ve içme suyu insan için her zaman bulaşma kaynağıdır</a:t>
            </a:r>
          </a:p>
          <a:p>
            <a:r>
              <a:rPr lang="tr-TR" sz="4300" b="1" dirty="0" smtClean="0"/>
              <a:t>Lağım sularının içme sularına karışması epidemilere yol açar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4294967295"/>
          </p:nvPr>
        </p:nvSpPr>
        <p:spPr>
          <a:xfrm>
            <a:off x="251520" y="260648"/>
            <a:ext cx="8712968" cy="6336704"/>
          </a:xfrm>
        </p:spPr>
        <p:txBody>
          <a:bodyPr>
            <a:normAutofit fontScale="25000" lnSpcReduction="20000"/>
          </a:bodyPr>
          <a:lstStyle/>
          <a:p>
            <a:pPr>
              <a:buNone/>
            </a:pPr>
            <a:r>
              <a:rPr lang="tr-TR" b="1" dirty="0" smtClean="0">
                <a:solidFill>
                  <a:srgbClr val="FF0000"/>
                </a:solidFill>
              </a:rPr>
              <a:t>	</a:t>
            </a:r>
            <a:r>
              <a:rPr lang="tr-TR" sz="4900" b="1" dirty="0" smtClean="0">
                <a:solidFill>
                  <a:srgbClr val="FF0000"/>
                </a:solidFill>
              </a:rPr>
              <a:t>			</a:t>
            </a:r>
            <a:r>
              <a:rPr lang="tr-TR" sz="16000" b="1" dirty="0" smtClean="0">
                <a:solidFill>
                  <a:srgbClr val="FF0000"/>
                </a:solidFill>
              </a:rPr>
              <a:t>BELİRTİLERİ</a:t>
            </a:r>
            <a:endParaRPr lang="tr-TR" sz="16000" b="1" dirty="0" smtClean="0"/>
          </a:p>
          <a:p>
            <a:r>
              <a:rPr lang="tr-TR" sz="10800" b="1" dirty="0" smtClean="0">
                <a:solidFill>
                  <a:srgbClr val="00B050"/>
                </a:solidFill>
              </a:rPr>
              <a:t>Dış çevre </a:t>
            </a:r>
            <a:r>
              <a:rPr lang="tr-TR" sz="10800" b="1" dirty="0" smtClean="0">
                <a:solidFill>
                  <a:srgbClr val="00B050"/>
                </a:solidFill>
              </a:rPr>
              <a:t>koşullarına </a:t>
            </a:r>
            <a:r>
              <a:rPr lang="tr-TR" sz="10800" b="1" dirty="0" smtClean="0">
                <a:solidFill>
                  <a:srgbClr val="00B050"/>
                </a:solidFill>
              </a:rPr>
              <a:t>ve mide </a:t>
            </a:r>
            <a:r>
              <a:rPr lang="tr-TR" sz="10800" b="1" dirty="0" err="1" smtClean="0">
                <a:solidFill>
                  <a:srgbClr val="00B050"/>
                </a:solidFill>
              </a:rPr>
              <a:t>asiditesine</a:t>
            </a:r>
            <a:r>
              <a:rPr lang="tr-TR" sz="10800" b="1" dirty="0" smtClean="0">
                <a:solidFill>
                  <a:srgbClr val="00B050"/>
                </a:solidFill>
              </a:rPr>
              <a:t> dirençlidir</a:t>
            </a:r>
          </a:p>
          <a:p>
            <a:r>
              <a:rPr lang="tr-TR" sz="10800" b="1" dirty="0" smtClean="0">
                <a:solidFill>
                  <a:srgbClr val="7030A0"/>
                </a:solidFill>
              </a:rPr>
              <a:t>Ağızdan alınan kistler, midenin asit ortamından etkilenmeden kalın bağırsağa geçip yerleşir, beslenir, büyür ve ikiye bölünerek çoğalır</a:t>
            </a:r>
          </a:p>
          <a:p>
            <a:r>
              <a:rPr lang="tr-TR" sz="10800" b="1" dirty="0" smtClean="0"/>
              <a:t>Safranın alkali ortamında kist duvarları erir TROFOZOİD hale dönüşür</a:t>
            </a:r>
          </a:p>
          <a:p>
            <a:r>
              <a:rPr lang="tr-TR" sz="10800" b="1" dirty="0" err="1" smtClean="0">
                <a:solidFill>
                  <a:srgbClr val="0070C0"/>
                </a:solidFill>
              </a:rPr>
              <a:t>Trofozoidler</a:t>
            </a:r>
            <a:r>
              <a:rPr lang="tr-TR" sz="10800" b="1" dirty="0" smtClean="0">
                <a:solidFill>
                  <a:srgbClr val="0070C0"/>
                </a:solidFill>
              </a:rPr>
              <a:t>  Bağırsak boşluğunda yerleşip çoğalır</a:t>
            </a:r>
          </a:p>
          <a:p>
            <a:r>
              <a:rPr lang="tr-TR" sz="10800" b="1" dirty="0" err="1" smtClean="0">
                <a:solidFill>
                  <a:schemeClr val="accent6">
                    <a:lumMod val="50000"/>
                  </a:schemeClr>
                </a:solidFill>
              </a:rPr>
              <a:t>Entamoeba</a:t>
            </a:r>
            <a:r>
              <a:rPr lang="tr-TR" sz="10800" b="1" dirty="0" smtClean="0">
                <a:solidFill>
                  <a:schemeClr val="accent6">
                    <a:lumMod val="50000"/>
                  </a:schemeClr>
                </a:solidFill>
              </a:rPr>
              <a:t> </a:t>
            </a:r>
            <a:r>
              <a:rPr lang="tr-TR" sz="10800" b="1" dirty="0" err="1" smtClean="0">
                <a:solidFill>
                  <a:schemeClr val="accent6">
                    <a:lumMod val="50000"/>
                  </a:schemeClr>
                </a:solidFill>
              </a:rPr>
              <a:t>histolytica’nın</a:t>
            </a:r>
            <a:r>
              <a:rPr lang="tr-TR" sz="10800" b="1" dirty="0" smtClean="0">
                <a:solidFill>
                  <a:schemeClr val="accent6">
                    <a:lumMod val="50000"/>
                  </a:schemeClr>
                </a:solidFill>
              </a:rPr>
              <a:t> bağırsak çeper hücreleri ile temas eden </a:t>
            </a:r>
            <a:r>
              <a:rPr lang="tr-TR" sz="10800" b="1" dirty="0" err="1" smtClean="0">
                <a:solidFill>
                  <a:schemeClr val="accent6">
                    <a:lumMod val="50000"/>
                  </a:schemeClr>
                </a:solidFill>
              </a:rPr>
              <a:t>proteolitik</a:t>
            </a:r>
            <a:r>
              <a:rPr lang="tr-TR" sz="10800" b="1" dirty="0" smtClean="0">
                <a:solidFill>
                  <a:schemeClr val="accent6">
                    <a:lumMod val="50000"/>
                  </a:schemeClr>
                </a:solidFill>
              </a:rPr>
              <a:t> enzimleri (</a:t>
            </a:r>
            <a:r>
              <a:rPr lang="tr-TR" sz="10800" b="1" dirty="0" err="1" smtClean="0">
                <a:solidFill>
                  <a:schemeClr val="accent6">
                    <a:lumMod val="50000"/>
                  </a:schemeClr>
                </a:solidFill>
              </a:rPr>
              <a:t>hiyalüronidaz</a:t>
            </a:r>
            <a:r>
              <a:rPr lang="tr-TR" sz="10800" b="1" dirty="0" smtClean="0">
                <a:solidFill>
                  <a:schemeClr val="accent6">
                    <a:lumMod val="50000"/>
                  </a:schemeClr>
                </a:solidFill>
              </a:rPr>
              <a:t>) dokuları eriterek çevrede yayılır</a:t>
            </a:r>
          </a:p>
          <a:p>
            <a:r>
              <a:rPr lang="tr-TR" sz="10800" b="1" dirty="0" err="1" smtClean="0"/>
              <a:t>Proteolitik</a:t>
            </a:r>
            <a:r>
              <a:rPr lang="tr-TR" sz="10800" b="1" dirty="0" smtClean="0"/>
              <a:t> enzimleri (</a:t>
            </a:r>
            <a:r>
              <a:rPr lang="tr-TR" sz="10800" b="1" dirty="0" err="1" smtClean="0"/>
              <a:t>hiyalüronidaz</a:t>
            </a:r>
            <a:r>
              <a:rPr lang="tr-TR" sz="10800" b="1" dirty="0" smtClean="0"/>
              <a:t> mukozada erozyona sebep olur</a:t>
            </a:r>
          </a:p>
          <a:p>
            <a:pPr>
              <a:buNone/>
            </a:pPr>
            <a:r>
              <a:rPr lang="tr-TR" sz="10800" b="1" dirty="0" smtClean="0">
                <a:solidFill>
                  <a:srgbClr val="0070C0"/>
                </a:solidFill>
              </a:rPr>
              <a:t>			EROZYON SONUCU</a:t>
            </a:r>
          </a:p>
          <a:p>
            <a:r>
              <a:rPr lang="tr-TR" sz="10800" b="1" dirty="0" smtClean="0"/>
              <a:t>Amip toksini etkisi ile mukus </a:t>
            </a:r>
            <a:r>
              <a:rPr lang="tr-TR" sz="10800" b="1" dirty="0" err="1" smtClean="0"/>
              <a:t>salınımı</a:t>
            </a:r>
            <a:r>
              <a:rPr lang="tr-TR" sz="10800" b="1" dirty="0" smtClean="0"/>
              <a:t> artar ve sonuçta kanlı mukuslu </a:t>
            </a:r>
            <a:r>
              <a:rPr lang="tr-TR" sz="10800" b="1" dirty="0" err="1" smtClean="0"/>
              <a:t>diare</a:t>
            </a:r>
            <a:r>
              <a:rPr lang="tr-TR" sz="10800" b="1" dirty="0" smtClean="0"/>
              <a:t> oluşur</a:t>
            </a:r>
          </a:p>
          <a:p>
            <a:endParaRPr lang="tr-TR" sz="4400" b="1" dirty="0" smtClean="0"/>
          </a:p>
          <a:p>
            <a:pPr>
              <a:buNone/>
            </a:pPr>
            <a:r>
              <a:rPr lang="tr-TR" sz="4400" b="1" dirty="0" smtClean="0">
                <a:solidFill>
                  <a:srgbClr val="0070C0"/>
                </a:solidFill>
              </a:rPr>
              <a:t>			</a:t>
            </a:r>
            <a:endParaRPr lang="tr-TR" sz="4400" b="1" dirty="0" smtClean="0"/>
          </a:p>
          <a:p>
            <a:endParaRPr lang="tr-TR" sz="4400" b="1" dirty="0" smtClean="0"/>
          </a:p>
          <a:p>
            <a:endParaRPr lang="tr-TR" sz="4400" b="1" dirty="0" smtClean="0"/>
          </a:p>
        </p:txBody>
      </p:sp>
    </p:spTree>
    <p:extLst>
      <p:ext uri="{BB962C8B-B14F-4D97-AF65-F5344CB8AC3E}">
        <p14:creationId xmlns="" xmlns:p14="http://schemas.microsoft.com/office/powerpoint/2010/main" val="253864950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000" b="1" dirty="0" smtClean="0">
                <a:solidFill>
                  <a:srgbClr val="FF0000"/>
                </a:solidFill>
              </a:rPr>
              <a:t>BELİRTİLERİ</a:t>
            </a:r>
            <a:endParaRPr lang="tr-TR" sz="4000" dirty="0"/>
          </a:p>
        </p:txBody>
      </p:sp>
      <p:sp>
        <p:nvSpPr>
          <p:cNvPr id="3" name="2 İçerik Yer Tutucusu"/>
          <p:cNvSpPr>
            <a:spLocks noGrp="1"/>
          </p:cNvSpPr>
          <p:nvPr>
            <p:ph idx="1"/>
          </p:nvPr>
        </p:nvSpPr>
        <p:spPr/>
        <p:txBody>
          <a:bodyPr>
            <a:normAutofit lnSpcReduction="10000"/>
          </a:bodyPr>
          <a:lstStyle/>
          <a:p>
            <a:r>
              <a:rPr lang="tr-TR" b="1" dirty="0" smtClean="0"/>
              <a:t>Bağırsak dışında ilk planda karaciğere gidip yerleşir ve apse oluşumuna yol açar</a:t>
            </a:r>
          </a:p>
          <a:p>
            <a:pPr>
              <a:buNone/>
            </a:pPr>
            <a:r>
              <a:rPr lang="tr-TR" b="1" dirty="0" smtClean="0">
                <a:solidFill>
                  <a:srgbClr val="0070C0"/>
                </a:solidFill>
              </a:rPr>
              <a:t>		DAHA SONRA İLERİ AŞAMADA </a:t>
            </a:r>
          </a:p>
          <a:p>
            <a:r>
              <a:rPr lang="tr-TR" b="1" dirty="0" smtClean="0"/>
              <a:t>Toksinleri ile mukoza dokusunu eriterek </a:t>
            </a:r>
            <a:r>
              <a:rPr lang="tr-TR" b="1" dirty="0" err="1" smtClean="0"/>
              <a:t>ülseratif</a:t>
            </a:r>
            <a:r>
              <a:rPr lang="tr-TR" b="1" dirty="0" smtClean="0"/>
              <a:t> alanlar ve nekrotik alanlar oluştururlar</a:t>
            </a:r>
          </a:p>
          <a:p>
            <a:r>
              <a:rPr lang="tr-TR" b="1" dirty="0" smtClean="0"/>
              <a:t>Amip ülserleri; </a:t>
            </a:r>
            <a:r>
              <a:rPr lang="tr-TR" b="1" dirty="0" err="1" smtClean="0"/>
              <a:t>Çekum</a:t>
            </a:r>
            <a:r>
              <a:rPr lang="tr-TR" b="1" dirty="0" smtClean="0"/>
              <a:t>,</a:t>
            </a:r>
            <a:r>
              <a:rPr lang="tr-TR" b="1" dirty="0" err="1" smtClean="0"/>
              <a:t>sigmoid</a:t>
            </a:r>
            <a:r>
              <a:rPr lang="tr-TR" b="1" dirty="0" smtClean="0"/>
              <a:t> kolon ve rektumda oluşur</a:t>
            </a:r>
            <a:r>
              <a:rPr lang="tr-TR" dirty="0" smtClean="0"/>
              <a:t/>
            </a:r>
            <a:br>
              <a:rPr lang="tr-TR" dirty="0" smtClean="0"/>
            </a:br>
            <a:endParaRPr lang="tr-T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827584" y="260648"/>
            <a:ext cx="7920880" cy="6415773"/>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000" b="1" dirty="0" smtClean="0">
                <a:solidFill>
                  <a:srgbClr val="FF0000"/>
                </a:solidFill>
              </a:rPr>
              <a:t>AKUT AMİPLİ DİZANTERİ</a:t>
            </a:r>
            <a:endParaRPr lang="tr-TR" sz="4000" b="1" dirty="0">
              <a:solidFill>
                <a:srgbClr val="FF0000"/>
              </a:solidFill>
            </a:endParaRPr>
          </a:p>
        </p:txBody>
      </p:sp>
      <p:sp>
        <p:nvSpPr>
          <p:cNvPr id="3" name="2 İçerik Yer Tutucusu"/>
          <p:cNvSpPr>
            <a:spLocks noGrp="1"/>
          </p:cNvSpPr>
          <p:nvPr>
            <p:ph idx="1"/>
          </p:nvPr>
        </p:nvSpPr>
        <p:spPr/>
        <p:txBody>
          <a:bodyPr>
            <a:normAutofit fontScale="92500" lnSpcReduction="10000"/>
          </a:bodyPr>
          <a:lstStyle/>
          <a:p>
            <a:r>
              <a:rPr lang="tr-TR" b="1" dirty="0" smtClean="0"/>
              <a:t>Akut amipli dizanteri ani başlar</a:t>
            </a:r>
          </a:p>
          <a:p>
            <a:r>
              <a:rPr lang="tr-TR" b="1" dirty="0" smtClean="0"/>
              <a:t>Baş ağrısı,kusma,kramp şeklinde baş ağrısı</a:t>
            </a:r>
          </a:p>
          <a:p>
            <a:r>
              <a:rPr lang="tr-TR" b="1" dirty="0" smtClean="0"/>
              <a:t>Günde 20-30 kez dışkılama</a:t>
            </a:r>
          </a:p>
          <a:p>
            <a:r>
              <a:rPr lang="tr-TR" b="1" dirty="0" err="1" smtClean="0"/>
              <a:t>Tenezm</a:t>
            </a:r>
            <a:r>
              <a:rPr lang="tr-TR" b="1" dirty="0" smtClean="0"/>
              <a:t>, kilo kaybı, </a:t>
            </a:r>
            <a:r>
              <a:rPr lang="tr-TR" b="1" dirty="0" err="1" smtClean="0"/>
              <a:t>Dehidratasyon</a:t>
            </a:r>
            <a:endParaRPr lang="tr-TR" b="1" dirty="0" smtClean="0"/>
          </a:p>
          <a:p>
            <a:r>
              <a:rPr lang="tr-TR" b="1" dirty="0" smtClean="0"/>
              <a:t>Gaita parlak kanlı</a:t>
            </a:r>
          </a:p>
          <a:p>
            <a:r>
              <a:rPr lang="tr-TR" b="1" dirty="0" smtClean="0"/>
              <a:t>Ateş çoğunlukla yok</a:t>
            </a:r>
          </a:p>
          <a:p>
            <a:r>
              <a:rPr lang="tr-TR" b="1" dirty="0" smtClean="0"/>
              <a:t>Kronik </a:t>
            </a:r>
            <a:r>
              <a:rPr lang="tr-TR" b="1" dirty="0" err="1" smtClean="0"/>
              <a:t>amibiyaziste</a:t>
            </a:r>
            <a:r>
              <a:rPr lang="tr-TR" b="1" dirty="0" smtClean="0"/>
              <a:t> kabızlık ve ishal periyotları vardır</a:t>
            </a:r>
          </a:p>
          <a:p>
            <a:r>
              <a:rPr lang="tr-TR" b="1" dirty="0" smtClean="0"/>
              <a:t>Tedavisi vardır</a:t>
            </a:r>
            <a:endParaRPr lang="tr-TR"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000" b="1" dirty="0" smtClean="0">
                <a:solidFill>
                  <a:srgbClr val="FF0000"/>
                </a:solidFill>
              </a:rPr>
              <a:t>AKUT AMİPLİ DİZANTERİ</a:t>
            </a:r>
            <a:endParaRPr lang="tr-TR" sz="4000" b="1" dirty="0">
              <a:solidFill>
                <a:srgbClr val="FF0000"/>
              </a:solidFill>
            </a:endParaRPr>
          </a:p>
        </p:txBody>
      </p:sp>
      <p:sp>
        <p:nvSpPr>
          <p:cNvPr id="3" name="2 İçerik Yer Tutucusu"/>
          <p:cNvSpPr>
            <a:spLocks noGrp="1"/>
          </p:cNvSpPr>
          <p:nvPr>
            <p:ph idx="1"/>
          </p:nvPr>
        </p:nvSpPr>
        <p:spPr/>
        <p:txBody>
          <a:bodyPr>
            <a:normAutofit/>
          </a:bodyPr>
          <a:lstStyle/>
          <a:p>
            <a:r>
              <a:rPr lang="tr-TR" b="1" dirty="0" smtClean="0"/>
              <a:t>Kolon mukozasında yerleşerek tipik ülserlerle </a:t>
            </a:r>
          </a:p>
          <a:p>
            <a:pPr>
              <a:buNone/>
            </a:pPr>
            <a:r>
              <a:rPr lang="tr-TR" b="1" dirty="0" smtClean="0"/>
              <a:t>    karakterize kanlı, mukuslu </a:t>
            </a:r>
            <a:r>
              <a:rPr lang="tr-TR" b="1" dirty="0" err="1" smtClean="0"/>
              <a:t>diyareler</a:t>
            </a:r>
            <a:r>
              <a:rPr lang="tr-TR" b="1" dirty="0" smtClean="0"/>
              <a:t> yapar</a:t>
            </a:r>
          </a:p>
          <a:p>
            <a:r>
              <a:rPr lang="tr-TR" b="1" dirty="0" smtClean="0"/>
              <a:t>Kronikleşen </a:t>
            </a:r>
            <a:r>
              <a:rPr lang="tr-TR" b="1" dirty="0" err="1" smtClean="0"/>
              <a:t>infeksiyon</a:t>
            </a:r>
            <a:r>
              <a:rPr lang="tr-TR" b="1" dirty="0" smtClean="0"/>
              <a:t> portörlüğe sebep olur</a:t>
            </a:r>
          </a:p>
          <a:p>
            <a:r>
              <a:rPr lang="tr-TR" b="1" dirty="0" smtClean="0"/>
              <a:t>Kronik vakalarda akut tekrarlamalar görülür </a:t>
            </a:r>
          </a:p>
          <a:p>
            <a:r>
              <a:rPr lang="tr-TR" b="1" dirty="0" smtClean="0"/>
              <a:t>Akut veya kronik vakalarda karaciğerde veya diğer organlarda </a:t>
            </a:r>
            <a:r>
              <a:rPr lang="tr-TR" b="1" dirty="0" err="1" smtClean="0"/>
              <a:t>metastatik</a:t>
            </a:r>
            <a:r>
              <a:rPr lang="tr-TR" b="1" dirty="0" smtClean="0"/>
              <a:t> amip apseleri gibi komplikasyonlara sebep olabilir</a:t>
            </a:r>
            <a:endParaRPr lang="tr-T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user\Desktop\amipli-dizanteri4.jpg"/>
          <p:cNvPicPr>
            <a:picLocks noChangeAspect="1" noChangeArrowheads="1"/>
          </p:cNvPicPr>
          <p:nvPr/>
        </p:nvPicPr>
        <p:blipFill>
          <a:blip r:embed="rId2" cstate="print"/>
          <a:srcRect/>
          <a:stretch>
            <a:fillRect/>
          </a:stretch>
        </p:blipFill>
        <p:spPr bwMode="auto">
          <a:xfrm>
            <a:off x="251520" y="764704"/>
            <a:ext cx="3960440" cy="4464496"/>
          </a:xfrm>
          <a:prstGeom prst="rect">
            <a:avLst/>
          </a:prstGeom>
          <a:noFill/>
        </p:spPr>
      </p:pic>
      <p:pic>
        <p:nvPicPr>
          <p:cNvPr id="3075" name="Picture 3" descr="C:\Users\user\Desktop\karacigerde-kist.jpg"/>
          <p:cNvPicPr>
            <a:picLocks noChangeAspect="1" noChangeArrowheads="1"/>
          </p:cNvPicPr>
          <p:nvPr/>
        </p:nvPicPr>
        <p:blipFill>
          <a:blip r:embed="rId3" cstate="print"/>
          <a:srcRect/>
          <a:stretch>
            <a:fillRect/>
          </a:stretch>
        </p:blipFill>
        <p:spPr bwMode="auto">
          <a:xfrm>
            <a:off x="4283968" y="332656"/>
            <a:ext cx="4608512" cy="5040560"/>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Pc\Desktop\slide_32.jpg"/>
          <p:cNvPicPr>
            <a:picLocks noGrp="1" noChangeAspect="1" noChangeArrowheads="1"/>
          </p:cNvPicPr>
          <p:nvPr>
            <p:ph idx="4294967295"/>
          </p:nvPr>
        </p:nvPicPr>
        <p:blipFill>
          <a:blip r:embed="rId2" cstate="print"/>
          <a:srcRect/>
          <a:stretch>
            <a:fillRect/>
          </a:stretch>
        </p:blipFill>
        <p:spPr bwMode="auto">
          <a:xfrm>
            <a:off x="539552" y="188640"/>
            <a:ext cx="8001000" cy="6000750"/>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4000" b="1" dirty="0" smtClean="0">
                <a:solidFill>
                  <a:srgbClr val="FF0000"/>
                </a:solidFill>
              </a:rPr>
              <a:t>PATOGENEZ</a:t>
            </a:r>
            <a:endParaRPr lang="tr-TR" sz="4000" b="1" dirty="0">
              <a:solidFill>
                <a:srgbClr val="FF0000"/>
              </a:solidFill>
            </a:endParaRPr>
          </a:p>
        </p:txBody>
      </p:sp>
      <p:sp>
        <p:nvSpPr>
          <p:cNvPr id="3" name="İçerik Yer Tutucusu 2"/>
          <p:cNvSpPr>
            <a:spLocks noGrp="1"/>
          </p:cNvSpPr>
          <p:nvPr>
            <p:ph idx="1"/>
          </p:nvPr>
        </p:nvSpPr>
        <p:spPr/>
        <p:txBody>
          <a:bodyPr>
            <a:normAutofit/>
          </a:bodyPr>
          <a:lstStyle/>
          <a:p>
            <a:r>
              <a:rPr lang="tr-TR" b="1" dirty="0" err="1" smtClean="0"/>
              <a:t>Entamoeba</a:t>
            </a:r>
            <a:r>
              <a:rPr lang="tr-TR" b="1" dirty="0" smtClean="0"/>
              <a:t> </a:t>
            </a:r>
            <a:r>
              <a:rPr lang="tr-TR" b="1" dirty="0" err="1" smtClean="0"/>
              <a:t>histolytica</a:t>
            </a:r>
            <a:r>
              <a:rPr lang="tr-TR" b="1" dirty="0" smtClean="0"/>
              <a:t> kistleri kurumamış dışkıda 12 gün, suda 1 ay canlı kalır</a:t>
            </a:r>
          </a:p>
          <a:p>
            <a:r>
              <a:rPr lang="tr-TR" b="1" dirty="0" smtClean="0"/>
              <a:t>Kuruluğa uzun süre dayanamaz</a:t>
            </a:r>
          </a:p>
          <a:p>
            <a:r>
              <a:rPr lang="tr-TR" b="1" dirty="0" smtClean="0"/>
              <a:t>50 ⁰</a:t>
            </a:r>
            <a:r>
              <a:rPr lang="el-GR" b="1" dirty="0" smtClean="0"/>
              <a:t>Ϲ</a:t>
            </a:r>
            <a:r>
              <a:rPr lang="tr-TR" b="1" dirty="0" smtClean="0"/>
              <a:t> de aktivitesini kaybeder</a:t>
            </a:r>
          </a:p>
          <a:p>
            <a:r>
              <a:rPr lang="tr-TR" b="1" dirty="0" smtClean="0"/>
              <a:t>Hafif antiseptikler de kistleri etkilemez</a:t>
            </a:r>
          </a:p>
          <a:p>
            <a:r>
              <a:rPr lang="tr-TR" b="1" dirty="0" err="1" smtClean="0"/>
              <a:t>Trofozoid</a:t>
            </a:r>
            <a:r>
              <a:rPr lang="tr-TR" b="1" dirty="0" smtClean="0"/>
              <a:t> şekli dış ortama ve mide </a:t>
            </a:r>
            <a:r>
              <a:rPr lang="tr-TR" b="1" dirty="0" err="1" smtClean="0"/>
              <a:t>asiditesine</a:t>
            </a:r>
            <a:r>
              <a:rPr lang="tr-TR" b="1" dirty="0" smtClean="0"/>
              <a:t> duyarlıdır</a:t>
            </a:r>
          </a:p>
          <a:p>
            <a:endParaRPr lang="tr-TR" b="1" dirty="0"/>
          </a:p>
        </p:txBody>
      </p:sp>
    </p:spTree>
    <p:extLst>
      <p:ext uri="{BB962C8B-B14F-4D97-AF65-F5344CB8AC3E}">
        <p14:creationId xmlns="" xmlns:p14="http://schemas.microsoft.com/office/powerpoint/2010/main" val="28584790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260648"/>
            <a:ext cx="8496944" cy="6264696"/>
          </a:xfrm>
        </p:spPr>
        <p:txBody>
          <a:bodyPr>
            <a:normAutofit lnSpcReduction="10000"/>
          </a:bodyPr>
          <a:lstStyle/>
          <a:p>
            <a:pPr>
              <a:buNone/>
            </a:pPr>
            <a:r>
              <a:rPr lang="tr-TR" b="1" dirty="0" smtClean="0">
                <a:solidFill>
                  <a:srgbClr val="FF0000"/>
                </a:solidFill>
              </a:rPr>
              <a:t>			EPİDEMİYOLOJİ</a:t>
            </a:r>
          </a:p>
          <a:p>
            <a:pPr>
              <a:buNone/>
            </a:pPr>
            <a:r>
              <a:rPr lang="tr-TR" b="1" dirty="0" err="1" smtClean="0">
                <a:solidFill>
                  <a:srgbClr val="7030A0"/>
                </a:solidFill>
              </a:rPr>
              <a:t>Parazitik</a:t>
            </a:r>
            <a:r>
              <a:rPr lang="tr-TR" b="1" dirty="0" smtClean="0">
                <a:solidFill>
                  <a:srgbClr val="7030A0"/>
                </a:solidFill>
              </a:rPr>
              <a:t> bir </a:t>
            </a:r>
            <a:r>
              <a:rPr lang="tr-TR" b="1" dirty="0" err="1" smtClean="0">
                <a:solidFill>
                  <a:srgbClr val="7030A0"/>
                </a:solidFill>
              </a:rPr>
              <a:t>protozoon</a:t>
            </a:r>
            <a:r>
              <a:rPr lang="tr-TR" b="1" dirty="0" smtClean="0">
                <a:solidFill>
                  <a:srgbClr val="7030A0"/>
                </a:solidFill>
              </a:rPr>
              <a:t> hastalığıdır</a:t>
            </a:r>
          </a:p>
          <a:p>
            <a:r>
              <a:rPr lang="tr-TR" b="1" dirty="0" smtClean="0"/>
              <a:t>Tüm yaş grupları,tüm ırklarda görülebilir</a:t>
            </a:r>
          </a:p>
          <a:p>
            <a:r>
              <a:rPr lang="tr-TR" b="1" dirty="0" smtClean="0"/>
              <a:t>Gelişmiş ülkelerde oran daha azdır</a:t>
            </a:r>
          </a:p>
          <a:p>
            <a:r>
              <a:rPr lang="tr-TR" b="1" dirty="0" smtClean="0"/>
              <a:t>Karasinekler bulaşmada önemli rol oynar</a:t>
            </a:r>
          </a:p>
          <a:p>
            <a:pPr>
              <a:buNone/>
            </a:pPr>
            <a:r>
              <a:rPr lang="tr-TR" b="1" dirty="0" smtClean="0"/>
              <a:t>			</a:t>
            </a:r>
            <a:r>
              <a:rPr lang="tr-TR" b="1" dirty="0" smtClean="0">
                <a:solidFill>
                  <a:srgbClr val="FF0000"/>
                </a:solidFill>
              </a:rPr>
              <a:t>KOMPLİKASYONLARI</a:t>
            </a:r>
          </a:p>
          <a:p>
            <a:r>
              <a:rPr lang="tr-TR" b="1" dirty="0" smtClean="0"/>
              <a:t>Karaciğer,akciğer,beyin apseleri</a:t>
            </a:r>
          </a:p>
          <a:p>
            <a:r>
              <a:rPr lang="tr-TR" b="1" dirty="0" err="1" smtClean="0"/>
              <a:t>Granülamatöz</a:t>
            </a:r>
            <a:r>
              <a:rPr lang="tr-TR" b="1" dirty="0" smtClean="0"/>
              <a:t> kolit</a:t>
            </a:r>
          </a:p>
          <a:p>
            <a:r>
              <a:rPr lang="tr-TR" b="1" dirty="0" err="1" smtClean="0"/>
              <a:t>Fulminan</a:t>
            </a:r>
            <a:r>
              <a:rPr lang="tr-TR" b="1" dirty="0" smtClean="0"/>
              <a:t> kolit</a:t>
            </a:r>
          </a:p>
          <a:p>
            <a:r>
              <a:rPr lang="tr-TR" b="1" dirty="0" smtClean="0"/>
              <a:t>Barsak </a:t>
            </a:r>
            <a:r>
              <a:rPr lang="tr-TR" b="1" dirty="0" err="1" smtClean="0"/>
              <a:t>perforasyonu</a:t>
            </a:r>
            <a:endParaRPr lang="tr-TR" b="1" dirty="0" smtClean="0"/>
          </a:p>
          <a:p>
            <a:r>
              <a:rPr lang="tr-TR" b="1" dirty="0" smtClean="0"/>
              <a:t>Kolonun </a:t>
            </a:r>
            <a:r>
              <a:rPr lang="tr-TR" b="1" dirty="0" err="1" smtClean="0"/>
              <a:t>anüler</a:t>
            </a:r>
            <a:r>
              <a:rPr lang="tr-TR" b="1" dirty="0" smtClean="0"/>
              <a:t> lezyonu</a:t>
            </a:r>
          </a:p>
          <a:p>
            <a:endParaRPr lang="tr-TR" b="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pPr>
              <a:lnSpc>
                <a:spcPct val="90000"/>
              </a:lnSpc>
            </a:pPr>
            <a:r>
              <a:rPr lang="tr-TR" altLang="tr-TR" b="1" i="1" dirty="0" smtClean="0">
                <a:solidFill>
                  <a:srgbClr val="FF0000"/>
                </a:solidFill>
                <a:latin typeface="Calibri" pitchFamily="34" charset="0"/>
                <a:cs typeface="Times New Roman" pitchFamily="18" charset="0"/>
              </a:rPr>
              <a:t>BALANTİDİUM COLİ</a:t>
            </a:r>
            <a:endParaRPr lang="tr-TR" altLang="tr-TR" b="1" dirty="0" smtClean="0">
              <a:solidFill>
                <a:srgbClr val="FF0000"/>
              </a:solidFill>
              <a:latin typeface="Calibri" pitchFamily="34" charset="0"/>
              <a:cs typeface="Times New Roman" pitchFamily="18" charset="0"/>
            </a:endParaRPr>
          </a:p>
        </p:txBody>
      </p:sp>
      <p:sp>
        <p:nvSpPr>
          <p:cNvPr id="3" name="2 İçerik Yer Tutucusu"/>
          <p:cNvSpPr>
            <a:spLocks noGrp="1"/>
          </p:cNvSpPr>
          <p:nvPr>
            <p:ph idx="1"/>
          </p:nvPr>
        </p:nvSpPr>
        <p:spPr/>
        <p:txBody>
          <a:bodyPr/>
          <a:lstStyle/>
          <a:p>
            <a:r>
              <a:rPr lang="tr-TR" altLang="tr-TR" b="1" i="1" dirty="0" err="1" smtClean="0">
                <a:solidFill>
                  <a:srgbClr val="0070C0"/>
                </a:solidFill>
                <a:latin typeface="Calibri" pitchFamily="34" charset="0"/>
                <a:cs typeface="Times New Roman" pitchFamily="18" charset="0"/>
              </a:rPr>
              <a:t>Balantidium</a:t>
            </a:r>
            <a:r>
              <a:rPr lang="tr-TR" altLang="tr-TR" b="1" i="1" dirty="0" smtClean="0">
                <a:solidFill>
                  <a:srgbClr val="0070C0"/>
                </a:solidFill>
                <a:latin typeface="Calibri" pitchFamily="34" charset="0"/>
                <a:cs typeface="Times New Roman" pitchFamily="18" charset="0"/>
              </a:rPr>
              <a:t> </a:t>
            </a:r>
            <a:r>
              <a:rPr lang="tr-TR" altLang="tr-TR" b="1" i="1" dirty="0" err="1" smtClean="0">
                <a:solidFill>
                  <a:srgbClr val="0070C0"/>
                </a:solidFill>
                <a:latin typeface="Calibri" pitchFamily="34" charset="0"/>
                <a:cs typeface="Times New Roman" pitchFamily="18" charset="0"/>
              </a:rPr>
              <a:t>coli</a:t>
            </a:r>
            <a:r>
              <a:rPr lang="tr-TR" altLang="tr-TR" b="1" dirty="0" smtClean="0">
                <a:solidFill>
                  <a:srgbClr val="0070C0"/>
                </a:solidFill>
                <a:latin typeface="Calibri" pitchFamily="34" charset="0"/>
                <a:cs typeface="Times New Roman" pitchFamily="18" charset="0"/>
              </a:rPr>
              <a:t>,</a:t>
            </a:r>
            <a:r>
              <a:rPr lang="tr-TR" altLang="tr-TR" b="1" dirty="0" smtClean="0">
                <a:latin typeface="Calibri" pitchFamily="34" charset="0"/>
                <a:cs typeface="Times New Roman" pitchFamily="18" charset="0"/>
              </a:rPr>
              <a:t> kistlerin ağız yolundan alınması ile bulaşır</a:t>
            </a:r>
          </a:p>
          <a:p>
            <a:r>
              <a:rPr lang="tr-TR" altLang="tr-TR" b="1" dirty="0" err="1" smtClean="0">
                <a:latin typeface="Calibri" pitchFamily="34" charset="0"/>
                <a:cs typeface="Times New Roman" pitchFamily="18" charset="0"/>
              </a:rPr>
              <a:t>Enterokolit</a:t>
            </a:r>
            <a:r>
              <a:rPr lang="tr-TR" altLang="tr-TR" b="1" dirty="0" smtClean="0">
                <a:latin typeface="Calibri" pitchFamily="34" charset="0"/>
                <a:cs typeface="Times New Roman" pitchFamily="18" charset="0"/>
              </a:rPr>
              <a:t> etkenidir</a:t>
            </a:r>
          </a:p>
          <a:p>
            <a:r>
              <a:rPr lang="tr-TR" altLang="tr-TR" b="1" dirty="0" smtClean="0">
                <a:latin typeface="Calibri" pitchFamily="34" charset="0"/>
                <a:cs typeface="Times New Roman" pitchFamily="18" charset="0"/>
              </a:rPr>
              <a:t>Dışkıda bulunabilen en büyük parazittir</a:t>
            </a:r>
          </a:p>
          <a:p>
            <a:endParaRPr lang="tr-TR" altLang="tr-TR" b="1" dirty="0" smtClean="0">
              <a:latin typeface="Calibri" pitchFamily="34" charset="0"/>
              <a:cs typeface="Times New Roman" pitchFamily="18" charset="0"/>
            </a:endParaRPr>
          </a:p>
          <a:p>
            <a:endParaRPr lang="tr-TR" altLang="tr-TR" b="1" dirty="0" smtClean="0">
              <a:latin typeface="Calibri" pitchFamily="34" charset="0"/>
              <a:cs typeface="Times New Roman" pitchFamily="18" charset="0"/>
            </a:endParaRPr>
          </a:p>
          <a:p>
            <a:r>
              <a:rPr lang="tr-TR" altLang="tr-TR" b="1" dirty="0" err="1" smtClean="0">
                <a:solidFill>
                  <a:srgbClr val="7030A0"/>
                </a:solidFill>
                <a:latin typeface="Calibri" pitchFamily="34" charset="0"/>
                <a:cs typeface="Times New Roman" pitchFamily="18" charset="0"/>
              </a:rPr>
              <a:t>Enterokolit</a:t>
            </a:r>
            <a:r>
              <a:rPr lang="tr-TR" altLang="tr-TR" b="1" dirty="0" smtClean="0">
                <a:solidFill>
                  <a:srgbClr val="7030A0"/>
                </a:solidFill>
                <a:latin typeface="Calibri" pitchFamily="34" charset="0"/>
                <a:cs typeface="Times New Roman" pitchFamily="18" charset="0"/>
              </a:rPr>
              <a:t> ;</a:t>
            </a:r>
            <a:r>
              <a:rPr lang="tr-TR" altLang="tr-TR" b="1" dirty="0" smtClean="0">
                <a:latin typeface="Calibri" pitchFamily="34" charset="0"/>
                <a:cs typeface="Times New Roman" pitchFamily="18" charset="0"/>
              </a:rPr>
              <a:t>  </a:t>
            </a:r>
            <a:r>
              <a:rPr lang="tr-TR" altLang="tr-TR" b="1" dirty="0" smtClean="0"/>
              <a:t>İ</a:t>
            </a:r>
            <a:r>
              <a:rPr lang="tr-TR" b="1" dirty="0" smtClean="0"/>
              <a:t>nce ve Kalın bağırsakların </a:t>
            </a:r>
            <a:r>
              <a:rPr lang="tr-TR" b="1" dirty="0" err="1" smtClean="0"/>
              <a:t>infeksiyonu</a:t>
            </a:r>
            <a:endParaRPr lang="tr-TR" b="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ltLang="tr-TR" b="1" i="1" dirty="0" smtClean="0">
                <a:solidFill>
                  <a:srgbClr val="FF0000"/>
                </a:solidFill>
              </a:rPr>
              <a:t>TOXOPLAZMA</a:t>
            </a:r>
            <a:endParaRPr lang="tr-TR" dirty="0"/>
          </a:p>
        </p:txBody>
      </p:sp>
      <p:sp>
        <p:nvSpPr>
          <p:cNvPr id="3" name="2 İçerik Yer Tutucusu"/>
          <p:cNvSpPr>
            <a:spLocks noGrp="1"/>
          </p:cNvSpPr>
          <p:nvPr>
            <p:ph idx="1"/>
          </p:nvPr>
        </p:nvSpPr>
        <p:spPr>
          <a:xfrm>
            <a:off x="457200" y="1600200"/>
            <a:ext cx="8507288" cy="4997152"/>
          </a:xfrm>
        </p:spPr>
        <p:txBody>
          <a:bodyPr/>
          <a:lstStyle/>
          <a:p>
            <a:r>
              <a:rPr lang="tr-TR" altLang="tr-TR" b="1" dirty="0" err="1" smtClean="0">
                <a:solidFill>
                  <a:srgbClr val="7030A0"/>
                </a:solidFill>
              </a:rPr>
              <a:t>Toxoplasma</a:t>
            </a:r>
            <a:r>
              <a:rPr lang="tr-TR" altLang="tr-TR" b="1" dirty="0" smtClean="0">
                <a:solidFill>
                  <a:srgbClr val="7030A0"/>
                </a:solidFill>
              </a:rPr>
              <a:t> </a:t>
            </a:r>
            <a:r>
              <a:rPr lang="tr-TR" altLang="tr-TR" b="1" dirty="0" err="1" smtClean="0">
                <a:solidFill>
                  <a:srgbClr val="7030A0"/>
                </a:solidFill>
              </a:rPr>
              <a:t>gondii</a:t>
            </a:r>
            <a:endParaRPr lang="tr-TR" altLang="tr-TR" b="1" dirty="0" smtClean="0">
              <a:solidFill>
                <a:srgbClr val="7030A0"/>
              </a:solidFill>
            </a:endParaRPr>
          </a:p>
          <a:p>
            <a:r>
              <a:rPr lang="tr-TR" sz="2800" b="1" i="1" dirty="0" err="1" smtClean="0"/>
              <a:t>Toxoplasma</a:t>
            </a:r>
            <a:r>
              <a:rPr lang="tr-TR" sz="2800" b="1" i="1" dirty="0" smtClean="0"/>
              <a:t> </a:t>
            </a:r>
            <a:r>
              <a:rPr lang="tr-TR" sz="2800" b="1" i="1" dirty="0" err="1" smtClean="0"/>
              <a:t>gondii</a:t>
            </a:r>
            <a:r>
              <a:rPr lang="tr-TR" sz="2800" b="1" dirty="0" smtClean="0"/>
              <a:t> .insanlarda görülen en yaygın </a:t>
            </a:r>
            <a:r>
              <a:rPr lang="tr-TR" sz="2800" b="1" dirty="0" err="1" smtClean="0"/>
              <a:t>zoonotik</a:t>
            </a:r>
            <a:r>
              <a:rPr lang="tr-TR" sz="2800" b="1" dirty="0" smtClean="0"/>
              <a:t> etkenlerden biri olup, dünya nüfusunun üçte birini </a:t>
            </a:r>
            <a:r>
              <a:rPr lang="tr-TR" sz="2800" b="1" dirty="0" err="1" smtClean="0"/>
              <a:t>enfekte</a:t>
            </a:r>
            <a:r>
              <a:rPr lang="tr-TR" sz="2800" b="1" dirty="0" smtClean="0"/>
              <a:t> etmektedir</a:t>
            </a:r>
            <a:r>
              <a:rPr lang="tr-TR" dirty="0" smtClean="0"/>
              <a:t>.</a:t>
            </a:r>
          </a:p>
          <a:p>
            <a:r>
              <a:rPr lang="tr-TR" altLang="tr-TR" dirty="0" smtClean="0">
                <a:solidFill>
                  <a:schemeClr val="hlink"/>
                </a:solidFill>
              </a:rPr>
              <a:t>İnsanlar ara konak, </a:t>
            </a:r>
            <a:r>
              <a:rPr lang="tr-TR" altLang="tr-TR" b="1" dirty="0" smtClean="0">
                <a:solidFill>
                  <a:srgbClr val="C00000"/>
                </a:solidFill>
                <a:effectLst>
                  <a:outerShdw blurRad="38100" dist="38100" dir="2700000" algn="tl">
                    <a:srgbClr val="000000">
                      <a:alpha val="43137"/>
                    </a:srgbClr>
                  </a:outerShdw>
                </a:effectLst>
              </a:rPr>
              <a:t>kediler son konak</a:t>
            </a:r>
          </a:p>
          <a:p>
            <a:r>
              <a:rPr lang="tr-TR" altLang="tr-TR" b="1" dirty="0" smtClean="0"/>
              <a:t>Zorunlu hücre içi paraziti</a:t>
            </a:r>
          </a:p>
          <a:p>
            <a:endParaRPr lang="tr-TR" dirty="0">
              <a:solidFill>
                <a:srgbClr val="7030A0"/>
              </a:solidFill>
            </a:endParaRPr>
          </a:p>
        </p:txBody>
      </p:sp>
      <p:pic>
        <p:nvPicPr>
          <p:cNvPr id="1026" name="Picture 2"/>
          <p:cNvPicPr>
            <a:picLocks noChangeAspect="1" noChangeArrowheads="1"/>
          </p:cNvPicPr>
          <p:nvPr/>
        </p:nvPicPr>
        <p:blipFill>
          <a:blip r:embed="rId2" cstate="print"/>
          <a:srcRect/>
          <a:stretch>
            <a:fillRect/>
          </a:stretch>
        </p:blipFill>
        <p:spPr bwMode="auto">
          <a:xfrm>
            <a:off x="5364088" y="4221088"/>
            <a:ext cx="3259246" cy="2176989"/>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altLang="tr-TR" b="1" dirty="0" smtClean="0"/>
              <a:t/>
            </a:r>
            <a:br>
              <a:rPr lang="tr-TR" altLang="tr-TR" b="1" dirty="0" smtClean="0"/>
            </a:br>
            <a:r>
              <a:rPr lang="tr-TR" altLang="tr-TR" b="1" dirty="0" smtClean="0">
                <a:solidFill>
                  <a:srgbClr val="FF0000"/>
                </a:solidFill>
              </a:rPr>
              <a:t>TOKSOPLAZMOZ HASTALIĞININ ETKENİDİR</a:t>
            </a:r>
            <a:r>
              <a:rPr lang="tr-TR" altLang="tr-TR" b="1" dirty="0" smtClean="0"/>
              <a:t/>
            </a:r>
            <a:br>
              <a:rPr lang="tr-TR" altLang="tr-TR" b="1" dirty="0" smtClean="0"/>
            </a:br>
            <a:endParaRPr lang="tr-TR" dirty="0"/>
          </a:p>
        </p:txBody>
      </p:sp>
      <p:sp>
        <p:nvSpPr>
          <p:cNvPr id="3" name="2 İçerik Yer Tutucusu"/>
          <p:cNvSpPr>
            <a:spLocks noGrp="1"/>
          </p:cNvSpPr>
          <p:nvPr>
            <p:ph idx="1"/>
          </p:nvPr>
        </p:nvSpPr>
        <p:spPr/>
        <p:txBody>
          <a:bodyPr>
            <a:normAutofit fontScale="92500"/>
          </a:bodyPr>
          <a:lstStyle/>
          <a:p>
            <a:r>
              <a:rPr lang="tr-TR" altLang="tr-TR" b="1" dirty="0" err="1" smtClean="0"/>
              <a:t>Toxoplasma</a:t>
            </a:r>
            <a:r>
              <a:rPr lang="tr-TR" altLang="tr-TR" b="1" dirty="0" smtClean="0"/>
              <a:t> </a:t>
            </a:r>
            <a:r>
              <a:rPr lang="tr-TR" altLang="tr-TR" b="1" dirty="0" err="1" smtClean="0"/>
              <a:t>gondii</a:t>
            </a:r>
            <a:r>
              <a:rPr lang="tr-TR" altLang="tr-TR" b="1" dirty="0" smtClean="0"/>
              <a:t>, kistlerinin olduğu çiğ etlerin yenmesi veya kedi dışkısından çıkan </a:t>
            </a:r>
            <a:r>
              <a:rPr lang="tr-TR" altLang="tr-TR" b="1" dirty="0" err="1" smtClean="0"/>
              <a:t>ookistlerle</a:t>
            </a:r>
            <a:r>
              <a:rPr lang="tr-TR" altLang="tr-TR" b="1" dirty="0" smtClean="0"/>
              <a:t> bulaşmış çiğ sebze-meyvelerin yenmesi ile bulaşır</a:t>
            </a:r>
          </a:p>
          <a:p>
            <a:r>
              <a:rPr lang="tr-TR" altLang="tr-TR" b="1" dirty="0" smtClean="0"/>
              <a:t>Veya anne karnındaki bebeğe anneden bulaşır</a:t>
            </a:r>
          </a:p>
          <a:p>
            <a:r>
              <a:rPr lang="tr-TR" b="1" dirty="0" smtClean="0"/>
              <a:t>İnsanda genellikle </a:t>
            </a:r>
            <a:r>
              <a:rPr lang="tr-TR" b="1" dirty="0" err="1" smtClean="0"/>
              <a:t>asemptomatik</a:t>
            </a:r>
            <a:r>
              <a:rPr lang="tr-TR" b="1" dirty="0" smtClean="0"/>
              <a:t> fakat, </a:t>
            </a:r>
            <a:r>
              <a:rPr lang="tr-TR" b="1" dirty="0" err="1" smtClean="0"/>
              <a:t>immünsüprese</a:t>
            </a:r>
            <a:r>
              <a:rPr lang="tr-TR" b="1" dirty="0" smtClean="0"/>
              <a:t> konakta </a:t>
            </a:r>
          </a:p>
          <a:p>
            <a:r>
              <a:rPr lang="tr-TR" b="1" dirty="0" smtClean="0"/>
              <a:t>ve fetüste </a:t>
            </a:r>
            <a:r>
              <a:rPr lang="tr-TR" b="1" dirty="0" err="1" smtClean="0"/>
              <a:t>konjentinal</a:t>
            </a:r>
            <a:r>
              <a:rPr lang="tr-TR" b="1" dirty="0" smtClean="0"/>
              <a:t> </a:t>
            </a:r>
            <a:r>
              <a:rPr lang="tr-TR" b="1" dirty="0" err="1" smtClean="0"/>
              <a:t>infeksiyonda</a:t>
            </a:r>
            <a:r>
              <a:rPr lang="tr-TR" b="1" dirty="0" smtClean="0"/>
              <a:t> ciddi sağlık sorunlarına yol açan parazit</a:t>
            </a:r>
            <a:endParaRPr lang="tr-TR" altLang="tr-TR" b="1" dirty="0" smtClean="0"/>
          </a:p>
          <a:p>
            <a:endParaRPr lang="tr-TR" b="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251520" y="332656"/>
            <a:ext cx="8640960" cy="6336704"/>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000" b="1" dirty="0" smtClean="0">
                <a:solidFill>
                  <a:srgbClr val="FF0000"/>
                </a:solidFill>
              </a:rPr>
              <a:t>LEİSHMANİA TROPİCA</a:t>
            </a:r>
            <a:br>
              <a:rPr lang="tr-TR" sz="4000" b="1" dirty="0" smtClean="0">
                <a:solidFill>
                  <a:srgbClr val="FF0000"/>
                </a:solidFill>
              </a:rPr>
            </a:br>
            <a:r>
              <a:rPr lang="tr-TR" sz="2800" b="1" dirty="0" smtClean="0">
                <a:solidFill>
                  <a:srgbClr val="FF0000"/>
                </a:solidFill>
              </a:rPr>
              <a:t> ŞARK ÇIBANI,ANTEP ÇIBANI,HALEP ÇIBANI,YIL ÇIBANI</a:t>
            </a:r>
            <a:endParaRPr lang="tr-TR" sz="2800" dirty="0"/>
          </a:p>
        </p:txBody>
      </p:sp>
      <p:sp>
        <p:nvSpPr>
          <p:cNvPr id="3" name="2 İçerik Yer Tutucusu"/>
          <p:cNvSpPr>
            <a:spLocks noGrp="1"/>
          </p:cNvSpPr>
          <p:nvPr>
            <p:ph idx="1"/>
          </p:nvPr>
        </p:nvSpPr>
        <p:spPr/>
        <p:txBody>
          <a:bodyPr>
            <a:noAutofit/>
          </a:bodyPr>
          <a:lstStyle/>
          <a:p>
            <a:r>
              <a:rPr lang="tr-TR" sz="2800" b="1" dirty="0" smtClean="0"/>
              <a:t>Rezervuar insan, köpekler ve bazen kemirgenlerdir</a:t>
            </a:r>
          </a:p>
          <a:p>
            <a:r>
              <a:rPr lang="tr-TR" sz="2800" b="1" dirty="0" smtClean="0"/>
              <a:t>Karadeniz, Ege ve Marmara bölgesinde rastlanılmaktadır</a:t>
            </a:r>
          </a:p>
          <a:p>
            <a:r>
              <a:rPr lang="tr-TR" sz="2800" b="1" dirty="0" err="1" smtClean="0"/>
              <a:t>Leishmaniasis</a:t>
            </a:r>
            <a:r>
              <a:rPr lang="tr-TR" sz="2800" b="1" dirty="0" smtClean="0"/>
              <a:t> insanlara parazit taşıyan kum sineklerinin (</a:t>
            </a:r>
            <a:r>
              <a:rPr lang="tr-TR" sz="2800" b="1" dirty="0" err="1" smtClean="0"/>
              <a:t>Plebotomus</a:t>
            </a:r>
            <a:r>
              <a:rPr lang="tr-TR" sz="2800" b="1" dirty="0" smtClean="0"/>
              <a:t>, </a:t>
            </a:r>
            <a:r>
              <a:rPr lang="tr-TR" sz="2800" b="1" dirty="0" err="1" smtClean="0"/>
              <a:t>sandfly</a:t>
            </a:r>
            <a:r>
              <a:rPr lang="tr-TR" sz="2800" b="1" dirty="0" smtClean="0"/>
              <a:t>, tatarcık, yakarca) sokması ile bulaşır.</a:t>
            </a:r>
          </a:p>
          <a:p>
            <a:r>
              <a:rPr lang="tr-TR" sz="2800" b="1" dirty="0" err="1" smtClean="0"/>
              <a:t>Leishmaniasis</a:t>
            </a:r>
            <a:r>
              <a:rPr lang="tr-TR" sz="2800" b="1" dirty="0" smtClean="0"/>
              <a:t> bulguları parazit taşıyan kum sineğinin sokmasından sonra ortalama  8 AY içinde ortaya çıkar</a:t>
            </a:r>
            <a:br>
              <a:rPr lang="tr-TR" sz="2800" b="1" dirty="0" smtClean="0"/>
            </a:br>
            <a:endParaRPr lang="tr-TR" sz="2800" b="1" dirty="0" smtClean="0"/>
          </a:p>
          <a:p>
            <a:endParaRPr lang="tr-TR" sz="2800" b="1" dirty="0" smtClean="0"/>
          </a:p>
          <a:p>
            <a:pPr>
              <a:buNone/>
            </a:pPr>
            <a:r>
              <a:rPr lang="tr-TR" sz="2800" b="1" dirty="0" smtClean="0"/>
              <a:t>	</a:t>
            </a:r>
            <a:endParaRPr lang="tr-TR" sz="2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260648"/>
            <a:ext cx="8784976" cy="6264696"/>
          </a:xfrm>
        </p:spPr>
        <p:txBody>
          <a:bodyPr/>
          <a:lstStyle/>
          <a:p>
            <a:r>
              <a:rPr lang="tr-TR" b="1" dirty="0" smtClean="0">
                <a:solidFill>
                  <a:srgbClr val="9A0670"/>
                </a:solidFill>
              </a:rPr>
              <a:t>Tatar sineği veya kum sineği, kumlu bölgelerde karşılaşılan uçan, ısıran, </a:t>
            </a:r>
            <a:r>
              <a:rPr lang="tr-TR" b="1" dirty="0" smtClean="0">
                <a:solidFill>
                  <a:srgbClr val="9A0670"/>
                </a:solidFill>
                <a:hlinkClick r:id="rId2" tooltip="Blood-sucking"/>
              </a:rPr>
              <a:t>kan emen </a:t>
            </a:r>
            <a:r>
              <a:rPr lang="tr-TR" b="1" dirty="0" err="1" smtClean="0">
                <a:solidFill>
                  <a:srgbClr val="9A0670"/>
                </a:solidFill>
                <a:hlinkClick r:id="rId3" tooltip="Diptera"/>
              </a:rPr>
              <a:t>dipteran</a:t>
            </a:r>
            <a:r>
              <a:rPr lang="tr-TR" b="1" dirty="0" smtClean="0">
                <a:solidFill>
                  <a:srgbClr val="9A0670"/>
                </a:solidFill>
                <a:hlinkClick r:id="rId3" tooltip="Diptera"/>
              </a:rPr>
              <a:t> (çift kanatlı sinek) türlerinin veya </a:t>
            </a:r>
            <a:r>
              <a:rPr lang="tr-TR" b="1" dirty="0" smtClean="0">
                <a:solidFill>
                  <a:srgbClr val="9A0670"/>
                </a:solidFill>
                <a:hlinkClick r:id="rId4" tooltip="Cins"/>
              </a:rPr>
              <a:t>cinslerinin</a:t>
            </a:r>
            <a:r>
              <a:rPr lang="tr-TR" b="1" dirty="0" smtClean="0">
                <a:solidFill>
                  <a:srgbClr val="9A0670"/>
                </a:solidFill>
              </a:rPr>
              <a:t> halk arasında kullanılan adıdır .</a:t>
            </a:r>
            <a:endParaRPr lang="tr-TR" b="1" dirty="0">
              <a:solidFill>
                <a:srgbClr val="9A0670"/>
              </a:solidFill>
            </a:endParaRPr>
          </a:p>
        </p:txBody>
      </p:sp>
      <p:pic>
        <p:nvPicPr>
          <p:cNvPr id="1026" name="Picture 2" descr="C:\Users\tijen\Desktop\Sandfly-P-papatasi_B.png"/>
          <p:cNvPicPr>
            <a:picLocks noChangeAspect="1" noChangeArrowheads="1"/>
          </p:cNvPicPr>
          <p:nvPr/>
        </p:nvPicPr>
        <p:blipFill>
          <a:blip r:embed="rId5" cstate="print"/>
          <a:srcRect/>
          <a:stretch>
            <a:fillRect/>
          </a:stretch>
        </p:blipFill>
        <p:spPr bwMode="auto">
          <a:xfrm>
            <a:off x="1331640" y="2564904"/>
            <a:ext cx="6238424" cy="3775322"/>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260648"/>
            <a:ext cx="8712968" cy="6336704"/>
          </a:xfrm>
        </p:spPr>
        <p:txBody>
          <a:bodyPr>
            <a:normAutofit fontScale="77500" lnSpcReduction="20000"/>
          </a:bodyPr>
          <a:lstStyle/>
          <a:p>
            <a:pPr>
              <a:buNone/>
            </a:pPr>
            <a:r>
              <a:rPr lang="tr-TR" dirty="0" smtClean="0"/>
              <a:t>	</a:t>
            </a:r>
            <a:r>
              <a:rPr lang="tr-TR" b="1" dirty="0" smtClean="0">
                <a:solidFill>
                  <a:srgbClr val="9A0670"/>
                </a:solidFill>
              </a:rPr>
              <a:t>LEİSHMANİASİS ÜÇ FARKLI FORMDA GÖRÜLÜR</a:t>
            </a:r>
          </a:p>
          <a:p>
            <a:r>
              <a:rPr lang="tr-TR" b="1" dirty="0" smtClean="0"/>
              <a:t>1-</a:t>
            </a:r>
            <a:r>
              <a:rPr lang="tr-TR" b="1" dirty="0" err="1" smtClean="0"/>
              <a:t>Kutanöz</a:t>
            </a:r>
            <a:r>
              <a:rPr lang="tr-TR" b="1" dirty="0" smtClean="0"/>
              <a:t> </a:t>
            </a:r>
            <a:r>
              <a:rPr lang="tr-TR" b="1" dirty="0" err="1" smtClean="0"/>
              <a:t>leishmaniasis</a:t>
            </a:r>
            <a:endParaRPr lang="tr-TR" b="1" dirty="0" smtClean="0"/>
          </a:p>
          <a:p>
            <a:r>
              <a:rPr lang="tr-TR" b="1" dirty="0" smtClean="0"/>
              <a:t>2-</a:t>
            </a:r>
            <a:r>
              <a:rPr lang="tr-TR" b="1" dirty="0" err="1" smtClean="0"/>
              <a:t>Viseral</a:t>
            </a:r>
            <a:r>
              <a:rPr lang="tr-TR" b="1" dirty="0" smtClean="0"/>
              <a:t> </a:t>
            </a:r>
            <a:r>
              <a:rPr lang="tr-TR" b="1" dirty="0" err="1" smtClean="0"/>
              <a:t>leishmaniasis</a:t>
            </a:r>
            <a:r>
              <a:rPr lang="tr-TR" b="1" dirty="0" smtClean="0"/>
              <a:t> (Kala-azar)</a:t>
            </a:r>
          </a:p>
          <a:p>
            <a:r>
              <a:rPr lang="tr-TR" b="1" dirty="0" smtClean="0"/>
              <a:t>3-</a:t>
            </a:r>
            <a:r>
              <a:rPr lang="tr-TR" b="1" dirty="0" err="1" smtClean="0"/>
              <a:t>Mukozal</a:t>
            </a:r>
            <a:r>
              <a:rPr lang="tr-TR" b="1" dirty="0" smtClean="0"/>
              <a:t> </a:t>
            </a:r>
            <a:r>
              <a:rPr lang="tr-TR" b="1" dirty="0" err="1" smtClean="0"/>
              <a:t>leishmaniasis</a:t>
            </a:r>
            <a:endParaRPr lang="tr-TR" b="1" dirty="0" smtClean="0"/>
          </a:p>
          <a:p>
            <a:r>
              <a:rPr lang="tr-TR" b="1" dirty="0" smtClean="0">
                <a:solidFill>
                  <a:srgbClr val="FF0000"/>
                </a:solidFill>
              </a:rPr>
              <a:t>KUTANÖZ LEİSHMANİASİS: </a:t>
            </a:r>
            <a:r>
              <a:rPr lang="tr-TR" b="1" dirty="0" smtClean="0">
                <a:solidFill>
                  <a:srgbClr val="7030A0"/>
                </a:solidFill>
              </a:rPr>
              <a:t>En sık görülen formdur</a:t>
            </a:r>
          </a:p>
          <a:p>
            <a:r>
              <a:rPr lang="tr-TR" b="1" dirty="0" smtClean="0">
                <a:solidFill>
                  <a:srgbClr val="7030A0"/>
                </a:solidFill>
              </a:rPr>
              <a:t>Sineğin ısırmasından birkaç hafta ile ay içerisinde deride görülen yara ile karakterizedir</a:t>
            </a:r>
          </a:p>
          <a:p>
            <a:r>
              <a:rPr lang="tr-TR" b="1" dirty="0" smtClean="0">
                <a:solidFill>
                  <a:srgbClr val="7030A0"/>
                </a:solidFill>
              </a:rPr>
              <a:t>Yaralar zamanla boyut ve görünüm değiştirebilir</a:t>
            </a:r>
          </a:p>
          <a:p>
            <a:r>
              <a:rPr lang="tr-TR" b="1" dirty="0" smtClean="0">
                <a:solidFill>
                  <a:srgbClr val="7030A0"/>
                </a:solidFill>
              </a:rPr>
              <a:t>Yaralar </a:t>
            </a:r>
            <a:r>
              <a:rPr lang="tr-TR" b="1" dirty="0" err="1" smtClean="0">
                <a:solidFill>
                  <a:srgbClr val="FF0000"/>
                </a:solidFill>
              </a:rPr>
              <a:t>papüler</a:t>
            </a:r>
            <a:r>
              <a:rPr lang="tr-TR" b="1" dirty="0" smtClean="0">
                <a:solidFill>
                  <a:srgbClr val="7030A0"/>
                </a:solidFill>
              </a:rPr>
              <a:t> (1cm den ufak kabarıklar) veya </a:t>
            </a:r>
            <a:r>
              <a:rPr lang="tr-TR" b="1" dirty="0" err="1" smtClean="0">
                <a:solidFill>
                  <a:srgbClr val="FF0000"/>
                </a:solidFill>
              </a:rPr>
              <a:t>nodüler</a:t>
            </a:r>
            <a:r>
              <a:rPr lang="tr-TR" b="1" dirty="0" smtClean="0">
                <a:solidFill>
                  <a:srgbClr val="7030A0"/>
                </a:solidFill>
              </a:rPr>
              <a:t> (1-3 cm kadar topak ) olarak başlayabilir ve </a:t>
            </a:r>
            <a:r>
              <a:rPr lang="tr-TR" b="1" dirty="0" smtClean="0">
                <a:solidFill>
                  <a:srgbClr val="FF0000"/>
                </a:solidFill>
              </a:rPr>
              <a:t>ülserlere</a:t>
            </a:r>
            <a:r>
              <a:rPr lang="tr-TR" b="1" dirty="0" smtClean="0">
                <a:solidFill>
                  <a:srgbClr val="7030A0"/>
                </a:solidFill>
              </a:rPr>
              <a:t> (kenarları yükseltilmiş ve merkezi krater şeklinde bir yanardağ gibi) dönebilir</a:t>
            </a:r>
          </a:p>
          <a:p>
            <a:r>
              <a:rPr lang="tr-TR" b="1" dirty="0" smtClean="0">
                <a:solidFill>
                  <a:srgbClr val="7030A0"/>
                </a:solidFill>
              </a:rPr>
              <a:t>Bu yaralar genellikle ağrısız olmakla birlikte ağrılı da olabilir</a:t>
            </a:r>
          </a:p>
          <a:p>
            <a:r>
              <a:rPr lang="tr-TR" b="1" dirty="0" smtClean="0">
                <a:solidFill>
                  <a:srgbClr val="7030A0"/>
                </a:solidFill>
              </a:rPr>
              <a:t>Bazı insanlarda yaralara yakın yerlerde lenf bezleri şişebilir</a:t>
            </a:r>
          </a:p>
          <a:p>
            <a:r>
              <a:rPr lang="tr-TR" b="1" dirty="0" smtClean="0">
                <a:solidFill>
                  <a:srgbClr val="7030A0"/>
                </a:solidFill>
              </a:rPr>
              <a:t>Cilt yaraları genellikle yüz, kollar ve bacaklar gibi ısırılmaya maruz kalan açık bölgelerde oluşur</a:t>
            </a:r>
          </a:p>
          <a:p>
            <a:r>
              <a:rPr lang="tr-TR" b="1" dirty="0" smtClean="0">
                <a:solidFill>
                  <a:srgbClr val="7030A0"/>
                </a:solidFill>
              </a:rPr>
              <a:t>Bunlar genellikle iz bırakarak, bir kaç ay içinde iyileşir</a:t>
            </a:r>
          </a:p>
          <a:p>
            <a:endParaRPr lang="tr-TR" b="1" dirty="0">
              <a:solidFill>
                <a:srgbClr val="7030A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Pc\Desktop\imagesY9YAPRAT.jpg"/>
          <p:cNvPicPr>
            <a:picLocks noGrp="1" noChangeAspect="1" noChangeArrowheads="1"/>
          </p:cNvPicPr>
          <p:nvPr>
            <p:ph idx="4294967295"/>
          </p:nvPr>
        </p:nvPicPr>
        <p:blipFill>
          <a:blip r:embed="rId2" cstate="print"/>
          <a:srcRect/>
          <a:stretch>
            <a:fillRect/>
          </a:stretch>
        </p:blipFill>
        <p:spPr bwMode="auto">
          <a:xfrm>
            <a:off x="323528" y="188640"/>
            <a:ext cx="4473575" cy="4616450"/>
          </a:xfrm>
          <a:prstGeom prst="rect">
            <a:avLst/>
          </a:prstGeom>
          <a:noFill/>
        </p:spPr>
      </p:pic>
      <p:pic>
        <p:nvPicPr>
          <p:cNvPr id="5" name="Picture 2" descr="C:\Users\Pc\Desktop\Tatarcik-Hummasi.jpg"/>
          <p:cNvPicPr>
            <a:picLocks noChangeAspect="1" noChangeArrowheads="1"/>
          </p:cNvPicPr>
          <p:nvPr/>
        </p:nvPicPr>
        <p:blipFill>
          <a:blip r:embed="rId3" cstate="print"/>
          <a:srcRect/>
          <a:stretch>
            <a:fillRect/>
          </a:stretch>
        </p:blipFill>
        <p:spPr bwMode="auto">
          <a:xfrm>
            <a:off x="4283968" y="2924944"/>
            <a:ext cx="4649170" cy="3529958"/>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467544" y="274638"/>
            <a:ext cx="3312368" cy="1143000"/>
          </a:xfrm>
        </p:spPr>
        <p:txBody>
          <a:bodyPr>
            <a:normAutofit fontScale="90000"/>
          </a:bodyPr>
          <a:lstStyle/>
          <a:p>
            <a:pPr algn="l"/>
            <a:r>
              <a:rPr lang="tr-TR" sz="2000" b="1" dirty="0" smtClean="0">
                <a:solidFill>
                  <a:srgbClr val="FF0000"/>
                </a:solidFill>
              </a:rPr>
              <a:t>    </a:t>
            </a:r>
            <a:r>
              <a:rPr lang="tr-TR" sz="2800" b="1" dirty="0" smtClean="0">
                <a:solidFill>
                  <a:srgbClr val="FF0000"/>
                </a:solidFill>
              </a:rPr>
              <a:t>LEİSHMANİA TROPİCA</a:t>
            </a:r>
            <a:r>
              <a:rPr lang="tr-TR" sz="2000" b="1" dirty="0" smtClean="0">
                <a:solidFill>
                  <a:srgbClr val="FF0000"/>
                </a:solidFill>
              </a:rPr>
              <a:t/>
            </a:r>
            <a:br>
              <a:rPr lang="tr-TR" sz="2000" b="1" dirty="0" smtClean="0">
                <a:solidFill>
                  <a:srgbClr val="FF0000"/>
                </a:solidFill>
              </a:rPr>
            </a:br>
            <a:r>
              <a:rPr lang="tr-TR" sz="2000" b="1" dirty="0" smtClean="0">
                <a:solidFill>
                  <a:srgbClr val="FF0000"/>
                </a:solidFill>
              </a:rPr>
              <a:t> (ŞARK ÇIBANI,ANTEP ÇIBANI)</a:t>
            </a:r>
            <a:br>
              <a:rPr lang="tr-TR" sz="2000" b="1" dirty="0" smtClean="0">
                <a:solidFill>
                  <a:srgbClr val="FF0000"/>
                </a:solidFill>
              </a:rPr>
            </a:br>
            <a:r>
              <a:rPr lang="tr-TR" sz="2000" b="1" dirty="0" smtClean="0">
                <a:solidFill>
                  <a:srgbClr val="FF0000"/>
                </a:solidFill>
              </a:rPr>
              <a:t>         NEREDEN ISIRIR ?</a:t>
            </a:r>
            <a:endParaRPr lang="tr-TR" sz="2000" b="1" dirty="0">
              <a:solidFill>
                <a:srgbClr val="FF0000"/>
              </a:solidFill>
            </a:endParaRPr>
          </a:p>
        </p:txBody>
      </p:sp>
      <p:pic>
        <p:nvPicPr>
          <p:cNvPr id="3074" name="Picture 2" descr="C:\Users\Pc\Desktop\imagesBFLYSBQ5.jpg"/>
          <p:cNvPicPr>
            <a:picLocks noGrp="1" noChangeAspect="1" noChangeArrowheads="1"/>
          </p:cNvPicPr>
          <p:nvPr>
            <p:ph idx="4294967295"/>
          </p:nvPr>
        </p:nvPicPr>
        <p:blipFill>
          <a:blip r:embed="rId2" cstate="print"/>
          <a:srcRect/>
          <a:stretch>
            <a:fillRect/>
          </a:stretch>
        </p:blipFill>
        <p:spPr bwMode="auto">
          <a:xfrm>
            <a:off x="5099644" y="188640"/>
            <a:ext cx="3769073" cy="3312368"/>
          </a:xfrm>
          <a:prstGeom prst="rect">
            <a:avLst/>
          </a:prstGeom>
          <a:noFill/>
        </p:spPr>
      </p:pic>
      <p:pic>
        <p:nvPicPr>
          <p:cNvPr id="3075" name="Picture 3" descr="C:\Users\Pc\Desktop\untitled.png"/>
          <p:cNvPicPr>
            <a:picLocks noChangeAspect="1" noChangeArrowheads="1"/>
          </p:cNvPicPr>
          <p:nvPr/>
        </p:nvPicPr>
        <p:blipFill>
          <a:blip r:embed="rId3" cstate="print"/>
          <a:srcRect/>
          <a:stretch>
            <a:fillRect/>
          </a:stretch>
        </p:blipFill>
        <p:spPr bwMode="auto">
          <a:xfrm>
            <a:off x="539552" y="1988840"/>
            <a:ext cx="4399108" cy="3935360"/>
          </a:xfrm>
          <a:prstGeom prst="rect">
            <a:avLst/>
          </a:prstGeom>
          <a:noFill/>
        </p:spPr>
      </p:pic>
      <p:pic>
        <p:nvPicPr>
          <p:cNvPr id="3076" name="Picture 4" descr="C:\Users\Pc\Desktop\images74GHWPKH.jpg"/>
          <p:cNvPicPr>
            <a:picLocks noChangeAspect="1" noChangeArrowheads="1"/>
          </p:cNvPicPr>
          <p:nvPr/>
        </p:nvPicPr>
        <p:blipFill>
          <a:blip r:embed="rId4" cstate="print"/>
          <a:srcRect/>
          <a:stretch>
            <a:fillRect/>
          </a:stretch>
        </p:blipFill>
        <p:spPr bwMode="auto">
          <a:xfrm>
            <a:off x="5500694" y="3571876"/>
            <a:ext cx="3362331" cy="2857520"/>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4" name="Picture 4" descr="Leishmania-1"/>
          <p:cNvPicPr>
            <a:picLocks noChangeAspect="1" noChangeArrowheads="1"/>
          </p:cNvPicPr>
          <p:nvPr/>
        </p:nvPicPr>
        <p:blipFill>
          <a:blip r:embed="rId2" cstate="print"/>
          <a:srcRect/>
          <a:stretch>
            <a:fillRect/>
          </a:stretch>
        </p:blipFill>
        <p:spPr bwMode="auto">
          <a:xfrm>
            <a:off x="755576" y="764704"/>
            <a:ext cx="7566627" cy="5059376"/>
          </a:xfrm>
          <a:prstGeom prst="rect">
            <a:avLst/>
          </a:prstGeom>
          <a:noFill/>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500" name="Picture 4" descr="Leishmania-4"/>
          <p:cNvPicPr>
            <a:picLocks noChangeAspect="1" noChangeArrowheads="1"/>
          </p:cNvPicPr>
          <p:nvPr/>
        </p:nvPicPr>
        <p:blipFill>
          <a:blip r:embed="rId2" cstate="print"/>
          <a:srcRect/>
          <a:stretch>
            <a:fillRect/>
          </a:stretch>
        </p:blipFill>
        <p:spPr bwMode="auto">
          <a:xfrm>
            <a:off x="714348" y="500042"/>
            <a:ext cx="7775575" cy="5953143"/>
          </a:xfrm>
          <a:prstGeom prst="rect">
            <a:avLst/>
          </a:prstGeom>
          <a:noFill/>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c\Desktop\imagesH0NUDNHS.jpg"/>
          <p:cNvPicPr>
            <a:picLocks noGrp="1" noChangeAspect="1" noChangeArrowheads="1"/>
          </p:cNvPicPr>
          <p:nvPr>
            <p:ph idx="4294967295"/>
          </p:nvPr>
        </p:nvPicPr>
        <p:blipFill>
          <a:blip r:embed="rId2" cstate="print"/>
          <a:srcRect/>
          <a:stretch>
            <a:fillRect/>
          </a:stretch>
        </p:blipFill>
        <p:spPr bwMode="auto">
          <a:xfrm>
            <a:off x="1763688" y="260648"/>
            <a:ext cx="6140450" cy="3616325"/>
          </a:xfrm>
          <a:prstGeom prst="rect">
            <a:avLst/>
          </a:prstGeom>
          <a:noFill/>
        </p:spPr>
      </p:pic>
      <p:pic>
        <p:nvPicPr>
          <p:cNvPr id="4099" name="Picture 3" descr="C:\Users\Pc\Desktop\imagesKV0A5YXX.jpg"/>
          <p:cNvPicPr>
            <a:picLocks noChangeAspect="1" noChangeArrowheads="1"/>
          </p:cNvPicPr>
          <p:nvPr/>
        </p:nvPicPr>
        <p:blipFill>
          <a:blip r:embed="rId3" cstate="print"/>
          <a:srcRect/>
          <a:stretch>
            <a:fillRect/>
          </a:stretch>
        </p:blipFill>
        <p:spPr bwMode="auto">
          <a:xfrm>
            <a:off x="467544" y="3933056"/>
            <a:ext cx="6336704" cy="2571768"/>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188640"/>
            <a:ext cx="8712968" cy="6408712"/>
          </a:xfrm>
        </p:spPr>
        <p:txBody>
          <a:bodyPr>
            <a:normAutofit fontScale="92500" lnSpcReduction="10000"/>
          </a:bodyPr>
          <a:lstStyle/>
          <a:p>
            <a:pPr>
              <a:buNone/>
            </a:pPr>
            <a:r>
              <a:rPr lang="tr-TR" b="1" dirty="0" smtClean="0">
                <a:solidFill>
                  <a:srgbClr val="FF0000"/>
                </a:solidFill>
              </a:rPr>
              <a:t>PLASMODİUM VİVAX</a:t>
            </a:r>
            <a:r>
              <a:rPr lang="tr-TR" dirty="0" smtClean="0">
                <a:solidFill>
                  <a:srgbClr val="FF0000"/>
                </a:solidFill>
              </a:rPr>
              <a:t/>
            </a:r>
            <a:br>
              <a:rPr lang="tr-TR" dirty="0" smtClean="0">
                <a:solidFill>
                  <a:srgbClr val="FF0000"/>
                </a:solidFill>
              </a:rPr>
            </a:br>
            <a:r>
              <a:rPr lang="tr-TR" b="1" dirty="0" smtClean="0">
                <a:solidFill>
                  <a:srgbClr val="FF0000"/>
                </a:solidFill>
              </a:rPr>
              <a:t>SITMA</a:t>
            </a:r>
            <a:endParaRPr lang="tr-TR" b="1" dirty="0" smtClean="0"/>
          </a:p>
          <a:p>
            <a:pPr>
              <a:buNone/>
            </a:pPr>
            <a:endParaRPr lang="tr-TR" b="1" dirty="0" smtClean="0"/>
          </a:p>
          <a:p>
            <a:r>
              <a:rPr lang="tr-TR" b="1" dirty="0" err="1" smtClean="0"/>
              <a:t>Plasmodium</a:t>
            </a:r>
            <a:r>
              <a:rPr lang="tr-TR" b="1" dirty="0" smtClean="0"/>
              <a:t> </a:t>
            </a:r>
            <a:r>
              <a:rPr lang="tr-TR" b="1" dirty="0" err="1" smtClean="0"/>
              <a:t>vivax</a:t>
            </a:r>
            <a:endParaRPr lang="tr-TR" b="1" dirty="0" smtClean="0"/>
          </a:p>
          <a:p>
            <a:r>
              <a:rPr lang="tr-TR" b="1" dirty="0" smtClean="0"/>
              <a:t>Bir </a:t>
            </a:r>
            <a:r>
              <a:rPr lang="tr-TR" b="1" dirty="0" err="1" smtClean="0"/>
              <a:t>protozoon</a:t>
            </a:r>
            <a:r>
              <a:rPr lang="tr-TR" b="1" dirty="0" smtClean="0"/>
              <a:t>, parazit ve insan patojenidir</a:t>
            </a:r>
          </a:p>
          <a:p>
            <a:r>
              <a:rPr lang="tr-TR" b="1" i="1" dirty="0" smtClean="0"/>
              <a:t>P. </a:t>
            </a:r>
            <a:r>
              <a:rPr lang="tr-TR" b="1" i="1" dirty="0" err="1" smtClean="0"/>
              <a:t>vivax</a:t>
            </a:r>
            <a:r>
              <a:rPr lang="tr-TR" b="1" dirty="0" smtClean="0"/>
              <a:t>, anofel cinsi dişi sivrisinekler tarafından taşınır</a:t>
            </a:r>
          </a:p>
          <a:p>
            <a:r>
              <a:rPr lang="tr-TR" b="1" dirty="0" smtClean="0"/>
              <a:t>İnsan vücuduna dişi anofel cinsi sivrisinekler yolu ile bulaştırılan bir hastalıktır</a:t>
            </a:r>
          </a:p>
          <a:p>
            <a:r>
              <a:rPr lang="tr-TR" b="1" dirty="0" smtClean="0"/>
              <a:t>Dişi sivrisineğin ısırması ile bulaşan bu hastalık nöbetlerle ve yüksek ateşle kendisini belli eder</a:t>
            </a:r>
          </a:p>
          <a:p>
            <a:r>
              <a:rPr lang="tr-TR" b="1" dirty="0" smtClean="0"/>
              <a:t>Ülkemizde ise; Akdeniz ve Güneydoğu Anadolu bölgesinde fazlasıyla görülmektedir </a:t>
            </a:r>
          </a:p>
          <a:p>
            <a:pPr>
              <a:buNone/>
            </a:pPr>
            <a:endParaRPr lang="tr-TR" b="1" dirty="0" smtClean="0"/>
          </a:p>
        </p:txBody>
      </p:sp>
      <p:pic>
        <p:nvPicPr>
          <p:cNvPr id="5" name="Picture 2" descr="C:\Users\Pc\Desktop\p283-1 Plasmodium vivax young trophozoite with Schuffners stippling 1000X Armstrong.jpg"/>
          <p:cNvPicPr>
            <a:picLocks noChangeAspect="1" noChangeArrowheads="1"/>
          </p:cNvPicPr>
          <p:nvPr/>
        </p:nvPicPr>
        <p:blipFill>
          <a:blip r:embed="rId2" cstate="print"/>
          <a:srcRect/>
          <a:stretch>
            <a:fillRect/>
          </a:stretch>
        </p:blipFill>
        <p:spPr bwMode="auto">
          <a:xfrm>
            <a:off x="5724128" y="260648"/>
            <a:ext cx="2744366" cy="1855318"/>
          </a:xfrm>
          <a:prstGeom prst="rect">
            <a:avLst/>
          </a:prstGeom>
          <a:noFill/>
        </p:spPr>
      </p:pic>
      <p:pic>
        <p:nvPicPr>
          <p:cNvPr id="6" name="Picture 2" descr="C:\Users\Pc\Desktop\Plasmodium_vivax_01.png"/>
          <p:cNvPicPr>
            <a:picLocks noChangeAspect="1" noChangeArrowheads="1"/>
          </p:cNvPicPr>
          <p:nvPr/>
        </p:nvPicPr>
        <p:blipFill>
          <a:blip r:embed="rId3" cstate="print"/>
          <a:srcRect/>
          <a:stretch>
            <a:fillRect/>
          </a:stretch>
        </p:blipFill>
        <p:spPr bwMode="auto">
          <a:xfrm>
            <a:off x="3851920" y="260648"/>
            <a:ext cx="2137792" cy="1440160"/>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323528" y="274638"/>
            <a:ext cx="7906072" cy="1143000"/>
          </a:xfrm>
        </p:spPr>
        <p:txBody>
          <a:bodyPr>
            <a:noAutofit/>
          </a:bodyPr>
          <a:lstStyle/>
          <a:p>
            <a:r>
              <a:rPr lang="tr-TR" sz="2800" b="1" dirty="0" smtClean="0"/>
              <a:t/>
            </a:r>
            <a:br>
              <a:rPr lang="tr-TR" sz="2800" b="1" dirty="0" smtClean="0"/>
            </a:br>
            <a:r>
              <a:rPr lang="tr-TR" sz="2800" b="1" dirty="0" smtClean="0">
                <a:solidFill>
                  <a:srgbClr val="FF0000"/>
                </a:solidFill>
              </a:rPr>
              <a:t>ANOFEL  CİNSİ SİVRİSİNEKLERİN BAZILARI</a:t>
            </a:r>
            <a:br>
              <a:rPr lang="tr-TR" sz="2800" b="1" dirty="0" smtClean="0">
                <a:solidFill>
                  <a:srgbClr val="FF0000"/>
                </a:solidFill>
              </a:rPr>
            </a:br>
            <a:r>
              <a:rPr lang="tr-TR" sz="2800" b="1" dirty="0" smtClean="0">
                <a:solidFill>
                  <a:srgbClr val="FF0000"/>
                </a:solidFill>
              </a:rPr>
              <a:t> SITMAYA NEDEN OLAN PARAZİTİ  TAŞIMAKTADIR</a:t>
            </a:r>
            <a:br>
              <a:rPr lang="tr-TR" sz="2800" b="1" dirty="0" smtClean="0">
                <a:solidFill>
                  <a:srgbClr val="FF0000"/>
                </a:solidFill>
              </a:rPr>
            </a:br>
            <a:endParaRPr lang="tr-TR" sz="2800" b="1" dirty="0">
              <a:solidFill>
                <a:srgbClr val="FF0000"/>
              </a:solidFill>
            </a:endParaRPr>
          </a:p>
        </p:txBody>
      </p:sp>
      <p:pic>
        <p:nvPicPr>
          <p:cNvPr id="13314" name="Picture 2" descr="C:\Users\Pc\Desktop\1024px-Anopheles_stephensi.jpeg"/>
          <p:cNvPicPr>
            <a:picLocks noGrp="1" noChangeAspect="1" noChangeArrowheads="1"/>
          </p:cNvPicPr>
          <p:nvPr>
            <p:ph idx="4294967295"/>
          </p:nvPr>
        </p:nvPicPr>
        <p:blipFill>
          <a:blip r:embed="rId2" cstate="print"/>
          <a:srcRect/>
          <a:stretch>
            <a:fillRect/>
          </a:stretch>
        </p:blipFill>
        <p:spPr bwMode="auto">
          <a:xfrm>
            <a:off x="899592" y="1628800"/>
            <a:ext cx="7283450" cy="4822825"/>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260648"/>
            <a:ext cx="8568952" cy="6408712"/>
          </a:xfrm>
        </p:spPr>
        <p:txBody>
          <a:bodyPr>
            <a:normAutofit fontScale="85000" lnSpcReduction="20000"/>
          </a:bodyPr>
          <a:lstStyle/>
          <a:p>
            <a:pPr fontAlgn="t">
              <a:buNone/>
            </a:pPr>
            <a:r>
              <a:rPr lang="tr-TR" b="1" dirty="0" smtClean="0">
                <a:solidFill>
                  <a:srgbClr val="FF0000"/>
                </a:solidFill>
              </a:rPr>
              <a:t>			</a:t>
            </a:r>
            <a:r>
              <a:rPr lang="tr-TR" sz="5200" b="1" dirty="0" smtClean="0">
                <a:solidFill>
                  <a:srgbClr val="FF0000"/>
                </a:solidFill>
              </a:rPr>
              <a:t>HASTALIK BELİRTİLERİ</a:t>
            </a:r>
            <a:endParaRPr lang="tr-TR" sz="5200" b="1" dirty="0" smtClean="0"/>
          </a:p>
          <a:p>
            <a:pPr fontAlgn="t"/>
            <a:r>
              <a:rPr lang="tr-TR" b="1" dirty="0" smtClean="0"/>
              <a:t>Ateş</a:t>
            </a:r>
          </a:p>
          <a:p>
            <a:pPr fontAlgn="t"/>
            <a:r>
              <a:rPr lang="tr-TR" b="1" dirty="0" smtClean="0"/>
              <a:t>Titreme</a:t>
            </a:r>
          </a:p>
          <a:p>
            <a:pPr fontAlgn="t"/>
            <a:r>
              <a:rPr lang="tr-TR" b="1" dirty="0" smtClean="0"/>
              <a:t>Terleme</a:t>
            </a:r>
          </a:p>
          <a:p>
            <a:pPr fontAlgn="t"/>
            <a:r>
              <a:rPr lang="tr-TR" b="1" dirty="0" smtClean="0"/>
              <a:t>Baş ağrısı</a:t>
            </a:r>
          </a:p>
          <a:p>
            <a:pPr fontAlgn="t"/>
            <a:r>
              <a:rPr lang="tr-TR" b="1" dirty="0" smtClean="0"/>
              <a:t>Bulantı</a:t>
            </a:r>
          </a:p>
          <a:p>
            <a:pPr fontAlgn="t"/>
            <a:r>
              <a:rPr lang="tr-TR" b="1" dirty="0" smtClean="0"/>
              <a:t>Kusma</a:t>
            </a:r>
          </a:p>
          <a:p>
            <a:pPr fontAlgn="t"/>
            <a:r>
              <a:rPr lang="tr-TR" b="1" dirty="0" smtClean="0"/>
              <a:t>Kas ağrısı</a:t>
            </a:r>
          </a:p>
          <a:p>
            <a:r>
              <a:rPr lang="tr-TR" b="1" dirty="0" smtClean="0"/>
              <a:t>Uzun süreli geçirilen nöbetler bunların başında gelir</a:t>
            </a:r>
          </a:p>
          <a:p>
            <a:r>
              <a:rPr lang="tr-TR" b="1" dirty="0" smtClean="0"/>
              <a:t>Sıcak ,soğuk ,terleme dönemleri vardır</a:t>
            </a:r>
          </a:p>
          <a:p>
            <a:r>
              <a:rPr lang="tr-TR" b="1" dirty="0" smtClean="0"/>
              <a:t>Vücut titrer, dişler birbirine vurur</a:t>
            </a:r>
          </a:p>
          <a:p>
            <a:r>
              <a:rPr lang="tr-TR" b="1" dirty="0" smtClean="0"/>
              <a:t>Hasta bu dönemde halsiz,yorgun ve bitkin görünür</a:t>
            </a:r>
          </a:p>
          <a:p>
            <a:r>
              <a:rPr lang="tr-TR" b="1" dirty="0" smtClean="0"/>
              <a:t>Kansızlık diğer bir belirtidir</a:t>
            </a:r>
          </a:p>
          <a:p>
            <a:r>
              <a:rPr lang="tr-TR" b="1" dirty="0" smtClean="0"/>
              <a:t>Yüz soluk, </a:t>
            </a:r>
            <a:r>
              <a:rPr lang="tr-TR" b="1" dirty="0" err="1" smtClean="0"/>
              <a:t>Siyanozlu</a:t>
            </a:r>
            <a:endParaRPr lang="tr-TR" b="1" dirty="0" smtClean="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404664"/>
            <a:ext cx="8496944" cy="6192688"/>
          </a:xfrm>
        </p:spPr>
        <p:txBody>
          <a:bodyPr>
            <a:normAutofit fontScale="92500" lnSpcReduction="10000"/>
          </a:bodyPr>
          <a:lstStyle/>
          <a:p>
            <a:pPr>
              <a:buNone/>
            </a:pPr>
            <a:r>
              <a:rPr lang="tr-TR" b="1" dirty="0" smtClean="0"/>
              <a:t>			</a:t>
            </a:r>
            <a:r>
              <a:rPr lang="tr-TR" sz="4300" b="1" dirty="0" smtClean="0">
                <a:solidFill>
                  <a:srgbClr val="FF0000"/>
                </a:solidFill>
              </a:rPr>
              <a:t>HASTALIK BELİRTİLERİ</a:t>
            </a:r>
          </a:p>
          <a:p>
            <a:r>
              <a:rPr lang="tr-TR" b="1" dirty="0" smtClean="0"/>
              <a:t>İlerleyen zamanlarda yüksek ateş kendini iyiden iyiye belli eder ve baş ağrıları meydana gelir</a:t>
            </a:r>
          </a:p>
          <a:p>
            <a:r>
              <a:rPr lang="tr-TR" b="1" dirty="0" smtClean="0"/>
              <a:t>Bilinç kaybı başlar</a:t>
            </a:r>
          </a:p>
          <a:p>
            <a:r>
              <a:rPr lang="tr-TR" b="1" dirty="0" smtClean="0"/>
              <a:t>İç organlar ve deri gri siyah rengini alır</a:t>
            </a:r>
          </a:p>
          <a:p>
            <a:r>
              <a:rPr lang="tr-TR" b="1" dirty="0" smtClean="0"/>
              <a:t>Dalak büyük ve serttir</a:t>
            </a:r>
          </a:p>
          <a:p>
            <a:r>
              <a:rPr lang="tr-TR" b="1" dirty="0" smtClean="0"/>
              <a:t>İştah azalır ve son safhada solunum güçlüğü baş  göstermeye başlar</a:t>
            </a:r>
          </a:p>
          <a:p>
            <a:r>
              <a:rPr lang="tr-TR" b="1" dirty="0" smtClean="0"/>
              <a:t>Tedavi edilmediğinde nöbetler, bilinç bulanıklığı, böbrek yetmezliği, akut solunum sıkıntısı sendromu, HEPATOSPLENOMEGALİ, koma ve ölüm görülebilir</a:t>
            </a:r>
          </a:p>
          <a:p>
            <a:pPr>
              <a:buNone/>
            </a:pPr>
            <a:endParaRPr lang="tr-TR" b="1" dirty="0" smtClean="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Pc\Desktop\BmEGSeqIYAA_j95.jpg"/>
          <p:cNvPicPr>
            <a:picLocks noChangeAspect="1" noChangeArrowheads="1"/>
          </p:cNvPicPr>
          <p:nvPr/>
        </p:nvPicPr>
        <p:blipFill>
          <a:blip r:embed="rId2" cstate="print"/>
          <a:srcRect/>
          <a:stretch>
            <a:fillRect/>
          </a:stretch>
        </p:blipFill>
        <p:spPr bwMode="auto">
          <a:xfrm>
            <a:off x="971600" y="404664"/>
            <a:ext cx="6984776" cy="5807002"/>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
            </a:r>
            <a:br>
              <a:rPr lang="tr-TR" dirty="0" smtClean="0"/>
            </a:br>
            <a:r>
              <a:rPr lang="tr-TR" sz="4000" b="1" dirty="0" smtClean="0">
                <a:solidFill>
                  <a:srgbClr val="FF0000"/>
                </a:solidFill>
              </a:rPr>
              <a:t>18.06.2015 -GENÇ HOSTES YAŞAM MÜCADELESİ VERİYOR!</a:t>
            </a:r>
            <a:r>
              <a:rPr lang="tr-TR" b="1" dirty="0" smtClean="0">
                <a:solidFill>
                  <a:srgbClr val="FF0000"/>
                </a:solidFill>
              </a:rPr>
              <a:t/>
            </a:r>
            <a:br>
              <a:rPr lang="tr-TR" b="1" dirty="0" smtClean="0">
                <a:solidFill>
                  <a:srgbClr val="FF0000"/>
                </a:solidFill>
              </a:rPr>
            </a:br>
            <a:r>
              <a:rPr lang="tr-TR" dirty="0" smtClean="0">
                <a:solidFill>
                  <a:srgbClr val="FF0000"/>
                </a:solidFill>
              </a:rPr>
              <a:t> </a:t>
            </a:r>
            <a:endParaRPr lang="tr-TR" dirty="0">
              <a:solidFill>
                <a:srgbClr val="FF0000"/>
              </a:solidFill>
            </a:endParaRPr>
          </a:p>
        </p:txBody>
      </p:sp>
      <p:sp>
        <p:nvSpPr>
          <p:cNvPr id="3" name="2 İçerik Yer Tutucusu"/>
          <p:cNvSpPr>
            <a:spLocks noGrp="1"/>
          </p:cNvSpPr>
          <p:nvPr>
            <p:ph idx="1"/>
          </p:nvPr>
        </p:nvSpPr>
        <p:spPr/>
        <p:txBody>
          <a:bodyPr>
            <a:normAutofit/>
          </a:bodyPr>
          <a:lstStyle/>
          <a:p>
            <a:r>
              <a:rPr lang="tr-TR" sz="2600" b="1" dirty="0" smtClean="0"/>
              <a:t>Nijerya’da sıtma virüsüne yakalanıp, İstanbul'da gittiği hastanede 'Grip' teşhisiyle iki defa evine gönderilen THY Kabin Amiri Selda Durmaz, yaşam mücadelesi veriyor. Virüsün bütün vücuduna yayılması sonucu beyninde ödem oluşan ve solunum cihazına bağlı olarak yoğun bakımda tedavisi süren…..</a:t>
            </a:r>
          </a:p>
          <a:p>
            <a:pPr>
              <a:buNone/>
            </a:pPr>
            <a:endParaRPr lang="tr-TR" sz="2600" b="1" dirty="0" smtClean="0"/>
          </a:p>
          <a:p>
            <a:r>
              <a:rPr lang="tr-TR" sz="2600" dirty="0" smtClean="0"/>
              <a:t> </a:t>
            </a:r>
            <a:r>
              <a:rPr lang="tr-TR" sz="2600" b="1" dirty="0" smtClean="0"/>
              <a:t>24.06.2015</a:t>
            </a:r>
          </a:p>
          <a:p>
            <a:r>
              <a:rPr lang="tr-TR" sz="2600" b="1" dirty="0" smtClean="0"/>
              <a:t>THY kabin amiri Selda Durmaz hayatını kaybetti</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4000" b="1" dirty="0" smtClean="0">
                <a:solidFill>
                  <a:srgbClr val="FF0000"/>
                </a:solidFill>
              </a:rPr>
              <a:t>5 EYLÜL 2017 FİLDİŞİ SAHİLİ’NDEKİ ABİDJAN’A UÇTUĞU…</a:t>
            </a:r>
            <a:r>
              <a:rPr lang="tr-TR" b="1" dirty="0" smtClean="0">
                <a:solidFill>
                  <a:srgbClr val="FF0000"/>
                </a:solidFill>
              </a:rPr>
              <a:t>.</a:t>
            </a:r>
            <a:endParaRPr lang="tr-TR" b="1" dirty="0">
              <a:solidFill>
                <a:srgbClr val="FF0000"/>
              </a:solidFill>
            </a:endParaRPr>
          </a:p>
        </p:txBody>
      </p:sp>
      <p:pic>
        <p:nvPicPr>
          <p:cNvPr id="1026" name="Picture 2" descr="C:\Users\user\Desktop\hosteslerin-korkulu-ruyasi-sitma-288.jpg"/>
          <p:cNvPicPr>
            <a:picLocks noGrp="1" noChangeAspect="1" noChangeArrowheads="1"/>
          </p:cNvPicPr>
          <p:nvPr>
            <p:ph idx="1"/>
          </p:nvPr>
        </p:nvPicPr>
        <p:blipFill>
          <a:blip r:embed="rId2" cstate="print"/>
          <a:srcRect/>
          <a:stretch>
            <a:fillRect/>
          </a:stretch>
        </p:blipFill>
        <p:spPr bwMode="auto">
          <a:xfrm>
            <a:off x="755576" y="1988840"/>
            <a:ext cx="7829687" cy="3855528"/>
          </a:xfrm>
          <a:prstGeom prst="rect">
            <a:avLst/>
          </a:prstGeom>
          <a:noFill/>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260648"/>
            <a:ext cx="8496944" cy="6336704"/>
          </a:xfrm>
        </p:spPr>
        <p:txBody>
          <a:bodyPr>
            <a:normAutofit lnSpcReduction="10000"/>
          </a:bodyPr>
          <a:lstStyle/>
          <a:p>
            <a:pPr>
              <a:buNone/>
            </a:pPr>
            <a:r>
              <a:rPr lang="tr-TR" b="1" dirty="0" smtClean="0"/>
              <a:t>			</a:t>
            </a:r>
            <a:r>
              <a:rPr lang="tr-TR" sz="4000" b="1" dirty="0" smtClean="0">
                <a:solidFill>
                  <a:srgbClr val="FF0000"/>
                </a:solidFill>
              </a:rPr>
              <a:t>TEDAVİ VE KORUNMA</a:t>
            </a:r>
          </a:p>
          <a:p>
            <a:pPr>
              <a:buNone/>
            </a:pPr>
            <a:r>
              <a:rPr lang="tr-TR" sz="2800" b="1" dirty="0" smtClean="0"/>
              <a:t>Sıtma her zaman ciddi ve ölümcül olabilen bir hastalıktır</a:t>
            </a:r>
            <a:endParaRPr lang="tr-TR" sz="2800" b="1" dirty="0" smtClean="0">
              <a:solidFill>
                <a:srgbClr val="FF0000"/>
              </a:solidFill>
            </a:endParaRPr>
          </a:p>
          <a:p>
            <a:r>
              <a:rPr lang="tr-TR" sz="2800" b="1" dirty="0" smtClean="0"/>
              <a:t>Teşhisi kolaydır ve tedavisi mümkündür</a:t>
            </a:r>
          </a:p>
          <a:p>
            <a:r>
              <a:rPr lang="tr-TR" sz="2800" b="1" dirty="0" smtClean="0"/>
              <a:t>ilaçlar ve tedavi ücretsizdir</a:t>
            </a:r>
          </a:p>
          <a:p>
            <a:r>
              <a:rPr lang="tr-TR" sz="2800" b="1" dirty="0" smtClean="0"/>
              <a:t>Korunmada ilaçlama ve ıslak alanların kurutulması</a:t>
            </a:r>
          </a:p>
          <a:p>
            <a:r>
              <a:rPr lang="tr-TR" sz="2800" b="1" dirty="0" smtClean="0"/>
              <a:t>Vücuda sürülen </a:t>
            </a:r>
            <a:r>
              <a:rPr lang="tr-TR" sz="2800" b="1" dirty="0" err="1" smtClean="0"/>
              <a:t>repellentler</a:t>
            </a:r>
            <a:r>
              <a:rPr lang="tr-TR" sz="2800" b="1" dirty="0" smtClean="0"/>
              <a:t> önemlidir</a:t>
            </a:r>
          </a:p>
          <a:p>
            <a:r>
              <a:rPr lang="tr-TR" sz="2800" b="1" dirty="0" smtClean="0"/>
              <a:t>Uyunan odada böcek kovucular, uzun kollu giyecekler, uzun pantolonlar,</a:t>
            </a:r>
            <a:r>
              <a:rPr lang="tr-TR" sz="2800" dirty="0" smtClean="0"/>
              <a:t> </a:t>
            </a:r>
            <a:r>
              <a:rPr lang="tr-TR" sz="2800" b="1" dirty="0" smtClean="0"/>
              <a:t>cibinlik kullanmak</a:t>
            </a:r>
          </a:p>
          <a:p>
            <a:r>
              <a:rPr lang="tr-TR" sz="2800" b="1" dirty="0" smtClean="0"/>
              <a:t>Sıtma riski olan bölgede seyahat ederken veya son 1 yıl içerisinde böyle bir bölgeye seyahat geçmişi olan kişiler, ateş veya grip benzeri belirtiler gösterdiğinde hemen tıbbi yardım almalı ve seyahat geçmişi hakkında doktoruna mutlaka bilgi vermelidir</a:t>
            </a:r>
          </a:p>
          <a:p>
            <a:endParaRPr lang="tr-TR" sz="2800" b="1"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user\Desktop\biricik-askima-15-kirmizi-gul-at1839-1-3-1200x1200.jpg"/>
          <p:cNvPicPr>
            <a:picLocks noGrp="1" noChangeAspect="1" noChangeArrowheads="1"/>
          </p:cNvPicPr>
          <p:nvPr>
            <p:ph idx="4294967295"/>
          </p:nvPr>
        </p:nvPicPr>
        <p:blipFill>
          <a:blip r:embed="rId2" cstate="print"/>
          <a:srcRect/>
          <a:stretch>
            <a:fillRect/>
          </a:stretch>
        </p:blipFill>
        <p:spPr bwMode="auto">
          <a:xfrm>
            <a:off x="1835696" y="764704"/>
            <a:ext cx="5761037" cy="5145087"/>
          </a:xfrm>
          <a:prstGeom prst="rect">
            <a:avLst/>
          </a:prstGeom>
          <a:noFill/>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899592" y="274638"/>
            <a:ext cx="7330008" cy="994122"/>
          </a:xfrm>
        </p:spPr>
        <p:txBody>
          <a:bodyPr/>
          <a:lstStyle/>
          <a:p>
            <a:r>
              <a:rPr lang="tr-TR" b="1" dirty="0" smtClean="0">
                <a:solidFill>
                  <a:srgbClr val="FF0000"/>
                </a:solidFill>
              </a:rPr>
              <a:t>HELMİNTLER</a:t>
            </a:r>
            <a:endParaRPr lang="tr-TR" b="1" dirty="0">
              <a:solidFill>
                <a:srgbClr val="FF0000"/>
              </a:solidFill>
            </a:endParaRPr>
          </a:p>
        </p:txBody>
      </p:sp>
      <p:pic>
        <p:nvPicPr>
          <p:cNvPr id="1026" name="Picture 2" descr="C:\Users\casper\Desktop\r138958_475481.jpg"/>
          <p:cNvPicPr>
            <a:picLocks noChangeAspect="1" noChangeArrowheads="1"/>
          </p:cNvPicPr>
          <p:nvPr/>
        </p:nvPicPr>
        <p:blipFill>
          <a:blip r:embed="rId2" cstate="print"/>
          <a:srcRect/>
          <a:stretch>
            <a:fillRect/>
          </a:stretch>
        </p:blipFill>
        <p:spPr bwMode="auto">
          <a:xfrm>
            <a:off x="323528" y="1628800"/>
            <a:ext cx="3816424" cy="2736304"/>
          </a:xfrm>
          <a:prstGeom prst="rect">
            <a:avLst/>
          </a:prstGeom>
          <a:noFill/>
        </p:spPr>
      </p:pic>
      <p:pic>
        <p:nvPicPr>
          <p:cNvPr id="1027" name="Picture 3" descr="C:\Users\casper\Desktop\worms.jpg"/>
          <p:cNvPicPr>
            <a:picLocks noChangeAspect="1" noChangeArrowheads="1"/>
          </p:cNvPicPr>
          <p:nvPr/>
        </p:nvPicPr>
        <p:blipFill>
          <a:blip r:embed="rId3" cstate="print"/>
          <a:srcRect/>
          <a:stretch>
            <a:fillRect/>
          </a:stretch>
        </p:blipFill>
        <p:spPr bwMode="auto">
          <a:xfrm>
            <a:off x="4211960" y="3140968"/>
            <a:ext cx="4591050" cy="3345557"/>
          </a:xfrm>
          <a:prstGeom prst="rect">
            <a:avLst/>
          </a:prstGeom>
          <a:noFill/>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casper\Desktop\untitled.png"/>
          <p:cNvPicPr>
            <a:picLocks noChangeAspect="1" noChangeArrowheads="1"/>
          </p:cNvPicPr>
          <p:nvPr/>
        </p:nvPicPr>
        <p:blipFill>
          <a:blip r:embed="rId2" cstate="print"/>
          <a:srcRect/>
          <a:stretch>
            <a:fillRect/>
          </a:stretch>
        </p:blipFill>
        <p:spPr bwMode="auto">
          <a:xfrm>
            <a:off x="395536" y="692696"/>
            <a:ext cx="4824536" cy="3573766"/>
          </a:xfrm>
          <a:prstGeom prst="rect">
            <a:avLst/>
          </a:prstGeom>
          <a:noFill/>
        </p:spPr>
      </p:pic>
      <p:pic>
        <p:nvPicPr>
          <p:cNvPr id="1026" name="Picture 2" descr="C:\Users\casper\Desktop\abc60bagirsak-solucani.jpg"/>
          <p:cNvPicPr>
            <a:picLocks noChangeAspect="1" noChangeArrowheads="1"/>
          </p:cNvPicPr>
          <p:nvPr/>
        </p:nvPicPr>
        <p:blipFill>
          <a:blip r:embed="rId3" cstate="print"/>
          <a:srcRect/>
          <a:stretch>
            <a:fillRect/>
          </a:stretch>
        </p:blipFill>
        <p:spPr bwMode="auto">
          <a:xfrm>
            <a:off x="5278620" y="3356992"/>
            <a:ext cx="3541852" cy="3119164"/>
          </a:xfrm>
          <a:prstGeom prst="rect">
            <a:avLst/>
          </a:prstGeom>
          <a:noFill/>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260648"/>
            <a:ext cx="8712968" cy="6336704"/>
          </a:xfrm>
        </p:spPr>
        <p:txBody>
          <a:bodyPr>
            <a:normAutofit fontScale="70000" lnSpcReduction="20000"/>
          </a:bodyPr>
          <a:lstStyle/>
          <a:p>
            <a:pPr>
              <a:lnSpc>
                <a:spcPct val="90000"/>
              </a:lnSpc>
              <a:buNone/>
            </a:pPr>
            <a:r>
              <a:rPr lang="tr-TR" altLang="tr-TR" b="1" dirty="0" smtClean="0">
                <a:solidFill>
                  <a:srgbClr val="FF0000"/>
                </a:solidFill>
                <a:latin typeface="Calibri" pitchFamily="34" charset="0"/>
                <a:cs typeface="Times New Roman" pitchFamily="18" charset="0"/>
              </a:rPr>
              <a:t>		</a:t>
            </a:r>
            <a:r>
              <a:rPr lang="tr-TR" altLang="tr-TR" sz="3300" b="1" dirty="0" smtClean="0">
                <a:solidFill>
                  <a:srgbClr val="FF0000"/>
                </a:solidFill>
                <a:latin typeface="Calibri" pitchFamily="34" charset="0"/>
                <a:cs typeface="Times New Roman" pitchFamily="18" charset="0"/>
              </a:rPr>
              <a:t>	</a:t>
            </a:r>
            <a:r>
              <a:rPr lang="tr-TR" altLang="tr-TR" sz="3400" b="1" dirty="0" smtClean="0">
                <a:solidFill>
                  <a:srgbClr val="FF0000"/>
                </a:solidFill>
                <a:latin typeface="Calibri" pitchFamily="34" charset="0"/>
                <a:cs typeface="Times New Roman" pitchFamily="18" charset="0"/>
              </a:rPr>
              <a:t>VEKTÖR</a:t>
            </a:r>
          </a:p>
          <a:p>
            <a:pPr>
              <a:lnSpc>
                <a:spcPct val="90000"/>
              </a:lnSpc>
            </a:pPr>
            <a:r>
              <a:rPr lang="tr-TR" altLang="tr-TR" sz="3400" b="1" dirty="0" smtClean="0">
                <a:latin typeface="Calibri" pitchFamily="34" charset="0"/>
                <a:cs typeface="Times New Roman" pitchFamily="18" charset="0"/>
              </a:rPr>
              <a:t>Bir omurgalıdan diğer omurgalılara parazit taşıyan </a:t>
            </a:r>
            <a:r>
              <a:rPr lang="tr-TR" altLang="tr-TR" sz="3400" b="1" dirty="0" err="1" smtClean="0">
                <a:latin typeface="Calibri" pitchFamily="34" charset="0"/>
                <a:cs typeface="Times New Roman" pitchFamily="18" charset="0"/>
              </a:rPr>
              <a:t>artropod</a:t>
            </a:r>
            <a:r>
              <a:rPr lang="tr-TR" altLang="tr-TR" sz="3400" b="1" dirty="0" smtClean="0">
                <a:latin typeface="Calibri" pitchFamily="34" charset="0"/>
                <a:cs typeface="Times New Roman" pitchFamily="18" charset="0"/>
              </a:rPr>
              <a:t> veya omurgasız hayvana verilen isimdir </a:t>
            </a:r>
          </a:p>
          <a:p>
            <a:pPr>
              <a:lnSpc>
                <a:spcPct val="90000"/>
              </a:lnSpc>
              <a:buNone/>
            </a:pPr>
            <a:r>
              <a:rPr lang="tr-TR" altLang="tr-TR" sz="3400" b="1" dirty="0" smtClean="0">
                <a:solidFill>
                  <a:srgbClr val="FF0000"/>
                </a:solidFill>
                <a:latin typeface="Calibri" pitchFamily="34" charset="0"/>
                <a:cs typeface="Times New Roman" pitchFamily="18" charset="0"/>
              </a:rPr>
              <a:t>			</a:t>
            </a:r>
          </a:p>
          <a:p>
            <a:pPr>
              <a:lnSpc>
                <a:spcPct val="90000"/>
              </a:lnSpc>
              <a:buNone/>
            </a:pPr>
            <a:r>
              <a:rPr lang="tr-TR" altLang="tr-TR" sz="3400" b="1" dirty="0" smtClean="0">
                <a:solidFill>
                  <a:srgbClr val="FF0000"/>
                </a:solidFill>
                <a:latin typeface="Calibri" pitchFamily="34" charset="0"/>
                <a:cs typeface="Times New Roman" pitchFamily="18" charset="0"/>
              </a:rPr>
              <a:t>			BİYOLOJİK VEKTÖR</a:t>
            </a:r>
            <a:endParaRPr lang="tr-TR" altLang="tr-TR" sz="3400" b="1" dirty="0" smtClean="0">
              <a:latin typeface="Calibri" pitchFamily="34" charset="0"/>
              <a:cs typeface="Times New Roman" pitchFamily="18" charset="0"/>
            </a:endParaRPr>
          </a:p>
          <a:p>
            <a:pPr>
              <a:lnSpc>
                <a:spcPct val="90000"/>
              </a:lnSpc>
            </a:pPr>
            <a:r>
              <a:rPr lang="tr-TR" altLang="tr-TR" sz="3400" b="1" dirty="0" smtClean="0">
                <a:latin typeface="Calibri" pitchFamily="34" charset="0"/>
                <a:cs typeface="Times New Roman" pitchFamily="18" charset="0"/>
              </a:rPr>
              <a:t>Eğer bu vektör aynı zamanda parazitin ara konağı ise, buna </a:t>
            </a:r>
            <a:r>
              <a:rPr lang="tr-TR" altLang="tr-TR" sz="3400" b="1" dirty="0" smtClean="0">
                <a:solidFill>
                  <a:srgbClr val="FF0000"/>
                </a:solidFill>
                <a:latin typeface="Calibri" pitchFamily="34" charset="0"/>
                <a:cs typeface="Times New Roman" pitchFamily="18" charset="0"/>
              </a:rPr>
              <a:t>“Biyolojik vektör” </a:t>
            </a:r>
            <a:r>
              <a:rPr lang="tr-TR" altLang="tr-TR" sz="3400" b="1" dirty="0" smtClean="0">
                <a:latin typeface="Calibri" pitchFamily="34" charset="0"/>
                <a:cs typeface="Times New Roman" pitchFamily="18" charset="0"/>
              </a:rPr>
              <a:t>denir. </a:t>
            </a:r>
          </a:p>
          <a:p>
            <a:pPr>
              <a:lnSpc>
                <a:spcPct val="90000"/>
              </a:lnSpc>
            </a:pPr>
            <a:r>
              <a:rPr lang="tr-TR" altLang="tr-TR" sz="3400" b="1" dirty="0" smtClean="0">
                <a:latin typeface="Calibri" pitchFamily="34" charset="0"/>
                <a:cs typeface="Times New Roman" pitchFamily="18" charset="0"/>
              </a:rPr>
              <a:t>Örn: Sıtma etkeni </a:t>
            </a:r>
            <a:r>
              <a:rPr lang="tr-TR" altLang="tr-TR" sz="3400" b="1" dirty="0" err="1" smtClean="0">
                <a:latin typeface="Calibri" pitchFamily="34" charset="0"/>
                <a:cs typeface="Times New Roman" pitchFamily="18" charset="0"/>
              </a:rPr>
              <a:t>plazmodium’lar</a:t>
            </a:r>
            <a:r>
              <a:rPr lang="tr-TR" altLang="tr-TR" sz="3400" b="1" dirty="0" smtClean="0">
                <a:latin typeface="Calibri" pitchFamily="34" charset="0"/>
                <a:cs typeface="Times New Roman" pitchFamily="18" charset="0"/>
              </a:rPr>
              <a:t>, yaşam döngülerinin bir kısmını Anofel cinsi sivrisineklerde tamamlarlar ve sivrisineğin sokmasıyla insana bulaşırlar</a:t>
            </a:r>
          </a:p>
          <a:p>
            <a:pPr lvl="1">
              <a:lnSpc>
                <a:spcPct val="90000"/>
              </a:lnSpc>
              <a:buNone/>
            </a:pPr>
            <a:r>
              <a:rPr lang="tr-TR" altLang="tr-TR" sz="3400" b="1" dirty="0" smtClean="0">
                <a:latin typeface="Calibri" pitchFamily="34" charset="0"/>
                <a:cs typeface="Times New Roman" pitchFamily="18" charset="0"/>
              </a:rPr>
              <a:t> </a:t>
            </a:r>
          </a:p>
          <a:p>
            <a:pPr>
              <a:lnSpc>
                <a:spcPct val="90000"/>
              </a:lnSpc>
              <a:buNone/>
            </a:pPr>
            <a:r>
              <a:rPr lang="tr-TR" altLang="tr-TR" sz="3400" b="1" dirty="0" smtClean="0">
                <a:solidFill>
                  <a:srgbClr val="FF0000"/>
                </a:solidFill>
                <a:latin typeface="Calibri" pitchFamily="34" charset="0"/>
                <a:cs typeface="Times New Roman" pitchFamily="18" charset="0"/>
              </a:rPr>
              <a:t>			MEKANİK VEKTÖR</a:t>
            </a:r>
            <a:endParaRPr lang="tr-TR" altLang="tr-TR" sz="3400" b="1" dirty="0" smtClean="0">
              <a:latin typeface="Calibri" pitchFamily="34" charset="0"/>
              <a:cs typeface="Times New Roman" pitchFamily="18" charset="0"/>
            </a:endParaRPr>
          </a:p>
          <a:p>
            <a:pPr>
              <a:lnSpc>
                <a:spcPct val="90000"/>
              </a:lnSpc>
            </a:pPr>
            <a:r>
              <a:rPr lang="tr-TR" altLang="tr-TR" sz="3400" b="1" dirty="0" smtClean="0">
                <a:solidFill>
                  <a:srgbClr val="FF0000"/>
                </a:solidFill>
                <a:latin typeface="Calibri" pitchFamily="34" charset="0"/>
                <a:cs typeface="Times New Roman" pitchFamily="18" charset="0"/>
              </a:rPr>
              <a:t>“Mekanik vektör” </a:t>
            </a:r>
            <a:r>
              <a:rPr lang="tr-TR" altLang="tr-TR" sz="3400" b="1" dirty="0" smtClean="0">
                <a:latin typeface="Calibri" pitchFamily="34" charset="0"/>
                <a:cs typeface="Times New Roman" pitchFamily="18" charset="0"/>
              </a:rPr>
              <a:t>ise paraziti vücudunun dış yüzeyinde taşır ve bulaştırır</a:t>
            </a:r>
          </a:p>
          <a:p>
            <a:pPr>
              <a:lnSpc>
                <a:spcPct val="90000"/>
              </a:lnSpc>
            </a:pPr>
            <a:r>
              <a:rPr lang="tr-TR" altLang="tr-TR" sz="3400" b="1" dirty="0" smtClean="0">
                <a:latin typeface="Calibri" pitchFamily="34" charset="0"/>
                <a:cs typeface="Times New Roman" pitchFamily="18" charset="0"/>
              </a:rPr>
              <a:t>Örn: Karasineklerin bazı bakterileri besinlerin üzerine  taşıması gibi..</a:t>
            </a:r>
          </a:p>
          <a:p>
            <a:pPr>
              <a:lnSpc>
                <a:spcPct val="90000"/>
              </a:lnSpc>
              <a:buNone/>
            </a:pPr>
            <a:r>
              <a:rPr lang="tr-TR" altLang="tr-TR" sz="3400" b="1" dirty="0" smtClean="0">
                <a:solidFill>
                  <a:srgbClr val="FF0000"/>
                </a:solidFill>
                <a:latin typeface="Calibri" pitchFamily="34" charset="0"/>
                <a:cs typeface="Times New Roman" pitchFamily="18" charset="0"/>
              </a:rPr>
              <a:t>			</a:t>
            </a:r>
          </a:p>
          <a:p>
            <a:pPr>
              <a:lnSpc>
                <a:spcPct val="90000"/>
              </a:lnSpc>
              <a:buNone/>
            </a:pPr>
            <a:r>
              <a:rPr lang="tr-TR" altLang="tr-TR" sz="3400" b="1" dirty="0" smtClean="0">
                <a:solidFill>
                  <a:srgbClr val="FF0000"/>
                </a:solidFill>
                <a:latin typeface="Calibri" pitchFamily="34" charset="0"/>
                <a:cs typeface="Times New Roman" pitchFamily="18" charset="0"/>
              </a:rPr>
              <a:t>			REZERVUAR</a:t>
            </a:r>
            <a:endParaRPr lang="tr-TR" altLang="tr-TR" sz="3400" b="1" dirty="0" smtClean="0">
              <a:latin typeface="Calibri" pitchFamily="34" charset="0"/>
              <a:cs typeface="Times New Roman" pitchFamily="18" charset="0"/>
            </a:endParaRPr>
          </a:p>
          <a:p>
            <a:pPr>
              <a:lnSpc>
                <a:spcPct val="90000"/>
              </a:lnSpc>
            </a:pPr>
            <a:r>
              <a:rPr lang="tr-TR" altLang="tr-TR" sz="3400" b="1" dirty="0" smtClean="0">
                <a:latin typeface="Calibri" pitchFamily="34" charset="0"/>
                <a:cs typeface="Times New Roman" pitchFamily="18" charset="0"/>
              </a:rPr>
              <a:t>Parazit için doğada kaynak rolünü oynayan konak ya da konaklara </a:t>
            </a:r>
            <a:r>
              <a:rPr lang="tr-TR" altLang="tr-TR" sz="3400" b="1" dirty="0" smtClean="0">
                <a:solidFill>
                  <a:srgbClr val="FF0000"/>
                </a:solidFill>
                <a:latin typeface="Calibri" pitchFamily="34" charset="0"/>
                <a:cs typeface="Times New Roman" pitchFamily="18" charset="0"/>
              </a:rPr>
              <a:t>REZERVUAR</a:t>
            </a:r>
            <a:r>
              <a:rPr lang="tr-TR" altLang="tr-TR" sz="3400" b="1" dirty="0" smtClean="0">
                <a:latin typeface="Calibri" pitchFamily="34" charset="0"/>
                <a:cs typeface="Times New Roman" pitchFamily="18" charset="0"/>
              </a:rPr>
              <a:t> denir</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altLang="tr-TR" sz="4000" b="1" dirty="0" smtClean="0">
                <a:solidFill>
                  <a:srgbClr val="FF0000"/>
                </a:solidFill>
              </a:rPr>
              <a:t>PARAZİTLERİN KAYNAKLARI</a:t>
            </a:r>
            <a:endParaRPr lang="tr-TR" sz="4000" dirty="0">
              <a:solidFill>
                <a:srgbClr val="FF0000"/>
              </a:solidFill>
            </a:endParaRPr>
          </a:p>
        </p:txBody>
      </p:sp>
      <p:sp>
        <p:nvSpPr>
          <p:cNvPr id="3" name="2 İçerik Yer Tutucusu"/>
          <p:cNvSpPr>
            <a:spLocks noGrp="1"/>
          </p:cNvSpPr>
          <p:nvPr>
            <p:ph idx="1"/>
          </p:nvPr>
        </p:nvSpPr>
        <p:spPr/>
        <p:txBody>
          <a:bodyPr/>
          <a:lstStyle/>
          <a:p>
            <a:r>
              <a:rPr lang="tr-TR" altLang="tr-TR" b="1" u="sng" dirty="0" smtClean="0">
                <a:solidFill>
                  <a:srgbClr val="00B050"/>
                </a:solidFill>
                <a:latin typeface="Calibri" pitchFamily="34" charset="0"/>
                <a:cs typeface="Times New Roman" pitchFamily="18" charset="0"/>
              </a:rPr>
              <a:t>CANLI KAYNAKLAR</a:t>
            </a:r>
            <a:r>
              <a:rPr lang="tr-TR" altLang="tr-TR" b="1" dirty="0" smtClean="0">
                <a:solidFill>
                  <a:srgbClr val="00B050"/>
                </a:solidFill>
                <a:latin typeface="Calibri" pitchFamily="34" charset="0"/>
                <a:cs typeface="Times New Roman" pitchFamily="18" charset="0"/>
              </a:rPr>
              <a:t>: </a:t>
            </a:r>
            <a:r>
              <a:rPr lang="tr-TR" altLang="tr-TR" b="1" dirty="0" smtClean="0">
                <a:latin typeface="Calibri" pitchFamily="34" charset="0"/>
                <a:cs typeface="Times New Roman" pitchFamily="18" charset="0"/>
              </a:rPr>
              <a:t>İnsan ve hayvanlardır. Bunlar taşıyıcı veya hasta olabilirler. Parazitler insan veya hayvan vücudundan dışkı, idrar, balgam, </a:t>
            </a:r>
            <a:r>
              <a:rPr lang="tr-TR" altLang="tr-TR" b="1" dirty="0" err="1" smtClean="0">
                <a:latin typeface="Calibri" pitchFamily="34" charset="0"/>
                <a:cs typeface="Times New Roman" pitchFamily="18" charset="0"/>
              </a:rPr>
              <a:t>genital</a:t>
            </a:r>
            <a:r>
              <a:rPr lang="tr-TR" altLang="tr-TR" b="1" dirty="0" smtClean="0">
                <a:latin typeface="Calibri" pitchFamily="34" charset="0"/>
                <a:cs typeface="Times New Roman" pitchFamily="18" charset="0"/>
              </a:rPr>
              <a:t> organ salgıları, deri lezyonları veya kanla çıkabilir.</a:t>
            </a:r>
            <a:endParaRPr lang="tr-TR" altLang="tr-TR" b="1" u="sng" dirty="0" smtClean="0">
              <a:latin typeface="Calibri" pitchFamily="34" charset="0"/>
              <a:cs typeface="Times New Roman" pitchFamily="18" charset="0"/>
            </a:endParaRPr>
          </a:p>
          <a:p>
            <a:r>
              <a:rPr lang="tr-TR" altLang="tr-TR" b="1" u="sng" dirty="0" smtClean="0">
                <a:solidFill>
                  <a:srgbClr val="00B050"/>
                </a:solidFill>
                <a:latin typeface="Calibri" pitchFamily="34" charset="0"/>
                <a:cs typeface="Times New Roman" pitchFamily="18" charset="0"/>
              </a:rPr>
              <a:t>CANSIZ KAYNAKLAR</a:t>
            </a:r>
            <a:r>
              <a:rPr lang="tr-TR" altLang="tr-TR" b="1" dirty="0" smtClean="0">
                <a:solidFill>
                  <a:srgbClr val="00B050"/>
                </a:solidFill>
                <a:latin typeface="Calibri" pitchFamily="34" charset="0"/>
                <a:cs typeface="Times New Roman" pitchFamily="18" charset="0"/>
              </a:rPr>
              <a:t>: </a:t>
            </a:r>
            <a:r>
              <a:rPr lang="tr-TR" altLang="tr-TR" b="1" dirty="0" smtClean="0">
                <a:latin typeface="Calibri" pitchFamily="34" charset="0"/>
                <a:cs typeface="Times New Roman" pitchFamily="18" charset="0"/>
              </a:rPr>
              <a:t>Toprak, barınak, giyim eşyası gibi maddelerdir.</a:t>
            </a:r>
          </a:p>
          <a:p>
            <a:endParaRPr lang="tr-TR" b="1"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SINIFLAMA</a:t>
            </a:r>
            <a:endParaRPr lang="tr-TR" b="1" dirty="0">
              <a:solidFill>
                <a:srgbClr val="FF0000"/>
              </a:solidFill>
            </a:endParaRPr>
          </a:p>
        </p:txBody>
      </p:sp>
      <p:sp>
        <p:nvSpPr>
          <p:cNvPr id="3" name="2 İçerik Yer Tutucusu"/>
          <p:cNvSpPr>
            <a:spLocks noGrp="1"/>
          </p:cNvSpPr>
          <p:nvPr>
            <p:ph idx="1"/>
          </p:nvPr>
        </p:nvSpPr>
        <p:spPr/>
        <p:txBody>
          <a:bodyPr/>
          <a:lstStyle/>
          <a:p>
            <a:pPr>
              <a:buNone/>
            </a:pPr>
            <a:endParaRPr lang="tr-TR" b="1" dirty="0" smtClean="0"/>
          </a:p>
          <a:p>
            <a:r>
              <a:rPr lang="tr-TR" b="1" dirty="0" err="1" smtClean="0"/>
              <a:t>Trematodlar</a:t>
            </a:r>
            <a:r>
              <a:rPr lang="tr-TR" b="1" dirty="0" smtClean="0"/>
              <a:t>    ( Yassı-yapraksı solucanlar)</a:t>
            </a:r>
          </a:p>
          <a:p>
            <a:r>
              <a:rPr lang="tr-TR" b="1" dirty="0" err="1" smtClean="0"/>
              <a:t>Sestodlar</a:t>
            </a:r>
            <a:r>
              <a:rPr lang="tr-TR" b="1" dirty="0" smtClean="0"/>
              <a:t>         ( Şeritler-tenyalar)</a:t>
            </a:r>
          </a:p>
          <a:p>
            <a:r>
              <a:rPr lang="tr-TR" b="1" dirty="0" err="1" smtClean="0"/>
              <a:t>Nematodlar</a:t>
            </a:r>
            <a:r>
              <a:rPr lang="tr-TR" b="1" dirty="0" smtClean="0"/>
              <a:t>     ( Yuvarlak  Solucanlar)</a:t>
            </a:r>
          </a:p>
          <a:p>
            <a:endParaRPr lang="tr-TR" b="1" dirty="0" smtClean="0"/>
          </a:p>
          <a:p>
            <a:endParaRPr lang="tr-TR" b="1"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332656"/>
            <a:ext cx="8712968" cy="6264696"/>
          </a:xfrm>
        </p:spPr>
        <p:txBody>
          <a:bodyPr>
            <a:normAutofit fontScale="77500" lnSpcReduction="20000"/>
          </a:bodyPr>
          <a:lstStyle/>
          <a:p>
            <a:pPr>
              <a:buNone/>
            </a:pPr>
            <a:r>
              <a:rPr lang="tr-TR" altLang="tr-TR" b="1" dirty="0" smtClean="0"/>
              <a:t>			</a:t>
            </a:r>
            <a:r>
              <a:rPr lang="tr-TR" altLang="tr-TR" sz="4300" b="1" dirty="0" smtClean="0">
                <a:solidFill>
                  <a:srgbClr val="FF0000"/>
                </a:solidFill>
              </a:rPr>
              <a:t>	HELMİNTLER</a:t>
            </a:r>
          </a:p>
          <a:p>
            <a:r>
              <a:rPr lang="tr-TR" altLang="tr-TR" sz="3300" b="1" dirty="0" err="1" smtClean="0"/>
              <a:t>Helmintler</a:t>
            </a:r>
            <a:r>
              <a:rPr lang="tr-TR" altLang="tr-TR" sz="3300" b="1" dirty="0" smtClean="0"/>
              <a:t>, diğer adlarıyla</a:t>
            </a:r>
            <a:r>
              <a:rPr lang="tr-TR" altLang="tr-TR" sz="3300" b="1" dirty="0" smtClean="0">
                <a:solidFill>
                  <a:srgbClr val="FF0000"/>
                </a:solidFill>
              </a:rPr>
              <a:t> solucanlar</a:t>
            </a:r>
            <a:r>
              <a:rPr lang="tr-TR" altLang="tr-TR" sz="3300" b="1" dirty="0" smtClean="0"/>
              <a:t>, omurgasız, çok hücreli organizmalardır</a:t>
            </a:r>
          </a:p>
          <a:p>
            <a:r>
              <a:rPr lang="tr-TR" sz="3400" b="1" dirty="0" err="1" smtClean="0"/>
              <a:t>Ökaryotik</a:t>
            </a:r>
            <a:r>
              <a:rPr lang="tr-TR" sz="3400" b="1" dirty="0" smtClean="0"/>
              <a:t> parazitler</a:t>
            </a:r>
            <a:endParaRPr lang="tr-TR" altLang="tr-TR" sz="3400" b="1" dirty="0" smtClean="0"/>
          </a:p>
          <a:p>
            <a:r>
              <a:rPr lang="tr-TR" sz="3300" b="1" dirty="0" smtClean="0"/>
              <a:t>Hücreleri dokular ve organlar yapmak üzere özelleşmiş,her iki tarafı simetrik, eklemli eklentileri olmayan parazit olarak yaşayan hastalık etkenleridir</a:t>
            </a:r>
            <a:endParaRPr lang="tr-TR" altLang="tr-TR" sz="3300" b="1" dirty="0" smtClean="0"/>
          </a:p>
          <a:p>
            <a:r>
              <a:rPr lang="tr-TR" altLang="tr-TR" sz="3300" b="1" dirty="0" smtClean="0"/>
              <a:t>Gözle görülebilir olmaları ve hayat döngülerinin farklı olmasıyla diğer </a:t>
            </a:r>
            <a:r>
              <a:rPr lang="tr-TR" altLang="tr-TR" sz="3300" b="1" dirty="0" err="1" smtClean="0"/>
              <a:t>infeksiyon</a:t>
            </a:r>
            <a:r>
              <a:rPr lang="tr-TR" altLang="tr-TR" sz="3300" b="1" dirty="0" smtClean="0"/>
              <a:t> etkenlerinden ayrılmaktadırlar</a:t>
            </a:r>
          </a:p>
          <a:p>
            <a:r>
              <a:rPr lang="tr-TR" altLang="tr-TR" sz="3300" b="1" dirty="0" smtClean="0"/>
              <a:t>Boyları birkaç mm ile 10 m arasında değişebilen </a:t>
            </a:r>
            <a:r>
              <a:rPr lang="tr-TR" altLang="tr-TR" sz="3300" b="1" dirty="0" err="1" smtClean="0"/>
              <a:t>helmintler</a:t>
            </a:r>
            <a:r>
              <a:rPr lang="tr-TR" altLang="tr-TR" sz="3300" b="1" dirty="0" smtClean="0"/>
              <a:t> karmaşık bir yapıya sahiptirler </a:t>
            </a:r>
          </a:p>
          <a:p>
            <a:r>
              <a:rPr lang="tr-TR" altLang="tr-TR" sz="3300" b="1" dirty="0" smtClean="0"/>
              <a:t>Genellikle, sindirim enzimlerine dayanıklı </a:t>
            </a:r>
            <a:r>
              <a:rPr lang="tr-TR" altLang="tr-TR" sz="3300" b="1" dirty="0" err="1" smtClean="0">
                <a:solidFill>
                  <a:srgbClr val="FF0000"/>
                </a:solidFill>
              </a:rPr>
              <a:t>kutikula</a:t>
            </a:r>
            <a:r>
              <a:rPr lang="tr-TR" altLang="tr-TR" sz="3300" b="1" dirty="0" smtClean="0"/>
              <a:t> adı verilen bir yapıyla örtülmüşlerdir</a:t>
            </a:r>
          </a:p>
          <a:p>
            <a:r>
              <a:rPr lang="tr-TR" altLang="tr-TR" sz="3300" b="1" dirty="0" err="1" smtClean="0"/>
              <a:t>Helmintlerin</a:t>
            </a:r>
            <a:r>
              <a:rPr lang="tr-TR" altLang="tr-TR" sz="3300" b="1" dirty="0" smtClean="0"/>
              <a:t> üzerinde konak dokulara girip yapışmayı sağlayan çeşitli organlar bulunmaktadır.</a:t>
            </a:r>
          </a:p>
          <a:p>
            <a:endParaRPr lang="tr-TR" sz="3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260648"/>
            <a:ext cx="8784976" cy="6336704"/>
          </a:xfrm>
        </p:spPr>
        <p:txBody>
          <a:bodyPr>
            <a:normAutofit/>
          </a:bodyPr>
          <a:lstStyle/>
          <a:p>
            <a:pPr>
              <a:buNone/>
            </a:pPr>
            <a:r>
              <a:rPr lang="tr-TR" b="1" dirty="0" smtClean="0">
                <a:solidFill>
                  <a:srgbClr val="FF0000"/>
                </a:solidFill>
              </a:rPr>
              <a:t>				</a:t>
            </a:r>
            <a:r>
              <a:rPr lang="tr-TR" sz="4000" b="1" dirty="0" smtClean="0">
                <a:solidFill>
                  <a:srgbClr val="FF0000"/>
                </a:solidFill>
              </a:rPr>
              <a:t>HELMİNTLER</a:t>
            </a:r>
            <a:endParaRPr lang="tr-TR" sz="4000" b="1" dirty="0" smtClean="0"/>
          </a:p>
          <a:p>
            <a:r>
              <a:rPr lang="tr-TR" sz="2800" b="1" dirty="0" smtClean="0"/>
              <a:t>Ülkemizde hala önemli bir halk sorunu olmaya devam eden,klinik belirti veren,korunma yolları olan  hastalık etkenleridir</a:t>
            </a:r>
          </a:p>
          <a:p>
            <a:r>
              <a:rPr lang="tr-TR" sz="2800" b="1" dirty="0" smtClean="0"/>
              <a:t>İnsanlarda yerleşirler</a:t>
            </a:r>
          </a:p>
          <a:p>
            <a:r>
              <a:rPr lang="tr-TR" sz="2800" b="1" dirty="0" smtClean="0"/>
              <a:t>Dokulara tutunmalarını sağlayan çıkıntıları vardır</a:t>
            </a:r>
          </a:p>
          <a:p>
            <a:r>
              <a:rPr lang="tr-TR" sz="2800" b="1" dirty="0" smtClean="0"/>
              <a:t>Hastalık yaparlar</a:t>
            </a:r>
          </a:p>
          <a:p>
            <a:r>
              <a:rPr lang="tr-TR" sz="2800" b="1" dirty="0" smtClean="0"/>
              <a:t>Bu organizmalar solucan şeklindedir ve konakta yaşar ve oradan beslenir</a:t>
            </a:r>
          </a:p>
          <a:p>
            <a:r>
              <a:rPr lang="tr-TR" sz="2800" b="1" dirty="0" smtClean="0"/>
              <a:t>Konaktan aldığı besinlerle organizmanın beslenmesini zarara uğratırlar</a:t>
            </a:r>
          </a:p>
          <a:p>
            <a:r>
              <a:rPr lang="tr-TR" sz="2800" b="1" dirty="0" smtClean="0"/>
              <a:t>Bu tür canlılar hayvanlarda ve insanlarda yaşarlar</a:t>
            </a:r>
          </a:p>
          <a:p>
            <a:pPr>
              <a:buNone/>
            </a:pPr>
            <a:endParaRPr lang="tr-TR" sz="2800" b="1" dirty="0" smtClean="0"/>
          </a:p>
          <a:p>
            <a:endParaRPr lang="tr-TR" sz="2800" b="1"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260648"/>
            <a:ext cx="8568952" cy="6264696"/>
          </a:xfrm>
        </p:spPr>
        <p:txBody>
          <a:bodyPr>
            <a:normAutofit/>
          </a:bodyPr>
          <a:lstStyle/>
          <a:p>
            <a:pPr>
              <a:buNone/>
            </a:pPr>
            <a:r>
              <a:rPr lang="tr-TR" dirty="0" smtClean="0"/>
              <a:t>				</a:t>
            </a:r>
            <a:r>
              <a:rPr lang="tr-TR" sz="4000" b="1" dirty="0" smtClean="0">
                <a:solidFill>
                  <a:srgbClr val="FF0000"/>
                </a:solidFill>
              </a:rPr>
              <a:t>HELMİNTLER</a:t>
            </a:r>
            <a:r>
              <a:rPr lang="tr-TR" dirty="0" smtClean="0"/>
              <a:t>	</a:t>
            </a:r>
          </a:p>
          <a:p>
            <a:pPr>
              <a:buNone/>
            </a:pPr>
            <a:r>
              <a:rPr lang="tr-TR" b="1" dirty="0" smtClean="0"/>
              <a:t>		</a:t>
            </a:r>
            <a:r>
              <a:rPr lang="tr-TR" b="1" dirty="0" smtClean="0">
                <a:solidFill>
                  <a:srgbClr val="7030A0"/>
                </a:solidFill>
              </a:rPr>
              <a:t>BULAŞMA YOLLARI</a:t>
            </a:r>
          </a:p>
          <a:p>
            <a:pPr>
              <a:buNone/>
            </a:pPr>
            <a:r>
              <a:rPr lang="tr-TR" b="1" dirty="0" smtClean="0"/>
              <a:t>Çiğ yenen besin maddeleri</a:t>
            </a:r>
          </a:p>
          <a:p>
            <a:pPr>
              <a:buNone/>
            </a:pPr>
            <a:r>
              <a:rPr lang="tr-TR" b="1" dirty="0" smtClean="0"/>
              <a:t>Dışkı ile kirlenmiş toprak, Su</a:t>
            </a:r>
          </a:p>
          <a:p>
            <a:pPr>
              <a:buNone/>
            </a:pPr>
            <a:r>
              <a:rPr lang="tr-TR" b="1" dirty="0" err="1" smtClean="0"/>
              <a:t>Perianal</a:t>
            </a:r>
            <a:r>
              <a:rPr lang="tr-TR" b="1" dirty="0" smtClean="0"/>
              <a:t> bölgeden bulaş</a:t>
            </a:r>
          </a:p>
          <a:p>
            <a:pPr>
              <a:buNone/>
            </a:pPr>
            <a:r>
              <a:rPr lang="tr-TR" b="1" dirty="0" smtClean="0"/>
              <a:t>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188640"/>
            <a:ext cx="8712968" cy="6336704"/>
          </a:xfrm>
        </p:spPr>
        <p:txBody>
          <a:bodyPr>
            <a:normAutofit fontScale="85000" lnSpcReduction="10000"/>
          </a:bodyPr>
          <a:lstStyle/>
          <a:p>
            <a:pPr>
              <a:buNone/>
            </a:pPr>
            <a:r>
              <a:rPr lang="tr-TR" b="1" dirty="0" smtClean="0">
                <a:solidFill>
                  <a:srgbClr val="7030A0"/>
                </a:solidFill>
              </a:rPr>
              <a:t>			</a:t>
            </a:r>
            <a:r>
              <a:rPr lang="tr-TR" sz="4700" b="1" dirty="0" smtClean="0">
                <a:solidFill>
                  <a:srgbClr val="7030A0"/>
                </a:solidFill>
              </a:rPr>
              <a:t>    TANI YÖNTEMLERİ</a:t>
            </a:r>
            <a:endParaRPr lang="tr-TR" sz="4700" dirty="0" smtClean="0"/>
          </a:p>
          <a:p>
            <a:pPr>
              <a:buNone/>
            </a:pPr>
            <a:r>
              <a:rPr lang="tr-TR" b="1" dirty="0" smtClean="0"/>
              <a:t>Farklı günlerde alınan en az üç dışkı örneği ve </a:t>
            </a:r>
            <a:r>
              <a:rPr lang="tr-TR" b="1" dirty="0" err="1" smtClean="0"/>
              <a:t>perianal</a:t>
            </a:r>
            <a:r>
              <a:rPr lang="tr-TR" b="1" dirty="0" smtClean="0"/>
              <a:t> materyal incelenmelidir</a:t>
            </a:r>
          </a:p>
          <a:p>
            <a:pPr>
              <a:buNone/>
            </a:pPr>
            <a:r>
              <a:rPr lang="nb-NO" b="1" dirty="0" smtClean="0"/>
              <a:t>Rutin incelemesinde etken saptanamadığı hallerde</a:t>
            </a:r>
            <a:endParaRPr lang="tr-TR" b="1" dirty="0" smtClean="0"/>
          </a:p>
          <a:p>
            <a:pPr>
              <a:buNone/>
            </a:pPr>
            <a:r>
              <a:rPr lang="tr-TR" b="1" dirty="0" smtClean="0"/>
              <a:t>Antijen arama yöntemlerine başvurulur</a:t>
            </a:r>
          </a:p>
          <a:p>
            <a:pPr>
              <a:buNone/>
            </a:pPr>
            <a:r>
              <a:rPr lang="tr-TR" b="1" dirty="0" err="1" smtClean="0"/>
              <a:t>Floresan</a:t>
            </a:r>
            <a:r>
              <a:rPr lang="tr-TR" b="1" dirty="0" smtClean="0"/>
              <a:t> mikroskobu kullanılır</a:t>
            </a:r>
          </a:p>
          <a:p>
            <a:pPr>
              <a:buNone/>
            </a:pPr>
            <a:r>
              <a:rPr lang="tr-TR" b="1" dirty="0" smtClean="0"/>
              <a:t>Pozitif bulunması “kesin tanı” bulgusudur</a:t>
            </a:r>
          </a:p>
          <a:p>
            <a:r>
              <a:rPr lang="tr-TR" b="1" dirty="0" smtClean="0"/>
              <a:t>Son yıllarda bağırsak parazitlerinin tanısında</a:t>
            </a:r>
          </a:p>
          <a:p>
            <a:r>
              <a:rPr lang="tr-TR" b="1" dirty="0" smtClean="0"/>
              <a:t>Direkt </a:t>
            </a:r>
            <a:r>
              <a:rPr lang="tr-TR" b="1" dirty="0" err="1" smtClean="0"/>
              <a:t>floresan</a:t>
            </a:r>
            <a:r>
              <a:rPr lang="tr-TR" b="1" dirty="0" smtClean="0"/>
              <a:t> antikor (DFA)</a:t>
            </a:r>
          </a:p>
          <a:p>
            <a:r>
              <a:rPr lang="tr-TR" b="1" dirty="0" smtClean="0"/>
              <a:t>Enzim </a:t>
            </a:r>
            <a:r>
              <a:rPr lang="tr-TR" b="1" dirty="0" err="1" smtClean="0"/>
              <a:t>immun</a:t>
            </a:r>
            <a:r>
              <a:rPr lang="tr-TR" b="1" dirty="0" smtClean="0"/>
              <a:t> </a:t>
            </a:r>
            <a:r>
              <a:rPr lang="tr-TR" b="1" dirty="0" err="1" smtClean="0"/>
              <a:t>assay</a:t>
            </a:r>
            <a:r>
              <a:rPr lang="tr-TR" b="1" dirty="0" smtClean="0"/>
              <a:t> (EIA, ELISA)</a:t>
            </a:r>
          </a:p>
          <a:p>
            <a:r>
              <a:rPr lang="tr-TR" b="1" dirty="0" err="1" smtClean="0"/>
              <a:t>Polimeraz</a:t>
            </a:r>
            <a:r>
              <a:rPr lang="tr-TR" b="1" dirty="0" smtClean="0"/>
              <a:t> zincir reaksiyonu (PCR) </a:t>
            </a:r>
          </a:p>
          <a:p>
            <a:pPr lvl="1"/>
            <a:r>
              <a:rPr lang="tr-TR" b="1" dirty="0" smtClean="0"/>
              <a:t>gibi </a:t>
            </a:r>
            <a:r>
              <a:rPr lang="tr-TR" b="1" dirty="0" err="1" smtClean="0"/>
              <a:t>mikroskobiye</a:t>
            </a:r>
            <a:r>
              <a:rPr lang="tr-TR" b="1" dirty="0" smtClean="0"/>
              <a:t> ihtiyaç duyulmayan yöntemlerin kullanımının artması </a:t>
            </a:r>
          </a:p>
          <a:p>
            <a:pPr lvl="1"/>
            <a:r>
              <a:rPr lang="tr-TR" b="1" dirty="0" smtClean="0"/>
              <a:t>Son yıllarda klasik dışkı bakısını önemli ölçüde azaltmıştır</a:t>
            </a:r>
            <a:endParaRPr lang="tr-TR" b="1"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TAENİA SAGİNATA</a:t>
            </a:r>
            <a:br>
              <a:rPr lang="tr-TR" b="1" dirty="0" smtClean="0">
                <a:solidFill>
                  <a:srgbClr val="FF0000"/>
                </a:solidFill>
              </a:rPr>
            </a:br>
            <a:r>
              <a:rPr lang="tr-TR" b="1" dirty="0" smtClean="0">
                <a:solidFill>
                  <a:srgbClr val="FF0000"/>
                </a:solidFill>
              </a:rPr>
              <a:t>(sığır şeridi,abdest bozan)</a:t>
            </a:r>
            <a:endParaRPr lang="tr-TR" b="1" dirty="0">
              <a:solidFill>
                <a:srgbClr val="FF0000"/>
              </a:solidFill>
            </a:endParaRPr>
          </a:p>
        </p:txBody>
      </p:sp>
      <p:sp>
        <p:nvSpPr>
          <p:cNvPr id="3" name="2 İçerik Yer Tutucusu"/>
          <p:cNvSpPr>
            <a:spLocks noGrp="1"/>
          </p:cNvSpPr>
          <p:nvPr>
            <p:ph idx="1"/>
          </p:nvPr>
        </p:nvSpPr>
        <p:spPr>
          <a:xfrm>
            <a:off x="457200" y="1600200"/>
            <a:ext cx="8229600" cy="4853136"/>
          </a:xfrm>
        </p:spPr>
        <p:txBody>
          <a:bodyPr/>
          <a:lstStyle/>
          <a:p>
            <a:r>
              <a:rPr lang="tr-TR" b="1" dirty="0" smtClean="0"/>
              <a:t>Halk arasında sığır şeridi,abdest bozan olarak da bilinir</a:t>
            </a:r>
          </a:p>
          <a:p>
            <a:r>
              <a:rPr lang="tr-TR" b="1" dirty="0" smtClean="0"/>
              <a:t>İnsanların ince </a:t>
            </a:r>
            <a:r>
              <a:rPr lang="tr-TR" b="1" dirty="0" err="1" smtClean="0"/>
              <a:t>barsaklarında</a:t>
            </a:r>
            <a:r>
              <a:rPr lang="tr-TR" b="1" dirty="0" smtClean="0"/>
              <a:t> yaşar</a:t>
            </a:r>
          </a:p>
          <a:p>
            <a:r>
              <a:rPr lang="tr-TR" b="1" dirty="0" smtClean="0"/>
              <a:t>5-10 metre boyunda olabilir</a:t>
            </a:r>
          </a:p>
          <a:p>
            <a:r>
              <a:rPr lang="tr-TR" b="1" dirty="0" smtClean="0"/>
              <a:t>Sığırlar ara konak olarak görev yaparlar</a:t>
            </a:r>
          </a:p>
          <a:p>
            <a:r>
              <a:rPr lang="tr-TR" b="1" dirty="0" smtClean="0"/>
              <a:t>Son konak insandır</a:t>
            </a:r>
          </a:p>
          <a:p>
            <a:pPr>
              <a:buNone/>
            </a:pPr>
            <a:endParaRPr lang="tr-TR" b="1" dirty="0" smtClean="0"/>
          </a:p>
          <a:p>
            <a:pPr>
              <a:buNone/>
            </a:pPr>
            <a:endParaRPr lang="tr-TR" b="1" dirty="0" smtClean="0"/>
          </a:p>
        </p:txBody>
      </p:sp>
      <p:pic>
        <p:nvPicPr>
          <p:cNvPr id="4" name="Picture 2"/>
          <p:cNvPicPr>
            <a:picLocks noChangeAspect="1" noChangeArrowheads="1"/>
          </p:cNvPicPr>
          <p:nvPr/>
        </p:nvPicPr>
        <p:blipFill>
          <a:blip r:embed="rId2" cstate="print"/>
          <a:srcRect/>
          <a:stretch>
            <a:fillRect/>
          </a:stretch>
        </p:blipFill>
        <p:spPr bwMode="auto">
          <a:xfrm>
            <a:off x="6228184" y="4509120"/>
            <a:ext cx="2481064" cy="20162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179512" y="188640"/>
            <a:ext cx="8640960" cy="6408712"/>
          </a:xfrm>
        </p:spPr>
        <p:txBody>
          <a:bodyPr>
            <a:noAutofit/>
          </a:bodyPr>
          <a:lstStyle/>
          <a:p>
            <a:pPr algn="ctr">
              <a:buNone/>
            </a:pPr>
            <a:r>
              <a:rPr lang="tr-TR" altLang="tr-TR" sz="2400" b="1" dirty="0" smtClean="0">
                <a:solidFill>
                  <a:srgbClr val="FF0000"/>
                </a:solidFill>
              </a:rPr>
              <a:t>  </a:t>
            </a:r>
            <a:r>
              <a:rPr lang="tr-TR" altLang="tr-TR" b="1" dirty="0" smtClean="0">
                <a:solidFill>
                  <a:srgbClr val="FF0000"/>
                </a:solidFill>
              </a:rPr>
              <a:t>SIĞIR TENYASI, SIĞIR ETİNDEN İNSANLARA BULAŞIR</a:t>
            </a:r>
            <a:endParaRPr lang="tr-TR" altLang="tr-TR" b="1" dirty="0" smtClean="0"/>
          </a:p>
          <a:p>
            <a:r>
              <a:rPr lang="tr-TR" altLang="tr-TR" sz="2400" b="1" dirty="0" smtClean="0"/>
              <a:t>Sığırlarda bulunan ; Yumurta içeren halkalar dışarı dışkı ile atılır</a:t>
            </a:r>
          </a:p>
          <a:p>
            <a:r>
              <a:rPr lang="tr-TR" altLang="tr-TR" sz="2400" b="1" dirty="0" smtClean="0"/>
              <a:t>Halkaların içindeki tenya yumurtaları; besinlerle tekrar sığırlara bulaşır</a:t>
            </a:r>
          </a:p>
          <a:p>
            <a:r>
              <a:rPr lang="tr-TR" altLang="tr-TR" sz="2400" b="1" dirty="0" smtClean="0"/>
              <a:t>Kan yayımı ile iç organ ve kaslara yerleşir</a:t>
            </a:r>
          </a:p>
          <a:p>
            <a:r>
              <a:rPr lang="tr-TR" sz="2400" b="1" dirty="0" smtClean="0"/>
              <a:t>İnsanlar T.</a:t>
            </a:r>
            <a:r>
              <a:rPr lang="tr-TR" sz="2400" b="1" dirty="0" err="1" smtClean="0"/>
              <a:t>saginata</a:t>
            </a:r>
            <a:r>
              <a:rPr lang="tr-TR" sz="2400" b="1" dirty="0" smtClean="0"/>
              <a:t> larvasını çiğ veya az pişmiş sığır etiyle yemek suretiyle </a:t>
            </a:r>
            <a:r>
              <a:rPr lang="tr-TR" sz="2400" b="1" dirty="0" err="1" smtClean="0"/>
              <a:t>enfekte</a:t>
            </a:r>
            <a:r>
              <a:rPr lang="tr-TR" sz="2400" b="1" dirty="0" smtClean="0"/>
              <a:t> olmaktadır</a:t>
            </a:r>
          </a:p>
          <a:p>
            <a:r>
              <a:rPr lang="tr-TR" sz="2400" b="1" dirty="0" smtClean="0"/>
              <a:t>Larva midede açığa çıkar</a:t>
            </a:r>
          </a:p>
          <a:p>
            <a:r>
              <a:rPr lang="tr-TR" sz="2400" b="1" dirty="0" smtClean="0"/>
              <a:t>İncebağırsağın üst kısımlarında </a:t>
            </a:r>
            <a:r>
              <a:rPr lang="tr-TR" sz="2400" b="1" dirty="0" err="1" smtClean="0"/>
              <a:t>sistiserk’in</a:t>
            </a:r>
            <a:r>
              <a:rPr lang="tr-TR" sz="2400" b="1" dirty="0" smtClean="0"/>
              <a:t> içeriye doğru olan </a:t>
            </a:r>
            <a:r>
              <a:rPr lang="tr-TR" sz="2400" b="1" dirty="0" err="1" smtClean="0"/>
              <a:t>skoleksi</a:t>
            </a:r>
            <a:r>
              <a:rPr lang="tr-TR" sz="2400" b="1" dirty="0" smtClean="0"/>
              <a:t> dışarıya dönerek bağırsak duvarına tutunur</a:t>
            </a:r>
          </a:p>
          <a:p>
            <a:r>
              <a:rPr lang="tr-TR" sz="2400" b="1" dirty="0" smtClean="0"/>
              <a:t>Burada 5-12 hafta içinde erişkin hale geçer</a:t>
            </a:r>
          </a:p>
          <a:p>
            <a:pPr marL="342900" lvl="1" indent="-342900">
              <a:buFont typeface="Arial" pitchFamily="34" charset="0"/>
              <a:buChar char="•"/>
            </a:pPr>
            <a:r>
              <a:rPr lang="tr-TR" altLang="tr-TR" sz="2400" b="1" dirty="0" smtClean="0"/>
              <a:t>Korunma için, dışkının otlaklara karışmamasına ve çiğ et yememeye özen gösterilmelidir</a:t>
            </a:r>
          </a:p>
          <a:p>
            <a:pPr>
              <a:buNone/>
            </a:pPr>
            <a:endParaRPr lang="tr-TR" sz="2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casper\Desktop\imagesCASVL22I.jpg"/>
          <p:cNvPicPr>
            <a:picLocks noChangeAspect="1" noChangeArrowheads="1"/>
          </p:cNvPicPr>
          <p:nvPr/>
        </p:nvPicPr>
        <p:blipFill>
          <a:blip r:embed="rId2" cstate="print"/>
          <a:srcRect/>
          <a:stretch>
            <a:fillRect/>
          </a:stretch>
        </p:blipFill>
        <p:spPr bwMode="auto">
          <a:xfrm>
            <a:off x="755576" y="836712"/>
            <a:ext cx="7207649" cy="5398780"/>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188640"/>
            <a:ext cx="8568952" cy="6480720"/>
          </a:xfrm>
        </p:spPr>
        <p:txBody>
          <a:bodyPr>
            <a:normAutofit fontScale="25000" lnSpcReduction="20000"/>
          </a:bodyPr>
          <a:lstStyle/>
          <a:p>
            <a:pPr>
              <a:buNone/>
            </a:pPr>
            <a:r>
              <a:rPr lang="tr-TR" b="1" dirty="0" smtClean="0"/>
              <a:t>		</a:t>
            </a:r>
            <a:r>
              <a:rPr lang="tr-TR" sz="12800" b="1" dirty="0" smtClean="0">
                <a:solidFill>
                  <a:srgbClr val="FF0000"/>
                </a:solidFill>
              </a:rPr>
              <a:t>TAENİA SAGİNATA NASIL FARKEDİLİR?</a:t>
            </a:r>
          </a:p>
          <a:p>
            <a:r>
              <a:rPr lang="tr-TR" sz="10400" b="1" dirty="0" smtClean="0"/>
              <a:t>Kişi kendisinde tenya olduğunu genelde dışkısında tenyaları görünce fark eder, özellikle de hareketli parçacıklar</a:t>
            </a:r>
          </a:p>
          <a:p>
            <a:r>
              <a:rPr lang="tr-TR" sz="10400" b="1" dirty="0" smtClean="0"/>
              <a:t>Makat kaşıntıları ile de </a:t>
            </a:r>
            <a:r>
              <a:rPr lang="tr-TR" sz="10400" b="1" dirty="0" err="1" smtClean="0"/>
              <a:t>farkedilebilir</a:t>
            </a:r>
            <a:endParaRPr lang="tr-TR" sz="10400" b="1" dirty="0" smtClean="0"/>
          </a:p>
          <a:p>
            <a:r>
              <a:rPr lang="tr-TR" sz="10400" b="1" dirty="0" smtClean="0"/>
              <a:t>Bazen </a:t>
            </a:r>
            <a:r>
              <a:rPr lang="tr-TR" sz="10400" b="1" dirty="0" err="1" smtClean="0"/>
              <a:t>apendiks</a:t>
            </a:r>
            <a:r>
              <a:rPr lang="tr-TR" sz="10400" b="1" dirty="0" smtClean="0"/>
              <a:t>, safra kanalları ve pankreas kanalında tıkanıklığa neden olabilirler</a:t>
            </a:r>
          </a:p>
          <a:p>
            <a:pPr>
              <a:buNone/>
            </a:pPr>
            <a:r>
              <a:rPr lang="tr-TR" sz="10400" b="1" dirty="0" smtClean="0"/>
              <a:t>		</a:t>
            </a:r>
            <a:r>
              <a:rPr lang="tr-TR" sz="12800" b="1" dirty="0" smtClean="0">
                <a:solidFill>
                  <a:srgbClr val="FF0000"/>
                </a:solidFill>
              </a:rPr>
              <a:t>İNSANDAKİ ETKİLERİ NELERDİR?</a:t>
            </a:r>
          </a:p>
          <a:p>
            <a:r>
              <a:rPr lang="tr-TR" sz="10400" b="1" dirty="0" smtClean="0"/>
              <a:t>Barsak mukozasını deler,konağın besin maddelerini sindirir</a:t>
            </a:r>
          </a:p>
          <a:p>
            <a:r>
              <a:rPr lang="tr-TR" sz="10400" b="1" dirty="0" smtClean="0"/>
              <a:t>Konakta açlık ağrıları olur</a:t>
            </a:r>
          </a:p>
          <a:p>
            <a:r>
              <a:rPr lang="tr-TR" sz="10400" b="1" dirty="0" smtClean="0"/>
              <a:t>İştah bozukluğu,kusma,ishal ,şiddetli karın ağrıları yapar</a:t>
            </a:r>
          </a:p>
          <a:p>
            <a:r>
              <a:rPr lang="tr-TR" sz="10400" b="1" dirty="0" smtClean="0"/>
              <a:t>Tüm tenya vakalarında kanda </a:t>
            </a:r>
            <a:r>
              <a:rPr lang="tr-TR" sz="10400" b="1" dirty="0" err="1" smtClean="0"/>
              <a:t>eozinofili</a:t>
            </a:r>
            <a:r>
              <a:rPr lang="tr-TR" sz="10400" b="1" dirty="0" smtClean="0"/>
              <a:t> gözlenir</a:t>
            </a:r>
          </a:p>
          <a:p>
            <a:r>
              <a:rPr lang="tr-TR" sz="10400" b="1" dirty="0" smtClean="0"/>
              <a:t>Vitamin eksiklikleri yapar</a:t>
            </a:r>
          </a:p>
          <a:p>
            <a:r>
              <a:rPr lang="tr-TR" sz="10400" b="1" dirty="0" smtClean="0"/>
              <a:t>Sinir sistemine yerleşebilir; sara nöbetlerine benzer belirtiler,kulak uğultusu,idrar tutamamak gibi belirtiler görülür</a:t>
            </a:r>
            <a:br>
              <a:rPr lang="tr-TR" sz="10400" b="1" dirty="0" smtClean="0"/>
            </a:br>
            <a:endParaRPr lang="tr-TR" sz="10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ÖNLEM VE KONTROL</a:t>
            </a:r>
            <a:endParaRPr lang="tr-TR" b="1" dirty="0">
              <a:solidFill>
                <a:srgbClr val="FF0000"/>
              </a:solidFill>
            </a:endParaRPr>
          </a:p>
        </p:txBody>
      </p:sp>
      <p:sp>
        <p:nvSpPr>
          <p:cNvPr id="3" name="2 İçerik Yer Tutucusu"/>
          <p:cNvSpPr>
            <a:spLocks noGrp="1"/>
          </p:cNvSpPr>
          <p:nvPr>
            <p:ph idx="1"/>
          </p:nvPr>
        </p:nvSpPr>
        <p:spPr/>
        <p:txBody>
          <a:bodyPr/>
          <a:lstStyle/>
          <a:p>
            <a:r>
              <a:rPr lang="tr-TR" b="1" dirty="0" smtClean="0"/>
              <a:t>T.</a:t>
            </a:r>
            <a:r>
              <a:rPr lang="tr-TR" b="1" dirty="0" err="1" smtClean="0"/>
              <a:t>saginata</a:t>
            </a:r>
            <a:r>
              <a:rPr lang="tr-TR" b="1" dirty="0" smtClean="0"/>
              <a:t> enfeksiyonlarının önlenmesi için sığır eti ve ürünlerinin 75 ᵒC üzerinde  5 </a:t>
            </a:r>
            <a:r>
              <a:rPr lang="tr-TR" b="1" dirty="0" err="1" smtClean="0"/>
              <a:t>dk</a:t>
            </a:r>
            <a:r>
              <a:rPr lang="tr-TR" b="1" dirty="0" smtClean="0"/>
              <a:t>   gibi bir ısıyla pişirilmesi gerekir</a:t>
            </a:r>
          </a:p>
          <a:p>
            <a:r>
              <a:rPr lang="tr-TR" b="1" dirty="0" smtClean="0"/>
              <a:t>-10 ᵒC de 5 gün saklanması </a:t>
            </a:r>
            <a:r>
              <a:rPr lang="tr-TR" b="1" dirty="0" err="1" smtClean="0"/>
              <a:t>Cysticercus</a:t>
            </a:r>
            <a:r>
              <a:rPr lang="tr-TR" b="1" dirty="0" smtClean="0"/>
              <a:t> </a:t>
            </a:r>
            <a:r>
              <a:rPr lang="tr-TR" b="1" dirty="0" err="1" smtClean="0"/>
              <a:t>bovisi</a:t>
            </a:r>
            <a:r>
              <a:rPr lang="tr-TR" b="1" dirty="0" smtClean="0"/>
              <a:t> tahrip eder</a:t>
            </a:r>
          </a:p>
          <a:p>
            <a:r>
              <a:rPr lang="tr-TR" b="1" dirty="0" smtClean="0"/>
              <a:t>Kurallara uygun olarak hazırlanan sucuk ve pastırma için sorun yoktur</a:t>
            </a:r>
            <a:endParaRPr lang="tr-TR" b="1"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casper\Desktop\Tapeworm.jpg"/>
          <p:cNvPicPr>
            <a:picLocks noChangeAspect="1" noChangeArrowheads="1"/>
          </p:cNvPicPr>
          <p:nvPr/>
        </p:nvPicPr>
        <p:blipFill>
          <a:blip r:embed="rId2" cstate="print"/>
          <a:srcRect/>
          <a:stretch>
            <a:fillRect/>
          </a:stretch>
        </p:blipFill>
        <p:spPr bwMode="auto">
          <a:xfrm>
            <a:off x="2411760" y="188640"/>
            <a:ext cx="6456780" cy="4842584"/>
          </a:xfrm>
          <a:prstGeom prst="rect">
            <a:avLst/>
          </a:prstGeom>
          <a:noFill/>
        </p:spPr>
      </p:pic>
      <p:pic>
        <p:nvPicPr>
          <p:cNvPr id="5" name="Picture 2" descr="C:\Users\casper\Desktop\imagesCATZ4F30.jpg"/>
          <p:cNvPicPr>
            <a:picLocks noChangeAspect="1" noChangeArrowheads="1"/>
          </p:cNvPicPr>
          <p:nvPr/>
        </p:nvPicPr>
        <p:blipFill>
          <a:blip r:embed="rId3" cstate="print"/>
          <a:srcRect/>
          <a:stretch>
            <a:fillRect/>
          </a:stretch>
        </p:blipFill>
        <p:spPr bwMode="auto">
          <a:xfrm>
            <a:off x="179512" y="3429000"/>
            <a:ext cx="2181636" cy="3138289"/>
          </a:xfrm>
          <a:prstGeom prst="rect">
            <a:avLst/>
          </a:prstGeom>
          <a:noFill/>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b="1" dirty="0" smtClean="0">
                <a:solidFill>
                  <a:srgbClr val="7030A0"/>
                </a:solidFill>
              </a:rPr>
              <a:t>TAENİA SAGİNATA: APENDEKTOMİ SONRASI DIŞKI FİSTÜLÜNÜN NADİR GÖRÜLEN BİR NEDENİ</a:t>
            </a:r>
            <a:endParaRPr lang="tr-TR" sz="2400" b="1" dirty="0">
              <a:solidFill>
                <a:srgbClr val="7030A0"/>
              </a:solidFill>
            </a:endParaRPr>
          </a:p>
        </p:txBody>
      </p:sp>
      <p:pic>
        <p:nvPicPr>
          <p:cNvPr id="1026" name="Picture 2" descr="C:\Users\user\Desktop\4-Figure2-1.png"/>
          <p:cNvPicPr>
            <a:picLocks noGrp="1" noChangeAspect="1" noChangeArrowheads="1"/>
          </p:cNvPicPr>
          <p:nvPr>
            <p:ph idx="1"/>
          </p:nvPr>
        </p:nvPicPr>
        <p:blipFill>
          <a:blip r:embed="rId2" cstate="print"/>
          <a:srcRect/>
          <a:stretch>
            <a:fillRect/>
          </a:stretch>
        </p:blipFill>
        <p:spPr bwMode="auto">
          <a:xfrm>
            <a:off x="899592" y="1844824"/>
            <a:ext cx="7128792" cy="4236715"/>
          </a:xfrm>
          <a:prstGeom prst="rect">
            <a:avLst/>
          </a:prstGeom>
          <a:noFill/>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pPr algn="l"/>
            <a:r>
              <a:rPr lang="tr-TR" sz="3200" b="1" dirty="0" smtClean="0"/>
              <a:t>AÇIKLAMA</a:t>
            </a:r>
            <a:endParaRPr lang="tr-TR" sz="3200" b="1" dirty="0"/>
          </a:p>
        </p:txBody>
      </p:sp>
      <p:sp>
        <p:nvSpPr>
          <p:cNvPr id="3" name="2 İçerik Yer Tutucusu"/>
          <p:cNvSpPr>
            <a:spLocks noGrp="1"/>
          </p:cNvSpPr>
          <p:nvPr>
            <p:ph idx="1"/>
          </p:nvPr>
        </p:nvSpPr>
        <p:spPr/>
        <p:txBody>
          <a:bodyPr>
            <a:normAutofit fontScale="77500" lnSpcReduction="20000"/>
          </a:bodyPr>
          <a:lstStyle/>
          <a:p>
            <a:r>
              <a:rPr lang="en-US" b="1" dirty="0" smtClean="0">
                <a:hlinkClick r:id="rId2"/>
              </a:rPr>
              <a:t>M. </a:t>
            </a:r>
            <a:r>
              <a:rPr lang="en-US" b="1" dirty="0" err="1" smtClean="0">
                <a:hlinkClick r:id="rId2"/>
              </a:rPr>
              <a:t>Najih</a:t>
            </a:r>
            <a:r>
              <a:rPr lang="en-US" b="1" dirty="0" smtClean="0"/>
              <a:t>, </a:t>
            </a:r>
            <a:r>
              <a:rPr lang="en-US" b="1" dirty="0" err="1" smtClean="0">
                <a:hlinkClick r:id="rId3"/>
              </a:rPr>
              <a:t>Hicham</a:t>
            </a:r>
            <a:r>
              <a:rPr lang="en-US" b="1" dirty="0" smtClean="0">
                <a:hlinkClick r:id="rId3"/>
              </a:rPr>
              <a:t> </a:t>
            </a:r>
            <a:r>
              <a:rPr lang="en-US" b="1" dirty="0" err="1" smtClean="0">
                <a:hlinkClick r:id="rId3"/>
              </a:rPr>
              <a:t>Laraqui</a:t>
            </a:r>
            <a:r>
              <a:rPr lang="en-US" b="1" dirty="0" smtClean="0"/>
              <a:t>, +4 authors </a:t>
            </a:r>
            <a:r>
              <a:rPr lang="en-US" b="1" dirty="0" smtClean="0">
                <a:hlinkClick r:id="rId4"/>
              </a:rPr>
              <a:t>A. </a:t>
            </a:r>
            <a:r>
              <a:rPr lang="en-US" b="1" dirty="0" err="1" smtClean="0">
                <a:hlinkClick r:id="rId4"/>
              </a:rPr>
              <a:t>Mrani</a:t>
            </a:r>
            <a:r>
              <a:rPr lang="en-US" b="1" dirty="0" smtClean="0">
                <a:hlinkClick r:id="rId4"/>
              </a:rPr>
              <a:t> </a:t>
            </a:r>
            <a:r>
              <a:rPr lang="en-US" b="1" dirty="0" err="1" smtClean="0">
                <a:hlinkClick r:id="rId4"/>
              </a:rPr>
              <a:t>Zentar</a:t>
            </a:r>
            <a:endParaRPr lang="en-US" b="1" dirty="0" smtClean="0"/>
          </a:p>
          <a:p>
            <a:r>
              <a:rPr lang="en-US" b="1" dirty="0" smtClean="0"/>
              <a:t>Published in The Pan African medical…</a:t>
            </a:r>
          </a:p>
          <a:p>
            <a:r>
              <a:rPr lang="en-US" b="1" dirty="0" smtClean="0"/>
              <a:t>2016</a:t>
            </a:r>
          </a:p>
          <a:p>
            <a:r>
              <a:rPr lang="en-US" b="1" dirty="0" smtClean="0"/>
              <a:t>DOI:</a:t>
            </a:r>
            <a:r>
              <a:rPr lang="en-US" b="1" dirty="0" smtClean="0">
                <a:hlinkClick r:id="rId5"/>
              </a:rPr>
              <a:t>10.11604/pamj.2016.25.200.11003</a:t>
            </a:r>
            <a:endParaRPr lang="en-US" b="1" dirty="0" smtClean="0"/>
          </a:p>
          <a:p>
            <a:r>
              <a:rPr lang="en-US" b="1" dirty="0" smtClean="0"/>
              <a:t>Post-appendectomy </a:t>
            </a:r>
            <a:r>
              <a:rPr lang="en-US" b="1" dirty="0" err="1" smtClean="0"/>
              <a:t>faecal</a:t>
            </a:r>
            <a:r>
              <a:rPr lang="en-US" b="1" dirty="0" smtClean="0"/>
              <a:t> fistula is a rare surgical complication, associated with significant morbidity. </a:t>
            </a:r>
            <a:r>
              <a:rPr lang="en-US" b="1" dirty="0" err="1" smtClean="0"/>
              <a:t>Taenia</a:t>
            </a:r>
            <a:r>
              <a:rPr lang="en-US" b="1" dirty="0" smtClean="0"/>
              <a:t> </a:t>
            </a:r>
            <a:r>
              <a:rPr lang="en-US" b="1" dirty="0" err="1" smtClean="0"/>
              <a:t>saginata</a:t>
            </a:r>
            <a:r>
              <a:rPr lang="en-US" b="1" dirty="0" smtClean="0"/>
              <a:t> infestation is one of the most common </a:t>
            </a:r>
            <a:r>
              <a:rPr lang="en-US" b="1" dirty="0" err="1" smtClean="0"/>
              <a:t>cestode</a:t>
            </a:r>
            <a:r>
              <a:rPr lang="en-US" b="1" dirty="0" smtClean="0"/>
              <a:t> infestation in the gastrointestinal tract. It makes many complications as obstruction, perforation, </a:t>
            </a:r>
            <a:r>
              <a:rPr lang="en-US" b="1" dirty="0" err="1" smtClean="0"/>
              <a:t>anastomotic</a:t>
            </a:r>
            <a:r>
              <a:rPr lang="en-US" b="1" dirty="0" smtClean="0"/>
              <a:t> leakage or </a:t>
            </a:r>
            <a:r>
              <a:rPr lang="en-US" b="1" dirty="0" err="1" smtClean="0"/>
              <a:t>appendicular</a:t>
            </a:r>
            <a:r>
              <a:rPr lang="en-US" b="1" dirty="0" smtClean="0"/>
              <a:t> stump dehiscence. The objective of our study is to report a very rare case of post appendectomy </a:t>
            </a:r>
            <a:r>
              <a:rPr lang="en-US" b="1" dirty="0" err="1" smtClean="0"/>
              <a:t>faecal</a:t>
            </a:r>
            <a:r>
              <a:rPr lang="en-US" b="1" dirty="0" smtClean="0"/>
              <a:t> fistula caused by </a:t>
            </a:r>
            <a:r>
              <a:rPr lang="en-US" b="1" dirty="0" err="1" smtClean="0"/>
              <a:t>taenia</a:t>
            </a:r>
            <a:r>
              <a:rPr lang="en-US" b="1" dirty="0" smtClean="0"/>
              <a:t> </a:t>
            </a:r>
            <a:r>
              <a:rPr lang="en-US" b="1" dirty="0" err="1" smtClean="0"/>
              <a:t>saginata</a:t>
            </a:r>
            <a:r>
              <a:rPr lang="en-US" b="1" dirty="0" smtClean="0"/>
              <a:t> infestation and was successfully treated conservatively. </a:t>
            </a:r>
          </a:p>
          <a:p>
            <a:endParaRPr lang="tr-TR" b="1"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pPr algn="l"/>
            <a:r>
              <a:rPr lang="tr-TR" sz="3200" b="1" dirty="0" smtClean="0"/>
              <a:t>AÇIKLAMA</a:t>
            </a:r>
            <a:endParaRPr lang="tr-TR" sz="3200" dirty="0"/>
          </a:p>
        </p:txBody>
      </p:sp>
      <p:sp>
        <p:nvSpPr>
          <p:cNvPr id="3" name="2 İçerik Yer Tutucusu"/>
          <p:cNvSpPr>
            <a:spLocks noGrp="1"/>
          </p:cNvSpPr>
          <p:nvPr>
            <p:ph idx="1"/>
          </p:nvPr>
        </p:nvSpPr>
        <p:spPr/>
        <p:txBody>
          <a:bodyPr>
            <a:normAutofit fontScale="85000" lnSpcReduction="10000"/>
          </a:bodyPr>
          <a:lstStyle/>
          <a:p>
            <a:r>
              <a:rPr lang="tr-TR" b="1" dirty="0" err="1" smtClean="0"/>
              <a:t>Apendektomi</a:t>
            </a:r>
            <a:r>
              <a:rPr lang="tr-TR" b="1" dirty="0" smtClean="0"/>
              <a:t> sonrası </a:t>
            </a:r>
            <a:r>
              <a:rPr lang="tr-TR" b="1" dirty="0" err="1" smtClean="0"/>
              <a:t>fekal</a:t>
            </a:r>
            <a:r>
              <a:rPr lang="tr-TR" b="1" dirty="0" smtClean="0"/>
              <a:t> fistül, önemli </a:t>
            </a:r>
            <a:r>
              <a:rPr lang="tr-TR" b="1" dirty="0" err="1" smtClean="0"/>
              <a:t>morbidite</a:t>
            </a:r>
            <a:r>
              <a:rPr lang="tr-TR" b="1" dirty="0" smtClean="0"/>
              <a:t> ile ilişkili, nadir görülen bir cerrahi komplikasyondur. </a:t>
            </a:r>
            <a:r>
              <a:rPr lang="tr-TR" b="1" dirty="0" err="1" smtClean="0"/>
              <a:t>Taenia</a:t>
            </a:r>
            <a:r>
              <a:rPr lang="tr-TR" b="1" dirty="0" smtClean="0"/>
              <a:t> </a:t>
            </a:r>
            <a:r>
              <a:rPr lang="tr-TR" b="1" dirty="0" err="1" smtClean="0"/>
              <a:t>saginata</a:t>
            </a:r>
            <a:r>
              <a:rPr lang="tr-TR" b="1" dirty="0" smtClean="0"/>
              <a:t> istilası, </a:t>
            </a:r>
            <a:r>
              <a:rPr lang="tr-TR" b="1" dirty="0" err="1" smtClean="0"/>
              <a:t>gastrointestinal</a:t>
            </a:r>
            <a:r>
              <a:rPr lang="tr-TR" b="1" dirty="0" smtClean="0"/>
              <a:t> sistemdeki en yaygın </a:t>
            </a:r>
            <a:r>
              <a:rPr lang="tr-TR" b="1" dirty="0" err="1" smtClean="0"/>
              <a:t>cestod</a:t>
            </a:r>
            <a:r>
              <a:rPr lang="tr-TR" b="1" dirty="0" smtClean="0"/>
              <a:t> istilasından biridir</a:t>
            </a:r>
          </a:p>
          <a:p>
            <a:pPr>
              <a:buNone/>
            </a:pPr>
            <a:endParaRPr lang="tr-TR" b="1" dirty="0" smtClean="0"/>
          </a:p>
          <a:p>
            <a:r>
              <a:rPr lang="tr-TR" b="1" dirty="0" smtClean="0"/>
              <a:t>Tıkanma, delinme, </a:t>
            </a:r>
            <a:r>
              <a:rPr lang="tr-TR" b="1" dirty="0" err="1" smtClean="0"/>
              <a:t>anastomoz</a:t>
            </a:r>
            <a:r>
              <a:rPr lang="tr-TR" b="1" dirty="0" smtClean="0"/>
              <a:t> kaçağı veya </a:t>
            </a:r>
            <a:r>
              <a:rPr lang="tr-TR" b="1" dirty="0" err="1" smtClean="0"/>
              <a:t>apendiküler</a:t>
            </a:r>
            <a:r>
              <a:rPr lang="tr-TR" b="1" dirty="0" smtClean="0"/>
              <a:t> gibi birçok komplikasyon yapar. Çalışmamızın amacı, </a:t>
            </a:r>
            <a:r>
              <a:rPr lang="tr-TR" b="1" dirty="0" err="1" smtClean="0"/>
              <a:t>taenia</a:t>
            </a:r>
            <a:r>
              <a:rPr lang="tr-TR" b="1" dirty="0" smtClean="0"/>
              <a:t> </a:t>
            </a:r>
            <a:r>
              <a:rPr lang="tr-TR" b="1" dirty="0" err="1" smtClean="0"/>
              <a:t>saginata</a:t>
            </a:r>
            <a:r>
              <a:rPr lang="tr-TR" b="1" dirty="0" smtClean="0"/>
              <a:t> istilasına neden olan ve ender olarak başarılı bir şekilde tedavi edilen </a:t>
            </a:r>
            <a:r>
              <a:rPr lang="tr-TR" b="1" dirty="0" err="1" smtClean="0"/>
              <a:t>apendektomi</a:t>
            </a:r>
            <a:r>
              <a:rPr lang="tr-TR" b="1" dirty="0" smtClean="0"/>
              <a:t> sonrası fekül fistülünün çok nadir bir vakasını bildirmektir</a:t>
            </a:r>
            <a:endParaRPr lang="tr-TR" b="1"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user\Desktop\tenia3.jpg"/>
          <p:cNvPicPr>
            <a:picLocks noGrp="1" noChangeAspect="1" noChangeArrowheads="1"/>
          </p:cNvPicPr>
          <p:nvPr>
            <p:ph idx="4294967295"/>
          </p:nvPr>
        </p:nvPicPr>
        <p:blipFill>
          <a:blip r:embed="rId2" cstate="print"/>
          <a:srcRect/>
          <a:stretch>
            <a:fillRect/>
          </a:stretch>
        </p:blipFill>
        <p:spPr bwMode="auto">
          <a:xfrm>
            <a:off x="1115616" y="476672"/>
            <a:ext cx="6625009" cy="5832475"/>
          </a:xfrm>
          <a:prstGeom prst="rect">
            <a:avLst/>
          </a:prstGeom>
          <a:noFill/>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b="1" dirty="0" smtClean="0">
                <a:solidFill>
                  <a:srgbClr val="7030A0"/>
                </a:solidFill>
              </a:rPr>
              <a:t>Bursa'da mide kanseri nedeniyle ameliyat edilen bir kadının ince bağırsağından 15 metre uzunluğunda tenya çıkarıldı</a:t>
            </a:r>
            <a:endParaRPr lang="tr-TR" sz="2400" b="1" dirty="0">
              <a:solidFill>
                <a:srgbClr val="7030A0"/>
              </a:solidFill>
            </a:endParaRPr>
          </a:p>
        </p:txBody>
      </p:sp>
      <p:pic>
        <p:nvPicPr>
          <p:cNvPr id="3074" name="Picture 2" descr="C:\Users\Pc\Desktop\54582_ince-bagirsagindan-15-metre-tenya-cikti_1.jpg"/>
          <p:cNvPicPr>
            <a:picLocks noGrp="1" noChangeAspect="1" noChangeArrowheads="1"/>
          </p:cNvPicPr>
          <p:nvPr>
            <p:ph idx="1"/>
          </p:nvPr>
        </p:nvPicPr>
        <p:blipFill>
          <a:blip r:embed="rId2" cstate="print"/>
          <a:srcRect/>
          <a:stretch>
            <a:fillRect/>
          </a:stretch>
        </p:blipFill>
        <p:spPr bwMode="auto">
          <a:xfrm>
            <a:off x="683568" y="1628800"/>
            <a:ext cx="8169679" cy="4955284"/>
          </a:xfrm>
          <a:prstGeom prst="rect">
            <a:avLst/>
          </a:prstGeom>
          <a:noFill/>
        </p:spPr>
      </p:pic>
      <p:pic>
        <p:nvPicPr>
          <p:cNvPr id="4" name="Picture 2" descr="C:\Users\user\Desktop\images.jpg"/>
          <p:cNvPicPr>
            <a:picLocks noChangeAspect="1" noChangeArrowheads="1"/>
          </p:cNvPicPr>
          <p:nvPr/>
        </p:nvPicPr>
        <p:blipFill>
          <a:blip r:embed="rId3" cstate="print"/>
          <a:srcRect/>
          <a:stretch>
            <a:fillRect/>
          </a:stretch>
        </p:blipFill>
        <p:spPr bwMode="auto">
          <a:xfrm>
            <a:off x="4499992" y="1700808"/>
            <a:ext cx="4032448" cy="4666985"/>
          </a:xfrm>
          <a:prstGeom prst="rect">
            <a:avLst/>
          </a:prstGeom>
          <a:noFill/>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260648"/>
            <a:ext cx="8712968" cy="6336704"/>
          </a:xfrm>
        </p:spPr>
        <p:txBody>
          <a:bodyPr>
            <a:normAutofit/>
          </a:bodyPr>
          <a:lstStyle/>
          <a:p>
            <a:pPr>
              <a:buNone/>
            </a:pPr>
            <a:r>
              <a:rPr lang="tr-TR" sz="2800" b="1" dirty="0" smtClean="0">
                <a:solidFill>
                  <a:srgbClr val="FF0000"/>
                </a:solidFill>
              </a:rPr>
              <a:t>		     TAENIA SOLIUM (DOMUZ ŞERİDİ)</a:t>
            </a:r>
            <a:endParaRPr lang="tr-TR" sz="2800" b="1" dirty="0" smtClean="0"/>
          </a:p>
          <a:p>
            <a:r>
              <a:rPr lang="tr-TR" sz="2800" b="1" dirty="0" smtClean="0"/>
              <a:t>T.</a:t>
            </a:r>
            <a:r>
              <a:rPr lang="tr-TR" sz="2800" b="1" dirty="0" err="1" smtClean="0"/>
              <a:t>solium</a:t>
            </a:r>
            <a:r>
              <a:rPr lang="tr-TR" sz="2800" b="1" dirty="0" smtClean="0"/>
              <a:t> </a:t>
            </a:r>
            <a:r>
              <a:rPr lang="tr-TR" sz="2800" b="1" dirty="0" err="1" smtClean="0"/>
              <a:t>enfekisyonu</a:t>
            </a:r>
            <a:r>
              <a:rPr lang="tr-TR" sz="2800" b="1" dirty="0" smtClean="0"/>
              <a:t> sıklıkla iyi pişirilmemiş domuz eti tüketilmesine bağlıdır</a:t>
            </a:r>
          </a:p>
          <a:p>
            <a:r>
              <a:rPr lang="tr-TR" sz="2800" b="1" dirty="0" smtClean="0"/>
              <a:t>İnsanlar iyi pişirilmemiş domuz eti yediklerinden,5-10 hafta içinde ince bağırsaklarda erişkin parazit haline döner</a:t>
            </a:r>
          </a:p>
          <a:p>
            <a:r>
              <a:rPr lang="tr-TR" sz="2800" b="1" dirty="0" smtClean="0"/>
              <a:t>Genellikle iskelet kasları ve </a:t>
            </a:r>
            <a:r>
              <a:rPr lang="tr-TR" sz="2800" b="1" dirty="0" err="1" smtClean="0"/>
              <a:t>miyokardiyuma</a:t>
            </a:r>
            <a:r>
              <a:rPr lang="tr-TR" sz="2800" b="1" dirty="0" smtClean="0"/>
              <a:t> yerleşirler,burada 8-10 hafta içinde CYSTİCERCUS CELLULOSAE oluşur</a:t>
            </a:r>
            <a:endParaRPr lang="tr-TR" sz="2800" b="1" dirty="0"/>
          </a:p>
        </p:txBody>
      </p:sp>
      <p:pic>
        <p:nvPicPr>
          <p:cNvPr id="4" name="Picture 3" descr="C:\Users\Pc\Desktop\imagesCS5YCKEY.jpg"/>
          <p:cNvPicPr>
            <a:picLocks noChangeAspect="1" noChangeArrowheads="1"/>
          </p:cNvPicPr>
          <p:nvPr/>
        </p:nvPicPr>
        <p:blipFill>
          <a:blip r:embed="rId2" cstate="print"/>
          <a:srcRect/>
          <a:stretch>
            <a:fillRect/>
          </a:stretch>
        </p:blipFill>
        <p:spPr bwMode="auto">
          <a:xfrm>
            <a:off x="4788024" y="4149080"/>
            <a:ext cx="4000496" cy="2304256"/>
          </a:xfrm>
          <a:prstGeom prst="rect">
            <a:avLst/>
          </a:prstGeom>
          <a:noFill/>
        </p:spPr>
      </p:pic>
      <p:pic>
        <p:nvPicPr>
          <p:cNvPr id="5" name="Picture 2" descr="C:\Users\Pc\Desktop\images36CE15XV.jpg"/>
          <p:cNvPicPr>
            <a:picLocks noChangeAspect="1" noChangeArrowheads="1"/>
          </p:cNvPicPr>
          <p:nvPr/>
        </p:nvPicPr>
        <p:blipFill>
          <a:blip r:embed="rId3" cstate="print"/>
          <a:srcRect/>
          <a:stretch>
            <a:fillRect/>
          </a:stretch>
        </p:blipFill>
        <p:spPr bwMode="auto">
          <a:xfrm>
            <a:off x="467544" y="4509120"/>
            <a:ext cx="4203869" cy="2132880"/>
          </a:xfrm>
          <a:prstGeom prst="rect">
            <a:avLst/>
          </a:prstGeom>
          <a:noFill/>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95536" y="260648"/>
            <a:ext cx="8496944" cy="6408712"/>
          </a:xfrm>
        </p:spPr>
        <p:txBody>
          <a:bodyPr>
            <a:normAutofit/>
          </a:bodyPr>
          <a:lstStyle/>
          <a:p>
            <a:pPr>
              <a:buNone/>
            </a:pPr>
            <a:r>
              <a:rPr lang="tr-TR" sz="4000" b="1" dirty="0" smtClean="0">
                <a:solidFill>
                  <a:srgbClr val="FF0000"/>
                </a:solidFill>
              </a:rPr>
              <a:t>		 </a:t>
            </a:r>
            <a:r>
              <a:rPr lang="tr-TR" sz="3600" b="1" dirty="0" smtClean="0">
                <a:solidFill>
                  <a:srgbClr val="FF0000"/>
                </a:solidFill>
              </a:rPr>
              <a:t>CYSTİCERCUS CELLULOSAE</a:t>
            </a:r>
            <a:endParaRPr lang="tr-TR" sz="2400" b="1" dirty="0" smtClean="0"/>
          </a:p>
          <a:p>
            <a:pPr>
              <a:buNone/>
            </a:pPr>
            <a:r>
              <a:rPr lang="tr-TR" sz="2400" b="1" dirty="0" smtClean="0"/>
              <a:t>		KASLARA YERLEŞME DURUMUNDA</a:t>
            </a:r>
          </a:p>
          <a:p>
            <a:r>
              <a:rPr lang="tr-TR" sz="2400" b="1" dirty="0" smtClean="0"/>
              <a:t>Hastaları hiç rahatsız etmeyen bu durumda, belirtiler, başka bir amaçla yapılan röntgen muayenesinde </a:t>
            </a:r>
            <a:r>
              <a:rPr lang="tr-TR" sz="2400" b="1" dirty="0" err="1" smtClean="0"/>
              <a:t>raslantıyla</a:t>
            </a:r>
            <a:r>
              <a:rPr lang="tr-TR" sz="2400" b="1" dirty="0" smtClean="0"/>
              <a:t> ortaya çıkarılır</a:t>
            </a:r>
          </a:p>
          <a:p>
            <a:pPr>
              <a:buNone/>
            </a:pPr>
            <a:r>
              <a:rPr lang="tr-TR" sz="2400" b="1" dirty="0" smtClean="0"/>
              <a:t>		DERİALTINA YERLEŞME DURUMUNDA</a:t>
            </a:r>
          </a:p>
          <a:p>
            <a:r>
              <a:rPr lang="tr-TR" sz="2400" b="1" dirty="0" smtClean="0"/>
              <a:t>Derialtına yerleşmiş küçük düğümler başlıca belirtidir. Hastalık hiç bir ağrıya yol açmaz. Düğümlerin tipleri cerrahi yoldan yapılacak incelemeler sonucunda belirlenir</a:t>
            </a:r>
          </a:p>
          <a:p>
            <a:pPr>
              <a:buNone/>
            </a:pPr>
            <a:r>
              <a:rPr lang="tr-TR" sz="2400" b="1" dirty="0" smtClean="0"/>
              <a:t>		GÖZE YERLEŞME DURUMUNDA</a:t>
            </a:r>
          </a:p>
          <a:p>
            <a:r>
              <a:rPr lang="tr-TR" sz="2400" b="1" dirty="0" smtClean="0"/>
              <a:t>Çok daha ciddi bir durumdur. Kistler gözün bütün bölgelerinde yerleşmiş olabilir</a:t>
            </a:r>
          </a:p>
          <a:p>
            <a:pPr>
              <a:buNone/>
            </a:pPr>
            <a:r>
              <a:rPr lang="tr-TR" sz="2400" b="1" dirty="0" smtClean="0"/>
              <a:t>		MERKEZİ SİNİR SİSTEMİNE YERLEŞME DURUMUNDA</a:t>
            </a:r>
          </a:p>
          <a:p>
            <a:r>
              <a:rPr lang="tr-TR" sz="2400" b="1" dirty="0" smtClean="0"/>
              <a:t>Çoğunlukla hiç bir belirti vermez. Bazı hastalardaysa şiddetli baş ağrıları, baş dönmeleri ve çırpınma nöbetlerine </a:t>
            </a:r>
            <a:r>
              <a:rPr lang="tr-TR" sz="2400" b="1" dirty="0" err="1" smtClean="0"/>
              <a:t>yolaçar</a:t>
            </a:r>
            <a:endParaRPr lang="tr-TR" sz="2400" b="1" dirty="0" smtClean="0"/>
          </a:p>
          <a:p>
            <a:pPr>
              <a:buNone/>
            </a:pPr>
            <a:endParaRPr lang="tr-TR" sz="2400" b="1"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pPr algn="l"/>
            <a:r>
              <a:rPr lang="tr-TR" b="1" dirty="0" smtClean="0">
                <a:solidFill>
                  <a:srgbClr val="FF0000"/>
                </a:solidFill>
              </a:rPr>
              <a:t/>
            </a:r>
            <a:br>
              <a:rPr lang="tr-TR" b="1" dirty="0" smtClean="0">
                <a:solidFill>
                  <a:srgbClr val="FF0000"/>
                </a:solidFill>
              </a:rPr>
            </a:br>
            <a:r>
              <a:rPr lang="tr-TR" b="1" dirty="0" smtClean="0">
                <a:solidFill>
                  <a:srgbClr val="FF0000"/>
                </a:solidFill>
              </a:rPr>
              <a:t>	</a:t>
            </a:r>
            <a:r>
              <a:rPr lang="tr-TR" sz="4000" b="1" dirty="0" smtClean="0">
                <a:solidFill>
                  <a:srgbClr val="FF0000"/>
                </a:solidFill>
              </a:rPr>
              <a:t>ECHINOCOCCUS   GRANULOSUS </a:t>
            </a:r>
            <a:r>
              <a:rPr lang="tr-TR" sz="2700" b="1" dirty="0" smtClean="0">
                <a:solidFill>
                  <a:srgbClr val="FF0000"/>
                </a:solidFill>
              </a:rPr>
              <a:t/>
            </a:r>
            <a:br>
              <a:rPr lang="tr-TR" sz="2700" b="1" dirty="0" smtClean="0">
                <a:solidFill>
                  <a:srgbClr val="FF0000"/>
                </a:solidFill>
              </a:rPr>
            </a:br>
            <a:r>
              <a:rPr lang="tr-TR" sz="2700" b="1" dirty="0" smtClean="0">
                <a:solidFill>
                  <a:srgbClr val="FF0000"/>
                </a:solidFill>
              </a:rPr>
              <a:t>        (köpek hastalığı , kıl hastalığı , köpek kisti ,su kesesi )</a:t>
            </a:r>
            <a:br>
              <a:rPr lang="tr-TR" sz="2700" b="1" dirty="0" smtClean="0">
                <a:solidFill>
                  <a:srgbClr val="FF0000"/>
                </a:solidFill>
              </a:rPr>
            </a:br>
            <a:r>
              <a:rPr lang="tr-TR" sz="2700" b="1" dirty="0" smtClean="0">
                <a:solidFill>
                  <a:srgbClr val="FF0000"/>
                </a:solidFill>
              </a:rPr>
              <a:t> </a:t>
            </a:r>
            <a:r>
              <a:rPr lang="tr-TR" b="1" dirty="0" smtClean="0">
                <a:solidFill>
                  <a:srgbClr val="FF0000"/>
                </a:solidFill>
              </a:rPr>
              <a:t/>
            </a:r>
            <a:br>
              <a:rPr lang="tr-TR" b="1" dirty="0" smtClean="0">
                <a:solidFill>
                  <a:srgbClr val="FF0000"/>
                </a:solidFill>
              </a:rPr>
            </a:br>
            <a:endParaRPr lang="tr-TR" dirty="0">
              <a:solidFill>
                <a:srgbClr val="FF0000"/>
              </a:solidFill>
            </a:endParaRPr>
          </a:p>
        </p:txBody>
      </p:sp>
      <p:sp>
        <p:nvSpPr>
          <p:cNvPr id="3" name="2 İçerik Yer Tutucusu"/>
          <p:cNvSpPr>
            <a:spLocks noGrp="1"/>
          </p:cNvSpPr>
          <p:nvPr>
            <p:ph idx="1"/>
          </p:nvPr>
        </p:nvSpPr>
        <p:spPr>
          <a:xfrm>
            <a:off x="457200" y="1600200"/>
            <a:ext cx="8229600" cy="4997152"/>
          </a:xfrm>
        </p:spPr>
        <p:txBody>
          <a:bodyPr>
            <a:noAutofit/>
          </a:bodyPr>
          <a:lstStyle/>
          <a:p>
            <a:r>
              <a:rPr lang="tr-TR" sz="2700" b="1" dirty="0" smtClean="0"/>
              <a:t>Köpekler de yaşayan parazittir</a:t>
            </a:r>
          </a:p>
          <a:p>
            <a:r>
              <a:rPr lang="tr-TR" sz="2700" b="1" dirty="0" smtClean="0"/>
              <a:t>Son konak köpektir ve bir köpekte yüzlerce parazit bulunabilir</a:t>
            </a:r>
          </a:p>
          <a:p>
            <a:r>
              <a:rPr lang="tr-TR" sz="2700" b="1" dirty="0" smtClean="0"/>
              <a:t>KİSTİN  erişkin sekli köpek, kurt, çakal gibi etçil hayvanların ince bağırsaklarında yaşar</a:t>
            </a:r>
          </a:p>
          <a:p>
            <a:r>
              <a:rPr lang="tr-TR" sz="2700" b="1" dirty="0" smtClean="0"/>
              <a:t>Hayvana zarar vermez</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3100" b="1" dirty="0" smtClean="0">
                <a:solidFill>
                  <a:srgbClr val="FF0000"/>
                </a:solidFill>
              </a:rPr>
              <a:t/>
            </a:r>
            <a:br>
              <a:rPr lang="tr-TR" sz="3100" b="1" dirty="0" smtClean="0">
                <a:solidFill>
                  <a:srgbClr val="FF0000"/>
                </a:solidFill>
              </a:rPr>
            </a:br>
            <a:r>
              <a:rPr lang="tr-TR" sz="3100" b="1" dirty="0" smtClean="0">
                <a:solidFill>
                  <a:srgbClr val="FF0000"/>
                </a:solidFill>
              </a:rPr>
              <a:t/>
            </a:r>
            <a:br>
              <a:rPr lang="tr-TR" sz="3100" b="1" dirty="0" smtClean="0">
                <a:solidFill>
                  <a:srgbClr val="FF0000"/>
                </a:solidFill>
              </a:rPr>
            </a:br>
            <a:r>
              <a:rPr lang="tr-TR" sz="4000" b="1" dirty="0" smtClean="0">
                <a:solidFill>
                  <a:srgbClr val="FF0000"/>
                </a:solidFill>
              </a:rPr>
              <a:t>ECHINOCOCCUS   GRANULOSUS </a:t>
            </a:r>
            <a:r>
              <a:rPr lang="tr-TR" sz="3100" b="1" dirty="0" smtClean="0">
                <a:solidFill>
                  <a:srgbClr val="FF0000"/>
                </a:solidFill>
              </a:rPr>
              <a:t/>
            </a:r>
            <a:br>
              <a:rPr lang="tr-TR" sz="3100" b="1" dirty="0" smtClean="0">
                <a:solidFill>
                  <a:srgbClr val="FF0000"/>
                </a:solidFill>
              </a:rPr>
            </a:br>
            <a:r>
              <a:rPr lang="tr-TR" sz="2700" b="1" dirty="0" smtClean="0">
                <a:solidFill>
                  <a:srgbClr val="FF0000"/>
                </a:solidFill>
              </a:rPr>
              <a:t>        (köpek hastalığı , kıl hastalığı , köpek kisti ,su kesesi )</a:t>
            </a:r>
            <a:r>
              <a:rPr lang="tr-TR" b="1" dirty="0" smtClean="0">
                <a:solidFill>
                  <a:srgbClr val="FF0000"/>
                </a:solidFill>
              </a:rPr>
              <a:t/>
            </a:r>
            <a:br>
              <a:rPr lang="tr-TR" b="1" dirty="0" smtClean="0">
                <a:solidFill>
                  <a:srgbClr val="FF0000"/>
                </a:solidFill>
              </a:rPr>
            </a:br>
            <a:endParaRPr lang="tr-TR" dirty="0"/>
          </a:p>
        </p:txBody>
      </p:sp>
      <p:sp>
        <p:nvSpPr>
          <p:cNvPr id="3" name="2 İçerik Yer Tutucusu"/>
          <p:cNvSpPr>
            <a:spLocks noGrp="1"/>
          </p:cNvSpPr>
          <p:nvPr>
            <p:ph idx="1"/>
          </p:nvPr>
        </p:nvSpPr>
        <p:spPr/>
        <p:txBody>
          <a:bodyPr/>
          <a:lstStyle/>
          <a:p>
            <a:r>
              <a:rPr lang="tr-TR" altLang="tr-TR" b="1" dirty="0" smtClean="0">
                <a:cs typeface="Times New Roman" pitchFamily="18" charset="0"/>
              </a:rPr>
              <a:t>İnsan ara konak, köpek kesin konaktır</a:t>
            </a:r>
          </a:p>
          <a:p>
            <a:pPr algn="just"/>
            <a:r>
              <a:rPr lang="tr-TR" altLang="tr-TR" b="1" dirty="0" smtClean="0">
                <a:cs typeface="Times New Roman" pitchFamily="18" charset="0"/>
              </a:rPr>
              <a:t>En sık karaciğer, ikinci sıklıkla akciğer tutulur</a:t>
            </a:r>
            <a:endParaRPr lang="tr-TR" altLang="tr-TR" b="1" dirty="0" smtClean="0"/>
          </a:p>
          <a:p>
            <a:pPr algn="just"/>
            <a:r>
              <a:rPr lang="tr-TR" altLang="tr-TR" b="1" dirty="0" smtClean="0"/>
              <a:t>En sık komplikasyon safra yollarına açılmasıdır</a:t>
            </a:r>
          </a:p>
          <a:p>
            <a:r>
              <a:rPr lang="tr-TR" altLang="tr-TR" b="1" dirty="0" smtClean="0"/>
              <a:t>Kemik, MSS ve Böbrek tutulumunda </a:t>
            </a:r>
            <a:r>
              <a:rPr lang="tr-TR" altLang="tr-TR" b="1" dirty="0" err="1" smtClean="0"/>
              <a:t>prognoz</a:t>
            </a:r>
            <a:r>
              <a:rPr lang="tr-TR" altLang="tr-TR" b="1" dirty="0" smtClean="0"/>
              <a:t> kötü</a:t>
            </a:r>
          </a:p>
          <a:p>
            <a:r>
              <a:rPr lang="tr-TR" b="1" dirty="0" smtClean="0">
                <a:solidFill>
                  <a:srgbClr val="170AC6"/>
                </a:solidFill>
              </a:rPr>
              <a:t>Ölüme yol açabilen </a:t>
            </a:r>
            <a:r>
              <a:rPr lang="tr-TR" b="1" dirty="0" err="1" smtClean="0">
                <a:solidFill>
                  <a:srgbClr val="170AC6"/>
                </a:solidFill>
              </a:rPr>
              <a:t>zoonotik</a:t>
            </a:r>
            <a:r>
              <a:rPr lang="tr-TR" b="1" dirty="0" smtClean="0">
                <a:solidFill>
                  <a:srgbClr val="170AC6"/>
                </a:solidFill>
              </a:rPr>
              <a:t> karakterli bir hastalıktır </a:t>
            </a:r>
            <a:endParaRPr lang="tr-TR"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t/>
            </a:r>
            <a:br>
              <a:rPr lang="tr-TR" b="1" dirty="0" smtClean="0"/>
            </a:br>
            <a:r>
              <a:rPr lang="tr-TR" sz="3600" b="1" dirty="0" smtClean="0">
                <a:solidFill>
                  <a:srgbClr val="FF0000"/>
                </a:solidFill>
              </a:rPr>
              <a:t>KİST HİDATİK İNSANLARA NASIL BULAŞIR?</a:t>
            </a:r>
            <a:r>
              <a:rPr lang="tr-TR" sz="3600" dirty="0" smtClean="0">
                <a:solidFill>
                  <a:srgbClr val="FF0000"/>
                </a:solidFill>
              </a:rPr>
              <a:t/>
            </a:r>
            <a:br>
              <a:rPr lang="tr-TR" sz="3600" dirty="0" smtClean="0">
                <a:solidFill>
                  <a:srgbClr val="FF0000"/>
                </a:solidFill>
              </a:rPr>
            </a:br>
            <a:endParaRPr lang="tr-TR" sz="3600" dirty="0">
              <a:solidFill>
                <a:srgbClr val="FF0000"/>
              </a:solidFill>
            </a:endParaRPr>
          </a:p>
        </p:txBody>
      </p:sp>
      <p:sp>
        <p:nvSpPr>
          <p:cNvPr id="3" name="2 İçerik Yer Tutucusu"/>
          <p:cNvSpPr>
            <a:spLocks noGrp="1"/>
          </p:cNvSpPr>
          <p:nvPr>
            <p:ph idx="1"/>
          </p:nvPr>
        </p:nvSpPr>
        <p:spPr>
          <a:xfrm>
            <a:off x="457200" y="1600200"/>
            <a:ext cx="8229600" cy="4853136"/>
          </a:xfrm>
        </p:spPr>
        <p:txBody>
          <a:bodyPr>
            <a:normAutofit fontScale="92500" lnSpcReduction="10000"/>
          </a:bodyPr>
          <a:lstStyle/>
          <a:p>
            <a:r>
              <a:rPr lang="tr-TR" b="1" dirty="0" smtClean="0"/>
              <a:t>Hastalık insanlara paraziti taşıyan köpek, kedi, çakal, tilki, kurt gibi hayvanların dışkısı ile etrafa yayılan parazitin yumurtaları ile bulaşır</a:t>
            </a:r>
          </a:p>
          <a:p>
            <a:r>
              <a:rPr lang="tr-TR" b="1" dirty="0" smtClean="0"/>
              <a:t>Rüzgar ile uçuşan yumurtaların solunum yoluyla alınması</a:t>
            </a:r>
          </a:p>
          <a:p>
            <a:r>
              <a:rPr lang="tr-TR" b="1" dirty="0" smtClean="0"/>
              <a:t>Paraziti taşıyan köpekler sevildikten sonra ellerin iyice yıkanmaması yoluyla bulaşır</a:t>
            </a:r>
          </a:p>
          <a:p>
            <a:r>
              <a:rPr lang="tr-TR" b="1" dirty="0" smtClean="0"/>
              <a:t>Kirlenmiş su ile yıkanan çiğ tüketilen meyve ve sebzelerin yenmesi</a:t>
            </a:r>
          </a:p>
          <a:p>
            <a:r>
              <a:rPr lang="tr-TR" b="1" dirty="0" smtClean="0"/>
              <a:t>Kirlenmiş  suların içilmesi</a:t>
            </a:r>
          </a:p>
          <a:p>
            <a:pPr>
              <a:buNone/>
            </a:pPr>
            <a:endParaRPr lang="tr-TR" b="1" dirty="0" smtClean="0"/>
          </a:p>
          <a:p>
            <a:pPr>
              <a:buNone/>
            </a:pPr>
            <a:endParaRPr lang="tr-TR" b="1" dirty="0" smtClean="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0" y="274638"/>
            <a:ext cx="8229600" cy="1143000"/>
          </a:xfrm>
        </p:spPr>
        <p:txBody>
          <a:bodyPr>
            <a:normAutofit fontScale="90000"/>
          </a:bodyPr>
          <a:lstStyle/>
          <a:p>
            <a:r>
              <a:rPr lang="tr-TR" b="1" dirty="0" smtClean="0">
                <a:solidFill>
                  <a:srgbClr val="FF0000"/>
                </a:solidFill>
              </a:rPr>
              <a:t/>
            </a:r>
            <a:br>
              <a:rPr lang="tr-TR" b="1" dirty="0" smtClean="0">
                <a:solidFill>
                  <a:srgbClr val="FF0000"/>
                </a:solidFill>
              </a:rPr>
            </a:br>
            <a:endParaRPr lang="tr-TR" dirty="0"/>
          </a:p>
        </p:txBody>
      </p:sp>
      <p:sp>
        <p:nvSpPr>
          <p:cNvPr id="3" name="2 İçerik Yer Tutucusu"/>
          <p:cNvSpPr>
            <a:spLocks noGrp="1"/>
          </p:cNvSpPr>
          <p:nvPr>
            <p:ph idx="4294967295"/>
          </p:nvPr>
        </p:nvSpPr>
        <p:spPr>
          <a:xfrm>
            <a:off x="251520" y="260648"/>
            <a:ext cx="8640960" cy="6336704"/>
          </a:xfrm>
        </p:spPr>
        <p:txBody>
          <a:bodyPr>
            <a:normAutofit fontScale="92500" lnSpcReduction="10000"/>
          </a:bodyPr>
          <a:lstStyle/>
          <a:p>
            <a:pPr>
              <a:buNone/>
            </a:pPr>
            <a:r>
              <a:rPr lang="tr-TR" b="1" dirty="0" smtClean="0">
                <a:solidFill>
                  <a:srgbClr val="FF0000"/>
                </a:solidFill>
              </a:rPr>
              <a:t>			ECHINOCOCCUS   GRANULOSUS </a:t>
            </a:r>
            <a:br>
              <a:rPr lang="tr-TR" b="1" dirty="0" smtClean="0">
                <a:solidFill>
                  <a:srgbClr val="FF0000"/>
                </a:solidFill>
              </a:rPr>
            </a:br>
            <a:r>
              <a:rPr lang="tr-TR" b="1" dirty="0" smtClean="0">
                <a:solidFill>
                  <a:srgbClr val="170AC6"/>
                </a:solidFill>
              </a:rPr>
              <a:t>PARAZİTİN YUMURTALARI DAYANIKLI</a:t>
            </a:r>
            <a:endParaRPr lang="tr-TR" b="1" dirty="0" smtClean="0"/>
          </a:p>
          <a:p>
            <a:r>
              <a:rPr lang="tr-TR" b="1" i="1" dirty="0" smtClean="0"/>
              <a:t>Köpek dışkısı ile atılan yumurtalar çok dayanıklıdır, toprakta ve soğukta bir yıl kadar canlı kalabilirler</a:t>
            </a:r>
          </a:p>
          <a:p>
            <a:r>
              <a:rPr lang="tr-TR" b="1" dirty="0" smtClean="0"/>
              <a:t>Dışkıyla atılan yumurtalar hayvanların ayakları, arazi eğimi, rüzgar ve yağmurla yayılırlar</a:t>
            </a:r>
          </a:p>
          <a:p>
            <a:pPr>
              <a:buNone/>
            </a:pPr>
            <a:r>
              <a:rPr lang="tr-TR" b="1" dirty="0" smtClean="0"/>
              <a:t>		</a:t>
            </a:r>
            <a:r>
              <a:rPr lang="tr-TR" b="1" dirty="0" smtClean="0">
                <a:solidFill>
                  <a:srgbClr val="FF0000"/>
                </a:solidFill>
              </a:rPr>
              <a:t>ÜLKEMİZDE NEDEN EN ÖNEMLİ SORUN</a:t>
            </a:r>
          </a:p>
          <a:p>
            <a:r>
              <a:rPr lang="tr-TR" b="1" dirty="0" smtClean="0"/>
              <a:t>Ülkemizde kist </a:t>
            </a:r>
            <a:r>
              <a:rPr lang="tr-TR" b="1" dirty="0" err="1" smtClean="0"/>
              <a:t>hidatiğin</a:t>
            </a:r>
            <a:r>
              <a:rPr lang="tr-TR" b="1" dirty="0" smtClean="0"/>
              <a:t> sorun olmasının en önemli nedenlerinden birisi de özellikle Kurban Bayramlarında yapılan kesimler sonrası kistli ve hastalıklı sakatatları toprağa gömmek yerine, köpeklere yedirmek yada rastgele ortada bırakarak sokak köpeklerinin bu sakatatlarla beslenmelerine yol açılmasıdır</a:t>
            </a:r>
          </a:p>
          <a:p>
            <a:endParaRPr lang="tr-TR" b="1" dirty="0" smtClean="0"/>
          </a:p>
          <a:p>
            <a:endParaRPr lang="tr-TR" b="1" dirty="0" smtClean="0"/>
          </a:p>
          <a:p>
            <a:endParaRPr lang="tr-TR"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smtClean="0">
                <a:solidFill>
                  <a:srgbClr val="FF0000"/>
                </a:solidFill>
              </a:rPr>
              <a:t>ECHINOCOCCUS GRANULOSUS </a:t>
            </a:r>
            <a:br>
              <a:rPr lang="tr-TR" b="1" dirty="0" smtClean="0">
                <a:solidFill>
                  <a:srgbClr val="FF0000"/>
                </a:solidFill>
              </a:rPr>
            </a:br>
            <a:r>
              <a:rPr lang="tr-TR" b="1" dirty="0" smtClean="0">
                <a:solidFill>
                  <a:srgbClr val="FF0000"/>
                </a:solidFill>
              </a:rPr>
              <a:t>HANGİ HASTALIĞA NEDEN OLUR?</a:t>
            </a:r>
            <a:endParaRPr lang="tr-TR" dirty="0"/>
          </a:p>
        </p:txBody>
      </p:sp>
      <p:sp>
        <p:nvSpPr>
          <p:cNvPr id="3" name="2 İçerik Yer Tutucusu"/>
          <p:cNvSpPr>
            <a:spLocks noGrp="1"/>
          </p:cNvSpPr>
          <p:nvPr>
            <p:ph idx="1"/>
          </p:nvPr>
        </p:nvSpPr>
        <p:spPr>
          <a:xfrm>
            <a:off x="457200" y="1600200"/>
            <a:ext cx="8363272" cy="4997152"/>
          </a:xfrm>
        </p:spPr>
        <p:txBody>
          <a:bodyPr/>
          <a:lstStyle/>
          <a:p>
            <a:r>
              <a:rPr lang="tr-TR" b="1" dirty="0" smtClean="0"/>
              <a:t>Ara konak insan, </a:t>
            </a:r>
            <a:r>
              <a:rPr lang="tr-TR" altLang="tr-TR" b="1" dirty="0" smtClean="0">
                <a:cs typeface="Times New Roman" pitchFamily="18" charset="0"/>
              </a:rPr>
              <a:t>köpek son konaktır</a:t>
            </a:r>
            <a:endParaRPr lang="tr-TR" b="1" dirty="0" smtClean="0"/>
          </a:p>
          <a:p>
            <a:r>
              <a:rPr lang="tr-TR" b="1" dirty="0" smtClean="0"/>
              <a:t>Ara konaklarda </a:t>
            </a:r>
            <a:r>
              <a:rPr lang="tr-TR" b="1" i="1" dirty="0" smtClean="0">
                <a:solidFill>
                  <a:srgbClr val="170AC6"/>
                </a:solidFill>
              </a:rPr>
              <a:t>KİST HİDATİK</a:t>
            </a:r>
            <a:r>
              <a:rPr lang="tr-TR" b="1" dirty="0" smtClean="0">
                <a:solidFill>
                  <a:srgbClr val="170AC6"/>
                </a:solidFill>
              </a:rPr>
              <a:t> </a:t>
            </a:r>
            <a:r>
              <a:rPr lang="tr-TR" b="1" dirty="0" smtClean="0"/>
              <a:t>adı verilen hastalığa neden olur </a:t>
            </a:r>
          </a:p>
          <a:p>
            <a:pPr>
              <a:buNone/>
            </a:pPr>
            <a:endParaRPr lang="tr-TR" dirty="0"/>
          </a:p>
        </p:txBody>
      </p:sp>
      <p:pic>
        <p:nvPicPr>
          <p:cNvPr id="4" name="Picture 2" descr="C:\Users\user\Desktop\thumb_ekinokokoz.jpg"/>
          <p:cNvPicPr>
            <a:picLocks noChangeAspect="1" noChangeArrowheads="1"/>
          </p:cNvPicPr>
          <p:nvPr/>
        </p:nvPicPr>
        <p:blipFill>
          <a:blip r:embed="rId2" cstate="print"/>
          <a:srcRect/>
          <a:stretch>
            <a:fillRect/>
          </a:stretch>
        </p:blipFill>
        <p:spPr bwMode="auto">
          <a:xfrm>
            <a:off x="2411760" y="3501008"/>
            <a:ext cx="5472608" cy="3024336"/>
          </a:xfrm>
          <a:prstGeom prst="rect">
            <a:avLst/>
          </a:prstGeom>
          <a:noFill/>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4294967295"/>
          </p:nvPr>
        </p:nvPicPr>
        <p:blipFill>
          <a:blip r:embed="rId2" cstate="print"/>
          <a:srcRect/>
          <a:stretch>
            <a:fillRect/>
          </a:stretch>
        </p:blipFill>
        <p:spPr bwMode="auto">
          <a:xfrm>
            <a:off x="611560" y="188640"/>
            <a:ext cx="8229600" cy="3168352"/>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251520" y="3501008"/>
            <a:ext cx="6048672" cy="3140968"/>
          </a:xfrm>
          <a:prstGeom prst="rect">
            <a:avLst/>
          </a:prstGeom>
          <a:noFill/>
          <a:ln w="9525">
            <a:noFill/>
            <a:miter lim="800000"/>
            <a:headEnd/>
            <a:tailEnd/>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l_fi" descr="echinococcus3(quistes)"/>
          <p:cNvPicPr>
            <a:picLocks noChangeAspect="1" noChangeArrowheads="1"/>
          </p:cNvPicPr>
          <p:nvPr/>
        </p:nvPicPr>
        <p:blipFill>
          <a:blip r:embed="rId2" cstate="print"/>
          <a:srcRect/>
          <a:stretch>
            <a:fillRect/>
          </a:stretch>
        </p:blipFill>
        <p:spPr bwMode="auto">
          <a:xfrm>
            <a:off x="4139952" y="332656"/>
            <a:ext cx="4680520" cy="4212468"/>
          </a:xfrm>
          <a:prstGeom prst="rect">
            <a:avLst/>
          </a:prstGeom>
          <a:noFill/>
          <a:ln w="9525">
            <a:noFill/>
            <a:miter lim="800000"/>
            <a:headEnd/>
            <a:tailEnd/>
          </a:ln>
        </p:spPr>
      </p:pic>
      <p:pic>
        <p:nvPicPr>
          <p:cNvPr id="3" name="Picture 2" descr="C:\Users\Pc\Desktop\imagesGM3DWAOS.jpg"/>
          <p:cNvPicPr>
            <a:picLocks noChangeAspect="1" noChangeArrowheads="1"/>
          </p:cNvPicPr>
          <p:nvPr/>
        </p:nvPicPr>
        <p:blipFill>
          <a:blip r:embed="rId3" cstate="print"/>
          <a:srcRect/>
          <a:stretch>
            <a:fillRect/>
          </a:stretch>
        </p:blipFill>
        <p:spPr bwMode="auto">
          <a:xfrm>
            <a:off x="251520" y="1268760"/>
            <a:ext cx="4608512" cy="4968552"/>
          </a:xfrm>
          <a:prstGeom prst="rect">
            <a:avLst/>
          </a:prstGeom>
          <a:noFill/>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260648"/>
            <a:ext cx="8568952" cy="6336704"/>
          </a:xfrm>
        </p:spPr>
        <p:txBody>
          <a:bodyPr>
            <a:normAutofit/>
          </a:bodyPr>
          <a:lstStyle/>
          <a:p>
            <a:pPr>
              <a:buNone/>
            </a:pPr>
            <a:r>
              <a:rPr lang="tr-TR" sz="2800" b="1" dirty="0" smtClean="0"/>
              <a:t>				</a:t>
            </a:r>
            <a:r>
              <a:rPr lang="tr-TR" sz="2800" b="1" dirty="0" smtClean="0">
                <a:solidFill>
                  <a:srgbClr val="FF0000"/>
                </a:solidFill>
              </a:rPr>
              <a:t>TEDAVİ</a:t>
            </a:r>
          </a:p>
          <a:p>
            <a:r>
              <a:rPr lang="tr-TR" sz="2800" b="1" dirty="0" err="1" smtClean="0">
                <a:solidFill>
                  <a:srgbClr val="FF0000"/>
                </a:solidFill>
              </a:rPr>
              <a:t>Kistik</a:t>
            </a:r>
            <a:r>
              <a:rPr lang="tr-TR" sz="2800" b="1" dirty="0" smtClean="0">
                <a:solidFill>
                  <a:srgbClr val="FF0000"/>
                </a:solidFill>
              </a:rPr>
              <a:t> </a:t>
            </a:r>
            <a:r>
              <a:rPr lang="tr-TR" sz="2800" b="1" dirty="0" err="1" smtClean="0">
                <a:solidFill>
                  <a:srgbClr val="FF0000"/>
                </a:solidFill>
              </a:rPr>
              <a:t>ekinokokoz</a:t>
            </a:r>
            <a:r>
              <a:rPr lang="tr-TR" sz="2800" b="1" dirty="0" smtClean="0">
                <a:solidFill>
                  <a:srgbClr val="FF0000"/>
                </a:solidFill>
              </a:rPr>
              <a:t> un tedavisi cerrahidir</a:t>
            </a:r>
          </a:p>
          <a:p>
            <a:pPr>
              <a:buNone/>
            </a:pPr>
            <a:endParaRPr lang="tr-TR" sz="2800" b="1" dirty="0" smtClean="0"/>
          </a:p>
        </p:txBody>
      </p:sp>
      <p:pic>
        <p:nvPicPr>
          <p:cNvPr id="4" name="Picture 2" descr="C:\Users\Pc\Desktop\kopek-kisti.jpg"/>
          <p:cNvPicPr>
            <a:picLocks noChangeAspect="1" noChangeArrowheads="1"/>
          </p:cNvPicPr>
          <p:nvPr/>
        </p:nvPicPr>
        <p:blipFill>
          <a:blip r:embed="rId2" cstate="print"/>
          <a:srcRect/>
          <a:stretch>
            <a:fillRect/>
          </a:stretch>
        </p:blipFill>
        <p:spPr bwMode="auto">
          <a:xfrm>
            <a:off x="3563888" y="1412776"/>
            <a:ext cx="5105700" cy="3452063"/>
          </a:xfrm>
          <a:prstGeom prst="rect">
            <a:avLst/>
          </a:prstGeom>
          <a:noFill/>
        </p:spPr>
      </p:pic>
      <p:pic>
        <p:nvPicPr>
          <p:cNvPr id="5" name="Picture 2" descr="C:\Users\Pc\Desktop\images7887JBEB.jpg"/>
          <p:cNvPicPr>
            <a:picLocks noChangeAspect="1" noChangeArrowheads="1"/>
          </p:cNvPicPr>
          <p:nvPr/>
        </p:nvPicPr>
        <p:blipFill>
          <a:blip r:embed="rId3" cstate="print"/>
          <a:srcRect/>
          <a:stretch>
            <a:fillRect/>
          </a:stretch>
        </p:blipFill>
        <p:spPr bwMode="auto">
          <a:xfrm>
            <a:off x="467544" y="1412776"/>
            <a:ext cx="3024336" cy="2304256"/>
          </a:xfrm>
          <a:prstGeom prst="rect">
            <a:avLst/>
          </a:prstGeom>
          <a:noFill/>
        </p:spPr>
      </p:pic>
      <p:pic>
        <p:nvPicPr>
          <p:cNvPr id="6" name="Picture 2" descr="C:\Users\user\Desktop\kist-hidatik-fazlas-iin-wwwtipfakultesiorg-6-728.jpg"/>
          <p:cNvPicPr>
            <a:picLocks noChangeAspect="1" noChangeArrowheads="1"/>
          </p:cNvPicPr>
          <p:nvPr/>
        </p:nvPicPr>
        <p:blipFill>
          <a:blip r:embed="rId4" cstate="print"/>
          <a:srcRect/>
          <a:stretch>
            <a:fillRect/>
          </a:stretch>
        </p:blipFill>
        <p:spPr bwMode="auto">
          <a:xfrm>
            <a:off x="323528" y="4077072"/>
            <a:ext cx="3419872" cy="2564904"/>
          </a:xfrm>
          <a:prstGeom prst="rect">
            <a:avLst/>
          </a:prstGeom>
          <a:noFill/>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smtClean="0">
                <a:solidFill>
                  <a:srgbClr val="FF0000"/>
                </a:solidFill>
              </a:rPr>
              <a:t>HASTALIKTAN KORUNMAK İÇİN NELER YAPILMALIDIR?</a:t>
            </a:r>
            <a:endParaRPr lang="tr-TR" sz="3600" dirty="0">
              <a:solidFill>
                <a:srgbClr val="FF0000"/>
              </a:solidFill>
            </a:endParaRPr>
          </a:p>
        </p:txBody>
      </p:sp>
      <p:sp>
        <p:nvSpPr>
          <p:cNvPr id="3" name="2 İçerik Yer Tutucusu"/>
          <p:cNvSpPr>
            <a:spLocks noGrp="1"/>
          </p:cNvSpPr>
          <p:nvPr>
            <p:ph idx="1"/>
          </p:nvPr>
        </p:nvSpPr>
        <p:spPr>
          <a:xfrm>
            <a:off x="457200" y="1600200"/>
            <a:ext cx="8229600" cy="4997152"/>
          </a:xfrm>
        </p:spPr>
        <p:txBody>
          <a:bodyPr>
            <a:normAutofit fontScale="92500" lnSpcReduction="10000"/>
          </a:bodyPr>
          <a:lstStyle/>
          <a:p>
            <a:r>
              <a:rPr lang="tr-TR" sz="2800" b="1" dirty="0" smtClean="0"/>
              <a:t>Köpek ve kedilere çiğ gıdalar ile kistli iç organlar kesinlikle yedirilmemelidir</a:t>
            </a:r>
          </a:p>
          <a:p>
            <a:r>
              <a:rPr lang="tr-TR" sz="2800" b="1" dirty="0" smtClean="0"/>
              <a:t>Özellikle kurban bayramlarında bu hususlara daha çok dikkat edilmelidir. Kurban kesimi için belediyelerce tahsis edilen özel kesim yerleri kullanılmalı ve kesimler veteriner hekim gözetiminde yapılmalıdır</a:t>
            </a:r>
          </a:p>
          <a:p>
            <a:r>
              <a:rPr lang="tr-TR" sz="2800" b="1" dirty="0" smtClean="0"/>
              <a:t>Sahipli köpek ve kediler, muhakkak parazit yönünden tedavi ettirilmeli ve sahiplerince gezdirilirken etrafa dışkılamaları halinde mümkünse dışkı uygun bir şekilde toplanıp bertaraf edilmelidir</a:t>
            </a:r>
          </a:p>
          <a:p>
            <a:r>
              <a:rPr lang="tr-TR" sz="2800" b="1" dirty="0" smtClean="0"/>
              <a:t>Köpekler, çocukların oyun oynadıkları oyun bahçesi, park, okul bahçesi gibi yerlerde dolaştırılmamalıdır</a:t>
            </a:r>
            <a:endParaRPr lang="tr-TR" sz="2800" b="1"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3600" b="1" dirty="0" smtClean="0">
                <a:solidFill>
                  <a:srgbClr val="FF0000"/>
                </a:solidFill>
              </a:rPr>
              <a:t>HASTALIKTAN KORUNMAK İÇİN NELER YAPILMALIDIR?</a:t>
            </a:r>
            <a:endParaRPr lang="tr-TR" sz="3600" dirty="0">
              <a:solidFill>
                <a:srgbClr val="FF0000"/>
              </a:solidFill>
            </a:endParaRPr>
          </a:p>
        </p:txBody>
      </p:sp>
      <p:sp>
        <p:nvSpPr>
          <p:cNvPr id="3" name="2 İçerik Yer Tutucusu"/>
          <p:cNvSpPr>
            <a:spLocks noGrp="1"/>
          </p:cNvSpPr>
          <p:nvPr>
            <p:ph idx="1"/>
          </p:nvPr>
        </p:nvSpPr>
        <p:spPr/>
        <p:txBody>
          <a:bodyPr>
            <a:normAutofit fontScale="77500" lnSpcReduction="20000"/>
          </a:bodyPr>
          <a:lstStyle/>
          <a:p>
            <a:r>
              <a:rPr lang="tr-TR" b="1" dirty="0" smtClean="0"/>
              <a:t>Köpekler parazit yumurtaları burunlarına ve tüylerine bulaştırabilirler</a:t>
            </a:r>
          </a:p>
          <a:p>
            <a:pPr>
              <a:buNone/>
            </a:pPr>
            <a:endParaRPr lang="tr-TR" b="1" dirty="0" smtClean="0"/>
          </a:p>
          <a:p>
            <a:r>
              <a:rPr lang="tr-TR" b="1" dirty="0" smtClean="0">
                <a:solidFill>
                  <a:srgbClr val="FF0000"/>
                </a:solidFill>
              </a:rPr>
              <a:t>Parazit mücadelesi yapılmadan serbest dolaşan köpeklerin okşanması ve sevilmesi sırasında parazit yumurtaları ellere bulaşabilir</a:t>
            </a:r>
          </a:p>
          <a:p>
            <a:pPr>
              <a:buNone/>
            </a:pPr>
            <a:endParaRPr lang="tr-TR" b="1" dirty="0" smtClean="0"/>
          </a:p>
          <a:p>
            <a:r>
              <a:rPr lang="tr-TR" b="1" dirty="0" smtClean="0"/>
              <a:t>Bu şekilde kirlenen ellerin yıkanmadan </a:t>
            </a:r>
            <a:r>
              <a:rPr lang="tr-TR" b="1" dirty="0" err="1" smtClean="0"/>
              <a:t>ağıza</a:t>
            </a:r>
            <a:r>
              <a:rPr lang="tr-TR" b="1" dirty="0" smtClean="0"/>
              <a:t> götürülmesi ile parazitin yumurtası alınır</a:t>
            </a:r>
          </a:p>
          <a:p>
            <a:pPr>
              <a:buNone/>
            </a:pPr>
            <a:endParaRPr lang="tr-TR" b="1" dirty="0" smtClean="0"/>
          </a:p>
          <a:p>
            <a:r>
              <a:rPr lang="tr-TR" b="1" dirty="0" smtClean="0">
                <a:solidFill>
                  <a:srgbClr val="FF0000"/>
                </a:solidFill>
              </a:rPr>
              <a:t>Bu nedenle, özellikle çocukların sokak köpekleri ile oynamalarına izin verilmemeli, temas halinde ellerin bol su ve sabunla yıkanması sağlanmalıdır.</a:t>
            </a:r>
            <a:endParaRPr lang="tr-TR" b="1" dirty="0">
              <a:solidFill>
                <a:srgbClr val="FF0000"/>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3200" b="1" dirty="0" smtClean="0">
                <a:solidFill>
                  <a:srgbClr val="FF0000"/>
                </a:solidFill>
              </a:rPr>
              <a:t>HASTALIKTAN KORUNMAK İÇİN NELER YAPILMALIDIR?</a:t>
            </a:r>
            <a:endParaRPr lang="tr-TR" sz="3200" dirty="0">
              <a:solidFill>
                <a:srgbClr val="FF0000"/>
              </a:solidFill>
            </a:endParaRPr>
          </a:p>
        </p:txBody>
      </p:sp>
      <p:sp>
        <p:nvSpPr>
          <p:cNvPr id="3" name="2 İçerik Yer Tutucusu"/>
          <p:cNvSpPr>
            <a:spLocks noGrp="1"/>
          </p:cNvSpPr>
          <p:nvPr>
            <p:ph idx="1"/>
          </p:nvPr>
        </p:nvSpPr>
        <p:spPr/>
        <p:txBody>
          <a:bodyPr/>
          <a:lstStyle/>
          <a:p>
            <a:r>
              <a:rPr lang="tr-TR" b="1" dirty="0" smtClean="0"/>
              <a:t>Kedi ve köpeklerinizi yılda 4 kez iç parazitlere karşı aşılatın</a:t>
            </a:r>
          </a:p>
          <a:p>
            <a:r>
              <a:rPr lang="tr-TR" b="1" dirty="0" smtClean="0"/>
              <a:t>Hasta insanlar tedavi edilmeli</a:t>
            </a:r>
          </a:p>
          <a:p>
            <a:r>
              <a:rPr lang="tr-TR" b="1" dirty="0" smtClean="0"/>
              <a:t>Sığır eti iyice pişirilmeden yenmemeli </a:t>
            </a:r>
          </a:p>
          <a:p>
            <a:r>
              <a:rPr lang="tr-TR" b="1" dirty="0" smtClean="0"/>
              <a:t>Etleri buzdolabında saklama kurallarını iyi öğrenmeli</a:t>
            </a:r>
          </a:p>
          <a:p>
            <a:r>
              <a:rPr lang="tr-TR" b="1" dirty="0" smtClean="0"/>
              <a:t>Sucuk ,pastırma gibi yiyecekler kurallara uygun olarak hazırlanmalı</a:t>
            </a:r>
          </a:p>
          <a:p>
            <a:pPr>
              <a:buNone/>
            </a:pPr>
            <a:endParaRPr lang="tr-TR" dirty="0" smtClean="0"/>
          </a:p>
          <a:p>
            <a:endParaRPr lang="tr-TR" b="1"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casper\Desktop\1.jpg"/>
          <p:cNvPicPr>
            <a:picLocks noGrp="1" noChangeAspect="1" noChangeArrowheads="1"/>
          </p:cNvPicPr>
          <p:nvPr>
            <p:ph idx="4294967295"/>
          </p:nvPr>
        </p:nvPicPr>
        <p:blipFill>
          <a:blip r:embed="rId2" cstate="print"/>
          <a:srcRect/>
          <a:stretch>
            <a:fillRect/>
          </a:stretch>
        </p:blipFill>
        <p:spPr bwMode="auto">
          <a:xfrm>
            <a:off x="323528" y="2924944"/>
            <a:ext cx="6429375" cy="3698875"/>
          </a:xfrm>
          <a:prstGeom prst="rect">
            <a:avLst/>
          </a:prstGeom>
          <a:noFill/>
        </p:spPr>
      </p:pic>
      <p:pic>
        <p:nvPicPr>
          <p:cNvPr id="8" name="Picture 3" descr="C:\Users\casper\Desktop\untitled.png"/>
          <p:cNvPicPr>
            <a:picLocks noChangeAspect="1" noChangeArrowheads="1"/>
          </p:cNvPicPr>
          <p:nvPr/>
        </p:nvPicPr>
        <p:blipFill>
          <a:blip r:embed="rId3" cstate="print"/>
          <a:srcRect/>
          <a:stretch>
            <a:fillRect/>
          </a:stretch>
        </p:blipFill>
        <p:spPr bwMode="auto">
          <a:xfrm>
            <a:off x="5796136" y="3892090"/>
            <a:ext cx="3089593" cy="2965910"/>
          </a:xfrm>
          <a:prstGeom prst="rect">
            <a:avLst/>
          </a:prstGeom>
          <a:noFill/>
        </p:spPr>
      </p:pic>
      <p:pic>
        <p:nvPicPr>
          <p:cNvPr id="9" name="Picture 2" descr="C:\Users\casper\Desktop\imagesCA17PZHG.jpg"/>
          <p:cNvPicPr>
            <a:picLocks noChangeAspect="1" noChangeArrowheads="1"/>
          </p:cNvPicPr>
          <p:nvPr/>
        </p:nvPicPr>
        <p:blipFill>
          <a:blip r:embed="rId4" cstate="print"/>
          <a:srcRect/>
          <a:stretch>
            <a:fillRect/>
          </a:stretch>
        </p:blipFill>
        <p:spPr bwMode="auto">
          <a:xfrm>
            <a:off x="395536" y="404664"/>
            <a:ext cx="4133779" cy="3096344"/>
          </a:xfrm>
          <a:prstGeom prst="rect">
            <a:avLst/>
          </a:prstGeom>
          <a:noFill/>
        </p:spPr>
      </p:pic>
      <p:pic>
        <p:nvPicPr>
          <p:cNvPr id="10" name="Picture 3" descr="C:\Users\casper\Desktop\çiğ.png"/>
          <p:cNvPicPr>
            <a:picLocks noChangeAspect="1" noChangeArrowheads="1"/>
          </p:cNvPicPr>
          <p:nvPr/>
        </p:nvPicPr>
        <p:blipFill>
          <a:blip r:embed="rId5" cstate="print"/>
          <a:srcRect/>
          <a:stretch>
            <a:fillRect/>
          </a:stretch>
        </p:blipFill>
        <p:spPr bwMode="auto">
          <a:xfrm>
            <a:off x="4788024" y="476672"/>
            <a:ext cx="3851920" cy="2885222"/>
          </a:xfrm>
          <a:prstGeom prst="rect">
            <a:avLst/>
          </a:prstGeom>
          <a:noFill/>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user\Desktop\en-cok-karanfil-gerbera-ve-gul-uretildi-9034710_9607_o.jpg"/>
          <p:cNvPicPr>
            <a:picLocks noGrp="1" noChangeAspect="1" noChangeArrowheads="1"/>
          </p:cNvPicPr>
          <p:nvPr>
            <p:ph idx="4294967295"/>
          </p:nvPr>
        </p:nvPicPr>
        <p:blipFill>
          <a:blip r:embed="rId2" cstate="print"/>
          <a:srcRect/>
          <a:stretch>
            <a:fillRect/>
          </a:stretch>
        </p:blipFill>
        <p:spPr bwMode="auto">
          <a:xfrm>
            <a:off x="1115616" y="692696"/>
            <a:ext cx="7056437" cy="5027613"/>
          </a:xfrm>
          <a:prstGeom prst="rect">
            <a:avLst/>
          </a:prstGeom>
          <a:noFill/>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000" b="1" dirty="0" smtClean="0">
                <a:solidFill>
                  <a:srgbClr val="FF0000"/>
                </a:solidFill>
                <a:latin typeface="+mn-lt"/>
              </a:rPr>
              <a:t>ASCARİS LUMBRİCOİDES</a:t>
            </a:r>
            <a:endParaRPr lang="tr-TR" sz="4000" b="1" dirty="0">
              <a:solidFill>
                <a:srgbClr val="FF0000"/>
              </a:solidFill>
              <a:latin typeface="+mn-lt"/>
            </a:endParaRPr>
          </a:p>
        </p:txBody>
      </p:sp>
      <p:sp>
        <p:nvSpPr>
          <p:cNvPr id="3" name="2 İçerik Yer Tutucusu"/>
          <p:cNvSpPr>
            <a:spLocks noGrp="1"/>
          </p:cNvSpPr>
          <p:nvPr>
            <p:ph idx="1"/>
          </p:nvPr>
        </p:nvSpPr>
        <p:spPr/>
        <p:txBody>
          <a:bodyPr>
            <a:normAutofit fontScale="77500" lnSpcReduction="20000"/>
          </a:bodyPr>
          <a:lstStyle/>
          <a:p>
            <a:r>
              <a:rPr lang="tr-TR" b="1" dirty="0" smtClean="0"/>
              <a:t>İnsanda ince </a:t>
            </a:r>
            <a:r>
              <a:rPr lang="tr-TR" b="1" dirty="0" err="1" smtClean="0"/>
              <a:t>barsağa</a:t>
            </a:r>
            <a:r>
              <a:rPr lang="tr-TR" b="1" dirty="0" smtClean="0"/>
              <a:t> yerleşen </a:t>
            </a:r>
            <a:r>
              <a:rPr lang="tr-TR" b="1" dirty="0" err="1" smtClean="0"/>
              <a:t>nematod</a:t>
            </a:r>
            <a:r>
              <a:rPr lang="tr-TR" b="1" dirty="0" smtClean="0"/>
              <a:t> dur</a:t>
            </a:r>
          </a:p>
          <a:p>
            <a:pPr>
              <a:buNone/>
            </a:pPr>
            <a:endParaRPr lang="tr-TR" b="1" dirty="0" smtClean="0"/>
          </a:p>
          <a:p>
            <a:r>
              <a:rPr lang="tr-TR" b="1" dirty="0" smtClean="0"/>
              <a:t>Omurgasız olan bu canlı, ince bağırsağa yerleşerek enfeksiyona neden olur</a:t>
            </a:r>
          </a:p>
          <a:p>
            <a:pPr>
              <a:buNone/>
            </a:pPr>
            <a:r>
              <a:rPr lang="tr-TR" b="1" dirty="0" smtClean="0"/>
              <a:t> </a:t>
            </a:r>
          </a:p>
          <a:p>
            <a:r>
              <a:rPr lang="tr-TR" b="1" dirty="0" smtClean="0"/>
              <a:t>Karın ağrısı, ishal ve kusma yapar. İlaçla tedavi edilir</a:t>
            </a:r>
          </a:p>
          <a:p>
            <a:pPr>
              <a:buNone/>
            </a:pPr>
            <a:endParaRPr lang="tr-TR" b="1" dirty="0" smtClean="0"/>
          </a:p>
          <a:p>
            <a:r>
              <a:rPr lang="tr-TR" b="1" dirty="0" smtClean="0"/>
              <a:t>Asalak olarak yaşar ve silindirik yapıdadır</a:t>
            </a:r>
          </a:p>
          <a:p>
            <a:pPr>
              <a:buNone/>
            </a:pPr>
            <a:endParaRPr lang="tr-TR" b="1" dirty="0" smtClean="0"/>
          </a:p>
          <a:p>
            <a:r>
              <a:rPr lang="tr-TR" b="1" dirty="0" smtClean="0"/>
              <a:t>35 cm uzunluğa ulaşabilir</a:t>
            </a:r>
          </a:p>
          <a:p>
            <a:pPr>
              <a:buNone/>
            </a:pPr>
            <a:endParaRPr lang="tr-TR" b="1" dirty="0" smtClean="0"/>
          </a:p>
          <a:p>
            <a:r>
              <a:rPr lang="tr-TR" b="1" dirty="0" smtClean="0"/>
              <a:t>Ateş,terleme,döküntü,astım benzeri şikayetler görülür</a:t>
            </a:r>
          </a:p>
          <a:p>
            <a:endParaRPr lang="tr-TR" b="1" dirty="0" smtClean="0"/>
          </a:p>
          <a:p>
            <a:endParaRPr lang="tr-TR" b="1"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000" b="1" dirty="0" smtClean="0">
                <a:solidFill>
                  <a:srgbClr val="FF0000"/>
                </a:solidFill>
              </a:rPr>
              <a:t>ASCARİS LUMBRİCOİDES NEDİR?</a:t>
            </a:r>
            <a:endParaRPr lang="tr-TR" sz="4000" dirty="0">
              <a:solidFill>
                <a:srgbClr val="FF0000"/>
              </a:solidFill>
            </a:endParaRPr>
          </a:p>
        </p:txBody>
      </p:sp>
      <p:sp>
        <p:nvSpPr>
          <p:cNvPr id="3" name="2 İçerik Yer Tutucusu"/>
          <p:cNvSpPr>
            <a:spLocks noGrp="1"/>
          </p:cNvSpPr>
          <p:nvPr>
            <p:ph idx="1"/>
          </p:nvPr>
        </p:nvSpPr>
        <p:spPr/>
        <p:txBody>
          <a:bodyPr>
            <a:noAutofit/>
          </a:bodyPr>
          <a:lstStyle/>
          <a:p>
            <a:pPr>
              <a:buNone/>
            </a:pPr>
            <a:endParaRPr lang="tr-TR" sz="2400" b="1" dirty="0" smtClean="0"/>
          </a:p>
          <a:p>
            <a:r>
              <a:rPr lang="tr-TR" sz="2400" b="1" dirty="0" smtClean="0"/>
              <a:t>Ülkemizde de daha çok Güneydoğu, Doğu, İç Anadolu bölgelerinde görülen , ancak tüm ülke genelinde yayılmış olan bir hastalıktır</a:t>
            </a:r>
          </a:p>
          <a:p>
            <a:endParaRPr lang="tr-TR" sz="2400" b="1"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000" b="1" dirty="0" smtClean="0">
                <a:solidFill>
                  <a:srgbClr val="FF0000"/>
                </a:solidFill>
              </a:rPr>
              <a:t>ASCARİS LUMBRİCOİDES</a:t>
            </a:r>
            <a:endParaRPr lang="tr-TR" sz="4000" dirty="0">
              <a:solidFill>
                <a:srgbClr val="FF0000"/>
              </a:solidFill>
            </a:endParaRPr>
          </a:p>
        </p:txBody>
      </p:sp>
      <p:sp>
        <p:nvSpPr>
          <p:cNvPr id="3" name="2 İçerik Yer Tutucusu"/>
          <p:cNvSpPr>
            <a:spLocks noGrp="1"/>
          </p:cNvSpPr>
          <p:nvPr>
            <p:ph idx="1"/>
          </p:nvPr>
        </p:nvSpPr>
        <p:spPr/>
        <p:txBody>
          <a:bodyPr>
            <a:normAutofit fontScale="92500" lnSpcReduction="20000"/>
          </a:bodyPr>
          <a:lstStyle/>
          <a:p>
            <a:r>
              <a:rPr lang="tr-TR" b="1" dirty="0" smtClean="0"/>
              <a:t>İnce </a:t>
            </a:r>
            <a:r>
              <a:rPr lang="tr-TR" b="1" dirty="0" err="1" smtClean="0"/>
              <a:t>barsaktan</a:t>
            </a:r>
            <a:r>
              <a:rPr lang="tr-TR" b="1" dirty="0" smtClean="0"/>
              <a:t> mideye çıkar hatta AĞIZ,BURUN VEYA ANÜSTEN   dışarı çıkar</a:t>
            </a:r>
          </a:p>
          <a:p>
            <a:r>
              <a:rPr lang="tr-TR" b="1" dirty="0" smtClean="0"/>
              <a:t>Larvaları, kirli sular ve yiyeceklerle bağırsağa yerleşir</a:t>
            </a:r>
          </a:p>
          <a:p>
            <a:r>
              <a:rPr lang="tr-TR" b="1" dirty="0" smtClean="0"/>
              <a:t>Larvalar, akciğere ulaşırsa, akciğer iltihabına (</a:t>
            </a:r>
            <a:r>
              <a:rPr lang="tr-TR" b="1" i="1" dirty="0" err="1" smtClean="0"/>
              <a:t>Löffler</a:t>
            </a:r>
            <a:r>
              <a:rPr lang="tr-TR" b="1" i="1" dirty="0" smtClean="0"/>
              <a:t> </a:t>
            </a:r>
            <a:r>
              <a:rPr lang="tr-TR" b="1" i="1" dirty="0" err="1" smtClean="0"/>
              <a:t>pnömonisi</a:t>
            </a:r>
            <a:r>
              <a:rPr lang="tr-TR" b="1" dirty="0" smtClean="0"/>
              <a:t>) yol açar</a:t>
            </a:r>
          </a:p>
          <a:p>
            <a:r>
              <a:rPr lang="tr-TR" b="1" dirty="0" smtClean="0"/>
              <a:t>Bazen </a:t>
            </a:r>
            <a:r>
              <a:rPr lang="tr-TR" b="1" dirty="0" err="1" smtClean="0"/>
              <a:t>apendiste</a:t>
            </a:r>
            <a:r>
              <a:rPr lang="tr-TR" b="1" dirty="0" smtClean="0"/>
              <a:t> yerleşir,safra yolu veya karaciğerde apse oluşturur</a:t>
            </a:r>
          </a:p>
          <a:p>
            <a:r>
              <a:rPr lang="tr-TR" b="1" dirty="0" smtClean="0"/>
              <a:t>Barsak tıkanıklığına yol açarak ölümlere neden olur</a:t>
            </a:r>
          </a:p>
          <a:p>
            <a:endParaRPr lang="tr-TR"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Grp="1" noChangeAspect="1" noChangeArrowheads="1"/>
          </p:cNvPicPr>
          <p:nvPr>
            <p:ph idx="4294967295"/>
          </p:nvPr>
        </p:nvPicPr>
        <p:blipFill>
          <a:blip r:embed="rId2" cstate="print"/>
          <a:srcRect/>
          <a:stretch>
            <a:fillRect/>
          </a:stretch>
        </p:blipFill>
        <p:spPr bwMode="auto">
          <a:xfrm>
            <a:off x="1979712" y="620688"/>
            <a:ext cx="5040313" cy="3529012"/>
          </a:xfrm>
          <a:prstGeom prst="rect">
            <a:avLst/>
          </a:prstGeom>
          <a:noFill/>
          <a:ln w="9525">
            <a:noFill/>
            <a:miter lim="800000"/>
            <a:headEnd/>
            <a:tailEnd/>
          </a:ln>
        </p:spPr>
      </p:pic>
      <p:pic>
        <p:nvPicPr>
          <p:cNvPr id="13315" name="Picture 3"/>
          <p:cNvPicPr>
            <a:picLocks noChangeAspect="1" noChangeArrowheads="1"/>
          </p:cNvPicPr>
          <p:nvPr/>
        </p:nvPicPr>
        <p:blipFill>
          <a:blip r:embed="rId3" cstate="print"/>
          <a:srcRect/>
          <a:stretch>
            <a:fillRect/>
          </a:stretch>
        </p:blipFill>
        <p:spPr bwMode="auto">
          <a:xfrm>
            <a:off x="1979712" y="4149080"/>
            <a:ext cx="5040560" cy="1903462"/>
          </a:xfrm>
          <a:prstGeom prst="rect">
            <a:avLst/>
          </a:prstGeom>
          <a:noFill/>
          <a:ln w="9525">
            <a:noFill/>
            <a:miter lim="800000"/>
            <a:headEnd/>
            <a:tailEnd/>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Pc\Desktop\imagesM9KASRKD.jpg"/>
          <p:cNvPicPr>
            <a:picLocks noGrp="1" noChangeAspect="1" noChangeArrowheads="1"/>
          </p:cNvPicPr>
          <p:nvPr>
            <p:ph idx="4294967295"/>
          </p:nvPr>
        </p:nvPicPr>
        <p:blipFill>
          <a:blip r:embed="rId2" cstate="print"/>
          <a:srcRect/>
          <a:stretch>
            <a:fillRect/>
          </a:stretch>
        </p:blipFill>
        <p:spPr bwMode="auto">
          <a:xfrm>
            <a:off x="323528" y="188640"/>
            <a:ext cx="3857625" cy="3214687"/>
          </a:xfrm>
          <a:prstGeom prst="rect">
            <a:avLst/>
          </a:prstGeom>
          <a:noFill/>
        </p:spPr>
      </p:pic>
      <p:pic>
        <p:nvPicPr>
          <p:cNvPr id="2051" name="Picture 3" descr="C:\Users\Pc\Desktop\untitled.png"/>
          <p:cNvPicPr>
            <a:picLocks noChangeAspect="1" noChangeArrowheads="1"/>
          </p:cNvPicPr>
          <p:nvPr/>
        </p:nvPicPr>
        <p:blipFill>
          <a:blip r:embed="rId3" cstate="print"/>
          <a:srcRect/>
          <a:stretch>
            <a:fillRect/>
          </a:stretch>
        </p:blipFill>
        <p:spPr bwMode="auto">
          <a:xfrm>
            <a:off x="3779912" y="2420888"/>
            <a:ext cx="5083192" cy="3824760"/>
          </a:xfrm>
          <a:prstGeom prst="rect">
            <a:avLst/>
          </a:prstGeom>
          <a:noFill/>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Pc\Desktop\mqdefault.jpg"/>
          <p:cNvPicPr>
            <a:picLocks noGrp="1" noChangeAspect="1" noChangeArrowheads="1"/>
          </p:cNvPicPr>
          <p:nvPr>
            <p:ph idx="4294967295"/>
          </p:nvPr>
        </p:nvPicPr>
        <p:blipFill>
          <a:blip r:embed="rId2" cstate="print"/>
          <a:srcRect/>
          <a:stretch>
            <a:fillRect/>
          </a:stretch>
        </p:blipFill>
        <p:spPr bwMode="auto">
          <a:xfrm>
            <a:off x="539552" y="620688"/>
            <a:ext cx="8215312" cy="5286375"/>
          </a:xfrm>
          <a:prstGeom prst="rect">
            <a:avLst/>
          </a:prstGeom>
          <a:noFill/>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Pc\Desktop\203688-16190.jpg"/>
          <p:cNvPicPr>
            <a:picLocks noGrp="1" noChangeAspect="1" noChangeArrowheads="1"/>
          </p:cNvPicPr>
          <p:nvPr>
            <p:ph idx="4294967295"/>
          </p:nvPr>
        </p:nvPicPr>
        <p:blipFill>
          <a:blip r:embed="rId2" cstate="print"/>
          <a:srcRect/>
          <a:stretch>
            <a:fillRect/>
          </a:stretch>
        </p:blipFill>
        <p:spPr bwMode="auto">
          <a:xfrm>
            <a:off x="467544" y="836712"/>
            <a:ext cx="8237537" cy="5197475"/>
          </a:xfrm>
          <a:prstGeom prst="rect">
            <a:avLst/>
          </a:prstGeom>
          <a:noFill/>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539552" y="274638"/>
            <a:ext cx="7690048" cy="1143000"/>
          </a:xfrm>
        </p:spPr>
        <p:txBody>
          <a:bodyPr>
            <a:normAutofit/>
          </a:bodyPr>
          <a:lstStyle/>
          <a:p>
            <a:r>
              <a:rPr lang="tr-TR" sz="2400" b="1" dirty="0" smtClean="0">
                <a:solidFill>
                  <a:srgbClr val="FF0000"/>
                </a:solidFill>
              </a:rPr>
              <a:t>BAĞIRSAKTAN FIRLAYAN KURTLAR ASCARİS LUMBRİCOİDES</a:t>
            </a:r>
            <a:endParaRPr lang="tr-TR" sz="2400" b="1" dirty="0">
              <a:solidFill>
                <a:srgbClr val="FF0000"/>
              </a:solidFill>
            </a:endParaRPr>
          </a:p>
        </p:txBody>
      </p:sp>
      <p:pic>
        <p:nvPicPr>
          <p:cNvPr id="1026" name="Picture 2" descr="C:\Users\Pc\Desktop\imagesOR2EKO2U.jpg"/>
          <p:cNvPicPr>
            <a:picLocks noGrp="1" noChangeAspect="1" noChangeArrowheads="1"/>
          </p:cNvPicPr>
          <p:nvPr>
            <p:ph idx="4294967295"/>
          </p:nvPr>
        </p:nvPicPr>
        <p:blipFill>
          <a:blip r:embed="rId2" cstate="print"/>
          <a:srcRect/>
          <a:stretch>
            <a:fillRect/>
          </a:stretch>
        </p:blipFill>
        <p:spPr bwMode="auto">
          <a:xfrm>
            <a:off x="899592" y="1988840"/>
            <a:ext cx="6929437" cy="4255021"/>
          </a:xfrm>
          <a:prstGeom prst="rect">
            <a:avLst/>
          </a:prstGeom>
          <a:noFill/>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1" name="Picture 5" descr="AscarisYUCKS">
            <a:hlinkClick r:id="rId2"/>
          </p:cNvPr>
          <p:cNvPicPr>
            <a:picLocks noChangeAspect="1" noChangeArrowheads="1"/>
          </p:cNvPicPr>
          <p:nvPr/>
        </p:nvPicPr>
        <p:blipFill>
          <a:blip r:embed="rId3" cstate="print"/>
          <a:srcRect/>
          <a:stretch>
            <a:fillRect/>
          </a:stretch>
        </p:blipFill>
        <p:spPr bwMode="auto">
          <a:xfrm>
            <a:off x="1547664" y="332656"/>
            <a:ext cx="5848350" cy="6237287"/>
          </a:xfrm>
          <a:prstGeom prst="rect">
            <a:avLst/>
          </a:prstGeom>
          <a:noFill/>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4000" b="1" dirty="0" smtClean="0">
                <a:solidFill>
                  <a:srgbClr val="FF0000"/>
                </a:solidFill>
              </a:rPr>
              <a:t>ASCARİS LUMBRİCOİDES</a:t>
            </a:r>
            <a:endParaRPr lang="tr-TR" sz="4000" dirty="0">
              <a:solidFill>
                <a:srgbClr val="FF0000"/>
              </a:solidFill>
            </a:endParaRPr>
          </a:p>
        </p:txBody>
      </p:sp>
      <p:pic>
        <p:nvPicPr>
          <p:cNvPr id="16386" name="Picture 2" descr="C:\Users\user\Desktop\2-Figure1-1.png"/>
          <p:cNvPicPr>
            <a:picLocks noGrp="1" noChangeAspect="1" noChangeArrowheads="1"/>
          </p:cNvPicPr>
          <p:nvPr>
            <p:ph idx="1"/>
          </p:nvPr>
        </p:nvPicPr>
        <p:blipFill>
          <a:blip r:embed="rId2" cstate="print"/>
          <a:srcRect/>
          <a:stretch>
            <a:fillRect/>
          </a:stretch>
        </p:blipFill>
        <p:spPr bwMode="auto">
          <a:xfrm>
            <a:off x="827584" y="1556792"/>
            <a:ext cx="7848871" cy="4752528"/>
          </a:xfrm>
          <a:prstGeom prst="rect">
            <a:avLst/>
          </a:prstGeom>
          <a:noFill/>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Pc\Desktop\images13VDF8ID.jpg"/>
          <p:cNvPicPr>
            <a:picLocks noGrp="1" noChangeAspect="1" noChangeArrowheads="1"/>
          </p:cNvPicPr>
          <p:nvPr>
            <p:ph idx="4294967295"/>
          </p:nvPr>
        </p:nvPicPr>
        <p:blipFill>
          <a:blip r:embed="rId2" cstate="print"/>
          <a:srcRect/>
          <a:stretch>
            <a:fillRect/>
          </a:stretch>
        </p:blipFill>
        <p:spPr bwMode="auto">
          <a:xfrm>
            <a:off x="5436096" y="188640"/>
            <a:ext cx="2595562" cy="3619500"/>
          </a:xfrm>
          <a:prstGeom prst="rect">
            <a:avLst/>
          </a:prstGeom>
          <a:noFill/>
        </p:spPr>
      </p:pic>
      <p:pic>
        <p:nvPicPr>
          <p:cNvPr id="3075" name="Picture 3" descr="C:\Users\Pc\Desktop\imagesYWZ4NGSH.jpg"/>
          <p:cNvPicPr>
            <a:picLocks noChangeAspect="1" noChangeArrowheads="1"/>
          </p:cNvPicPr>
          <p:nvPr/>
        </p:nvPicPr>
        <p:blipFill>
          <a:blip r:embed="rId3" cstate="print"/>
          <a:srcRect/>
          <a:stretch>
            <a:fillRect/>
          </a:stretch>
        </p:blipFill>
        <p:spPr bwMode="auto">
          <a:xfrm>
            <a:off x="285720" y="214290"/>
            <a:ext cx="4291806" cy="3214711"/>
          </a:xfrm>
          <a:prstGeom prst="rect">
            <a:avLst/>
          </a:prstGeom>
          <a:noFill/>
        </p:spPr>
      </p:pic>
      <p:pic>
        <p:nvPicPr>
          <p:cNvPr id="3076" name="Picture 4" descr="C:\Users\Pc\Desktop\Loa3.jpg"/>
          <p:cNvPicPr>
            <a:picLocks noChangeAspect="1" noChangeArrowheads="1"/>
          </p:cNvPicPr>
          <p:nvPr/>
        </p:nvPicPr>
        <p:blipFill>
          <a:blip r:embed="rId4" cstate="print"/>
          <a:srcRect/>
          <a:stretch>
            <a:fillRect/>
          </a:stretch>
        </p:blipFill>
        <p:spPr bwMode="auto">
          <a:xfrm>
            <a:off x="3851920" y="3284984"/>
            <a:ext cx="4762500" cy="3343275"/>
          </a:xfrm>
          <a:prstGeom prst="rect">
            <a:avLst/>
          </a:prstGeom>
          <a:noFill/>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C:\Users\user\Desktop\243-ascaris-lumbricoides-from-bedside-to-benchside-images.jpg"/>
          <p:cNvPicPr>
            <a:picLocks noGrp="1" noChangeAspect="1" noChangeArrowheads="1"/>
          </p:cNvPicPr>
          <p:nvPr>
            <p:ph idx="4294967295"/>
          </p:nvPr>
        </p:nvPicPr>
        <p:blipFill>
          <a:blip r:embed="rId2" cstate="print"/>
          <a:srcRect/>
          <a:stretch>
            <a:fillRect/>
          </a:stretch>
        </p:blipFill>
        <p:spPr bwMode="auto">
          <a:xfrm>
            <a:off x="1619672" y="476672"/>
            <a:ext cx="6048375" cy="5649912"/>
          </a:xfrm>
          <a:prstGeom prst="rect">
            <a:avLst/>
          </a:prstGeom>
          <a:noFill/>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pPr algn="l"/>
            <a:r>
              <a:rPr lang="tr-TR" sz="2000" b="1" dirty="0" smtClean="0"/>
              <a:t/>
            </a:r>
            <a:br>
              <a:rPr lang="tr-TR" sz="2000" b="1" dirty="0" smtClean="0"/>
            </a:br>
            <a:r>
              <a:rPr lang="tr-TR" sz="2000" b="1" dirty="0" smtClean="0"/>
              <a:t/>
            </a:r>
            <a:br>
              <a:rPr lang="tr-TR" sz="2000" b="1" dirty="0" smtClean="0"/>
            </a:br>
            <a:r>
              <a:rPr lang="tr-TR" sz="2000" b="1" dirty="0" smtClean="0">
                <a:solidFill>
                  <a:srgbClr val="FF0000"/>
                </a:solidFill>
              </a:rPr>
              <a:t>22 Ocak 2013            Gözünde 10 santimetre uzunluğunda parazit çıktı</a:t>
            </a:r>
            <a:br>
              <a:rPr lang="tr-TR" sz="2000" b="1" dirty="0" smtClean="0">
                <a:solidFill>
                  <a:srgbClr val="FF0000"/>
                </a:solidFill>
              </a:rPr>
            </a:br>
            <a:r>
              <a:rPr lang="tr-TR" sz="2000" b="1" dirty="0" smtClean="0">
                <a:solidFill>
                  <a:srgbClr val="FF0000"/>
                </a:solidFill>
              </a:rPr>
              <a:t>                                     Tarsus'ta yaşayan işçi emeklisi A.Y.gözünde </a:t>
            </a:r>
            <a:br>
              <a:rPr lang="tr-TR" sz="2000" b="1" dirty="0" smtClean="0">
                <a:solidFill>
                  <a:srgbClr val="FF0000"/>
                </a:solidFill>
              </a:rPr>
            </a:br>
            <a:r>
              <a:rPr lang="tr-TR" sz="2000" b="1" dirty="0" smtClean="0">
                <a:solidFill>
                  <a:srgbClr val="FF0000"/>
                </a:solidFill>
              </a:rPr>
              <a:t>		     10  cm uzunluğunda parazit çıktı</a:t>
            </a:r>
            <a:br>
              <a:rPr lang="tr-TR" sz="2000" b="1" dirty="0" smtClean="0">
                <a:solidFill>
                  <a:srgbClr val="FF0000"/>
                </a:solidFill>
              </a:rPr>
            </a:br>
            <a:r>
              <a:rPr lang="tr-TR" sz="2000" b="1" dirty="0" smtClean="0">
                <a:solidFill>
                  <a:srgbClr val="FF0000"/>
                </a:solidFill>
              </a:rPr>
              <a:t/>
            </a:r>
            <a:br>
              <a:rPr lang="tr-TR" sz="2000" b="1" dirty="0" smtClean="0">
                <a:solidFill>
                  <a:srgbClr val="FF0000"/>
                </a:solidFill>
              </a:rPr>
            </a:br>
            <a:endParaRPr lang="tr-TR" sz="2000" b="1" dirty="0">
              <a:solidFill>
                <a:srgbClr val="FF0000"/>
              </a:solidFill>
            </a:endParaRPr>
          </a:p>
        </p:txBody>
      </p:sp>
      <p:sp>
        <p:nvSpPr>
          <p:cNvPr id="3" name="2 İçerik Yer Tutucusu"/>
          <p:cNvSpPr>
            <a:spLocks noGrp="1"/>
          </p:cNvSpPr>
          <p:nvPr>
            <p:ph idx="1"/>
          </p:nvPr>
        </p:nvSpPr>
        <p:spPr/>
        <p:txBody>
          <a:bodyPr/>
          <a:lstStyle/>
          <a:p>
            <a:r>
              <a:rPr lang="tr-TR" sz="2000" b="1" dirty="0" smtClean="0">
                <a:solidFill>
                  <a:srgbClr val="170AC6"/>
                </a:solidFill>
              </a:rPr>
              <a:t>Mersin’in Tarsus İlçesi’nde 52 yaşındaki A. </a:t>
            </a:r>
            <a:r>
              <a:rPr lang="tr-TR" sz="2000" b="1" dirty="0" err="1" smtClean="0">
                <a:solidFill>
                  <a:srgbClr val="170AC6"/>
                </a:solidFill>
              </a:rPr>
              <a:t>Yı</a:t>
            </a:r>
            <a:r>
              <a:rPr lang="tr-TR" sz="2000" b="1" dirty="0" smtClean="0">
                <a:solidFill>
                  <a:srgbClr val="170AC6"/>
                </a:solidFill>
              </a:rPr>
              <a:t>.’</a:t>
            </a:r>
            <a:r>
              <a:rPr lang="tr-TR" sz="2000" b="1" dirty="0" err="1" smtClean="0">
                <a:solidFill>
                  <a:srgbClr val="170AC6"/>
                </a:solidFill>
              </a:rPr>
              <a:t>ın</a:t>
            </a:r>
            <a:r>
              <a:rPr lang="tr-TR" sz="2000" b="1" dirty="0" smtClean="0">
                <a:solidFill>
                  <a:srgbClr val="170AC6"/>
                </a:solidFill>
              </a:rPr>
              <a:t> sol gözündeki parazit ameliyatla çıkartıldı. Operasyonu yapan Op. Dr. </a:t>
            </a:r>
            <a:r>
              <a:rPr lang="tr-TR" sz="2000" b="1" i="1" dirty="0" smtClean="0">
                <a:solidFill>
                  <a:srgbClr val="170AC6"/>
                </a:solidFill>
              </a:rPr>
              <a:t>H.Y</a:t>
            </a:r>
            <a:r>
              <a:rPr lang="tr-TR" sz="2000" b="1" dirty="0" smtClean="0">
                <a:solidFill>
                  <a:srgbClr val="170AC6"/>
                </a:solidFill>
              </a:rPr>
              <a:t>, bu hastalığın  bugüne kadar Türkiye’de toplamda 3 kez görüldüğünü söyledi</a:t>
            </a:r>
          </a:p>
          <a:p>
            <a:r>
              <a:rPr lang="tr-TR" sz="2000" b="1" dirty="0" smtClean="0">
                <a:solidFill>
                  <a:srgbClr val="170AC6"/>
                </a:solidFill>
              </a:rPr>
              <a:t>Daha önce de 60 yaşındaki emekli öğretmen A.Ö.’nün gözünden ameliyatla 10 santimetre uzunluğunda parazit çıkartan Op. Dr. Y…….</a:t>
            </a:r>
            <a:endParaRPr lang="tr-TR" sz="2000" b="1" dirty="0">
              <a:solidFill>
                <a:srgbClr val="170AC6"/>
              </a:solidFill>
            </a:endParaRPr>
          </a:p>
        </p:txBody>
      </p:sp>
      <p:pic>
        <p:nvPicPr>
          <p:cNvPr id="4" name="Picture 2" descr="C:\Users\user\Desktop\raw_gozunde-10-santimetre-uzunlugunda-parazit-cikti_854468138.jpg"/>
          <p:cNvPicPr>
            <a:picLocks noChangeAspect="1" noChangeArrowheads="1"/>
          </p:cNvPicPr>
          <p:nvPr/>
        </p:nvPicPr>
        <p:blipFill>
          <a:blip r:embed="rId2" cstate="print"/>
          <a:srcRect/>
          <a:stretch>
            <a:fillRect/>
          </a:stretch>
        </p:blipFill>
        <p:spPr bwMode="auto">
          <a:xfrm>
            <a:off x="2843808" y="3501008"/>
            <a:ext cx="5905500" cy="2952750"/>
          </a:xfrm>
          <a:prstGeom prst="rect">
            <a:avLst/>
          </a:prstGeom>
          <a:noFill/>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3600" b="1" dirty="0" smtClean="0">
                <a:solidFill>
                  <a:srgbClr val="FF0000"/>
                </a:solidFill>
              </a:rPr>
              <a:t>ENTEROBİUS VERMİCULARİS </a:t>
            </a:r>
            <a:r>
              <a:rPr lang="tr-TR" sz="2800" b="1" dirty="0" smtClean="0">
                <a:solidFill>
                  <a:srgbClr val="FF0000"/>
                </a:solidFill>
              </a:rPr>
              <a:t>(Kıl Kurdu)</a:t>
            </a:r>
            <a:endParaRPr lang="tr-TR" sz="2800" b="1" dirty="0">
              <a:solidFill>
                <a:srgbClr val="FF0000"/>
              </a:solidFill>
            </a:endParaRPr>
          </a:p>
        </p:txBody>
      </p:sp>
      <p:sp>
        <p:nvSpPr>
          <p:cNvPr id="3" name="2 İçerik Yer Tutucusu"/>
          <p:cNvSpPr>
            <a:spLocks noGrp="1"/>
          </p:cNvSpPr>
          <p:nvPr>
            <p:ph idx="1"/>
          </p:nvPr>
        </p:nvSpPr>
        <p:spPr/>
        <p:txBody>
          <a:bodyPr>
            <a:normAutofit fontScale="92500" lnSpcReduction="10000"/>
          </a:bodyPr>
          <a:lstStyle/>
          <a:p>
            <a:r>
              <a:rPr lang="tr-TR" sz="3000" b="1" dirty="0" smtClean="0"/>
              <a:t>Kıl </a:t>
            </a:r>
            <a:r>
              <a:rPr lang="tr-TR" sz="3000" b="1" dirty="0" err="1" smtClean="0"/>
              <a:t>kurdu'nu</a:t>
            </a:r>
            <a:r>
              <a:rPr lang="tr-TR" sz="3000" b="1" dirty="0" smtClean="0"/>
              <a:t> yine </a:t>
            </a:r>
            <a:r>
              <a:rPr lang="tr-TR" sz="3000" b="1" dirty="0" smtClean="0">
                <a:hlinkClick r:id="rId2" tooltip="Bağırsak"/>
              </a:rPr>
              <a:t>bağırsak</a:t>
            </a:r>
            <a:r>
              <a:rPr lang="tr-TR" sz="3000" b="1" dirty="0" smtClean="0"/>
              <a:t> </a:t>
            </a:r>
            <a:r>
              <a:rPr lang="tr-TR" sz="3000" dirty="0" smtClean="0"/>
              <a:t>paraziti</a:t>
            </a:r>
            <a:r>
              <a:rPr lang="tr-TR" sz="3000" b="1" dirty="0" smtClean="0"/>
              <a:t> olan ve ondan daha büyük (25 cm) bağırsak solucanı (</a:t>
            </a:r>
            <a:r>
              <a:rPr lang="tr-TR" sz="3000" b="1" i="1" dirty="0" err="1" smtClean="0"/>
              <a:t>Ascaris</a:t>
            </a:r>
            <a:r>
              <a:rPr lang="tr-TR" sz="3000" b="1" i="1" dirty="0" smtClean="0"/>
              <a:t> </a:t>
            </a:r>
            <a:r>
              <a:rPr lang="tr-TR" sz="3000" b="1" i="1" dirty="0" err="1" smtClean="0"/>
              <a:t>lumbricoides</a:t>
            </a:r>
            <a:r>
              <a:rPr lang="tr-TR" sz="3000" b="1" dirty="0" smtClean="0"/>
              <a:t>) ile karıştırmamak gerekir</a:t>
            </a:r>
          </a:p>
          <a:p>
            <a:pPr>
              <a:buNone/>
            </a:pPr>
            <a:endParaRPr lang="tr-TR" sz="3000" b="1" dirty="0" smtClean="0"/>
          </a:p>
          <a:p>
            <a:r>
              <a:rPr lang="tr-TR" sz="3000" b="1" dirty="0" smtClean="0"/>
              <a:t>İlkokul çağı çocuklarda en sık görülen yuvarlak solucandır</a:t>
            </a:r>
          </a:p>
          <a:p>
            <a:pPr>
              <a:buNone/>
            </a:pPr>
            <a:endParaRPr lang="tr-TR" sz="3000" b="1" dirty="0" smtClean="0"/>
          </a:p>
          <a:p>
            <a:r>
              <a:rPr lang="tr-TR" sz="3000" b="1" dirty="0" smtClean="0"/>
              <a:t>İnsan kalın bağırsağında, özellikle </a:t>
            </a:r>
            <a:r>
              <a:rPr lang="tr-TR" sz="3000" b="1" dirty="0" err="1" smtClean="0"/>
              <a:t>çekum</a:t>
            </a:r>
            <a:r>
              <a:rPr lang="tr-TR" sz="3000" b="1" dirty="0" smtClean="0"/>
              <a:t> ve rektum bölgesinde, nadiren ince bağırsağın son kısımlarında yaşar ve </a:t>
            </a:r>
            <a:r>
              <a:rPr lang="tr-TR" sz="3000" b="1" dirty="0" err="1" smtClean="0"/>
              <a:t>enterobiosise</a:t>
            </a:r>
            <a:r>
              <a:rPr lang="tr-TR" sz="3000" b="1" dirty="0" smtClean="0"/>
              <a:t> neden olu</a:t>
            </a:r>
            <a:r>
              <a:rPr lang="tr-TR" b="1" dirty="0" smtClean="0"/>
              <a:t>r</a:t>
            </a:r>
            <a:endParaRPr lang="tr-TR" b="1"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260648"/>
            <a:ext cx="8640960" cy="6264696"/>
          </a:xfrm>
        </p:spPr>
        <p:txBody>
          <a:bodyPr>
            <a:normAutofit fontScale="85000" lnSpcReduction="10000"/>
          </a:bodyPr>
          <a:lstStyle/>
          <a:p>
            <a:pPr>
              <a:buNone/>
            </a:pPr>
            <a:r>
              <a:rPr lang="tr-TR" b="1" dirty="0" smtClean="0">
                <a:solidFill>
                  <a:srgbClr val="FF0000"/>
                </a:solidFill>
              </a:rPr>
              <a:t>	</a:t>
            </a:r>
            <a:r>
              <a:rPr lang="tr-TR" sz="4200" b="1" dirty="0" smtClean="0">
                <a:solidFill>
                  <a:srgbClr val="FF0000"/>
                </a:solidFill>
              </a:rPr>
              <a:t>ENTEROBİUS VERMİCULARİS (Kıl Kurdu)</a:t>
            </a:r>
            <a:endParaRPr lang="tr-TR" sz="4200" b="1" dirty="0" smtClean="0"/>
          </a:p>
          <a:p>
            <a:r>
              <a:rPr lang="tr-TR" b="1" dirty="0" err="1" smtClean="0"/>
              <a:t>Enfekte</a:t>
            </a:r>
            <a:r>
              <a:rPr lang="tr-TR" b="1" dirty="0" smtClean="0"/>
              <a:t> kişilerde dişi erişkin kıl kurtları gece uykudan      2-3 saat sonra anüsten dışarı çıkarak makat civarına (</a:t>
            </a:r>
            <a:r>
              <a:rPr lang="tr-TR" b="1" dirty="0" err="1" smtClean="0"/>
              <a:t>perianal</a:t>
            </a:r>
            <a:r>
              <a:rPr lang="tr-TR" b="1" dirty="0" smtClean="0"/>
              <a:t> bölgeye) binlerce (ortalama 10.000) yumurta bırakır ve kısa süre içinde ölürler</a:t>
            </a:r>
          </a:p>
          <a:p>
            <a:pPr>
              <a:buNone/>
            </a:pPr>
            <a:endParaRPr lang="tr-TR" b="1" dirty="0" smtClean="0"/>
          </a:p>
          <a:p>
            <a:r>
              <a:rPr lang="tr-TR" b="1" dirty="0" smtClean="0"/>
              <a:t>Yumurtadan 6 saat içinde larvalar çıkarak bulaşıcı özelliğini kazanır. İç çamaşırlarına bulaşan, yatağa dökülen veya da oluşturduğu kaşıntı hissi ile o bölge parmakla kaşındığında, tuvalet sonrası makat temizliği esnasında kişinin eline, tırnaklarının arasına geçerler</a:t>
            </a:r>
          </a:p>
          <a:p>
            <a:pPr>
              <a:buNone/>
            </a:pPr>
            <a:endParaRPr lang="tr-TR" b="1" dirty="0" smtClean="0"/>
          </a:p>
          <a:p>
            <a:r>
              <a:rPr lang="tr-TR" b="1" dirty="0" smtClean="0"/>
              <a:t>Bu nedenle tekrar tekrar bulaşma ve çocuktan çocuğa bulaşma riski fazladır. Oda sıcaklığında 2-3 hafta canlı kalabilir</a:t>
            </a:r>
            <a:endParaRPr lang="tr-TR" b="1"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3600" b="1" dirty="0" smtClean="0">
                <a:solidFill>
                  <a:srgbClr val="FF0000"/>
                </a:solidFill>
              </a:rPr>
              <a:t>ENTEROBİUS VERMİCULARİS (Kıl Kurdu)</a:t>
            </a:r>
            <a:endParaRPr lang="tr-TR" sz="3600" dirty="0">
              <a:solidFill>
                <a:srgbClr val="FF0000"/>
              </a:solidFill>
            </a:endParaRPr>
          </a:p>
        </p:txBody>
      </p:sp>
      <p:sp>
        <p:nvSpPr>
          <p:cNvPr id="3" name="2 İçerik Yer Tutucusu"/>
          <p:cNvSpPr>
            <a:spLocks noGrp="1"/>
          </p:cNvSpPr>
          <p:nvPr>
            <p:ph idx="1"/>
          </p:nvPr>
        </p:nvSpPr>
        <p:spPr/>
        <p:txBody>
          <a:bodyPr>
            <a:normAutofit fontScale="85000" lnSpcReduction="20000"/>
          </a:bodyPr>
          <a:lstStyle/>
          <a:p>
            <a:r>
              <a:rPr lang="tr-TR" b="1" dirty="0" smtClean="0"/>
              <a:t>Çamaşırlarda, yatak ve çarşaflarda da yumurta bulunduğundan bulaşma ortamı oluşturur</a:t>
            </a:r>
          </a:p>
          <a:p>
            <a:pPr>
              <a:buNone/>
            </a:pPr>
            <a:endParaRPr lang="tr-TR" b="1" dirty="0" smtClean="0"/>
          </a:p>
          <a:p>
            <a:r>
              <a:rPr lang="tr-TR" b="1" dirty="0" smtClean="0"/>
              <a:t>Kıl kurdu bulaşmış çarşafların silkelenmesi ile havaya saçılan yumurtaların ağız bölgesine ulaşarak bulaşması da mümkündür</a:t>
            </a:r>
          </a:p>
          <a:p>
            <a:pPr>
              <a:buNone/>
            </a:pPr>
            <a:endParaRPr lang="tr-TR" b="1" dirty="0" smtClean="0"/>
          </a:p>
          <a:p>
            <a:r>
              <a:rPr lang="tr-TR" b="1" dirty="0" smtClean="0"/>
              <a:t>Parazitin konak zinciri insan-insan-insan olarak uzanır</a:t>
            </a:r>
          </a:p>
          <a:p>
            <a:pPr>
              <a:buNone/>
            </a:pPr>
            <a:endParaRPr lang="tr-TR" b="1" dirty="0" smtClean="0"/>
          </a:p>
          <a:p>
            <a:r>
              <a:rPr lang="tr-TR" b="1" dirty="0" smtClean="0"/>
              <a:t>Bulaşma genellikle insandan insana ya da </a:t>
            </a:r>
            <a:r>
              <a:rPr lang="tr-TR" b="1" dirty="0" err="1" smtClean="0"/>
              <a:t>otoenfeksiyon</a:t>
            </a:r>
            <a:r>
              <a:rPr lang="tr-TR" b="1" dirty="0" smtClean="0"/>
              <a:t> ile olmaktadır</a:t>
            </a:r>
          </a:p>
          <a:p>
            <a:endParaRPr lang="tr-TR" b="1"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C:\Users\user\Desktop\nejmicm1811156_f1.jpeg"/>
          <p:cNvPicPr>
            <a:picLocks noGrp="1" noChangeAspect="1" noChangeArrowheads="1"/>
          </p:cNvPicPr>
          <p:nvPr>
            <p:ph idx="4294967295"/>
          </p:nvPr>
        </p:nvPicPr>
        <p:blipFill>
          <a:blip r:embed="rId2" cstate="print"/>
          <a:srcRect/>
          <a:stretch>
            <a:fillRect/>
          </a:stretch>
        </p:blipFill>
        <p:spPr bwMode="auto">
          <a:xfrm>
            <a:off x="395536" y="692696"/>
            <a:ext cx="8229600" cy="4189412"/>
          </a:xfrm>
          <a:prstGeom prst="rect">
            <a:avLst/>
          </a:prstGeom>
          <a:noFill/>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Pc\Desktop\imagesXY6RBMD6.jpg"/>
          <p:cNvPicPr>
            <a:picLocks noGrp="1" noChangeAspect="1" noChangeArrowheads="1"/>
          </p:cNvPicPr>
          <p:nvPr>
            <p:ph idx="4294967295"/>
          </p:nvPr>
        </p:nvPicPr>
        <p:blipFill>
          <a:blip r:embed="rId2" cstate="print"/>
          <a:srcRect/>
          <a:stretch>
            <a:fillRect/>
          </a:stretch>
        </p:blipFill>
        <p:spPr bwMode="auto">
          <a:xfrm>
            <a:off x="5292080" y="260648"/>
            <a:ext cx="2928937" cy="2928937"/>
          </a:xfrm>
          <a:prstGeom prst="rect">
            <a:avLst/>
          </a:prstGeom>
          <a:noFill/>
        </p:spPr>
      </p:pic>
      <p:pic>
        <p:nvPicPr>
          <p:cNvPr id="4099" name="Picture 3" descr="C:\Users\Pc\Desktop\untitled.png"/>
          <p:cNvPicPr>
            <a:picLocks noChangeAspect="1" noChangeArrowheads="1"/>
          </p:cNvPicPr>
          <p:nvPr/>
        </p:nvPicPr>
        <p:blipFill>
          <a:blip r:embed="rId3" cstate="print"/>
          <a:srcRect/>
          <a:stretch>
            <a:fillRect/>
          </a:stretch>
        </p:blipFill>
        <p:spPr bwMode="auto">
          <a:xfrm>
            <a:off x="214282" y="214290"/>
            <a:ext cx="3568346" cy="2857520"/>
          </a:xfrm>
          <a:prstGeom prst="rect">
            <a:avLst/>
          </a:prstGeom>
          <a:noFill/>
        </p:spPr>
      </p:pic>
      <p:pic>
        <p:nvPicPr>
          <p:cNvPr id="4100" name="Picture 4" descr="C:\Users\Pc\Desktop\imagesHG7DML54.jpg"/>
          <p:cNvPicPr>
            <a:picLocks noChangeAspect="1" noChangeArrowheads="1"/>
          </p:cNvPicPr>
          <p:nvPr/>
        </p:nvPicPr>
        <p:blipFill>
          <a:blip r:embed="rId4" cstate="print"/>
          <a:srcRect/>
          <a:stretch>
            <a:fillRect/>
          </a:stretch>
        </p:blipFill>
        <p:spPr bwMode="auto">
          <a:xfrm>
            <a:off x="1403648" y="2996952"/>
            <a:ext cx="5143536" cy="3444335"/>
          </a:xfrm>
          <a:prstGeom prst="rect">
            <a:avLst/>
          </a:prstGeom>
          <a:noFill/>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idx="4294967295"/>
          </p:nvPr>
        </p:nvSpPr>
        <p:spPr>
          <a:xfrm>
            <a:off x="827584" y="274638"/>
            <a:ext cx="7402016" cy="1143000"/>
          </a:xfrm>
        </p:spPr>
        <p:txBody>
          <a:bodyPr>
            <a:normAutofit/>
          </a:bodyPr>
          <a:lstStyle/>
          <a:p>
            <a:r>
              <a:rPr lang="en-US" sz="2800" b="1" dirty="0" smtClean="0">
                <a:solidFill>
                  <a:srgbClr val="FF0000"/>
                </a:solidFill>
              </a:rPr>
              <a:t>Pinworm </a:t>
            </a:r>
            <a:r>
              <a:rPr lang="tr-TR" sz="2800" b="1" dirty="0" smtClean="0">
                <a:solidFill>
                  <a:srgbClr val="FF0000"/>
                </a:solidFill>
              </a:rPr>
              <a:t>(kıl kurdu)</a:t>
            </a:r>
            <a:br>
              <a:rPr lang="tr-TR" sz="2800" b="1" dirty="0" smtClean="0">
                <a:solidFill>
                  <a:srgbClr val="FF0000"/>
                </a:solidFill>
              </a:rPr>
            </a:br>
            <a:r>
              <a:rPr lang="en-US" sz="2800" b="1" dirty="0" err="1" smtClean="0">
                <a:solidFill>
                  <a:srgbClr val="FF0000"/>
                </a:solidFill>
              </a:rPr>
              <a:t>Enterobius</a:t>
            </a:r>
            <a:r>
              <a:rPr lang="en-US" sz="2800" b="1" dirty="0" smtClean="0">
                <a:solidFill>
                  <a:srgbClr val="FF0000"/>
                </a:solidFill>
              </a:rPr>
              <a:t> </a:t>
            </a:r>
            <a:r>
              <a:rPr lang="en-US" sz="2800" b="1" dirty="0" err="1" smtClean="0">
                <a:solidFill>
                  <a:srgbClr val="FF0000"/>
                </a:solidFill>
              </a:rPr>
              <a:t>Vermicularis</a:t>
            </a:r>
            <a:r>
              <a:rPr lang="en-US" sz="2800" b="1" dirty="0" smtClean="0">
                <a:solidFill>
                  <a:srgbClr val="FF0000"/>
                </a:solidFill>
              </a:rPr>
              <a:t> in the Sigmoid Colon</a:t>
            </a:r>
            <a:endParaRPr lang="tr-TR" sz="2800" b="1" dirty="0">
              <a:solidFill>
                <a:srgbClr val="FF0000"/>
              </a:solidFill>
            </a:endParaRPr>
          </a:p>
        </p:txBody>
      </p:sp>
      <p:pic>
        <p:nvPicPr>
          <p:cNvPr id="1026" name="Picture 2" descr="C:\Users\Pc\Desktop\images0MG4SB1W.jpg"/>
          <p:cNvPicPr>
            <a:picLocks noGrp="1" noChangeAspect="1" noChangeArrowheads="1"/>
          </p:cNvPicPr>
          <p:nvPr>
            <p:ph idx="4294967295"/>
          </p:nvPr>
        </p:nvPicPr>
        <p:blipFill>
          <a:blip r:embed="rId2" cstate="print"/>
          <a:srcRect/>
          <a:stretch>
            <a:fillRect/>
          </a:stretch>
        </p:blipFill>
        <p:spPr bwMode="auto">
          <a:xfrm>
            <a:off x="1475656" y="1700808"/>
            <a:ext cx="5810250" cy="4500562"/>
          </a:xfrm>
          <a:prstGeom prst="rect">
            <a:avLst/>
          </a:prstGeom>
          <a:noFill/>
        </p:spPr>
      </p:pic>
    </p:spTree>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2251</TotalTime>
  <Words>1530</Words>
  <Application>Microsoft Office PowerPoint</Application>
  <PresentationFormat>Ekran Gösterisi (4:3)</PresentationFormat>
  <Paragraphs>545</Paragraphs>
  <Slides>126</Slides>
  <Notes>0</Notes>
  <HiddenSlides>0</HiddenSlides>
  <MMClips>0</MMClips>
  <ScaleCrop>false</ScaleCrop>
  <HeadingPairs>
    <vt:vector size="4" baseType="variant">
      <vt:variant>
        <vt:lpstr>Tema</vt:lpstr>
      </vt:variant>
      <vt:variant>
        <vt:i4>1</vt:i4>
      </vt:variant>
      <vt:variant>
        <vt:lpstr>Slayt Başlıkları</vt:lpstr>
      </vt:variant>
      <vt:variant>
        <vt:i4>126</vt:i4>
      </vt:variant>
    </vt:vector>
  </HeadingPairs>
  <TitlesOfParts>
    <vt:vector size="127" baseType="lpstr">
      <vt:lpstr>Ofis Teması</vt:lpstr>
      <vt:lpstr>Slayt 1</vt:lpstr>
      <vt:lpstr>Slayt 2</vt:lpstr>
      <vt:lpstr>PARAZİTOLOJİ  NEDİR?</vt:lpstr>
      <vt:lpstr>PARAZİTOLOJİ  NEDİR?</vt:lpstr>
      <vt:lpstr>Slayt 5</vt:lpstr>
      <vt:lpstr>Slayt 6</vt:lpstr>
      <vt:lpstr>Slayt 7</vt:lpstr>
      <vt:lpstr>PARAZİT ENFEKSİYONLARININ BULAŞMA YOLLARI</vt:lpstr>
      <vt:lpstr>Slayt 9</vt:lpstr>
      <vt:lpstr>Slayt 10</vt:lpstr>
      <vt:lpstr>Slayt 11</vt:lpstr>
      <vt:lpstr>Slayt 12</vt:lpstr>
      <vt:lpstr>Slayt 13</vt:lpstr>
      <vt:lpstr>Slayt 14</vt:lpstr>
      <vt:lpstr>Slayt 15</vt:lpstr>
      <vt:lpstr>PARAZİTLERİN KAYNAKLARI</vt:lpstr>
      <vt:lpstr>PARAZİTOZLARDA TANI</vt:lpstr>
      <vt:lpstr>Slayt 18</vt:lpstr>
      <vt:lpstr>Slayt 19</vt:lpstr>
      <vt:lpstr>PARAZİTLER</vt:lpstr>
      <vt:lpstr>Slayt 21</vt:lpstr>
      <vt:lpstr>PROTOZOONLAR KİMLERDİR?</vt:lpstr>
      <vt:lpstr>PROTOZOONLAR KİMLERDİR?</vt:lpstr>
      <vt:lpstr>Slayt 24</vt:lpstr>
      <vt:lpstr>Slayt 25</vt:lpstr>
      <vt:lpstr>PROTOZOONLAR </vt:lpstr>
      <vt:lpstr>Slayt 27</vt:lpstr>
      <vt:lpstr>ÖNEMLİ</vt:lpstr>
      <vt:lpstr> PROTOZOONLARIN VÜCUTTA YERLEŞİM YERLERİ</vt:lpstr>
      <vt:lpstr>PROTOZOONLAR </vt:lpstr>
      <vt:lpstr>DYSENTERİAE</vt:lpstr>
      <vt:lpstr>DİZANTERİ  NEDİR?</vt:lpstr>
      <vt:lpstr>Slayt 33</vt:lpstr>
      <vt:lpstr>Slayt 34</vt:lpstr>
      <vt:lpstr> AMİPLİ DİZANTERİ </vt:lpstr>
      <vt:lpstr>Slayt 36</vt:lpstr>
      <vt:lpstr>Slayt 37</vt:lpstr>
      <vt:lpstr>ETKEN</vt:lpstr>
      <vt:lpstr>AMİPLİ DİZANTERİ NE YAPAR?</vt:lpstr>
      <vt:lpstr>Slayt 40</vt:lpstr>
      <vt:lpstr>Slayt 41</vt:lpstr>
      <vt:lpstr>Slayt 42</vt:lpstr>
      <vt:lpstr>Slayt 43</vt:lpstr>
      <vt:lpstr>BELİRTİLERİ</vt:lpstr>
      <vt:lpstr>Slayt 45</vt:lpstr>
      <vt:lpstr>AKUT AMİPLİ DİZANTERİ</vt:lpstr>
      <vt:lpstr>AKUT AMİPLİ DİZANTERİ</vt:lpstr>
      <vt:lpstr>Slayt 48</vt:lpstr>
      <vt:lpstr>Slayt 49</vt:lpstr>
      <vt:lpstr>PATOGENEZ</vt:lpstr>
      <vt:lpstr>Slayt 51</vt:lpstr>
      <vt:lpstr>BALANTİDİUM COLİ</vt:lpstr>
      <vt:lpstr>TOXOPLAZMA</vt:lpstr>
      <vt:lpstr> TOKSOPLAZMOZ HASTALIĞININ ETKENİDİR </vt:lpstr>
      <vt:lpstr>Slayt 55</vt:lpstr>
      <vt:lpstr>LEİSHMANİA TROPİCA  ŞARK ÇIBANI,ANTEP ÇIBANI,HALEP ÇIBANI,YIL ÇIBANI</vt:lpstr>
      <vt:lpstr>Slayt 57</vt:lpstr>
      <vt:lpstr>Slayt 58</vt:lpstr>
      <vt:lpstr>Slayt 59</vt:lpstr>
      <vt:lpstr>    LEİSHMANİA TROPİCA  (ŞARK ÇIBANI,ANTEP ÇIBANI)          NEREDEN ISIRIR ?</vt:lpstr>
      <vt:lpstr>Slayt 61</vt:lpstr>
      <vt:lpstr>Slayt 62</vt:lpstr>
      <vt:lpstr>Slayt 63</vt:lpstr>
      <vt:lpstr>Slayt 64</vt:lpstr>
      <vt:lpstr> ANOFEL  CİNSİ SİVRİSİNEKLERİN BAZILARI  SITMAYA NEDEN OLAN PARAZİTİ  TAŞIMAKTADIR </vt:lpstr>
      <vt:lpstr>Slayt 66</vt:lpstr>
      <vt:lpstr>Slayt 67</vt:lpstr>
      <vt:lpstr>Slayt 68</vt:lpstr>
      <vt:lpstr> 18.06.2015 -GENÇ HOSTES YAŞAM MÜCADELESİ VERİYOR!  </vt:lpstr>
      <vt:lpstr>5 EYLÜL 2017 FİLDİŞİ SAHİLİ’NDEKİ ABİDJAN’A UÇTUĞU….</vt:lpstr>
      <vt:lpstr>Slayt 71</vt:lpstr>
      <vt:lpstr>Slayt 72</vt:lpstr>
      <vt:lpstr>HELMİNTLER</vt:lpstr>
      <vt:lpstr>Slayt 74</vt:lpstr>
      <vt:lpstr>Slayt 75</vt:lpstr>
      <vt:lpstr>PARAZİTLERİN KAYNAKLARI</vt:lpstr>
      <vt:lpstr>SINIFLAMA</vt:lpstr>
      <vt:lpstr>Slayt 78</vt:lpstr>
      <vt:lpstr>Slayt 79</vt:lpstr>
      <vt:lpstr>Slayt 80</vt:lpstr>
      <vt:lpstr>Slayt 81</vt:lpstr>
      <vt:lpstr>TAENİA SAGİNATA (sığır şeridi,abdest bozan)</vt:lpstr>
      <vt:lpstr>Slayt 83</vt:lpstr>
      <vt:lpstr>Slayt 84</vt:lpstr>
      <vt:lpstr>Slayt 85</vt:lpstr>
      <vt:lpstr>ÖNLEM VE KONTROL</vt:lpstr>
      <vt:lpstr>Slayt 87</vt:lpstr>
      <vt:lpstr>TAENİA SAGİNATA: APENDEKTOMİ SONRASI DIŞKI FİSTÜLÜNÜN NADİR GÖRÜLEN BİR NEDENİ</vt:lpstr>
      <vt:lpstr>AÇIKLAMA</vt:lpstr>
      <vt:lpstr>AÇIKLAMA</vt:lpstr>
      <vt:lpstr>Slayt 91</vt:lpstr>
      <vt:lpstr>Bursa'da mide kanseri nedeniyle ameliyat edilen bir kadının ince bağırsağından 15 metre uzunluğunda tenya çıkarıldı</vt:lpstr>
      <vt:lpstr>Slayt 93</vt:lpstr>
      <vt:lpstr>Slayt 94</vt:lpstr>
      <vt:lpstr>  ECHINOCOCCUS   GRANULOSUS          (köpek hastalığı , kıl hastalığı , köpek kisti ,su kesesi )   </vt:lpstr>
      <vt:lpstr>  ECHINOCOCCUS   GRANULOSUS          (köpek hastalığı , kıl hastalığı , köpek kisti ,su kesesi ) </vt:lpstr>
      <vt:lpstr> KİST HİDATİK İNSANLARA NASIL BULAŞIR? </vt:lpstr>
      <vt:lpstr> </vt:lpstr>
      <vt:lpstr>ECHINOCOCCUS GRANULOSUS  HANGİ HASTALIĞA NEDEN OLUR?</vt:lpstr>
      <vt:lpstr>Slayt 100</vt:lpstr>
      <vt:lpstr>Slayt 101</vt:lpstr>
      <vt:lpstr>Slayt 102</vt:lpstr>
      <vt:lpstr>HASTALIKTAN KORUNMAK İÇİN NELER YAPILMALIDIR?</vt:lpstr>
      <vt:lpstr>HASTALIKTAN KORUNMAK İÇİN NELER YAPILMALIDIR?</vt:lpstr>
      <vt:lpstr>HASTALIKTAN KORUNMAK İÇİN NELER YAPILMALIDIR?</vt:lpstr>
      <vt:lpstr>Slayt 106</vt:lpstr>
      <vt:lpstr>Slayt 107</vt:lpstr>
      <vt:lpstr>ASCARİS LUMBRİCOİDES</vt:lpstr>
      <vt:lpstr>ASCARİS LUMBRİCOİDES NEDİR?</vt:lpstr>
      <vt:lpstr>ASCARİS LUMBRİCOİDES</vt:lpstr>
      <vt:lpstr>Slayt 111</vt:lpstr>
      <vt:lpstr>Slayt 112</vt:lpstr>
      <vt:lpstr>Slayt 113</vt:lpstr>
      <vt:lpstr>Slayt 114</vt:lpstr>
      <vt:lpstr>BAĞIRSAKTAN FIRLAYAN KURTLAR ASCARİS LUMBRİCOİDES</vt:lpstr>
      <vt:lpstr>Slayt 116</vt:lpstr>
      <vt:lpstr>ASCARİS LUMBRİCOİDES</vt:lpstr>
      <vt:lpstr>Slayt 118</vt:lpstr>
      <vt:lpstr>Slayt 119</vt:lpstr>
      <vt:lpstr>  22 Ocak 2013            Gözünde 10 santimetre uzunluğunda parazit çıktı                                      Tarsus'ta yaşayan işçi emeklisi A.Y.gözünde         10  cm uzunluğunda parazit çıktı  </vt:lpstr>
      <vt:lpstr>ENTEROBİUS VERMİCULARİS (Kıl Kurdu)</vt:lpstr>
      <vt:lpstr>Slayt 122</vt:lpstr>
      <vt:lpstr>ENTEROBİUS VERMİCULARİS (Kıl Kurdu)</vt:lpstr>
      <vt:lpstr>Slayt 124</vt:lpstr>
      <vt:lpstr>Slayt 125</vt:lpstr>
      <vt:lpstr>Pinworm (kıl kurdu) Enterobius Vermicularis in the Sigmoid Colon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Slayt 1</dc:title>
  <dc:creator>Pc</dc:creator>
  <cp:lastModifiedBy>tijen</cp:lastModifiedBy>
  <cp:revision>426</cp:revision>
  <dcterms:created xsi:type="dcterms:W3CDTF">2016-10-08T17:45:51Z</dcterms:created>
  <dcterms:modified xsi:type="dcterms:W3CDTF">2025-12-13T11:41:51Z</dcterms:modified>
</cp:coreProperties>
</file>