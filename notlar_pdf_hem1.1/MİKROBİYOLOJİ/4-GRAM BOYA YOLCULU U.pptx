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slides/slide8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5" r:id="rId3"/>
    <p:sldId id="327" r:id="rId4"/>
    <p:sldId id="328" r:id="rId5"/>
    <p:sldId id="329" r:id="rId6"/>
    <p:sldId id="330" r:id="rId7"/>
    <p:sldId id="331" r:id="rId8"/>
    <p:sldId id="348" r:id="rId9"/>
    <p:sldId id="349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339" r:id="rId53"/>
    <p:sldId id="337" r:id="rId54"/>
    <p:sldId id="335" r:id="rId55"/>
    <p:sldId id="341" r:id="rId56"/>
    <p:sldId id="293" r:id="rId57"/>
    <p:sldId id="294" r:id="rId58"/>
    <p:sldId id="295" r:id="rId59"/>
    <p:sldId id="296" r:id="rId60"/>
    <p:sldId id="297" r:id="rId61"/>
    <p:sldId id="298" r:id="rId62"/>
    <p:sldId id="299" r:id="rId63"/>
    <p:sldId id="300" r:id="rId64"/>
    <p:sldId id="301" r:id="rId65"/>
    <p:sldId id="302" r:id="rId66"/>
    <p:sldId id="359" r:id="rId67"/>
    <p:sldId id="303" r:id="rId68"/>
    <p:sldId id="304" r:id="rId69"/>
    <p:sldId id="305" r:id="rId70"/>
    <p:sldId id="306" r:id="rId71"/>
    <p:sldId id="307" r:id="rId72"/>
    <p:sldId id="308" r:id="rId73"/>
    <p:sldId id="309" r:id="rId74"/>
    <p:sldId id="310" r:id="rId75"/>
    <p:sldId id="311" r:id="rId76"/>
    <p:sldId id="312" r:id="rId77"/>
    <p:sldId id="313" r:id="rId78"/>
    <p:sldId id="314" r:id="rId79"/>
    <p:sldId id="315" r:id="rId80"/>
    <p:sldId id="316" r:id="rId81"/>
    <p:sldId id="317" r:id="rId82"/>
    <p:sldId id="318" r:id="rId83"/>
    <p:sldId id="361" r:id="rId8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56CE-EB4A-4153-B957-E1D52495B6E5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25AF-C546-4172-AC7C-F10575F48BAB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56CE-EB4A-4153-B957-E1D52495B6E5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25AF-C546-4172-AC7C-F10575F48BAB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56CE-EB4A-4153-B957-E1D52495B6E5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25AF-C546-4172-AC7C-F10575F48BAB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56CE-EB4A-4153-B957-E1D52495B6E5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25AF-C546-4172-AC7C-F10575F48BAB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56CE-EB4A-4153-B957-E1D52495B6E5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25AF-C546-4172-AC7C-F10575F48BAB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56CE-EB4A-4153-B957-E1D52495B6E5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25AF-C546-4172-AC7C-F10575F48BAB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56CE-EB4A-4153-B957-E1D52495B6E5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25AF-C546-4172-AC7C-F10575F48BAB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56CE-EB4A-4153-B957-E1D52495B6E5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25AF-C546-4172-AC7C-F10575F48BAB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56CE-EB4A-4153-B957-E1D52495B6E5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25AF-C546-4172-AC7C-F10575F48BAB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56CE-EB4A-4153-B957-E1D52495B6E5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25AF-C546-4172-AC7C-F10575F48BAB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56CE-EB4A-4153-B957-E1D52495B6E5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25AF-C546-4172-AC7C-F10575F48BAB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C56CE-EB4A-4153-B957-E1D52495B6E5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F25AF-C546-4172-AC7C-F10575F48BAB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 idx="4294967295"/>
          </p:nvPr>
        </p:nvSpPr>
        <p:spPr>
          <a:xfrm>
            <a:off x="755576" y="1124745"/>
            <a:ext cx="7704856" cy="2475706"/>
          </a:xfrm>
        </p:spPr>
        <p:txBody>
          <a:bodyPr>
            <a:normAutofit/>
          </a:bodyPr>
          <a:lstStyle/>
          <a:p>
            <a:pPr algn="l"/>
            <a:r>
              <a:rPr lang="tr-TR" sz="4800" b="1" dirty="0" smtClean="0">
                <a:solidFill>
                  <a:srgbClr val="FF0000"/>
                </a:solidFill>
              </a:rPr>
              <a:t>      GRAM BOYA YOLCULUĞU </a:t>
            </a:r>
            <a:br>
              <a:rPr lang="tr-TR" sz="4800" b="1" dirty="0" smtClean="0">
                <a:solidFill>
                  <a:srgbClr val="FF0000"/>
                </a:solidFill>
              </a:rPr>
            </a:br>
            <a:endParaRPr lang="tr-TR" sz="4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620688"/>
            <a:ext cx="7920880" cy="5687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İçerik Yer Tutucusu"/>
          <p:cNvSpPr>
            <a:spLocks noGrp="1"/>
          </p:cNvSpPr>
          <p:nvPr>
            <p:ph idx="4294967295"/>
          </p:nvPr>
        </p:nvSpPr>
        <p:spPr>
          <a:xfrm>
            <a:off x="539552" y="620688"/>
            <a:ext cx="7920880" cy="5760640"/>
          </a:xfrm>
        </p:spPr>
        <p:txBody>
          <a:bodyPr/>
          <a:lstStyle/>
          <a:p>
            <a:endParaRPr lang="tr-TR" dirty="0" smtClean="0"/>
          </a:p>
          <a:p>
            <a:pPr algn="ctr">
              <a:buNone/>
            </a:pPr>
            <a:r>
              <a:rPr lang="tr-TR" dirty="0" smtClean="0"/>
              <a:t>		</a:t>
            </a:r>
            <a:r>
              <a:rPr lang="tr-TR" b="1" dirty="0" smtClean="0"/>
              <a:t>Mikrobiyoloji </a:t>
            </a:r>
            <a:r>
              <a:rPr lang="tr-TR" b="1" dirty="0" err="1" smtClean="0"/>
              <a:t>lab</a:t>
            </a:r>
            <a:r>
              <a:rPr lang="tr-TR" b="1" dirty="0" smtClean="0"/>
              <a:t> da Bakterilerin morfolojik özellikleri incelemek amacıyla </a:t>
            </a:r>
            <a:r>
              <a:rPr lang="tr-TR" b="1" dirty="0" err="1" smtClean="0"/>
              <a:t>fikse</a:t>
            </a:r>
            <a:r>
              <a:rPr lang="tr-TR" b="1" dirty="0" smtClean="0"/>
              <a:t> edilen ve boyanan preparatlar kullanılır</a:t>
            </a:r>
          </a:p>
          <a:p>
            <a:pPr algn="ctr"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BAKTERİLERİN BOYANMA AŞAMASI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1-Örneğin lam üzerine yayılması</a:t>
            </a:r>
          </a:p>
          <a:p>
            <a:r>
              <a:rPr lang="tr-TR" b="1" dirty="0" smtClean="0"/>
              <a:t>2-</a:t>
            </a:r>
            <a:r>
              <a:rPr lang="tr-TR" b="1" dirty="0" err="1" smtClean="0"/>
              <a:t>Fiksasyon</a:t>
            </a:r>
            <a:r>
              <a:rPr lang="tr-TR" b="1" dirty="0" smtClean="0"/>
              <a:t> (tespit etmek)</a:t>
            </a:r>
          </a:p>
          <a:p>
            <a:r>
              <a:rPr lang="tr-TR" b="1" dirty="0" smtClean="0"/>
              <a:t>3-Boyama</a:t>
            </a:r>
            <a:endParaRPr lang="tr-TR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FİKSASYON (TESPİT ETMEK)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Tespit işlemi ile sıvı içinde süspansiyon şeklindeki bakteri hücrelerinin lama yapışması sağlanır</a:t>
            </a:r>
          </a:p>
          <a:p>
            <a:r>
              <a:rPr lang="tr-TR" b="1" dirty="0" smtClean="0"/>
              <a:t>Üzerlerine uygulanacak sıvılarla lamdan akıp gitmeleri önlenir</a:t>
            </a:r>
          </a:p>
          <a:p>
            <a:pPr>
              <a:buNone/>
            </a:pPr>
            <a:r>
              <a:rPr lang="tr-TR" b="1" dirty="0" smtClean="0"/>
              <a:t>		 FİKSASYON 2 şekilde yapılır</a:t>
            </a:r>
          </a:p>
          <a:p>
            <a:r>
              <a:rPr lang="tr-TR" b="1" dirty="0" smtClean="0"/>
              <a:t>1-Fiziksel tespit</a:t>
            </a:r>
          </a:p>
          <a:p>
            <a:r>
              <a:rPr lang="tr-TR" b="1" dirty="0" smtClean="0"/>
              <a:t>2-Kimyasal tespit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FİZİKSEL TESPİT 2 ŞEKİLDE YAPILIR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tr-TR" dirty="0" smtClean="0"/>
          </a:p>
          <a:p>
            <a:r>
              <a:rPr lang="tr-TR" b="1" dirty="0" smtClean="0"/>
              <a:t>1-Alevden Geçirme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2- (18-20) saat oda ısısında bekletme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FİZİKSEL TESPİT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Lam üzerine alınan örneğin kuruması beklendikten sonra</a:t>
            </a:r>
          </a:p>
          <a:p>
            <a:r>
              <a:rPr lang="tr-TR" b="1" dirty="0" smtClean="0"/>
              <a:t>Lamın kenarından </a:t>
            </a:r>
            <a:r>
              <a:rPr lang="tr-TR" b="1" dirty="0" err="1" smtClean="0"/>
              <a:t>pensetle</a:t>
            </a:r>
            <a:r>
              <a:rPr lang="tr-TR" b="1" dirty="0" smtClean="0"/>
              <a:t> tutularak alt yüzeyinden 3 kez alevden geçirilir</a:t>
            </a:r>
          </a:p>
          <a:p>
            <a:r>
              <a:rPr lang="tr-TR" b="1" dirty="0" smtClean="0"/>
              <a:t>(Sıcaklık ile proteinlerin pıhtılaşarak lama yapışması sağlanır)</a:t>
            </a:r>
          </a:p>
          <a:p>
            <a:r>
              <a:rPr lang="tr-TR" b="1" dirty="0" smtClean="0"/>
              <a:t>Veya 18-20 saat oda ısısında bekletilir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BOYAMA YÖNTEMLERİ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 smtClean="0"/>
              <a:t>		</a:t>
            </a:r>
          </a:p>
          <a:p>
            <a:pPr>
              <a:buNone/>
            </a:pPr>
            <a:r>
              <a:rPr lang="tr-TR" dirty="0" smtClean="0"/>
              <a:t>		</a:t>
            </a:r>
            <a:r>
              <a:rPr lang="tr-TR" b="1" dirty="0" smtClean="0"/>
              <a:t>1-BASİT BOYAMA</a:t>
            </a:r>
          </a:p>
          <a:p>
            <a:pPr>
              <a:buNone/>
            </a:pPr>
            <a:r>
              <a:rPr lang="tr-TR" b="1" dirty="0" smtClean="0"/>
              <a:t>		2-DİFERNSİYEL BOYAMA</a:t>
            </a:r>
          </a:p>
          <a:p>
            <a:pPr>
              <a:buNone/>
            </a:pPr>
            <a:r>
              <a:rPr lang="tr-TR" b="1" dirty="0" smtClean="0"/>
              <a:t>		3-NEGATİF BOYAMA</a:t>
            </a:r>
            <a:endParaRPr lang="tr-TR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BASİT BOYAMA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Bu yöntem ile bakterilerin boyanmasında tek bir boya kullanılmaktadır </a:t>
            </a:r>
          </a:p>
          <a:p>
            <a:r>
              <a:rPr lang="tr-TR" b="1" dirty="0" smtClean="0"/>
              <a:t>Basit boyamada </a:t>
            </a:r>
            <a:r>
              <a:rPr lang="tr-TR" b="1" dirty="0" err="1" smtClean="0"/>
              <a:t>Loeffler’in</a:t>
            </a:r>
            <a:r>
              <a:rPr lang="tr-TR" b="1" dirty="0" smtClean="0"/>
              <a:t> metilen mavisi, kristal </a:t>
            </a:r>
            <a:r>
              <a:rPr lang="tr-TR" b="1" dirty="0" err="1" smtClean="0"/>
              <a:t>violet</a:t>
            </a:r>
            <a:r>
              <a:rPr lang="tr-TR" b="1" dirty="0" smtClean="0"/>
              <a:t>, sulu </a:t>
            </a:r>
            <a:r>
              <a:rPr lang="tr-TR" b="1" dirty="0" err="1" smtClean="0"/>
              <a:t>fuksin</a:t>
            </a:r>
            <a:r>
              <a:rPr lang="tr-TR" b="1" dirty="0" smtClean="0"/>
              <a:t> ve </a:t>
            </a:r>
            <a:r>
              <a:rPr lang="tr-TR" b="1" dirty="0" err="1" smtClean="0"/>
              <a:t>safranin</a:t>
            </a:r>
            <a:r>
              <a:rPr lang="tr-TR" b="1" dirty="0" smtClean="0"/>
              <a:t> gibi boyalar kullanılabilir</a:t>
            </a:r>
          </a:p>
          <a:p>
            <a:r>
              <a:rPr lang="tr-TR" b="1" dirty="0" smtClean="0"/>
              <a:t>Bakteriler boyamada kullanılan boyanın rengini alır. Örneğin kristal </a:t>
            </a:r>
            <a:r>
              <a:rPr lang="tr-TR" b="1" dirty="0" err="1" smtClean="0"/>
              <a:t>violet</a:t>
            </a:r>
            <a:r>
              <a:rPr lang="tr-TR" b="1" dirty="0" smtClean="0"/>
              <a:t> ile </a:t>
            </a:r>
            <a:r>
              <a:rPr lang="sv-SE" b="1" dirty="0" smtClean="0"/>
              <a:t>boyanan bakteriler mor renkli görünür</a:t>
            </a:r>
            <a:endParaRPr lang="tr-TR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DİFERNSİYEL BOYAMA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İki farklı renkteki boyanın aynı preparat üzerinde belli tekniklerle ve art arda uygulanması ile gerçekleştirilen bir boyama şeklidir</a:t>
            </a:r>
          </a:p>
          <a:p>
            <a:r>
              <a:rPr lang="tr-TR" b="1" dirty="0" smtClean="0"/>
              <a:t>Örnek Gram boya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424936" cy="6336704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r>
              <a:rPr lang="tr-TR" sz="16000" b="1" dirty="0" smtClean="0">
                <a:solidFill>
                  <a:srgbClr val="FF0000"/>
                </a:solidFill>
              </a:rPr>
              <a:t>GRAM BOYA</a:t>
            </a:r>
            <a:endParaRPr lang="tr-TR" sz="9600" b="1" dirty="0" smtClean="0"/>
          </a:p>
          <a:p>
            <a:pPr>
              <a:buNone/>
            </a:pPr>
            <a:r>
              <a:rPr lang="tr-TR" sz="11200" b="1" dirty="0" smtClean="0"/>
              <a:t>1-Preparat hazırlanır (yayma, kurutma, </a:t>
            </a:r>
            <a:r>
              <a:rPr lang="tr-TR" sz="11200" b="1" dirty="0" err="1" smtClean="0"/>
              <a:t>tesbit</a:t>
            </a:r>
            <a:r>
              <a:rPr lang="tr-TR" sz="11200" b="1" dirty="0" smtClean="0"/>
              <a:t>)</a:t>
            </a:r>
          </a:p>
          <a:p>
            <a:pPr>
              <a:buNone/>
            </a:pPr>
            <a:r>
              <a:rPr lang="tr-TR" sz="11200" b="1" dirty="0" smtClean="0"/>
              <a:t>2- Preparatın üzerine kristal </a:t>
            </a:r>
            <a:r>
              <a:rPr lang="tr-TR" sz="11200" b="1" dirty="0" err="1" smtClean="0"/>
              <a:t>viyole</a:t>
            </a:r>
            <a:r>
              <a:rPr lang="tr-TR" sz="11200" b="1" dirty="0" smtClean="0"/>
              <a:t> kaplanarak 1 dakika bekletilir </a:t>
            </a:r>
          </a:p>
          <a:p>
            <a:pPr>
              <a:buNone/>
            </a:pPr>
            <a:r>
              <a:rPr lang="tr-TR" sz="11200" b="1" dirty="0" smtClean="0"/>
              <a:t>3- Boya dökülerek preparat  su ile yıkanır</a:t>
            </a:r>
          </a:p>
          <a:p>
            <a:pPr>
              <a:buNone/>
            </a:pPr>
            <a:r>
              <a:rPr lang="tr-TR" sz="11200" b="1" dirty="0" smtClean="0"/>
              <a:t>4- Preparatın üzerine </a:t>
            </a:r>
            <a:r>
              <a:rPr lang="tr-TR" sz="11200" b="1" dirty="0" err="1" smtClean="0"/>
              <a:t>lugol</a:t>
            </a:r>
            <a:r>
              <a:rPr lang="tr-TR" sz="11200" b="1" dirty="0" smtClean="0"/>
              <a:t> kaplanarak 1-2 dakika</a:t>
            </a:r>
          </a:p>
          <a:p>
            <a:pPr>
              <a:buNone/>
            </a:pPr>
            <a:r>
              <a:rPr lang="tr-TR" sz="11200" b="1" dirty="0" smtClean="0"/>
              <a:t>    bekletilir su ile yıkanır</a:t>
            </a:r>
          </a:p>
          <a:p>
            <a:pPr>
              <a:buNone/>
            </a:pPr>
            <a:r>
              <a:rPr lang="tr-TR" sz="11200" b="1" dirty="0" smtClean="0"/>
              <a:t>5-Asit-Alkol karışımı ile renksiz sıvı akana kadar renk giderilir (DEKOLARİZASYON)</a:t>
            </a:r>
          </a:p>
          <a:p>
            <a:pPr>
              <a:buNone/>
            </a:pPr>
            <a:r>
              <a:rPr lang="tr-TR" sz="11200" b="1" dirty="0" smtClean="0"/>
              <a:t>6-Su ile yıkanır</a:t>
            </a:r>
          </a:p>
          <a:p>
            <a:pPr>
              <a:buNone/>
            </a:pPr>
            <a:r>
              <a:rPr lang="tr-TR" sz="11200" b="1" dirty="0" smtClean="0"/>
              <a:t>7- Preparatın üzerine Sulu </a:t>
            </a:r>
            <a:r>
              <a:rPr lang="tr-TR" sz="11200" b="1" dirty="0" err="1" smtClean="0"/>
              <a:t>fuksin</a:t>
            </a:r>
            <a:r>
              <a:rPr lang="tr-TR" sz="11200" b="1" dirty="0" smtClean="0"/>
              <a:t> veya </a:t>
            </a:r>
            <a:r>
              <a:rPr lang="tr-TR" sz="11200" b="1" dirty="0" err="1" smtClean="0"/>
              <a:t>safranin</a:t>
            </a:r>
            <a:r>
              <a:rPr lang="tr-TR" sz="11200" b="1" dirty="0" smtClean="0"/>
              <a:t> kaplanarak 30 saniye beklenir</a:t>
            </a:r>
          </a:p>
          <a:p>
            <a:pPr>
              <a:buNone/>
            </a:pPr>
            <a:r>
              <a:rPr lang="tr-TR" sz="11200" b="1" dirty="0" smtClean="0"/>
              <a:t>8-Su ile yıkanır</a:t>
            </a:r>
          </a:p>
          <a:p>
            <a:pPr>
              <a:buNone/>
            </a:pPr>
            <a:r>
              <a:rPr lang="tr-TR" sz="11200" b="1" dirty="0" smtClean="0"/>
              <a:t>9-Kurutulan preparat mikroskopta </a:t>
            </a:r>
            <a:r>
              <a:rPr lang="tr-TR" sz="11200" b="1" dirty="0" err="1" smtClean="0"/>
              <a:t>immersiyon</a:t>
            </a:r>
            <a:r>
              <a:rPr lang="tr-TR" sz="11200" b="1" dirty="0" smtClean="0"/>
              <a:t> objektifi ile incelenir</a:t>
            </a:r>
          </a:p>
          <a:p>
            <a:pPr>
              <a:buNone/>
            </a:pPr>
            <a:endParaRPr lang="tr-TR" sz="9600" b="1" dirty="0" smtClean="0"/>
          </a:p>
          <a:p>
            <a:pPr>
              <a:buNone/>
            </a:pPr>
            <a:r>
              <a:rPr lang="tr-TR" sz="9600" b="1" dirty="0" smtClean="0"/>
              <a:t> </a:t>
            </a:r>
          </a:p>
          <a:p>
            <a:pPr>
              <a:buNone/>
            </a:pPr>
            <a:endParaRPr lang="tr-TR" sz="9600" b="1" dirty="0" smtClean="0"/>
          </a:p>
          <a:p>
            <a:pPr>
              <a:buNone/>
            </a:pPr>
            <a:r>
              <a:rPr lang="tr-TR" sz="9600" b="1" dirty="0" smtClean="0"/>
              <a:t>	</a:t>
            </a:r>
          </a:p>
          <a:p>
            <a:pPr>
              <a:buNone/>
            </a:pPr>
            <a:endParaRPr lang="tr-TR" sz="9600" b="1" dirty="0" smtClean="0"/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GRAM BOYA SONUCU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 smtClean="0">
                <a:solidFill>
                  <a:srgbClr val="7030A0"/>
                </a:solidFill>
              </a:rPr>
              <a:t>İmmersiyon</a:t>
            </a:r>
            <a:r>
              <a:rPr lang="tr-TR" b="1" dirty="0" smtClean="0">
                <a:solidFill>
                  <a:srgbClr val="7030A0"/>
                </a:solidFill>
              </a:rPr>
              <a:t> objektifi ile incelendiğinde Mor renkli boyanan bakteriler G+</a:t>
            </a:r>
          </a:p>
          <a:p>
            <a:r>
              <a:rPr lang="tr-TR" b="1" dirty="0" smtClean="0">
                <a:solidFill>
                  <a:srgbClr val="FF3399"/>
                </a:solidFill>
              </a:rPr>
              <a:t>Pembe renkli boyanan bakteriler G- olarak değerlendirilir</a:t>
            </a:r>
          </a:p>
          <a:p>
            <a:pPr>
              <a:buNone/>
            </a:pPr>
            <a:endParaRPr lang="tr-TR" b="1" dirty="0" smtClean="0">
              <a:solidFill>
                <a:srgbClr val="FF3399"/>
              </a:solidFill>
            </a:endParaRPr>
          </a:p>
          <a:p>
            <a:r>
              <a:rPr lang="tr-TR" b="1" dirty="0" smtClean="0"/>
              <a:t> G+ bakterilerde </a:t>
            </a:r>
            <a:r>
              <a:rPr lang="tr-TR" b="1" dirty="0" err="1" smtClean="0"/>
              <a:t>peptidoglikan</a:t>
            </a:r>
            <a:r>
              <a:rPr lang="tr-TR" b="1" dirty="0" smtClean="0"/>
              <a:t> yapı kalın olduğu için aldığı boyayı </a:t>
            </a:r>
            <a:r>
              <a:rPr lang="tr-TR" b="1" dirty="0" err="1" smtClean="0"/>
              <a:t>dekolarizasyon</a:t>
            </a:r>
            <a:r>
              <a:rPr lang="tr-TR" b="1" dirty="0" smtClean="0"/>
              <a:t> sırasında geç bırakır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EHRLİCH ZİEHL NEELSEN BOYAMA YÖNTEMİ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 smtClean="0"/>
              <a:t>		</a:t>
            </a:r>
            <a:r>
              <a:rPr lang="tr-TR" b="1" dirty="0" smtClean="0">
                <a:solidFill>
                  <a:srgbClr val="7030A0"/>
                </a:solidFill>
              </a:rPr>
              <a:t>	ARB BOYAMA</a:t>
            </a:r>
          </a:p>
          <a:p>
            <a:r>
              <a:rPr lang="tr-TR" b="1" dirty="0" err="1" smtClean="0"/>
              <a:t>Mycobacterium</a:t>
            </a:r>
            <a:r>
              <a:rPr lang="tr-TR" b="1" dirty="0" smtClean="0"/>
              <a:t> </a:t>
            </a:r>
            <a:r>
              <a:rPr lang="tr-TR" b="1" dirty="0" err="1" smtClean="0"/>
              <a:t>tuberculosis</a:t>
            </a:r>
            <a:r>
              <a:rPr lang="tr-TR" b="1" dirty="0" smtClean="0"/>
              <a:t>, Lepra gibi bazı bakteriler aside dirençli boyanma özelliği gösterirler</a:t>
            </a:r>
          </a:p>
          <a:p>
            <a:r>
              <a:rPr lang="tr-TR" b="1" dirty="0" err="1" smtClean="0"/>
              <a:t>Dekolarizasyonda</a:t>
            </a:r>
            <a:r>
              <a:rPr lang="tr-TR" b="1" dirty="0" smtClean="0"/>
              <a:t> renkleri gitmez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7030A0"/>
                </a:solidFill>
              </a:rPr>
              <a:t>AARB BOYA</a:t>
            </a:r>
            <a:endParaRPr lang="tr-TR" sz="4000" b="1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1" dirty="0" smtClean="0"/>
              <a:t>1-Preparat hazırlanır (yayma, kurutma, </a:t>
            </a:r>
            <a:r>
              <a:rPr lang="tr-TR" b="1" dirty="0" err="1" smtClean="0"/>
              <a:t>tesbit</a:t>
            </a:r>
            <a:r>
              <a:rPr lang="tr-TR" b="1" dirty="0" smtClean="0"/>
              <a:t>)</a:t>
            </a:r>
          </a:p>
          <a:p>
            <a:r>
              <a:rPr lang="tr-TR" b="1" dirty="0" smtClean="0"/>
              <a:t>2-</a:t>
            </a:r>
            <a:r>
              <a:rPr lang="tr-TR" b="1" dirty="0" err="1" smtClean="0"/>
              <a:t>Karbol</a:t>
            </a:r>
            <a:r>
              <a:rPr lang="tr-TR" b="1" dirty="0" smtClean="0"/>
              <a:t> </a:t>
            </a:r>
            <a:r>
              <a:rPr lang="tr-TR" b="1" dirty="0" err="1" smtClean="0"/>
              <a:t>fuksin</a:t>
            </a:r>
            <a:r>
              <a:rPr lang="tr-TR" b="1" dirty="0" smtClean="0"/>
              <a:t> damlatılır,Preparatın altından kaynamamasına özen gösterilerek 2-5 </a:t>
            </a:r>
            <a:r>
              <a:rPr lang="tr-TR" b="1" dirty="0" err="1" smtClean="0"/>
              <a:t>dk</a:t>
            </a:r>
            <a:r>
              <a:rPr lang="tr-TR" b="1" dirty="0" smtClean="0"/>
              <a:t> ısıtılır</a:t>
            </a:r>
          </a:p>
          <a:p>
            <a:r>
              <a:rPr lang="tr-TR" b="1" dirty="0" smtClean="0"/>
              <a:t>3-Asit-Alkol ile </a:t>
            </a:r>
            <a:r>
              <a:rPr lang="tr-TR" b="1" dirty="0" err="1" smtClean="0"/>
              <a:t>dekolarizasyon</a:t>
            </a:r>
            <a:endParaRPr lang="tr-TR" b="1" dirty="0" smtClean="0"/>
          </a:p>
          <a:p>
            <a:r>
              <a:rPr lang="tr-TR" b="1" dirty="0" smtClean="0"/>
              <a:t>4-Metilen mavisi ile 1 </a:t>
            </a:r>
            <a:r>
              <a:rPr lang="tr-TR" b="1" dirty="0" err="1" smtClean="0"/>
              <a:t>dk</a:t>
            </a:r>
            <a:r>
              <a:rPr lang="tr-TR" b="1" dirty="0" smtClean="0"/>
              <a:t> boyanır</a:t>
            </a:r>
          </a:p>
          <a:p>
            <a:r>
              <a:rPr lang="tr-TR" b="1" dirty="0" smtClean="0"/>
              <a:t>5-Su ile yıkanır</a:t>
            </a:r>
          </a:p>
          <a:p>
            <a:r>
              <a:rPr lang="tr-TR" b="1" dirty="0" smtClean="0"/>
              <a:t>6-Kurutulan preparat mikroskopta </a:t>
            </a:r>
            <a:r>
              <a:rPr lang="tr-TR" b="1" dirty="0" err="1" smtClean="0"/>
              <a:t>immersiyon</a:t>
            </a:r>
            <a:r>
              <a:rPr lang="tr-TR" b="1" dirty="0" smtClean="0"/>
              <a:t> objektifi ile incelenir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7030A0"/>
                </a:solidFill>
              </a:rPr>
              <a:t>AARB BOYA</a:t>
            </a:r>
            <a:endParaRPr lang="tr-TR" sz="4000" b="1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 smtClean="0"/>
              <a:t>Asido</a:t>
            </a:r>
            <a:r>
              <a:rPr lang="tr-TR" b="1" dirty="0" smtClean="0"/>
              <a:t> </a:t>
            </a:r>
            <a:r>
              <a:rPr lang="tr-TR" b="1" dirty="0" err="1" smtClean="0"/>
              <a:t>Rezistan</a:t>
            </a:r>
            <a:r>
              <a:rPr lang="tr-TR" b="1" dirty="0" smtClean="0"/>
              <a:t> Bakteriler Mavi zeminde Kırmızı renkte görülürler</a:t>
            </a:r>
          </a:p>
          <a:p>
            <a:r>
              <a:rPr lang="tr-TR" b="1" dirty="0" smtClean="0"/>
              <a:t>Materyal balgam,çeşitli vücut sıvıları …</a:t>
            </a:r>
            <a:endParaRPr lang="tr-TR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NEGATİF BOYAMA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1" dirty="0" smtClean="0"/>
              <a:t>Mikroorganizmaların morfolojilerini incelemek için uygulanan ve mikroorganizmaları değil, bunların yayıldığı ortamı (zemini) boyamayı amaçlayan bir yöntemdir</a:t>
            </a:r>
          </a:p>
          <a:p>
            <a:pPr>
              <a:buNone/>
            </a:pPr>
            <a:r>
              <a:rPr lang="tr-TR" b="1" dirty="0" smtClean="0"/>
              <a:t>		 </a:t>
            </a:r>
            <a:r>
              <a:rPr lang="tr-TR" b="1" dirty="0" smtClean="0">
                <a:solidFill>
                  <a:srgbClr val="7030A0"/>
                </a:solidFill>
              </a:rPr>
              <a:t>Bu yöntem</a:t>
            </a:r>
          </a:p>
          <a:p>
            <a:r>
              <a:rPr lang="tr-TR" b="1" dirty="0" smtClean="0"/>
              <a:t>Daha çok bakterilerde </a:t>
            </a:r>
            <a:r>
              <a:rPr lang="tr-TR" b="1" dirty="0" smtClean="0">
                <a:solidFill>
                  <a:srgbClr val="FF0000"/>
                </a:solidFill>
              </a:rPr>
              <a:t>KAPSÜL</a:t>
            </a:r>
            <a:r>
              <a:rPr lang="tr-TR" b="1" dirty="0" smtClean="0"/>
              <a:t> varlığını ortaya koymak için uygulanmaktadır</a:t>
            </a:r>
          </a:p>
          <a:p>
            <a:r>
              <a:rPr lang="tr-TR" b="1" dirty="0" smtClean="0"/>
              <a:t>Boyama işlemi sırasında çini mürekkebi veya </a:t>
            </a:r>
            <a:r>
              <a:rPr lang="tr-TR" b="1" dirty="0" err="1" smtClean="0"/>
              <a:t>nigrosin</a:t>
            </a:r>
            <a:r>
              <a:rPr lang="tr-TR" b="1" dirty="0" smtClean="0"/>
              <a:t> boyası kullanılır</a:t>
            </a:r>
          </a:p>
          <a:p>
            <a:endParaRPr lang="tr-TR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  GÖRMEK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19458" name="Picture 2" descr="D:\BELGELER\PLAK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05781"/>
            <a:ext cx="8229600" cy="4114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 descr="C:\Users\Pc\Desktop\streptokok-bogaz-agrisi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76672"/>
            <a:ext cx="7858125" cy="571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ALINAN NUMUNENİN GEÇİRDİĞİ AŞAMALAR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smtClean="0"/>
              <a:t>1-Numune alma </a:t>
            </a:r>
          </a:p>
          <a:p>
            <a:r>
              <a:rPr lang="tr-TR" b="1" dirty="0" smtClean="0"/>
              <a:t>2-</a:t>
            </a:r>
            <a:r>
              <a:rPr lang="tr-TR" b="1" dirty="0" err="1" smtClean="0"/>
              <a:t>Laboratuvara</a:t>
            </a:r>
            <a:r>
              <a:rPr lang="tr-TR" b="1" dirty="0" smtClean="0"/>
              <a:t>  gönderme</a:t>
            </a:r>
          </a:p>
          <a:p>
            <a:r>
              <a:rPr lang="tr-TR" b="1" dirty="0" smtClean="0"/>
              <a:t>3-Gelen numunelerin ekilmesi</a:t>
            </a:r>
          </a:p>
          <a:p>
            <a:r>
              <a:rPr lang="tr-TR" b="1" dirty="0" smtClean="0"/>
              <a:t>4-</a:t>
            </a:r>
            <a:r>
              <a:rPr lang="tr-TR" b="1" dirty="0" err="1" smtClean="0"/>
              <a:t>İnkübasyon</a:t>
            </a:r>
            <a:endParaRPr lang="tr-TR" b="1" dirty="0" smtClean="0"/>
          </a:p>
          <a:p>
            <a:r>
              <a:rPr lang="tr-TR" b="1" dirty="0" smtClean="0"/>
              <a:t>5-Değerlendirme</a:t>
            </a:r>
          </a:p>
          <a:p>
            <a:pPr lvl="2"/>
            <a:r>
              <a:rPr lang="tr-TR" b="1" dirty="0" smtClean="0">
                <a:solidFill>
                  <a:srgbClr val="FF0066"/>
                </a:solidFill>
              </a:rPr>
              <a:t>GRAM BOYA</a:t>
            </a:r>
          </a:p>
          <a:p>
            <a:r>
              <a:rPr lang="tr-TR" b="1" dirty="0" smtClean="0"/>
              <a:t>6-Kültür </a:t>
            </a:r>
            <a:r>
              <a:rPr lang="tr-TR" b="1" dirty="0" err="1" smtClean="0"/>
              <a:t>antibiyogram</a:t>
            </a:r>
            <a:endParaRPr lang="tr-TR" b="1" dirty="0" smtClean="0"/>
          </a:p>
          <a:p>
            <a:r>
              <a:rPr lang="tr-TR" b="1" dirty="0" smtClean="0"/>
              <a:t>7-Raporun verilmesi</a:t>
            </a:r>
            <a:endParaRPr lang="tr-TR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755576" y="274638"/>
            <a:ext cx="7474024" cy="1143000"/>
          </a:xfrm>
        </p:spPr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NUMUNE ALMA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66562" name="Picture 2" descr="C:\Users\Pc\Desktop\24-hour-hospital-sterile-urine-container-specime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772816"/>
            <a:ext cx="6696744" cy="46634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755576" y="274638"/>
            <a:ext cx="7474024" cy="1143000"/>
          </a:xfrm>
        </p:spPr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NUMUNE ALMA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19458" name="Picture 2" descr="C:\Users\Pc\Desktop\ekuvyon honka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072" y="1772816"/>
            <a:ext cx="3495595" cy="4020443"/>
          </a:xfrm>
          <a:prstGeom prst="rect">
            <a:avLst/>
          </a:prstGeom>
          <a:noFill/>
        </p:spPr>
      </p:pic>
      <p:pic>
        <p:nvPicPr>
          <p:cNvPr id="19459" name="Picture 3" descr="C:\Users\Pc\Desktop\16B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844824"/>
            <a:ext cx="4816865" cy="42902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Users\Pc\Desktop\1266933388_3002xx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67944" y="188640"/>
            <a:ext cx="4760912" cy="3500437"/>
          </a:xfrm>
          <a:prstGeom prst="rect">
            <a:avLst/>
          </a:prstGeom>
          <a:noFill/>
        </p:spPr>
      </p:pic>
      <p:pic>
        <p:nvPicPr>
          <p:cNvPr id="5" name="Picture 2" descr="http://www.gidalaboratuvari.net/img20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3429000"/>
            <a:ext cx="6429420" cy="32147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 descr="C:\Users\Pc\Desktop\2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476672"/>
            <a:ext cx="4716016" cy="3857625"/>
          </a:xfrm>
          <a:prstGeom prst="rect">
            <a:avLst/>
          </a:prstGeom>
          <a:noFill/>
        </p:spPr>
      </p:pic>
      <p:pic>
        <p:nvPicPr>
          <p:cNvPr id="63491" name="Picture 3" descr="C:\Users\Pc\Desktop\image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548680"/>
            <a:ext cx="4032448" cy="58647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LABORATUVARA  GÖNDERME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6" name="Picture 2" descr="C:\Users\Pc\Desktop\701a613a18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700808"/>
            <a:ext cx="5506759" cy="46370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GELEN NUMUNELERİN EKİLMESİ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Pc\Desktop\1108_culture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3438" y="1714488"/>
            <a:ext cx="4219769" cy="4929222"/>
          </a:xfrm>
          <a:prstGeom prst="rect">
            <a:avLst/>
          </a:prstGeom>
          <a:noFill/>
        </p:spPr>
      </p:pic>
      <p:pic>
        <p:nvPicPr>
          <p:cNvPr id="1027" name="Picture 3" descr="C:\Users\Pc\Desktop\micr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2071678"/>
            <a:ext cx="4357686" cy="45005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188640"/>
            <a:ext cx="8784976" cy="6408712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</a:t>
            </a:r>
            <a:r>
              <a:rPr lang="tr-TR" sz="4400" b="1" dirty="0" smtClean="0">
                <a:solidFill>
                  <a:srgbClr val="FF0000"/>
                </a:solidFill>
              </a:rPr>
              <a:t>PETRİ KABI</a:t>
            </a:r>
            <a:endParaRPr lang="tr-TR" sz="4400" b="1" dirty="0">
              <a:solidFill>
                <a:srgbClr val="FF0000"/>
              </a:solidFill>
            </a:endParaRPr>
          </a:p>
        </p:txBody>
      </p:sp>
      <p:pic>
        <p:nvPicPr>
          <p:cNvPr id="4" name="Picture 2" descr="C:\Users\Pc\Desktop\1240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260648"/>
            <a:ext cx="4595565" cy="2757339"/>
          </a:xfrm>
          <a:prstGeom prst="rect">
            <a:avLst/>
          </a:prstGeom>
          <a:noFill/>
        </p:spPr>
      </p:pic>
      <p:pic>
        <p:nvPicPr>
          <p:cNvPr id="5" name="Picture 2" descr="C:\Users\Pc\Desktop\agar_plat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068960"/>
            <a:ext cx="6480720" cy="34330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Pc\Desktop\besi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04664"/>
            <a:ext cx="8582025" cy="5857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 descr="C:\Users\Pc\Desktop\9dbe6287ba317a08ad4b3cf29bfa9c82_f438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0648"/>
            <a:ext cx="8215313" cy="63103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EKİM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26626" name="Picture 2" descr="C:\Users\user\Desktop\Mikrobiyolojik Ekim Yöntemleri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ÖZENİN ALEVDE YAKILARAK STERİL EDİLMESİ</a:t>
            </a:r>
            <a:endParaRPr lang="tr-TR" sz="3600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8215482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C:\Users\user\Desktop\hqdefault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548680"/>
            <a:ext cx="8209086" cy="59760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C:\Users\user\Desktop\indir (1)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04664"/>
            <a:ext cx="8137525" cy="59039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C:\Users\user\Desktop\indir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32656"/>
            <a:ext cx="8064896" cy="59761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EKİM  METODLARI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30722" name="Picture 2" descr="C:\Users\user\Desktop\indir (1)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1844824"/>
            <a:ext cx="3563888" cy="3960440"/>
          </a:xfrm>
          <a:prstGeom prst="rect">
            <a:avLst/>
          </a:prstGeom>
          <a:noFill/>
        </p:spPr>
      </p:pic>
      <p:pic>
        <p:nvPicPr>
          <p:cNvPr id="30723" name="Picture 3" descr="C:\Users\user\Desktop\42-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628800"/>
            <a:ext cx="4590192" cy="44071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EKİM  METODLARI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31746" name="Picture 2" descr="C:\Users\user\Desktop\microbiology-petri-plate-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844824"/>
            <a:ext cx="7272808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İNKÜBASYON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19458" name="Picture 2" descr="C:\Users\Pc\Desktop\NÜVE Etüv Tıbbi ve Medikal Cihazlar Tamiri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628800"/>
            <a:ext cx="6984776" cy="49026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Users\Pc\Desktop\1012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620688"/>
            <a:ext cx="8497887" cy="55546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sz="4900" b="1" dirty="0" smtClean="0">
                <a:solidFill>
                  <a:srgbClr val="FF0000"/>
                </a:solidFill>
              </a:rPr>
              <a:t>DEĞERLENDİRME</a:t>
            </a:r>
            <a:r>
              <a:rPr lang="tr-TR" sz="4900" dirty="0" smtClean="0">
                <a:solidFill>
                  <a:srgbClr val="FF0000"/>
                </a:solidFill>
              </a:rPr>
              <a:t/>
            </a:r>
            <a:br>
              <a:rPr lang="tr-TR" sz="4900" dirty="0" smtClean="0">
                <a:solidFill>
                  <a:srgbClr val="FF0000"/>
                </a:solidFill>
              </a:rPr>
            </a:br>
            <a:endParaRPr lang="tr-TR" sz="49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b="1" dirty="0" smtClean="0"/>
              <a:t>			</a:t>
            </a:r>
            <a:r>
              <a:rPr lang="tr-TR" sz="4000" b="1" dirty="0" smtClean="0">
                <a:solidFill>
                  <a:srgbClr val="7030A0"/>
                </a:solidFill>
              </a:rPr>
              <a:t>KÜLTÜR NEDİR?</a:t>
            </a:r>
          </a:p>
          <a:p>
            <a:r>
              <a:rPr lang="tr-TR" b="1" dirty="0" smtClean="0"/>
              <a:t>Üzerinde veya içinde mikroorganizma üretilmiş besi yerlerine kültür adı verilir</a:t>
            </a:r>
          </a:p>
          <a:p>
            <a:endParaRPr lang="tr-TR" b="1" dirty="0" smtClean="0"/>
          </a:p>
          <a:p>
            <a:endParaRPr lang="tr-TR" dirty="0" smtClean="0"/>
          </a:p>
          <a:p>
            <a:pPr>
              <a:buNone/>
            </a:pPr>
            <a:endParaRPr lang="tr-TR" dirty="0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1143000"/>
          </a:xfrm>
        </p:spPr>
        <p:txBody>
          <a:bodyPr/>
          <a:lstStyle/>
          <a:p>
            <a:pPr algn="l"/>
            <a:r>
              <a:rPr lang="tr-TR" b="1" dirty="0" smtClean="0">
                <a:solidFill>
                  <a:srgbClr val="FF0000"/>
                </a:solidFill>
              </a:rPr>
              <a:t>ÜREME OLMUŞ PLAKLAR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4" name="Picture 2" descr="C:\Users\Pc\Desktop\0021-14028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0141" y="1412776"/>
            <a:ext cx="4154347" cy="4333859"/>
          </a:xfrm>
          <a:prstGeom prst="rect">
            <a:avLst/>
          </a:prstGeom>
          <a:noFill/>
        </p:spPr>
      </p:pic>
      <p:pic>
        <p:nvPicPr>
          <p:cNvPr id="2050" name="Picture 2" descr="C:\Users\Pc\Desktop\salmonella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484784"/>
            <a:ext cx="4569026" cy="4992695"/>
          </a:xfrm>
          <a:prstGeom prst="rect">
            <a:avLst/>
          </a:prstGeom>
          <a:noFill/>
        </p:spPr>
      </p:pic>
      <p:sp>
        <p:nvSpPr>
          <p:cNvPr id="6" name="5 Dikdörtgen"/>
          <p:cNvSpPr/>
          <p:nvPr/>
        </p:nvSpPr>
        <p:spPr>
          <a:xfrm>
            <a:off x="6357950" y="4572008"/>
            <a:ext cx="23574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/>
              <a:t>EMB </a:t>
            </a:r>
            <a:r>
              <a:rPr lang="tr-TR" b="1" dirty="0" err="1" smtClean="0"/>
              <a:t>Agar</a:t>
            </a:r>
            <a:r>
              <a:rPr lang="tr-TR" b="1" dirty="0" smtClean="0"/>
              <a:t>; </a:t>
            </a:r>
            <a:r>
              <a:rPr lang="tr-TR" b="1" dirty="0" err="1" smtClean="0"/>
              <a:t>LevineStaphylococcus</a:t>
            </a:r>
            <a:r>
              <a:rPr lang="tr-TR" b="1" dirty="0" smtClean="0"/>
              <a:t> </a:t>
            </a:r>
            <a:r>
              <a:rPr lang="tr-TR" b="1" dirty="0" err="1" smtClean="0"/>
              <a:t>epidermidis</a:t>
            </a:r>
            <a:endParaRPr lang="tr-TR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Pc\Desktop\0021-25922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60648"/>
            <a:ext cx="7858125" cy="63573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211960" y="274638"/>
            <a:ext cx="4474840" cy="1143000"/>
          </a:xfrm>
        </p:spPr>
        <p:txBody>
          <a:bodyPr>
            <a:normAutofit/>
          </a:bodyPr>
          <a:lstStyle/>
          <a:p>
            <a:r>
              <a:rPr lang="it-IT" sz="2400" b="1" dirty="0" smtClean="0">
                <a:solidFill>
                  <a:srgbClr val="7030A0"/>
                </a:solidFill>
              </a:rPr>
              <a:t>Chromogenic Media for Listeria Isolation</a:t>
            </a:r>
            <a:endParaRPr lang="tr-TR" sz="2400" b="1" dirty="0">
              <a:solidFill>
                <a:srgbClr val="7030A0"/>
              </a:solidFill>
            </a:endParaRPr>
          </a:p>
        </p:txBody>
      </p:sp>
      <p:pic>
        <p:nvPicPr>
          <p:cNvPr id="4098" name="Picture 2" descr="C:\Users\Pc\Desktop\995h46p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844824"/>
            <a:ext cx="4305328" cy="4214842"/>
          </a:xfrm>
          <a:prstGeom prst="rect">
            <a:avLst/>
          </a:prstGeom>
          <a:noFill/>
        </p:spPr>
      </p:pic>
      <p:sp>
        <p:nvSpPr>
          <p:cNvPr id="7" name="6 Dikdörtgen"/>
          <p:cNvSpPr/>
          <p:nvPr/>
        </p:nvSpPr>
        <p:spPr>
          <a:xfrm>
            <a:off x="357159" y="5733257"/>
            <a:ext cx="33575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 err="1" smtClean="0">
                <a:solidFill>
                  <a:srgbClr val="7030A0"/>
                </a:solidFill>
              </a:rPr>
              <a:t>Endo</a:t>
            </a:r>
            <a:r>
              <a:rPr lang="tr-TR" sz="2400" b="1" dirty="0" smtClean="0">
                <a:solidFill>
                  <a:srgbClr val="7030A0"/>
                </a:solidFill>
              </a:rPr>
              <a:t> </a:t>
            </a:r>
            <a:r>
              <a:rPr lang="tr-TR" sz="2400" b="1" dirty="0" err="1" smtClean="0">
                <a:solidFill>
                  <a:srgbClr val="7030A0"/>
                </a:solidFill>
              </a:rPr>
              <a:t>Agar</a:t>
            </a:r>
            <a:r>
              <a:rPr lang="tr-TR" sz="2400" b="1" dirty="0" smtClean="0">
                <a:solidFill>
                  <a:srgbClr val="7030A0"/>
                </a:solidFill>
              </a:rPr>
              <a:t> </a:t>
            </a:r>
            <a:r>
              <a:rPr lang="tr-TR" sz="2400" b="1" dirty="0" err="1" smtClean="0">
                <a:solidFill>
                  <a:srgbClr val="7030A0"/>
                </a:solidFill>
              </a:rPr>
              <a:t>Enterobacter</a:t>
            </a:r>
            <a:r>
              <a:rPr lang="tr-TR" sz="2400" b="1" dirty="0" smtClean="0">
                <a:solidFill>
                  <a:srgbClr val="7030A0"/>
                </a:solidFill>
              </a:rPr>
              <a:t> </a:t>
            </a:r>
            <a:r>
              <a:rPr lang="tr-TR" sz="2400" b="1" dirty="0" err="1" smtClean="0">
                <a:solidFill>
                  <a:srgbClr val="7030A0"/>
                </a:solidFill>
              </a:rPr>
              <a:t>cloacae</a:t>
            </a:r>
            <a:endParaRPr lang="tr-TR" sz="2400" b="1" dirty="0">
              <a:solidFill>
                <a:srgbClr val="7030A0"/>
              </a:solidFill>
            </a:endParaRPr>
          </a:p>
        </p:txBody>
      </p:sp>
      <p:pic>
        <p:nvPicPr>
          <p:cNvPr id="8" name="Picture 2" descr="C:\Users\Pc\Desktop\0285-1304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412776"/>
            <a:ext cx="4524281" cy="42148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971600" y="274638"/>
            <a:ext cx="7258000" cy="922114"/>
          </a:xfrm>
        </p:spPr>
        <p:txBody>
          <a:bodyPr>
            <a:normAutofit/>
          </a:bodyPr>
          <a:lstStyle/>
          <a:p>
            <a:r>
              <a:rPr lang="tr-TR" sz="3200" b="1" dirty="0" err="1" smtClean="0">
                <a:solidFill>
                  <a:srgbClr val="7030A0"/>
                </a:solidFill>
              </a:rPr>
              <a:t>Staphylococcus</a:t>
            </a:r>
            <a:r>
              <a:rPr lang="tr-TR" sz="3200" b="1" dirty="0" smtClean="0">
                <a:solidFill>
                  <a:srgbClr val="7030A0"/>
                </a:solidFill>
              </a:rPr>
              <a:t> </a:t>
            </a:r>
            <a:r>
              <a:rPr lang="tr-TR" sz="3200" b="1" dirty="0" err="1" smtClean="0">
                <a:solidFill>
                  <a:srgbClr val="7030A0"/>
                </a:solidFill>
              </a:rPr>
              <a:t>aureus</a:t>
            </a:r>
            <a:endParaRPr lang="tr-TR" sz="3200" dirty="0">
              <a:solidFill>
                <a:srgbClr val="7030A0"/>
              </a:solidFill>
            </a:endParaRPr>
          </a:p>
        </p:txBody>
      </p:sp>
      <p:pic>
        <p:nvPicPr>
          <p:cNvPr id="5123" name="Picture 3" descr="C:\Users\Pc\Desktop\1024px-Staphylococcus_aureus_agar_sangre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196753"/>
            <a:ext cx="6858000" cy="51125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Pc\Desktop\040624_strap-culture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620688"/>
            <a:ext cx="7165975" cy="5648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Pc\Desktop\AdvBiomedRes_2014_3_1_32_124683_f2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476672"/>
            <a:ext cx="6862763" cy="59293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BAKTERİNİN BOYANMASI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Üremiş olan kültür plağından bakterinin alınarak BOYA yapılması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Users\Pc\Desktop\slide_4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60648"/>
            <a:ext cx="8497887" cy="6143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Pc\Desktop\Tağı_GM_001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332656"/>
            <a:ext cx="5434012" cy="3744913"/>
          </a:xfrm>
          <a:prstGeom prst="rect">
            <a:avLst/>
          </a:prstGeom>
          <a:noFill/>
        </p:spPr>
      </p:pic>
      <p:pic>
        <p:nvPicPr>
          <p:cNvPr id="24579" name="Picture 3" descr="C:\Users\Pc\Desktop\Slide10_Pic1_635962454062967969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3861048"/>
            <a:ext cx="4526071" cy="26921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ÖZENİN ALEVDE YAKILARAK STERİL EDİLMESİ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714488"/>
            <a:ext cx="8215482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STERİL ÖZE YARDIMIYLA ÜREMİŞ KÜLTÜRDEN TEK KOLONİ ALINMASI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Pc\Desktop\petri_dish_bacterial_cultures_picking_colony_m87441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71652"/>
            <a:ext cx="7745514" cy="46096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Pc\Desktop\ijmsv06p0234g04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620688"/>
            <a:ext cx="7620000" cy="57610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400" dirty="0" smtClean="0"/>
              <a:t> </a:t>
            </a:r>
            <a:r>
              <a:rPr lang="tr-TR" sz="3200" b="1" dirty="0" smtClean="0">
                <a:solidFill>
                  <a:srgbClr val="FF0000"/>
                </a:solidFill>
              </a:rPr>
              <a:t>STERİL ÖZE YARDIMIYLA ÜREMİŞ KÜLTÜRDEN TEK KOLONİ ALINMASI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Pc\Desktop\1108_culture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6314" y="2071678"/>
            <a:ext cx="3714776" cy="4143404"/>
          </a:xfrm>
          <a:prstGeom prst="rect">
            <a:avLst/>
          </a:prstGeom>
          <a:noFill/>
        </p:spPr>
      </p:pic>
      <p:pic>
        <p:nvPicPr>
          <p:cNvPr id="1027" name="Picture 3" descr="C:\Users\Pc\Desktop\micr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2071678"/>
            <a:ext cx="4357686" cy="45005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STERİL ÖZE YARDIMIYLA ÜREMİŞ KÜLTÜRDEN TEK KOLONİ ALINMASI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Pc\Desktop\petri_dish_bacterial_cultures_picking_colony_m87441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1700808"/>
            <a:ext cx="7572428" cy="50143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MRSA BACTERİA</a:t>
            </a:r>
            <a:endParaRPr lang="tr-TR" sz="4000" b="1" dirty="0">
              <a:solidFill>
                <a:srgbClr val="FF0000"/>
              </a:solidFill>
            </a:endParaRPr>
          </a:p>
        </p:txBody>
      </p:sp>
      <p:pic>
        <p:nvPicPr>
          <p:cNvPr id="3074" name="Picture 2" descr="C:\Users\Pc\Desktop\5241018183_184a54cc3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556792"/>
            <a:ext cx="7429551" cy="49697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c\Desktop\Corbis-42-29383703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620688"/>
            <a:ext cx="7637462" cy="57864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ÖZENİN ALEVDE YAKILARAK STERİL EDİLMESİ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714488"/>
            <a:ext cx="8215482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İNCELENECEK ÖRNEĞİN LAM ÜZERİNE YAYILMASI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628800"/>
            <a:ext cx="8192685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İNCELENECEK ÖRNEĞİN LAM ÜZERİNE YAYILMASI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Pc\Desktop\specimen_slide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628800"/>
            <a:ext cx="7574137" cy="5069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>ÖRNEK SÜRÜLMÜŞ OLAN LAMI ALEVDEN GEÇİRMEK SURETİYLE  TESPİT ETMEK</a:t>
            </a:r>
            <a:endParaRPr lang="tr-TR" sz="2800" b="1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500174"/>
            <a:ext cx="7888390" cy="5169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>ÖRNEK SÜRÜLMÜŞ OLAN LAMI ALEVDEN GEÇİRMEK SURETİYLE  TESPİT ETMEK</a:t>
            </a:r>
            <a:endParaRPr lang="tr-TR" sz="2800" dirty="0">
              <a:solidFill>
                <a:srgbClr val="FF0000"/>
              </a:solidFill>
            </a:endParaRPr>
          </a:p>
        </p:txBody>
      </p:sp>
      <p:pic>
        <p:nvPicPr>
          <p:cNvPr id="25602" name="Picture 2" descr="C:\Users\Pc\Desktop\Tağı_GM_007-300x22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785926"/>
            <a:ext cx="7960835" cy="48834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GRAM  BOYA SETİ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4098" name="Picture 2" descr="C:\Users\Pc\Desktop\4312539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628800"/>
            <a:ext cx="8640960" cy="50405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KRİSTAL VİYOLE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Pc\Desktop\simple_meth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398570"/>
            <a:ext cx="8136904" cy="52707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SU İLE YIKAMA 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Pc\Desktop\images (1)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628800"/>
            <a:ext cx="7992888" cy="50405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LUGOL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5122" name="Picture 2" descr="C:\Users\Pc\Desktop\imagesQYFHY7TP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340768"/>
            <a:ext cx="8215370" cy="52565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LUGOL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8358246" cy="5240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SU İLE YIKAMA 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6146" name="Picture 2" descr="C:\Users\Pc\Desktop\images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12776"/>
            <a:ext cx="8534182" cy="51669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SU İLE YIKAMA </a:t>
            </a:r>
            <a:endParaRPr lang="tr-TR" sz="3200" dirty="0"/>
          </a:p>
        </p:txBody>
      </p:sp>
      <p:pic>
        <p:nvPicPr>
          <p:cNvPr id="1026" name="Picture 2" descr="C:\Users\Pc\Desktop\figure8-1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259632" y="1700808"/>
            <a:ext cx="6912768" cy="45969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DEKOLARİZASYON</a:t>
            </a:r>
            <a:r>
              <a:rPr lang="tr-TR" sz="3200" i="1" dirty="0" smtClean="0">
                <a:solidFill>
                  <a:srgbClr val="FF0000"/>
                </a:solidFill>
              </a:rPr>
              <a:t> </a:t>
            </a:r>
            <a:endParaRPr lang="tr-TR" sz="3200" dirty="0">
              <a:solidFill>
                <a:srgbClr val="FF0000"/>
              </a:solidFill>
            </a:endParaRPr>
          </a:p>
        </p:txBody>
      </p:sp>
      <p:pic>
        <p:nvPicPr>
          <p:cNvPr id="3074" name="Picture 2" descr="C:\Users\Pc\Desktop\gram_stain7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8215370" cy="5167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SULU FUKSİN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7170" name="Picture 2" descr="C:\Users\Pc\Desktop\imagesCJBNIWM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8286808" cy="51680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SU İLE YIKAMA 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10242" name="Picture 2" descr="C:\Users\Pc\Desktop\applying-safrinin-to-bacterial-smear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12776"/>
            <a:ext cx="8143932" cy="52389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GRAM BOYA SONUCU</a:t>
            </a:r>
            <a:endParaRPr lang="tr-TR" sz="32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 smtClean="0"/>
              <a:t>İmmersiyon</a:t>
            </a:r>
            <a:r>
              <a:rPr lang="tr-TR" b="1" dirty="0" smtClean="0"/>
              <a:t> objektifi ile incelendiğinde Mor renkli boyanan bakteriler G+</a:t>
            </a:r>
          </a:p>
          <a:p>
            <a:r>
              <a:rPr lang="tr-TR" b="1" dirty="0" smtClean="0"/>
              <a:t>Pembe renkli boyanan bakteriler G- olarak değerlendirilir</a:t>
            </a:r>
          </a:p>
        </p:txBody>
      </p:sp>
      <p:pic>
        <p:nvPicPr>
          <p:cNvPr id="4" name="Picture 2" descr="C:\Users\Pc\Desktop\Biological mikroskop XJP 3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3501008"/>
            <a:ext cx="2280753" cy="25635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Users\user\Desktop\gram-bakteriler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620688"/>
            <a:ext cx="7776864" cy="540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ALINAN NUMUNENİN GEÇİRDİĞİ AŞAMALAR</a:t>
            </a:r>
            <a:endParaRPr lang="tr-TR" sz="32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smtClean="0"/>
              <a:t>1-Numune alma </a:t>
            </a:r>
          </a:p>
          <a:p>
            <a:r>
              <a:rPr lang="tr-TR" b="1" dirty="0" smtClean="0"/>
              <a:t>2-</a:t>
            </a:r>
            <a:r>
              <a:rPr lang="tr-TR" b="1" dirty="0" err="1" smtClean="0"/>
              <a:t>Laboratuvara</a:t>
            </a:r>
            <a:r>
              <a:rPr lang="tr-TR" b="1" dirty="0" smtClean="0"/>
              <a:t>  gönderme</a:t>
            </a:r>
          </a:p>
          <a:p>
            <a:r>
              <a:rPr lang="tr-TR" b="1" dirty="0" smtClean="0"/>
              <a:t>3-Gelen numunelerin ekilmesi</a:t>
            </a:r>
          </a:p>
          <a:p>
            <a:r>
              <a:rPr lang="tr-TR" b="1" dirty="0" smtClean="0"/>
              <a:t>4-</a:t>
            </a:r>
            <a:r>
              <a:rPr lang="tr-TR" b="1" dirty="0" err="1" smtClean="0"/>
              <a:t>İnkübasyon</a:t>
            </a:r>
            <a:endParaRPr lang="tr-TR" b="1" dirty="0" smtClean="0"/>
          </a:p>
          <a:p>
            <a:r>
              <a:rPr lang="tr-TR" b="1" dirty="0" smtClean="0"/>
              <a:t>5-Değerlendirme</a:t>
            </a:r>
          </a:p>
          <a:p>
            <a:pPr lvl="2"/>
            <a:r>
              <a:rPr lang="tr-TR" b="1" dirty="0" smtClean="0"/>
              <a:t>GRAM BOYA</a:t>
            </a:r>
          </a:p>
          <a:p>
            <a:r>
              <a:rPr lang="tr-TR" b="1" dirty="0" smtClean="0"/>
              <a:t>6-Kültür </a:t>
            </a:r>
            <a:r>
              <a:rPr lang="tr-TR" b="1" dirty="0" err="1" smtClean="0"/>
              <a:t>antibiyogram</a:t>
            </a:r>
            <a:endParaRPr lang="tr-TR" b="1" dirty="0" smtClean="0"/>
          </a:p>
          <a:p>
            <a:r>
              <a:rPr lang="tr-TR" b="1" dirty="0" smtClean="0"/>
              <a:t>7-Raporun verilmesi</a:t>
            </a:r>
            <a:endParaRPr lang="tr-TR" b="1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KÜLTÜR ANTİBİYOGRAM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4" name="Picture 1" descr="C:\Users\Pc\Desktop\sc_ap_sputum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500174"/>
            <a:ext cx="8358246" cy="49897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Users\Pc\Desktop\6590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620688"/>
            <a:ext cx="8424863" cy="54784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Pc\Desktop\img130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404664"/>
            <a:ext cx="7272337" cy="59039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Users\Pc\Desktop\bioanalyse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88640"/>
            <a:ext cx="8286750" cy="6286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Users\Pc\Desktop\PROD_47775DET0_1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572500" cy="65008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 descr="C:\Users\Pc\Desktop\img132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60648"/>
            <a:ext cx="7128792" cy="62531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Users\Pc\Desktop\antibiyogram3_235 (1)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548680"/>
            <a:ext cx="8250237" cy="56907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332656"/>
            <a:ext cx="8424936" cy="612068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</a:t>
            </a:r>
            <a:r>
              <a:rPr lang="tr-TR" sz="4000" b="1" dirty="0" smtClean="0">
                <a:solidFill>
                  <a:srgbClr val="FF0000"/>
                </a:solidFill>
              </a:rPr>
              <a:t>ANTİBİYOTİKLER  VE  KODLARI</a:t>
            </a:r>
            <a:endParaRPr lang="tr-TR" sz="2400" b="1" dirty="0"/>
          </a:p>
          <a:p>
            <a:r>
              <a:rPr lang="tr-TR" sz="2400" b="1" dirty="0" smtClean="0"/>
              <a:t>AK</a:t>
            </a:r>
            <a:r>
              <a:rPr lang="tr-TR" sz="2400" dirty="0" smtClean="0"/>
              <a:t>    </a:t>
            </a:r>
            <a:r>
              <a:rPr lang="tr-TR" sz="2400" b="1" dirty="0" err="1" smtClean="0"/>
              <a:t>Amikacin</a:t>
            </a:r>
            <a:endParaRPr lang="tr-TR" sz="2400" b="1" dirty="0" smtClean="0"/>
          </a:p>
          <a:p>
            <a:r>
              <a:rPr lang="tr-TR" sz="2400" b="1" dirty="0" smtClean="0"/>
              <a:t>SAM</a:t>
            </a:r>
            <a:r>
              <a:rPr lang="tr-TR" sz="2400" dirty="0" smtClean="0"/>
              <a:t>   </a:t>
            </a:r>
            <a:r>
              <a:rPr lang="tr-TR" sz="2400" b="1" dirty="0" err="1" smtClean="0"/>
              <a:t>Ampicillin</a:t>
            </a:r>
            <a:r>
              <a:rPr lang="tr-TR" sz="2400" b="1" dirty="0" smtClean="0"/>
              <a:t>/</a:t>
            </a:r>
            <a:r>
              <a:rPr lang="tr-TR" sz="2400" b="1" dirty="0" err="1" smtClean="0"/>
              <a:t>sulbactam</a:t>
            </a:r>
            <a:endParaRPr lang="tr-TR" sz="2400" dirty="0" smtClean="0"/>
          </a:p>
          <a:p>
            <a:r>
              <a:rPr lang="tr-TR" sz="2400" b="1" dirty="0" smtClean="0"/>
              <a:t>CZ </a:t>
            </a:r>
            <a:r>
              <a:rPr lang="tr-TR" sz="2400" dirty="0" smtClean="0"/>
              <a:t>     </a:t>
            </a:r>
            <a:r>
              <a:rPr lang="tr-TR" sz="2400" b="1" dirty="0" err="1" smtClean="0"/>
              <a:t>Cefazolin</a:t>
            </a:r>
            <a:endParaRPr lang="tr-TR" sz="2400" dirty="0" smtClean="0"/>
          </a:p>
          <a:p>
            <a:r>
              <a:rPr lang="tr-TR" sz="2400" b="1" dirty="0" smtClean="0"/>
              <a:t>CES</a:t>
            </a:r>
            <a:r>
              <a:rPr lang="tr-TR" sz="2400" dirty="0" smtClean="0"/>
              <a:t>   </a:t>
            </a:r>
            <a:r>
              <a:rPr lang="tr-TR" sz="2400" b="1" dirty="0" err="1" smtClean="0"/>
              <a:t>Cefoperazone</a:t>
            </a:r>
            <a:r>
              <a:rPr lang="tr-TR" sz="2400" b="1" dirty="0" smtClean="0"/>
              <a:t>/</a:t>
            </a:r>
            <a:r>
              <a:rPr lang="tr-TR" sz="2400" b="1" dirty="0" err="1" smtClean="0"/>
              <a:t>sulbactam</a:t>
            </a:r>
            <a:endParaRPr lang="tr-TR" sz="2400" dirty="0" smtClean="0"/>
          </a:p>
          <a:p>
            <a:r>
              <a:rPr lang="tr-TR" sz="2400" b="1" dirty="0" smtClean="0"/>
              <a:t>CZC</a:t>
            </a:r>
            <a:r>
              <a:rPr lang="tr-TR" sz="2400" dirty="0" smtClean="0"/>
              <a:t>   </a:t>
            </a:r>
            <a:r>
              <a:rPr lang="tr-TR" sz="2400" b="1" dirty="0" err="1" smtClean="0"/>
              <a:t>Clavulanic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acid</a:t>
            </a:r>
            <a:r>
              <a:rPr lang="tr-TR" sz="2400" b="1" dirty="0" smtClean="0"/>
              <a:t>/</a:t>
            </a:r>
            <a:r>
              <a:rPr lang="tr-TR" sz="2400" b="1" dirty="0" err="1" smtClean="0"/>
              <a:t>ceftazidime</a:t>
            </a:r>
            <a:endParaRPr lang="tr-TR" sz="2400" dirty="0" smtClean="0"/>
          </a:p>
          <a:p>
            <a:r>
              <a:rPr lang="tr-TR" sz="2400" b="1" dirty="0" smtClean="0"/>
              <a:t>IPM</a:t>
            </a:r>
            <a:r>
              <a:rPr lang="tr-TR" sz="2400" dirty="0" smtClean="0"/>
              <a:t>   </a:t>
            </a:r>
            <a:r>
              <a:rPr lang="tr-TR" sz="2400" b="1" dirty="0" err="1" smtClean="0"/>
              <a:t>Imipenem</a:t>
            </a:r>
            <a:endParaRPr lang="tr-TR" sz="2400" dirty="0" smtClean="0"/>
          </a:p>
          <a:p>
            <a:r>
              <a:rPr lang="tr-TR" sz="2400" b="1" dirty="0" smtClean="0"/>
              <a:t>LEV</a:t>
            </a:r>
            <a:r>
              <a:rPr lang="tr-TR" sz="2400" dirty="0" smtClean="0"/>
              <a:t>   </a:t>
            </a:r>
            <a:r>
              <a:rPr lang="tr-TR" sz="2400" b="1" dirty="0" err="1" smtClean="0"/>
              <a:t>Levofloxacin</a:t>
            </a:r>
            <a:endParaRPr lang="tr-TR" sz="2400" b="1" dirty="0" smtClean="0"/>
          </a:p>
          <a:p>
            <a:r>
              <a:rPr lang="tr-TR" sz="2400" b="1" dirty="0" smtClean="0"/>
              <a:t>CTX   </a:t>
            </a:r>
            <a:r>
              <a:rPr lang="tr-TR" sz="2400" b="1" dirty="0" err="1" smtClean="0"/>
              <a:t>Sefotaksim</a:t>
            </a:r>
            <a:endParaRPr lang="tr-TR" sz="2400" b="1" dirty="0" smtClean="0"/>
          </a:p>
          <a:p>
            <a:r>
              <a:rPr lang="tr-TR" sz="2400" b="1" dirty="0" smtClean="0"/>
              <a:t>CAZ   </a:t>
            </a:r>
            <a:r>
              <a:rPr lang="tr-TR" sz="2400" b="1" dirty="0" err="1" smtClean="0"/>
              <a:t>Ceftazidim</a:t>
            </a:r>
            <a:endParaRPr lang="tr-TR" sz="2400" b="1" dirty="0" smtClean="0"/>
          </a:p>
          <a:p>
            <a:r>
              <a:rPr lang="tr-TR" sz="2400" b="1" dirty="0" smtClean="0"/>
              <a:t>SCF    </a:t>
            </a:r>
            <a:r>
              <a:rPr lang="tr-TR" sz="2400" b="1" dirty="0" err="1" smtClean="0"/>
              <a:t>Trimethoprim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sülfametaksazol</a:t>
            </a:r>
            <a:endParaRPr lang="tr-TR" sz="2400" b="1" dirty="0" smtClean="0"/>
          </a:p>
          <a:p>
            <a:r>
              <a:rPr lang="tr-TR" sz="2400" b="1" dirty="0" smtClean="0"/>
              <a:t>CIP     </a:t>
            </a:r>
            <a:r>
              <a:rPr lang="tr-TR" sz="2400" b="1" dirty="0" err="1" smtClean="0"/>
              <a:t>Ciprofloksasin</a:t>
            </a:r>
            <a:endParaRPr lang="tr-TR" sz="2400" dirty="0" smtClean="0"/>
          </a:p>
          <a:p>
            <a:r>
              <a:rPr lang="tr-TR" sz="2400" b="1" dirty="0" smtClean="0"/>
              <a:t>TZP    </a:t>
            </a:r>
            <a:r>
              <a:rPr lang="tr-TR" sz="2400" b="1" dirty="0" err="1" smtClean="0"/>
              <a:t>Piperasilin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Tazobactam</a:t>
            </a:r>
            <a:endParaRPr lang="tr-TR" sz="2400" b="1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548680"/>
            <a:ext cx="8352928" cy="583264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b="1" dirty="0" smtClean="0"/>
              <a:t>		  </a:t>
            </a:r>
            <a:r>
              <a:rPr lang="tr-TR" b="1" dirty="0" smtClean="0">
                <a:solidFill>
                  <a:srgbClr val="FF0000"/>
                </a:solidFill>
              </a:rPr>
              <a:t>AMP  AMPİCİLLİN</a:t>
            </a:r>
          </a:p>
          <a:p>
            <a:r>
              <a:rPr lang="tr-TR" b="1" dirty="0" smtClean="0"/>
              <a:t>ZON ÇAPI 14 mm den küçükse DİRENÇLİ</a:t>
            </a:r>
          </a:p>
          <a:p>
            <a:r>
              <a:rPr lang="tr-TR" b="1" dirty="0" smtClean="0"/>
              <a:t>ZON ÇAPI  19 mm den büyükse DUYARLI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smtClean="0">
                <a:solidFill>
                  <a:srgbClr val="7030A0"/>
                </a:solidFill>
              </a:rPr>
              <a:t>AK  AMİKASİN</a:t>
            </a:r>
          </a:p>
          <a:p>
            <a:r>
              <a:rPr lang="tr-TR" b="1" dirty="0" smtClean="0"/>
              <a:t>ZON ÇAPI 13 mm den küçükse DİRENÇLİ</a:t>
            </a:r>
          </a:p>
          <a:p>
            <a:r>
              <a:rPr lang="tr-TR" b="1" dirty="0" smtClean="0"/>
              <a:t>ZON ÇAPI 14 mm den büyükse DUYARLI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LEVOFLOKSASİN</a:t>
            </a:r>
          </a:p>
          <a:p>
            <a:r>
              <a:rPr lang="tr-TR" b="1" dirty="0" smtClean="0"/>
              <a:t>ZON ÇAPI 19 mm den küçükse DİRENÇLİ</a:t>
            </a:r>
          </a:p>
          <a:p>
            <a:r>
              <a:rPr lang="tr-TR" b="1" dirty="0" smtClean="0"/>
              <a:t>ZON ÇAPI 22 mm den büyükse DUYARLI</a:t>
            </a:r>
          </a:p>
          <a:p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sz="4900" b="1" dirty="0" smtClean="0">
                <a:solidFill>
                  <a:srgbClr val="FF0000"/>
                </a:solidFill>
              </a:rPr>
              <a:t>RAPORUN  YAZILMASI</a:t>
            </a:r>
            <a:br>
              <a:rPr lang="tr-TR" sz="4900" b="1" dirty="0" smtClean="0">
                <a:solidFill>
                  <a:srgbClr val="FF0000"/>
                </a:solidFill>
              </a:rPr>
            </a:br>
            <a:endParaRPr lang="tr-TR" sz="4900" b="1" dirty="0">
              <a:solidFill>
                <a:srgbClr val="FF0000"/>
              </a:solidFill>
            </a:endParaRPr>
          </a:p>
        </p:txBody>
      </p:sp>
      <p:pic>
        <p:nvPicPr>
          <p:cNvPr id="26626" name="Picture 2" descr="C:\Users\Pc\Desktop\depositphotos_115598950-Smiling-blonde-secretary-working-with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1857364"/>
            <a:ext cx="5890922" cy="38790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MİKROBİYOLOJİ\12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88640"/>
            <a:ext cx="4816475" cy="62817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548</Words>
  <Application>Microsoft Office PowerPoint</Application>
  <PresentationFormat>Ekran Gösterisi (4:3)</PresentationFormat>
  <Paragraphs>165</Paragraphs>
  <Slides>83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83</vt:i4>
      </vt:variant>
    </vt:vector>
  </HeadingPairs>
  <TitlesOfParts>
    <vt:vector size="84" baseType="lpstr">
      <vt:lpstr>Ofis Teması</vt:lpstr>
      <vt:lpstr>      GRAM BOYA YOLCULUĞU  </vt:lpstr>
      <vt:lpstr>Slayt 2</vt:lpstr>
      <vt:lpstr>Slayt 3</vt:lpstr>
      <vt:lpstr>BAKTERİLERİN BOYANMA AŞAMASI</vt:lpstr>
      <vt:lpstr>FİKSASYON (TESPİT ETMEK)</vt:lpstr>
      <vt:lpstr>FİZİKSEL TESPİT 2 ŞEKİLDE YAPILIR</vt:lpstr>
      <vt:lpstr>FİZİKSEL TESPİT</vt:lpstr>
      <vt:lpstr>BOYAMA YÖNTEMLERİ</vt:lpstr>
      <vt:lpstr>BASİT BOYAMA</vt:lpstr>
      <vt:lpstr>DİFERNSİYEL BOYAMA</vt:lpstr>
      <vt:lpstr>Slayt 11</vt:lpstr>
      <vt:lpstr>GRAM BOYA SONUCU</vt:lpstr>
      <vt:lpstr>EHRLİCH ZİEHL NEELSEN BOYAMA YÖNTEMİ</vt:lpstr>
      <vt:lpstr>AARB BOYA</vt:lpstr>
      <vt:lpstr>AARB BOYA</vt:lpstr>
      <vt:lpstr>NEGATİF BOYAMA</vt:lpstr>
      <vt:lpstr>BAKTERİLERİ  GÖRMEK</vt:lpstr>
      <vt:lpstr>Slayt 18</vt:lpstr>
      <vt:lpstr>ALINAN NUMUNENİN GEÇİRDİĞİ AŞAMALAR</vt:lpstr>
      <vt:lpstr>NUMUNE ALMA</vt:lpstr>
      <vt:lpstr>NUMUNE ALMA</vt:lpstr>
      <vt:lpstr>Slayt 22</vt:lpstr>
      <vt:lpstr>Slayt 23</vt:lpstr>
      <vt:lpstr>LABORATUVARA  GÖNDERME</vt:lpstr>
      <vt:lpstr>GELEN NUMUNELERİN EKİLMESİ</vt:lpstr>
      <vt:lpstr>Slayt 26</vt:lpstr>
      <vt:lpstr>Slayt 27</vt:lpstr>
      <vt:lpstr>Slayt 28</vt:lpstr>
      <vt:lpstr>EKİM</vt:lpstr>
      <vt:lpstr>ÖZENİN ALEVDE YAKILARAK STERİL EDİLMESİ</vt:lpstr>
      <vt:lpstr>Slayt 31</vt:lpstr>
      <vt:lpstr>Slayt 32</vt:lpstr>
      <vt:lpstr>Slayt 33</vt:lpstr>
      <vt:lpstr>EKİM  METODLARI</vt:lpstr>
      <vt:lpstr>EKİM  METODLARI</vt:lpstr>
      <vt:lpstr>İNKÜBASYON</vt:lpstr>
      <vt:lpstr>Slayt 37</vt:lpstr>
      <vt:lpstr> DEĞERLENDİRME </vt:lpstr>
      <vt:lpstr>ÜREME OLMUŞ PLAKLAR</vt:lpstr>
      <vt:lpstr>Slayt 40</vt:lpstr>
      <vt:lpstr>Chromogenic Media for Listeria Isolation</vt:lpstr>
      <vt:lpstr>Staphylococcus aureus</vt:lpstr>
      <vt:lpstr>Slayt 43</vt:lpstr>
      <vt:lpstr>Slayt 44</vt:lpstr>
      <vt:lpstr>BAKTERİNİN BOYANMASI</vt:lpstr>
      <vt:lpstr>Slayt 46</vt:lpstr>
      <vt:lpstr>Slayt 47</vt:lpstr>
      <vt:lpstr>ÖZENİN ALEVDE YAKILARAK STERİL EDİLMESİ</vt:lpstr>
      <vt:lpstr>STERİL ÖZE YARDIMIYLA ÜREMİŞ KÜLTÜRDEN TEK KOLONİ ALINMASI</vt:lpstr>
      <vt:lpstr>Slayt 50</vt:lpstr>
      <vt:lpstr> STERİL ÖZE YARDIMIYLA ÜREMİŞ KÜLTÜRDEN TEK KOLONİ ALINMASI</vt:lpstr>
      <vt:lpstr>STERİL ÖZE YARDIMIYLA ÜREMİŞ KÜLTÜRDEN TEK KOLONİ ALINMASI</vt:lpstr>
      <vt:lpstr>MRSA BACTERİA</vt:lpstr>
      <vt:lpstr>Slayt 54</vt:lpstr>
      <vt:lpstr>ÖZENİN ALEVDE YAKILARAK STERİL EDİLMESİ</vt:lpstr>
      <vt:lpstr>İNCELENECEK ÖRNEĞİN LAM ÜZERİNE YAYILMASI</vt:lpstr>
      <vt:lpstr>İNCELENECEK ÖRNEĞİN LAM ÜZERİNE YAYILMASI</vt:lpstr>
      <vt:lpstr>ÖRNEK SÜRÜLMÜŞ OLAN LAMI ALEVDEN GEÇİRMEK SURETİYLE  TESPİT ETMEK</vt:lpstr>
      <vt:lpstr>ÖRNEK SÜRÜLMÜŞ OLAN LAMI ALEVDEN GEÇİRMEK SURETİYLE  TESPİT ETMEK</vt:lpstr>
      <vt:lpstr>GRAM  BOYA SETİ</vt:lpstr>
      <vt:lpstr>KRİSTAL VİYOLE</vt:lpstr>
      <vt:lpstr>SU İLE YIKAMA </vt:lpstr>
      <vt:lpstr>LUGOL</vt:lpstr>
      <vt:lpstr>LUGOL</vt:lpstr>
      <vt:lpstr>SU İLE YIKAMA </vt:lpstr>
      <vt:lpstr>SU İLE YIKAMA </vt:lpstr>
      <vt:lpstr>DEKOLARİZASYON </vt:lpstr>
      <vt:lpstr>SULU FUKSİN</vt:lpstr>
      <vt:lpstr>SU İLE YIKAMA </vt:lpstr>
      <vt:lpstr>GRAM BOYA SONUCU</vt:lpstr>
      <vt:lpstr>Slayt 71</vt:lpstr>
      <vt:lpstr>ALINAN NUMUNENİN GEÇİRDİĞİ AŞAMALAR</vt:lpstr>
      <vt:lpstr>KÜLTÜR ANTİBİYOGRAM</vt:lpstr>
      <vt:lpstr>Slayt 74</vt:lpstr>
      <vt:lpstr>Slayt 75</vt:lpstr>
      <vt:lpstr>Slayt 76</vt:lpstr>
      <vt:lpstr>Slayt 77</vt:lpstr>
      <vt:lpstr>Slayt 78</vt:lpstr>
      <vt:lpstr>Slayt 79</vt:lpstr>
      <vt:lpstr>Slayt 80</vt:lpstr>
      <vt:lpstr>Slayt 81</vt:lpstr>
      <vt:lpstr> RAPORUN  YAZILMASI </vt:lpstr>
      <vt:lpstr>Slayt 83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GRAM BOYA YOLCULUĞU  </dc:title>
  <dc:creator>Tijen NEMUT</dc:creator>
  <cp:lastModifiedBy>tijen</cp:lastModifiedBy>
  <cp:revision>21</cp:revision>
  <dcterms:created xsi:type="dcterms:W3CDTF">2023-10-02T18:27:29Z</dcterms:created>
  <dcterms:modified xsi:type="dcterms:W3CDTF">2025-09-19T11:23:29Z</dcterms:modified>
</cp:coreProperties>
</file>