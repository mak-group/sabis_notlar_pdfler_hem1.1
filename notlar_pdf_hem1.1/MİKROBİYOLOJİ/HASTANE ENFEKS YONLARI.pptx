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63" r:id="rId5"/>
    <p:sldId id="262" r:id="rId6"/>
    <p:sldId id="265" r:id="rId7"/>
    <p:sldId id="286" r:id="rId8"/>
    <p:sldId id="264" r:id="rId9"/>
    <p:sldId id="288" r:id="rId10"/>
    <p:sldId id="289" r:id="rId11"/>
    <p:sldId id="260" r:id="rId12"/>
    <p:sldId id="272" r:id="rId13"/>
    <p:sldId id="271" r:id="rId14"/>
    <p:sldId id="270" r:id="rId15"/>
    <p:sldId id="282" r:id="rId16"/>
    <p:sldId id="290" r:id="rId17"/>
    <p:sldId id="291" r:id="rId18"/>
    <p:sldId id="325" r:id="rId19"/>
    <p:sldId id="281" r:id="rId20"/>
    <p:sldId id="326" r:id="rId21"/>
    <p:sldId id="280" r:id="rId22"/>
    <p:sldId id="279" r:id="rId23"/>
    <p:sldId id="277" r:id="rId24"/>
    <p:sldId id="278" r:id="rId25"/>
    <p:sldId id="276" r:id="rId26"/>
    <p:sldId id="293" r:id="rId27"/>
    <p:sldId id="275" r:id="rId28"/>
    <p:sldId id="292" r:id="rId29"/>
    <p:sldId id="274" r:id="rId30"/>
    <p:sldId id="268" r:id="rId31"/>
    <p:sldId id="298" r:id="rId32"/>
    <p:sldId id="297" r:id="rId33"/>
    <p:sldId id="296" r:id="rId34"/>
    <p:sldId id="301" r:id="rId35"/>
    <p:sldId id="302" r:id="rId36"/>
    <p:sldId id="309" r:id="rId37"/>
    <p:sldId id="311" r:id="rId38"/>
    <p:sldId id="314" r:id="rId39"/>
    <p:sldId id="312" r:id="rId40"/>
    <p:sldId id="315" r:id="rId41"/>
    <p:sldId id="316" r:id="rId42"/>
    <p:sldId id="308" r:id="rId43"/>
    <p:sldId id="310" r:id="rId44"/>
    <p:sldId id="317" r:id="rId45"/>
    <p:sldId id="319" r:id="rId46"/>
    <p:sldId id="318" r:id="rId47"/>
    <p:sldId id="321" r:id="rId48"/>
    <p:sldId id="322" r:id="rId49"/>
    <p:sldId id="323" r:id="rId50"/>
    <p:sldId id="324" r:id="rId5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A2CCC-83CD-493B-AF54-E4D5F895D9E3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96773-662C-4E8C-8FF3-FE43AE49F51E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96773-662C-4E8C-8FF3-FE43AE49F51E}" type="slidenum">
              <a:rPr lang="tr-TR" smtClean="0"/>
              <a:pPr/>
              <a:t>15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76B94-8852-403B-BB04-0BE60BBC6E07}" type="datetimeFigureOut">
              <a:rPr lang="tr-TR" smtClean="0"/>
              <a:pPr/>
              <a:t>19.09.2025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BD8BE-8638-4898-AD4E-AC576F03B00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 idx="4294967295"/>
          </p:nvPr>
        </p:nvSpPr>
        <p:spPr>
          <a:xfrm>
            <a:off x="539552" y="1989138"/>
            <a:ext cx="7164586" cy="1871662"/>
          </a:xfrm>
        </p:spPr>
        <p:txBody>
          <a:bodyPr>
            <a:noAutofit/>
          </a:bodyPr>
          <a:lstStyle/>
          <a:p>
            <a:r>
              <a:rPr lang="tr-TR" sz="6000" b="1" dirty="0" smtClean="0">
                <a:solidFill>
                  <a:srgbClr val="FF0000"/>
                </a:solidFill>
              </a:rPr>
              <a:t>HASTANE ENFEKSİYONLARI</a:t>
            </a:r>
            <a:endParaRPr lang="tr-TR" sz="6000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user\Desktop\nosocomial-infection-control-1-638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3789040"/>
            <a:ext cx="4011612" cy="2797175"/>
          </a:xfrm>
          <a:prstGeom prst="rect">
            <a:avLst/>
          </a:prstGeom>
          <a:noFill/>
        </p:spPr>
      </p:pic>
      <p:pic>
        <p:nvPicPr>
          <p:cNvPr id="6" name="Picture 2" descr="C:\Users\user\Desktop\HAI-927x102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60648"/>
            <a:ext cx="1825234" cy="20162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4"/>
            <a:ext cx="8713787" cy="590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enfeksiyon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404664"/>
            <a:ext cx="8353425" cy="5905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user\Desktop\Representative-frequently-touched-objects-and-their-respective-placements-in-the-ICU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20688"/>
            <a:ext cx="8207375" cy="5832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55555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76672"/>
            <a:ext cx="8208962" cy="56499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HASTANE (NOZOKOMİYAL) ENFEKSİYONU NEDİR?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Hastane enfeksiyonu, hastanede başka sağlık sorunları nedeniyle tedavi olurken enfeksiyon gelişmesidir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Genel olarak, hastaneye yattıktan 48-72 saat sonra ve taburcu olduktan sonraki 10 gün içinde meydana gelen enfeksiyonlar hastane enfeksiyonu kabul edilir</a:t>
            </a:r>
            <a:endParaRPr lang="tr-TR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HASTANE (NOZOKOMİYAL) ENFEKSİYONLARI NEDİR?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Hastaneye yatış sırasında </a:t>
            </a:r>
            <a:r>
              <a:rPr lang="tr-TR" sz="2800" b="1" dirty="0" err="1" smtClean="0"/>
              <a:t>inkübasyon</a:t>
            </a:r>
            <a:r>
              <a:rPr lang="tr-TR" sz="2800" b="1" dirty="0" smtClean="0"/>
              <a:t> döneminde olmayan</a:t>
            </a:r>
          </a:p>
          <a:p>
            <a:r>
              <a:rPr lang="tr-TR" sz="2800" b="1" dirty="0" smtClean="0"/>
              <a:t>Yatıştan 48-72 saat sonra ortaya çıkan enfeksiyonlar</a:t>
            </a:r>
          </a:p>
          <a:p>
            <a:r>
              <a:rPr lang="tr-TR" sz="2800" b="1" dirty="0" smtClean="0"/>
              <a:t>Dahili hastalarda taburcu olduktan sonraki 10 gün içinde</a:t>
            </a:r>
          </a:p>
          <a:p>
            <a:r>
              <a:rPr lang="tr-TR" sz="2800" b="1" dirty="0" smtClean="0"/>
              <a:t>Ameliyat geçirenlerde bir ay içinde</a:t>
            </a:r>
          </a:p>
          <a:p>
            <a:r>
              <a:rPr lang="tr-TR" sz="2800" b="1" dirty="0" smtClean="0"/>
              <a:t>Protez uygulananlarda ise bir yıl içinde gelişen  enfeksiyonlardır</a:t>
            </a:r>
            <a:endParaRPr lang="tr-TR" sz="2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HASTANE (NOZOKOMİYAL) ENFEKSİYONLARI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tr-TR" sz="2300" b="1" dirty="0" smtClean="0">
                <a:solidFill>
                  <a:srgbClr val="7030A0"/>
                </a:solidFill>
              </a:rPr>
              <a:t>			</a:t>
            </a:r>
            <a:r>
              <a:rPr lang="tr-TR" sz="4000" b="1" dirty="0" smtClean="0">
                <a:solidFill>
                  <a:srgbClr val="7030A0"/>
                </a:solidFill>
              </a:rPr>
              <a:t>TEKRAR EDELİM</a:t>
            </a:r>
          </a:p>
          <a:p>
            <a:pPr>
              <a:buNone/>
            </a:pPr>
            <a:r>
              <a:rPr lang="tr-TR" sz="2300" b="1" dirty="0" smtClean="0">
                <a:solidFill>
                  <a:srgbClr val="7030A0"/>
                </a:solidFill>
              </a:rPr>
              <a:t>     </a:t>
            </a:r>
            <a:r>
              <a:rPr lang="tr-TR" b="1" dirty="0" smtClean="0">
                <a:solidFill>
                  <a:srgbClr val="7030A0"/>
                </a:solidFill>
              </a:rPr>
              <a:t>Protez varlığında operasyon sonrası 1 yıl içinde meydana gelen protez enfeksiyonları hastane enfeksiyonu olarak kabul edilir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HASTANE (NOZOKOMİYAL) ENFEKSİYONLARIN YOL AÇTIĞI SORUNLAR NELERDİR?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Hastanede kalış süresinin uzamasına neden olur</a:t>
            </a:r>
          </a:p>
          <a:p>
            <a:r>
              <a:rPr lang="tr-TR" sz="2800" b="1" dirty="0" err="1" smtClean="0"/>
              <a:t>Suşların</a:t>
            </a:r>
            <a:r>
              <a:rPr lang="tr-TR" sz="2800" b="1" dirty="0" smtClean="0"/>
              <a:t> dirençli olması nedeniyle </a:t>
            </a:r>
            <a:r>
              <a:rPr lang="tr-TR" sz="2800" b="1" dirty="0" err="1" smtClean="0"/>
              <a:t>morbidite</a:t>
            </a:r>
            <a:r>
              <a:rPr lang="tr-TR" sz="2800" b="1" dirty="0" smtClean="0"/>
              <a:t> ve </a:t>
            </a:r>
            <a:r>
              <a:rPr lang="tr-TR" sz="2800" b="1" dirty="0" err="1" smtClean="0"/>
              <a:t>mortalitede</a:t>
            </a:r>
            <a:r>
              <a:rPr lang="tr-TR" sz="2800" b="1" dirty="0" smtClean="0"/>
              <a:t> artışa neden olur</a:t>
            </a:r>
          </a:p>
          <a:p>
            <a:r>
              <a:rPr lang="tr-TR" sz="2800" b="1" dirty="0" smtClean="0"/>
              <a:t>Yaşam kalitesinde bozulmaya neden olur</a:t>
            </a:r>
          </a:p>
          <a:p>
            <a:r>
              <a:rPr lang="tr-TR" sz="2800" b="1" dirty="0" smtClean="0"/>
              <a:t>İşgücü ve üretkenlik kaybına neden olur</a:t>
            </a:r>
          </a:p>
          <a:p>
            <a:r>
              <a:rPr lang="tr-TR" sz="2800" b="1" dirty="0" smtClean="0"/>
              <a:t>Maliyet artışına neden olduklarından önemlidir !!!</a:t>
            </a:r>
          </a:p>
          <a:p>
            <a:r>
              <a:rPr lang="tr-TR" sz="2800" b="1" dirty="0" smtClean="0"/>
              <a:t>Klasik enfeksiyon hastalıklarına oranla daha ağır seyreder</a:t>
            </a:r>
          </a:p>
          <a:p>
            <a:r>
              <a:rPr lang="tr-TR" sz="2800" b="1" dirty="0" smtClean="0"/>
              <a:t>Tedavisi daha güç enfeksiyonlardır</a:t>
            </a:r>
            <a:endParaRPr lang="tr-TR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HASTANE (NOZOKOMİYAL) ENFEKSİYONLARIN YOL AÇTIĞI SORUNLAR NELERDİR?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00B050"/>
                </a:solidFill>
              </a:rPr>
              <a:t>Hastane enfeksiyonları çok sayıda başarılı geçen ameliyat veya diğer tıbbi tedavileri başarısız kılmaktadır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54162"/>
          </a:xfrm>
        </p:spPr>
        <p:txBody>
          <a:bodyPr>
            <a:no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HASTANE (NOZOKOMİYAL) ENFEKSİYONLARI </a:t>
            </a:r>
            <a:br>
              <a:rPr lang="tr-TR" sz="2800" b="1" dirty="0" smtClean="0">
                <a:solidFill>
                  <a:srgbClr val="FF0000"/>
                </a:solidFill>
              </a:rPr>
            </a:br>
            <a:r>
              <a:rPr lang="tr-TR" sz="2800" b="1" dirty="0" smtClean="0">
                <a:solidFill>
                  <a:srgbClr val="FF0000"/>
                </a:solidFill>
              </a:rPr>
              <a:t>HASTANEDE HANGİ SEBEPLERLE BULUNAN KİMSELERDE GÖRÜLÜR?</a:t>
            </a:r>
            <a:endParaRPr lang="tr-TR" sz="28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tr-TR" dirty="0" smtClean="0"/>
          </a:p>
          <a:p>
            <a:r>
              <a:rPr lang="tr-TR" b="1" dirty="0" smtClean="0"/>
              <a:t>Yatan hasta</a:t>
            </a:r>
          </a:p>
          <a:p>
            <a:r>
              <a:rPr lang="tr-TR" b="1" dirty="0" smtClean="0"/>
              <a:t>Sağlık personeli</a:t>
            </a:r>
          </a:p>
          <a:p>
            <a:r>
              <a:rPr lang="tr-TR" b="1" dirty="0" smtClean="0"/>
              <a:t>Ziyaretçi</a:t>
            </a:r>
          </a:p>
          <a:p>
            <a:r>
              <a:rPr lang="tr-TR" b="1" dirty="0" smtClean="0"/>
              <a:t>Refakatçi</a:t>
            </a:r>
          </a:p>
          <a:p>
            <a:r>
              <a:rPr lang="tr-TR" b="1" dirty="0" smtClean="0"/>
              <a:t>Hastane ile ilişkili diğer kişilerde</a:t>
            </a:r>
          </a:p>
          <a:p>
            <a:pPr lvl="1"/>
            <a:r>
              <a:rPr lang="tr-TR" sz="3200" b="1" dirty="0" smtClean="0"/>
              <a:t>oluşan enfeksiyonlardır</a:t>
            </a:r>
            <a:endParaRPr lang="tr-TR" sz="3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HANGİ ŞARTLARDA </a:t>
            </a:r>
            <a:br>
              <a:rPr lang="tr-TR" sz="2800" b="1" dirty="0" smtClean="0">
                <a:solidFill>
                  <a:srgbClr val="FF0000"/>
                </a:solidFill>
              </a:rPr>
            </a:br>
            <a:r>
              <a:rPr lang="tr-TR" sz="2800" b="1" dirty="0" smtClean="0">
                <a:solidFill>
                  <a:srgbClr val="FF0000"/>
                </a:solidFill>
              </a:rPr>
              <a:t>HASTANE (NOZOKOMİYAL) ENFEKSİYONLARI DİYEBİLİRİZ?</a:t>
            </a:r>
            <a:endParaRPr lang="tr-TR" sz="28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Autofit/>
          </a:bodyPr>
          <a:lstStyle/>
          <a:p>
            <a:r>
              <a:rPr lang="tr-TR" sz="3000" b="1" dirty="0" smtClean="0"/>
              <a:t>Hastane Enfeksiyonu, </a:t>
            </a:r>
            <a:r>
              <a:rPr lang="tr-TR" sz="3000" b="1" dirty="0" smtClean="0">
                <a:solidFill>
                  <a:srgbClr val="00B050"/>
                </a:solidFill>
              </a:rPr>
              <a:t>hastaneye yatış sırasında VAR OLAN </a:t>
            </a:r>
            <a:r>
              <a:rPr lang="tr-TR" sz="3000" b="1" dirty="0" err="1" smtClean="0"/>
              <a:t>enfeksiyöz</a:t>
            </a:r>
            <a:r>
              <a:rPr lang="tr-TR" sz="3000" b="1" dirty="0" smtClean="0"/>
              <a:t> bir olayın komplikasyonu veya uzantısı ise </a:t>
            </a:r>
            <a:r>
              <a:rPr lang="tr-TR" sz="3000" b="1" dirty="0" err="1" smtClean="0">
                <a:solidFill>
                  <a:srgbClr val="00B050"/>
                </a:solidFill>
              </a:rPr>
              <a:t>nozokomiyal</a:t>
            </a:r>
            <a:r>
              <a:rPr lang="tr-TR" sz="3000" b="1" dirty="0" smtClean="0">
                <a:solidFill>
                  <a:srgbClr val="00B050"/>
                </a:solidFill>
              </a:rPr>
              <a:t> olarak kabul edilmez</a:t>
            </a:r>
            <a:endParaRPr lang="tr-TR" sz="3000" b="1" dirty="0" smtClean="0"/>
          </a:p>
          <a:p>
            <a:r>
              <a:rPr lang="tr-TR" sz="3000" b="1" dirty="0" smtClean="0">
                <a:solidFill>
                  <a:schemeClr val="accent6">
                    <a:lumMod val="50000"/>
                  </a:schemeClr>
                </a:solidFill>
              </a:rPr>
              <a:t>Yeni doğanda </a:t>
            </a:r>
            <a:r>
              <a:rPr lang="tr-TR" sz="3000" b="1" dirty="0" err="1" smtClean="0">
                <a:solidFill>
                  <a:schemeClr val="accent6">
                    <a:lumMod val="50000"/>
                  </a:schemeClr>
                </a:solidFill>
              </a:rPr>
              <a:t>nozokomiyal</a:t>
            </a:r>
            <a:r>
              <a:rPr lang="tr-TR" sz="3000" b="1" dirty="0" smtClean="0">
                <a:solidFill>
                  <a:schemeClr val="accent6">
                    <a:lumMod val="50000"/>
                  </a:schemeClr>
                </a:solidFill>
              </a:rPr>
              <a:t> enfeksiyon kriterleri karmaşıktır ve hastanede kalış süresiyle ilişkilidir</a:t>
            </a:r>
            <a:endParaRPr lang="tr-TR" sz="3000" b="1" dirty="0" smtClean="0"/>
          </a:p>
          <a:p>
            <a:r>
              <a:rPr lang="tr-TR" sz="3000" b="1" dirty="0" smtClean="0">
                <a:solidFill>
                  <a:srgbClr val="7030A0"/>
                </a:solidFill>
              </a:rPr>
              <a:t>Annede hastaneye yatış sırasında enfeksiyon yok, ama 48-72 saat sonra doğan bebek </a:t>
            </a:r>
            <a:r>
              <a:rPr lang="tr-TR" sz="3000" b="1" dirty="0" err="1" smtClean="0">
                <a:solidFill>
                  <a:srgbClr val="7030A0"/>
                </a:solidFill>
              </a:rPr>
              <a:t>enfekte</a:t>
            </a:r>
            <a:r>
              <a:rPr lang="tr-TR" sz="3000" b="1" dirty="0" smtClean="0">
                <a:solidFill>
                  <a:srgbClr val="7030A0"/>
                </a:solidFill>
              </a:rPr>
              <a:t> ise, bu enfeksiyon </a:t>
            </a:r>
            <a:r>
              <a:rPr lang="tr-TR" sz="3000" b="1" dirty="0" err="1" smtClean="0">
                <a:solidFill>
                  <a:srgbClr val="7030A0"/>
                </a:solidFill>
              </a:rPr>
              <a:t>nozokomiyal</a:t>
            </a:r>
            <a:r>
              <a:rPr lang="tr-TR" sz="3000" b="1" dirty="0" smtClean="0">
                <a:solidFill>
                  <a:srgbClr val="7030A0"/>
                </a:solidFill>
              </a:rPr>
              <a:t> kabul edilir</a:t>
            </a:r>
          </a:p>
          <a:p>
            <a:endParaRPr lang="tr-TR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AŞAĞIDAKİ DURUMLAR HASTANE ENFEKSİYONU OLARAK DEĞERLENDİRİLMEZ</a:t>
            </a:r>
            <a:endParaRPr lang="tr-TR" sz="32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Autofit/>
          </a:bodyPr>
          <a:lstStyle/>
          <a:p>
            <a:r>
              <a:rPr lang="tr-TR" sz="3000" b="1" dirty="0" err="1" smtClean="0">
                <a:solidFill>
                  <a:srgbClr val="7030A0"/>
                </a:solidFill>
              </a:rPr>
              <a:t>Transplasental</a:t>
            </a:r>
            <a:r>
              <a:rPr lang="tr-TR" sz="3000" b="1" dirty="0" smtClean="0">
                <a:solidFill>
                  <a:srgbClr val="7030A0"/>
                </a:solidFill>
              </a:rPr>
              <a:t> yoldan geçen enfeksiyonlar</a:t>
            </a:r>
          </a:p>
          <a:p>
            <a:pPr lvl="1"/>
            <a:r>
              <a:rPr lang="tr-TR" sz="3000" b="1" dirty="0" smtClean="0"/>
              <a:t>(</a:t>
            </a:r>
            <a:r>
              <a:rPr lang="tr-TR" sz="3000" b="1" i="1" dirty="0" err="1" smtClean="0"/>
              <a:t>Herpes</a:t>
            </a:r>
            <a:r>
              <a:rPr lang="tr-TR" sz="3000" b="1" i="1" dirty="0" smtClean="0"/>
              <a:t> </a:t>
            </a:r>
            <a:r>
              <a:rPr lang="tr-TR" sz="3000" b="1" i="1" dirty="0" err="1" smtClean="0"/>
              <a:t>simplex</a:t>
            </a:r>
            <a:r>
              <a:rPr lang="tr-TR" sz="3000" b="1" i="1" dirty="0" smtClean="0"/>
              <a:t>, </a:t>
            </a:r>
            <a:r>
              <a:rPr lang="tr-TR" sz="3000" b="1" i="1" dirty="0" err="1" smtClean="0"/>
              <a:t>Toksoplazmozis</a:t>
            </a:r>
            <a:r>
              <a:rPr lang="tr-TR" sz="3000" b="1" i="1" dirty="0" smtClean="0"/>
              <a:t>, Kızamıkçık,</a:t>
            </a:r>
          </a:p>
          <a:p>
            <a:pPr lvl="1"/>
            <a:r>
              <a:rPr lang="tr-TR" sz="3000" b="1" dirty="0" err="1" smtClean="0"/>
              <a:t>Sitomegalovirus</a:t>
            </a:r>
            <a:r>
              <a:rPr lang="tr-TR" sz="3000" b="1" dirty="0" smtClean="0"/>
              <a:t> veya </a:t>
            </a:r>
            <a:r>
              <a:rPr lang="tr-TR" sz="3000" b="1" dirty="0" err="1" smtClean="0"/>
              <a:t>Sifiliz</a:t>
            </a:r>
            <a:r>
              <a:rPr lang="tr-TR" sz="3000" b="1" dirty="0" smtClean="0"/>
              <a:t>)</a:t>
            </a:r>
          </a:p>
          <a:p>
            <a:r>
              <a:rPr lang="tr-TR" sz="3000" b="1" dirty="0" smtClean="0">
                <a:solidFill>
                  <a:schemeClr val="accent6">
                    <a:lumMod val="50000"/>
                  </a:schemeClr>
                </a:solidFill>
              </a:rPr>
              <a:t>Doğumu takiben ilk 24-48 saat içinde </a:t>
            </a:r>
            <a:r>
              <a:rPr lang="tr-TR" sz="2400" b="1" dirty="0" smtClean="0">
                <a:solidFill>
                  <a:schemeClr val="accent6">
                    <a:lumMod val="50000"/>
                  </a:schemeClr>
                </a:solidFill>
              </a:rPr>
              <a:t>belirti/bulgu veren enfeksiyonlar</a:t>
            </a:r>
          </a:p>
          <a:p>
            <a:r>
              <a:rPr lang="tr-TR" sz="3000" b="1" dirty="0" smtClean="0">
                <a:solidFill>
                  <a:srgbClr val="0070C0"/>
                </a:solidFill>
              </a:rPr>
              <a:t>Doğum kanalından geçiş sırasında kazanılan enfeksiyonlar</a:t>
            </a:r>
          </a:p>
          <a:p>
            <a:r>
              <a:rPr lang="tr-TR" sz="3000" b="1" dirty="0" err="1" smtClean="0">
                <a:solidFill>
                  <a:srgbClr val="FF0000"/>
                </a:solidFill>
              </a:rPr>
              <a:t>Latent</a:t>
            </a:r>
            <a:r>
              <a:rPr lang="tr-TR" sz="3000" b="1" dirty="0" smtClean="0">
                <a:solidFill>
                  <a:srgbClr val="FF0000"/>
                </a:solidFill>
              </a:rPr>
              <a:t> bir enfeksiyonun </a:t>
            </a:r>
            <a:r>
              <a:rPr lang="tr-TR" sz="3000" b="1" dirty="0" err="1" smtClean="0">
                <a:solidFill>
                  <a:srgbClr val="FF0000"/>
                </a:solidFill>
              </a:rPr>
              <a:t>reaktivasyonu</a:t>
            </a:r>
            <a:endParaRPr lang="tr-TR" sz="3000" b="1" dirty="0" smtClean="0">
              <a:solidFill>
                <a:srgbClr val="FF0000"/>
              </a:solidFill>
            </a:endParaRPr>
          </a:p>
          <a:p>
            <a:pPr lvl="1"/>
            <a:r>
              <a:rPr lang="tr-TR" sz="3000" b="1" dirty="0" smtClean="0"/>
              <a:t>(</a:t>
            </a:r>
            <a:r>
              <a:rPr lang="tr-TR" sz="3000" b="1" i="1" dirty="0" err="1" smtClean="0"/>
              <a:t>Herpes</a:t>
            </a:r>
            <a:r>
              <a:rPr lang="tr-TR" sz="3000" b="1" i="1" dirty="0" smtClean="0"/>
              <a:t> </a:t>
            </a:r>
            <a:r>
              <a:rPr lang="tr-TR" sz="3000" b="1" i="1" dirty="0" err="1" smtClean="0"/>
              <a:t>zoster</a:t>
            </a:r>
            <a:r>
              <a:rPr lang="tr-TR" sz="3000" b="1" i="1" dirty="0" smtClean="0"/>
              <a:t>, </a:t>
            </a:r>
            <a:r>
              <a:rPr lang="tr-TR" sz="3000" b="1" i="1" dirty="0" err="1" smtClean="0"/>
              <a:t>Herpes</a:t>
            </a:r>
            <a:r>
              <a:rPr lang="tr-TR" sz="3000" b="1" i="1" dirty="0" smtClean="0"/>
              <a:t> </a:t>
            </a:r>
            <a:r>
              <a:rPr lang="tr-TR" sz="3000" b="1" i="1" dirty="0" err="1" smtClean="0"/>
              <a:t>simplex</a:t>
            </a:r>
            <a:r>
              <a:rPr lang="tr-TR" sz="3000" b="1" i="1" dirty="0" smtClean="0"/>
              <a:t>, </a:t>
            </a:r>
            <a:r>
              <a:rPr lang="tr-TR" sz="3000" b="1" i="1" dirty="0" err="1" smtClean="0"/>
              <a:t>Sifiliz</a:t>
            </a:r>
            <a:r>
              <a:rPr lang="tr-TR" sz="3000" b="1" i="1" dirty="0" smtClean="0"/>
              <a:t> veya Tüberküloz)</a:t>
            </a:r>
            <a:endParaRPr lang="tr-TR" sz="3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HASTANE ENFEKSİYONLARI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069160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sz="2800" b="1" dirty="0" smtClean="0">
                <a:solidFill>
                  <a:srgbClr val="7030A0"/>
                </a:solidFill>
              </a:rPr>
              <a:t>2 BÖLÜMDE İNCELENİR</a:t>
            </a:r>
          </a:p>
          <a:p>
            <a:r>
              <a:rPr lang="tr-TR" sz="2800" b="1" dirty="0" smtClean="0"/>
              <a:t>1-</a:t>
            </a:r>
            <a:r>
              <a:rPr lang="tr-TR" sz="2800" b="1" dirty="0" err="1" smtClean="0"/>
              <a:t>Ekzojen</a:t>
            </a:r>
            <a:r>
              <a:rPr lang="tr-TR" sz="2800" b="1" dirty="0" smtClean="0"/>
              <a:t> (çapraz)</a:t>
            </a:r>
            <a:r>
              <a:rPr lang="tr-TR" sz="2400" b="1" dirty="0" smtClean="0"/>
              <a:t> enfeksiyonlar</a:t>
            </a:r>
          </a:p>
          <a:p>
            <a:r>
              <a:rPr lang="tr-TR" sz="2800" b="1" dirty="0" smtClean="0"/>
              <a:t>2-</a:t>
            </a:r>
            <a:r>
              <a:rPr lang="tr-TR" sz="2800" b="1" dirty="0" err="1" smtClean="0"/>
              <a:t>Endojen</a:t>
            </a:r>
            <a:r>
              <a:rPr lang="tr-TR" sz="2800" b="1" dirty="0" smtClean="0"/>
              <a:t> (self, oto) </a:t>
            </a:r>
            <a:r>
              <a:rPr lang="tr-TR" sz="2400" b="1" dirty="0" smtClean="0"/>
              <a:t>enfeksiyonlar</a:t>
            </a:r>
            <a:endParaRPr lang="tr-TR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916832"/>
            <a:ext cx="3006774" cy="442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467544" y="620688"/>
            <a:ext cx="8208912" cy="58326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1-ENDOJEN (SELF,OTO) ENFEKSİYONLAR</a:t>
            </a:r>
          </a:p>
          <a:p>
            <a:r>
              <a:rPr lang="tr-TR" sz="2800" b="1" dirty="0" smtClean="0"/>
              <a:t>Hastanın kendi florasından kaynaklanan </a:t>
            </a:r>
            <a:r>
              <a:rPr lang="tr-TR" sz="2800" b="1" dirty="0" err="1" smtClean="0"/>
              <a:t>endojen</a:t>
            </a:r>
            <a:r>
              <a:rPr lang="tr-TR" sz="2800" b="1" dirty="0" smtClean="0"/>
              <a:t> enfeksiyonlar, hastane enfeksiyonlarının %30-50’sini oluşturmaktadır</a:t>
            </a:r>
          </a:p>
          <a:p>
            <a:pPr>
              <a:buNone/>
            </a:pPr>
            <a:endParaRPr lang="tr-TR" sz="2800" b="1" dirty="0" smtClean="0"/>
          </a:p>
          <a:p>
            <a:pPr>
              <a:buNone/>
            </a:pPr>
            <a:r>
              <a:rPr lang="tr-TR" sz="2800" b="1" dirty="0" smtClean="0">
                <a:solidFill>
                  <a:srgbClr val="FF0000"/>
                </a:solidFill>
              </a:rPr>
              <a:t>		2-EKSOJEN (ÇAPRAZ) ENFEKSİYONLAR</a:t>
            </a:r>
            <a:endParaRPr lang="tr-TR" sz="2800" dirty="0" smtClean="0">
              <a:solidFill>
                <a:srgbClr val="FF0000"/>
              </a:solidFill>
            </a:endParaRPr>
          </a:p>
          <a:p>
            <a:r>
              <a:rPr lang="tr-TR" sz="2800" b="1" dirty="0" smtClean="0"/>
              <a:t>Hastane ortamından kaynaklı, Sağlık personelinden bulaşan, ve hastanede kullanılan araç-gereç vb. aracılığı ile bulaşan mikroorganizmaların oluşturduğu enfeksiyonlar (</a:t>
            </a:r>
            <a:r>
              <a:rPr lang="tr-TR" sz="2800" b="1" dirty="0" err="1" smtClean="0"/>
              <a:t>ekzojen</a:t>
            </a:r>
            <a:r>
              <a:rPr lang="tr-TR" sz="2800" b="1" dirty="0" smtClean="0"/>
              <a:t> enfeksiyonlar)</a:t>
            </a:r>
            <a:endParaRPr lang="tr-TR" sz="2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b="1" dirty="0" smtClean="0">
                <a:solidFill>
                  <a:srgbClr val="FF0000"/>
                </a:solidFill>
              </a:rPr>
              <a:t>HASTANE ENFEKSİYONLARI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0070C0"/>
                </a:solidFill>
              </a:rPr>
              <a:t>NASIL GELİŞİR?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sz="2800" b="1" dirty="0" smtClean="0"/>
              <a:t>Çapraz </a:t>
            </a:r>
            <a:r>
              <a:rPr lang="tr-TR" sz="2800" b="1" dirty="0" err="1" smtClean="0"/>
              <a:t>kontaminasyon</a:t>
            </a:r>
            <a:endParaRPr lang="tr-TR" sz="2800" b="1" dirty="0" smtClean="0"/>
          </a:p>
          <a:p>
            <a:r>
              <a:rPr lang="tr-TR" sz="2800" b="1" dirty="0" smtClean="0"/>
              <a:t>Çevre </a:t>
            </a:r>
            <a:r>
              <a:rPr lang="tr-TR" sz="2800" b="1" dirty="0" err="1" smtClean="0"/>
              <a:t>kontaminasyonu</a:t>
            </a:r>
            <a:endParaRPr lang="tr-TR" sz="2800" b="1" dirty="0" smtClean="0"/>
          </a:p>
          <a:p>
            <a:r>
              <a:rPr lang="tr-TR" sz="2800" b="1" dirty="0" err="1" smtClean="0"/>
              <a:t>Kontamine</a:t>
            </a:r>
            <a:r>
              <a:rPr lang="tr-TR" sz="2800" b="1" dirty="0" smtClean="0"/>
              <a:t> cihazlar</a:t>
            </a:r>
          </a:p>
          <a:p>
            <a:pPr>
              <a:buNone/>
            </a:pPr>
            <a:endParaRPr lang="tr-TR" sz="2800" b="1" dirty="0" smtClean="0"/>
          </a:p>
          <a:p>
            <a:pPr lvl="1"/>
            <a:r>
              <a:rPr lang="tr-TR" b="1" dirty="0" err="1" smtClean="0"/>
              <a:t>YBÜ’de</a:t>
            </a:r>
            <a:r>
              <a:rPr lang="tr-TR" b="1" dirty="0" smtClean="0"/>
              <a:t>  %50 </a:t>
            </a:r>
            <a:r>
              <a:rPr lang="tr-TR" b="1" dirty="0" err="1" smtClean="0"/>
              <a:t>endojen</a:t>
            </a:r>
            <a:endParaRPr lang="tr-TR" b="1" dirty="0" smtClean="0"/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ÇAPRAZ KONTAMİNASYON NEDİR?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24536"/>
          </a:xfrm>
        </p:spPr>
        <p:txBody>
          <a:bodyPr>
            <a:normAutofit fontScale="92500" lnSpcReduction="10000"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Çapraz </a:t>
            </a:r>
            <a:r>
              <a:rPr lang="tr-TR" sz="2800" b="1" dirty="0" err="1" smtClean="0">
                <a:solidFill>
                  <a:srgbClr val="7030A0"/>
                </a:solidFill>
              </a:rPr>
              <a:t>kontaminasyon</a:t>
            </a:r>
            <a:r>
              <a:rPr lang="tr-TR" sz="2800" b="1" dirty="0" smtClean="0"/>
              <a:t>, 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bakteri ve virüslerin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kontamine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olmuş bir yüzeyden,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kontaminasyona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maruz kalmamış başka bir yüzeye transfer olmasıyla medyana gelmektedir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Çapraz </a:t>
            </a:r>
            <a:r>
              <a:rPr lang="tr-TR" sz="2800" b="1" dirty="0" err="1" smtClean="0"/>
              <a:t>kontaminasyon</a:t>
            </a:r>
            <a:r>
              <a:rPr lang="tr-TR" sz="2800" b="1" dirty="0" smtClean="0"/>
              <a:t> gıda kaynaklı hastalıklar ve gıda zehirlenmeleri için anahtar bir kelimedir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00B050"/>
                </a:solidFill>
              </a:rPr>
              <a:t>Çapraz </a:t>
            </a:r>
            <a:r>
              <a:rPr lang="tr-TR" sz="2800" b="1" dirty="0" err="1" smtClean="0">
                <a:solidFill>
                  <a:srgbClr val="00B050"/>
                </a:solidFill>
              </a:rPr>
              <a:t>kontaminasyon</a:t>
            </a:r>
            <a:r>
              <a:rPr lang="tr-TR" sz="2800" b="1" dirty="0" smtClean="0">
                <a:solidFill>
                  <a:srgbClr val="00B050"/>
                </a:solidFill>
              </a:rPr>
              <a:t> dört ana kaynağa sahiptir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7030A0"/>
                </a:solidFill>
              </a:rPr>
              <a:t>1-Gıdalar, 2-insanlar, 3-ekipman ve 4-çalışma alanları</a:t>
            </a:r>
            <a:endParaRPr lang="tr-TR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611560" y="260648"/>
            <a:ext cx="8064896" cy="6336704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00B05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ÇAPRAZ KONTAMİNASYON DÖRT ANA KAYNAĞA SAHİPTİR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Gıdalar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İnsanlar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Ekipman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Çalışma alanları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ETKEN OLAN EN  ÖNEMLİ MİKROORGANİZMALAR HANGİSİ?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endParaRPr lang="tr-TR" b="1" dirty="0" smtClean="0"/>
          </a:p>
          <a:p>
            <a:pPr lvl="1"/>
            <a:r>
              <a:rPr lang="tr-TR" b="1" dirty="0" err="1" smtClean="0">
                <a:solidFill>
                  <a:srgbClr val="7030A0"/>
                </a:solidFill>
              </a:rPr>
              <a:t>Metisiline</a:t>
            </a:r>
            <a:r>
              <a:rPr lang="tr-TR" b="1" dirty="0" smtClean="0">
                <a:solidFill>
                  <a:srgbClr val="7030A0"/>
                </a:solidFill>
              </a:rPr>
              <a:t> dirençli stafilokoklar</a:t>
            </a:r>
          </a:p>
          <a:p>
            <a:pPr lvl="1"/>
            <a:r>
              <a:rPr lang="tr-TR" b="1" dirty="0" smtClean="0">
                <a:solidFill>
                  <a:srgbClr val="0070C0"/>
                </a:solidFill>
              </a:rPr>
              <a:t>Ç</a:t>
            </a:r>
            <a:r>
              <a:rPr lang="pt-BR" b="1" dirty="0" smtClean="0">
                <a:solidFill>
                  <a:srgbClr val="0070C0"/>
                </a:solidFill>
              </a:rPr>
              <a:t>oğul dirençli Gram negatif enterik çomaklar</a:t>
            </a:r>
            <a:endParaRPr lang="tr-TR" b="1" dirty="0" smtClean="0">
              <a:solidFill>
                <a:srgbClr val="0070C0"/>
              </a:solidFill>
            </a:endParaRPr>
          </a:p>
          <a:p>
            <a:pPr lvl="1">
              <a:buNone/>
            </a:pPr>
            <a:endParaRPr lang="pt-BR" b="1" dirty="0" smtClean="0">
              <a:solidFill>
                <a:srgbClr val="0070C0"/>
              </a:solidFill>
            </a:endParaRPr>
          </a:p>
          <a:p>
            <a:r>
              <a:rPr lang="tr-TR" sz="2800" b="1" dirty="0" smtClean="0"/>
              <a:t>gibi tedavisi güç mikroorganizmalardan oluşur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188640"/>
            <a:ext cx="8640960" cy="6408712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tr-TR" b="1" dirty="0" smtClean="0">
                <a:solidFill>
                  <a:srgbClr val="FF0000"/>
                </a:solidFill>
              </a:rPr>
              <a:t>STAPHYLOCOCCUS AUREUS: </a:t>
            </a:r>
            <a:r>
              <a:rPr lang="tr-TR" b="1" dirty="0" smtClean="0"/>
              <a:t>Bu bakteri cilt enfeksiyonlarından başlayarak, kemik enfeksiyonları ve kan dolaşımı enfeksiyonlarına kadar çeşitli hastalıklara yol açabilir. MRSA gibi dirençli tipleri özellikle endişe vericidir. 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ENTEROCOCCUS FAECALİS VE ENTEROCOCCUS FAECİUM: </a:t>
            </a:r>
            <a:r>
              <a:rPr lang="tr-TR" b="1" dirty="0" smtClean="0"/>
              <a:t>İdrar yolu enfeksiyonlarından kan dolaşımı enfeksiyonlarına kadar geniş bir yelpazede hastalıklara neden olabilirler. Antibiyotiklere karşı direnç geliştirebilirler. 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CLOSTRİDİUM DİFFİCİLE:</a:t>
            </a:r>
            <a:r>
              <a:rPr lang="tr-TR" b="1" dirty="0" smtClean="0"/>
              <a:t> Antibiyotik kullanımı sonucu bağırsak florasının bozulmasıyla ortaya çıkan bu bakteri, ciddi ishal ve bağırsak enfeksiyonlarına yol açabilir. 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PSEUDOMONAS AERUGİNOSA: </a:t>
            </a:r>
            <a:r>
              <a:rPr lang="tr-TR" b="1" dirty="0" smtClean="0"/>
              <a:t>Zayıf bağışıklık sistemine sahip hastalarda solunum yolu, idrar yolu veya cilt enfeksiyonlarına neden olabilir. Ayrıca, hastane ortamlarında bulunması ve direnç geliştirebilmesi nedeniyle endişe vericidir.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ACİNETOBACTER BAUMANNİİ: </a:t>
            </a:r>
            <a:r>
              <a:rPr lang="tr-TR" b="1" dirty="0" smtClean="0"/>
              <a:t>Yoğun bakım ünitelerinde ve hastane ortamlarında sıkça görülen bir bakteridir. Ciddi solunum yolu enfeksiyonlarına yol açabilir ve antibiyotiklere karşı direnç geliştirebilir. 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KLEBSİELLA PNEUMONİAE: </a:t>
            </a:r>
            <a:r>
              <a:rPr lang="tr-TR" b="1" dirty="0" smtClean="0"/>
              <a:t>Solunum yolu, idrar yolu veya kan dolaşımı enfeksiyonlarına sebep olabilir. Özellikle antibiyotiklere karşı direnç geliştirme eğilimindedir. </a:t>
            </a:r>
            <a:endParaRPr lang="tr-TR" dirty="0" smtClean="0"/>
          </a:p>
          <a:p>
            <a:pPr lvl="0"/>
            <a:r>
              <a:rPr lang="tr-TR" b="1" dirty="0" smtClean="0">
                <a:solidFill>
                  <a:srgbClr val="FF0000"/>
                </a:solidFill>
              </a:rPr>
              <a:t>ESCHERİCHİA COLİ</a:t>
            </a:r>
            <a:r>
              <a:rPr lang="tr-TR" b="1" dirty="0" smtClean="0"/>
              <a:t>: İnsanlarda ve hayvanlarda </a:t>
            </a:r>
            <a:r>
              <a:rPr lang="tr-TR" b="1" dirty="0" err="1" smtClean="0"/>
              <a:t>gastrointestinal</a:t>
            </a:r>
            <a:r>
              <a:rPr lang="tr-TR" b="1" dirty="0" smtClean="0"/>
              <a:t> </a:t>
            </a:r>
            <a:r>
              <a:rPr lang="tr-TR" b="1" dirty="0" err="1" smtClean="0"/>
              <a:t>yollarınında</a:t>
            </a:r>
            <a:r>
              <a:rPr lang="tr-TR" b="1" dirty="0" smtClean="0"/>
              <a:t> birçok yaygın bakteriyel enfeksiyonun en sık nedenlerinden biridir. Dışkı ile bulaşabilir.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BU MİKROORGANİZMALARIN ÇOĞU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sz="2800" b="1" dirty="0" smtClean="0"/>
              <a:t>			Bu mikroorganizmaların çoğu;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Çeşitli  dezenfektan ve </a:t>
            </a:r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Antiseptik maddelere</a:t>
            </a:r>
          </a:p>
          <a:p>
            <a:r>
              <a:rPr lang="tr-TR" sz="2800" b="1" dirty="0" smtClean="0">
                <a:solidFill>
                  <a:srgbClr val="00B050"/>
                </a:solidFill>
              </a:rPr>
              <a:t>Başta kuruluk olmak üzere dış ortam koşullarına dayanıklı bakterilerdir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nedenle hastanenin çeşitli bölümlerinde, özellikle </a:t>
            </a:r>
            <a:r>
              <a:rPr lang="tr-TR" sz="2800" b="1" dirty="0" smtClean="0">
                <a:solidFill>
                  <a:srgbClr val="FF0000"/>
                </a:solidFill>
              </a:rPr>
              <a:t>yoğun bakım ünitelerinde salgınların </a:t>
            </a:r>
            <a:r>
              <a:rPr lang="tr-TR" sz="2800" b="1" dirty="0" smtClean="0"/>
              <a:t>çıkmasına yol açarlar</a:t>
            </a:r>
            <a:endParaRPr lang="tr-TR" sz="28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BU MİKROORGANİZMALARDAN HASTAYI KURTARMAK İÇİN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b="1" dirty="0" smtClean="0"/>
              <a:t>Bu mikroorganizmaların neden olduğu enfeksiyonları tedavi etmek için daha geniş spektrumlu ve genellikle daha pahalı antibiyotiklerin kullanılması zorunluluğu doğmaktadır</a:t>
            </a:r>
          </a:p>
          <a:p>
            <a:pPr>
              <a:buNone/>
            </a:pPr>
            <a:endParaRPr lang="tr-TR" sz="2600" b="1" dirty="0" smtClean="0"/>
          </a:p>
          <a:p>
            <a:r>
              <a:rPr lang="tr-TR" sz="2600" b="1" dirty="0" smtClean="0"/>
              <a:t>Hastanın hastanede daha uzun süre yatması ve enfeksiyonun yerini, derecesini saptamak için daha sofistike tanı yöntemlerinin kullanılması gerekliliği, tedavi maliyetini daha da arttırır</a:t>
            </a:r>
            <a:endParaRPr lang="tr-TR" sz="26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500" b="1" dirty="0" smtClean="0">
                <a:solidFill>
                  <a:srgbClr val="FF0000"/>
                </a:solidFill>
              </a:rPr>
              <a:t>HASTANE (NOZOKOMİYAL) ENFEKSİYONLARI </a:t>
            </a:r>
            <a:br>
              <a:rPr lang="tr-TR" sz="2500" b="1" dirty="0" smtClean="0">
                <a:solidFill>
                  <a:srgbClr val="FF0000"/>
                </a:solidFill>
              </a:rPr>
            </a:br>
            <a:r>
              <a:rPr lang="tr-TR" sz="2500" b="1" dirty="0" smtClean="0">
                <a:solidFill>
                  <a:srgbClr val="00B050"/>
                </a:solidFill>
              </a:rPr>
              <a:t>ÖLÜM NEDENLERİ ARASINDA DÖRDÜNCÜ SIRADA YER ALIR</a:t>
            </a:r>
            <a:endParaRPr lang="tr-TR" sz="2500" b="1" dirty="0">
              <a:solidFill>
                <a:srgbClr val="00B05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1-Kalp hastalıkları</a:t>
            </a:r>
          </a:p>
          <a:p>
            <a:r>
              <a:rPr lang="tr-TR" sz="2800" b="1" dirty="0" smtClean="0"/>
              <a:t>2-Kanser</a:t>
            </a:r>
          </a:p>
          <a:p>
            <a:r>
              <a:rPr lang="tr-TR" sz="2800" b="1" dirty="0" smtClean="0"/>
              <a:t>3-Beyin kanamaları</a:t>
            </a:r>
          </a:p>
          <a:p>
            <a:r>
              <a:rPr lang="tr-TR" sz="2800" b="1" dirty="0" smtClean="0"/>
              <a:t>4-</a:t>
            </a:r>
            <a:r>
              <a:rPr lang="tr-TR" sz="2800" b="1" dirty="0" err="1" smtClean="0"/>
              <a:t>Nozokomiyal</a:t>
            </a:r>
            <a:r>
              <a:rPr lang="tr-TR" sz="2800" b="1" dirty="0" smtClean="0"/>
              <a:t> enfeksiyonlar </a:t>
            </a:r>
          </a:p>
          <a:p>
            <a:pPr>
              <a:buNone/>
            </a:pPr>
            <a:endParaRPr lang="tr-TR" sz="2800" b="1" dirty="0" smtClean="0"/>
          </a:p>
          <a:p>
            <a:pPr lvl="1"/>
            <a:r>
              <a:rPr lang="tr-TR" b="1" dirty="0" smtClean="0">
                <a:solidFill>
                  <a:srgbClr val="FF0000"/>
                </a:solidFill>
              </a:rPr>
              <a:t>Hastanede yatarak tedavi gören her 10 hastadan 1’inde!!!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HASTANE (NOZOKOMİYAL) ENFEKSİYONLARI </a:t>
            </a:r>
            <a:br>
              <a:rPr lang="tr-TR" sz="2800" b="1" dirty="0" smtClean="0">
                <a:solidFill>
                  <a:srgbClr val="FF0000"/>
                </a:solidFill>
              </a:rPr>
            </a:br>
            <a:r>
              <a:rPr lang="tr-TR" sz="2800" b="1" dirty="0" smtClean="0">
                <a:solidFill>
                  <a:srgbClr val="7030A0"/>
                </a:solidFill>
              </a:rPr>
              <a:t>DÜNYADA NASIL</a:t>
            </a:r>
            <a:endParaRPr lang="tr-TR" sz="2800" b="1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sz="2800" b="1" dirty="0" smtClean="0"/>
              <a:t>Dünya Sağlık Örgütü’nce gelişmekte olan ülkelerde hijyenik koşulların yetersizliği, </a:t>
            </a:r>
            <a:r>
              <a:rPr lang="tr-TR" sz="2800" b="1" dirty="0" err="1" smtClean="0"/>
              <a:t>nozokomiyal</a:t>
            </a:r>
            <a:r>
              <a:rPr lang="tr-TR" sz="2800" b="1" dirty="0" smtClean="0"/>
              <a:t> enfeksiyonların ve enfeksiyon kontrolünün yeterince önemsenmemesi nedeniyle gelişmiş ülkelere oranla sorunun daha büyük boyutlarda olduğu vurgulanmaktadır</a:t>
            </a:r>
          </a:p>
          <a:p>
            <a:pPr>
              <a:buNone/>
            </a:pPr>
            <a:r>
              <a:rPr lang="tr-TR" sz="2800" dirty="0" smtClean="0"/>
              <a:t> </a:t>
            </a:r>
          </a:p>
          <a:p>
            <a:r>
              <a:rPr lang="tr-TR" sz="2800" b="1" dirty="0" smtClean="0"/>
              <a:t>Gelişmiş ülkelerde hastanede yatarak tedavi gören hastaların %5-10’nunda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Gelişmekte olan ülkelerde %25’e kadar çıktığı bildirilmektedir</a:t>
            </a:r>
            <a:endParaRPr lang="tr-TR" sz="28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ÜLKEMİZDE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Ülkemizde </a:t>
            </a:r>
            <a:r>
              <a:rPr lang="tr-TR" sz="2800" b="1" dirty="0" err="1" smtClean="0"/>
              <a:t>nozokomiyal</a:t>
            </a:r>
            <a:r>
              <a:rPr lang="tr-TR" sz="2800" b="1" dirty="0" smtClean="0"/>
              <a:t> enfeksiyon hızının                   	%1 ile %16 arasında değiştiği bildirilmektedir</a:t>
            </a:r>
            <a:endParaRPr lang="tr-TR" sz="28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GELİŞMEKTE OLAN ÜLKELERDE DİRENÇLİ PATOJENLERLE OLUŞAN BU ENFEKSİYONLARIN DAHA SIK GÖRÜLMESİNİN NEDENLERİ NELERDİR?</a:t>
            </a:r>
            <a:endParaRPr lang="tr-TR" sz="24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1-Hemşire başına düşen yatak sayısının fazlalığı</a:t>
            </a:r>
          </a:p>
          <a:p>
            <a:r>
              <a:rPr lang="tr-TR" sz="2800" b="1" dirty="0" smtClean="0"/>
              <a:t>2-Eğitim eksikliği-el antiseptiklerinin yeterli olmayışı-el yıkama alışkanlığının olmayışı</a:t>
            </a:r>
          </a:p>
          <a:p>
            <a:r>
              <a:rPr lang="tr-TR" sz="2800" b="1" dirty="0" smtClean="0"/>
              <a:t>3-Hastanelerin alt yapı noksanlıklarına karşılık ileri teknoloji ile donatılması</a:t>
            </a:r>
          </a:p>
          <a:p>
            <a:r>
              <a:rPr lang="tr-TR" sz="2800" b="1" dirty="0" smtClean="0"/>
              <a:t>4-Hastane eczanesinde geniş spektrumlu antibiyotiklerin bulunması ve herkes tarafından rahatça kullanılabilmesi</a:t>
            </a:r>
          </a:p>
          <a:p>
            <a:r>
              <a:rPr lang="tr-TR" sz="2800" b="1" dirty="0" smtClean="0"/>
              <a:t>5-Klinikler ile mikrobiyoloji </a:t>
            </a:r>
            <a:r>
              <a:rPr lang="tr-TR" sz="2800" b="1" dirty="0" err="1" smtClean="0"/>
              <a:t>laboratuvarları</a:t>
            </a:r>
            <a:r>
              <a:rPr lang="tr-TR" sz="2800" b="1" dirty="0" smtClean="0"/>
              <a:t> arasında iletişim kopukluğu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200" b="1" dirty="0" smtClean="0">
                <a:solidFill>
                  <a:srgbClr val="FF0000"/>
                </a:solidFill>
              </a:rPr>
              <a:t>GELİŞMEKTE OLAN ÜLKELERDE DİRENÇLİ PATOJENLERLE OLUŞAN BU ENFEKSİYONLARIN DAHA SIK GÖRÜLMESİNİN NEDENLERİ NELERDİR?</a:t>
            </a:r>
            <a:endParaRPr lang="tr-TR" sz="2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6-Hastane idarecilerinin hastane enfeksiyonunu bir sorun olarak görmemesi</a:t>
            </a:r>
          </a:p>
          <a:p>
            <a:r>
              <a:rPr lang="tr-TR" sz="2800" b="1" dirty="0" smtClean="0"/>
              <a:t>7-Hastanede yatmak, yatış esnasında uygulanan işlemler veya cerrahi girişimler hastane enfeksiyonu gelişmesi açısından risk oluşturmaktadır</a:t>
            </a:r>
          </a:p>
          <a:p>
            <a:r>
              <a:rPr lang="tr-TR" sz="2800" b="1" dirty="0" smtClean="0"/>
              <a:t>8-Hastaneye yatırılan hastalara tanı amacıyla uygulanan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7030A0"/>
                </a:solidFill>
              </a:rPr>
              <a:t>8-HASTANEYE YATIRILAN HASTALARA TANI AMACIYLA UYGULANAN</a:t>
            </a:r>
            <a:br>
              <a:rPr lang="tr-TR" b="1" dirty="0" smtClean="0">
                <a:solidFill>
                  <a:srgbClr val="7030A0"/>
                </a:solidFill>
              </a:rPr>
            </a:br>
            <a:endParaRPr lang="tr-TR" dirty="0">
              <a:solidFill>
                <a:srgbClr val="7030A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Endoskopi</a:t>
            </a:r>
          </a:p>
          <a:p>
            <a:r>
              <a:rPr lang="tr-TR" sz="2800" b="1" dirty="0" err="1" smtClean="0"/>
              <a:t>Kateterizasyon</a:t>
            </a:r>
            <a:endParaRPr lang="tr-TR" sz="2800" b="1" dirty="0" smtClean="0"/>
          </a:p>
          <a:p>
            <a:r>
              <a:rPr lang="tr-TR" sz="2800" b="1" dirty="0" smtClean="0"/>
              <a:t>Biyopsi gibi işlemler</a:t>
            </a:r>
          </a:p>
          <a:p>
            <a:r>
              <a:rPr lang="tr-TR" sz="2800" b="1" dirty="0" smtClean="0"/>
              <a:t>Mekanik </a:t>
            </a:r>
            <a:r>
              <a:rPr lang="sv-SE" sz="2800" b="1" dirty="0" smtClean="0"/>
              <a:t>ventilasyon</a:t>
            </a:r>
            <a:endParaRPr lang="tr-TR" sz="2800" b="1" dirty="0" smtClean="0"/>
          </a:p>
          <a:p>
            <a:r>
              <a:rPr lang="tr-TR" sz="2800" b="1" dirty="0" smtClean="0"/>
              <a:t>T</a:t>
            </a:r>
            <a:r>
              <a:rPr lang="sv-SE" sz="2800" b="1" dirty="0" smtClean="0"/>
              <a:t>rakeostomi gibi girişimler </a:t>
            </a: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H</a:t>
            </a:r>
            <a:r>
              <a:rPr lang="sv-SE" sz="2800" b="1" dirty="0" smtClean="0">
                <a:solidFill>
                  <a:srgbClr val="FF0000"/>
                </a:solidFill>
              </a:rPr>
              <a:t>em konak</a:t>
            </a:r>
            <a:r>
              <a:rPr lang="tr-TR" sz="2800" b="1" dirty="0" smtClean="0">
                <a:solidFill>
                  <a:srgbClr val="FF0000"/>
                </a:solidFill>
              </a:rPr>
              <a:t> savunmasının ve bütünlüğünün bozulmasına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Hem de hastanın kendi özgün florası yerine hastane florası ile </a:t>
            </a:r>
            <a:r>
              <a:rPr lang="tr-TR" sz="2800" b="1" dirty="0" err="1" smtClean="0">
                <a:solidFill>
                  <a:srgbClr val="7030A0"/>
                </a:solidFill>
              </a:rPr>
              <a:t>kolonize</a:t>
            </a:r>
            <a:r>
              <a:rPr lang="tr-TR" sz="2800" b="1" dirty="0" smtClean="0">
                <a:solidFill>
                  <a:srgbClr val="7030A0"/>
                </a:solidFill>
              </a:rPr>
              <a:t> olmasına yol açmaktadır</a:t>
            </a:r>
            <a:endParaRPr lang="tr-TR" sz="28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496944" cy="61926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tr-TR" b="1" dirty="0" smtClean="0">
                <a:solidFill>
                  <a:srgbClr val="7030A0"/>
                </a:solidFill>
              </a:rPr>
              <a:t>HASTANEYE YATIRILAN HASTALARA TEDAVİ AMACIYLA UYGULANAN</a:t>
            </a:r>
            <a:endParaRPr lang="tr-TR" b="1" dirty="0" smtClean="0"/>
          </a:p>
          <a:p>
            <a:pPr>
              <a:buNone/>
            </a:pPr>
            <a:endParaRPr lang="tr-TR" sz="2600" b="1" dirty="0" smtClean="0"/>
          </a:p>
          <a:p>
            <a:r>
              <a:rPr lang="tr-TR" sz="2800" b="1" dirty="0" smtClean="0"/>
              <a:t>Transplantasyonlar</a:t>
            </a:r>
          </a:p>
          <a:p>
            <a:r>
              <a:rPr lang="tr-TR" sz="2800" b="1" dirty="0" smtClean="0"/>
              <a:t>yapay kalp kapakları</a:t>
            </a:r>
          </a:p>
          <a:p>
            <a:r>
              <a:rPr lang="tr-TR" sz="2800" b="1" dirty="0" smtClean="0"/>
              <a:t>protezler gibi</a:t>
            </a:r>
          </a:p>
          <a:p>
            <a:r>
              <a:rPr lang="tr-TR" sz="2800" b="1" dirty="0" smtClean="0"/>
              <a:t>cerrahi girişimler</a:t>
            </a:r>
          </a:p>
          <a:p>
            <a:r>
              <a:rPr lang="tr-TR" sz="2800" b="1" dirty="0" smtClean="0">
                <a:solidFill>
                  <a:srgbClr val="7030A0"/>
                </a:solidFill>
              </a:rPr>
              <a:t>Bir yandan insan ömrünü uzatıp, yaşam kalitesini yükseltirken</a:t>
            </a:r>
          </a:p>
          <a:p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Diğer taraftan bu girişimlerin yol açtığı enfeksiyonlar yaşam kalitesini bozmakta,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morbidite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ve </a:t>
            </a:r>
            <a:r>
              <a:rPr lang="tr-TR" sz="2800" b="1" dirty="0" err="1" smtClean="0">
                <a:solidFill>
                  <a:schemeClr val="accent6">
                    <a:lumMod val="50000"/>
                  </a:schemeClr>
                </a:solidFill>
              </a:rPr>
              <a:t>mortalite</a:t>
            </a:r>
            <a:r>
              <a:rPr lang="tr-TR" sz="2800" b="1" dirty="0" smtClean="0">
                <a:solidFill>
                  <a:schemeClr val="accent6">
                    <a:lumMod val="50000"/>
                  </a:schemeClr>
                </a:solidFill>
              </a:rPr>
              <a:t> riskini arttırmaktadır</a:t>
            </a:r>
            <a:endParaRPr lang="tr-TR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NOZOKOMİYAL ENFEKSİYON RİSK FAKTÖRLERİ NELERDİR?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sv-SE" sz="2600" b="1" dirty="0" smtClean="0"/>
              <a:t>Yaş (iki uçta da risk yüksektir)</a:t>
            </a:r>
          </a:p>
          <a:p>
            <a:r>
              <a:rPr lang="tr-TR" sz="2600" b="1" dirty="0" err="1" smtClean="0"/>
              <a:t>Metabolik</a:t>
            </a:r>
            <a:r>
              <a:rPr lang="tr-TR" sz="2600" b="1" dirty="0" smtClean="0"/>
              <a:t> ve </a:t>
            </a:r>
            <a:r>
              <a:rPr lang="tr-TR" sz="2600" b="1" dirty="0" err="1" smtClean="0"/>
              <a:t>immunsupresyona</a:t>
            </a:r>
            <a:r>
              <a:rPr lang="tr-TR" sz="2600" b="1" dirty="0" smtClean="0"/>
              <a:t> yol açan bozukluklar (lösemi,kanser,</a:t>
            </a:r>
            <a:r>
              <a:rPr lang="tr-TR" sz="2600" b="1" dirty="0" err="1" smtClean="0"/>
              <a:t>diabet</a:t>
            </a:r>
            <a:r>
              <a:rPr lang="tr-TR" sz="2600" b="1" dirty="0" smtClean="0"/>
              <a:t>…)</a:t>
            </a:r>
          </a:p>
          <a:p>
            <a:r>
              <a:rPr lang="tr-TR" sz="2600" b="1" dirty="0" err="1" smtClean="0"/>
              <a:t>İmmunsupresif</a:t>
            </a:r>
            <a:r>
              <a:rPr lang="tr-TR" sz="2600" b="1" dirty="0" smtClean="0"/>
              <a:t> ilaçlar</a:t>
            </a:r>
          </a:p>
          <a:p>
            <a:r>
              <a:rPr lang="tr-TR" sz="2600" b="1" dirty="0" smtClean="0"/>
              <a:t>Travma, yanık</a:t>
            </a:r>
          </a:p>
          <a:p>
            <a:r>
              <a:rPr lang="tr-TR" sz="2600" b="1" dirty="0" smtClean="0"/>
              <a:t>Cerrahi girişimler</a:t>
            </a:r>
          </a:p>
          <a:p>
            <a:r>
              <a:rPr lang="tr-TR" sz="2600" b="1" dirty="0" err="1" smtClean="0"/>
              <a:t>İnvaziv</a:t>
            </a:r>
            <a:r>
              <a:rPr lang="tr-TR" sz="2600" b="1" dirty="0" smtClean="0"/>
              <a:t> girişimler (</a:t>
            </a:r>
            <a:r>
              <a:rPr lang="tr-TR" sz="2600" b="1" dirty="0" err="1" smtClean="0"/>
              <a:t>kateterizasyon</a:t>
            </a:r>
            <a:r>
              <a:rPr lang="tr-TR" sz="2600" b="1" dirty="0" smtClean="0"/>
              <a:t>, </a:t>
            </a:r>
            <a:r>
              <a:rPr lang="tr-TR" sz="2600" b="1" dirty="0" err="1" smtClean="0"/>
              <a:t>entübasyon</a:t>
            </a:r>
            <a:r>
              <a:rPr lang="tr-TR" sz="2600" b="1" dirty="0" smtClean="0"/>
              <a:t>, endoskopi vs.)</a:t>
            </a:r>
          </a:p>
          <a:p>
            <a:r>
              <a:rPr lang="tr-TR" sz="2600" b="1" dirty="0" smtClean="0"/>
              <a:t>Artmış antibiyotik kullanımı, çoklu dirençli patojenler, flora değişikliği</a:t>
            </a:r>
            <a:endParaRPr lang="tr-TR" sz="26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NOZOKOMİYAL ENFEKSİYON RİSK FAKTÖRLERİ NELERDİR?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b="1" dirty="0" err="1" smtClean="0"/>
              <a:t>Profilaktik</a:t>
            </a:r>
            <a:r>
              <a:rPr lang="tr-TR" sz="2600" b="1" dirty="0" smtClean="0"/>
              <a:t> amaçla antiasit ve H² reseptör </a:t>
            </a:r>
            <a:r>
              <a:rPr lang="tr-TR" sz="2600" b="1" dirty="0" err="1" smtClean="0"/>
              <a:t>blokeri</a:t>
            </a:r>
            <a:r>
              <a:rPr lang="tr-TR" sz="2600" b="1" dirty="0" smtClean="0"/>
              <a:t> kullanma</a:t>
            </a:r>
          </a:p>
          <a:p>
            <a:r>
              <a:rPr lang="tr-TR" sz="2600" b="1" dirty="0" smtClean="0">
                <a:solidFill>
                  <a:srgbClr val="7030A0"/>
                </a:solidFill>
              </a:rPr>
              <a:t>Aseptik teknik kurallarına uyulmaması</a:t>
            </a:r>
          </a:p>
          <a:p>
            <a:r>
              <a:rPr lang="tr-TR" sz="2600" b="1" dirty="0" smtClean="0">
                <a:solidFill>
                  <a:srgbClr val="00B050"/>
                </a:solidFill>
              </a:rPr>
              <a:t>İzolasyon prosedürlerine uyulmaması</a:t>
            </a:r>
          </a:p>
          <a:p>
            <a:r>
              <a:rPr lang="nb-NO" sz="2600" b="1" dirty="0" smtClean="0">
                <a:solidFill>
                  <a:srgbClr val="FF0000"/>
                </a:solidFill>
              </a:rPr>
              <a:t>BAKIM VEREN SAĞLIK PERSONELİNİN ELLERİ</a:t>
            </a:r>
          </a:p>
          <a:p>
            <a:r>
              <a:rPr lang="tr-TR" sz="2600" b="1" dirty="0" smtClean="0"/>
              <a:t>Yeni prosedürler, aletler (mikroorganizmalar içinde yaşayabilmekte)</a:t>
            </a:r>
          </a:p>
          <a:p>
            <a:r>
              <a:rPr lang="tr-TR" sz="2600" b="1" dirty="0" smtClean="0"/>
              <a:t>Uzun süre hastanede yatma</a:t>
            </a:r>
          </a:p>
          <a:p>
            <a:r>
              <a:rPr lang="tr-TR" sz="2600" b="1" dirty="0" smtClean="0"/>
              <a:t>Yoğun bakım ünitesinde yatma</a:t>
            </a:r>
            <a:endParaRPr lang="tr-TR" sz="26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755576" y="476672"/>
            <a:ext cx="7776864" cy="5649491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   BU FAKTÖRLERİ AZALTMAK MÜMKÜN MÜ????????????</a:t>
            </a:r>
          </a:p>
          <a:p>
            <a:pPr lvl="1">
              <a:buNone/>
            </a:pPr>
            <a:endParaRPr lang="tr-TR" sz="3600" b="1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tr-TR" sz="3600" b="1" dirty="0" err="1" smtClean="0">
                <a:solidFill>
                  <a:srgbClr val="7030A0"/>
                </a:solidFill>
              </a:rPr>
              <a:t>Nozokomiyal</a:t>
            </a:r>
            <a:r>
              <a:rPr lang="tr-TR" sz="3600" b="1" dirty="0" smtClean="0">
                <a:solidFill>
                  <a:srgbClr val="7030A0"/>
                </a:solidFill>
              </a:rPr>
              <a:t> enfeksiyonların ortaya</a:t>
            </a:r>
          </a:p>
          <a:p>
            <a:pPr lvl="1">
              <a:buNone/>
            </a:pPr>
            <a:r>
              <a:rPr lang="tr-TR" sz="3600" b="1" dirty="0" smtClean="0">
                <a:solidFill>
                  <a:srgbClr val="7030A0"/>
                </a:solidFill>
              </a:rPr>
              <a:t>çıkışını arttıran bu risk faktörlerini</a:t>
            </a:r>
          </a:p>
          <a:p>
            <a:pPr lvl="1">
              <a:buNone/>
            </a:pPr>
            <a:r>
              <a:rPr lang="tr-TR" sz="3600" b="1" dirty="0" smtClean="0">
                <a:solidFill>
                  <a:srgbClr val="7030A0"/>
                </a:solidFill>
              </a:rPr>
              <a:t>kontrol altına alarak, </a:t>
            </a:r>
            <a:r>
              <a:rPr lang="tr-TR" sz="3200" b="1" dirty="0" smtClean="0">
                <a:solidFill>
                  <a:srgbClr val="7030A0"/>
                </a:solidFill>
              </a:rPr>
              <a:t>enfeksiyonların</a:t>
            </a:r>
          </a:p>
          <a:p>
            <a:pPr lvl="1">
              <a:buNone/>
            </a:pPr>
            <a:r>
              <a:rPr lang="tr-TR" sz="3600" b="1" dirty="0" smtClean="0">
                <a:solidFill>
                  <a:srgbClr val="7030A0"/>
                </a:solidFill>
              </a:rPr>
              <a:t>azaltılması mümkündür</a:t>
            </a:r>
            <a:endParaRPr lang="tr-TR" sz="3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ÜLKEMİZDE UYULMASI GEREKLİ YASAL DÜZENLEME VAR MI?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tr-TR" dirty="0" smtClean="0"/>
          </a:p>
          <a:p>
            <a:r>
              <a:rPr lang="tr-TR" sz="3400" b="1" dirty="0" smtClean="0"/>
              <a:t>Ülkemizde çeşitli merkezlerde, 1995 yılından beri </a:t>
            </a:r>
            <a:r>
              <a:rPr lang="tr-TR" sz="3400" b="1" dirty="0" err="1" smtClean="0"/>
              <a:t>National</a:t>
            </a:r>
            <a:r>
              <a:rPr lang="tr-TR" sz="3400" b="1" dirty="0" smtClean="0"/>
              <a:t> </a:t>
            </a:r>
            <a:r>
              <a:rPr lang="en-US" sz="3400" b="1" dirty="0" smtClean="0"/>
              <a:t>Prevalence of Resistant Strains (NPRS) </a:t>
            </a:r>
            <a:r>
              <a:rPr lang="en-US" sz="3400" b="1" dirty="0" err="1" smtClean="0"/>
              <a:t>araştırmaları</a:t>
            </a:r>
            <a:r>
              <a:rPr lang="tr-TR" sz="3400" b="1" dirty="0" smtClean="0"/>
              <a:t> çerçevesinde yoğun bakım birimlerinde enfeksiyon etkeni Gram negatif çomaklardaki antibiyotik direnci izlenmektedir</a:t>
            </a:r>
          </a:p>
          <a:p>
            <a:pPr>
              <a:buNone/>
            </a:pPr>
            <a:endParaRPr lang="tr-TR" sz="3400" b="1" dirty="0" smtClean="0"/>
          </a:p>
          <a:p>
            <a:r>
              <a:rPr lang="tr-TR" sz="3400" b="1" dirty="0" smtClean="0"/>
              <a:t>Sağlık Bakanlığı tarafından </a:t>
            </a:r>
            <a:r>
              <a:rPr lang="tr-TR" sz="3400" b="1" dirty="0" smtClean="0">
                <a:solidFill>
                  <a:srgbClr val="FF0000"/>
                </a:solidFill>
              </a:rPr>
              <a:t>2005 yılında </a:t>
            </a:r>
            <a:r>
              <a:rPr lang="tr-TR" sz="3400" b="1" dirty="0" smtClean="0"/>
              <a:t>Yataklı Tedavi Kurumları Enfeksiyon Kontrol Yönetmeliği yayınlanmıştır</a:t>
            </a:r>
          </a:p>
          <a:p>
            <a:pPr>
              <a:buNone/>
            </a:pPr>
            <a:endParaRPr lang="tr-TR" sz="3400" b="1" dirty="0" smtClean="0"/>
          </a:p>
          <a:p>
            <a:r>
              <a:rPr lang="tr-TR" sz="3400" b="1" dirty="0" smtClean="0"/>
              <a:t>Bu yönetmeliğe göre tüm yataklı tedavi kurumları</a:t>
            </a:r>
          </a:p>
          <a:p>
            <a:pPr>
              <a:buNone/>
            </a:pPr>
            <a:endParaRPr lang="tr-TR" sz="3400" b="1" dirty="0" smtClean="0"/>
          </a:p>
          <a:p>
            <a:r>
              <a:rPr lang="tr-TR" sz="3400" b="1" dirty="0" smtClean="0">
                <a:solidFill>
                  <a:srgbClr val="7030A0"/>
                </a:solidFill>
              </a:rPr>
              <a:t>Enfeksiyon Kontrol Komitesi oluşturup, önleyici programlar uygulamak zorundadır</a:t>
            </a:r>
            <a:endParaRPr lang="tr-TR" sz="3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HASTANE (NOZOKOMİYAL) ENFEKSİYONLARI İLE MÜCADELE NASIL YAPILIR?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smtClean="0"/>
              <a:t>Hastanede yatarak tedavi gören hastaların başarılı bir şekilde tedavisi ancak hastane enfeksiyonlarının önlenmesi ile mümkündür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Hastane enfeksiyonlarının önlenmesi bu konuda deneyimli bir ekibin olması ve buna maddi ve manevi güçlü bir hastane yönetimi desteği ile olabilmektedir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Hastane enfeksiyonlarının önlenmesinde en önemli birim hastane enfeksiyon komitesidir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Bu komitenin en önemli bireyi ve başkanı da enfeksiyon hastalıkları uzmanıdır</a:t>
            </a:r>
            <a:endParaRPr lang="tr-TR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NASIL ÖNLENİR?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</a:t>
            </a:r>
            <a:r>
              <a:rPr lang="tr-TR" sz="3800" b="1" dirty="0" smtClean="0">
                <a:solidFill>
                  <a:srgbClr val="7030A0"/>
                </a:solidFill>
              </a:rPr>
              <a:t>GENEL POLİTİKALAR</a:t>
            </a:r>
          </a:p>
          <a:p>
            <a:r>
              <a:rPr lang="tr-TR" b="1" dirty="0" smtClean="0"/>
              <a:t>El hijyeni</a:t>
            </a:r>
          </a:p>
          <a:p>
            <a:r>
              <a:rPr lang="tr-TR" b="1" dirty="0" smtClean="0"/>
              <a:t>İzolasyon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Mimari yapı</a:t>
            </a:r>
          </a:p>
          <a:p>
            <a:r>
              <a:rPr lang="tr-TR" b="1" dirty="0" smtClean="0"/>
              <a:t>Personel</a:t>
            </a:r>
          </a:p>
          <a:p>
            <a:r>
              <a:rPr lang="tr-TR" b="1" dirty="0" smtClean="0"/>
              <a:t>Çevre temizliği</a:t>
            </a:r>
          </a:p>
          <a:p>
            <a:r>
              <a:rPr lang="tr-TR" b="1" dirty="0" smtClean="0"/>
              <a:t>Sterilizasyon ve Dezenfeksiyon</a:t>
            </a:r>
          </a:p>
          <a:p>
            <a:r>
              <a:rPr lang="tr-TR" b="1" dirty="0" smtClean="0"/>
              <a:t>Enfeksiyon kontrol komiteleri</a:t>
            </a:r>
          </a:p>
          <a:p>
            <a:r>
              <a:rPr lang="tr-TR" b="1" dirty="0" smtClean="0"/>
              <a:t>Hastane enfeksiyonları kayıt ve takip programları</a:t>
            </a:r>
          </a:p>
          <a:p>
            <a:r>
              <a:rPr lang="it-IT" b="1" dirty="0" smtClean="0"/>
              <a:t>Hastane personeli eğitimi ve tedavi rehberleri</a:t>
            </a:r>
            <a:endParaRPr lang="tr-TR" b="1" dirty="0" smtClean="0"/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NASIL ÖNLENİR?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tr-TR" b="1" dirty="0" smtClean="0">
                <a:solidFill>
                  <a:srgbClr val="7030A0"/>
                </a:solidFill>
              </a:rPr>
              <a:t>			HASTAYA DAYALI POLİTİKALAR</a:t>
            </a:r>
          </a:p>
          <a:p>
            <a:r>
              <a:rPr lang="tr-TR" sz="2800" b="1" dirty="0" smtClean="0"/>
              <a:t>Hasta izolasyonu</a:t>
            </a:r>
          </a:p>
          <a:p>
            <a:r>
              <a:rPr lang="es-ES" sz="2800" b="1" dirty="0" smtClean="0"/>
              <a:t>Hasta ve hasta yakını eğitimi</a:t>
            </a:r>
            <a:endParaRPr lang="tr-TR" sz="2800" b="1" dirty="0" smtClean="0"/>
          </a:p>
          <a:p>
            <a:r>
              <a:rPr lang="tr-TR" sz="2800" b="1" dirty="0" err="1" smtClean="0"/>
              <a:t>Kolonizasyonun</a:t>
            </a:r>
            <a:r>
              <a:rPr lang="tr-TR" sz="2800" b="1" dirty="0" smtClean="0"/>
              <a:t> engellenmesi</a:t>
            </a:r>
          </a:p>
          <a:p>
            <a:r>
              <a:rPr lang="tr-TR" sz="2800" b="1" dirty="0" err="1" smtClean="0"/>
              <a:t>Kolonizasyondan</a:t>
            </a:r>
            <a:r>
              <a:rPr lang="tr-TR" sz="2800" b="1" dirty="0" smtClean="0"/>
              <a:t> enfeksiyona geçişin önlenmesi</a:t>
            </a:r>
          </a:p>
          <a:p>
            <a:r>
              <a:rPr lang="tr-TR" sz="2800" b="1" dirty="0" smtClean="0"/>
              <a:t>Enfeksiyona özgü önleme politikaları</a:t>
            </a:r>
          </a:p>
          <a:p>
            <a:endParaRPr lang="tr-TR" sz="2800" dirty="0" smtClean="0"/>
          </a:p>
          <a:p>
            <a:endParaRPr lang="tr-TR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EPİDEMİYOLOJİ NEDİR?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Toplumdaki hastalık, kaza ve sağlıkla ilgili durumların dağılımını, görülme sıklıklarını ve bunları etkileyen belirteçleri inceleyen tıp bilim dalıdır</a:t>
            </a:r>
          </a:p>
          <a:p>
            <a:pPr>
              <a:buNone/>
            </a:pPr>
            <a:r>
              <a:rPr lang="tr-TR" sz="2800" b="1" dirty="0" smtClean="0"/>
              <a:t>		</a:t>
            </a:r>
          </a:p>
          <a:p>
            <a:pPr>
              <a:buNone/>
            </a:pPr>
            <a:r>
              <a:rPr lang="tr-TR" sz="2800" b="1" dirty="0" smtClean="0"/>
              <a:t>		</a:t>
            </a:r>
            <a:r>
              <a:rPr lang="tr-TR" sz="2800" b="1" dirty="0" smtClean="0">
                <a:solidFill>
                  <a:srgbClr val="FF0000"/>
                </a:solidFill>
              </a:rPr>
              <a:t>İNSİDANS NEDİR?</a:t>
            </a:r>
          </a:p>
          <a:p>
            <a:r>
              <a:rPr lang="tr-TR" sz="2800" b="1" dirty="0" smtClean="0"/>
              <a:t>Belirli bir nüfusta, belirli bir zaman dilimi içerisinde, belirli bir hastalığın yeni olgularının sayısını ifade eder</a:t>
            </a:r>
            <a:endParaRPr lang="tr-TR" sz="28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0070C0"/>
                </a:solidFill>
              </a:rPr>
              <a:t>SÜRVEYANS NEDİR?</a:t>
            </a:r>
            <a:endParaRPr lang="tr-TR" dirty="0">
              <a:solidFill>
                <a:srgbClr val="0070C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400" b="1" dirty="0"/>
              <a:t>B</a:t>
            </a:r>
            <a:r>
              <a:rPr lang="tr-TR" sz="2400" b="1" dirty="0" smtClean="0"/>
              <a:t>elirli </a:t>
            </a:r>
            <a:r>
              <a:rPr lang="tr-TR" sz="2400" b="1" dirty="0"/>
              <a:t>bir amaca yönelik olarak veri toplanması, toplanan verilerin bir araya getirilerek yorumlanması ve sonuçların ilgililere bildirilmesinden oluşan dinamik bir </a:t>
            </a:r>
            <a:r>
              <a:rPr lang="tr-TR" sz="2400" b="1" dirty="0" smtClean="0"/>
              <a:t>süreçtir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BAŞKA BİR DEYİŞLE, SAĞLIK AÇISINDAN</a:t>
            </a:r>
            <a:endParaRPr lang="tr-TR" sz="2800" b="1" dirty="0">
              <a:solidFill>
                <a:srgbClr val="FF0000"/>
              </a:solidFill>
            </a:endParaRPr>
          </a:p>
          <a:p>
            <a:r>
              <a:rPr lang="tr-TR" sz="2400" b="1" dirty="0" smtClean="0"/>
              <a:t>Bulaşıcı hastalıklardan korunma ve bunların kontrolü için düzenli ve rutin olarak sürekli veri toplanması,verilerin analizi, yorumlanması ve bu bilgilerin ilgili birimlere dağıtılması işlemlerin tümüne</a:t>
            </a:r>
          </a:p>
          <a:p>
            <a:r>
              <a:rPr lang="tr-TR" sz="2400" b="1" dirty="0" smtClean="0">
                <a:solidFill>
                  <a:srgbClr val="FF0000"/>
                </a:solidFill>
              </a:rPr>
              <a:t>SÜRVEYANS</a:t>
            </a:r>
            <a:r>
              <a:rPr lang="tr-TR" sz="2400" b="1" dirty="0" smtClean="0"/>
              <a:t> denir</a:t>
            </a:r>
            <a:endParaRPr lang="tr-TR" sz="24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HASTANE İNFEKSİYONLARI İÇİN SÜRVEYANS ÇOK ÖNEMLİ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/>
              <a:t>İnfeksiyonların</a:t>
            </a:r>
            <a:r>
              <a:rPr lang="tr-TR" sz="2800" b="1" dirty="0" smtClean="0"/>
              <a:t> önlenebilmesi için doğal olarak, </a:t>
            </a:r>
            <a:r>
              <a:rPr lang="tr-TR" sz="2800" b="1" dirty="0" err="1" smtClean="0"/>
              <a:t>infeksiyona</a:t>
            </a:r>
            <a:r>
              <a:rPr lang="tr-TR" sz="2800" b="1" dirty="0" smtClean="0"/>
              <a:t> neden olan etkenlerin belirlenmesi ve bu etkenlerin </a:t>
            </a:r>
            <a:r>
              <a:rPr lang="tr-TR" sz="2800" b="1" dirty="0" err="1" smtClean="0"/>
              <a:t>antimikrobik</a:t>
            </a:r>
            <a:r>
              <a:rPr lang="tr-TR" sz="2800" b="1" dirty="0" smtClean="0"/>
              <a:t> maddelere direncinin saptanması ve direncin izlenmesi çok önemlidir</a:t>
            </a:r>
            <a:endParaRPr lang="tr-TR" sz="28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SÜRVEYANS NE SAĞLAR?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err="1" smtClean="0">
                <a:solidFill>
                  <a:srgbClr val="0070C0"/>
                </a:solidFill>
              </a:rPr>
              <a:t>Sürveyans</a:t>
            </a:r>
            <a:r>
              <a:rPr lang="tr-TR" b="1" dirty="0" smtClean="0">
                <a:solidFill>
                  <a:srgbClr val="0070C0"/>
                </a:solidFill>
              </a:rPr>
              <a:t> çalışmaları, hastane </a:t>
            </a:r>
            <a:r>
              <a:rPr lang="tr-TR" b="1" dirty="0" err="1" smtClean="0">
                <a:solidFill>
                  <a:srgbClr val="0070C0"/>
                </a:solidFill>
              </a:rPr>
              <a:t>infeksiyon</a:t>
            </a:r>
            <a:r>
              <a:rPr lang="tr-TR" b="1" dirty="0" smtClean="0">
                <a:solidFill>
                  <a:srgbClr val="0070C0"/>
                </a:solidFill>
              </a:rPr>
              <a:t> kontrol programlarının temelini oluşturur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>
                <a:solidFill>
                  <a:srgbClr val="00B050"/>
                </a:solidFill>
              </a:rPr>
              <a:t>Sürveyans</a:t>
            </a:r>
            <a:r>
              <a:rPr lang="tr-TR" b="1" dirty="0" smtClean="0">
                <a:solidFill>
                  <a:srgbClr val="00B050"/>
                </a:solidFill>
              </a:rPr>
              <a:t> kapsamında toplanan verilerle bazal hastane </a:t>
            </a:r>
            <a:r>
              <a:rPr lang="tr-TR" b="1" dirty="0" err="1" smtClean="0">
                <a:solidFill>
                  <a:srgbClr val="00B050"/>
                </a:solidFill>
              </a:rPr>
              <a:t>infeksiyonu</a:t>
            </a:r>
            <a:r>
              <a:rPr lang="tr-TR" b="1" dirty="0" smtClean="0">
                <a:solidFill>
                  <a:srgbClr val="00B050"/>
                </a:solidFill>
              </a:rPr>
              <a:t> hızlarının ve zaman içinde meydana gelen değişikliklerin saptanmasını sağlar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İnfeksiyon</a:t>
            </a:r>
            <a:r>
              <a:rPr lang="tr-TR" b="1" dirty="0" smtClean="0"/>
              <a:t> hızlarındaki anlamlı artışların fark edilmesi sağlanır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chemeClr val="accent6">
                    <a:lumMod val="50000"/>
                  </a:schemeClr>
                </a:solidFill>
              </a:rPr>
              <a:t>Kontrol önlemlerinin alınması ve bu önlemlerin etkinliğinin araştırılması mümkün olur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SÜRVEYANS İLE YAPILABİLECEKLER?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Sağlıkla ilgili öncelikler, alınması gerekli önlemler, sonuna yönelik amaçlar,stratejiler saptanabilir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Koruma ve kontrol önlemleri değerlendirilir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Daha ileri araştırma gereksinimi varsa öneriler getirilir</a:t>
            </a:r>
            <a:endParaRPr lang="tr-TR" sz="28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Adsız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60648"/>
            <a:ext cx="7920037" cy="63357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EL HİJYENİ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sz="2800" b="1" dirty="0" smtClean="0"/>
              <a:t>Hasta ile temas öncesi</a:t>
            </a:r>
          </a:p>
          <a:p>
            <a:r>
              <a:rPr lang="tr-TR" sz="2800" b="1" dirty="0" smtClean="0"/>
              <a:t>Aseptik işlem öncesi</a:t>
            </a:r>
          </a:p>
          <a:p>
            <a:r>
              <a:rPr lang="tr-TR" sz="2800" b="1" dirty="0" smtClean="0"/>
              <a:t>Vücut sıvıları ile temas edilmişse</a:t>
            </a:r>
          </a:p>
          <a:p>
            <a:r>
              <a:rPr lang="tr-TR" sz="2800" b="1" dirty="0" smtClean="0"/>
              <a:t>Hasta ile temas sonrası</a:t>
            </a:r>
          </a:p>
          <a:p>
            <a:r>
              <a:rPr lang="tr-TR" sz="2800" b="1" dirty="0" smtClean="0"/>
              <a:t>Hastanın çevresinde bulunan eşyalar ile temas sonrası</a:t>
            </a:r>
          </a:p>
          <a:p>
            <a:endParaRPr lang="tr-TR" sz="28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568952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7920880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60648"/>
            <a:ext cx="7632848" cy="6190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548680"/>
            <a:ext cx="7753350" cy="582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695325"/>
            <a:ext cx="66484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8743701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3" y="590550"/>
            <a:ext cx="7686675" cy="567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1155</Words>
  <Application>Microsoft Office PowerPoint</Application>
  <PresentationFormat>Ekran Gösterisi (4:3)</PresentationFormat>
  <Paragraphs>232</Paragraphs>
  <Slides>50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50</vt:i4>
      </vt:variant>
    </vt:vector>
  </HeadingPairs>
  <TitlesOfParts>
    <vt:vector size="51" baseType="lpstr">
      <vt:lpstr>Ofis Teması</vt:lpstr>
      <vt:lpstr>HASTANE ENFEKSİYONLARI</vt:lpstr>
      <vt:lpstr>Slayt 2</vt:lpstr>
      <vt:lpstr>Slayt 3</vt:lpstr>
      <vt:lpstr>Slayt 4</vt:lpstr>
      <vt:lpstr>Slayt 5</vt:lpstr>
      <vt:lpstr> HASTANE (NOZOKOMİYAL) ENFEKSİYONU NEDİR? </vt:lpstr>
      <vt:lpstr>HASTANE (NOZOKOMİYAL) ENFEKSİYONLARI NEDİR?</vt:lpstr>
      <vt:lpstr>HASTANE (NOZOKOMİYAL) ENFEKSİYONLARI</vt:lpstr>
      <vt:lpstr>HASTANE (NOZOKOMİYAL) ENFEKSİYONLARIN YOL AÇTIĞI SORUNLAR NELERDİR?</vt:lpstr>
      <vt:lpstr>HASTANE (NOZOKOMİYAL) ENFEKSİYONLARIN YOL AÇTIĞI SORUNLAR NELERDİR?</vt:lpstr>
      <vt:lpstr>HASTANE (NOZOKOMİYAL) ENFEKSİYONLARI  HASTANEDE HANGİ SEBEPLERLE BULUNAN KİMSELERDE GÖRÜLÜR?</vt:lpstr>
      <vt:lpstr>HANGİ ŞARTLARDA  HASTANE (NOZOKOMİYAL) ENFEKSİYONLARI DİYEBİLİRİZ?</vt:lpstr>
      <vt:lpstr>AŞAĞIDAKİ DURUMLAR HASTANE ENFEKSİYONU OLARAK DEĞERLENDİRİLMEZ</vt:lpstr>
      <vt:lpstr>HASTANE ENFEKSİYONLARI</vt:lpstr>
      <vt:lpstr>Slayt 15</vt:lpstr>
      <vt:lpstr> HASTANE ENFEKSİYONLARI NASIL GELİŞİR? </vt:lpstr>
      <vt:lpstr>ÇAPRAZ KONTAMİNASYON NEDİR?</vt:lpstr>
      <vt:lpstr>Slayt 18</vt:lpstr>
      <vt:lpstr>ETKEN OLAN EN  ÖNEMLİ MİKROORGANİZMALAR HANGİSİ?</vt:lpstr>
      <vt:lpstr>Slayt 20</vt:lpstr>
      <vt:lpstr>BU MİKROORGANİZMALARIN ÇOĞU</vt:lpstr>
      <vt:lpstr>BU MİKROORGANİZMALARDAN HASTAYI KURTARMAK İÇİN</vt:lpstr>
      <vt:lpstr>HASTANE (NOZOKOMİYAL) ENFEKSİYONLARI  ÖLÜM NEDENLERİ ARASINDA DÖRDÜNCÜ SIRADA YER ALIR</vt:lpstr>
      <vt:lpstr>HASTANE (NOZOKOMİYAL) ENFEKSİYONLARI  DÜNYADA NASIL</vt:lpstr>
      <vt:lpstr>ÜLKEMİZDE</vt:lpstr>
      <vt:lpstr>GELİŞMEKTE OLAN ÜLKELERDE DİRENÇLİ PATOJENLERLE OLUŞAN BU ENFEKSİYONLARIN DAHA SIK GÖRÜLMESİNİN NEDENLERİ NELERDİR?</vt:lpstr>
      <vt:lpstr>GELİŞMEKTE OLAN ÜLKELERDE DİRENÇLİ PATOJENLERLE OLUŞAN BU ENFEKSİYONLARIN DAHA SIK GÖRÜLMESİNİN NEDENLERİ NELERDİR?</vt:lpstr>
      <vt:lpstr> 8-HASTANEYE YATIRILAN HASTALARA TANI AMACIYLA UYGULANAN </vt:lpstr>
      <vt:lpstr>Slayt 29</vt:lpstr>
      <vt:lpstr>NOZOKOMİYAL ENFEKSİYON RİSK FAKTÖRLERİ NELERDİR?</vt:lpstr>
      <vt:lpstr>NOZOKOMİYAL ENFEKSİYON RİSK FAKTÖRLERİ NELERDİR?</vt:lpstr>
      <vt:lpstr>Slayt 32</vt:lpstr>
      <vt:lpstr>ÜLKEMİZDE UYULMASI GEREKLİ YASAL DÜZENLEME VAR MI?</vt:lpstr>
      <vt:lpstr>HASTANE (NOZOKOMİYAL) ENFEKSİYONLARI İLE MÜCADELE NASIL YAPILIR?</vt:lpstr>
      <vt:lpstr>NASIL ÖNLENİR?</vt:lpstr>
      <vt:lpstr>NASIL ÖNLENİR?</vt:lpstr>
      <vt:lpstr>EPİDEMİYOLOJİ NEDİR?</vt:lpstr>
      <vt:lpstr>SÜRVEYANS NEDİR?</vt:lpstr>
      <vt:lpstr>HASTANE İNFEKSİYONLARI İÇİN SÜRVEYANS ÇOK ÖNEMLİ</vt:lpstr>
      <vt:lpstr>SÜRVEYANS NE SAĞLAR?</vt:lpstr>
      <vt:lpstr>SÜRVEYANS İLE YAPILABİLECEKLER?</vt:lpstr>
      <vt:lpstr>Slayt 42</vt:lpstr>
      <vt:lpstr>EL HİJYENİ</vt:lpstr>
      <vt:lpstr>Slayt 44</vt:lpstr>
      <vt:lpstr>Slayt 45</vt:lpstr>
      <vt:lpstr>Slayt 46</vt:lpstr>
      <vt:lpstr>Slayt 47</vt:lpstr>
      <vt:lpstr>Slayt 48</vt:lpstr>
      <vt:lpstr>Slayt 49</vt:lpstr>
      <vt:lpstr>Slayt 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HASTANE ENFEKSİYONLARI</dc:title>
  <dc:creator>user</dc:creator>
  <cp:lastModifiedBy>tijen</cp:lastModifiedBy>
  <cp:revision>115</cp:revision>
  <dcterms:created xsi:type="dcterms:W3CDTF">2021-03-01T14:51:03Z</dcterms:created>
  <dcterms:modified xsi:type="dcterms:W3CDTF">2025-09-19T12:39:48Z</dcterms:modified>
</cp:coreProperties>
</file>