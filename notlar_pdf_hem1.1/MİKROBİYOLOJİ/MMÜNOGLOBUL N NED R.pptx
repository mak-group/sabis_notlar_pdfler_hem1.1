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E369-BA82-4190-ABF3-2C63AD075561}" type="datetimeFigureOut">
              <a:rPr lang="tr-TR" smtClean="0"/>
              <a:pPr/>
              <a:t>18.09.2026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EE3F9-07DD-415C-A59C-D33FEC72F40F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5300" b="1" dirty="0" smtClean="0">
                <a:solidFill>
                  <a:srgbClr val="FF0000"/>
                </a:solidFill>
              </a:rPr>
              <a:t>İMMÜNOGLOBULİN NEDİR?</a:t>
            </a:r>
            <a:br>
              <a:rPr lang="tr-TR" sz="5300" b="1" dirty="0" smtClean="0">
                <a:solidFill>
                  <a:srgbClr val="FF0000"/>
                </a:solidFill>
              </a:rPr>
            </a:br>
            <a:endParaRPr lang="tr-TR" sz="53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İMMÜNOGLOBULİN NEDİR?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err="1"/>
              <a:t>İmmünoglobulinler</a:t>
            </a:r>
            <a:r>
              <a:rPr lang="tr-TR" b="1" dirty="0"/>
              <a:t> (</a:t>
            </a:r>
            <a:r>
              <a:rPr lang="tr-TR" b="1" dirty="0" err="1"/>
              <a:t>Ig</a:t>
            </a:r>
            <a:r>
              <a:rPr lang="tr-TR" b="1" dirty="0"/>
              <a:t>), bağışıklık sistemimiz tarafından üretilen özel proteinlerdir. </a:t>
            </a:r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Halk </a:t>
            </a:r>
            <a:r>
              <a:rPr lang="tr-TR" b="1" dirty="0">
                <a:solidFill>
                  <a:srgbClr val="FF0000"/>
                </a:solidFill>
              </a:rPr>
              <a:t>arasında "antikor" olarak da bilinirler</a:t>
            </a:r>
            <a:r>
              <a:rPr lang="tr-TR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tr-TR" b="1" dirty="0" smtClean="0"/>
              <a:t>Vücudumuz</a:t>
            </a:r>
            <a:r>
              <a:rPr lang="tr-TR" b="1" dirty="0"/>
              <a:t>, mikroorganizmalara karşı savunma geliştirmek için bu antikorları üretir</a:t>
            </a:r>
            <a:r>
              <a:rPr lang="tr-TR" b="1" dirty="0" smtClean="0"/>
              <a:t>.</a:t>
            </a:r>
          </a:p>
          <a:p>
            <a:r>
              <a:rPr lang="tr-TR" b="1" dirty="0" smtClean="0"/>
              <a:t>Her </a:t>
            </a:r>
            <a:r>
              <a:rPr lang="tr-TR" b="1" dirty="0" err="1"/>
              <a:t>immünoglobulin</a:t>
            </a:r>
            <a:r>
              <a:rPr lang="tr-TR" b="1" dirty="0"/>
              <a:t>, özgün bir hedefe yani antijene bağlanacak şekilde programlanmıştır</a:t>
            </a:r>
            <a:r>
              <a:rPr lang="tr-TR" b="1" dirty="0" smtClean="0"/>
              <a:t>.</a:t>
            </a:r>
          </a:p>
          <a:p>
            <a:r>
              <a:rPr lang="tr-TR" b="1" dirty="0" smtClean="0"/>
              <a:t>Bu </a:t>
            </a:r>
            <a:r>
              <a:rPr lang="tr-TR" b="1" dirty="0"/>
              <a:t>sayede bakteri, virüs veya toksin gibi yabancı maddeleri etkisiz hale getirirler.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İMMÜNOGLOBULİNLERİN ÇEŞİTLERİ NELERDİR?</a:t>
            </a: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tr-TR" b="1" dirty="0" err="1" smtClean="0">
                <a:solidFill>
                  <a:srgbClr val="FF0000"/>
                </a:solidFill>
              </a:rPr>
              <a:t>IgM</a:t>
            </a:r>
            <a:r>
              <a:rPr lang="tr-TR" b="1" dirty="0" smtClean="0">
                <a:solidFill>
                  <a:srgbClr val="FF0000"/>
                </a:solidFill>
              </a:rPr>
              <a:t>: </a:t>
            </a:r>
            <a:r>
              <a:rPr lang="tr-TR" b="1" dirty="0" smtClean="0"/>
              <a:t>İlk ortaya çıkan antikorlardır. Akut enfeksiyonlarda hızlı yanıt verir.</a:t>
            </a:r>
            <a:endParaRPr lang="tr-TR" b="1" dirty="0" smtClean="0">
              <a:solidFill>
                <a:srgbClr val="FF0000"/>
              </a:solidFill>
            </a:endParaRPr>
          </a:p>
          <a:p>
            <a:pPr fontAlgn="base"/>
            <a:r>
              <a:rPr lang="tr-TR" b="1" dirty="0" err="1" smtClean="0">
                <a:solidFill>
                  <a:srgbClr val="FF0000"/>
                </a:solidFill>
              </a:rPr>
              <a:t>IgG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b="1" dirty="0"/>
              <a:t>En yaygın </a:t>
            </a:r>
            <a:r>
              <a:rPr lang="tr-TR" b="1" dirty="0" err="1"/>
              <a:t>immünoglobulindir</a:t>
            </a:r>
            <a:r>
              <a:rPr lang="tr-TR" b="1" dirty="0"/>
              <a:t>. Enfeksiyonlara karşı uzun süreli bağışıklık sağlar ve plasenta yoluyla anneden bebeğe geçerek doğumsal bağışıklık kazandırır.</a:t>
            </a:r>
          </a:p>
          <a:p>
            <a:pPr fontAlgn="base"/>
            <a:r>
              <a:rPr lang="tr-TR" b="1" dirty="0" err="1">
                <a:solidFill>
                  <a:srgbClr val="FF0000"/>
                </a:solidFill>
              </a:rPr>
              <a:t>IgA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b="1" dirty="0"/>
              <a:t>Tükürük, gözyaşı, anne sütü ve mukus gibi vücut sıvılarında bulunur. Solunum ve sindirim yollarında ilk savunmayı sağlar.</a:t>
            </a:r>
          </a:p>
          <a:p>
            <a:pPr fontAlgn="base"/>
            <a:r>
              <a:rPr lang="tr-TR" b="1" dirty="0" err="1" smtClean="0">
                <a:solidFill>
                  <a:srgbClr val="FF0000"/>
                </a:solidFill>
              </a:rPr>
              <a:t>IgE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b="1" dirty="0"/>
              <a:t>Alerjik reaksiyonlarda ve parazit enfeksiyonlarında görev alır. Aşırı duyarlılık yanıtlarının temel aktörüdür.</a:t>
            </a:r>
          </a:p>
          <a:p>
            <a:pPr fontAlgn="base"/>
            <a:r>
              <a:rPr lang="tr-TR" b="1" dirty="0" err="1">
                <a:solidFill>
                  <a:srgbClr val="FF0000"/>
                </a:solidFill>
              </a:rPr>
              <a:t>IgD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b="1" dirty="0"/>
              <a:t>B-lenfositlerin yüzeyinde bulunur ve bağışıklık yanıtlarının düzenlenmesinde rol oynar, ancak tam işlevi henüz net olarak anlaşılmamıştır</a:t>
            </a:r>
            <a:r>
              <a:rPr lang="tr-TR" b="1" dirty="0" smtClean="0"/>
              <a:t>.</a:t>
            </a:r>
            <a:endParaRPr lang="tr-TR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İMMÜNOGLOBULİNLERİN GÖREVLERİ NELERDİR?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ctr" fontAlgn="base"/>
            <a:r>
              <a:rPr lang="tr-TR" sz="11200" b="1" dirty="0" err="1">
                <a:solidFill>
                  <a:srgbClr val="FF0000"/>
                </a:solidFill>
              </a:rPr>
              <a:t>İmmünoglobulinler</a:t>
            </a:r>
            <a:r>
              <a:rPr lang="tr-TR" sz="11200" b="1" dirty="0">
                <a:solidFill>
                  <a:srgbClr val="FF0000"/>
                </a:solidFill>
              </a:rPr>
              <a:t>, vücudu savunmada çok yönlü görevler </a:t>
            </a:r>
            <a:r>
              <a:rPr lang="tr-TR" sz="11200" b="1" dirty="0" smtClean="0">
                <a:solidFill>
                  <a:srgbClr val="FF0000"/>
                </a:solidFill>
              </a:rPr>
              <a:t>üstlenir</a:t>
            </a:r>
            <a:endParaRPr lang="tr-TR" sz="11200" b="1" dirty="0">
              <a:solidFill>
                <a:srgbClr val="FF0000"/>
              </a:solidFill>
            </a:endParaRPr>
          </a:p>
          <a:p>
            <a:pPr fontAlgn="base"/>
            <a:r>
              <a:rPr lang="tr-TR" sz="10000" b="1" dirty="0"/>
              <a:t>Mikroorganizmaların tanınması ve etkisiz hale getirilmesi</a:t>
            </a:r>
          </a:p>
          <a:p>
            <a:pPr fontAlgn="base"/>
            <a:r>
              <a:rPr lang="tr-TR" sz="10000" b="1" dirty="0"/>
              <a:t>Antijenleri bağlayarak fagositoz (yutma) yoluyla yok edilmeleri</a:t>
            </a:r>
          </a:p>
          <a:p>
            <a:pPr fontAlgn="base"/>
            <a:r>
              <a:rPr lang="tr-TR" sz="10000" b="1" dirty="0" err="1"/>
              <a:t>Enfekte</a:t>
            </a:r>
            <a:r>
              <a:rPr lang="tr-TR" sz="10000" b="1" dirty="0"/>
              <a:t> hücrelerin işaretlenmesi ve yok edilmesi</a:t>
            </a:r>
          </a:p>
          <a:p>
            <a:pPr fontAlgn="base"/>
            <a:r>
              <a:rPr lang="tr-TR" sz="10000" b="1" dirty="0"/>
              <a:t>Alerjik reaksiyonların tetiklenmesi (özellikle </a:t>
            </a:r>
            <a:r>
              <a:rPr lang="tr-TR" sz="10000" b="1" dirty="0" err="1"/>
              <a:t>IgE</a:t>
            </a:r>
            <a:r>
              <a:rPr lang="tr-TR" sz="10000" b="1" dirty="0"/>
              <a:t> ile)</a:t>
            </a:r>
          </a:p>
          <a:p>
            <a:pPr fontAlgn="base"/>
            <a:r>
              <a:rPr lang="tr-TR" sz="10000" b="1" dirty="0" err="1"/>
              <a:t>Yenidoğanlara</a:t>
            </a:r>
            <a:r>
              <a:rPr lang="tr-TR" sz="10000" b="1" dirty="0"/>
              <a:t> pasif bağışıklık kazandırılması (</a:t>
            </a:r>
            <a:r>
              <a:rPr lang="tr-TR" sz="10000" b="1" dirty="0" err="1"/>
              <a:t>IgG</a:t>
            </a:r>
            <a:r>
              <a:rPr lang="tr-TR" sz="10000" b="1" dirty="0"/>
              <a:t> ve </a:t>
            </a:r>
            <a:r>
              <a:rPr lang="tr-TR" sz="10000" b="1" dirty="0" err="1"/>
              <a:t>IgA</a:t>
            </a:r>
            <a:r>
              <a:rPr lang="tr-TR" sz="10000" b="1" dirty="0"/>
              <a:t> aracılığıyla)</a:t>
            </a:r>
          </a:p>
          <a:p>
            <a:pPr fontAlgn="base"/>
            <a:r>
              <a:rPr lang="tr-TR" sz="10000" b="1" dirty="0"/>
              <a:t>Her bir </a:t>
            </a:r>
            <a:r>
              <a:rPr lang="tr-TR" sz="10000" b="1" dirty="0" err="1"/>
              <a:t>immünoglobulin</a:t>
            </a:r>
            <a:r>
              <a:rPr lang="tr-TR" sz="10000" b="1" dirty="0"/>
              <a:t> sınıfı, bağışıklık sisteminin farklı safhalarında ve farklı dokularda etkili olur. </a:t>
            </a:r>
            <a:endParaRPr lang="tr-TR" sz="10000" b="1" dirty="0" smtClean="0"/>
          </a:p>
          <a:p>
            <a:pPr fontAlgn="base"/>
            <a:r>
              <a:rPr lang="tr-TR" sz="10000" b="1" dirty="0" smtClean="0"/>
              <a:t>Bu </a:t>
            </a:r>
            <a:r>
              <a:rPr lang="tr-TR" sz="10000" b="1" dirty="0"/>
              <a:t>da onları hastalıkların tanı ve tedavisinde önemli hale getirir</a:t>
            </a:r>
            <a:r>
              <a:rPr lang="tr-TR" sz="10000" b="1" dirty="0" smtClean="0"/>
              <a:t>.</a:t>
            </a:r>
            <a:endParaRPr lang="tr-TR" sz="10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000" b="1" dirty="0" smtClean="0">
                <a:solidFill>
                  <a:srgbClr val="FF0000"/>
                </a:solidFill>
              </a:rPr>
              <a:t>İMMÜNOGLOBULİN TESTLERİ NELERDİR, NE İŞE YARAR?</a:t>
            </a: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400" b="1" dirty="0" err="1" smtClean="0"/>
              <a:t>İmmünoglobulin</a:t>
            </a:r>
            <a:r>
              <a:rPr lang="tr-TR" sz="2400" b="1" dirty="0" smtClean="0"/>
              <a:t> </a:t>
            </a:r>
            <a:r>
              <a:rPr lang="tr-TR" sz="2400" b="1" dirty="0"/>
              <a:t>testleri, kanda bulunan </a:t>
            </a:r>
            <a:r>
              <a:rPr lang="tr-TR" sz="2400" b="1" dirty="0" err="1"/>
              <a:t>IgA</a:t>
            </a:r>
            <a:r>
              <a:rPr lang="tr-TR" sz="2400" b="1" dirty="0"/>
              <a:t>, </a:t>
            </a:r>
            <a:r>
              <a:rPr lang="tr-TR" sz="2400" b="1" dirty="0" err="1"/>
              <a:t>IgG</a:t>
            </a:r>
            <a:r>
              <a:rPr lang="tr-TR" sz="2400" b="1" dirty="0"/>
              <a:t>, </a:t>
            </a:r>
            <a:r>
              <a:rPr lang="tr-TR" sz="2400" b="1" dirty="0" err="1"/>
              <a:t>IgM</a:t>
            </a:r>
            <a:r>
              <a:rPr lang="tr-TR" sz="2400" b="1" dirty="0"/>
              <a:t> (ve bazı durumlarda </a:t>
            </a:r>
            <a:r>
              <a:rPr lang="tr-TR" sz="2400" b="1" dirty="0" err="1"/>
              <a:t>IgE</a:t>
            </a:r>
            <a:r>
              <a:rPr lang="tr-TR" sz="2400" b="1" dirty="0"/>
              <a:t> ve </a:t>
            </a:r>
            <a:r>
              <a:rPr lang="tr-TR" sz="2400" b="1" dirty="0" err="1"/>
              <a:t>IgD</a:t>
            </a:r>
            <a:r>
              <a:rPr lang="tr-TR" sz="2400" b="1" dirty="0"/>
              <a:t>) düzeylerini ölçen kan testleridir. </a:t>
            </a:r>
            <a:endParaRPr lang="tr-TR" sz="2400" b="1" dirty="0" smtClean="0"/>
          </a:p>
          <a:p>
            <a:r>
              <a:rPr lang="tr-TR" sz="2400" b="1" dirty="0" smtClean="0"/>
              <a:t>Bu </a:t>
            </a:r>
            <a:r>
              <a:rPr lang="tr-TR" sz="2400" b="1" dirty="0"/>
              <a:t>testler, aşağıdaki durumların tanısında ve takibinde </a:t>
            </a:r>
            <a:r>
              <a:rPr lang="tr-TR" sz="2400" b="1" dirty="0" smtClean="0"/>
              <a:t>kullanılır</a:t>
            </a:r>
          </a:p>
          <a:p>
            <a:pPr fontAlgn="base"/>
            <a:r>
              <a:rPr lang="tr-TR" sz="2400" b="1" dirty="0"/>
              <a:t>Bağışıklık sistemi yetmezlikleri</a:t>
            </a:r>
            <a:r>
              <a:rPr lang="tr-TR" sz="2400" dirty="0"/>
              <a:t> </a:t>
            </a:r>
            <a:r>
              <a:rPr lang="tr-TR" sz="2400" b="1" dirty="0">
                <a:solidFill>
                  <a:srgbClr val="7030A0"/>
                </a:solidFill>
              </a:rPr>
              <a:t>(örneğin </a:t>
            </a:r>
            <a:r>
              <a:rPr lang="tr-TR" sz="2400" b="1" dirty="0" err="1">
                <a:solidFill>
                  <a:srgbClr val="7030A0"/>
                </a:solidFill>
              </a:rPr>
              <a:t>primer</a:t>
            </a:r>
            <a:r>
              <a:rPr lang="tr-TR" sz="2400" b="1" dirty="0">
                <a:solidFill>
                  <a:srgbClr val="7030A0"/>
                </a:solidFill>
              </a:rPr>
              <a:t> </a:t>
            </a:r>
            <a:r>
              <a:rPr lang="tr-TR" sz="2400" b="1" dirty="0" err="1">
                <a:solidFill>
                  <a:srgbClr val="7030A0"/>
                </a:solidFill>
              </a:rPr>
              <a:t>immün</a:t>
            </a:r>
            <a:r>
              <a:rPr lang="tr-TR" sz="2400" b="1" dirty="0">
                <a:solidFill>
                  <a:srgbClr val="7030A0"/>
                </a:solidFill>
              </a:rPr>
              <a:t> yetmezlik)</a:t>
            </a:r>
          </a:p>
          <a:p>
            <a:pPr fontAlgn="base"/>
            <a:r>
              <a:rPr lang="tr-TR" sz="2400" b="1" dirty="0"/>
              <a:t>Kronik enfeksiyonlar</a:t>
            </a:r>
            <a:endParaRPr lang="tr-TR" sz="2400" dirty="0"/>
          </a:p>
          <a:p>
            <a:pPr fontAlgn="base"/>
            <a:r>
              <a:rPr lang="tr-TR" sz="2400" b="1" dirty="0" err="1"/>
              <a:t>Otoimmün</a:t>
            </a:r>
            <a:r>
              <a:rPr lang="tr-TR" sz="2400" b="1" dirty="0"/>
              <a:t> hastalıklar</a:t>
            </a:r>
            <a:r>
              <a:rPr lang="tr-TR" sz="2400" dirty="0"/>
              <a:t> </a:t>
            </a:r>
            <a:r>
              <a:rPr lang="tr-TR" sz="2400" b="1" dirty="0">
                <a:solidFill>
                  <a:srgbClr val="7030A0"/>
                </a:solidFill>
              </a:rPr>
              <a:t>(</a:t>
            </a:r>
            <a:r>
              <a:rPr lang="tr-TR" sz="2400" b="1" dirty="0" err="1">
                <a:solidFill>
                  <a:srgbClr val="7030A0"/>
                </a:solidFill>
              </a:rPr>
              <a:t>romatoid</a:t>
            </a:r>
            <a:r>
              <a:rPr lang="tr-TR" sz="2400" b="1" dirty="0">
                <a:solidFill>
                  <a:srgbClr val="7030A0"/>
                </a:solidFill>
              </a:rPr>
              <a:t> </a:t>
            </a:r>
            <a:r>
              <a:rPr lang="tr-TR" sz="2400" b="1" dirty="0" err="1">
                <a:solidFill>
                  <a:srgbClr val="7030A0"/>
                </a:solidFill>
              </a:rPr>
              <a:t>artrit</a:t>
            </a:r>
            <a:r>
              <a:rPr lang="tr-TR" sz="2400" b="1" dirty="0">
                <a:solidFill>
                  <a:srgbClr val="7030A0"/>
                </a:solidFill>
              </a:rPr>
              <a:t>, </a:t>
            </a:r>
            <a:r>
              <a:rPr lang="tr-TR" sz="2400" b="1" dirty="0" err="1">
                <a:solidFill>
                  <a:srgbClr val="7030A0"/>
                </a:solidFill>
              </a:rPr>
              <a:t>lupus</a:t>
            </a:r>
            <a:r>
              <a:rPr lang="tr-TR" sz="2400" b="1" dirty="0">
                <a:solidFill>
                  <a:srgbClr val="7030A0"/>
                </a:solidFill>
              </a:rPr>
              <a:t> gibi)</a:t>
            </a:r>
          </a:p>
          <a:p>
            <a:pPr fontAlgn="base"/>
            <a:r>
              <a:rPr lang="tr-TR" sz="2400" b="1" dirty="0"/>
              <a:t>Alerjik hastalıklar</a:t>
            </a:r>
            <a:endParaRPr lang="tr-TR" sz="2400" dirty="0"/>
          </a:p>
          <a:p>
            <a:pPr fontAlgn="base"/>
            <a:r>
              <a:rPr lang="tr-TR" sz="2400" b="1" dirty="0"/>
              <a:t>Bazı kanser türleri</a:t>
            </a:r>
            <a:r>
              <a:rPr lang="tr-TR" sz="2400" dirty="0"/>
              <a:t> </a:t>
            </a:r>
            <a:r>
              <a:rPr lang="tr-TR" sz="2400" b="1" dirty="0">
                <a:solidFill>
                  <a:srgbClr val="7030A0"/>
                </a:solidFill>
              </a:rPr>
              <a:t>(örneğin </a:t>
            </a:r>
            <a:r>
              <a:rPr lang="tr-TR" sz="2400" b="1" dirty="0" err="1">
                <a:solidFill>
                  <a:srgbClr val="7030A0"/>
                </a:solidFill>
              </a:rPr>
              <a:t>multipl</a:t>
            </a:r>
            <a:r>
              <a:rPr lang="tr-TR" sz="2400" b="1" dirty="0">
                <a:solidFill>
                  <a:srgbClr val="7030A0"/>
                </a:solidFill>
              </a:rPr>
              <a:t> </a:t>
            </a:r>
            <a:r>
              <a:rPr lang="tr-TR" sz="2400" b="1" dirty="0" err="1">
                <a:solidFill>
                  <a:srgbClr val="7030A0"/>
                </a:solidFill>
              </a:rPr>
              <a:t>miyelom</a:t>
            </a:r>
            <a:r>
              <a:rPr lang="tr-TR" sz="2400" b="1" dirty="0">
                <a:solidFill>
                  <a:srgbClr val="7030A0"/>
                </a:solidFill>
              </a:rPr>
              <a:t>)</a:t>
            </a:r>
          </a:p>
          <a:p>
            <a:pPr>
              <a:buNone/>
            </a:pPr>
            <a:endParaRPr lang="tr-TR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TEST SONUÇLARI NASIL YORUMLANIR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Test sonuçları, </a:t>
            </a:r>
            <a:r>
              <a:rPr lang="tr-TR" b="1" dirty="0" err="1" smtClean="0"/>
              <a:t>immün</a:t>
            </a:r>
            <a:r>
              <a:rPr lang="tr-TR" b="1" dirty="0" smtClean="0"/>
              <a:t> sistemin yeterince çalışıp çalışmadığını, aşırı ya da eksik tepki verip vermediğini anlamada önemli ipuçları sunar.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568952" cy="6336704"/>
          </a:xfrm>
        </p:spPr>
        <p:txBody>
          <a:bodyPr>
            <a:noAutofit/>
          </a:bodyPr>
          <a:lstStyle/>
          <a:p>
            <a:pPr fontAlgn="base"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</a:t>
            </a:r>
            <a:r>
              <a:rPr lang="tr-TR" sz="3600" b="1" dirty="0" smtClean="0">
                <a:solidFill>
                  <a:srgbClr val="FF0000"/>
                </a:solidFill>
              </a:rPr>
              <a:t>İMMÜNOGLOBULİN TEDAVİSİ NEDİR?</a:t>
            </a:r>
            <a:endParaRPr lang="tr-TR" sz="2400" b="1" dirty="0"/>
          </a:p>
          <a:p>
            <a:pPr fontAlgn="base"/>
            <a:r>
              <a:rPr lang="tr-TR" sz="2400" b="1" dirty="0" err="1" smtClean="0"/>
              <a:t>İmmünoglobulin</a:t>
            </a:r>
            <a:r>
              <a:rPr lang="tr-TR" sz="2400" b="1" dirty="0" smtClean="0"/>
              <a:t> </a:t>
            </a:r>
            <a:r>
              <a:rPr lang="tr-TR" sz="2400" b="1" dirty="0"/>
              <a:t>tedavisi </a:t>
            </a:r>
            <a:r>
              <a:rPr lang="tr-TR" sz="2400" b="1" dirty="0">
                <a:solidFill>
                  <a:srgbClr val="FF0000"/>
                </a:solidFill>
              </a:rPr>
              <a:t>(IVIG – </a:t>
            </a:r>
            <a:r>
              <a:rPr lang="tr-TR" sz="2400" b="1" dirty="0" err="1">
                <a:solidFill>
                  <a:srgbClr val="FF0000"/>
                </a:solidFill>
              </a:rPr>
              <a:t>intravenöz</a:t>
            </a:r>
            <a:r>
              <a:rPr lang="tr-TR" sz="2400" b="1" dirty="0">
                <a:solidFill>
                  <a:srgbClr val="FF0000"/>
                </a:solidFill>
              </a:rPr>
              <a:t> </a:t>
            </a:r>
            <a:r>
              <a:rPr lang="tr-TR" sz="2400" b="1" dirty="0" err="1">
                <a:solidFill>
                  <a:srgbClr val="FF0000"/>
                </a:solidFill>
              </a:rPr>
              <a:t>immünoglobulin</a:t>
            </a:r>
            <a:r>
              <a:rPr lang="tr-TR" sz="2400" b="1" dirty="0" smtClean="0">
                <a:solidFill>
                  <a:srgbClr val="FF0000"/>
                </a:solidFill>
              </a:rPr>
              <a:t>)</a:t>
            </a:r>
            <a:r>
              <a:rPr lang="tr-TR" sz="2400" b="1" dirty="0" smtClean="0"/>
              <a:t> </a:t>
            </a:r>
            <a:r>
              <a:rPr lang="tr-TR" sz="2400" b="1" dirty="0"/>
              <a:t>bağışıklık sistemi yetersiz olan kişilere damar yoluyla </a:t>
            </a:r>
            <a:r>
              <a:rPr lang="tr-TR" sz="2400" b="1" dirty="0" err="1"/>
              <a:t>immünoglobulin</a:t>
            </a:r>
            <a:r>
              <a:rPr lang="tr-TR" sz="2400" b="1" dirty="0"/>
              <a:t> verilmesidir. </a:t>
            </a:r>
            <a:endParaRPr lang="tr-TR" sz="2400" b="1" dirty="0" smtClean="0"/>
          </a:p>
          <a:p>
            <a:pPr fontAlgn="base"/>
            <a:r>
              <a:rPr lang="tr-TR" sz="2400" b="1" dirty="0" smtClean="0">
                <a:solidFill>
                  <a:srgbClr val="FF0000"/>
                </a:solidFill>
              </a:rPr>
              <a:t>İnsan </a:t>
            </a:r>
            <a:r>
              <a:rPr lang="tr-TR" sz="2400" b="1" dirty="0">
                <a:solidFill>
                  <a:srgbClr val="FF0000"/>
                </a:solidFill>
              </a:rPr>
              <a:t>plazmasından elde edilen saflaştırılmış antikorlar kullanılır. 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pPr fontAlgn="base"/>
            <a:r>
              <a:rPr lang="tr-TR" sz="2400" b="1" dirty="0" smtClean="0"/>
              <a:t>Bu </a:t>
            </a:r>
            <a:r>
              <a:rPr lang="tr-TR" sz="2400" b="1" dirty="0"/>
              <a:t>tedavi özellikle şu durumlarda </a:t>
            </a:r>
            <a:r>
              <a:rPr lang="tr-TR" sz="2400" b="1" dirty="0" smtClean="0"/>
              <a:t>uygulanır</a:t>
            </a:r>
            <a:endParaRPr lang="tr-TR" sz="2400" b="1" dirty="0"/>
          </a:p>
          <a:p>
            <a:pPr fontAlgn="base"/>
            <a:r>
              <a:rPr lang="tr-TR" sz="2400" b="1" dirty="0" smtClean="0"/>
              <a:t>1- </a:t>
            </a:r>
            <a:r>
              <a:rPr lang="tr-TR" sz="2400" b="1" dirty="0" err="1" smtClean="0"/>
              <a:t>Primer</a:t>
            </a:r>
            <a:r>
              <a:rPr lang="tr-TR" sz="2400" b="1" dirty="0" smtClean="0"/>
              <a:t> </a:t>
            </a:r>
            <a:r>
              <a:rPr lang="tr-TR" sz="2400" b="1" dirty="0" err="1"/>
              <a:t>immün</a:t>
            </a:r>
            <a:r>
              <a:rPr lang="tr-TR" sz="2400" b="1" dirty="0"/>
              <a:t> yetmezlik hastalıkları</a:t>
            </a:r>
          </a:p>
          <a:p>
            <a:pPr fontAlgn="base"/>
            <a:r>
              <a:rPr lang="tr-TR" sz="2400" b="1" dirty="0" smtClean="0"/>
              <a:t>2- Bazı </a:t>
            </a:r>
            <a:r>
              <a:rPr lang="tr-TR" sz="2400" b="1" dirty="0" err="1"/>
              <a:t>otoimmün</a:t>
            </a:r>
            <a:r>
              <a:rPr lang="tr-TR" sz="2400" b="1" dirty="0"/>
              <a:t> ve nörolojik hastalıklar (</a:t>
            </a:r>
            <a:r>
              <a:rPr lang="tr-TR" sz="2400" b="1" dirty="0" err="1"/>
              <a:t>Guillain</a:t>
            </a:r>
            <a:r>
              <a:rPr lang="tr-TR" sz="2400" b="1" dirty="0"/>
              <a:t>-</a:t>
            </a:r>
            <a:r>
              <a:rPr lang="tr-TR" sz="2400" b="1" dirty="0" err="1"/>
              <a:t>Barré</a:t>
            </a:r>
            <a:r>
              <a:rPr lang="tr-TR" sz="2400" b="1" dirty="0"/>
              <a:t> sendromu, ITP, CIDP gibi)</a:t>
            </a:r>
          </a:p>
          <a:p>
            <a:pPr fontAlgn="base"/>
            <a:r>
              <a:rPr lang="tr-TR" sz="2400" b="1" dirty="0" smtClean="0"/>
              <a:t>3- Antikor </a:t>
            </a:r>
            <a:r>
              <a:rPr lang="tr-TR" sz="2400" b="1" dirty="0"/>
              <a:t>eksiklikleri nedeniyle sık enfeksiyon geçiren bireyler</a:t>
            </a:r>
          </a:p>
          <a:p>
            <a:pPr fontAlgn="base"/>
            <a:r>
              <a:rPr lang="tr-TR" sz="2400" b="1" dirty="0"/>
              <a:t>Tedavi, enfeksiyonları önlemeye, </a:t>
            </a:r>
            <a:r>
              <a:rPr lang="tr-TR" sz="2400" b="1" dirty="0" err="1"/>
              <a:t>otoimmün</a:t>
            </a:r>
            <a:r>
              <a:rPr lang="tr-TR" sz="2400" b="1" dirty="0"/>
              <a:t> yanıtları baskılamaya ve bağışıklık sistemini desteklemeye yönelik güçlü bir araçtır.</a:t>
            </a:r>
          </a:p>
          <a:p>
            <a:endParaRPr lang="tr-TR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İMMÜNOGLOBULİN EKSİKLİĞİ NEDİR?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İmmünoglobulin</a:t>
            </a:r>
            <a:r>
              <a:rPr lang="tr-TR" b="1" dirty="0"/>
              <a:t> eksikliği, bağışıklık sisteminin yeterli antikor üretememesi durumudur. </a:t>
            </a:r>
            <a:endParaRPr lang="tr-TR" b="1" dirty="0" smtClean="0"/>
          </a:p>
          <a:p>
            <a:r>
              <a:rPr lang="tr-TR" b="1" dirty="0" smtClean="0"/>
              <a:t>1-Doğuştan </a:t>
            </a:r>
            <a:r>
              <a:rPr lang="tr-TR" b="1" dirty="0"/>
              <a:t>olabilir (</a:t>
            </a:r>
            <a:r>
              <a:rPr lang="tr-TR" b="1" dirty="0" err="1"/>
              <a:t>primer</a:t>
            </a:r>
            <a:r>
              <a:rPr lang="tr-TR" b="1" dirty="0"/>
              <a:t> </a:t>
            </a:r>
            <a:r>
              <a:rPr lang="tr-TR" b="1" dirty="0" err="1"/>
              <a:t>immün</a:t>
            </a:r>
            <a:r>
              <a:rPr lang="tr-TR" b="1" dirty="0"/>
              <a:t> yetmezlik</a:t>
            </a:r>
            <a:r>
              <a:rPr lang="tr-TR" b="1" dirty="0" smtClean="0"/>
              <a:t>)</a:t>
            </a:r>
          </a:p>
          <a:p>
            <a:r>
              <a:rPr lang="tr-TR" b="1" dirty="0" smtClean="0"/>
              <a:t>2-Sonradan </a:t>
            </a:r>
            <a:r>
              <a:rPr lang="tr-TR" b="1" dirty="0"/>
              <a:t>gelişebilir (</a:t>
            </a:r>
            <a:r>
              <a:rPr lang="tr-TR" b="1" dirty="0" err="1"/>
              <a:t>sekonder</a:t>
            </a:r>
            <a:r>
              <a:rPr lang="tr-TR" b="1" dirty="0"/>
              <a:t> </a:t>
            </a:r>
            <a:r>
              <a:rPr lang="tr-TR" b="1" dirty="0" err="1"/>
              <a:t>immün</a:t>
            </a:r>
            <a:r>
              <a:rPr lang="tr-TR" b="1" dirty="0"/>
              <a:t> yetmezlik</a:t>
            </a:r>
            <a:r>
              <a:rPr lang="tr-TR" b="1" dirty="0" smtClean="0"/>
              <a:t>)</a:t>
            </a:r>
          </a:p>
          <a:p>
            <a:r>
              <a:rPr lang="tr-TR" b="1" dirty="0" smtClean="0"/>
              <a:t>3- En </a:t>
            </a:r>
            <a:r>
              <a:rPr lang="tr-TR" b="1" dirty="0"/>
              <a:t>sık karşılaşılan </a:t>
            </a:r>
            <a:r>
              <a:rPr lang="tr-TR" b="1" dirty="0" err="1" smtClean="0"/>
              <a:t>Selektif</a:t>
            </a:r>
            <a:r>
              <a:rPr lang="tr-TR" b="1" dirty="0" smtClean="0"/>
              <a:t> </a:t>
            </a:r>
            <a:r>
              <a:rPr lang="tr-TR" b="1" dirty="0" err="1"/>
              <a:t>IgA</a:t>
            </a:r>
            <a:r>
              <a:rPr lang="tr-TR" b="1" dirty="0"/>
              <a:t> </a:t>
            </a:r>
            <a:r>
              <a:rPr lang="tr-TR" b="1" dirty="0" smtClean="0"/>
              <a:t>eksikliği</a:t>
            </a:r>
            <a:endParaRPr lang="tr-TR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İMMÜNOGLOBULİN EKSİKLİĞİ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BELİRTİLERİ ARASINDA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tr-TR" b="1" dirty="0"/>
              <a:t>Tekrarlayan solunum yolu ve sindirim sistemi enfeksiyonları</a:t>
            </a:r>
          </a:p>
          <a:p>
            <a:pPr fontAlgn="base"/>
            <a:r>
              <a:rPr lang="tr-TR" b="1" dirty="0"/>
              <a:t>Gecikmiş büyüme ve gelişme</a:t>
            </a:r>
          </a:p>
          <a:p>
            <a:pPr fontAlgn="base"/>
            <a:r>
              <a:rPr lang="tr-TR" b="1" dirty="0"/>
              <a:t>Alerjik hastalıklar</a:t>
            </a:r>
          </a:p>
          <a:p>
            <a:pPr fontAlgn="base"/>
            <a:r>
              <a:rPr lang="tr-TR" b="1" dirty="0" err="1"/>
              <a:t>Otoimmün</a:t>
            </a:r>
            <a:r>
              <a:rPr lang="tr-TR" b="1" dirty="0"/>
              <a:t> hastalıklara yatkınlık</a:t>
            </a:r>
          </a:p>
          <a:p>
            <a:endParaRPr lang="tr-TR" b="1" dirty="0" smtClean="0"/>
          </a:p>
          <a:p>
            <a:r>
              <a:rPr lang="tr-TR" b="1" dirty="0"/>
              <a:t>Yer </a:t>
            </a:r>
            <a:r>
              <a:rPr lang="tr-TR" b="1" dirty="0" smtClean="0"/>
              <a:t>alabilir</a:t>
            </a:r>
          </a:p>
          <a:p>
            <a:r>
              <a:rPr lang="tr-TR" b="1" dirty="0" smtClean="0"/>
              <a:t>Tanı </a:t>
            </a:r>
            <a:r>
              <a:rPr lang="tr-TR" b="1" dirty="0"/>
              <a:t>genellikle bağışıklık testleriyle konur ve tedavi bağışıklığı destekleyici yöntemler ile </a:t>
            </a:r>
            <a:r>
              <a:rPr lang="tr-TR" b="1" dirty="0" smtClean="0"/>
              <a:t>planlanır</a:t>
            </a:r>
            <a:endParaRPr lang="tr-TR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İMMÜNOGLOBULİN SEVİYESİNİ ETKİLEYEN FAKTÖRLER NELERDİR?</a:t>
            </a: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fontAlgn="base"/>
            <a:r>
              <a:rPr lang="tr-TR" sz="2500" b="1" dirty="0">
                <a:solidFill>
                  <a:srgbClr val="FF0000"/>
                </a:solidFill>
              </a:rPr>
              <a:t>Yaş: </a:t>
            </a:r>
            <a:r>
              <a:rPr lang="tr-TR" sz="2500" b="1" dirty="0"/>
              <a:t>Yeni doğan ve yaşlı bireylerde seviyeler değişebilir.</a:t>
            </a:r>
          </a:p>
          <a:p>
            <a:pPr fontAlgn="base"/>
            <a:r>
              <a:rPr lang="tr-TR" sz="2500" b="1" dirty="0">
                <a:solidFill>
                  <a:srgbClr val="FF0000"/>
                </a:solidFill>
              </a:rPr>
              <a:t>Enfeksiyonlar: </a:t>
            </a:r>
            <a:r>
              <a:rPr lang="tr-TR" sz="2500" b="1" dirty="0"/>
              <a:t>Akut ya da kronik enfeksiyonlar </a:t>
            </a:r>
            <a:r>
              <a:rPr lang="tr-TR" sz="2500" b="1" dirty="0" err="1"/>
              <a:t>Ig</a:t>
            </a:r>
            <a:r>
              <a:rPr lang="tr-TR" sz="2500" b="1" dirty="0"/>
              <a:t> seviyelerini artırabilir.</a:t>
            </a:r>
          </a:p>
          <a:p>
            <a:pPr fontAlgn="base"/>
            <a:r>
              <a:rPr lang="tr-TR" sz="2500" b="1" dirty="0">
                <a:solidFill>
                  <a:srgbClr val="FF0000"/>
                </a:solidFill>
              </a:rPr>
              <a:t>Genetik faktörler: </a:t>
            </a:r>
            <a:r>
              <a:rPr lang="tr-TR" sz="2500" b="1" dirty="0"/>
              <a:t>Kalıtsal bağışıklık hastalıkları etkili olabilir.</a:t>
            </a:r>
          </a:p>
          <a:p>
            <a:pPr fontAlgn="base"/>
            <a:r>
              <a:rPr lang="tr-TR" sz="2500" b="1" dirty="0">
                <a:solidFill>
                  <a:srgbClr val="FF0000"/>
                </a:solidFill>
              </a:rPr>
              <a:t>Stres ve yaşam tarzı: </a:t>
            </a:r>
            <a:r>
              <a:rPr lang="tr-TR" sz="2500" b="1" dirty="0"/>
              <a:t>Uzun süreli stres, yetersiz beslenme ve uykusuzluk bağışıklık sistemini zayıflatabilir.</a:t>
            </a:r>
          </a:p>
          <a:p>
            <a:pPr fontAlgn="base"/>
            <a:r>
              <a:rPr lang="tr-TR" sz="2500" b="1" dirty="0">
                <a:solidFill>
                  <a:srgbClr val="FF0000"/>
                </a:solidFill>
              </a:rPr>
              <a:t>İlaçlar: </a:t>
            </a:r>
            <a:r>
              <a:rPr lang="tr-TR" sz="2500" b="1" dirty="0"/>
              <a:t>Kemoterapi, bağışıklık baskılayıcılar ve bazı antibiyotikler </a:t>
            </a:r>
            <a:r>
              <a:rPr lang="tr-TR" sz="2500" b="1" dirty="0" err="1"/>
              <a:t>immünoglobulin</a:t>
            </a:r>
            <a:r>
              <a:rPr lang="tr-TR" sz="2500" b="1" dirty="0"/>
              <a:t> üretimini etkileyebilir.</a:t>
            </a:r>
          </a:p>
          <a:p>
            <a:pPr fontAlgn="base"/>
            <a:r>
              <a:rPr lang="tr-TR" sz="2500" b="1" dirty="0">
                <a:solidFill>
                  <a:srgbClr val="FF0000"/>
                </a:solidFill>
              </a:rPr>
              <a:t>Kronik hastalıklar: </a:t>
            </a:r>
            <a:r>
              <a:rPr lang="tr-TR" sz="2500" b="1" dirty="0"/>
              <a:t>Diyabet, kanser veya </a:t>
            </a:r>
            <a:r>
              <a:rPr lang="tr-TR" sz="2500" b="1" dirty="0" err="1"/>
              <a:t>otoimmün</a:t>
            </a:r>
            <a:r>
              <a:rPr lang="tr-TR" sz="2500" b="1" dirty="0"/>
              <a:t> hastalıklar bağışıklık dengesini değiştirebilir.</a:t>
            </a:r>
          </a:p>
          <a:p>
            <a:pPr>
              <a:buNone/>
            </a:pPr>
            <a:endParaRPr lang="tr-TR" sz="25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/>
              <a:t>Bu faktörlerin takibi, hem tanı koymada hem de tedavi planlamasında </a:t>
            </a:r>
            <a:r>
              <a:rPr lang="tr-TR" b="1" dirty="0" smtClean="0"/>
              <a:t>önemlidir.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İmmünoglobulinler</a:t>
            </a:r>
            <a:r>
              <a:rPr lang="tr-TR" b="1" dirty="0">
                <a:solidFill>
                  <a:srgbClr val="FF0000"/>
                </a:solidFill>
              </a:rPr>
              <a:t>, vücudun görünmeyen ama etkili savunma hattıdır. </a:t>
            </a:r>
            <a:endParaRPr lang="tr-TR" b="1" dirty="0" smtClean="0">
              <a:solidFill>
                <a:srgbClr val="FF0000"/>
              </a:solidFill>
            </a:endParaRPr>
          </a:p>
          <a:p>
            <a:r>
              <a:rPr lang="tr-TR" b="1" dirty="0" smtClean="0"/>
              <a:t>Onların </a:t>
            </a:r>
            <a:r>
              <a:rPr lang="tr-TR" b="1" dirty="0"/>
              <a:t>eksikliği ya da fazlalığı, sağlıkta önemli sonuçlara yol açabilir. </a:t>
            </a:r>
            <a:endParaRPr lang="tr-TR" b="1" dirty="0" smtClean="0"/>
          </a:p>
          <a:p>
            <a:r>
              <a:rPr lang="tr-TR" b="1" dirty="0" smtClean="0"/>
              <a:t>Sık </a:t>
            </a:r>
            <a:r>
              <a:rPr lang="tr-TR" b="1" dirty="0"/>
              <a:t>enfeksiyon geçiriyorsanız, </a:t>
            </a:r>
            <a:r>
              <a:rPr lang="tr-TR" b="1" dirty="0" err="1"/>
              <a:t>otoimmün</a:t>
            </a:r>
            <a:r>
              <a:rPr lang="tr-TR" b="1" dirty="0"/>
              <a:t> hastalıklarınız varsa ya da bağışıklık sisteminize dair bir sorundan şüpheleniyorsanız, bir uzman eşliğinde </a:t>
            </a:r>
            <a:r>
              <a:rPr lang="tr-TR" b="1" dirty="0" err="1"/>
              <a:t>immünoglobulin</a:t>
            </a:r>
            <a:r>
              <a:rPr lang="tr-TR" b="1" dirty="0"/>
              <a:t> düzeylerinizi değerlendirmek önemli bir adımdır.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480</Words>
  <Application>Microsoft Office PowerPoint</Application>
  <PresentationFormat>Ekran Gösterisi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Ofis Teması</vt:lpstr>
      <vt:lpstr> İMMÜNOGLOBULİN NEDİR? </vt:lpstr>
      <vt:lpstr> İMMÜNOGLOBULİN NEDİR? </vt:lpstr>
      <vt:lpstr> İMMÜNOGLOBULİNLERİN ÇEŞİTLERİ NELERDİR? </vt:lpstr>
      <vt:lpstr> İMMÜNOGLOBULİNLERİN GÖREVLERİ NELERDİR? </vt:lpstr>
      <vt:lpstr> İMMÜNOGLOBULİN TESTLERİ NELERDİR, NE İŞE YARAR? </vt:lpstr>
      <vt:lpstr>TEST SONUÇLARI NASIL YORUMLANIR</vt:lpstr>
      <vt:lpstr>Slayt 7</vt:lpstr>
      <vt:lpstr> İMMÜNOGLOBULİN EKSİKLİĞİ NEDİR? </vt:lpstr>
      <vt:lpstr>İMMÜNOGLOBULİN EKSİKLİĞİ BELİRTİLERİ ARASINDA</vt:lpstr>
      <vt:lpstr> İMMÜNOGLOBULİN SEVİYESİNİ ETKİLEYEN FAKTÖRLER NELERDİR? </vt:lpstr>
      <vt:lpstr>Slayt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İmmünoglobulin Nedir? </dc:title>
  <dc:creator>tijen</dc:creator>
  <cp:lastModifiedBy>tijen</cp:lastModifiedBy>
  <cp:revision>24</cp:revision>
  <dcterms:created xsi:type="dcterms:W3CDTF">2026-08-14T12:04:55Z</dcterms:created>
  <dcterms:modified xsi:type="dcterms:W3CDTF">2026-09-18T06:19:59Z</dcterms:modified>
</cp:coreProperties>
</file>