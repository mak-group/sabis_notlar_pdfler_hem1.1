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6" r:id="rId3"/>
    <p:sldId id="437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embeddedFontLst>
    <p:embeddedFont>
      <p:font typeface="Inter" panose="020B0502030000000004" pitchFamily="34" charset="0"/>
      <p:regular r:id="rId15"/>
      <p:bold r:id="rId16"/>
    </p:embeddedFont>
    <p:embeddedFont>
      <p:font typeface="Inter Bold" panose="020B0502030000000004" pitchFamily="34" charset="0"/>
      <p:regular r:id="rId17"/>
      <p:bold r:id="rId18"/>
    </p:embeddedFont>
    <p:embeddedFont>
      <p:font typeface="Petrona Bold" panose="020B0604020202020204" charset="-94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25" d="100"/>
          <a:sy n="25" d="100"/>
        </p:scale>
        <p:origin x="2436" y="10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0743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3ED6B-7870-972F-8B9B-682195E67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4A77CC-E68C-6D71-21ED-5D06879A95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1A60BA-6EB3-1BFB-CAE7-9E7EAA4390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7C529-1E71-F7E1-44CA-74CB13987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0306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ayt Görüntüsü Yer Tutucusu 1">
            <a:extLst>
              <a:ext uri="{FF2B5EF4-FFF2-40B4-BE49-F238E27FC236}">
                <a16:creationId xmlns:a16="http://schemas.microsoft.com/office/drawing/2014/main" id="{A418C9E2-D849-1F4E-9416-2ABDAFF0679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 Yer Tutucusu 2">
            <a:extLst>
              <a:ext uri="{FF2B5EF4-FFF2-40B4-BE49-F238E27FC236}">
                <a16:creationId xmlns:a16="http://schemas.microsoft.com/office/drawing/2014/main" id="{7CA95C4F-CD5E-371F-86EF-F282DFA71A2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tr-TR" altLang="tr-TR"/>
              <a:t>Fizyoloji canlıyı oluşturan yapıların ve organların fonksiyonlarını ve bu fonksiyonların nasıl yerine getirildiğini inceleyen bilim dalıdır. </a:t>
            </a:r>
          </a:p>
          <a:p>
            <a:r>
              <a:rPr lang="tr-TR" altLang="tr-TR"/>
              <a:t>Yaşayan tüm organizmaların karakteristik özellikleri vardır. Fizyoloji bu özelliklerin nasıl oluştuğunu, nasıl devamlılığının sağlandığını ve çevre koşullarından nasıl etkilendiğini inceler</a:t>
            </a:r>
          </a:p>
        </p:txBody>
      </p:sp>
      <p:sp>
        <p:nvSpPr>
          <p:cNvPr id="12292" name="Slayt Numarası Yer Tutucusu 3">
            <a:extLst>
              <a:ext uri="{FF2B5EF4-FFF2-40B4-BE49-F238E27FC236}">
                <a16:creationId xmlns:a16="http://schemas.microsoft.com/office/drawing/2014/main" id="{933B499B-AFF7-0EA2-0082-E0FCD3234F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fld id="{12C0EF80-45DF-4969-BC53-DC7198ABEEC2}" type="slidenum">
              <a:rPr lang="tr-TR" altLang="tr-TR" sz="1200"/>
              <a:pPr/>
              <a:t>3</a:t>
            </a:fld>
            <a:endParaRPr lang="tr-TR" altLang="tr-TR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9044085-0579-9A25-AA98-D01883AF4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32A8654-393C-1631-CC37-12713A1F8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9415670-2B8F-DDDE-F33E-B383F57FF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8B40E1A-9E53-4068-E9F6-F6C6B479A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0781052-5FE9-335B-1466-0DE49C7EA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68F78-EF5C-481A-9247-3EAFC629D60A}" type="slidenum">
              <a:rPr lang="tr-TR" altLang="tr-TR" smtClean="0"/>
              <a:pPr/>
              <a:t>‹#›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323909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23318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Fizyolojiye Giriş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61475" y="2527002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A4CC34B3-C4FA-53C7-DDCA-0C6B795EE1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477"/>
          <a:stretch>
            <a:fillRect/>
          </a:stretch>
        </p:blipFill>
        <p:spPr>
          <a:xfrm>
            <a:off x="4451708" y="2506220"/>
            <a:ext cx="7449347" cy="3263574"/>
          </a:xfrm>
          <a:prstGeom prst="rect">
            <a:avLst/>
          </a:prstGeom>
        </p:spPr>
      </p:pic>
      <p:sp>
        <p:nvSpPr>
          <p:cNvPr id="11" name="Metin kutusu 10">
            <a:extLst>
              <a:ext uri="{FF2B5EF4-FFF2-40B4-BE49-F238E27FC236}">
                <a16:creationId xmlns:a16="http://schemas.microsoft.com/office/drawing/2014/main" id="{9374DC7C-CC74-2A62-9633-E123E972BBCB}"/>
              </a:ext>
            </a:extLst>
          </p:cNvPr>
          <p:cNvSpPr txBox="1"/>
          <p:nvPr/>
        </p:nvSpPr>
        <p:spPr>
          <a:xfrm>
            <a:off x="661475" y="5405915"/>
            <a:ext cx="2972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Arş. Gör. Dr. Çiğdem ŞEN TEPE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8E7C0-A646-8A70-9A83-3C616FB85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43965C1-A799-1EE8-71C9-894FFC61C7B0}"/>
              </a:ext>
            </a:extLst>
          </p:cNvPr>
          <p:cNvSpPr/>
          <p:nvPr/>
        </p:nvSpPr>
        <p:spPr>
          <a:xfrm>
            <a:off x="661475" y="1623318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 err="1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Fizyoloji</a:t>
            </a:r>
            <a:endParaRPr lang="en-US" sz="3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65D0C18-31BB-E948-31C4-A08790495BD6}"/>
              </a:ext>
            </a:extLst>
          </p:cNvPr>
          <p:cNvSpPr/>
          <p:nvPr/>
        </p:nvSpPr>
        <p:spPr>
          <a:xfrm>
            <a:off x="661475" y="2527002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Yunanca </a:t>
            </a:r>
            <a:r>
              <a:rPr lang="en-US" sz="2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physis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(doğa) ve </a:t>
            </a:r>
            <a:r>
              <a:rPr lang="en-US" sz="2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logos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(bilim) kelimelerinden türetilen fizyoloji; canlı organizmaların işlevlerini, organlar arası ilişkileri ve kontrol mekanizmalarını inceleyen temel bir bilim dalıdır.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20595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İçerik Yer Tutucusu 2">
            <a:extLst>
              <a:ext uri="{FF2B5EF4-FFF2-40B4-BE49-F238E27FC236}">
                <a16:creationId xmlns:a16="http://schemas.microsoft.com/office/drawing/2014/main" id="{8AAE886B-FA65-5914-BB7F-5589542BC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8038" y="1727200"/>
            <a:ext cx="8229600" cy="4389438"/>
          </a:xfrm>
        </p:spPr>
        <p:txBody>
          <a:bodyPr/>
          <a:lstStyle/>
          <a:p>
            <a:pPr>
              <a:defRPr/>
            </a:pPr>
            <a:r>
              <a:rPr lang="tr-TR" altLang="tr-TR" dirty="0" err="1"/>
              <a:t>A.Metabolizma</a:t>
            </a:r>
            <a:endParaRPr lang="tr-TR" altLang="tr-TR" dirty="0"/>
          </a:p>
          <a:p>
            <a:pPr marL="0" indent="0">
              <a:buNone/>
              <a:defRPr/>
            </a:pPr>
            <a:r>
              <a:rPr lang="tr-TR" altLang="tr-TR" dirty="0"/>
              <a:t>   i. Anabolizma </a:t>
            </a:r>
          </a:p>
          <a:p>
            <a:pPr marL="0" indent="0">
              <a:buNone/>
              <a:defRPr/>
            </a:pPr>
            <a:r>
              <a:rPr lang="tr-TR" altLang="tr-TR" dirty="0"/>
              <a:t>   ii. Katabolizma </a:t>
            </a:r>
          </a:p>
          <a:p>
            <a:pPr>
              <a:defRPr/>
            </a:pPr>
            <a:r>
              <a:rPr lang="tr-TR" altLang="tr-TR" dirty="0"/>
              <a:t>B. Uyaranlara Cevap Verme </a:t>
            </a:r>
          </a:p>
          <a:p>
            <a:pPr>
              <a:defRPr/>
            </a:pPr>
            <a:r>
              <a:rPr lang="tr-TR" altLang="tr-TR" dirty="0"/>
              <a:t>C. Hareket </a:t>
            </a:r>
          </a:p>
          <a:p>
            <a:pPr>
              <a:defRPr/>
            </a:pPr>
            <a:r>
              <a:rPr lang="tr-TR" altLang="tr-TR" dirty="0"/>
              <a:t>D. Büyüme ve Farklılaşma </a:t>
            </a:r>
          </a:p>
          <a:p>
            <a:pPr>
              <a:defRPr/>
            </a:pPr>
            <a:r>
              <a:rPr lang="tr-TR" altLang="tr-TR" dirty="0"/>
              <a:t>E. Üreme </a:t>
            </a:r>
          </a:p>
        </p:txBody>
      </p:sp>
      <p:sp>
        <p:nvSpPr>
          <p:cNvPr id="11267" name="Dikdörtgen 3">
            <a:extLst>
              <a:ext uri="{FF2B5EF4-FFF2-40B4-BE49-F238E27FC236}">
                <a16:creationId xmlns:a16="http://schemas.microsoft.com/office/drawing/2014/main" id="{5CF0F46D-BF77-A4A3-2349-346C0862AD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6088" y="738188"/>
            <a:ext cx="69024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hangingPunct="1"/>
            <a:r>
              <a:rPr lang="tr-TR" altLang="tr-TR" sz="3600" b="1">
                <a:solidFill>
                  <a:srgbClr val="FF0000"/>
                </a:solidFill>
              </a:rPr>
              <a:t>Canlılığın Karakteristik Özellikleri</a:t>
            </a:r>
          </a:p>
        </p:txBody>
      </p:sp>
      <p:sp>
        <p:nvSpPr>
          <p:cNvPr id="3" name="Akış Çizelgesi: Sıralı Erişimli Depolama 2">
            <a:extLst>
              <a:ext uri="{FF2B5EF4-FFF2-40B4-BE49-F238E27FC236}">
                <a16:creationId xmlns:a16="http://schemas.microsoft.com/office/drawing/2014/main" id="{075589A8-2198-A5D9-FE44-3DB59EFEBA7A}"/>
              </a:ext>
            </a:extLst>
          </p:cNvPr>
          <p:cNvSpPr/>
          <p:nvPr/>
        </p:nvSpPr>
        <p:spPr>
          <a:xfrm>
            <a:off x="5375275" y="4397376"/>
            <a:ext cx="4821238" cy="2062163"/>
          </a:xfrm>
          <a:prstGeom prst="flowChartMagneticTap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tr-TR" altLang="tr-TR" sz="2000" dirty="0">
                <a:solidFill>
                  <a:schemeClr val="tx1"/>
                </a:solidFill>
              </a:rPr>
              <a:t>Bu özellikler nasıl oluşmakta, nasıl devamlılığı sağlanmakta ve çevre koşullarından nasıl etkilendiğini inceler. </a:t>
            </a:r>
            <a:endParaRPr lang="tr-TR" sz="2000" dirty="0">
              <a:solidFill>
                <a:schemeClr val="tx1"/>
              </a:solidFill>
            </a:endParaRPr>
          </a:p>
          <a:p>
            <a:pPr algn="ctr">
              <a:defRPr/>
            </a:pPr>
            <a:endParaRPr lang="tr-TR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104CB73-B4EB-CC4E-D7B6-A0E931C1B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87970"/>
            <a:ext cx="11620500" cy="64820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3620"/>
            <a:ext cx="1641732" cy="278110"/>
          </a:xfrm>
          <a:prstGeom prst="roundRect">
            <a:avLst>
              <a:gd name="adj" fmla="val 22123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771307" y="598487"/>
            <a:ext cx="2031652" cy="16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TEMEL KAVRAMLAR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892671"/>
            <a:ext cx="10868745" cy="600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Canlılığın Karakteristik Özellikleri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661475" y="1759545"/>
            <a:ext cx="11478330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Fizyoloji bu özelliklerin nasıl oluştuğunu, devamlılığını ve çevre koşullarından nasıl etkilendiğini inceler.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1475" y="2247503"/>
            <a:ext cx="3504715" cy="2088952"/>
          </a:xfrm>
          <a:prstGeom prst="roundRect">
            <a:avLst>
              <a:gd name="adj" fmla="val 3682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850879" y="2436912"/>
            <a:ext cx="549261" cy="549275"/>
          </a:xfrm>
          <a:prstGeom prst="ellipse">
            <a:avLst/>
          </a:prstGeom>
          <a:solidFill>
            <a:srgbClr val="007EBD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1886" y="2587923"/>
            <a:ext cx="247148" cy="24715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0879" y="3163491"/>
            <a:ext cx="3125908" cy="300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Metabolizma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50879" y="3570188"/>
            <a:ext cx="3125908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Anabolizma ve katabolizma süreçleri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43490" y="2247503"/>
            <a:ext cx="3504715" cy="2088952"/>
          </a:xfrm>
          <a:prstGeom prst="roundRect">
            <a:avLst>
              <a:gd name="adj" fmla="val 3682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9"/>
          <p:cNvSpPr/>
          <p:nvPr/>
        </p:nvSpPr>
        <p:spPr>
          <a:xfrm>
            <a:off x="4532894" y="2436912"/>
            <a:ext cx="549261" cy="549275"/>
          </a:xfrm>
          <a:prstGeom prst="ellipse">
            <a:avLst/>
          </a:prstGeom>
          <a:solidFill>
            <a:srgbClr val="007EBD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83901" y="2587923"/>
            <a:ext cx="247148" cy="24715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32894" y="3163491"/>
            <a:ext cx="3125908" cy="300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Uyarılara Cevap</a:t>
            </a:r>
            <a:endParaRPr lang="en-US" sz="1850" dirty="0"/>
          </a:p>
        </p:txBody>
      </p:sp>
      <p:sp>
        <p:nvSpPr>
          <p:cNvPr id="15" name="Text 11"/>
          <p:cNvSpPr/>
          <p:nvPr/>
        </p:nvSpPr>
        <p:spPr>
          <a:xfrm>
            <a:off x="4532894" y="3570188"/>
            <a:ext cx="3125908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Çevresel uyaranlara tepki verme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025505" y="2247503"/>
            <a:ext cx="3504715" cy="2088952"/>
          </a:xfrm>
          <a:prstGeom prst="roundRect">
            <a:avLst>
              <a:gd name="adj" fmla="val 3682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3"/>
          <p:cNvSpPr/>
          <p:nvPr/>
        </p:nvSpPr>
        <p:spPr>
          <a:xfrm>
            <a:off x="8214909" y="2436912"/>
            <a:ext cx="549261" cy="549275"/>
          </a:xfrm>
          <a:prstGeom prst="ellipse">
            <a:avLst/>
          </a:prstGeom>
          <a:solidFill>
            <a:srgbClr val="007EBD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65916" y="2587923"/>
            <a:ext cx="247148" cy="24715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14909" y="3163491"/>
            <a:ext cx="3125908" cy="300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Hareket</a:t>
            </a:r>
            <a:endParaRPr lang="en-US" sz="1850" dirty="0"/>
          </a:p>
        </p:txBody>
      </p:sp>
      <p:sp>
        <p:nvSpPr>
          <p:cNvPr id="20" name="Text 15"/>
          <p:cNvSpPr/>
          <p:nvPr/>
        </p:nvSpPr>
        <p:spPr>
          <a:xfrm>
            <a:off x="8214909" y="3570188"/>
            <a:ext cx="3125908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Aktif hareket kapasitesi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61475" y="4513759"/>
            <a:ext cx="5345673" cy="1800523"/>
          </a:xfrm>
          <a:prstGeom prst="roundRect">
            <a:avLst>
              <a:gd name="adj" fmla="val 4271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17"/>
          <p:cNvSpPr/>
          <p:nvPr/>
        </p:nvSpPr>
        <p:spPr>
          <a:xfrm>
            <a:off x="850879" y="4703167"/>
            <a:ext cx="549261" cy="549275"/>
          </a:xfrm>
          <a:prstGeom prst="ellipse">
            <a:avLst/>
          </a:prstGeom>
          <a:solidFill>
            <a:srgbClr val="007EBD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1886" y="4854178"/>
            <a:ext cx="247148" cy="24715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50879" y="5429746"/>
            <a:ext cx="4966866" cy="300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Büyüme ve Farklılaşma</a:t>
            </a:r>
            <a:endParaRPr lang="en-US" sz="1850" dirty="0"/>
          </a:p>
        </p:txBody>
      </p:sp>
      <p:sp>
        <p:nvSpPr>
          <p:cNvPr id="25" name="Text 19"/>
          <p:cNvSpPr/>
          <p:nvPr/>
        </p:nvSpPr>
        <p:spPr>
          <a:xfrm>
            <a:off x="850879" y="5836444"/>
            <a:ext cx="4966866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Hücre büyümesi ve özelleşme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6184448" y="4513759"/>
            <a:ext cx="5345773" cy="1800523"/>
          </a:xfrm>
          <a:prstGeom prst="roundRect">
            <a:avLst>
              <a:gd name="adj" fmla="val 4271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Shape 21"/>
          <p:cNvSpPr/>
          <p:nvPr/>
        </p:nvSpPr>
        <p:spPr>
          <a:xfrm>
            <a:off x="6373851" y="4703167"/>
            <a:ext cx="549261" cy="549275"/>
          </a:xfrm>
          <a:prstGeom prst="ellipse">
            <a:avLst/>
          </a:prstGeom>
          <a:solidFill>
            <a:srgbClr val="007EBD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24859" y="4854178"/>
            <a:ext cx="247148" cy="24715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373851" y="5429746"/>
            <a:ext cx="4966965" cy="300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Üreme</a:t>
            </a:r>
            <a:endParaRPr lang="en-US" sz="1850" dirty="0"/>
          </a:p>
        </p:txBody>
      </p:sp>
      <p:sp>
        <p:nvSpPr>
          <p:cNvPr id="30" name="Text 23"/>
          <p:cNvSpPr/>
          <p:nvPr/>
        </p:nvSpPr>
        <p:spPr>
          <a:xfrm>
            <a:off x="6373851" y="5836444"/>
            <a:ext cx="4966965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Neslin devamını sağlama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05148"/>
            <a:ext cx="867150" cy="287139"/>
          </a:xfrm>
          <a:prstGeom prst="roundRect">
            <a:avLst>
              <a:gd name="adj" fmla="val 22118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774879" y="761802"/>
            <a:ext cx="124992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TARİHÇE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67891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Fizyolojinin Tarihçesi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661475" y="4065984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B2D4E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2751565" y="3498949"/>
            <a:ext cx="25399" cy="567035"/>
          </a:xfrm>
          <a:prstGeom prst="roundRect">
            <a:avLst>
              <a:gd name="adj" fmla="val 50001"/>
            </a:avLst>
          </a:prstGeom>
          <a:solidFill>
            <a:srgbClr val="B2D4E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2551644" y="3853359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2615440" y="3879949"/>
            <a:ext cx="29764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50482" y="1971576"/>
            <a:ext cx="382766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XVI. Yüzyıl — Jean Fernel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850482" y="2395041"/>
            <a:ext cx="38276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Fizyolojiyi tanımlayan ve tanıtan ilk bilim insanı; aynı zamanda gök bilimci ve matematikçi olan Fransız hekim.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972620" y="4065984"/>
            <a:ext cx="25399" cy="567035"/>
          </a:xfrm>
          <a:prstGeom prst="roundRect">
            <a:avLst>
              <a:gd name="adj" fmla="val 50001"/>
            </a:avLst>
          </a:prstGeom>
          <a:solidFill>
            <a:srgbClr val="B2D4E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4772699" y="3853359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4836495" y="3879949"/>
            <a:ext cx="29764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3071438" y="4822031"/>
            <a:ext cx="382776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1628 — William Harvey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3071438" y="5245497"/>
            <a:ext cx="38277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Hayvanlar üzerinde canlı gözlemlerle </a:t>
            </a: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kan dolaşımını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keşfetti; bilimsel fizyolojinin temellerini attı.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193576" y="3498949"/>
            <a:ext cx="25399" cy="567035"/>
          </a:xfrm>
          <a:prstGeom prst="roundRect">
            <a:avLst>
              <a:gd name="adj" fmla="val 50001"/>
            </a:avLst>
          </a:prstGeom>
          <a:solidFill>
            <a:srgbClr val="B2D4E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6993656" y="3853359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7057452" y="3879949"/>
            <a:ext cx="29764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5292394" y="1971576"/>
            <a:ext cx="3827764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XVIII. Yüzyıl — Albrecht von Haller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5292394" y="2705100"/>
            <a:ext cx="38277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Fizyolojiyi </a:t>
            </a: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ayrı bir bilim dalı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olarak tanımladı.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9414632" y="4065984"/>
            <a:ext cx="25399" cy="567035"/>
          </a:xfrm>
          <a:prstGeom prst="roundRect">
            <a:avLst>
              <a:gd name="adj" fmla="val 50001"/>
            </a:avLst>
          </a:prstGeom>
          <a:solidFill>
            <a:srgbClr val="B2D4E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9214711" y="3853359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9278507" y="3879949"/>
            <a:ext cx="29764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7513450" y="4822031"/>
            <a:ext cx="382776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1813–1878 — Claude Bernard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7513450" y="5245497"/>
            <a:ext cx="38277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Deneysel fizyolojinin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kurucusu; "iç ortam" kavramını tanımladı.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8857"/>
            <a:ext cx="718326" cy="237827"/>
          </a:xfrm>
          <a:prstGeom prst="roundRect">
            <a:avLst>
              <a:gd name="adj" fmla="val 22115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755333" y="585787"/>
            <a:ext cx="1140193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TARİHÇE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828477"/>
            <a:ext cx="10868745" cy="513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Claude Bernard ve Türkiye'de Fizyoloji</a:t>
            </a:r>
            <a:endParaRPr lang="en-US" sz="3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63936"/>
            <a:ext cx="6931050" cy="39276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80659" y="1665982"/>
            <a:ext cx="3555812" cy="256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Claude Bernard'ın Katkıları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980659" y="2052340"/>
            <a:ext cx="3555812" cy="2012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İç ortam</a:t>
            </a: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(internal milieu) kavramını tanımladı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Pankreasın kan şekeri ve sindirim enzimlerindeki rolünü gösterdi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Karaciğerin glukoz depoladığını kanıtladı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Sinir-kas arasındaki iletimin kimyasal olduğunu ortaya koydu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Bilimsel yöntemin 3 aşamasını tanımladı: </a:t>
            </a: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Gözlem → Hipotez → Deney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980659" y="4194473"/>
            <a:ext cx="3555812" cy="256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Türkiye'de Fizyoloji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980659" y="4580830"/>
            <a:ext cx="3555812" cy="1692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İlk bilim insanı: </a:t>
            </a: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Dr. Mehmet Şakir Paşa</a:t>
            </a: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(Bernard ile çalıştı)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Cumhuriyet'te tek tıp fakültesi İstanbul'daydı; kürsü başkanı </a:t>
            </a: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Prof. Dr. Kemal Cenap Berksoy</a:t>
            </a: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idi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II. Dünya Savaşı sonrası kürsüler modern araçlarla donatıldı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704535" cy="143470"/>
          </a:xfrm>
          <a:prstGeom prst="roundRect">
            <a:avLst>
              <a:gd name="adj" fmla="val 22134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718127" y="548084"/>
            <a:ext cx="1200814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YAPISAL DÜZEN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Yaşamın Organizasyonu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661475" y="1063030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Fizyoloji; </a:t>
            </a: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işlev</a:t>
            </a: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(ne yapılması gerektiğini belirler) ve </a:t>
            </a: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mekanizma</a:t>
            </a: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(işin nasıl yapıldığını açıklar) </a:t>
            </a:r>
            <a:endParaRPr lang="tr-TR" sz="2000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20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kavramlarını</a:t>
            </a: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0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inceler</a:t>
            </a: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Hücre</a:t>
            </a: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canlılığın temel birimidir.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034905" y="2051756"/>
            <a:ext cx="5319083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Yapısal Düzeyler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187305" y="2632364"/>
            <a:ext cx="5319083" cy="158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Kimyasal düzey: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Atom ve molekül</a:t>
            </a:r>
            <a:endParaRPr lang="en-US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Hücresel düzey: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Hücre (canlılığın temel birimi)</a:t>
            </a:r>
            <a:endParaRPr lang="en-US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Doku düzeyi: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Benzer hücreler</a:t>
            </a:r>
            <a:endParaRPr lang="en-US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Organ düzeyi: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Farklı dokular</a:t>
            </a:r>
            <a:endParaRPr lang="en-US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Sistem düzeyi: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Organlar birliği</a:t>
            </a:r>
            <a:endParaRPr lang="en-US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Organizma düzeyi: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Tüm sistemler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6827072" y="4469002"/>
            <a:ext cx="5319083" cy="245566"/>
          </a:xfrm>
          <a:prstGeom prst="roundRect">
            <a:avLst>
              <a:gd name="adj" fmla="val 16164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941" y="4396383"/>
            <a:ext cx="118067" cy="94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13742" y="5898042"/>
            <a:ext cx="552723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Fizyoloji; doku, organ, sistem ve organizma düzeylerini kapsar.</a:t>
            </a:r>
            <a:endParaRPr lang="en-US" sz="2800" dirty="0"/>
          </a:p>
        </p:txBody>
      </p:sp>
      <p:pic>
        <p:nvPicPr>
          <p:cNvPr id="13" name="Resim 12">
            <a:extLst>
              <a:ext uri="{FF2B5EF4-FFF2-40B4-BE49-F238E27FC236}">
                <a16:creationId xmlns:a16="http://schemas.microsoft.com/office/drawing/2014/main" id="{15604BF0-F430-4458-ED7C-A211CFD471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135" y="1879783"/>
            <a:ext cx="6554115" cy="34675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6220"/>
            <a:ext cx="1472369" cy="251420"/>
          </a:xfrm>
          <a:prstGeom prst="roundRect">
            <a:avLst>
              <a:gd name="adj" fmla="val 22103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760691" y="605830"/>
            <a:ext cx="1883522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 SİSTEMLERİ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65485"/>
            <a:ext cx="10868745" cy="542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Organ Sistemleri</a:t>
            </a:r>
            <a:endParaRPr lang="en-US" sz="3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625203"/>
            <a:ext cx="413434" cy="41344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2219523"/>
            <a:ext cx="3502334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Hareket Sistemi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61475" y="2577703"/>
            <a:ext cx="3502334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İskelet, kas ve eklem sistemleri; hareket ve koruma.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4680" y="1625203"/>
            <a:ext cx="413434" cy="41344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44680" y="2219523"/>
            <a:ext cx="3502334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Sinir Sistemi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344680" y="2577703"/>
            <a:ext cx="3502334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İç ve dış uyaranlara karşı kontrol ve koordinasyon.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27886" y="1625203"/>
            <a:ext cx="413434" cy="41344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27886" y="2219523"/>
            <a:ext cx="3502334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Dolaşım Sistemi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8027886" y="2577703"/>
            <a:ext cx="3502334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Besin ve oksijen taşır, atıkları uzaklaştırır.</a:t>
            </a:r>
            <a:endParaRPr lang="en-US" sz="13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363218"/>
            <a:ext cx="413434" cy="41344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61475" y="3957538"/>
            <a:ext cx="3502334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Solunum Sistemi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661475" y="4315718"/>
            <a:ext cx="3502334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Oksijen sağlar, CO₂ atar; asit-baz dengesini düzenler.</a:t>
            </a:r>
            <a:endParaRPr lang="en-US" sz="13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44680" y="3363218"/>
            <a:ext cx="413434" cy="41344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344680" y="3957538"/>
            <a:ext cx="3502334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Sindirim Sistemi</a:t>
            </a:r>
            <a:endParaRPr lang="en-US" sz="1700" dirty="0"/>
          </a:p>
        </p:txBody>
      </p:sp>
      <p:sp>
        <p:nvSpPr>
          <p:cNvPr id="19" name="Text 12"/>
          <p:cNvSpPr/>
          <p:nvPr/>
        </p:nvSpPr>
        <p:spPr>
          <a:xfrm>
            <a:off x="4344680" y="4315718"/>
            <a:ext cx="3502334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Maddeleri parçalar, kana aktarır; zararlıları temizler.</a:t>
            </a:r>
            <a:endParaRPr lang="en-US" sz="13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27886" y="3363218"/>
            <a:ext cx="413434" cy="41344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027886" y="3957538"/>
            <a:ext cx="3502334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Boşaltım Sistemi</a:t>
            </a:r>
            <a:endParaRPr lang="en-US" sz="1700" dirty="0"/>
          </a:p>
        </p:txBody>
      </p:sp>
      <p:sp>
        <p:nvSpPr>
          <p:cNvPr id="22" name="Text 14"/>
          <p:cNvSpPr/>
          <p:nvPr/>
        </p:nvSpPr>
        <p:spPr>
          <a:xfrm>
            <a:off x="8027886" y="4315718"/>
            <a:ext cx="3502334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Kanı süzer; sıvı-elektrolit dengesini ve kan basıncını düzenler.</a:t>
            </a:r>
            <a:endParaRPr lang="en-US" sz="13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5101233"/>
            <a:ext cx="413434" cy="413445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61475" y="5695553"/>
            <a:ext cx="3502334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Üreme Sistemi</a:t>
            </a:r>
            <a:endParaRPr lang="en-US" sz="1700" dirty="0"/>
          </a:p>
        </p:txBody>
      </p:sp>
      <p:sp>
        <p:nvSpPr>
          <p:cNvPr id="25" name="Text 16"/>
          <p:cNvSpPr/>
          <p:nvPr/>
        </p:nvSpPr>
        <p:spPr>
          <a:xfrm>
            <a:off x="661475" y="6053733"/>
            <a:ext cx="3502334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Üreme hücreleri üretir, hormon salgılar.</a:t>
            </a:r>
            <a:endParaRPr lang="en-US" sz="13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44680" y="5101233"/>
            <a:ext cx="413434" cy="413445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4344680" y="5695553"/>
            <a:ext cx="3502334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Endokrin Sistem</a:t>
            </a:r>
            <a:endParaRPr lang="en-US" sz="1700" dirty="0"/>
          </a:p>
        </p:txBody>
      </p:sp>
      <p:sp>
        <p:nvSpPr>
          <p:cNvPr id="28" name="Text 18"/>
          <p:cNvSpPr/>
          <p:nvPr/>
        </p:nvSpPr>
        <p:spPr>
          <a:xfrm>
            <a:off x="4344680" y="6053733"/>
            <a:ext cx="3502334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Hormonlarla vücudun eşgüdümünü sağlar.</a:t>
            </a:r>
            <a:endParaRPr lang="en-US" sz="13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27886" y="5101233"/>
            <a:ext cx="413434" cy="413445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8027886" y="5695553"/>
            <a:ext cx="3502334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Duyu Organları</a:t>
            </a:r>
            <a:endParaRPr lang="en-US" sz="1700" dirty="0"/>
          </a:p>
        </p:txBody>
      </p:sp>
      <p:sp>
        <p:nvSpPr>
          <p:cNvPr id="31" name="Text 20"/>
          <p:cNvSpPr/>
          <p:nvPr/>
        </p:nvSpPr>
        <p:spPr>
          <a:xfrm>
            <a:off x="8027886" y="6053733"/>
            <a:ext cx="3502334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Çevresel uyaranları algılar.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703642" cy="143470"/>
          </a:xfrm>
          <a:prstGeom prst="roundRect">
            <a:avLst>
              <a:gd name="adj" fmla="val 22134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718127" y="548084"/>
            <a:ext cx="1199922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TEMEL KAVRAM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Homeostazis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568762" y="1229912"/>
            <a:ext cx="5527238" cy="1679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Hücrenin yaşamını sürdürebilmesi için </a:t>
            </a:r>
            <a:r>
              <a:rPr lang="en-US" sz="2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iç ortamın dengesini korumasına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homeostazis denir. Dinamik denge; kimyasal, ısasal ve sinirsel faktörlerle sürdürülür.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57398" y="3207402"/>
            <a:ext cx="5319083" cy="243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Başarılı telafi:</a:t>
            </a: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Homeostazis yeniden sağlanır → Sağlık</a:t>
            </a:r>
            <a:endParaRPr lang="en-US" sz="20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Telafi başarısızlığı:</a:t>
            </a: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Patofizyoloji → Hastalık → Ölüm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3321" y="4708082"/>
            <a:ext cx="5521193" cy="920005"/>
          </a:xfrm>
          <a:prstGeom prst="roundRect">
            <a:avLst>
              <a:gd name="adj" fmla="val 16164"/>
            </a:avLst>
          </a:prstGeom>
          <a:solidFill>
            <a:srgbClr val="CCEEFF"/>
          </a:solidFill>
          <a:ln/>
        </p:spPr>
        <p:txBody>
          <a:bodyPr/>
          <a:lstStyle/>
          <a:p>
            <a:r>
              <a:rPr lang="en-US" dirty="0" err="1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Hücreler</a:t>
            </a: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</a:t>
            </a: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kan</a:t>
            </a: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arasındaki</a:t>
            </a: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madde</a:t>
            </a: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alışverişi</a:t>
            </a: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homeostazis</a:t>
            </a: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gerekliliklerine</a:t>
            </a: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göre</a:t>
            </a: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belirlenir</a:t>
            </a: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929" y="4001294"/>
            <a:ext cx="118067" cy="94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8450" y="3996531"/>
            <a:ext cx="552723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7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487" y="1116112"/>
            <a:ext cx="5319083" cy="53192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9077"/>
            <a:ext cx="2171150" cy="278110"/>
          </a:xfrm>
          <a:prstGeom prst="roundRect">
            <a:avLst>
              <a:gd name="adj" fmla="val 22123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771307" y="603945"/>
            <a:ext cx="2561070" cy="16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KONTROL MEKANİZMALARI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898128"/>
            <a:ext cx="10868745" cy="600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Geribildirim Prensipleri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661475" y="1765002"/>
            <a:ext cx="1086874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Organizmayı etkileyen faktörler </a:t>
            </a: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değişkendir</a:t>
            </a: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Reseptörler çevreyi izler, kontrol merkezleri ayar noktasını belirler, oluşan cevap uyarıcıyı etkiler.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61475" y="2718693"/>
            <a:ext cx="5211037" cy="300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Negatif Geribildirim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61475" y="3196332"/>
            <a:ext cx="5820622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Yanıt, uyarıcıyı </a:t>
            </a: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azaltır</a:t>
            </a: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dengeyi korur.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1475" y="3644404"/>
            <a:ext cx="5211037" cy="1339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Vücut ısısı düzenlemesi (37°C ayar noktası)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Kan glukozu: insülin ve glukagon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Kan basıncı: baroreseptör refleksi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Kan O₂/CO₂, sodyum, asitlik, beden ağırlığı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25533" y="2718693"/>
            <a:ext cx="5211037" cy="300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Pozitif Geribildirim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325533" y="3196332"/>
            <a:ext cx="5820622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Yanıt, uyarıcıyı </a:t>
            </a: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artırır</a:t>
            </a: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dış faktörle durdurulur.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25533" y="3644404"/>
            <a:ext cx="5211037" cy="989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Kan pıhtılaşması: trombosit tıkacı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Doğum eylemi: oksitosin döngüsü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Aksiyon potansiyeli oluşumu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25533" y="4833243"/>
            <a:ext cx="5211037" cy="1276052"/>
          </a:xfrm>
          <a:prstGeom prst="roundRect">
            <a:avLst>
              <a:gd name="adj" fmla="val 6027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587" y="5105598"/>
            <a:ext cx="228793" cy="18305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20434" y="5038626"/>
            <a:ext cx="4433082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İleri beslemeli (feed-forward) kontrol: vücudun gelecek değişikliğe hazırlanması (örn. karanlıkta merdiven çıkışı).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86408"/>
            <a:ext cx="1267488" cy="287139"/>
          </a:xfrm>
          <a:prstGeom prst="roundRect">
            <a:avLst>
              <a:gd name="adj" fmla="val 22118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774879" y="843062"/>
            <a:ext cx="165026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SİSTEM ÖZETİ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149152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Vücudumuzda Temel Fonksiyonlar</a:t>
            </a:r>
            <a:endParaRPr lang="en-US" sz="3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052836"/>
          <a:ext cx="10868746" cy="2734995"/>
        </p:xfrm>
        <a:graphic>
          <a:graphicData uri="http://schemas.openxmlformats.org/drawingml/2006/table">
            <a:tbl>
              <a:tblPr/>
              <a:tblGrid>
                <a:gridCol w="5434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43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50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Temel Fonksiyon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Sistemler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2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Koruma, destekleme ve hareket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Hareket sistemi — İskelet, Kas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2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Kontrol, iletişim ve koordinasyon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Sinir sistemi, Duyu sistemi, Endokrin sistem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2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Taşıma, süreklilik ve homeostaz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Dolaşım, Solunum, Sindirim, Boşaltım sistemleri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50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Üreme ve gelişme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Üreme sistemi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61475" y="2586116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661475" y="3134386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Shape 5"/>
          <p:cNvSpPr/>
          <p:nvPr/>
        </p:nvSpPr>
        <p:spPr>
          <a:xfrm>
            <a:off x="661475" y="3682655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Shape 6"/>
          <p:cNvSpPr/>
          <p:nvPr/>
        </p:nvSpPr>
        <p:spPr>
          <a:xfrm>
            <a:off x="661475" y="4230924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Shape 7"/>
          <p:cNvSpPr/>
          <p:nvPr/>
        </p:nvSpPr>
        <p:spPr>
          <a:xfrm>
            <a:off x="661475" y="5013226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5280918"/>
            <a:ext cx="236234" cy="1890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75723" y="5249466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Fizyolojik değerlendirme: hücre → hücre içi sıvı → hücre dışı sıvı (iç ortam) → organizma → dış çevre. Tüm bu düzeyler homeostazis ilkesine göre işler.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25760"/>
            <a:ext cx="6296860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Teşekkür Ederim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61475" y="142944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Fizyoloji bilimi; sistem, organ ve hücrelerin görevlerini inceleyen, tüm sağlık personelinin bilmesi gereken temel bir disiplindir.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61475" y="2317750"/>
            <a:ext cx="6296860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Önerilen Kaynaklar</a:t>
            </a:r>
            <a:endParaRPr lang="en-US" sz="1950" dirty="0"/>
          </a:p>
        </p:txBody>
      </p:sp>
      <p:sp>
        <p:nvSpPr>
          <p:cNvPr id="6" name="Shape 3"/>
          <p:cNvSpPr/>
          <p:nvPr/>
        </p:nvSpPr>
        <p:spPr>
          <a:xfrm>
            <a:off x="661475" y="2911277"/>
            <a:ext cx="3053877" cy="1767185"/>
          </a:xfrm>
          <a:prstGeom prst="roundRect">
            <a:avLst>
              <a:gd name="adj" fmla="val 4492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/>
          <p:nvPr/>
        </p:nvSpPr>
        <p:spPr>
          <a:xfrm>
            <a:off x="875881" y="3125688"/>
            <a:ext cx="2625064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Guyton ve Hall Tıbbi Fizyoloji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875881" y="3859212"/>
            <a:ext cx="26250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Onikinci Basım — Nobel Yayınları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3904359" y="2911277"/>
            <a:ext cx="3053976" cy="1767185"/>
          </a:xfrm>
          <a:prstGeom prst="roundRect">
            <a:avLst>
              <a:gd name="adj" fmla="val 4492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/>
          <p:nvPr/>
        </p:nvSpPr>
        <p:spPr>
          <a:xfrm>
            <a:off x="4118765" y="3125688"/>
            <a:ext cx="2625163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Fizyoloji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4118765" y="3549154"/>
            <a:ext cx="26251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Prof. Dr. Levent Ertuğrul — Akademi Yayınları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61475" y="4867473"/>
            <a:ext cx="6296860" cy="1464766"/>
          </a:xfrm>
          <a:prstGeom prst="roundRect">
            <a:avLst>
              <a:gd name="adj" fmla="val 5420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/>
          <p:nvPr/>
        </p:nvSpPr>
        <p:spPr>
          <a:xfrm>
            <a:off x="875881" y="5081885"/>
            <a:ext cx="5868047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Hemşirelik Öğrencileri İçin Anatomi ve Fizyolojinin Temelleri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875881" y="5815409"/>
            <a:ext cx="586804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Peate &amp; Nair — Palme Yayıncılık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822</Words>
  <Application>Microsoft Office PowerPoint</Application>
  <PresentationFormat>Geniş ekran</PresentationFormat>
  <Paragraphs>141</Paragraphs>
  <Slides>12</Slides>
  <Notes>12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7" baseType="lpstr">
      <vt:lpstr>Inter</vt:lpstr>
      <vt:lpstr>Inter Bold</vt:lpstr>
      <vt:lpstr>Petrona Bold</vt:lpstr>
      <vt:lpstr>Arial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cigdem Şen Tepe</cp:lastModifiedBy>
  <cp:revision>2</cp:revision>
  <dcterms:created xsi:type="dcterms:W3CDTF">2026-09-25T09:42:49Z</dcterms:created>
  <dcterms:modified xsi:type="dcterms:W3CDTF">2026-09-25T09:56:34Z</dcterms:modified>
</cp:coreProperties>
</file>